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5244" autoAdjust="0"/>
  </p:normalViewPr>
  <p:slideViewPr>
    <p:cSldViewPr snapToGrid="0">
      <p:cViewPr varScale="1">
        <p:scale>
          <a:sx n="78" d="100"/>
          <a:sy n="78" d="100"/>
        </p:scale>
        <p:origin x="835" y="67"/>
      </p:cViewPr>
      <p:guideLst/>
    </p:cSldViewPr>
  </p:slideViewPr>
  <p:outlineViewPr>
    <p:cViewPr>
      <p:scale>
        <a:sx n="33" d="100"/>
        <a:sy n="33" d="100"/>
      </p:scale>
      <p:origin x="0" y="-104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7528" y="1318921"/>
            <a:ext cx="10196945" cy="1900093"/>
          </a:xfrm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528" y="3373436"/>
            <a:ext cx="10196945" cy="762144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AEC1-6C0E-4708-992B-753B8D8202EE}" type="datetimeFigureOut">
              <a:rPr lang="zh-CN" altLang="en-US" smtClean="0"/>
              <a:t>2022/12/14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800">
                <a:solidFill>
                  <a:srgbClr val="000000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sz="2800">
                <a:solidFill>
                  <a:srgbClr val="000000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AEC1-6C0E-4708-992B-753B8D8202E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 sz="2800">
                <a:solidFill>
                  <a:srgbClr val="000000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2068080" y="1199399"/>
            <a:ext cx="8055841" cy="4459202"/>
            <a:chOff x="1670050" y="1812925"/>
            <a:chExt cx="5678488" cy="3143250"/>
          </a:xfrm>
        </p:grpSpPr>
        <p:sp>
          <p:nvSpPr>
            <p:cNvPr id="14" name="任意多边形 9"/>
            <p:cNvSpPr/>
            <p:nvPr/>
          </p:nvSpPr>
          <p:spPr bwMode="auto">
            <a:xfrm>
              <a:off x="1706563" y="4194175"/>
              <a:ext cx="720725" cy="750888"/>
            </a:xfrm>
            <a:custGeom>
              <a:avLst/>
              <a:gdLst>
                <a:gd name="T0" fmla="*/ 0 w 952500"/>
                <a:gd name="T1" fmla="*/ 0 h 1054100"/>
                <a:gd name="T2" fmla="*/ 218139 w 952500"/>
                <a:gd name="T3" fmla="*/ 534895 h 1054100"/>
                <a:gd name="T4" fmla="*/ 545349 w 952500"/>
                <a:gd name="T5" fmla="*/ 451116 h 1054100"/>
                <a:gd name="T6" fmla="*/ 0 w 952500"/>
                <a:gd name="T7" fmla="*/ 0 h 10541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52500" h="1054100">
                  <a:moveTo>
                    <a:pt x="0" y="0"/>
                  </a:moveTo>
                  <a:lnTo>
                    <a:pt x="381000" y="1054100"/>
                  </a:lnTo>
                  <a:lnTo>
                    <a:pt x="952500" y="889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anchor="ctr">
              <a:norm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" name="任意多边形 10"/>
            <p:cNvSpPr/>
            <p:nvPr/>
          </p:nvSpPr>
          <p:spPr bwMode="auto">
            <a:xfrm>
              <a:off x="1670050" y="1901825"/>
              <a:ext cx="5397500" cy="2908300"/>
            </a:xfrm>
            <a:custGeom>
              <a:avLst/>
              <a:gdLst>
                <a:gd name="T0" fmla="*/ 0 w 5397138"/>
                <a:gd name="T1" fmla="*/ 0 h 2908300"/>
                <a:gd name="T2" fmla="*/ 5397862 w 5397138"/>
                <a:gd name="T3" fmla="*/ 540657 h 2908300"/>
                <a:gd name="T4" fmla="*/ 4852050 w 5397138"/>
                <a:gd name="T5" fmla="*/ 2654300 h 2908300"/>
                <a:gd name="T6" fmla="*/ 838312 w 5397138"/>
                <a:gd name="T7" fmla="*/ 2908300 h 2908300"/>
                <a:gd name="T8" fmla="*/ 0 w 5397138"/>
                <a:gd name="T9" fmla="*/ 0 h 29083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97138" h="2908300">
                  <a:moveTo>
                    <a:pt x="0" y="0"/>
                  </a:moveTo>
                  <a:lnTo>
                    <a:pt x="5397138" y="540657"/>
                  </a:lnTo>
                  <a:lnTo>
                    <a:pt x="4851400" y="2654300"/>
                  </a:lnTo>
                  <a:lnTo>
                    <a:pt x="838200" y="2908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76077"/>
              </a:schemeClr>
            </a:solidFill>
            <a:ln>
              <a:noFill/>
            </a:ln>
          </p:spPr>
          <p:txBody>
            <a:bodyPr wrap="square" anchor="ctr">
              <a:norm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任意多边形 11"/>
            <p:cNvSpPr/>
            <p:nvPr/>
          </p:nvSpPr>
          <p:spPr bwMode="auto">
            <a:xfrm>
              <a:off x="2146300" y="1812925"/>
              <a:ext cx="5202238" cy="2806700"/>
            </a:xfrm>
            <a:custGeom>
              <a:avLst/>
              <a:gdLst>
                <a:gd name="T0" fmla="*/ 0 w 5202646"/>
                <a:gd name="T1" fmla="*/ 622178 h 2806338"/>
                <a:gd name="T2" fmla="*/ 5201422 w 5202646"/>
                <a:gd name="T3" fmla="*/ 0 h 2806338"/>
                <a:gd name="T4" fmla="*/ 4101134 w 5202646"/>
                <a:gd name="T5" fmla="*/ 2693079 h 2806338"/>
                <a:gd name="T6" fmla="*/ 368213 w 5202646"/>
                <a:gd name="T7" fmla="*/ 2807424 h 2806338"/>
                <a:gd name="T8" fmla="*/ 0 w 5202646"/>
                <a:gd name="T9" fmla="*/ 622178 h 2806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02646" h="2806338">
                  <a:moveTo>
                    <a:pt x="0" y="621938"/>
                  </a:moveTo>
                  <a:lnTo>
                    <a:pt x="5202646" y="0"/>
                  </a:lnTo>
                  <a:lnTo>
                    <a:pt x="4102100" y="2692038"/>
                  </a:lnTo>
                  <a:lnTo>
                    <a:pt x="368300" y="2806338"/>
                  </a:lnTo>
                  <a:lnTo>
                    <a:pt x="0" y="621938"/>
                  </a:lnTo>
                  <a:close/>
                </a:path>
              </a:pathLst>
            </a:custGeom>
            <a:solidFill>
              <a:schemeClr val="accent1">
                <a:alpha val="76077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anchor="ctr">
              <a:normAutofit/>
            </a:bodyPr>
            <a:lstStyle/>
            <a:p>
              <a:endParaRPr lang="zh-CN" altLang="en-US"/>
            </a:p>
          </p:txBody>
        </p:sp>
        <p:sp>
          <p:nvSpPr>
            <p:cNvPr id="17" name="任意多边形 12"/>
            <p:cNvSpPr/>
            <p:nvPr/>
          </p:nvSpPr>
          <p:spPr bwMode="auto">
            <a:xfrm>
              <a:off x="6873875" y="4010025"/>
              <a:ext cx="442913" cy="558800"/>
            </a:xfrm>
            <a:custGeom>
              <a:avLst/>
              <a:gdLst>
                <a:gd name="T0" fmla="*/ 0 w 292100"/>
                <a:gd name="T1" fmla="*/ 29236 h 368300"/>
                <a:gd name="T2" fmla="*/ 671592 w 292100"/>
                <a:gd name="T3" fmla="*/ 0 h 368300"/>
                <a:gd name="T4" fmla="*/ 175199 w 292100"/>
                <a:gd name="T5" fmla="*/ 847834 h 368300"/>
                <a:gd name="T6" fmla="*/ 0 w 292100"/>
                <a:gd name="T7" fmla="*/ 29236 h 3683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2100" h="368300">
                  <a:moveTo>
                    <a:pt x="0" y="12700"/>
                  </a:moveTo>
                  <a:lnTo>
                    <a:pt x="292100" y="0"/>
                  </a:lnTo>
                  <a:lnTo>
                    <a:pt x="76200" y="3683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anchor="ctr">
              <a:norm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任意多边形 13"/>
            <p:cNvSpPr/>
            <p:nvPr/>
          </p:nvSpPr>
          <p:spPr bwMode="auto">
            <a:xfrm>
              <a:off x="6153150" y="4670425"/>
              <a:ext cx="809625" cy="285750"/>
            </a:xfrm>
            <a:custGeom>
              <a:avLst/>
              <a:gdLst>
                <a:gd name="T0" fmla="*/ 0 w 647700"/>
                <a:gd name="T1" fmla="*/ 79375 h 228600"/>
                <a:gd name="T2" fmla="*/ 1012031 w 647700"/>
                <a:gd name="T3" fmla="*/ 0 h 228600"/>
                <a:gd name="T4" fmla="*/ 99219 w 647700"/>
                <a:gd name="T5" fmla="*/ 357188 h 228600"/>
                <a:gd name="T6" fmla="*/ 0 w 647700"/>
                <a:gd name="T7" fmla="*/ 79375 h 228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7700" h="228600">
                  <a:moveTo>
                    <a:pt x="0" y="50800"/>
                  </a:moveTo>
                  <a:lnTo>
                    <a:pt x="647700" y="0"/>
                  </a:lnTo>
                  <a:lnTo>
                    <a:pt x="63500" y="2286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wrap="square" anchor="ctr">
              <a:normAutofit/>
            </a:bodyPr>
            <a:lstStyle/>
            <a:p>
              <a:pPr>
                <a:defRPr/>
              </a:pPr>
              <a:endParaRPr lang="zh-CN" altLang="en-US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2642400" y="2688031"/>
              <a:ext cx="38628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2642400" y="3267306"/>
              <a:ext cx="38628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7514" y="2462281"/>
            <a:ext cx="5479998" cy="800389"/>
          </a:xfrm>
        </p:spPr>
        <p:txBody>
          <a:bodyPr anchor="ctr" anchorCtr="0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6001" y="3514673"/>
            <a:ext cx="5479998" cy="76009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AFDFAEC1-6C0E-4708-992B-753B8D8202E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70AE57A9-CA8D-4ADE-8D70-425D8DAAC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69720"/>
            <a:ext cx="5181600" cy="460724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69720"/>
            <a:ext cx="5181600" cy="4607243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AEC1-6C0E-4708-992B-753B8D8202E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57A9-CA8D-4ADE-8D70-425D8DAAC447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8507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8985"/>
            <a:ext cx="5157787" cy="368458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8507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8985"/>
            <a:ext cx="5183188" cy="368458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AEC1-6C0E-4708-992B-753B8D8202E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57A9-CA8D-4ADE-8D70-425D8DAAC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 rot="19620000">
            <a:off x="3077401" y="1810667"/>
            <a:ext cx="5940624" cy="1346606"/>
          </a:xfrm>
        </p:spPr>
        <p:txBody>
          <a:bodyPr>
            <a:normAutofit/>
          </a:bodyPr>
          <a:lstStyle>
            <a:lvl1pPr algn="ctr">
              <a:defRPr sz="8000"/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B3D3-CF9D-4615-8F0E-2797DCC3CC0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ED3D3-A6B4-4DCE-A49E-6372A084DAF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-30866" y="2579832"/>
            <a:ext cx="4501265" cy="3173023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 11"/>
          <p:cNvSpPr/>
          <p:nvPr/>
        </p:nvSpPr>
        <p:spPr>
          <a:xfrm rot="3430120">
            <a:off x="5431325" y="-1763862"/>
            <a:ext cx="395355" cy="6976862"/>
          </a:xfrm>
          <a:custGeom>
            <a:avLst/>
            <a:gdLst>
              <a:gd name="connsiteX0" fmla="*/ 0 w 328131"/>
              <a:gd name="connsiteY0" fmla="*/ 508549 h 4872799"/>
              <a:gd name="connsiteX1" fmla="*/ 328131 w 328131"/>
              <a:gd name="connsiteY1" fmla="*/ 0 h 4872799"/>
              <a:gd name="connsiteX2" fmla="*/ 328131 w 328131"/>
              <a:gd name="connsiteY2" fmla="*/ 4872799 h 4872799"/>
              <a:gd name="connsiteX3" fmla="*/ 0 w 328131"/>
              <a:gd name="connsiteY3" fmla="*/ 4661079 h 4872799"/>
              <a:gd name="connsiteX0-1" fmla="*/ 0 w 337331"/>
              <a:gd name="connsiteY0-2" fmla="*/ 407823 h 4872799"/>
              <a:gd name="connsiteX1-3" fmla="*/ 337331 w 337331"/>
              <a:gd name="connsiteY1-4" fmla="*/ 0 h 4872799"/>
              <a:gd name="connsiteX2-5" fmla="*/ 337331 w 337331"/>
              <a:gd name="connsiteY2-6" fmla="*/ 4872799 h 4872799"/>
              <a:gd name="connsiteX3-7" fmla="*/ 9200 w 337331"/>
              <a:gd name="connsiteY3-8" fmla="*/ 4661079 h 4872799"/>
              <a:gd name="connsiteX4" fmla="*/ 0 w 337331"/>
              <a:gd name="connsiteY4" fmla="*/ 407823 h 48727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" y="connsiteY4"/>
              </a:cxn>
            </a:cxnLst>
            <a:rect l="l" t="t" r="r" b="b"/>
            <a:pathLst>
              <a:path w="337331" h="4872799">
                <a:moveTo>
                  <a:pt x="0" y="407823"/>
                </a:moveTo>
                <a:lnTo>
                  <a:pt x="337331" y="0"/>
                </a:lnTo>
                <a:lnTo>
                  <a:pt x="337331" y="4872799"/>
                </a:lnTo>
                <a:lnTo>
                  <a:pt x="9200" y="4661079"/>
                </a:lnTo>
                <a:cubicBezTo>
                  <a:pt x="9200" y="3276902"/>
                  <a:pt x="0" y="1792000"/>
                  <a:pt x="0" y="40782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9048750" y="2362202"/>
            <a:ext cx="3143250" cy="2208213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多边形 12"/>
          <p:cNvSpPr/>
          <p:nvPr/>
        </p:nvSpPr>
        <p:spPr>
          <a:xfrm rot="3430120" flipH="1" flipV="1">
            <a:off x="8608333" y="2131412"/>
            <a:ext cx="288000" cy="5400000"/>
          </a:xfrm>
          <a:custGeom>
            <a:avLst/>
            <a:gdLst>
              <a:gd name="connsiteX0" fmla="*/ 0 w 328131"/>
              <a:gd name="connsiteY0" fmla="*/ 508549 h 4872799"/>
              <a:gd name="connsiteX1" fmla="*/ 328131 w 328131"/>
              <a:gd name="connsiteY1" fmla="*/ 0 h 4872799"/>
              <a:gd name="connsiteX2" fmla="*/ 328131 w 328131"/>
              <a:gd name="connsiteY2" fmla="*/ 4872799 h 4872799"/>
              <a:gd name="connsiteX3" fmla="*/ 0 w 328131"/>
              <a:gd name="connsiteY3" fmla="*/ 4661079 h 4872799"/>
              <a:gd name="connsiteX0-1" fmla="*/ 0 w 359283"/>
              <a:gd name="connsiteY0-2" fmla="*/ 406295 h 4872799"/>
              <a:gd name="connsiteX1-3" fmla="*/ 359283 w 359283"/>
              <a:gd name="connsiteY1-4" fmla="*/ 0 h 4872799"/>
              <a:gd name="connsiteX2-5" fmla="*/ 359283 w 359283"/>
              <a:gd name="connsiteY2-6" fmla="*/ 4872799 h 4872799"/>
              <a:gd name="connsiteX3-7" fmla="*/ 31152 w 359283"/>
              <a:gd name="connsiteY3-8" fmla="*/ 4661079 h 4872799"/>
              <a:gd name="connsiteX4" fmla="*/ 0 w 359283"/>
              <a:gd name="connsiteY4" fmla="*/ 406295 h 48727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" y="connsiteY4"/>
              </a:cxn>
            </a:cxnLst>
            <a:rect l="l" t="t" r="r" b="b"/>
            <a:pathLst>
              <a:path w="359283" h="4872799">
                <a:moveTo>
                  <a:pt x="0" y="406295"/>
                </a:moveTo>
                <a:lnTo>
                  <a:pt x="359283" y="0"/>
                </a:lnTo>
                <a:lnTo>
                  <a:pt x="359283" y="4872799"/>
                </a:lnTo>
                <a:lnTo>
                  <a:pt x="31152" y="4661079"/>
                </a:lnTo>
                <a:cubicBezTo>
                  <a:pt x="31152" y="3276902"/>
                  <a:pt x="0" y="1790472"/>
                  <a:pt x="0" y="4062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0" name="内容占位符 19"/>
          <p:cNvSpPr>
            <a:spLocks noGrp="1"/>
          </p:cNvSpPr>
          <p:nvPr>
            <p:ph sz="quarter" idx="13" hasCustomPrompt="1"/>
          </p:nvPr>
        </p:nvSpPr>
        <p:spPr>
          <a:xfrm rot="19620000">
            <a:off x="5759240" y="3953419"/>
            <a:ext cx="3686562" cy="1300758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添加副标题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AEC1-6C0E-4708-992B-753B8D8202E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57A9-CA8D-4ADE-8D70-425D8DAAC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AEC1-6C0E-4708-992B-753B8D8202E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57A9-CA8D-4ADE-8D70-425D8DAAC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6440" y="365125"/>
            <a:ext cx="173736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4582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AEC1-6C0E-4708-992B-753B8D8202E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57A9-CA8D-4ADE-8D70-425D8DAAC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/>
          <a:p>
            <a:fld id="{13D0CE79-49FB-443D-BEF8-6B709DE8FD0C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内容占位符 7"/>
          <p:cNvSpPr>
            <a:spLocks noGrp="1"/>
          </p:cNvSpPr>
          <p:nvPr>
            <p:ph sz="quarter" idx="13"/>
          </p:nvPr>
        </p:nvSpPr>
        <p:spPr>
          <a:xfrm>
            <a:off x="838201" y="571503"/>
            <a:ext cx="10515601" cy="56499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" y="4062"/>
            <a:ext cx="12188389" cy="68746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805" y="5599289"/>
            <a:ext cx="6019347" cy="127376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999272" y="5562601"/>
            <a:ext cx="6192728" cy="131045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652" y="5102279"/>
            <a:ext cx="1320800" cy="1800877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838200" y="365125"/>
            <a:ext cx="10515600" cy="1036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838200" y="1539240"/>
            <a:ext cx="10515600" cy="4637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FAEC1-6C0E-4708-992B-753B8D8202EE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E57A9-CA8D-4ADE-8D70-425D8DAAC44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16"/>
          <a:srcRect t="30339"/>
          <a:stretch>
            <a:fillRect/>
          </a:stretch>
        </p:blipFill>
        <p:spPr>
          <a:xfrm>
            <a:off x="0" y="0"/>
            <a:ext cx="2608118" cy="67410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¤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6885" y="911860"/>
            <a:ext cx="11187430" cy="3534410"/>
          </a:xfrm>
        </p:spPr>
        <p:txBody>
          <a:bodyPr>
            <a:normAutofit fontScale="90000"/>
          </a:bodyPr>
          <a:lstStyle/>
          <a:p>
            <a:pPr algn="just"/>
            <a:r>
              <a:rPr lang="en-US" altLang="zh-CN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-23-1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年秋季学期期末试卷发布、回收须知</a:t>
            </a:r>
            <a:b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b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1、本次考试时间是</a:t>
            </a:r>
            <a:r>
              <a:rPr lang="zh-CN" altLang="en-US" sz="3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12月29日13：00-15:00分</a:t>
            </a: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。考试前三天将统一发送答题纸电子文档给同学们，请同学们事先打印答题纸。条件受限无法打印的同学，请事先用A4纸或差不多大小纸张抄好统一电子文档的答题纸，按照格式进行作答，</a:t>
            </a:r>
            <a:b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3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填好答题纸上的各个信息。</a:t>
            </a:r>
            <a:endParaRPr lang="zh-CN" altLang="en-US" sz="3555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2250" y="1031875"/>
            <a:ext cx="11777980" cy="3414395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2、请各位同学考试开始前15分钟在班级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QQ群通过确认群公告的方式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完成签到接龙。考前10分钟通过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QQ作业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在线平台发布试题，全体学生进行统一、限时考试。考试音频将分两次发送至</a:t>
            </a:r>
            <a:r>
              <a:rPr lang="en-US" altLang="zh-CN" sz="32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qq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群，第一个音频在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00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发送至</a:t>
            </a:r>
            <a:r>
              <a:rPr lang="en-US" altLang="zh-CN" sz="32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qq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群，同学们在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55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完成第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一部分考试题；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第二个音频在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00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发送至</a:t>
            </a:r>
            <a:r>
              <a:rPr lang="en-US" altLang="zh-CN" sz="32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qq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群，请大家在</a:t>
            </a:r>
            <a:r>
              <a:rPr 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00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前完成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第二部分考试题，然后提交答题纸。</a:t>
            </a:r>
            <a:b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注意：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请务必手写作答，不允许用任何形式的电子文档；</a:t>
            </a:r>
            <a:endParaRPr lang="zh-CN" altLang="en-US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6885" y="1170305"/>
            <a:ext cx="11187430" cy="2849880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、考试过程中如果有疑问可以单独给老师留言，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不要打扰其他同学考试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b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考试结束后15分钟内大家完成答案上交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b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、试卷回收采用QQ作业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及邮箱（</a:t>
            </a:r>
            <a:r>
              <a:rPr lang="en-US" altLang="zh-CN" sz="3200" b="1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chenlin@</a:t>
            </a:r>
            <a:r>
              <a:rPr lang="en-US" altLang="zh-CN" sz="3200" b="1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suda</a:t>
            </a:r>
            <a:r>
              <a:rPr lang="en-US" altLang="zh-CN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.edu.cn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线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上提交答题纸</a:t>
            </a:r>
            <a:b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endParaRPr lang="zh-CN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6885" y="1434465"/>
            <a:ext cx="11590020" cy="3011805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保证答案拍照的清晰度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b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完成的答题纸大家可以事先下载手机APP“全能扫描王”，通过扫描发送生成的PDF文件qq作业在线提交。</a:t>
            </a:r>
            <a:b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②可以选择拍照上传答案，</a:t>
            </a:r>
            <a:r>
              <a:rPr lang="zh-CN" altLang="en-US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但一定发送原图</a:t>
            </a:r>
            <a:r>
              <a:rPr lang="zh-CN" alt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给老师，每张答题纸拍一张图片（每张答题纸都写上姓名和学号），所有图片都要一起上传，切勿遗漏</a:t>
            </a:r>
            <a:r>
              <a:rPr lang="zh-CN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b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注意：不要拍草稿纸！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6885" y="1851660"/>
            <a:ext cx="11389995" cy="3295650"/>
          </a:xfrm>
        </p:spPr>
        <p:txBody>
          <a:bodyPr>
            <a:normAutofit/>
          </a:bodyPr>
          <a:lstStyle/>
          <a:p>
            <a:pPr algn="just">
              <a:buClrTx/>
              <a:buSzTx/>
              <a:buFontTx/>
            </a:pP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7、请各位同学本人务必</a:t>
            </a:r>
            <a:r>
              <a:rPr lang="en-US" altLang="zh-CN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留存期末考试的答案（纸）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32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开学后学生将答卷提交给任课教师，学院对学生试卷进行存档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  </a:t>
            </a:r>
            <a:b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b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b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         </a:t>
            </a:r>
            <a:r>
              <a:rPr lang="en-US" altLang="zh-CN" sz="32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祝大家考试顺利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！</a:t>
            </a:r>
            <a:b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             2022年12月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6047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160471"/>
</p:tagLst>
</file>

<file path=ppt/theme/theme1.xml><?xml version="1.0" encoding="utf-8"?>
<a:theme xmlns:a="http://schemas.openxmlformats.org/drawingml/2006/main" name="A000120140530A99PPBG">
  <a:themeElements>
    <a:clrScheme name="160192.192">
      <a:dk1>
        <a:srgbClr val="3F3F3F"/>
      </a:dk1>
      <a:lt1>
        <a:sysClr val="window" lastClr="FFFFFF"/>
      </a:lt1>
      <a:dk2>
        <a:srgbClr val="3F3F3F"/>
      </a:dk2>
      <a:lt2>
        <a:srgbClr val="FFFFFF"/>
      </a:lt2>
      <a:accent1>
        <a:srgbClr val="34C5D4"/>
      </a:accent1>
      <a:accent2>
        <a:srgbClr val="5BDBB3"/>
      </a:accent2>
      <a:accent3>
        <a:srgbClr val="D0DA71"/>
      </a:accent3>
      <a:accent4>
        <a:srgbClr val="FCE066"/>
      </a:accent4>
      <a:accent5>
        <a:srgbClr val="3DB195"/>
      </a:accent5>
      <a:accent6>
        <a:srgbClr val="FFC000"/>
      </a:accent6>
      <a:hlink>
        <a:srgbClr val="0070C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160192.192">
    <a:dk1>
      <a:srgbClr val="3F3F3F"/>
    </a:dk1>
    <a:lt1>
      <a:sysClr val="window" lastClr="FFFFFF"/>
    </a:lt1>
    <a:dk2>
      <a:srgbClr val="3F3F3F"/>
    </a:dk2>
    <a:lt2>
      <a:srgbClr val="FFFFFF"/>
    </a:lt2>
    <a:accent1>
      <a:srgbClr val="34C5D4"/>
    </a:accent1>
    <a:accent2>
      <a:srgbClr val="5BDBB3"/>
    </a:accent2>
    <a:accent3>
      <a:srgbClr val="D0DA71"/>
    </a:accent3>
    <a:accent4>
      <a:srgbClr val="FCE066"/>
    </a:accent4>
    <a:accent5>
      <a:srgbClr val="3DB195"/>
    </a:accent5>
    <a:accent6>
      <a:srgbClr val="FFC000"/>
    </a:accent6>
    <a:hlink>
      <a:srgbClr val="0070C0"/>
    </a:hlink>
    <a:folHlink>
      <a:srgbClr val="7F7F7F"/>
    </a:folHlink>
  </a:clrScheme>
</a:themeOverride>
</file>

<file path=ppt/theme/themeOverride2.xml><?xml version="1.0" encoding="utf-8"?>
<a:themeOverride xmlns:a="http://schemas.openxmlformats.org/drawingml/2006/main">
  <a:clrScheme name="160192.192">
    <a:dk1>
      <a:srgbClr val="3F3F3F"/>
    </a:dk1>
    <a:lt1>
      <a:sysClr val="window" lastClr="FFFFFF"/>
    </a:lt1>
    <a:dk2>
      <a:srgbClr val="3F3F3F"/>
    </a:dk2>
    <a:lt2>
      <a:srgbClr val="FFFFFF"/>
    </a:lt2>
    <a:accent1>
      <a:srgbClr val="34C5D4"/>
    </a:accent1>
    <a:accent2>
      <a:srgbClr val="5BDBB3"/>
    </a:accent2>
    <a:accent3>
      <a:srgbClr val="D0DA71"/>
    </a:accent3>
    <a:accent4>
      <a:srgbClr val="FCE066"/>
    </a:accent4>
    <a:accent5>
      <a:srgbClr val="3DB195"/>
    </a:accent5>
    <a:accent6>
      <a:srgbClr val="FFC000"/>
    </a:accent6>
    <a:hlink>
      <a:srgbClr val="0070C0"/>
    </a:hlink>
    <a:folHlink>
      <a:srgbClr val="7F7F7F"/>
    </a:folHlink>
  </a:clrScheme>
</a:themeOverride>
</file>

<file path=ppt/theme/themeOverride3.xml><?xml version="1.0" encoding="utf-8"?>
<a:themeOverride xmlns:a="http://schemas.openxmlformats.org/drawingml/2006/main">
  <a:clrScheme name="160192.192">
    <a:dk1>
      <a:srgbClr val="3F3F3F"/>
    </a:dk1>
    <a:lt1>
      <a:sysClr val="window" lastClr="FFFFFF"/>
    </a:lt1>
    <a:dk2>
      <a:srgbClr val="3F3F3F"/>
    </a:dk2>
    <a:lt2>
      <a:srgbClr val="FFFFFF"/>
    </a:lt2>
    <a:accent1>
      <a:srgbClr val="34C5D4"/>
    </a:accent1>
    <a:accent2>
      <a:srgbClr val="5BDBB3"/>
    </a:accent2>
    <a:accent3>
      <a:srgbClr val="D0DA71"/>
    </a:accent3>
    <a:accent4>
      <a:srgbClr val="FCE066"/>
    </a:accent4>
    <a:accent5>
      <a:srgbClr val="3DB195"/>
    </a:accent5>
    <a:accent6>
      <a:srgbClr val="FFC000"/>
    </a:accent6>
    <a:hlink>
      <a:srgbClr val="0070C0"/>
    </a:hlink>
    <a:folHlink>
      <a:srgbClr val="7F7F7F"/>
    </a:folHlink>
  </a:clrScheme>
</a:themeOverride>
</file>

<file path=ppt/theme/themeOverride4.xml><?xml version="1.0" encoding="utf-8"?>
<a:themeOverride xmlns:a="http://schemas.openxmlformats.org/drawingml/2006/main">
  <a:clrScheme name="160192.192">
    <a:dk1>
      <a:srgbClr val="3F3F3F"/>
    </a:dk1>
    <a:lt1>
      <a:sysClr val="window" lastClr="FFFFFF"/>
    </a:lt1>
    <a:dk2>
      <a:srgbClr val="3F3F3F"/>
    </a:dk2>
    <a:lt2>
      <a:srgbClr val="FFFFFF"/>
    </a:lt2>
    <a:accent1>
      <a:srgbClr val="34C5D4"/>
    </a:accent1>
    <a:accent2>
      <a:srgbClr val="5BDBB3"/>
    </a:accent2>
    <a:accent3>
      <a:srgbClr val="D0DA71"/>
    </a:accent3>
    <a:accent4>
      <a:srgbClr val="FCE066"/>
    </a:accent4>
    <a:accent5>
      <a:srgbClr val="3DB195"/>
    </a:accent5>
    <a:accent6>
      <a:srgbClr val="FFC000"/>
    </a:accent6>
    <a:hlink>
      <a:srgbClr val="0070C0"/>
    </a:hlink>
    <a:folHlink>
      <a:srgbClr val="7F7F7F"/>
    </a:folHlink>
  </a:clrScheme>
</a:themeOverride>
</file>

<file path=ppt/theme/themeOverride5.xml><?xml version="1.0" encoding="utf-8"?>
<a:themeOverride xmlns:a="http://schemas.openxmlformats.org/drawingml/2006/main">
  <a:clrScheme name="160192.192">
    <a:dk1>
      <a:srgbClr val="3F3F3F"/>
    </a:dk1>
    <a:lt1>
      <a:sysClr val="window" lastClr="FFFFFF"/>
    </a:lt1>
    <a:dk2>
      <a:srgbClr val="3F3F3F"/>
    </a:dk2>
    <a:lt2>
      <a:srgbClr val="FFFFFF"/>
    </a:lt2>
    <a:accent1>
      <a:srgbClr val="34C5D4"/>
    </a:accent1>
    <a:accent2>
      <a:srgbClr val="5BDBB3"/>
    </a:accent2>
    <a:accent3>
      <a:srgbClr val="D0DA71"/>
    </a:accent3>
    <a:accent4>
      <a:srgbClr val="FCE066"/>
    </a:accent4>
    <a:accent5>
      <a:srgbClr val="3DB195"/>
    </a:accent5>
    <a:accent6>
      <a:srgbClr val="FFC000"/>
    </a:accent6>
    <a:hlink>
      <a:srgbClr val="0070C0"/>
    </a:hlink>
    <a:folHlink>
      <a:srgbClr val="7F7F7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381</Words>
  <Application>Microsoft Office PowerPoint</Application>
  <PresentationFormat>宽屏</PresentationFormat>
  <Paragraphs>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宋体</vt:lpstr>
      <vt:lpstr>Arial</vt:lpstr>
      <vt:lpstr>Wingdings</vt:lpstr>
      <vt:lpstr>A000120140530A99PPBG</vt:lpstr>
      <vt:lpstr>22-23-1年秋季学期期末试卷发布、回收须知  1、本次考试时间是12月29日13：00-15:00分。考试前三天将统一发送答题纸电子文档给同学们，请同学们事先打印答题纸。条件受限无法打印的同学，请事先用A4纸或差不多大小纸张抄好统一电子文档的答题纸，按照格式进行作答， 填好答题纸上的各个信息。</vt:lpstr>
      <vt:lpstr>2、请各位同学考试开始前15分钟在班级QQ群通过确认群公告的方式完成签到接龙。考前10分钟通过QQ作业在线平台发布试题，全体学生进行统一、限时考试。考试音频将分两次发送至qq群，第一个音频在13：00发送至qq群，同学们在13：55完成第一部分考试题；第二个音频在14：00发送至qq群，请大家在15：00前完成第二部分考试题，然后提交答题纸。 注意：请务必手写作答，不允许用任何形式的电子文档；</vt:lpstr>
      <vt:lpstr>3、考试过程中如果有疑问可以单独给老师留言，不要打扰其他同学考试。 4、考试结束后15分钟内大家完成答案上交。 5、试卷回收采用QQ作业及邮箱（chenlin@suda.edu.cn）线上提交答题纸 </vt:lpstr>
      <vt:lpstr>6、保证答案拍照的清晰度： ① 完成的答题纸大家可以事先下载手机APP“全能扫描王”，通过扫描发送生成的PDF文件qq作业在线提交。 ②可以选择拍照上传答案，但一定发送原图给老师，每张答题纸拍一张图片（每张答题纸都写上姓名和学号），所有图片都要一起上传，切勿遗漏。 注意：不要拍草稿纸！</vt:lpstr>
      <vt:lpstr>7、请各位同学本人务必留存期末考试的答案（纸），开学后学生将答卷提交给任课教师，学院对学生试卷进行存档。                                             祝大家考试顺利！                                             2022年12月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22-23-1年秋季学期期末试卷发布、回收须知  1、本次考试时间是12月29日13：00-15:00分。考试前三天将统一发送答题纸电子文档给同学们，请同学们事先打印答题纸。条件受限无法打印的同学，请事先用A4纸或差不多大小纸张抄好统一电子文档的答题纸，按照格式进行作答， 填好答题纸上的各个信息。</dc:title>
  <dc:creator>caseybu</dc:creator>
  <cp:lastModifiedBy>Chen Lynn</cp:lastModifiedBy>
  <cp:revision>26</cp:revision>
  <dcterms:created xsi:type="dcterms:W3CDTF">2022-03-31T10:37:00Z</dcterms:created>
  <dcterms:modified xsi:type="dcterms:W3CDTF">2022-12-14T02:47:42Z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  <property fmtid="{D5CDD505-2E9C-101B-9397-08002B2CF9AE}" pid="3" name="ICV">
    <vt:lpwstr>0BA1B9DA90514C3DAF33175FC3484A9C</vt:lpwstr>
  </property>
</Properties>
</file>