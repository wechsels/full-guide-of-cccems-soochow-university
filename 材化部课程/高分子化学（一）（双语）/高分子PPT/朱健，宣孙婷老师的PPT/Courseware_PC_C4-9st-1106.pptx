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31"/>
  </p:notesMasterIdLst>
  <p:handoutMasterIdLst>
    <p:handoutMasterId r:id="rId132"/>
  </p:handoutMasterIdLst>
  <p:sldIdLst>
    <p:sldId id="296" r:id="rId2"/>
    <p:sldId id="533" r:id="rId3"/>
    <p:sldId id="372" r:id="rId4"/>
    <p:sldId id="373" r:id="rId5"/>
    <p:sldId id="374" r:id="rId6"/>
    <p:sldId id="375" r:id="rId7"/>
    <p:sldId id="376" r:id="rId8"/>
    <p:sldId id="377" r:id="rId9"/>
    <p:sldId id="378" r:id="rId10"/>
    <p:sldId id="379" r:id="rId11"/>
    <p:sldId id="380" r:id="rId12"/>
    <p:sldId id="542" r:id="rId13"/>
    <p:sldId id="382" r:id="rId14"/>
    <p:sldId id="472" r:id="rId15"/>
    <p:sldId id="535" r:id="rId16"/>
    <p:sldId id="384" r:id="rId17"/>
    <p:sldId id="534" r:id="rId18"/>
    <p:sldId id="391" r:id="rId19"/>
    <p:sldId id="470" r:id="rId20"/>
    <p:sldId id="392" r:id="rId21"/>
    <p:sldId id="543" r:id="rId22"/>
    <p:sldId id="393" r:id="rId23"/>
    <p:sldId id="475" r:id="rId24"/>
    <p:sldId id="474" r:id="rId25"/>
    <p:sldId id="541" r:id="rId26"/>
    <p:sldId id="395" r:id="rId27"/>
    <p:sldId id="476" r:id="rId28"/>
    <p:sldId id="477" r:id="rId29"/>
    <p:sldId id="478" r:id="rId30"/>
    <p:sldId id="479" r:id="rId31"/>
    <p:sldId id="480" r:id="rId32"/>
    <p:sldId id="481" r:id="rId33"/>
    <p:sldId id="482" r:id="rId34"/>
    <p:sldId id="483" r:id="rId35"/>
    <p:sldId id="484" r:id="rId36"/>
    <p:sldId id="485" r:id="rId37"/>
    <p:sldId id="486" r:id="rId38"/>
    <p:sldId id="487" r:id="rId39"/>
    <p:sldId id="538" r:id="rId40"/>
    <p:sldId id="488" r:id="rId41"/>
    <p:sldId id="489" r:id="rId42"/>
    <p:sldId id="490" r:id="rId43"/>
    <p:sldId id="544" r:id="rId44"/>
    <p:sldId id="466" r:id="rId45"/>
    <p:sldId id="491" r:id="rId46"/>
    <p:sldId id="540" r:id="rId47"/>
    <p:sldId id="493" r:id="rId48"/>
    <p:sldId id="495" r:id="rId49"/>
    <p:sldId id="496" r:id="rId50"/>
    <p:sldId id="497" r:id="rId51"/>
    <p:sldId id="498" r:id="rId52"/>
    <p:sldId id="499" r:id="rId53"/>
    <p:sldId id="500" r:id="rId54"/>
    <p:sldId id="501" r:id="rId55"/>
    <p:sldId id="502" r:id="rId56"/>
    <p:sldId id="503" r:id="rId57"/>
    <p:sldId id="504" r:id="rId58"/>
    <p:sldId id="505" r:id="rId59"/>
    <p:sldId id="506" r:id="rId60"/>
    <p:sldId id="536" r:id="rId61"/>
    <p:sldId id="537" r:id="rId62"/>
    <p:sldId id="554" r:id="rId63"/>
    <p:sldId id="566" r:id="rId64"/>
    <p:sldId id="567" r:id="rId65"/>
    <p:sldId id="568" r:id="rId66"/>
    <p:sldId id="569" r:id="rId67"/>
    <p:sldId id="570" r:id="rId68"/>
    <p:sldId id="571" r:id="rId69"/>
    <p:sldId id="510" r:id="rId70"/>
    <p:sldId id="511" r:id="rId71"/>
    <p:sldId id="512" r:id="rId72"/>
    <p:sldId id="513" r:id="rId73"/>
    <p:sldId id="514" r:id="rId74"/>
    <p:sldId id="515" r:id="rId75"/>
    <p:sldId id="555" r:id="rId76"/>
    <p:sldId id="516" r:id="rId77"/>
    <p:sldId id="517" r:id="rId78"/>
    <p:sldId id="518" r:id="rId79"/>
    <p:sldId id="433" r:id="rId80"/>
    <p:sldId id="434" r:id="rId81"/>
    <p:sldId id="435" r:id="rId82"/>
    <p:sldId id="436" r:id="rId83"/>
    <p:sldId id="437" r:id="rId84"/>
    <p:sldId id="438" r:id="rId85"/>
    <p:sldId id="548" r:id="rId86"/>
    <p:sldId id="551" r:id="rId87"/>
    <p:sldId id="549" r:id="rId88"/>
    <p:sldId id="550" r:id="rId89"/>
    <p:sldId id="552" r:id="rId90"/>
    <p:sldId id="520" r:id="rId91"/>
    <p:sldId id="553" r:id="rId92"/>
    <p:sldId id="521" r:id="rId93"/>
    <p:sldId id="524" r:id="rId94"/>
    <p:sldId id="525" r:id="rId95"/>
    <p:sldId id="526" r:id="rId96"/>
    <p:sldId id="527" r:id="rId97"/>
    <p:sldId id="528" r:id="rId98"/>
    <p:sldId id="529" r:id="rId99"/>
    <p:sldId id="530" r:id="rId100"/>
    <p:sldId id="564" r:id="rId101"/>
    <p:sldId id="439" r:id="rId102"/>
    <p:sldId id="440" r:id="rId103"/>
    <p:sldId id="441" r:id="rId104"/>
    <p:sldId id="462" r:id="rId105"/>
    <p:sldId id="463" r:id="rId106"/>
    <p:sldId id="442" r:id="rId107"/>
    <p:sldId id="443" r:id="rId108"/>
    <p:sldId id="444" r:id="rId109"/>
    <p:sldId id="445" r:id="rId110"/>
    <p:sldId id="556" r:id="rId111"/>
    <p:sldId id="557" r:id="rId112"/>
    <p:sldId id="558" r:id="rId113"/>
    <p:sldId id="559" r:id="rId114"/>
    <p:sldId id="560" r:id="rId115"/>
    <p:sldId id="561" r:id="rId116"/>
    <p:sldId id="562" r:id="rId117"/>
    <p:sldId id="563" r:id="rId118"/>
    <p:sldId id="446" r:id="rId119"/>
    <p:sldId id="447" r:id="rId120"/>
    <p:sldId id="448" r:id="rId121"/>
    <p:sldId id="450" r:id="rId122"/>
    <p:sldId id="452" r:id="rId123"/>
    <p:sldId id="453" r:id="rId124"/>
    <p:sldId id="455" r:id="rId125"/>
    <p:sldId id="457" r:id="rId126"/>
    <p:sldId id="458" r:id="rId127"/>
    <p:sldId id="565" r:id="rId128"/>
    <p:sldId id="464" r:id="rId129"/>
    <p:sldId id="461" r:id="rId130"/>
  </p:sldIdLst>
  <p:sldSz cx="9144000" cy="6858000" type="screen4x3"/>
  <p:notesSz cx="7104063" cy="10234613"/>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109E"/>
    <a:srgbClr val="7EF741"/>
    <a:srgbClr val="A50021"/>
    <a:srgbClr val="000000"/>
    <a:srgbClr val="FFFF99"/>
    <a:srgbClr val="FFFFCC"/>
    <a:srgbClr val="CCFF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83" autoAdjust="0"/>
  </p:normalViewPr>
  <p:slideViewPr>
    <p:cSldViewPr>
      <p:cViewPr varScale="1">
        <p:scale>
          <a:sx n="110" d="100"/>
          <a:sy n="110" d="100"/>
        </p:scale>
        <p:origin x="693" y="58"/>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66" d="100"/>
        <a:sy n="66" d="100"/>
      </p:scale>
      <p:origin x="0" y="0"/>
    </p:cViewPr>
  </p:sorterViewPr>
  <p:notesViewPr>
    <p:cSldViewPr>
      <p:cViewPr varScale="1">
        <p:scale>
          <a:sx n="61" d="100"/>
          <a:sy n="61" d="100"/>
        </p:scale>
        <p:origin x="-1698" y="-54"/>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notesMaster" Target="notesMasters/notesMaster1.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handoutMaster" Target="handoutMasters/handout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42.wmf"/><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7.wmf"/><Relationship Id="rId1" Type="http://schemas.openxmlformats.org/officeDocument/2006/relationships/image" Target="../media/image46.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64.wmf"/><Relationship Id="rId1" Type="http://schemas.openxmlformats.org/officeDocument/2006/relationships/image" Target="../media/image63.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 Id="rId6" Type="http://schemas.openxmlformats.org/officeDocument/2006/relationships/image" Target="../media/image70.wmf"/><Relationship Id="rId5" Type="http://schemas.openxmlformats.org/officeDocument/2006/relationships/image" Target="../media/image69.wmf"/><Relationship Id="rId4" Type="http://schemas.openxmlformats.org/officeDocument/2006/relationships/image" Target="../media/image6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 Id="rId5" Type="http://schemas.openxmlformats.org/officeDocument/2006/relationships/image" Target="../media/image75.wmf"/><Relationship Id="rId4" Type="http://schemas.openxmlformats.org/officeDocument/2006/relationships/image" Target="../media/image7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 Id="rId5" Type="http://schemas.openxmlformats.org/officeDocument/2006/relationships/image" Target="../media/image63.wmf"/><Relationship Id="rId4" Type="http://schemas.openxmlformats.org/officeDocument/2006/relationships/image" Target="../media/image79.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 Id="rId4" Type="http://schemas.openxmlformats.org/officeDocument/2006/relationships/image" Target="../media/image8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5" Type="http://schemas.openxmlformats.org/officeDocument/2006/relationships/image" Target="../media/image88.wmf"/><Relationship Id="rId4" Type="http://schemas.openxmlformats.org/officeDocument/2006/relationships/image" Target="../media/image8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90.wmf"/><Relationship Id="rId1" Type="http://schemas.openxmlformats.org/officeDocument/2006/relationships/image" Target="../media/image8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4" Type="http://schemas.openxmlformats.org/officeDocument/2006/relationships/image" Target="../media/image10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 Id="rId4" Type="http://schemas.openxmlformats.org/officeDocument/2006/relationships/image" Target="../media/image105.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113.wmf"/><Relationship Id="rId1" Type="http://schemas.openxmlformats.org/officeDocument/2006/relationships/image" Target="../media/image11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16.wmf"/><Relationship Id="rId1" Type="http://schemas.openxmlformats.org/officeDocument/2006/relationships/image" Target="../media/image115.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118.wmf"/><Relationship Id="rId1" Type="http://schemas.openxmlformats.org/officeDocument/2006/relationships/image" Target="../media/image117.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20.wmf"/><Relationship Id="rId1" Type="http://schemas.openxmlformats.org/officeDocument/2006/relationships/image" Target="../media/image119.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22.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30.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31.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image" Target="../media/image134.wmf"/><Relationship Id="rId7" Type="http://schemas.openxmlformats.org/officeDocument/2006/relationships/image" Target="../media/image138.wmf"/><Relationship Id="rId2" Type="http://schemas.openxmlformats.org/officeDocument/2006/relationships/image" Target="../media/image133.wmf"/><Relationship Id="rId1" Type="http://schemas.openxmlformats.org/officeDocument/2006/relationships/image" Target="../media/image132.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47.wmf"/><Relationship Id="rId3" Type="http://schemas.openxmlformats.org/officeDocument/2006/relationships/image" Target="../media/image142.wmf"/><Relationship Id="rId7" Type="http://schemas.openxmlformats.org/officeDocument/2006/relationships/image" Target="../media/image146.wmf"/><Relationship Id="rId2" Type="http://schemas.openxmlformats.org/officeDocument/2006/relationships/image" Target="../media/image141.wmf"/><Relationship Id="rId1" Type="http://schemas.openxmlformats.org/officeDocument/2006/relationships/image" Target="../media/image140.wmf"/><Relationship Id="rId6" Type="http://schemas.openxmlformats.org/officeDocument/2006/relationships/image" Target="../media/image145.wmf"/><Relationship Id="rId5" Type="http://schemas.openxmlformats.org/officeDocument/2006/relationships/image" Target="../media/image144.wmf"/><Relationship Id="rId4" Type="http://schemas.openxmlformats.org/officeDocument/2006/relationships/image" Target="../media/image143.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57.wmf"/><Relationship Id="rId2" Type="http://schemas.openxmlformats.org/officeDocument/2006/relationships/image" Target="../media/image156.wmf"/><Relationship Id="rId1" Type="http://schemas.openxmlformats.org/officeDocument/2006/relationships/image" Target="../media/image155.wmf"/></Relationships>
</file>

<file path=ppt/drawings/_rels/vmlDrawing42.vml.rels><?xml version="1.0" encoding="UTF-8" standalone="yes"?>
<Relationships xmlns="http://schemas.openxmlformats.org/package/2006/relationships"><Relationship Id="rId2" Type="http://schemas.openxmlformats.org/officeDocument/2006/relationships/image" Target="../media/image159.wmf"/><Relationship Id="rId1" Type="http://schemas.openxmlformats.org/officeDocument/2006/relationships/image" Target="../media/image158.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61.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 Id="rId6" Type="http://schemas.openxmlformats.org/officeDocument/2006/relationships/image" Target="../media/image167.wmf"/><Relationship Id="rId5" Type="http://schemas.openxmlformats.org/officeDocument/2006/relationships/image" Target="../media/image166.wmf"/><Relationship Id="rId4" Type="http://schemas.openxmlformats.org/officeDocument/2006/relationships/image" Target="../media/image165.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169.wmf"/><Relationship Id="rId1" Type="http://schemas.openxmlformats.org/officeDocument/2006/relationships/image" Target="../media/image168.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171.wmf"/><Relationship Id="rId1" Type="http://schemas.openxmlformats.org/officeDocument/2006/relationships/image" Target="../media/image170.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73.wmf"/><Relationship Id="rId1" Type="http://schemas.openxmlformats.org/officeDocument/2006/relationships/image" Target="../media/image172.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77.wmf"/><Relationship Id="rId2" Type="http://schemas.openxmlformats.org/officeDocument/2006/relationships/image" Target="../media/image176.wmf"/><Relationship Id="rId1" Type="http://schemas.openxmlformats.org/officeDocument/2006/relationships/image" Target="../media/image175.wmf"/><Relationship Id="rId6" Type="http://schemas.openxmlformats.org/officeDocument/2006/relationships/image" Target="../media/image180.wmf"/><Relationship Id="rId5" Type="http://schemas.openxmlformats.org/officeDocument/2006/relationships/image" Target="../media/image179.wmf"/><Relationship Id="rId4" Type="http://schemas.openxmlformats.org/officeDocument/2006/relationships/image" Target="../media/image178.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88.wmf"/><Relationship Id="rId2" Type="http://schemas.openxmlformats.org/officeDocument/2006/relationships/image" Target="../media/image187.wmf"/><Relationship Id="rId1" Type="http://schemas.openxmlformats.org/officeDocument/2006/relationships/image" Target="../media/image186.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90.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201.wmf"/><Relationship Id="rId3" Type="http://schemas.openxmlformats.org/officeDocument/2006/relationships/image" Target="../media/image196.wmf"/><Relationship Id="rId7" Type="http://schemas.openxmlformats.org/officeDocument/2006/relationships/image" Target="../media/image200.wmf"/><Relationship Id="rId2" Type="http://schemas.openxmlformats.org/officeDocument/2006/relationships/image" Target="../media/image195.wmf"/><Relationship Id="rId1" Type="http://schemas.openxmlformats.org/officeDocument/2006/relationships/image" Target="../media/image194.wmf"/><Relationship Id="rId6" Type="http://schemas.openxmlformats.org/officeDocument/2006/relationships/image" Target="../media/image199.wmf"/><Relationship Id="rId5" Type="http://schemas.openxmlformats.org/officeDocument/2006/relationships/image" Target="../media/image198.wmf"/><Relationship Id="rId4" Type="http://schemas.openxmlformats.org/officeDocument/2006/relationships/image" Target="../media/image197.wmf"/><Relationship Id="rId9" Type="http://schemas.openxmlformats.org/officeDocument/2006/relationships/image" Target="../media/image202.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03.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04.w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206.wmf"/><Relationship Id="rId1" Type="http://schemas.openxmlformats.org/officeDocument/2006/relationships/image" Target="../media/image205.wmf"/></Relationships>
</file>

<file path=ppt/drawings/_rels/vmlDrawing58.vml.rels><?xml version="1.0" encoding="UTF-8" standalone="yes"?>
<Relationships xmlns="http://schemas.openxmlformats.org/package/2006/relationships"><Relationship Id="rId2" Type="http://schemas.openxmlformats.org/officeDocument/2006/relationships/image" Target="../media/image208.wmf"/><Relationship Id="rId1" Type="http://schemas.openxmlformats.org/officeDocument/2006/relationships/image" Target="../media/image207.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211.wmf"/><Relationship Id="rId2" Type="http://schemas.openxmlformats.org/officeDocument/2006/relationships/image" Target="../media/image210.wmf"/><Relationship Id="rId1" Type="http://schemas.openxmlformats.org/officeDocument/2006/relationships/image" Target="../media/image209.wmf"/></Relationships>
</file>

<file path=ppt/drawings/_rels/vmlDrawing60.vml.rels><?xml version="1.0" encoding="UTF-8" standalone="yes"?>
<Relationships xmlns="http://schemas.openxmlformats.org/package/2006/relationships"><Relationship Id="rId3" Type="http://schemas.openxmlformats.org/officeDocument/2006/relationships/image" Target="../media/image214.wmf"/><Relationship Id="rId2" Type="http://schemas.openxmlformats.org/officeDocument/2006/relationships/image" Target="../media/image213.wmf"/><Relationship Id="rId1" Type="http://schemas.openxmlformats.org/officeDocument/2006/relationships/image" Target="../media/image212.wmf"/><Relationship Id="rId4" Type="http://schemas.openxmlformats.org/officeDocument/2006/relationships/image" Target="../media/image215.w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219.wmf"/><Relationship Id="rId2" Type="http://schemas.openxmlformats.org/officeDocument/2006/relationships/image" Target="../media/image218.wmf"/><Relationship Id="rId1" Type="http://schemas.openxmlformats.org/officeDocument/2006/relationships/image" Target="../media/image21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3907D965-C2AD-4649-B763-E33C54AC7A14}"/>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zh-CN" altLang="en-US"/>
          </a:p>
        </p:txBody>
      </p:sp>
      <p:sp>
        <p:nvSpPr>
          <p:cNvPr id="5123" name="Rectangle 3">
            <a:extLst>
              <a:ext uri="{FF2B5EF4-FFF2-40B4-BE49-F238E27FC236}">
                <a16:creationId xmlns:a16="http://schemas.microsoft.com/office/drawing/2014/main" id="{72F966A3-729A-4C09-A064-4548DD399D5F}"/>
              </a:ext>
            </a:extLst>
          </p:cNvPr>
          <p:cNvSpPr>
            <a:spLocks noGrp="1" noChangeArrowheads="1"/>
          </p:cNvSpPr>
          <p:nvPr>
            <p:ph type="dt" sz="quarter" idx="1"/>
          </p:nvPr>
        </p:nvSpPr>
        <p:spPr bwMode="auto">
          <a:xfrm>
            <a:off x="402590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endParaRPr lang="en-US" altLang="zh-CN"/>
          </a:p>
        </p:txBody>
      </p:sp>
      <p:sp>
        <p:nvSpPr>
          <p:cNvPr id="5124" name="Rectangle 4">
            <a:extLst>
              <a:ext uri="{FF2B5EF4-FFF2-40B4-BE49-F238E27FC236}">
                <a16:creationId xmlns:a16="http://schemas.microsoft.com/office/drawing/2014/main" id="{0174916E-91AE-42C7-9E4C-C0F01C42D82F}"/>
              </a:ext>
            </a:extLst>
          </p:cNvPr>
          <p:cNvSpPr>
            <a:spLocks noGrp="1" noChangeArrowheads="1"/>
          </p:cNvSpPr>
          <p:nvPr>
            <p:ph type="ftr" sz="quarter" idx="2"/>
          </p:nvPr>
        </p:nvSpPr>
        <p:spPr bwMode="auto">
          <a:xfrm>
            <a:off x="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en-US" altLang="zh-CN"/>
          </a:p>
        </p:txBody>
      </p:sp>
      <p:sp>
        <p:nvSpPr>
          <p:cNvPr id="5125" name="Rectangle 5">
            <a:extLst>
              <a:ext uri="{FF2B5EF4-FFF2-40B4-BE49-F238E27FC236}">
                <a16:creationId xmlns:a16="http://schemas.microsoft.com/office/drawing/2014/main" id="{3351254F-2CA2-4722-8B78-CDDF5907F479}"/>
              </a:ext>
            </a:extLst>
          </p:cNvPr>
          <p:cNvSpPr>
            <a:spLocks noGrp="1" noChangeArrowheads="1"/>
          </p:cNvSpPr>
          <p:nvPr>
            <p:ph type="sldNum" sz="quarter" idx="3"/>
          </p:nvPr>
        </p:nvSpPr>
        <p:spPr bwMode="auto">
          <a:xfrm>
            <a:off x="402590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fld id="{6A009D2F-88CB-4B1A-9BB1-96D2F8B87195}"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F3329AE3-8A71-4F09-86B2-869492860971}"/>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zh-CN" altLang="en-US"/>
          </a:p>
        </p:txBody>
      </p:sp>
      <p:sp>
        <p:nvSpPr>
          <p:cNvPr id="4099" name="Rectangle 3">
            <a:extLst>
              <a:ext uri="{FF2B5EF4-FFF2-40B4-BE49-F238E27FC236}">
                <a16:creationId xmlns:a16="http://schemas.microsoft.com/office/drawing/2014/main" id="{DDB8A60A-FBE8-4346-A9D8-950983B101E6}"/>
              </a:ext>
            </a:extLst>
          </p:cNvPr>
          <p:cNvSpPr>
            <a:spLocks noGrp="1" noChangeArrowheads="1"/>
          </p:cNvSpPr>
          <p:nvPr>
            <p:ph type="dt" idx="1"/>
          </p:nvPr>
        </p:nvSpPr>
        <p:spPr bwMode="auto">
          <a:xfrm>
            <a:off x="4025900" y="0"/>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endParaRPr lang="en-US" altLang="zh-CN"/>
          </a:p>
        </p:txBody>
      </p:sp>
      <p:sp>
        <p:nvSpPr>
          <p:cNvPr id="13316" name="Rectangle 4"/>
          <p:cNvSpPr>
            <a:spLocks noGrp="1" noRot="1" noChangeAspect="1" noChangeArrowheads="1"/>
          </p:cNvSpPr>
          <p:nvPr>
            <p:ph type="sldImg" idx="2"/>
          </p:nvPr>
        </p:nvSpPr>
        <p:spPr bwMode="auto">
          <a:xfrm>
            <a:off x="995363" y="768350"/>
            <a:ext cx="5113337"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0F399201-378C-4500-85ED-2AE708884265}"/>
              </a:ext>
            </a:extLst>
          </p:cNvPr>
          <p:cNvSpPr>
            <a:spLocks noGrp="1" noChangeArrowheads="1"/>
          </p:cNvSpPr>
          <p:nvPr>
            <p:ph type="body" sz="quarter" idx="3"/>
          </p:nvPr>
        </p:nvSpPr>
        <p:spPr bwMode="auto">
          <a:xfrm>
            <a:off x="947738" y="4860925"/>
            <a:ext cx="5208587"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a:extLst>
              <a:ext uri="{FF2B5EF4-FFF2-40B4-BE49-F238E27FC236}">
                <a16:creationId xmlns:a16="http://schemas.microsoft.com/office/drawing/2014/main" id="{1F64D5AF-4016-402E-8957-6DDD13F1982C}"/>
              </a:ext>
            </a:extLst>
          </p:cNvPr>
          <p:cNvSpPr>
            <a:spLocks noGrp="1" noChangeArrowheads="1"/>
          </p:cNvSpPr>
          <p:nvPr>
            <p:ph type="ftr" sz="quarter" idx="4"/>
          </p:nvPr>
        </p:nvSpPr>
        <p:spPr bwMode="auto">
          <a:xfrm>
            <a:off x="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eaLnBrk="1" fontAlgn="auto" hangingPunct="1">
              <a:spcBef>
                <a:spcPts val="0"/>
              </a:spcBef>
              <a:spcAft>
                <a:spcPts val="0"/>
              </a:spcAft>
              <a:defRPr kumimoji="1" sz="1300">
                <a:latin typeface="+mn-lt"/>
              </a:defRPr>
            </a:lvl1pPr>
          </a:lstStyle>
          <a:p>
            <a:pPr>
              <a:defRPr/>
            </a:pPr>
            <a:endParaRPr lang="en-US" altLang="zh-CN"/>
          </a:p>
        </p:txBody>
      </p:sp>
      <p:sp>
        <p:nvSpPr>
          <p:cNvPr id="4103" name="Rectangle 7">
            <a:extLst>
              <a:ext uri="{FF2B5EF4-FFF2-40B4-BE49-F238E27FC236}">
                <a16:creationId xmlns:a16="http://schemas.microsoft.com/office/drawing/2014/main" id="{D35DED9B-AA4B-4441-86D4-E40D851009E0}"/>
              </a:ext>
            </a:extLst>
          </p:cNvPr>
          <p:cNvSpPr>
            <a:spLocks noGrp="1" noChangeArrowheads="1"/>
          </p:cNvSpPr>
          <p:nvPr>
            <p:ph type="sldNum" sz="quarter" idx="5"/>
          </p:nvPr>
        </p:nvSpPr>
        <p:spPr bwMode="auto">
          <a:xfrm>
            <a:off x="4025900" y="9723438"/>
            <a:ext cx="3078163"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75" tIns="49538" rIns="99075" bIns="49538" numCol="1" anchor="b" anchorCtr="0" compatLnSpc="1">
            <a:prstTxWarp prst="textNoShape">
              <a:avLst/>
            </a:prstTxWarp>
          </a:bodyPr>
          <a:lstStyle>
            <a:lvl1pPr algn="r" eaLnBrk="1" fontAlgn="auto" hangingPunct="1">
              <a:spcBef>
                <a:spcPts val="0"/>
              </a:spcBef>
              <a:spcAft>
                <a:spcPts val="0"/>
              </a:spcAft>
              <a:defRPr kumimoji="1" sz="1300">
                <a:latin typeface="+mn-lt"/>
              </a:defRPr>
            </a:lvl1pPr>
          </a:lstStyle>
          <a:p>
            <a:pPr>
              <a:defRPr/>
            </a:pPr>
            <a:fld id="{DEC67B98-FCDF-420C-9154-DC58B79374E2}"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ChangeArrowheads="1" noTextEdit="1"/>
          </p:cNvSpPr>
          <p:nvPr>
            <p:ph type="sldImg"/>
          </p:nvPr>
        </p:nvSpPr>
        <p:spPr>
          <a:ln/>
        </p:spPr>
      </p:sp>
      <p:sp>
        <p:nvSpPr>
          <p:cNvPr id="16387"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23DACAA0-8726-410E-AF20-E99B78A235AB}"/>
              </a:ext>
            </a:extLst>
          </p:cNvPr>
          <p:cNvSpPr>
            <a:spLocks noGrp="1"/>
          </p:cNvSpPr>
          <p:nvPr>
            <p:ph type="sldNum" sz="quarter" idx="5"/>
          </p:nvPr>
        </p:nvSpPr>
        <p:spPr/>
        <p:txBody>
          <a:bodyPr/>
          <a:lstStyle/>
          <a:p>
            <a:pPr>
              <a:defRPr/>
            </a:pPr>
            <a:fld id="{91C6A38A-8998-4EE4-9666-BA47A29575B4}" type="slidenum">
              <a:rPr lang="zh-CN" altLang="en-US" smtClean="0"/>
              <a:pPr>
                <a:defRPr/>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ChangeArrowheads="1" noTextEdit="1"/>
          </p:cNvSpPr>
          <p:nvPr>
            <p:ph type="sldImg"/>
          </p:nvPr>
        </p:nvSpPr>
        <p:spPr>
          <a:ln/>
        </p:spPr>
      </p:sp>
      <p:sp>
        <p:nvSpPr>
          <p:cNvPr id="20483"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AF037F1D-F4B5-48A3-9155-A7AE5DFC9C08}"/>
              </a:ext>
            </a:extLst>
          </p:cNvPr>
          <p:cNvSpPr>
            <a:spLocks noGrp="1"/>
          </p:cNvSpPr>
          <p:nvPr>
            <p:ph type="sldNum" sz="quarter" idx="5"/>
          </p:nvPr>
        </p:nvSpPr>
        <p:spPr/>
        <p:txBody>
          <a:bodyPr/>
          <a:lstStyle/>
          <a:p>
            <a:pPr>
              <a:defRPr/>
            </a:pPr>
            <a:fld id="{08311CA7-266A-4ADC-8F25-19B274664E3F}" type="slidenum">
              <a:rPr lang="zh-CN" altLang="en-US" smtClean="0"/>
              <a:pPr>
                <a:defRPr/>
              </a:pPr>
              <a:t>4</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ChangeArrowheads="1" noTextEdit="1"/>
          </p:cNvSpPr>
          <p:nvPr>
            <p:ph type="sldImg"/>
          </p:nvPr>
        </p:nvSpPr>
        <p:spPr>
          <a:ln/>
        </p:spPr>
      </p:sp>
      <p:sp>
        <p:nvSpPr>
          <p:cNvPr id="27651" name="备注占位符 2"/>
          <p:cNvSpPr>
            <a:spLocks noGrp="1" noChangeArrowheads="1"/>
          </p:cNvSpPr>
          <p:nvPr>
            <p:ph type="body" idx="1"/>
          </p:nvPr>
        </p:nvSpPr>
        <p:spPr>
          <a:noFill/>
        </p:spPr>
        <p:txBody>
          <a:bodyPr/>
          <a:lstStyle/>
          <a:p>
            <a:r>
              <a:rPr lang="zh-CN" altLang="en-US"/>
              <a:t>多段聚合物，多元共聚物，多嵌段共聚物？</a:t>
            </a:r>
          </a:p>
        </p:txBody>
      </p:sp>
      <p:sp>
        <p:nvSpPr>
          <p:cNvPr id="4" name="灯片编号占位符 3">
            <a:extLst>
              <a:ext uri="{FF2B5EF4-FFF2-40B4-BE49-F238E27FC236}">
                <a16:creationId xmlns:a16="http://schemas.microsoft.com/office/drawing/2014/main" id="{E6849682-5E1E-468C-83A3-07921655E0A5}"/>
              </a:ext>
            </a:extLst>
          </p:cNvPr>
          <p:cNvSpPr>
            <a:spLocks noGrp="1"/>
          </p:cNvSpPr>
          <p:nvPr>
            <p:ph type="sldNum" sz="quarter" idx="5"/>
          </p:nvPr>
        </p:nvSpPr>
        <p:spPr/>
        <p:txBody>
          <a:bodyPr/>
          <a:lstStyle/>
          <a:p>
            <a:pPr>
              <a:defRPr/>
            </a:pPr>
            <a:fld id="{04DCD16B-CDEB-4B6F-B932-6D58274897D5}" type="slidenum">
              <a:rPr lang="zh-CN" altLang="en-US" smtClean="0"/>
              <a:pPr>
                <a:defRPr/>
              </a:pPr>
              <a:t>10</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ChangeArrowheads="1" noTextEdit="1"/>
          </p:cNvSpPr>
          <p:nvPr>
            <p:ph type="sldImg"/>
          </p:nvPr>
        </p:nvSpPr>
        <p:spPr>
          <a:ln/>
        </p:spPr>
      </p:sp>
      <p:sp>
        <p:nvSpPr>
          <p:cNvPr id="29699"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0F58F736-30AE-4F9B-ABCE-2E9569045BF4}"/>
              </a:ext>
            </a:extLst>
          </p:cNvPr>
          <p:cNvSpPr>
            <a:spLocks noGrp="1"/>
          </p:cNvSpPr>
          <p:nvPr>
            <p:ph type="sldNum" sz="quarter" idx="5"/>
          </p:nvPr>
        </p:nvSpPr>
        <p:spPr/>
        <p:txBody>
          <a:bodyPr/>
          <a:lstStyle/>
          <a:p>
            <a:pPr>
              <a:defRPr/>
            </a:pPr>
            <a:fld id="{34D8DD79-33AF-491A-9695-978C3110490E}" type="slidenum">
              <a:rPr lang="zh-CN" altLang="en-US" smtClean="0"/>
              <a:pPr>
                <a:defRPr/>
              </a:pPr>
              <a:t>11</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ChangeArrowheads="1" noTextEdit="1"/>
          </p:cNvSpPr>
          <p:nvPr>
            <p:ph type="sldImg"/>
          </p:nvPr>
        </p:nvSpPr>
        <p:spPr>
          <a:ln/>
        </p:spPr>
      </p:sp>
      <p:sp>
        <p:nvSpPr>
          <p:cNvPr id="35843" name="备注占位符 2"/>
          <p:cNvSpPr>
            <a:spLocks noGrp="1" noChangeArrowheads="1"/>
          </p:cNvSpPr>
          <p:nvPr>
            <p:ph type="body" idx="1"/>
          </p:nvPr>
        </p:nvSpPr>
        <p:spPr>
          <a:noFill/>
        </p:spPr>
        <p:txBody>
          <a:bodyPr/>
          <a:lstStyle/>
          <a:p>
            <a:r>
              <a:rPr lang="zh-CN" altLang="en-US"/>
              <a:t>强调结构与性能的关系</a:t>
            </a:r>
          </a:p>
        </p:txBody>
      </p:sp>
      <p:sp>
        <p:nvSpPr>
          <p:cNvPr id="4" name="灯片编号占位符 3">
            <a:extLst>
              <a:ext uri="{FF2B5EF4-FFF2-40B4-BE49-F238E27FC236}">
                <a16:creationId xmlns:a16="http://schemas.microsoft.com/office/drawing/2014/main" id="{72032FB7-B9DA-4A14-BD89-547D15B3F09F}"/>
              </a:ext>
            </a:extLst>
          </p:cNvPr>
          <p:cNvSpPr>
            <a:spLocks noGrp="1"/>
          </p:cNvSpPr>
          <p:nvPr>
            <p:ph type="sldNum" sz="quarter" idx="5"/>
          </p:nvPr>
        </p:nvSpPr>
        <p:spPr/>
        <p:txBody>
          <a:bodyPr/>
          <a:lstStyle/>
          <a:p>
            <a:pPr>
              <a:defRPr/>
            </a:pPr>
            <a:fld id="{528FDC8C-860F-43CE-8A42-A7CF7611D91D}" type="slidenum">
              <a:rPr lang="zh-CN" altLang="en-US" smtClean="0"/>
              <a:pPr>
                <a:defRPr/>
              </a:pPr>
              <a:t>16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ChangeArrowheads="1" noTextEdit="1"/>
          </p:cNvSpPr>
          <p:nvPr>
            <p:ph type="sldImg"/>
          </p:nvPr>
        </p:nvSpPr>
        <p:spPr>
          <a:ln/>
        </p:spPr>
      </p:sp>
      <p:sp>
        <p:nvSpPr>
          <p:cNvPr id="38915" name="备注占位符 2"/>
          <p:cNvSpPr>
            <a:spLocks noGrp="1" noChangeArrowheads="1"/>
          </p:cNvSpPr>
          <p:nvPr>
            <p:ph type="body" idx="1"/>
          </p:nvPr>
        </p:nvSpPr>
        <p:spPr>
          <a:noFill/>
        </p:spPr>
        <p:txBody>
          <a:bodyPr/>
          <a:lstStyle/>
          <a:p>
            <a:r>
              <a:rPr lang="en-US" altLang="zh-CN">
                <a:latin typeface="Arial" panose="020B0604020202020204" pitchFamily="34" charset="0"/>
                <a:ea typeface="楷体" panose="02010609060101010101" pitchFamily="49" charset="-122"/>
                <a:cs typeface="Arial" panose="020B0604020202020204" pitchFamily="34" charset="0"/>
              </a:rPr>
              <a:t>St</a:t>
            </a:r>
            <a:r>
              <a:rPr lang="zh-CN" altLang="en-US">
                <a:latin typeface="Arial" panose="020B0604020202020204" pitchFamily="34" charset="0"/>
                <a:ea typeface="楷体" panose="02010609060101010101" pitchFamily="49" charset="-122"/>
                <a:cs typeface="Arial" panose="020B0604020202020204" pitchFamily="34" charset="0"/>
              </a:rPr>
              <a:t>与</a:t>
            </a:r>
            <a:r>
              <a:rPr lang="en-US" altLang="zh-CN">
                <a:latin typeface="Arial" panose="020B0604020202020204" pitchFamily="34" charset="0"/>
                <a:ea typeface="楷体" panose="02010609060101010101" pitchFamily="49" charset="-122"/>
                <a:cs typeface="Arial" panose="020B0604020202020204" pitchFamily="34" charset="0"/>
              </a:rPr>
              <a:t>Bd</a:t>
            </a:r>
            <a:r>
              <a:rPr lang="zh-CN" altLang="en-US">
                <a:latin typeface="Arial" panose="020B0604020202020204" pitchFamily="34" charset="0"/>
                <a:ea typeface="楷体" panose="02010609060101010101" pitchFamily="49" charset="-122"/>
                <a:cs typeface="Arial" panose="020B0604020202020204" pitchFamily="34" charset="0"/>
              </a:rPr>
              <a:t>自由基乳液共聚，可得无规共聚物——</a:t>
            </a:r>
            <a:r>
              <a:rPr lang="zh-CN" altLang="en-US">
                <a:solidFill>
                  <a:srgbClr val="FF0000"/>
                </a:solidFill>
                <a:latin typeface="Arial" panose="020B0604020202020204" pitchFamily="34" charset="0"/>
                <a:ea typeface="楷体" panose="02010609060101010101" pitchFamily="49" charset="-122"/>
                <a:cs typeface="Arial" panose="020B0604020202020204" pitchFamily="34" charset="0"/>
              </a:rPr>
              <a:t>丁苯橡胶 </a:t>
            </a:r>
            <a:r>
              <a:rPr lang="en-US" altLang="zh-CN">
                <a:solidFill>
                  <a:srgbClr val="FF0000"/>
                </a:solidFill>
                <a:latin typeface="Arial" panose="020B0604020202020204" pitchFamily="34" charset="0"/>
                <a:ea typeface="楷体" panose="02010609060101010101" pitchFamily="49" charset="-122"/>
                <a:cs typeface="Arial" panose="020B0604020202020204" pitchFamily="34" charset="0"/>
              </a:rPr>
              <a:t>(Styrene-Butadiene Rubber, SBR), </a:t>
            </a:r>
            <a:r>
              <a:rPr lang="zh-CN" altLang="en-US">
                <a:solidFill>
                  <a:srgbClr val="FF0000"/>
                </a:solidFill>
                <a:latin typeface="Arial" panose="020B0604020202020204" pitchFamily="34" charset="0"/>
                <a:ea typeface="楷体" panose="02010609060101010101" pitchFamily="49" charset="-122"/>
                <a:cs typeface="Arial" panose="020B0604020202020204" pitchFamily="34" charset="0"/>
              </a:rPr>
              <a:t>合成橡胶的第一大品种。</a:t>
            </a:r>
            <a:r>
              <a:rPr lang="zh-CN" altLang="en-US">
                <a:latin typeface="Arial" panose="020B0604020202020204" pitchFamily="34" charset="0"/>
                <a:ea typeface="楷体" panose="02010609060101010101" pitchFamily="49" charset="-122"/>
                <a:cs typeface="Arial" panose="020B0604020202020204" pitchFamily="34" charset="0"/>
              </a:rPr>
              <a:t>丁苯橡胶的抗张强度接近于天然橡胶，耐候性能优于天然橡胶，广泛用于制造轮胎、地板、鞋底、衣料织物和电绝缘体。</a:t>
            </a:r>
            <a:endParaRPr lang="en-US" altLang="zh-CN">
              <a:latin typeface="Arial" panose="020B0604020202020204" pitchFamily="34" charset="0"/>
              <a:ea typeface="楷体" panose="02010609060101010101" pitchFamily="49" charset="-122"/>
              <a:cs typeface="Arial" panose="020B0604020202020204" pitchFamily="34" charset="0"/>
            </a:endParaRPr>
          </a:p>
          <a:p>
            <a:endParaRPr lang="en-US" altLang="zh-CN" b="1">
              <a:latin typeface="Arial" panose="020B0604020202020204" pitchFamily="34" charset="0"/>
              <a:ea typeface="楷体" panose="02010609060101010101" pitchFamily="49" charset="-122"/>
              <a:cs typeface="Arial" panose="020B0604020202020204" pitchFamily="34" charset="0"/>
            </a:endParaRPr>
          </a:p>
          <a:p>
            <a:r>
              <a:rPr lang="zh-CN" altLang="en-US" b="1">
                <a:latin typeface="Arial" panose="020B0604020202020204" pitchFamily="34" charset="0"/>
                <a:ea typeface="楷体" panose="02010609060101010101" pitchFamily="49" charset="-122"/>
                <a:cs typeface="Arial" panose="020B0604020202020204" pitchFamily="34" charset="0"/>
              </a:rPr>
              <a:t>在</a:t>
            </a:r>
            <a:r>
              <a:rPr lang="en-US" altLang="zh-CN" b="1">
                <a:latin typeface="Arial" panose="020B0604020202020204" pitchFamily="34" charset="0"/>
                <a:ea typeface="楷体" panose="02010609060101010101" pitchFamily="49" charset="-122"/>
                <a:cs typeface="Arial" panose="020B0604020202020204" pitchFamily="34" charset="0"/>
              </a:rPr>
              <a:t>St</a:t>
            </a:r>
            <a:r>
              <a:rPr lang="zh-CN" altLang="en-US" b="1">
                <a:latin typeface="Arial" panose="020B0604020202020204" pitchFamily="34" charset="0"/>
                <a:ea typeface="楷体" panose="02010609060101010101" pitchFamily="49" charset="-122"/>
                <a:cs typeface="Arial" panose="020B0604020202020204" pitchFamily="34" charset="0"/>
              </a:rPr>
              <a:t>聚合体系中加入</a:t>
            </a:r>
            <a:r>
              <a:rPr lang="en-US" altLang="zh-CN" b="1">
                <a:latin typeface="Arial" panose="020B0604020202020204" pitchFamily="34" charset="0"/>
                <a:ea typeface="楷体" panose="02010609060101010101" pitchFamily="49" charset="-122"/>
                <a:cs typeface="Arial" panose="020B0604020202020204" pitchFamily="34" charset="0"/>
              </a:rPr>
              <a:t>PB，</a:t>
            </a:r>
            <a:r>
              <a:rPr lang="zh-CN" altLang="en-US" b="1">
                <a:latin typeface="Arial" panose="020B0604020202020204" pitchFamily="34" charset="0"/>
                <a:ea typeface="楷体" panose="02010609060101010101" pitchFamily="49" charset="-122"/>
                <a:cs typeface="Arial" panose="020B0604020202020204" pitchFamily="34" charset="0"/>
              </a:rPr>
              <a:t>使</a:t>
            </a:r>
            <a:r>
              <a:rPr lang="en-US" altLang="zh-CN" b="1">
                <a:latin typeface="Arial" panose="020B0604020202020204" pitchFamily="34" charset="0"/>
                <a:ea typeface="楷体" panose="02010609060101010101" pitchFamily="49" charset="-122"/>
                <a:cs typeface="Arial" panose="020B0604020202020204" pitchFamily="34" charset="0"/>
              </a:rPr>
              <a:t>St</a:t>
            </a:r>
            <a:r>
              <a:rPr lang="zh-CN" altLang="en-US" b="1">
                <a:latin typeface="Arial" panose="020B0604020202020204" pitchFamily="34" charset="0"/>
                <a:ea typeface="楷体" panose="02010609060101010101" pitchFamily="49" charset="-122"/>
                <a:cs typeface="Arial" panose="020B0604020202020204" pitchFamily="34" charset="0"/>
              </a:rPr>
              <a:t>在</a:t>
            </a:r>
            <a:r>
              <a:rPr lang="en-US" altLang="zh-CN" b="1">
                <a:latin typeface="Arial" panose="020B0604020202020204" pitchFamily="34" charset="0"/>
                <a:ea typeface="楷体" panose="02010609060101010101" pitchFamily="49" charset="-122"/>
                <a:cs typeface="Arial" panose="020B0604020202020204" pitchFamily="34" charset="0"/>
              </a:rPr>
              <a:t>PB</a:t>
            </a:r>
            <a:r>
              <a:rPr lang="zh-CN" altLang="en-US" b="1">
                <a:latin typeface="Arial" panose="020B0604020202020204" pitchFamily="34" charset="0"/>
                <a:ea typeface="楷体" panose="02010609060101010101" pitchFamily="49" charset="-122"/>
                <a:cs typeface="Arial" panose="020B0604020202020204" pitchFamily="34" charset="0"/>
              </a:rPr>
              <a:t>主链上接枝共聚合。 </a:t>
            </a:r>
            <a:r>
              <a:rPr lang="en-US" altLang="zh-CN" b="1">
                <a:latin typeface="Arial" panose="020B0604020202020204" pitchFamily="34" charset="0"/>
                <a:ea typeface="楷体" panose="02010609060101010101" pitchFamily="49" charset="-122"/>
                <a:cs typeface="Arial" panose="020B0604020202020204" pitchFamily="34" charset="0"/>
              </a:rPr>
              <a:t>PS</a:t>
            </a:r>
            <a:r>
              <a:rPr lang="zh-CN" altLang="en-US" b="1">
                <a:latin typeface="Arial" panose="020B0604020202020204" pitchFamily="34" charset="0"/>
                <a:ea typeface="楷体" panose="02010609060101010101" pitchFamily="49" charset="-122"/>
                <a:cs typeface="Arial" panose="020B0604020202020204" pitchFamily="34" charset="0"/>
              </a:rPr>
              <a:t>和</a:t>
            </a:r>
            <a:r>
              <a:rPr lang="en-US" altLang="zh-CN" b="1">
                <a:latin typeface="Arial" panose="020B0604020202020204" pitchFamily="34" charset="0"/>
                <a:ea typeface="楷体" panose="02010609060101010101" pitchFamily="49" charset="-122"/>
                <a:cs typeface="Arial" panose="020B0604020202020204" pitchFamily="34" charset="0"/>
              </a:rPr>
              <a:t>PB</a:t>
            </a:r>
            <a:r>
              <a:rPr lang="zh-CN" altLang="en-US" b="1">
                <a:latin typeface="Arial" panose="020B0604020202020204" pitchFamily="34" charset="0"/>
                <a:ea typeface="楷体" panose="02010609060101010101" pitchFamily="49" charset="-122"/>
                <a:cs typeface="Arial" panose="020B0604020202020204" pitchFamily="34" charset="0"/>
              </a:rPr>
              <a:t>不相容，</a:t>
            </a:r>
            <a:r>
              <a:rPr lang="en-US" altLang="zh-CN" b="1">
                <a:latin typeface="Arial" panose="020B0604020202020204" pitchFamily="34" charset="0"/>
                <a:ea typeface="楷体" panose="02010609060101010101" pitchFamily="49" charset="-122"/>
                <a:cs typeface="Arial" panose="020B0604020202020204" pitchFamily="34" charset="0"/>
              </a:rPr>
              <a:t>St</a:t>
            </a:r>
            <a:r>
              <a:rPr lang="zh-CN" altLang="en-US" b="1">
                <a:latin typeface="Arial" panose="020B0604020202020204" pitchFamily="34" charset="0"/>
                <a:ea typeface="楷体" panose="02010609060101010101" pitchFamily="49" charset="-122"/>
                <a:cs typeface="Arial" panose="020B0604020202020204" pitchFamily="34" charset="0"/>
              </a:rPr>
              <a:t>和</a:t>
            </a:r>
            <a:r>
              <a:rPr lang="en-US" altLang="zh-CN" b="1">
                <a:latin typeface="Arial" panose="020B0604020202020204" pitchFamily="34" charset="0"/>
                <a:ea typeface="楷体" panose="02010609060101010101" pitchFamily="49" charset="-122"/>
                <a:cs typeface="Arial" panose="020B0604020202020204" pitchFamily="34" charset="0"/>
              </a:rPr>
              <a:t>Bd</a:t>
            </a:r>
            <a:r>
              <a:rPr lang="zh-CN" altLang="en-US" b="1">
                <a:latin typeface="Arial" panose="020B0604020202020204" pitchFamily="34" charset="0"/>
                <a:ea typeface="楷体" panose="02010609060101010101" pitchFamily="49" charset="-122"/>
                <a:cs typeface="Arial" panose="020B0604020202020204" pitchFamily="34" charset="0"/>
              </a:rPr>
              <a:t>链段分别聚集，产生相分离，形成“海岛”结构。</a:t>
            </a:r>
            <a:r>
              <a:rPr lang="en-US" altLang="zh-CN" b="1">
                <a:latin typeface="Arial" panose="020B0604020202020204" pitchFamily="34" charset="0"/>
                <a:ea typeface="楷体" panose="02010609060101010101" pitchFamily="49" charset="-122"/>
                <a:cs typeface="Arial" panose="020B0604020202020204" pitchFamily="34" charset="0"/>
              </a:rPr>
              <a:t>PB</a:t>
            </a:r>
            <a:r>
              <a:rPr lang="zh-CN" altLang="en-US" b="1">
                <a:latin typeface="Arial" panose="020B0604020202020204" pitchFamily="34" charset="0"/>
                <a:ea typeface="楷体" panose="02010609060101010101" pitchFamily="49" charset="-122"/>
                <a:cs typeface="Arial" panose="020B0604020202020204" pitchFamily="34" charset="0"/>
              </a:rPr>
              <a:t>相区可吸收冲击能，提高了</a:t>
            </a:r>
            <a:r>
              <a:rPr lang="en-US" altLang="zh-CN" b="1">
                <a:latin typeface="Arial" panose="020B0604020202020204" pitchFamily="34" charset="0"/>
                <a:ea typeface="楷体" panose="02010609060101010101" pitchFamily="49" charset="-122"/>
                <a:cs typeface="Arial" panose="020B0604020202020204" pitchFamily="34" charset="0"/>
              </a:rPr>
              <a:t>PS</a:t>
            </a:r>
            <a:r>
              <a:rPr lang="zh-CN" altLang="en-US" b="1">
                <a:latin typeface="Arial" panose="020B0604020202020204" pitchFamily="34" charset="0"/>
                <a:ea typeface="楷体" panose="02010609060101010101" pitchFamily="49" charset="-122"/>
                <a:cs typeface="Arial" panose="020B0604020202020204" pitchFamily="34" charset="0"/>
              </a:rPr>
              <a:t>的冲击强度，形成</a:t>
            </a:r>
            <a:r>
              <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rPr>
              <a:t>HIPS (High-Impact Polystyrene)</a:t>
            </a:r>
            <a:r>
              <a:rPr lang="en-US" altLang="zh-CN">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000000"/>
                </a:solidFill>
                <a:latin typeface="Arial" panose="020B0604020202020204" pitchFamily="34" charset="0"/>
                <a:ea typeface="楷体" panose="02010609060101010101" pitchFamily="49" charset="-122"/>
                <a:cs typeface="Arial" panose="020B0604020202020204" pitchFamily="34" charset="0"/>
              </a:rPr>
              <a:t>。</a:t>
            </a:r>
            <a:endParaRPr lang="en-US" altLang="zh-CN">
              <a:solidFill>
                <a:srgbClr val="000000"/>
              </a:solidFill>
              <a:latin typeface="Arial" panose="020B0604020202020204" pitchFamily="34" charset="0"/>
              <a:ea typeface="楷体" panose="02010609060101010101" pitchFamily="49" charset="-122"/>
              <a:cs typeface="Arial" panose="020B0604020202020204" pitchFamily="34" charset="0"/>
            </a:endParaRPr>
          </a:p>
          <a:p>
            <a:r>
              <a:rPr lang="en-US" altLang="zh-CN">
                <a:latin typeface="Arial" panose="020B0604020202020204" pitchFamily="34" charset="0"/>
                <a:ea typeface="楷体" panose="02010609060101010101" pitchFamily="49" charset="-122"/>
                <a:cs typeface="Arial" panose="020B0604020202020204" pitchFamily="34" charset="0"/>
              </a:rPr>
              <a:t>SBS</a:t>
            </a:r>
            <a:r>
              <a:rPr lang="zh-CN" altLang="en-US">
                <a:latin typeface="Arial" panose="020B0604020202020204" pitchFamily="34" charset="0"/>
                <a:ea typeface="楷体" panose="02010609060101010101" pitchFamily="49" charset="-122"/>
                <a:cs typeface="Arial" panose="020B0604020202020204" pitchFamily="34" charset="0"/>
              </a:rPr>
              <a:t>是由</a:t>
            </a:r>
            <a:r>
              <a:rPr lang="en-US" altLang="zh-CN">
                <a:latin typeface="Arial" panose="020B0604020202020204" pitchFamily="34" charset="0"/>
                <a:ea typeface="楷体" panose="02010609060101010101" pitchFamily="49" charset="-122"/>
                <a:cs typeface="Arial" panose="020B0604020202020204" pitchFamily="34" charset="0"/>
              </a:rPr>
              <a:t>St、Bd</a:t>
            </a:r>
            <a:r>
              <a:rPr lang="zh-CN" altLang="en-US">
                <a:latin typeface="Arial" panose="020B0604020202020204" pitchFamily="34" charset="0"/>
                <a:ea typeface="楷体" panose="02010609060101010101" pitchFamily="49" charset="-122"/>
                <a:cs typeface="Arial" panose="020B0604020202020204" pitchFamily="34" charset="0"/>
              </a:rPr>
              <a:t>合成的三元嵌段共聚物，是一种热塑性弹性体，具有弹性高、抗张强度高、不易变形、低温性能好，可制成电缆及非轮胎橡胶制品。 </a:t>
            </a:r>
          </a:p>
          <a:p>
            <a:endParaRPr lang="en-US" altLang="zh-CN">
              <a:solidFill>
                <a:srgbClr val="000000"/>
              </a:solidFill>
              <a:latin typeface="Arial" panose="020B0604020202020204" pitchFamily="34" charset="0"/>
              <a:ea typeface="楷体" panose="02010609060101010101" pitchFamily="49" charset="-122"/>
              <a:cs typeface="Arial" panose="020B0604020202020204" pitchFamily="34" charset="0"/>
            </a:endParaRPr>
          </a:p>
          <a:p>
            <a:r>
              <a:rPr lang="zh-CN" altLang="en-US">
                <a:solidFill>
                  <a:srgbClr val="A50021"/>
                </a:solidFill>
                <a:latin typeface="Arial" panose="020B0604020202020204" pitchFamily="34" charset="0"/>
                <a:ea typeface="楷体" panose="02010609060101010101" pitchFamily="49" charset="-122"/>
                <a:cs typeface="Arial" panose="020B0604020202020204" pitchFamily="34" charset="0"/>
              </a:rPr>
              <a:t> </a:t>
            </a:r>
          </a:p>
          <a:p>
            <a:endParaRPr lang="zh-CN" altLang="en-US">
              <a:ea typeface="楷体" panose="02010609060101010101" pitchFamily="49" charset="-122"/>
              <a:cs typeface="Arial" panose="020B0604020202020204" pitchFamily="34" charset="0"/>
            </a:endParaRPr>
          </a:p>
        </p:txBody>
      </p:sp>
      <p:sp>
        <p:nvSpPr>
          <p:cNvPr id="4" name="灯片编号占位符 3">
            <a:extLst>
              <a:ext uri="{FF2B5EF4-FFF2-40B4-BE49-F238E27FC236}">
                <a16:creationId xmlns:a16="http://schemas.microsoft.com/office/drawing/2014/main" id="{C1372A0E-A5AE-489B-9AF1-7E6EDCB36071}"/>
              </a:ext>
            </a:extLst>
          </p:cNvPr>
          <p:cNvSpPr>
            <a:spLocks noGrp="1"/>
          </p:cNvSpPr>
          <p:nvPr>
            <p:ph type="sldNum" sz="quarter" idx="5"/>
          </p:nvPr>
        </p:nvSpPr>
        <p:spPr/>
        <p:txBody>
          <a:bodyPr/>
          <a:lstStyle/>
          <a:p>
            <a:pPr>
              <a:defRPr/>
            </a:pPr>
            <a:fld id="{40327C65-6A2A-434C-B199-E13B028E712D}" type="slidenum">
              <a:rPr lang="zh-CN" altLang="en-US" smtClean="0"/>
              <a:pPr>
                <a:defRPr/>
              </a:pPr>
              <a:t>18</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ChangeArrowheads="1" noTextEdit="1"/>
          </p:cNvSpPr>
          <p:nvPr>
            <p:ph type="sldImg"/>
          </p:nvPr>
        </p:nvSpPr>
        <p:spPr>
          <a:ln/>
        </p:spPr>
      </p:sp>
      <p:sp>
        <p:nvSpPr>
          <p:cNvPr id="41987" name="备注占位符 2">
            <a:extLst>
              <a:ext uri="{FF2B5EF4-FFF2-40B4-BE49-F238E27FC236}">
                <a16:creationId xmlns:a16="http://schemas.microsoft.com/office/drawing/2014/main" id="{F378AF49-3E8A-49B8-A8A1-8B09D2EAE59D}"/>
              </a:ext>
            </a:extLst>
          </p:cNvPr>
          <p:cNvSpPr>
            <a:spLocks noGrp="1"/>
          </p:cNvSpPr>
          <p:nvPr>
            <p:ph type="body" idx="1"/>
          </p:nvPr>
        </p:nvSpPr>
        <p:spPr/>
        <p:txBody>
          <a:bodyPr/>
          <a:lstStyle/>
          <a:p>
            <a:pPr>
              <a:defRPr/>
            </a:pPr>
            <a:r>
              <a:rPr lang="zh-CN" altLang="en-US" dirty="0"/>
              <a:t>由上面的例子，引入到共聚的核心问题；</a:t>
            </a:r>
            <a:r>
              <a:rPr lang="en-US" altLang="zh-CN" b="1" dirty="0">
                <a:solidFill>
                  <a:srgbClr val="FF0000"/>
                </a:solidFill>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rPr>
              <a:t>Q</a:t>
            </a:r>
            <a:r>
              <a:rPr lang="zh-CN" altLang="en-US" b="1" dirty="0">
                <a:solidFill>
                  <a:srgbClr val="FF0000"/>
                </a:solidFill>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rPr>
              <a:t>：外消旋单体均聚过程中先后进入主链，是否存在组成问题？ 立体异构共聚物，</a:t>
            </a:r>
            <a:endParaRPr lang="zh-CN" altLang="en-US" dirty="0">
              <a:effectLst>
                <a:outerShdw blurRad="38100" dist="38100" dir="2700000" algn="tl">
                  <a:srgbClr val="000000">
                    <a:alpha val="43137"/>
                  </a:srgbClr>
                </a:outerShdw>
              </a:effectLst>
            </a:endParaRPr>
          </a:p>
          <a:p>
            <a:pPr>
              <a:defRPr/>
            </a:pPr>
            <a:endParaRPr lang="zh-CN" altLang="en-US" dirty="0"/>
          </a:p>
          <a:p>
            <a:pPr>
              <a:defRPr/>
            </a:pPr>
            <a:endParaRPr lang="zh-CN" altLang="en-US" dirty="0"/>
          </a:p>
        </p:txBody>
      </p:sp>
      <p:sp>
        <p:nvSpPr>
          <p:cNvPr id="4" name="灯片编号占位符 3">
            <a:extLst>
              <a:ext uri="{FF2B5EF4-FFF2-40B4-BE49-F238E27FC236}">
                <a16:creationId xmlns:a16="http://schemas.microsoft.com/office/drawing/2014/main" id="{21A33352-6C28-40EF-A751-D5A2A5E4899C}"/>
              </a:ext>
            </a:extLst>
          </p:cNvPr>
          <p:cNvSpPr>
            <a:spLocks noGrp="1"/>
          </p:cNvSpPr>
          <p:nvPr>
            <p:ph type="sldNum" sz="quarter" idx="5"/>
          </p:nvPr>
        </p:nvSpPr>
        <p:spPr/>
        <p:txBody>
          <a:bodyPr/>
          <a:lstStyle/>
          <a:p>
            <a:pPr>
              <a:defRPr/>
            </a:pPr>
            <a:fld id="{DC09482F-1AA6-4686-BF9C-51353C0416D7}" type="slidenum">
              <a:rPr lang="zh-CN" altLang="en-US" smtClean="0"/>
              <a:pPr>
                <a:defRPr/>
              </a:pPr>
              <a:t>23</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p:cNvSpPr>
            <a:spLocks noGrp="1" noRot="1" noChangeAspect="1" noChangeArrowheads="1" noTextEdit="1"/>
          </p:cNvSpPr>
          <p:nvPr>
            <p:ph type="sldImg"/>
          </p:nvPr>
        </p:nvSpPr>
        <p:spPr>
          <a:ln/>
        </p:spPr>
      </p:sp>
      <p:sp>
        <p:nvSpPr>
          <p:cNvPr id="47107"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88899E4B-43F1-460D-8F61-56D7C7014368}"/>
              </a:ext>
            </a:extLst>
          </p:cNvPr>
          <p:cNvSpPr>
            <a:spLocks noGrp="1"/>
          </p:cNvSpPr>
          <p:nvPr>
            <p:ph type="sldNum" sz="quarter" idx="5"/>
          </p:nvPr>
        </p:nvSpPr>
        <p:spPr/>
        <p:txBody>
          <a:bodyPr/>
          <a:lstStyle/>
          <a:p>
            <a:pPr>
              <a:defRPr/>
            </a:pPr>
            <a:fld id="{9B4C6E6E-050A-4945-8DF6-6BFF677F0AAE}" type="slidenum">
              <a:rPr lang="zh-CN" altLang="en-US" smtClean="0"/>
              <a:pPr>
                <a:defRPr/>
              </a:pPr>
              <a:t>24</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804863" indent="-309563">
              <a:defRPr>
                <a:solidFill>
                  <a:schemeClr val="tx1"/>
                </a:solidFill>
                <a:latin typeface="Calibri" panose="020F0502020204030204" pitchFamily="34" charset="0"/>
              </a:defRPr>
            </a:lvl2pPr>
            <a:lvl3pPr marL="1238250" indent="-247650">
              <a:defRPr>
                <a:solidFill>
                  <a:schemeClr val="tx1"/>
                </a:solidFill>
                <a:latin typeface="Calibri" panose="020F0502020204030204" pitchFamily="34" charset="0"/>
              </a:defRPr>
            </a:lvl3pPr>
            <a:lvl4pPr marL="1733550" indent="-247650">
              <a:defRPr>
                <a:solidFill>
                  <a:schemeClr val="tx1"/>
                </a:solidFill>
                <a:latin typeface="Calibri" panose="020F0502020204030204" pitchFamily="34" charset="0"/>
              </a:defRPr>
            </a:lvl4pPr>
            <a:lvl5pPr marL="2228850" indent="-247650">
              <a:defRPr>
                <a:solidFill>
                  <a:schemeClr val="tx1"/>
                </a:solidFill>
                <a:latin typeface="Calibri" panose="020F0502020204030204" pitchFamily="34" charset="0"/>
              </a:defRPr>
            </a:lvl5pPr>
            <a:lvl6pPr marL="2686050" indent="-247650" defTabSz="457200" eaLnBrk="0" fontAlgn="base" hangingPunct="0">
              <a:spcBef>
                <a:spcPct val="0"/>
              </a:spcBef>
              <a:spcAft>
                <a:spcPct val="0"/>
              </a:spcAft>
              <a:defRPr>
                <a:solidFill>
                  <a:schemeClr val="tx1"/>
                </a:solidFill>
                <a:latin typeface="Calibri" panose="020F0502020204030204" pitchFamily="34" charset="0"/>
              </a:defRPr>
            </a:lvl6pPr>
            <a:lvl7pPr marL="3143250" indent="-247650" defTabSz="457200" eaLnBrk="0" fontAlgn="base" hangingPunct="0">
              <a:spcBef>
                <a:spcPct val="0"/>
              </a:spcBef>
              <a:spcAft>
                <a:spcPct val="0"/>
              </a:spcAft>
              <a:defRPr>
                <a:solidFill>
                  <a:schemeClr val="tx1"/>
                </a:solidFill>
                <a:latin typeface="Calibri" panose="020F0502020204030204" pitchFamily="34" charset="0"/>
              </a:defRPr>
            </a:lvl7pPr>
            <a:lvl8pPr marL="3600450" indent="-247650" defTabSz="457200" eaLnBrk="0" fontAlgn="base" hangingPunct="0">
              <a:spcBef>
                <a:spcPct val="0"/>
              </a:spcBef>
              <a:spcAft>
                <a:spcPct val="0"/>
              </a:spcAft>
              <a:defRPr>
                <a:solidFill>
                  <a:schemeClr val="tx1"/>
                </a:solidFill>
                <a:latin typeface="Calibri" panose="020F0502020204030204" pitchFamily="34" charset="0"/>
              </a:defRPr>
            </a:lvl8pPr>
            <a:lvl9pPr marL="4057650" indent="-24765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D6E59648-E33A-4A08-B70D-C0B3A412EAFC}" type="slidenum">
              <a:rPr lang="zh-CN" altLang="en-US" smtClean="0">
                <a:latin typeface="Times New Roman" panose="02020603050405020304" pitchFamily="18" charset="0"/>
                <a:ea typeface="宋体" panose="02010600030101010101" pitchFamily="2" charset="-122"/>
              </a:rPr>
              <a:pPr fontAlgn="base">
                <a:spcBef>
                  <a:spcPct val="0"/>
                </a:spcBef>
                <a:spcAft>
                  <a:spcPct val="0"/>
                </a:spcAft>
              </a:pPr>
              <a:t>25</a:t>
            </a:fld>
            <a:endParaRPr lang="en-US" altLang="zh-CN">
              <a:latin typeface="Times New Roman" panose="02020603050405020304" pitchFamily="18" charset="0"/>
              <a:ea typeface="宋体" panose="02010600030101010101" pitchFamily="2" charset="-122"/>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xfrm>
            <a:off x="711200" y="4860925"/>
            <a:ext cx="5683250" cy="4605338"/>
          </a:xfrm>
          <a:noFill/>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ChangeArrowheads="1" noTextEdit="1"/>
          </p:cNvSpPr>
          <p:nvPr>
            <p:ph type="sldImg"/>
          </p:nvPr>
        </p:nvSpPr>
        <p:spPr>
          <a:ln/>
        </p:spPr>
      </p:sp>
      <p:sp>
        <p:nvSpPr>
          <p:cNvPr id="52227" name="备注占位符 2"/>
          <p:cNvSpPr>
            <a:spLocks noGrp="1" noChangeArrowheads="1"/>
          </p:cNvSpPr>
          <p:nvPr>
            <p:ph type="body" idx="1"/>
          </p:nvPr>
        </p:nvSpPr>
        <p:spPr>
          <a:noFill/>
        </p:spPr>
        <p:txBody>
          <a:bodyPr/>
          <a:lstStyle/>
          <a:p>
            <a:r>
              <a:rPr lang="zh-CN" altLang="en-US"/>
              <a:t>推导是为了定量的理解共聚过程</a:t>
            </a:r>
          </a:p>
        </p:txBody>
      </p:sp>
      <p:sp>
        <p:nvSpPr>
          <p:cNvPr id="4" name="灯片编号占位符 3">
            <a:extLst>
              <a:ext uri="{FF2B5EF4-FFF2-40B4-BE49-F238E27FC236}">
                <a16:creationId xmlns:a16="http://schemas.microsoft.com/office/drawing/2014/main" id="{D3AFED52-568C-4CC4-AE79-48D3EAFDF5D6}"/>
              </a:ext>
            </a:extLst>
          </p:cNvPr>
          <p:cNvSpPr>
            <a:spLocks noGrp="1"/>
          </p:cNvSpPr>
          <p:nvPr>
            <p:ph type="sldNum" sz="quarter" idx="5"/>
          </p:nvPr>
        </p:nvSpPr>
        <p:spPr/>
        <p:txBody>
          <a:bodyPr/>
          <a:lstStyle/>
          <a:p>
            <a:pPr>
              <a:defRPr/>
            </a:pPr>
            <a:fld id="{1FBCADE4-5FC5-457B-9F1D-E991D5ECC4E0}" type="slidenum">
              <a:rPr lang="zh-CN" altLang="en-US" smtClean="0"/>
              <a:pPr>
                <a:defRPr/>
              </a:pPr>
              <a:t>27</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ChangeArrowheads="1" noTextEdit="1"/>
          </p:cNvSpPr>
          <p:nvPr>
            <p:ph type="sldImg"/>
          </p:nvPr>
        </p:nvSpPr>
        <p:spPr>
          <a:ln/>
        </p:spPr>
      </p:sp>
      <p:sp>
        <p:nvSpPr>
          <p:cNvPr id="59395" name="备注占位符 2"/>
          <p:cNvSpPr>
            <a:spLocks noGrp="1" noChangeArrowheads="1"/>
          </p:cNvSpPr>
          <p:nvPr>
            <p:ph type="body" idx="1"/>
          </p:nvPr>
        </p:nvSpPr>
        <p:spPr>
          <a:noFill/>
        </p:spPr>
        <p:txBody>
          <a:bodyPr/>
          <a:lstStyle/>
          <a:p>
            <a:r>
              <a:rPr lang="zh-CN" altLang="en-US"/>
              <a:t>两单体的消耗速率之比等于两个单体进入共聚物的摩尔比，</a:t>
            </a:r>
            <a:r>
              <a:rPr lang="en-US" altLang="zh-CN"/>
              <a:t>n1/n2</a:t>
            </a:r>
            <a:endParaRPr lang="zh-CN" altLang="en-US"/>
          </a:p>
        </p:txBody>
      </p:sp>
      <p:sp>
        <p:nvSpPr>
          <p:cNvPr id="4" name="灯片编号占位符 3">
            <a:extLst>
              <a:ext uri="{FF2B5EF4-FFF2-40B4-BE49-F238E27FC236}">
                <a16:creationId xmlns:a16="http://schemas.microsoft.com/office/drawing/2014/main" id="{85F517E5-AEE2-4B1A-A449-B0BE23E8B2DC}"/>
              </a:ext>
            </a:extLst>
          </p:cNvPr>
          <p:cNvSpPr>
            <a:spLocks noGrp="1"/>
          </p:cNvSpPr>
          <p:nvPr>
            <p:ph type="sldNum" sz="quarter" idx="5"/>
          </p:nvPr>
        </p:nvSpPr>
        <p:spPr/>
        <p:txBody>
          <a:bodyPr/>
          <a:lstStyle/>
          <a:p>
            <a:pPr>
              <a:defRPr/>
            </a:pPr>
            <a:fld id="{3786DE66-E44C-431A-97AE-698F5EFB147A}" type="slidenum">
              <a:rPr lang="zh-CN" altLang="en-US" smtClean="0"/>
              <a:pPr>
                <a:defRPr/>
              </a:pPr>
              <a:t>33</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幻灯片图像占位符 1"/>
          <p:cNvSpPr>
            <a:spLocks noGrp="1" noRot="1" noChangeAspect="1" noChangeArrowheads="1" noTextEdit="1"/>
          </p:cNvSpPr>
          <p:nvPr>
            <p:ph type="sldImg"/>
          </p:nvPr>
        </p:nvSpPr>
        <p:spPr>
          <a:ln/>
        </p:spPr>
      </p:sp>
      <p:sp>
        <p:nvSpPr>
          <p:cNvPr id="61443" name="备注占位符 2"/>
          <p:cNvSpPr>
            <a:spLocks noGrp="1" noChangeArrowheads="1"/>
          </p:cNvSpPr>
          <p:nvPr>
            <p:ph type="body" idx="1"/>
          </p:nvPr>
        </p:nvSpPr>
        <p:spPr>
          <a:noFill/>
        </p:spPr>
        <p:txBody>
          <a:bodyPr/>
          <a:lstStyle/>
          <a:p>
            <a:r>
              <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b="1"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b="1"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和</a:t>
            </a:r>
            <a:r>
              <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b="1"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b="1"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b="1">
                <a:solidFill>
                  <a:srgbClr val="FF0000"/>
                </a:solidFill>
                <a:latin typeface="Arial" panose="020B0604020202020204" pitchFamily="34" charset="0"/>
                <a:ea typeface="楷体" panose="02010609060101010101" pitchFamily="49" charset="-122"/>
                <a:cs typeface="Arial" panose="020B0604020202020204" pitchFamily="34" charset="0"/>
              </a:rPr>
              <a:t>的链引发速率 分别与其链终止速率相同；两者相互转变的速率也相同</a:t>
            </a:r>
            <a:endParaRPr lang="zh-CN" altLang="en-US">
              <a:ea typeface="楷体" panose="02010609060101010101" pitchFamily="49" charset="-122"/>
              <a:cs typeface="Arial" panose="020B0604020202020204" pitchFamily="34" charset="0"/>
            </a:endParaRPr>
          </a:p>
        </p:txBody>
      </p:sp>
      <p:sp>
        <p:nvSpPr>
          <p:cNvPr id="4" name="灯片编号占位符 3">
            <a:extLst>
              <a:ext uri="{FF2B5EF4-FFF2-40B4-BE49-F238E27FC236}">
                <a16:creationId xmlns:a16="http://schemas.microsoft.com/office/drawing/2014/main" id="{BF62C786-AA4E-4C2F-9EB8-C3FE4F16ACF1}"/>
              </a:ext>
            </a:extLst>
          </p:cNvPr>
          <p:cNvSpPr>
            <a:spLocks noGrp="1"/>
          </p:cNvSpPr>
          <p:nvPr>
            <p:ph type="sldNum" sz="quarter" idx="5"/>
          </p:nvPr>
        </p:nvSpPr>
        <p:spPr/>
        <p:txBody>
          <a:bodyPr/>
          <a:lstStyle/>
          <a:p>
            <a:pPr>
              <a:defRPr/>
            </a:pPr>
            <a:fld id="{57304D04-D076-46D2-8D1F-29BACC400EEA}" type="slidenum">
              <a:rPr lang="zh-CN" altLang="en-US" smtClean="0"/>
              <a:pPr>
                <a:defRPr/>
              </a:pPr>
              <a:t>34</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ChangeArrowheads="1" noTextEdit="1"/>
          </p:cNvSpPr>
          <p:nvPr>
            <p:ph type="sldImg"/>
          </p:nvPr>
        </p:nvSpPr>
        <p:spPr>
          <a:ln/>
        </p:spPr>
      </p:sp>
      <p:sp>
        <p:nvSpPr>
          <p:cNvPr id="69635" name="备注占位符 2"/>
          <p:cNvSpPr>
            <a:spLocks noGrp="1" noChangeArrowheads="1"/>
          </p:cNvSpPr>
          <p:nvPr>
            <p:ph type="body" idx="1"/>
          </p:nvPr>
        </p:nvSpPr>
        <p:spPr>
          <a:noFill/>
        </p:spPr>
        <p:txBody>
          <a:bodyPr/>
          <a:lstStyle/>
          <a:p>
            <a:r>
              <a:rPr lang="en-US" altLang="zh-CN"/>
              <a:t>F1</a:t>
            </a:r>
            <a:r>
              <a:rPr lang="zh-CN" altLang="en-US"/>
              <a:t>和</a:t>
            </a:r>
            <a:r>
              <a:rPr lang="en-US" altLang="zh-CN"/>
              <a:t>F2</a:t>
            </a:r>
            <a:r>
              <a:rPr lang="zh-CN" altLang="en-US"/>
              <a:t>如何测得呢？ </a:t>
            </a:r>
            <a:r>
              <a:rPr lang="en-US" altLang="zh-CN"/>
              <a:t>NMR</a:t>
            </a:r>
            <a:r>
              <a:rPr lang="zh-CN" altLang="en-US"/>
              <a:t>法</a:t>
            </a:r>
          </a:p>
        </p:txBody>
      </p:sp>
      <p:sp>
        <p:nvSpPr>
          <p:cNvPr id="4" name="灯片编号占位符 3">
            <a:extLst>
              <a:ext uri="{FF2B5EF4-FFF2-40B4-BE49-F238E27FC236}">
                <a16:creationId xmlns:a16="http://schemas.microsoft.com/office/drawing/2014/main" id="{82AEE91F-A8C7-44AC-8403-7DADC8F88D53}"/>
              </a:ext>
            </a:extLst>
          </p:cNvPr>
          <p:cNvSpPr>
            <a:spLocks noGrp="1"/>
          </p:cNvSpPr>
          <p:nvPr>
            <p:ph type="sldNum" sz="quarter" idx="5"/>
          </p:nvPr>
        </p:nvSpPr>
        <p:spPr/>
        <p:txBody>
          <a:bodyPr/>
          <a:lstStyle/>
          <a:p>
            <a:pPr>
              <a:defRPr/>
            </a:pPr>
            <a:fld id="{31C96BCA-B369-4F52-A847-FE1BD74D3863}" type="slidenum">
              <a:rPr lang="zh-CN" altLang="en-US" smtClean="0"/>
              <a:pPr>
                <a:defRPr/>
              </a:pPr>
              <a:t>41</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ChangeArrowheads="1" noTextEdit="1"/>
          </p:cNvSpPr>
          <p:nvPr>
            <p:ph type="sldImg"/>
          </p:nvPr>
        </p:nvSpPr>
        <p:spPr>
          <a:ln/>
        </p:spPr>
      </p:sp>
      <p:sp>
        <p:nvSpPr>
          <p:cNvPr id="73731" name="备注占位符 2"/>
          <p:cNvSpPr>
            <a:spLocks noGrp="1" noChangeArrowheads="1"/>
          </p:cNvSpPr>
          <p:nvPr>
            <p:ph type="body" idx="1"/>
          </p:nvPr>
        </p:nvSpPr>
        <p:spPr>
          <a:noFill/>
        </p:spPr>
        <p:txBody>
          <a:bodyPr/>
          <a:lstStyle/>
          <a:p>
            <a:r>
              <a:rPr lang="zh-CN" altLang="en-US"/>
              <a:t>书上讲了</a:t>
            </a:r>
            <a:r>
              <a:rPr lang="en-US" altLang="zh-CN"/>
              <a:t>5</a:t>
            </a:r>
            <a:r>
              <a:rPr lang="zh-CN" altLang="en-US"/>
              <a:t>个假设，实际上前末端效应可以归结到“等活性”假定中。</a:t>
            </a:r>
          </a:p>
        </p:txBody>
      </p:sp>
      <p:sp>
        <p:nvSpPr>
          <p:cNvPr id="4" name="灯片编号占位符 3">
            <a:extLst>
              <a:ext uri="{FF2B5EF4-FFF2-40B4-BE49-F238E27FC236}">
                <a16:creationId xmlns:a16="http://schemas.microsoft.com/office/drawing/2014/main" id="{4EDA6A50-D542-4F1B-BF18-7DCB020F1E79}"/>
              </a:ext>
            </a:extLst>
          </p:cNvPr>
          <p:cNvSpPr>
            <a:spLocks noGrp="1"/>
          </p:cNvSpPr>
          <p:nvPr>
            <p:ph type="sldNum" sz="quarter" idx="5"/>
          </p:nvPr>
        </p:nvSpPr>
        <p:spPr/>
        <p:txBody>
          <a:bodyPr/>
          <a:lstStyle/>
          <a:p>
            <a:pPr>
              <a:defRPr/>
            </a:pPr>
            <a:fld id="{7E1FB0EC-89CC-4F5B-860E-D61005C55923}" type="slidenum">
              <a:rPr lang="zh-CN" altLang="en-US" smtClean="0"/>
              <a:pPr>
                <a:defRPr/>
              </a:pPr>
              <a:t>44</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ChangeArrowheads="1" noTextEdit="1"/>
          </p:cNvSpPr>
          <p:nvPr>
            <p:ph type="sldImg"/>
          </p:nvPr>
        </p:nvSpPr>
        <p:spPr>
          <a:ln/>
        </p:spPr>
      </p:sp>
      <p:sp>
        <p:nvSpPr>
          <p:cNvPr id="81923" name="备注占位符 2"/>
          <p:cNvSpPr>
            <a:spLocks noGrp="1" noChangeArrowheads="1"/>
          </p:cNvSpPr>
          <p:nvPr>
            <p:ph type="body" idx="1"/>
          </p:nvPr>
        </p:nvSpPr>
        <p:spPr>
          <a:noFill/>
        </p:spPr>
        <p:txBody>
          <a:bodyPr/>
          <a:lstStyle/>
          <a:p>
            <a:r>
              <a:rPr lang="zh-CN" altLang="en-US"/>
              <a:t>需要强调和指出是动力许的因素</a:t>
            </a:r>
          </a:p>
        </p:txBody>
      </p:sp>
      <p:sp>
        <p:nvSpPr>
          <p:cNvPr id="4" name="灯片编号占位符 3">
            <a:extLst>
              <a:ext uri="{FF2B5EF4-FFF2-40B4-BE49-F238E27FC236}">
                <a16:creationId xmlns:a16="http://schemas.microsoft.com/office/drawing/2014/main" id="{2182F3EB-725C-4AC7-96F8-38A1B04DF8AF}"/>
              </a:ext>
            </a:extLst>
          </p:cNvPr>
          <p:cNvSpPr>
            <a:spLocks noGrp="1"/>
          </p:cNvSpPr>
          <p:nvPr>
            <p:ph type="sldNum" sz="quarter" idx="5"/>
          </p:nvPr>
        </p:nvSpPr>
        <p:spPr/>
        <p:txBody>
          <a:bodyPr/>
          <a:lstStyle/>
          <a:p>
            <a:pPr>
              <a:defRPr/>
            </a:pPr>
            <a:fld id="{98838089-ADE8-49E8-9AAC-6CEDCAA44285}" type="slidenum">
              <a:rPr lang="zh-CN" altLang="en-US" smtClean="0"/>
              <a:pPr>
                <a:defRPr/>
              </a:pPr>
              <a:t>47</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804863" indent="-309563">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38250" indent="-24765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733550" indent="-24765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228850" indent="-24765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860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1432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6004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40576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6AB33FC-EBD5-4813-AC16-D9B0441EC573}" type="slidenum">
              <a:rPr lang="zh-CN" altLang="en-US" sz="1300" smtClean="0">
                <a:latin typeface="Calibri" panose="020F0502020204030204" pitchFamily="34" charset="0"/>
              </a:rPr>
              <a:pPr fontAlgn="base">
                <a:spcBef>
                  <a:spcPct val="0"/>
                </a:spcBef>
                <a:spcAft>
                  <a:spcPct val="0"/>
                </a:spcAft>
              </a:pPr>
              <a:t>48</a:t>
            </a:fld>
            <a:endParaRPr lang="en-US" altLang="zh-CN" sz="1300">
              <a:latin typeface="Calibri" panose="020F0502020204030204"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spcBef>
                <a:spcPct val="0"/>
              </a:spcBef>
            </a:pP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ChangeArrowheads="1" noTextEdit="1"/>
          </p:cNvSpPr>
          <p:nvPr>
            <p:ph type="sldImg"/>
          </p:nvPr>
        </p:nvSpPr>
        <p:spPr>
          <a:ln/>
        </p:spPr>
      </p:sp>
      <p:sp>
        <p:nvSpPr>
          <p:cNvPr id="87043" name="备注占位符 2"/>
          <p:cNvSpPr>
            <a:spLocks noGrp="1" noChangeArrowheads="1"/>
          </p:cNvSpPr>
          <p:nvPr>
            <p:ph type="body" idx="1"/>
          </p:nvPr>
        </p:nvSpPr>
        <p:spPr>
          <a:noFill/>
        </p:spPr>
        <p:txBody>
          <a:bodyPr/>
          <a:lstStyle/>
          <a:p>
            <a:r>
              <a:rPr lang="zh-CN" altLang="en-US">
                <a:latin typeface="楷体" panose="02010609060101010101" pitchFamily="49" charset="-122"/>
                <a:ea typeface="楷体" panose="02010609060101010101" pitchFamily="49" charset="-122"/>
              </a:rPr>
              <a:t>注意是反应速率常数相等，并非活性相同，什么叫“活性”？单位时间内转化单体的数目，也叫转化频率数。</a:t>
            </a:r>
            <a:r>
              <a:rPr lang="en-US" altLang="zh-CN">
                <a:latin typeface="楷体" panose="02010609060101010101" pitchFamily="49" charset="-122"/>
                <a:ea typeface="楷体" panose="02010609060101010101" pitchFamily="49" charset="-122"/>
              </a:rPr>
              <a:t>TOF</a:t>
            </a:r>
            <a:endParaRPr lang="zh-CN" altLang="en-US"/>
          </a:p>
        </p:txBody>
      </p:sp>
      <p:sp>
        <p:nvSpPr>
          <p:cNvPr id="4" name="灯片编号占位符 3">
            <a:extLst>
              <a:ext uri="{FF2B5EF4-FFF2-40B4-BE49-F238E27FC236}">
                <a16:creationId xmlns:a16="http://schemas.microsoft.com/office/drawing/2014/main" id="{96711A1D-EE8F-4727-9956-39F656B09735}"/>
              </a:ext>
            </a:extLst>
          </p:cNvPr>
          <p:cNvSpPr>
            <a:spLocks noGrp="1"/>
          </p:cNvSpPr>
          <p:nvPr>
            <p:ph type="sldNum" sz="quarter" idx="5"/>
          </p:nvPr>
        </p:nvSpPr>
        <p:spPr/>
        <p:txBody>
          <a:bodyPr/>
          <a:lstStyle/>
          <a:p>
            <a:pPr>
              <a:defRPr/>
            </a:pPr>
            <a:fld id="{6BCA006E-FCE9-4D8F-9239-7FD98EF6DDA9}" type="slidenum">
              <a:rPr lang="zh-CN" altLang="en-US" smtClean="0"/>
              <a:pPr>
                <a:defRPr/>
              </a:pPr>
              <a:t>50</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ChangeArrowheads="1" noTextEdit="1"/>
          </p:cNvSpPr>
          <p:nvPr>
            <p:ph type="sldImg"/>
          </p:nvPr>
        </p:nvSpPr>
        <p:spPr>
          <a:ln/>
        </p:spPr>
      </p:sp>
      <p:sp>
        <p:nvSpPr>
          <p:cNvPr id="94211" name="备注占位符 2"/>
          <p:cNvSpPr>
            <a:spLocks noGrp="1" noChangeArrowheads="1"/>
          </p:cNvSpPr>
          <p:nvPr>
            <p:ph type="body" idx="1"/>
          </p:nvPr>
        </p:nvSpPr>
        <p:spPr>
          <a:noFill/>
        </p:spPr>
        <p:txBody>
          <a:bodyPr/>
          <a:lstStyle/>
          <a:p>
            <a:r>
              <a:rPr lang="en-US" altLang="zh-CN"/>
              <a:t>M1</a:t>
            </a:r>
            <a:r>
              <a:rPr lang="zh-CN" altLang="en-US"/>
              <a:t>的均聚嵌段中，嵌入另一单体</a:t>
            </a:r>
            <a:r>
              <a:rPr lang="en-US" altLang="zh-CN"/>
              <a:t>M2</a:t>
            </a:r>
            <a:r>
              <a:rPr lang="zh-CN" altLang="en-US"/>
              <a:t>的短链节，共聚组成曲线不与对角线相交。</a:t>
            </a:r>
          </a:p>
        </p:txBody>
      </p:sp>
      <p:sp>
        <p:nvSpPr>
          <p:cNvPr id="4" name="灯片编号占位符 3">
            <a:extLst>
              <a:ext uri="{FF2B5EF4-FFF2-40B4-BE49-F238E27FC236}">
                <a16:creationId xmlns:a16="http://schemas.microsoft.com/office/drawing/2014/main" id="{8CAD0268-C299-4C1D-86D5-683064D13B25}"/>
              </a:ext>
            </a:extLst>
          </p:cNvPr>
          <p:cNvSpPr>
            <a:spLocks noGrp="1"/>
          </p:cNvSpPr>
          <p:nvPr>
            <p:ph type="sldNum" sz="quarter" idx="5"/>
          </p:nvPr>
        </p:nvSpPr>
        <p:spPr/>
        <p:txBody>
          <a:bodyPr/>
          <a:lstStyle/>
          <a:p>
            <a:pPr>
              <a:defRPr/>
            </a:pPr>
            <a:fld id="{6DC73AA5-EB60-4C42-86F3-DD53E76B0A93}" type="slidenum">
              <a:rPr lang="zh-CN" altLang="en-US" smtClean="0"/>
              <a:pPr>
                <a:defRPr/>
              </a:pPr>
              <a:t>56</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ChangeArrowheads="1" noTextEdit="1"/>
          </p:cNvSpPr>
          <p:nvPr>
            <p:ph type="sldImg"/>
          </p:nvPr>
        </p:nvSpPr>
        <p:spPr>
          <a:ln/>
        </p:spPr>
      </p:sp>
      <p:sp>
        <p:nvSpPr>
          <p:cNvPr id="98307" name="备注占位符 2"/>
          <p:cNvSpPr>
            <a:spLocks noGrp="1" noChangeArrowheads="1"/>
          </p:cNvSpPr>
          <p:nvPr>
            <p:ph type="body" idx="1"/>
          </p:nvPr>
        </p:nvSpPr>
        <p:spPr>
          <a:noFill/>
        </p:spPr>
        <p:txBody>
          <a:bodyPr/>
          <a:lstStyle/>
          <a:p>
            <a:r>
              <a:rPr lang="zh-CN" altLang="en-US"/>
              <a:t>按照恒份点的</a:t>
            </a:r>
            <a:r>
              <a:rPr lang="en-US" altLang="zh-CN"/>
              <a:t>f1</a:t>
            </a:r>
            <a:r>
              <a:rPr lang="zh-CN" altLang="en-US"/>
              <a:t>投料，反应一段时间后，</a:t>
            </a:r>
            <a:r>
              <a:rPr lang="en-US" altLang="zh-CN"/>
              <a:t>M1</a:t>
            </a:r>
            <a:r>
              <a:rPr lang="zh-CN" altLang="en-US"/>
              <a:t>的浓度降低至原来的</a:t>
            </a:r>
            <a:r>
              <a:rPr lang="en-US" altLang="zh-CN"/>
              <a:t>1/2</a:t>
            </a:r>
            <a:r>
              <a:rPr lang="zh-CN" altLang="en-US"/>
              <a:t>，此时的瞬时组成为多少？</a:t>
            </a:r>
          </a:p>
        </p:txBody>
      </p:sp>
      <p:sp>
        <p:nvSpPr>
          <p:cNvPr id="4" name="灯片编号占位符 3">
            <a:extLst>
              <a:ext uri="{FF2B5EF4-FFF2-40B4-BE49-F238E27FC236}">
                <a16:creationId xmlns:a16="http://schemas.microsoft.com/office/drawing/2014/main" id="{97D997E6-2418-4282-8BDC-E22C3EC41118}"/>
              </a:ext>
            </a:extLst>
          </p:cNvPr>
          <p:cNvSpPr>
            <a:spLocks noGrp="1"/>
          </p:cNvSpPr>
          <p:nvPr>
            <p:ph type="sldNum" sz="quarter" idx="5"/>
          </p:nvPr>
        </p:nvSpPr>
        <p:spPr/>
        <p:txBody>
          <a:bodyPr/>
          <a:lstStyle/>
          <a:p>
            <a:pPr>
              <a:defRPr/>
            </a:pPr>
            <a:fld id="{DA26E158-B1A1-4234-A9CD-8922BA3B317E}" type="slidenum">
              <a:rPr lang="zh-CN" altLang="en-US" smtClean="0"/>
              <a:pPr>
                <a:defRPr/>
              </a:pPr>
              <a:t>59</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ChangeArrowheads="1" noTextEdit="1"/>
          </p:cNvSpPr>
          <p:nvPr>
            <p:ph type="sldImg"/>
          </p:nvPr>
        </p:nvSpPr>
        <p:spPr>
          <a:ln/>
        </p:spPr>
      </p:sp>
      <p:sp>
        <p:nvSpPr>
          <p:cNvPr id="78851" name="备注占位符 2"/>
          <p:cNvSpPr>
            <a:spLocks noGrp="1" noChangeArrowheads="1"/>
          </p:cNvSpPr>
          <p:nvPr>
            <p:ph type="body" idx="1"/>
          </p:nvPr>
        </p:nvSpPr>
        <p:spPr>
          <a:noFill/>
        </p:spPr>
        <p:txBody>
          <a:bodyPr/>
          <a:lstStyle/>
          <a:p>
            <a:r>
              <a:rPr lang="zh-CN" altLang="en-US" b="1">
                <a:solidFill>
                  <a:srgbClr val="FF0000"/>
                </a:solidFill>
                <a:latin typeface="楷体" panose="02010609060101010101" pitchFamily="49" charset="-122"/>
                <a:ea typeface="楷体" panose="02010609060101010101" pitchFamily="49" charset="-122"/>
              </a:rPr>
              <a:t>某一种自由基分别与两种单体反应的速率常数之比；</a:t>
            </a:r>
            <a:endParaRPr lang="zh-CN" altLang="en-US">
              <a:solidFill>
                <a:srgbClr val="FF0000"/>
              </a:solidFill>
              <a:latin typeface="楷体" panose="02010609060101010101" pitchFamily="49" charset="-122"/>
              <a:ea typeface="楷体" panose="02010609060101010101" pitchFamily="49" charset="-122"/>
            </a:endParaRPr>
          </a:p>
          <a:p>
            <a:r>
              <a:rPr lang="zh-CN" altLang="en-US" b="1">
                <a:solidFill>
                  <a:srgbClr val="FF0000"/>
                </a:solidFill>
                <a:latin typeface="楷体" panose="02010609060101010101" pitchFamily="49" charset="-122"/>
                <a:ea typeface="楷体" panose="02010609060101010101" pitchFamily="49" charset="-122"/>
              </a:rPr>
              <a:t>每种单体自聚与共聚反应的速率常数之比；</a:t>
            </a:r>
          </a:p>
          <a:p>
            <a:endParaRPr lang="zh-CN" altLang="en-US"/>
          </a:p>
        </p:txBody>
      </p:sp>
      <p:sp>
        <p:nvSpPr>
          <p:cNvPr id="4" name="灯片编号占位符 3">
            <a:extLst>
              <a:ext uri="{FF2B5EF4-FFF2-40B4-BE49-F238E27FC236}">
                <a16:creationId xmlns:a16="http://schemas.microsoft.com/office/drawing/2014/main" id="{3CAB79AC-98BE-4D17-BA6F-BB4A9218515B}"/>
              </a:ext>
            </a:extLst>
          </p:cNvPr>
          <p:cNvSpPr>
            <a:spLocks noGrp="1"/>
          </p:cNvSpPr>
          <p:nvPr>
            <p:ph type="sldNum" sz="quarter" idx="5"/>
          </p:nvPr>
        </p:nvSpPr>
        <p:spPr/>
        <p:txBody>
          <a:bodyPr/>
          <a:lstStyle/>
          <a:p>
            <a:pPr>
              <a:defRPr/>
            </a:pPr>
            <a:fld id="{5399B5D9-D825-40B9-9C4A-8E4200A5B9AA}" type="slidenum">
              <a:rPr lang="zh-CN" altLang="en-US" smtClean="0"/>
              <a:pPr>
                <a:defRPr/>
              </a:pPr>
              <a:t>64</a:t>
            </a:fld>
            <a:endParaRPr lang="en-US" altLang="zh-CN"/>
          </a:p>
        </p:txBody>
      </p:sp>
    </p:spTree>
    <p:extLst>
      <p:ext uri="{BB962C8B-B14F-4D97-AF65-F5344CB8AC3E}">
        <p14:creationId xmlns:p14="http://schemas.microsoft.com/office/powerpoint/2010/main" val="9386109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804863" indent="-309563">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38250" indent="-24765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733550" indent="-24765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228850" indent="-24765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860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1432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6004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4057650" indent="-247650" defTabSz="4572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3BC6987-13EF-48A5-AB4C-E554F55DBE0D}" type="slidenum">
              <a:rPr lang="zh-CN" altLang="en-US" sz="1300" smtClean="0">
                <a:latin typeface="Calibri" panose="020F0502020204030204" pitchFamily="34" charset="0"/>
              </a:rPr>
              <a:pPr fontAlgn="base">
                <a:spcBef>
                  <a:spcPct val="0"/>
                </a:spcBef>
                <a:spcAft>
                  <a:spcPct val="0"/>
                </a:spcAft>
              </a:pPr>
              <a:t>69</a:t>
            </a:fld>
            <a:endParaRPr lang="en-US" altLang="zh-CN" sz="1300">
              <a:latin typeface="Calibri" panose="020F050202020403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spcBef>
                <a:spcPct val="0"/>
              </a:spcBef>
            </a:pP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ChangeArrowheads="1" noTextEdit="1"/>
          </p:cNvSpPr>
          <p:nvPr>
            <p:ph type="sldImg"/>
          </p:nvPr>
        </p:nvSpPr>
        <p:spPr>
          <a:ln/>
        </p:spPr>
      </p:sp>
      <p:sp>
        <p:nvSpPr>
          <p:cNvPr id="107523" name="备注占位符 2"/>
          <p:cNvSpPr>
            <a:spLocks noGrp="1" noChangeArrowheads="1"/>
          </p:cNvSpPr>
          <p:nvPr>
            <p:ph type="body" idx="1"/>
          </p:nvPr>
        </p:nvSpPr>
        <p:spPr>
          <a:noFill/>
        </p:spPr>
        <p:txBody>
          <a:bodyPr/>
          <a:lstStyle/>
          <a:p>
            <a:r>
              <a:rPr lang="zh-CN" altLang="en-US" sz="1700">
                <a:latin typeface="Arial" panose="020B0604020202020204" pitchFamily="34" charset="0"/>
                <a:cs typeface="Arial" panose="020B0604020202020204" pitchFamily="34" charset="0"/>
              </a:rPr>
              <a:t>黄金分割点</a:t>
            </a:r>
            <a:r>
              <a:rPr lang="en-US" altLang="zh-CN" sz="1700">
                <a:latin typeface="Arial" panose="020B0604020202020204" pitchFamily="34" charset="0"/>
                <a:cs typeface="Arial" panose="020B0604020202020204" pitchFamily="34" charset="0"/>
              </a:rPr>
              <a:t> 0.618</a:t>
            </a:r>
            <a:endParaRPr lang="zh-CN" altLang="en-US" sz="170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69F0894E-4D53-4D4E-B1AB-7542BCCB2169}"/>
              </a:ext>
            </a:extLst>
          </p:cNvPr>
          <p:cNvSpPr>
            <a:spLocks noGrp="1"/>
          </p:cNvSpPr>
          <p:nvPr>
            <p:ph type="sldNum" sz="quarter" idx="5"/>
          </p:nvPr>
        </p:nvSpPr>
        <p:spPr/>
        <p:txBody>
          <a:bodyPr/>
          <a:lstStyle/>
          <a:p>
            <a:pPr>
              <a:defRPr/>
            </a:pPr>
            <a:fld id="{A814CC1F-3F5D-42A5-B511-B8CA83F199CB}" type="slidenum">
              <a:rPr lang="zh-CN" altLang="en-US" smtClean="0"/>
              <a:pPr>
                <a:defRPr/>
              </a:pPr>
              <a:t>72</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ChangeArrowheads="1" noTextEdit="1"/>
          </p:cNvSpPr>
          <p:nvPr>
            <p:ph type="sldImg"/>
          </p:nvPr>
        </p:nvSpPr>
        <p:spPr>
          <a:ln/>
        </p:spPr>
      </p:sp>
      <p:sp>
        <p:nvSpPr>
          <p:cNvPr id="122883" name="备注占位符 2"/>
          <p:cNvSpPr>
            <a:spLocks noGrp="1" noChangeArrowheads="1"/>
          </p:cNvSpPr>
          <p:nvPr>
            <p:ph type="body" idx="1"/>
          </p:nvPr>
        </p:nvSpPr>
        <p:spPr>
          <a:noFill/>
        </p:spPr>
        <p:txBody>
          <a:bodyPr/>
          <a:lstStyle/>
          <a:p>
            <a:r>
              <a:rPr lang="zh-CN" altLang="en-US">
                <a:latin typeface="Arial" panose="020B0604020202020204" pitchFamily="34" charset="0"/>
                <a:ea typeface="楷体" panose="02010609060101010101" pitchFamily="49" charset="-122"/>
                <a:cs typeface="Arial" panose="020B0604020202020204" pitchFamily="34" charset="0"/>
              </a:rPr>
              <a:t>由于</a:t>
            </a:r>
            <a:r>
              <a:rPr lang="en-US" altLang="zh-CN">
                <a:latin typeface="Cambria Math" panose="02040503050406030204" pitchFamily="18" charset="0"/>
                <a:ea typeface="楷体" panose="02010609060101010101" pitchFamily="49" charset="-122"/>
                <a:cs typeface="Arial" panose="020B0604020202020204" pitchFamily="34" charset="0"/>
              </a:rPr>
              <a:t>f_1^0</a:t>
            </a:r>
            <a:r>
              <a:rPr lang="zh-CN" altLang="en-US">
                <a:latin typeface="Arial" panose="020B0604020202020204" pitchFamily="34" charset="0"/>
                <a:ea typeface="楷体" panose="02010609060101010101" pitchFamily="49" charset="-122"/>
                <a:cs typeface="Arial" panose="020B0604020202020204" pitchFamily="34" charset="0"/>
              </a:rPr>
              <a:t>为</a:t>
            </a:r>
            <a:r>
              <a:rPr lang="en-US" altLang="zh-CN">
                <a:latin typeface="Arial" panose="020B0604020202020204" pitchFamily="34" charset="0"/>
                <a:ea typeface="楷体" panose="02010609060101010101" pitchFamily="49" charset="-122"/>
                <a:cs typeface="Arial" panose="020B0604020202020204" pitchFamily="34" charset="0"/>
              </a:rPr>
              <a:t>0.38</a:t>
            </a:r>
            <a:r>
              <a:rPr lang="zh-CN" altLang="en-US">
                <a:latin typeface="Arial" panose="020B0604020202020204" pitchFamily="34" charset="0"/>
                <a:ea typeface="楷体" panose="02010609060101010101" pitchFamily="49" charset="-122"/>
                <a:cs typeface="Arial" panose="020B0604020202020204" pitchFamily="34" charset="0"/>
              </a:rPr>
              <a:t>，与恒比共聚点十分相近，在聚合过程中共聚物组成随转化率的变化不大，因此在这种投料比下</a:t>
            </a:r>
            <a:endParaRPr lang="zh-CN" altLang="en-US">
              <a:ea typeface="楷体" panose="02010609060101010101" pitchFamily="49" charset="-122"/>
              <a:cs typeface="Arial" panose="020B0604020202020204" pitchFamily="34" charset="0"/>
            </a:endParaRPr>
          </a:p>
        </p:txBody>
      </p:sp>
      <p:sp>
        <p:nvSpPr>
          <p:cNvPr id="4" name="灯片编号占位符 3">
            <a:extLst>
              <a:ext uri="{FF2B5EF4-FFF2-40B4-BE49-F238E27FC236}">
                <a16:creationId xmlns:a16="http://schemas.microsoft.com/office/drawing/2014/main" id="{82CDB508-3B0E-4D79-ABF9-5B529DBE820D}"/>
              </a:ext>
            </a:extLst>
          </p:cNvPr>
          <p:cNvSpPr>
            <a:spLocks noGrp="1"/>
          </p:cNvSpPr>
          <p:nvPr>
            <p:ph type="sldNum" sz="quarter" idx="5"/>
          </p:nvPr>
        </p:nvSpPr>
        <p:spPr/>
        <p:txBody>
          <a:bodyPr/>
          <a:lstStyle/>
          <a:p>
            <a:pPr>
              <a:defRPr/>
            </a:pPr>
            <a:fld id="{E06A7E91-25D1-4CA5-982E-A1F40D8866E4}" type="slidenum">
              <a:rPr lang="zh-CN" altLang="en-US" smtClean="0"/>
              <a:pPr>
                <a:defRPr/>
              </a:pPr>
              <a:t>86</a:t>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ChangeArrowheads="1" noTextEdit="1"/>
          </p:cNvSpPr>
          <p:nvPr>
            <p:ph type="sldImg"/>
          </p:nvPr>
        </p:nvSpPr>
        <p:spPr>
          <a:ln/>
        </p:spPr>
      </p:sp>
      <p:sp>
        <p:nvSpPr>
          <p:cNvPr id="125955"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19E00C0F-6B1B-431C-B581-D38CA6C7ACD2}"/>
              </a:ext>
            </a:extLst>
          </p:cNvPr>
          <p:cNvSpPr>
            <a:spLocks noGrp="1"/>
          </p:cNvSpPr>
          <p:nvPr>
            <p:ph type="sldNum" sz="quarter" idx="5"/>
          </p:nvPr>
        </p:nvSpPr>
        <p:spPr/>
        <p:txBody>
          <a:bodyPr/>
          <a:lstStyle/>
          <a:p>
            <a:pPr>
              <a:defRPr/>
            </a:pPr>
            <a:fld id="{9F7A15D6-5CC3-411A-813C-7C6939C077AA}" type="slidenum">
              <a:rPr lang="zh-CN" altLang="en-US" smtClean="0"/>
              <a:pPr>
                <a:defRPr/>
              </a:pPr>
              <a:t>88</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lvl1pPr>
              <a:defRPr>
                <a:solidFill>
                  <a:schemeClr val="tx1"/>
                </a:solidFill>
                <a:latin typeface="Calibri" panose="020F0502020204030204" pitchFamily="34" charset="0"/>
              </a:defRPr>
            </a:lvl1pPr>
            <a:lvl2pPr marL="804863" indent="-309563">
              <a:defRPr>
                <a:solidFill>
                  <a:schemeClr val="tx1"/>
                </a:solidFill>
                <a:latin typeface="Calibri" panose="020F0502020204030204" pitchFamily="34" charset="0"/>
              </a:defRPr>
            </a:lvl2pPr>
            <a:lvl3pPr marL="1238250" indent="-247650">
              <a:defRPr>
                <a:solidFill>
                  <a:schemeClr val="tx1"/>
                </a:solidFill>
                <a:latin typeface="Calibri" panose="020F0502020204030204" pitchFamily="34" charset="0"/>
              </a:defRPr>
            </a:lvl3pPr>
            <a:lvl4pPr marL="1733550" indent="-247650">
              <a:defRPr>
                <a:solidFill>
                  <a:schemeClr val="tx1"/>
                </a:solidFill>
                <a:latin typeface="Calibri" panose="020F0502020204030204" pitchFamily="34" charset="0"/>
              </a:defRPr>
            </a:lvl4pPr>
            <a:lvl5pPr marL="2228850" indent="-247650">
              <a:defRPr>
                <a:solidFill>
                  <a:schemeClr val="tx1"/>
                </a:solidFill>
                <a:latin typeface="Calibri" panose="020F0502020204030204" pitchFamily="34" charset="0"/>
              </a:defRPr>
            </a:lvl5pPr>
            <a:lvl6pPr marL="2686050" indent="-247650" defTabSz="457200" eaLnBrk="0" fontAlgn="base" hangingPunct="0">
              <a:spcBef>
                <a:spcPct val="0"/>
              </a:spcBef>
              <a:spcAft>
                <a:spcPct val="0"/>
              </a:spcAft>
              <a:defRPr>
                <a:solidFill>
                  <a:schemeClr val="tx1"/>
                </a:solidFill>
                <a:latin typeface="Calibri" panose="020F0502020204030204" pitchFamily="34" charset="0"/>
              </a:defRPr>
            </a:lvl6pPr>
            <a:lvl7pPr marL="3143250" indent="-247650" defTabSz="457200" eaLnBrk="0" fontAlgn="base" hangingPunct="0">
              <a:spcBef>
                <a:spcPct val="0"/>
              </a:spcBef>
              <a:spcAft>
                <a:spcPct val="0"/>
              </a:spcAft>
              <a:defRPr>
                <a:solidFill>
                  <a:schemeClr val="tx1"/>
                </a:solidFill>
                <a:latin typeface="Calibri" panose="020F0502020204030204" pitchFamily="34" charset="0"/>
              </a:defRPr>
            </a:lvl7pPr>
            <a:lvl8pPr marL="3600450" indent="-247650" defTabSz="457200" eaLnBrk="0" fontAlgn="base" hangingPunct="0">
              <a:spcBef>
                <a:spcPct val="0"/>
              </a:spcBef>
              <a:spcAft>
                <a:spcPct val="0"/>
              </a:spcAft>
              <a:defRPr>
                <a:solidFill>
                  <a:schemeClr val="tx1"/>
                </a:solidFill>
                <a:latin typeface="Calibri" panose="020F0502020204030204" pitchFamily="34" charset="0"/>
              </a:defRPr>
            </a:lvl8pPr>
            <a:lvl9pPr marL="4057650" indent="-247650" defTabSz="4572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282CC310-60A3-4528-A302-F3CCECFB5E60}" type="slidenum">
              <a:rPr lang="zh-CN" altLang="en-US" smtClean="0">
                <a:latin typeface="Times New Roman" panose="02020603050405020304" pitchFamily="18" charset="0"/>
                <a:ea typeface="宋体" panose="02010600030101010101" pitchFamily="2" charset="-122"/>
              </a:rPr>
              <a:pPr fontAlgn="base">
                <a:spcBef>
                  <a:spcPct val="0"/>
                </a:spcBef>
                <a:spcAft>
                  <a:spcPct val="0"/>
                </a:spcAft>
              </a:pPr>
              <a:t>91</a:t>
            </a:fld>
            <a:endParaRPr lang="en-US" altLang="zh-CN">
              <a:latin typeface="Times New Roman" panose="02020603050405020304" pitchFamily="18" charset="0"/>
              <a:ea typeface="宋体" panose="02010600030101010101" pitchFamily="2" charset="-122"/>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xfrm>
            <a:off x="711200" y="4860925"/>
            <a:ext cx="5683250" cy="4605338"/>
          </a:xfrm>
          <a:noFill/>
        </p:spPr>
        <p:txBody>
          <a:bodyPr/>
          <a:lstStyle/>
          <a:p>
            <a:pPr eaLnBrk="1" hangingPunct="1"/>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幻灯片图像占位符 1"/>
          <p:cNvSpPr>
            <a:spLocks noGrp="1" noRot="1" noChangeAspect="1" noChangeArrowheads="1" noTextEdit="1"/>
          </p:cNvSpPr>
          <p:nvPr>
            <p:ph type="sldImg"/>
          </p:nvPr>
        </p:nvSpPr>
        <p:spPr>
          <a:ln/>
        </p:spPr>
      </p:sp>
      <p:sp>
        <p:nvSpPr>
          <p:cNvPr id="148483" name="备注占位符 2"/>
          <p:cNvSpPr>
            <a:spLocks noGrp="1" noChangeArrowheads="1"/>
          </p:cNvSpPr>
          <p:nvPr>
            <p:ph type="body" idx="1"/>
          </p:nvPr>
        </p:nvSpPr>
        <p:spPr>
          <a:noFill/>
        </p:spPr>
        <p:txBody>
          <a:bodyPr/>
          <a:lstStyle/>
          <a:p>
            <a:r>
              <a:rPr lang="zh-CN" altLang="en-US" b="1">
                <a:ea typeface="楷体_GB2312" pitchFamily="49" charset="-122"/>
              </a:rPr>
              <a:t>将组成方程变成</a:t>
            </a:r>
            <a:r>
              <a:rPr lang="en-US" altLang="zh-CN" b="1">
                <a:ea typeface="楷体_GB2312" pitchFamily="49" charset="-122"/>
              </a:rPr>
              <a:t>r</a:t>
            </a:r>
            <a:r>
              <a:rPr lang="en-US" altLang="zh-CN" b="1" baseline="-25000">
                <a:ea typeface="楷体_GB2312" pitchFamily="49" charset="-122"/>
              </a:rPr>
              <a:t>1</a:t>
            </a:r>
            <a:r>
              <a:rPr lang="en-US" altLang="zh-CN" b="1">
                <a:ea typeface="楷体_GB2312" pitchFamily="49" charset="-122"/>
              </a:rPr>
              <a:t>、r</a:t>
            </a:r>
            <a:r>
              <a:rPr lang="en-US" altLang="zh-CN" b="1" baseline="-25000">
                <a:ea typeface="楷体_GB2312" pitchFamily="49" charset="-122"/>
              </a:rPr>
              <a:t>2</a:t>
            </a:r>
            <a:r>
              <a:rPr lang="zh-CN" altLang="en-US" b="1">
                <a:ea typeface="楷体_GB2312" pitchFamily="49" charset="-122"/>
              </a:rPr>
              <a:t>截距、斜率的形式</a:t>
            </a:r>
          </a:p>
          <a:p>
            <a:endParaRPr lang="zh-CN" altLang="en-US"/>
          </a:p>
        </p:txBody>
      </p:sp>
      <p:sp>
        <p:nvSpPr>
          <p:cNvPr id="4" name="灯片编号占位符 3">
            <a:extLst>
              <a:ext uri="{FF2B5EF4-FFF2-40B4-BE49-F238E27FC236}">
                <a16:creationId xmlns:a16="http://schemas.microsoft.com/office/drawing/2014/main" id="{CC0BF492-6AE3-49A3-B3F6-6135FCB015BD}"/>
              </a:ext>
            </a:extLst>
          </p:cNvPr>
          <p:cNvSpPr>
            <a:spLocks noGrp="1"/>
          </p:cNvSpPr>
          <p:nvPr>
            <p:ph type="sldNum" sz="quarter" idx="5"/>
          </p:nvPr>
        </p:nvSpPr>
        <p:spPr/>
        <p:txBody>
          <a:bodyPr/>
          <a:lstStyle/>
          <a:p>
            <a:pPr>
              <a:defRPr/>
            </a:pPr>
            <a:fld id="{F693B0E9-5FE2-485B-A933-33CD8CB6A126}" type="slidenum">
              <a:rPr lang="zh-CN" altLang="en-US" smtClean="0"/>
              <a:pPr>
                <a:defRPr/>
              </a:pPr>
              <a:t>108</a:t>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ChangeArrowheads="1" noTextEdit="1"/>
          </p:cNvSpPr>
          <p:nvPr>
            <p:ph type="sldImg"/>
          </p:nvPr>
        </p:nvSpPr>
        <p:spPr>
          <a:ln/>
        </p:spPr>
      </p:sp>
      <p:sp>
        <p:nvSpPr>
          <p:cNvPr id="151555" name="备注占位符 2"/>
          <p:cNvSpPr>
            <a:spLocks noGrp="1" noChangeArrowheads="1"/>
          </p:cNvSpPr>
          <p:nvPr>
            <p:ph type="body" idx="1"/>
          </p:nvPr>
        </p:nvSpPr>
        <p:spPr>
          <a:noFill/>
        </p:spPr>
        <p:txBody>
          <a:bodyPr/>
          <a:lstStyle/>
          <a:p>
            <a:r>
              <a:rPr lang="zh-CN" altLang="zh-CN"/>
              <a:t>根据二元共聚单体的摩尔投料比和通过核磁谱计算而得的两种单体单元的共聚组成比就可以求得竞聚率</a:t>
            </a:r>
            <a:r>
              <a:rPr lang="en-US" altLang="zh-CN"/>
              <a:t>r</a:t>
            </a:r>
            <a:r>
              <a:rPr lang="en-US" altLang="zh-CN" baseline="-25000"/>
              <a:t>1</a:t>
            </a:r>
            <a:r>
              <a:rPr lang="zh-CN" altLang="zh-CN"/>
              <a:t>和</a:t>
            </a:r>
            <a:r>
              <a:rPr lang="en-US" altLang="zh-CN"/>
              <a:t>r</a:t>
            </a:r>
            <a:r>
              <a:rPr lang="en-US" altLang="zh-CN" baseline="-25000"/>
              <a:t>2</a:t>
            </a:r>
            <a:r>
              <a:rPr lang="zh-CN" altLang="zh-CN"/>
              <a:t>。在较低转化率的前提下，可以采用</a:t>
            </a:r>
            <a:r>
              <a:rPr lang="en-US" altLang="zh-CN"/>
              <a:t>Finemen</a:t>
            </a:r>
            <a:r>
              <a:rPr lang="zh-CN" altLang="zh-CN"/>
              <a:t>和</a:t>
            </a:r>
            <a:r>
              <a:rPr lang="en-US" altLang="zh-CN"/>
              <a:t>Ross</a:t>
            </a:r>
            <a:r>
              <a:rPr lang="zh-CN" altLang="zh-CN"/>
              <a:t>法求算可以得到接近事实的结果。</a:t>
            </a:r>
            <a:r>
              <a:rPr lang="en-US" altLang="zh-CN"/>
              <a:t>MA/r-HAPD</a:t>
            </a:r>
            <a:r>
              <a:rPr lang="zh-CN" altLang="zh-CN"/>
              <a:t>溶液光共聚合反应非常迅速（见第</a:t>
            </a:r>
            <a:r>
              <a:rPr lang="en-US" altLang="zh-CN"/>
              <a:t>5</a:t>
            </a:r>
            <a:r>
              <a:rPr lang="zh-CN" altLang="zh-CN"/>
              <a:t>章），很难得到低转化率且分子量大的共聚物，因为根据积分法的计算要求聚合物应有较高的分子量才能避免较大的误差，并满足统计规律的要求。如果在分子量很小的情况下，共聚物的分子主链结构并不具有完全相同的序列分布。</a:t>
            </a:r>
            <a:r>
              <a:rPr lang="en-US" altLang="zh-CN"/>
              <a:t>GPC</a:t>
            </a:r>
            <a:r>
              <a:rPr lang="zh-CN" altLang="zh-CN"/>
              <a:t>结果表明：我们制备的两种共聚物的分子量均大于</a:t>
            </a:r>
            <a:r>
              <a:rPr lang="en-US" altLang="zh-CN"/>
              <a:t>20,000</a:t>
            </a:r>
            <a:r>
              <a:rPr lang="zh-CN" altLang="zh-CN"/>
              <a:t>，基本满足计算的要求。所以当转化率较高且所得的分子量较大时，可采用</a:t>
            </a:r>
            <a:r>
              <a:rPr lang="en-US" altLang="zh-CN"/>
              <a:t>Mayo-Lewis</a:t>
            </a:r>
            <a:r>
              <a:rPr lang="zh-CN" altLang="zh-CN"/>
              <a:t>积分法或扩展的</a:t>
            </a:r>
            <a:r>
              <a:rPr lang="en-US" altLang="zh-CN"/>
              <a:t>Kelen-Tudos</a:t>
            </a:r>
            <a:r>
              <a:rPr lang="zh-CN" altLang="zh-CN"/>
              <a:t>方法。欲求得共聚物的组成比，关键是要在</a:t>
            </a:r>
            <a:r>
              <a:rPr lang="en-US" altLang="zh-CN" baseline="30000"/>
              <a:t>1</a:t>
            </a:r>
            <a:r>
              <a:rPr lang="en-US" altLang="zh-CN"/>
              <a:t>H-NMR</a:t>
            </a:r>
            <a:r>
              <a:rPr lang="zh-CN" altLang="zh-CN"/>
              <a:t>谱中找到对应于共聚物中两种单体</a:t>
            </a:r>
            <a:r>
              <a:rPr lang="en-US" altLang="zh-CN"/>
              <a:t>M</a:t>
            </a:r>
            <a:r>
              <a:rPr lang="en-US" altLang="zh-CN" baseline="-25000"/>
              <a:t>1</a:t>
            </a:r>
            <a:r>
              <a:rPr lang="en-US" altLang="zh-CN"/>
              <a:t> </a:t>
            </a:r>
            <a:r>
              <a:rPr lang="zh-CN" altLang="zh-CN"/>
              <a:t>和</a:t>
            </a:r>
            <a:r>
              <a:rPr lang="en-US" altLang="zh-CN"/>
              <a:t>M</a:t>
            </a:r>
            <a:r>
              <a:rPr lang="en-US" altLang="zh-CN" baseline="-25000"/>
              <a:t>2</a:t>
            </a:r>
            <a:r>
              <a:rPr lang="zh-CN" altLang="zh-CN"/>
              <a:t>各自的特征吸收峰以便能够准确的定量。</a:t>
            </a:r>
            <a:endParaRPr lang="zh-CN" altLang="en-US"/>
          </a:p>
        </p:txBody>
      </p:sp>
      <p:sp>
        <p:nvSpPr>
          <p:cNvPr id="4" name="灯片编号占位符 3">
            <a:extLst>
              <a:ext uri="{FF2B5EF4-FFF2-40B4-BE49-F238E27FC236}">
                <a16:creationId xmlns:a16="http://schemas.microsoft.com/office/drawing/2014/main" id="{FC09A8D9-08E9-4379-9D33-C542603C3757}"/>
              </a:ext>
            </a:extLst>
          </p:cNvPr>
          <p:cNvSpPr>
            <a:spLocks noGrp="1"/>
          </p:cNvSpPr>
          <p:nvPr>
            <p:ph type="sldNum" sz="quarter" idx="5"/>
          </p:nvPr>
        </p:nvSpPr>
        <p:spPr/>
        <p:txBody>
          <a:bodyPr/>
          <a:lstStyle/>
          <a:p>
            <a:pPr>
              <a:defRPr/>
            </a:pPr>
            <a:fld id="{C9AC10CC-2DC1-4338-8972-301D19CEBB5D}" type="slidenum">
              <a:rPr lang="zh-CN" altLang="en-US" smtClean="0"/>
              <a:pPr>
                <a:defRPr/>
              </a:pPr>
              <a:t>110</a:t>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幻灯片图像占位符 1"/>
          <p:cNvSpPr>
            <a:spLocks noGrp="1" noRot="1" noChangeAspect="1" noChangeArrowheads="1" noTextEdit="1"/>
          </p:cNvSpPr>
          <p:nvPr>
            <p:ph type="sldImg"/>
          </p:nvPr>
        </p:nvSpPr>
        <p:spPr>
          <a:ln/>
        </p:spPr>
      </p:sp>
      <p:sp>
        <p:nvSpPr>
          <p:cNvPr id="156675" name="备注占位符 2"/>
          <p:cNvSpPr>
            <a:spLocks noGrp="1" noChangeArrowheads="1"/>
          </p:cNvSpPr>
          <p:nvPr>
            <p:ph type="body" idx="1"/>
          </p:nvPr>
        </p:nvSpPr>
        <p:spPr>
          <a:noFill/>
        </p:spPr>
        <p:txBody>
          <a:bodyPr/>
          <a:lstStyle/>
          <a:p>
            <a:r>
              <a:rPr lang="en-US" altLang="zh-CN"/>
              <a:t>和 分别是单体MA和ATMP的投料量， 和 分别为反应结束后两种单体MA和ATMP的剩余量。根据方程（4-2）由试差法计算r</a:t>
            </a:r>
            <a:r>
              <a:rPr lang="en-US" altLang="zh-CN" baseline="-25000"/>
              <a:t>1</a:t>
            </a:r>
            <a:r>
              <a:rPr lang="en-US" altLang="zh-CN"/>
              <a:t>和r</a:t>
            </a:r>
            <a:r>
              <a:rPr lang="en-US" altLang="zh-CN" baseline="-25000"/>
              <a:t>2</a:t>
            </a:r>
            <a:endParaRPr lang="zh-CN" altLang="en-US"/>
          </a:p>
        </p:txBody>
      </p:sp>
      <p:sp>
        <p:nvSpPr>
          <p:cNvPr id="4" name="灯片编号占位符 3">
            <a:extLst>
              <a:ext uri="{FF2B5EF4-FFF2-40B4-BE49-F238E27FC236}">
                <a16:creationId xmlns:a16="http://schemas.microsoft.com/office/drawing/2014/main" id="{E5DF90EB-2FD6-418A-9056-0F1BE7857D89}"/>
              </a:ext>
            </a:extLst>
          </p:cNvPr>
          <p:cNvSpPr>
            <a:spLocks noGrp="1"/>
          </p:cNvSpPr>
          <p:nvPr>
            <p:ph type="sldNum" sz="quarter" idx="5"/>
          </p:nvPr>
        </p:nvSpPr>
        <p:spPr/>
        <p:txBody>
          <a:bodyPr/>
          <a:lstStyle/>
          <a:p>
            <a:pPr>
              <a:defRPr/>
            </a:pPr>
            <a:fld id="{2652658F-0F77-401D-8505-87BBF1ABB7AF}" type="slidenum">
              <a:rPr lang="zh-CN" altLang="en-US" smtClean="0"/>
              <a:pPr>
                <a:defRPr/>
              </a:pPr>
              <a:t>114</a:t>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幻灯片图像占位符 1"/>
          <p:cNvSpPr>
            <a:spLocks noGrp="1" noRot="1" noChangeAspect="1" noChangeArrowheads="1" noTextEdit="1"/>
          </p:cNvSpPr>
          <p:nvPr>
            <p:ph type="sldImg"/>
          </p:nvPr>
        </p:nvSpPr>
        <p:spPr>
          <a:ln/>
        </p:spPr>
      </p:sp>
      <p:sp>
        <p:nvSpPr>
          <p:cNvPr id="164867" name="备注占位符 2"/>
          <p:cNvSpPr>
            <a:spLocks noGrp="1" noChangeArrowheads="1"/>
          </p:cNvSpPr>
          <p:nvPr>
            <p:ph type="body" idx="1"/>
          </p:nvPr>
        </p:nvSpPr>
        <p:spPr>
          <a:noFill/>
        </p:spPr>
        <p:txBody>
          <a:bodyPr/>
          <a:lstStyle/>
          <a:p>
            <a:r>
              <a:rPr lang="zh-CN" altLang="en-US" b="1">
                <a:latin typeface="楷体_GB2312" pitchFamily="49" charset="-122"/>
                <a:ea typeface="楷体_GB2312" pitchFamily="49" charset="-122"/>
              </a:rPr>
              <a:t>一般而言，单体与自由基的活性次序相反 </a:t>
            </a:r>
          </a:p>
          <a:p>
            <a:endParaRPr lang="zh-CN" altLang="en-US"/>
          </a:p>
        </p:txBody>
      </p:sp>
      <p:sp>
        <p:nvSpPr>
          <p:cNvPr id="4" name="灯片编号占位符 3">
            <a:extLst>
              <a:ext uri="{FF2B5EF4-FFF2-40B4-BE49-F238E27FC236}">
                <a16:creationId xmlns:a16="http://schemas.microsoft.com/office/drawing/2014/main" id="{77E5D146-A9EC-4352-AC2A-FE32D38AD18C}"/>
              </a:ext>
            </a:extLst>
          </p:cNvPr>
          <p:cNvSpPr>
            <a:spLocks noGrp="1"/>
          </p:cNvSpPr>
          <p:nvPr>
            <p:ph type="sldNum" sz="quarter" idx="5"/>
          </p:nvPr>
        </p:nvSpPr>
        <p:spPr/>
        <p:txBody>
          <a:bodyPr/>
          <a:lstStyle/>
          <a:p>
            <a:pPr>
              <a:defRPr/>
            </a:pPr>
            <a:fld id="{75B11322-E341-489E-A417-D1D33DD35011}" type="slidenum">
              <a:rPr lang="zh-CN" altLang="en-US" smtClean="0"/>
              <a:pPr>
                <a:defRPr/>
              </a:pPr>
              <a:t>121</a:t>
            </a:fld>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幻灯片图像占位符 1"/>
          <p:cNvSpPr>
            <a:spLocks noGrp="1" noRot="1" noChangeAspect="1" noChangeArrowheads="1" noTextEdit="1"/>
          </p:cNvSpPr>
          <p:nvPr>
            <p:ph type="sldImg"/>
          </p:nvPr>
        </p:nvSpPr>
        <p:spPr>
          <a:ln/>
        </p:spPr>
      </p:sp>
      <p:sp>
        <p:nvSpPr>
          <p:cNvPr id="168963" name="备注占位符 2"/>
          <p:cNvSpPr>
            <a:spLocks noGrp="1" noChangeArrowheads="1"/>
          </p:cNvSpPr>
          <p:nvPr>
            <p:ph type="body" idx="1"/>
          </p:nvPr>
        </p:nvSpPr>
        <p:spPr>
          <a:noFill/>
        </p:spPr>
        <p:txBody>
          <a:bodyPr/>
          <a:lstStyle/>
          <a:p>
            <a:r>
              <a:rPr lang="zh-CN" altLang="en-US">
                <a:latin typeface="楷体" panose="02010609060101010101" pitchFamily="49" charset="-122"/>
                <a:ea typeface="楷体" panose="02010609060101010101" pitchFamily="49" charset="-122"/>
              </a:rPr>
              <a:t>竞聚率是共聚反应中的重要参数，每一对单体有一对竞聚率。因此希望建立定量方程式来</a:t>
            </a:r>
            <a:endParaRPr lang="zh-CN" altLang="en-US"/>
          </a:p>
        </p:txBody>
      </p:sp>
      <p:sp>
        <p:nvSpPr>
          <p:cNvPr id="4" name="灯片编号占位符 3">
            <a:extLst>
              <a:ext uri="{FF2B5EF4-FFF2-40B4-BE49-F238E27FC236}">
                <a16:creationId xmlns:a16="http://schemas.microsoft.com/office/drawing/2014/main" id="{265C4B40-10C3-4AF1-A4B6-83086AB1EC94}"/>
              </a:ext>
            </a:extLst>
          </p:cNvPr>
          <p:cNvSpPr>
            <a:spLocks noGrp="1"/>
          </p:cNvSpPr>
          <p:nvPr>
            <p:ph type="sldNum" sz="quarter" idx="5"/>
          </p:nvPr>
        </p:nvSpPr>
        <p:spPr/>
        <p:txBody>
          <a:bodyPr/>
          <a:lstStyle/>
          <a:p>
            <a:pPr>
              <a:defRPr/>
            </a:pPr>
            <a:fld id="{4F3D5B0B-9CEB-4800-985F-C19E7ECF3E6E}" type="slidenum">
              <a:rPr lang="zh-CN" altLang="en-US" smtClean="0"/>
              <a:pPr>
                <a:defRPr/>
              </a:pPr>
              <a:t>124</a:t>
            </a:fld>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ChangeArrowheads="1" noTextEdit="1"/>
          </p:cNvSpPr>
          <p:nvPr>
            <p:ph type="sldImg"/>
          </p:nvPr>
        </p:nvSpPr>
        <p:spPr>
          <a:ln/>
        </p:spPr>
      </p:sp>
      <p:sp>
        <p:nvSpPr>
          <p:cNvPr id="174083" name="备注占位符 2"/>
          <p:cNvSpPr>
            <a:spLocks noGrp="1" noChangeArrowheads="1"/>
          </p:cNvSpPr>
          <p:nvPr>
            <p:ph type="body" idx="1"/>
          </p:nvPr>
        </p:nvSpPr>
        <p:spPr>
          <a:noFill/>
        </p:spPr>
        <p:txBody>
          <a:bodyPr/>
          <a:lstStyle/>
          <a:p>
            <a:endParaRPr lang="zh-CN" altLang="en-US"/>
          </a:p>
        </p:txBody>
      </p:sp>
      <p:sp>
        <p:nvSpPr>
          <p:cNvPr id="4" name="灯片编号占位符 3">
            <a:extLst>
              <a:ext uri="{FF2B5EF4-FFF2-40B4-BE49-F238E27FC236}">
                <a16:creationId xmlns:a16="http://schemas.microsoft.com/office/drawing/2014/main" id="{E3586D8F-E1ED-47AB-B597-C49147940471}"/>
              </a:ext>
            </a:extLst>
          </p:cNvPr>
          <p:cNvSpPr>
            <a:spLocks noGrp="1"/>
          </p:cNvSpPr>
          <p:nvPr>
            <p:ph type="sldNum" sz="quarter" idx="5"/>
          </p:nvPr>
        </p:nvSpPr>
        <p:spPr/>
        <p:txBody>
          <a:bodyPr/>
          <a:lstStyle/>
          <a:p>
            <a:pPr>
              <a:defRPr/>
            </a:pPr>
            <a:fld id="{C2280AB9-1986-4046-A0A2-4D3103828DDD}" type="slidenum">
              <a:rPr lang="zh-CN" altLang="en-US" smtClean="0"/>
              <a:pPr>
                <a:defRPr/>
              </a:pPr>
              <a:t>128</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a:extLst>
              <a:ext uri="{FF2B5EF4-FFF2-40B4-BE49-F238E27FC236}">
                <a16:creationId xmlns:a16="http://schemas.microsoft.com/office/drawing/2014/main" id="{33848CCC-85F3-4B0A-94B2-6F15EA8D89B2}"/>
              </a:ext>
            </a:extLst>
          </p:cNvPr>
          <p:cNvSpPr>
            <a:spLocks noGrp="1"/>
          </p:cNvSpPr>
          <p:nvPr>
            <p:ph type="dt" sz="half" idx="10"/>
          </p:nvPr>
        </p:nvSpPr>
        <p:spPr/>
        <p:txBody>
          <a:bodyPr/>
          <a:lstStyle>
            <a:lvl1pPr>
              <a:defRPr/>
            </a:lvl1pPr>
          </a:lstStyle>
          <a:p>
            <a:pPr>
              <a:defRPr/>
            </a:pPr>
            <a:fld id="{3C43BC44-050E-4589-A476-685DE25F323E}" type="datetime1">
              <a:rPr lang="zh-CN" altLang="en-US"/>
              <a:pPr>
                <a:defRPr/>
              </a:pPr>
              <a:t>2024/11/5</a:t>
            </a:fld>
            <a:endParaRPr lang="en-US" altLang="zh-CN"/>
          </a:p>
        </p:txBody>
      </p:sp>
      <p:sp>
        <p:nvSpPr>
          <p:cNvPr id="5" name="Footer Placeholder 4">
            <a:extLst>
              <a:ext uri="{FF2B5EF4-FFF2-40B4-BE49-F238E27FC236}">
                <a16:creationId xmlns:a16="http://schemas.microsoft.com/office/drawing/2014/main" id="{BAD86E93-D07D-430B-ADEA-D976A73A24D9}"/>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E16844FA-ACCE-47B5-BCA5-CFD27B09292C}"/>
              </a:ext>
            </a:extLst>
          </p:cNvPr>
          <p:cNvSpPr>
            <a:spLocks noGrp="1"/>
          </p:cNvSpPr>
          <p:nvPr>
            <p:ph type="sldNum" sz="quarter" idx="12"/>
          </p:nvPr>
        </p:nvSpPr>
        <p:spPr/>
        <p:txBody>
          <a:bodyPr/>
          <a:lstStyle>
            <a:lvl1pPr>
              <a:defRPr/>
            </a:lvl1pPr>
          </a:lstStyle>
          <a:p>
            <a:pPr>
              <a:defRPr/>
            </a:pPr>
            <a:fld id="{5964BD4D-6FEE-4F57-A970-D991ACA3C947}" type="slidenum">
              <a:rPr lang="zh-CN" altLang="en-US"/>
              <a:pPr>
                <a:defRPr/>
              </a:pPr>
              <a:t>‹#›</a:t>
            </a:fld>
            <a:endParaRPr lang="en-US" altLang="zh-CN"/>
          </a:p>
        </p:txBody>
      </p:sp>
    </p:spTree>
    <p:extLst>
      <p:ext uri="{BB962C8B-B14F-4D97-AF65-F5344CB8AC3E}">
        <p14:creationId xmlns:p14="http://schemas.microsoft.com/office/powerpoint/2010/main" val="400987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9C173E5B-3E9D-4AAC-93E5-A10774D0EF8D}"/>
              </a:ext>
            </a:extLst>
          </p:cNvPr>
          <p:cNvSpPr>
            <a:spLocks noGrp="1"/>
          </p:cNvSpPr>
          <p:nvPr>
            <p:ph type="dt" sz="half" idx="10"/>
          </p:nvPr>
        </p:nvSpPr>
        <p:spPr/>
        <p:txBody>
          <a:bodyPr/>
          <a:lstStyle>
            <a:lvl1pPr>
              <a:defRPr/>
            </a:lvl1pPr>
          </a:lstStyle>
          <a:p>
            <a:pPr>
              <a:defRPr/>
            </a:pPr>
            <a:fld id="{39353A98-021C-4DA6-B151-FEE672396196}" type="datetime1">
              <a:rPr lang="zh-CN" altLang="en-US"/>
              <a:pPr>
                <a:defRPr/>
              </a:pPr>
              <a:t>2024/11/5</a:t>
            </a:fld>
            <a:endParaRPr lang="en-US" altLang="zh-CN"/>
          </a:p>
        </p:txBody>
      </p:sp>
      <p:sp>
        <p:nvSpPr>
          <p:cNvPr id="5" name="Footer Placeholder 4">
            <a:extLst>
              <a:ext uri="{FF2B5EF4-FFF2-40B4-BE49-F238E27FC236}">
                <a16:creationId xmlns:a16="http://schemas.microsoft.com/office/drawing/2014/main" id="{AFD25EAB-1119-49E9-A9CD-A1200D19F5EC}"/>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13CBA060-7E6E-4DE7-B4CA-54623AB09BE3}"/>
              </a:ext>
            </a:extLst>
          </p:cNvPr>
          <p:cNvSpPr>
            <a:spLocks noGrp="1"/>
          </p:cNvSpPr>
          <p:nvPr>
            <p:ph type="sldNum" sz="quarter" idx="12"/>
          </p:nvPr>
        </p:nvSpPr>
        <p:spPr/>
        <p:txBody>
          <a:bodyPr/>
          <a:lstStyle>
            <a:lvl1pPr>
              <a:defRPr/>
            </a:lvl1pPr>
          </a:lstStyle>
          <a:p>
            <a:pPr>
              <a:defRPr/>
            </a:pPr>
            <a:fld id="{9FEA8448-09B8-4AA1-83EB-BA18AE64E63C}" type="slidenum">
              <a:rPr lang="zh-CN" altLang="en-US"/>
              <a:pPr>
                <a:defRPr/>
              </a:pPr>
              <a:t>‹#›</a:t>
            </a:fld>
            <a:endParaRPr lang="en-US" altLang="zh-CN"/>
          </a:p>
        </p:txBody>
      </p:sp>
    </p:spTree>
    <p:extLst>
      <p:ext uri="{BB962C8B-B14F-4D97-AF65-F5344CB8AC3E}">
        <p14:creationId xmlns:p14="http://schemas.microsoft.com/office/powerpoint/2010/main" val="1499230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a:extLst>
              <a:ext uri="{FF2B5EF4-FFF2-40B4-BE49-F238E27FC236}">
                <a16:creationId xmlns:a16="http://schemas.microsoft.com/office/drawing/2014/main" id="{71514B06-0554-46FB-A866-539276AB3A74}"/>
              </a:ext>
            </a:extLst>
          </p:cNvPr>
          <p:cNvSpPr>
            <a:spLocks noGrp="1"/>
          </p:cNvSpPr>
          <p:nvPr>
            <p:ph type="dt" sz="half" idx="10"/>
          </p:nvPr>
        </p:nvSpPr>
        <p:spPr/>
        <p:txBody>
          <a:bodyPr/>
          <a:lstStyle>
            <a:lvl1pPr>
              <a:defRPr/>
            </a:lvl1pPr>
          </a:lstStyle>
          <a:p>
            <a:pPr>
              <a:defRPr/>
            </a:pPr>
            <a:fld id="{FCE73391-6E60-4941-8EA8-DBC4DBFD91CF}" type="datetime1">
              <a:rPr lang="zh-CN" altLang="en-US"/>
              <a:pPr>
                <a:defRPr/>
              </a:pPr>
              <a:t>2024/11/5</a:t>
            </a:fld>
            <a:endParaRPr lang="en-US" altLang="zh-CN"/>
          </a:p>
        </p:txBody>
      </p:sp>
      <p:sp>
        <p:nvSpPr>
          <p:cNvPr id="5" name="Footer Placeholder 4">
            <a:extLst>
              <a:ext uri="{FF2B5EF4-FFF2-40B4-BE49-F238E27FC236}">
                <a16:creationId xmlns:a16="http://schemas.microsoft.com/office/drawing/2014/main" id="{EE5D94FA-9E55-4E2F-A189-F134E746059C}"/>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D6256D03-4DBC-46C6-A236-76A398F6D855}"/>
              </a:ext>
            </a:extLst>
          </p:cNvPr>
          <p:cNvSpPr>
            <a:spLocks noGrp="1"/>
          </p:cNvSpPr>
          <p:nvPr>
            <p:ph type="sldNum" sz="quarter" idx="12"/>
          </p:nvPr>
        </p:nvSpPr>
        <p:spPr/>
        <p:txBody>
          <a:bodyPr/>
          <a:lstStyle>
            <a:lvl1pPr>
              <a:defRPr/>
            </a:lvl1pPr>
          </a:lstStyle>
          <a:p>
            <a:pPr>
              <a:defRPr/>
            </a:pPr>
            <a:fld id="{36A18063-E0F9-455E-B3B7-D2B40977E20D}" type="slidenum">
              <a:rPr lang="zh-CN" altLang="en-US"/>
              <a:pPr>
                <a:defRPr/>
              </a:pPr>
              <a:t>‹#›</a:t>
            </a:fld>
            <a:endParaRPr lang="en-US" altLang="zh-CN"/>
          </a:p>
        </p:txBody>
      </p:sp>
    </p:spTree>
    <p:extLst>
      <p:ext uri="{BB962C8B-B14F-4D97-AF65-F5344CB8AC3E}">
        <p14:creationId xmlns:p14="http://schemas.microsoft.com/office/powerpoint/2010/main" val="1080658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a:extLst>
              <a:ext uri="{FF2B5EF4-FFF2-40B4-BE49-F238E27FC236}">
                <a16:creationId xmlns:a16="http://schemas.microsoft.com/office/drawing/2014/main" id="{87A6727B-B19C-4777-A516-48EAF34F1B12}"/>
              </a:ext>
            </a:extLst>
          </p:cNvPr>
          <p:cNvSpPr>
            <a:spLocks noGrp="1"/>
          </p:cNvSpPr>
          <p:nvPr>
            <p:ph type="dt" sz="half" idx="10"/>
          </p:nvPr>
        </p:nvSpPr>
        <p:spPr/>
        <p:txBody>
          <a:bodyPr/>
          <a:lstStyle>
            <a:lvl1pPr>
              <a:defRPr/>
            </a:lvl1pPr>
          </a:lstStyle>
          <a:p>
            <a:pPr>
              <a:defRPr/>
            </a:pPr>
            <a:fld id="{7F309918-A508-4D5D-BBBA-864502FA1DA4}" type="datetime1">
              <a:rPr lang="zh-CN" altLang="en-US"/>
              <a:pPr>
                <a:defRPr/>
              </a:pPr>
              <a:t>2024/11/5</a:t>
            </a:fld>
            <a:endParaRPr lang="en-US" altLang="zh-CN"/>
          </a:p>
        </p:txBody>
      </p:sp>
      <p:sp>
        <p:nvSpPr>
          <p:cNvPr id="6" name="Footer Placeholder 4">
            <a:extLst>
              <a:ext uri="{FF2B5EF4-FFF2-40B4-BE49-F238E27FC236}">
                <a16:creationId xmlns:a16="http://schemas.microsoft.com/office/drawing/2014/main" id="{AFF10B44-C818-4912-83F2-D85DAE48CAB7}"/>
              </a:ext>
            </a:extLst>
          </p:cNvPr>
          <p:cNvSpPr>
            <a:spLocks noGrp="1"/>
          </p:cNvSpPr>
          <p:nvPr>
            <p:ph type="ftr" sz="quarter" idx="11"/>
          </p:nvPr>
        </p:nvSpPr>
        <p:spPr/>
        <p:txBody>
          <a:bodyPr/>
          <a:lstStyle>
            <a:lvl1pPr>
              <a:defRPr/>
            </a:lvl1pPr>
          </a:lstStyle>
          <a:p>
            <a:pPr>
              <a:defRPr/>
            </a:pPr>
            <a:r>
              <a:rPr lang="en-US" altLang="zh-CN"/>
              <a:t>1</a:t>
            </a:r>
          </a:p>
        </p:txBody>
      </p:sp>
      <p:sp>
        <p:nvSpPr>
          <p:cNvPr id="7" name="Slide Number Placeholder 5">
            <a:extLst>
              <a:ext uri="{FF2B5EF4-FFF2-40B4-BE49-F238E27FC236}">
                <a16:creationId xmlns:a16="http://schemas.microsoft.com/office/drawing/2014/main" id="{6D7E9E49-C23E-4A69-9675-E69161FA6AE1}"/>
              </a:ext>
            </a:extLst>
          </p:cNvPr>
          <p:cNvSpPr>
            <a:spLocks noGrp="1"/>
          </p:cNvSpPr>
          <p:nvPr>
            <p:ph type="sldNum" sz="quarter" idx="12"/>
          </p:nvPr>
        </p:nvSpPr>
        <p:spPr/>
        <p:txBody>
          <a:bodyPr/>
          <a:lstStyle>
            <a:lvl1pPr>
              <a:defRPr/>
            </a:lvl1pPr>
          </a:lstStyle>
          <a:p>
            <a:pPr>
              <a:defRPr/>
            </a:pPr>
            <a:fld id="{2767504D-42C0-49BA-B6DD-1C843A77E742}" type="slidenum">
              <a:rPr lang="zh-CN" altLang="en-US"/>
              <a:pPr>
                <a:defRPr/>
              </a:pPr>
              <a:t>‹#›</a:t>
            </a:fld>
            <a:endParaRPr lang="en-US" altLang="zh-CN"/>
          </a:p>
        </p:txBody>
      </p:sp>
    </p:spTree>
    <p:extLst>
      <p:ext uri="{BB962C8B-B14F-4D97-AF65-F5344CB8AC3E}">
        <p14:creationId xmlns:p14="http://schemas.microsoft.com/office/powerpoint/2010/main" val="220224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a:extLst>
              <a:ext uri="{FF2B5EF4-FFF2-40B4-BE49-F238E27FC236}">
                <a16:creationId xmlns:a16="http://schemas.microsoft.com/office/drawing/2014/main" id="{CC5827A4-EB0E-40FD-9A6A-7D1067B4D695}"/>
              </a:ext>
            </a:extLst>
          </p:cNvPr>
          <p:cNvSpPr>
            <a:spLocks noGrp="1"/>
          </p:cNvSpPr>
          <p:nvPr>
            <p:ph type="dt" sz="half" idx="10"/>
          </p:nvPr>
        </p:nvSpPr>
        <p:spPr/>
        <p:txBody>
          <a:bodyPr/>
          <a:lstStyle>
            <a:lvl1pPr>
              <a:defRPr/>
            </a:lvl1pPr>
          </a:lstStyle>
          <a:p>
            <a:pPr>
              <a:defRPr/>
            </a:pPr>
            <a:fld id="{2F9C66DD-82E5-4A05-A701-42232D04C59F}" type="datetime1">
              <a:rPr lang="zh-CN" altLang="en-US"/>
              <a:pPr>
                <a:defRPr/>
              </a:pPr>
              <a:t>2024/11/5</a:t>
            </a:fld>
            <a:endParaRPr lang="en-US" altLang="zh-CN"/>
          </a:p>
        </p:txBody>
      </p:sp>
      <p:sp>
        <p:nvSpPr>
          <p:cNvPr id="8" name="Footer Placeholder 4">
            <a:extLst>
              <a:ext uri="{FF2B5EF4-FFF2-40B4-BE49-F238E27FC236}">
                <a16:creationId xmlns:a16="http://schemas.microsoft.com/office/drawing/2014/main" id="{4497C507-A3B2-4CC3-9C6E-4492295F1F58}"/>
              </a:ext>
            </a:extLst>
          </p:cNvPr>
          <p:cNvSpPr>
            <a:spLocks noGrp="1"/>
          </p:cNvSpPr>
          <p:nvPr>
            <p:ph type="ftr" sz="quarter" idx="11"/>
          </p:nvPr>
        </p:nvSpPr>
        <p:spPr/>
        <p:txBody>
          <a:bodyPr/>
          <a:lstStyle>
            <a:lvl1pPr>
              <a:defRPr/>
            </a:lvl1pPr>
          </a:lstStyle>
          <a:p>
            <a:pPr>
              <a:defRPr/>
            </a:pPr>
            <a:r>
              <a:rPr lang="en-US" altLang="zh-CN"/>
              <a:t>1</a:t>
            </a:r>
          </a:p>
        </p:txBody>
      </p:sp>
      <p:sp>
        <p:nvSpPr>
          <p:cNvPr id="9" name="Slide Number Placeholder 5">
            <a:extLst>
              <a:ext uri="{FF2B5EF4-FFF2-40B4-BE49-F238E27FC236}">
                <a16:creationId xmlns:a16="http://schemas.microsoft.com/office/drawing/2014/main" id="{C5B41C5B-7627-4B4E-95E7-A5A3E3F6FB8C}"/>
              </a:ext>
            </a:extLst>
          </p:cNvPr>
          <p:cNvSpPr>
            <a:spLocks noGrp="1"/>
          </p:cNvSpPr>
          <p:nvPr>
            <p:ph type="sldNum" sz="quarter" idx="12"/>
          </p:nvPr>
        </p:nvSpPr>
        <p:spPr/>
        <p:txBody>
          <a:bodyPr/>
          <a:lstStyle>
            <a:lvl1pPr>
              <a:defRPr/>
            </a:lvl1pPr>
          </a:lstStyle>
          <a:p>
            <a:pPr>
              <a:defRPr/>
            </a:pPr>
            <a:fld id="{07D89469-0A0E-4C57-8946-8E2D8D60409C}" type="slidenum">
              <a:rPr lang="zh-CN" altLang="en-US"/>
              <a:pPr>
                <a:defRPr/>
              </a:pPr>
              <a:t>‹#›</a:t>
            </a:fld>
            <a:endParaRPr lang="en-US" altLang="zh-CN"/>
          </a:p>
        </p:txBody>
      </p:sp>
    </p:spTree>
    <p:extLst>
      <p:ext uri="{BB962C8B-B14F-4D97-AF65-F5344CB8AC3E}">
        <p14:creationId xmlns:p14="http://schemas.microsoft.com/office/powerpoint/2010/main" val="1129188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a:extLst>
              <a:ext uri="{FF2B5EF4-FFF2-40B4-BE49-F238E27FC236}">
                <a16:creationId xmlns:a16="http://schemas.microsoft.com/office/drawing/2014/main" id="{EA2F4FB4-8FD0-4514-9274-376247D74985}"/>
              </a:ext>
            </a:extLst>
          </p:cNvPr>
          <p:cNvSpPr>
            <a:spLocks noGrp="1"/>
          </p:cNvSpPr>
          <p:nvPr>
            <p:ph type="dt" sz="half" idx="10"/>
          </p:nvPr>
        </p:nvSpPr>
        <p:spPr/>
        <p:txBody>
          <a:bodyPr/>
          <a:lstStyle>
            <a:lvl1pPr>
              <a:defRPr/>
            </a:lvl1pPr>
          </a:lstStyle>
          <a:p>
            <a:pPr>
              <a:defRPr/>
            </a:pPr>
            <a:fld id="{35B5B308-EEC2-462F-9CE3-F59BCFF89B01}" type="datetime1">
              <a:rPr lang="zh-CN" altLang="en-US"/>
              <a:pPr>
                <a:defRPr/>
              </a:pPr>
              <a:t>2024/11/5</a:t>
            </a:fld>
            <a:endParaRPr lang="en-US" altLang="zh-CN"/>
          </a:p>
        </p:txBody>
      </p:sp>
      <p:sp>
        <p:nvSpPr>
          <p:cNvPr id="4" name="Footer Placeholder 4">
            <a:extLst>
              <a:ext uri="{FF2B5EF4-FFF2-40B4-BE49-F238E27FC236}">
                <a16:creationId xmlns:a16="http://schemas.microsoft.com/office/drawing/2014/main" id="{F381B69E-FAF2-480C-99FF-8EAE4D431559}"/>
              </a:ext>
            </a:extLst>
          </p:cNvPr>
          <p:cNvSpPr>
            <a:spLocks noGrp="1"/>
          </p:cNvSpPr>
          <p:nvPr>
            <p:ph type="ftr" sz="quarter" idx="11"/>
          </p:nvPr>
        </p:nvSpPr>
        <p:spPr/>
        <p:txBody>
          <a:bodyPr/>
          <a:lstStyle>
            <a:lvl1pPr>
              <a:defRPr/>
            </a:lvl1pPr>
          </a:lstStyle>
          <a:p>
            <a:pPr>
              <a:defRPr/>
            </a:pPr>
            <a:r>
              <a:rPr lang="en-US" altLang="zh-CN"/>
              <a:t>1</a:t>
            </a:r>
          </a:p>
        </p:txBody>
      </p:sp>
      <p:sp>
        <p:nvSpPr>
          <p:cNvPr id="5" name="Slide Number Placeholder 5">
            <a:extLst>
              <a:ext uri="{FF2B5EF4-FFF2-40B4-BE49-F238E27FC236}">
                <a16:creationId xmlns:a16="http://schemas.microsoft.com/office/drawing/2014/main" id="{4F6901F9-7D0D-4BEC-A7FA-8C9707BFEE9C}"/>
              </a:ext>
            </a:extLst>
          </p:cNvPr>
          <p:cNvSpPr>
            <a:spLocks noGrp="1"/>
          </p:cNvSpPr>
          <p:nvPr>
            <p:ph type="sldNum" sz="quarter" idx="12"/>
          </p:nvPr>
        </p:nvSpPr>
        <p:spPr/>
        <p:txBody>
          <a:bodyPr/>
          <a:lstStyle>
            <a:lvl1pPr>
              <a:defRPr/>
            </a:lvl1pPr>
          </a:lstStyle>
          <a:p>
            <a:pPr>
              <a:defRPr/>
            </a:pPr>
            <a:fld id="{8E012415-8980-48BF-8549-C5F44529D95F}" type="slidenum">
              <a:rPr lang="zh-CN" altLang="en-US"/>
              <a:pPr>
                <a:defRPr/>
              </a:pPr>
              <a:t>‹#›</a:t>
            </a:fld>
            <a:endParaRPr lang="en-US" altLang="zh-CN"/>
          </a:p>
        </p:txBody>
      </p:sp>
    </p:spTree>
    <p:extLst>
      <p:ext uri="{BB962C8B-B14F-4D97-AF65-F5344CB8AC3E}">
        <p14:creationId xmlns:p14="http://schemas.microsoft.com/office/powerpoint/2010/main" val="329609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B861D9C-0B67-402E-89FC-8098B7971452}"/>
              </a:ext>
            </a:extLst>
          </p:cNvPr>
          <p:cNvSpPr>
            <a:spLocks noGrp="1"/>
          </p:cNvSpPr>
          <p:nvPr>
            <p:ph type="dt" sz="half" idx="10"/>
          </p:nvPr>
        </p:nvSpPr>
        <p:spPr/>
        <p:txBody>
          <a:bodyPr/>
          <a:lstStyle>
            <a:lvl1pPr>
              <a:defRPr/>
            </a:lvl1pPr>
          </a:lstStyle>
          <a:p>
            <a:pPr>
              <a:defRPr/>
            </a:pPr>
            <a:fld id="{982A6110-D6AE-4088-8A98-45449722EC33}" type="datetime1">
              <a:rPr lang="zh-CN" altLang="en-US"/>
              <a:pPr>
                <a:defRPr/>
              </a:pPr>
              <a:t>2024/11/5</a:t>
            </a:fld>
            <a:endParaRPr lang="en-US" altLang="zh-CN"/>
          </a:p>
        </p:txBody>
      </p:sp>
      <p:sp>
        <p:nvSpPr>
          <p:cNvPr id="3" name="Footer Placeholder 4">
            <a:extLst>
              <a:ext uri="{FF2B5EF4-FFF2-40B4-BE49-F238E27FC236}">
                <a16:creationId xmlns:a16="http://schemas.microsoft.com/office/drawing/2014/main" id="{099D406C-F85C-454E-A2B0-70D636FC8759}"/>
              </a:ext>
            </a:extLst>
          </p:cNvPr>
          <p:cNvSpPr>
            <a:spLocks noGrp="1"/>
          </p:cNvSpPr>
          <p:nvPr>
            <p:ph type="ftr" sz="quarter" idx="11"/>
          </p:nvPr>
        </p:nvSpPr>
        <p:spPr/>
        <p:txBody>
          <a:bodyPr/>
          <a:lstStyle>
            <a:lvl1pPr>
              <a:defRPr/>
            </a:lvl1pPr>
          </a:lstStyle>
          <a:p>
            <a:pPr>
              <a:defRPr/>
            </a:pPr>
            <a:r>
              <a:rPr lang="en-US" altLang="zh-CN"/>
              <a:t>1</a:t>
            </a:r>
          </a:p>
        </p:txBody>
      </p:sp>
      <p:sp>
        <p:nvSpPr>
          <p:cNvPr id="4" name="Slide Number Placeholder 5">
            <a:extLst>
              <a:ext uri="{FF2B5EF4-FFF2-40B4-BE49-F238E27FC236}">
                <a16:creationId xmlns:a16="http://schemas.microsoft.com/office/drawing/2014/main" id="{7D5B1FC5-5283-47ED-AB88-3C2FECD537A6}"/>
              </a:ext>
            </a:extLst>
          </p:cNvPr>
          <p:cNvSpPr>
            <a:spLocks noGrp="1"/>
          </p:cNvSpPr>
          <p:nvPr>
            <p:ph type="sldNum" sz="quarter" idx="12"/>
          </p:nvPr>
        </p:nvSpPr>
        <p:spPr/>
        <p:txBody>
          <a:bodyPr/>
          <a:lstStyle>
            <a:lvl1pPr>
              <a:defRPr/>
            </a:lvl1pPr>
          </a:lstStyle>
          <a:p>
            <a:pPr>
              <a:defRPr/>
            </a:pPr>
            <a:fld id="{3C397461-5C58-43B8-B583-BD0603F91EB8}" type="slidenum">
              <a:rPr lang="zh-CN" altLang="en-US"/>
              <a:pPr>
                <a:defRPr/>
              </a:pPr>
              <a:t>‹#›</a:t>
            </a:fld>
            <a:endParaRPr lang="en-US" altLang="zh-CN"/>
          </a:p>
        </p:txBody>
      </p:sp>
    </p:spTree>
    <p:extLst>
      <p:ext uri="{BB962C8B-B14F-4D97-AF65-F5344CB8AC3E}">
        <p14:creationId xmlns:p14="http://schemas.microsoft.com/office/powerpoint/2010/main" val="355688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a:extLst>
              <a:ext uri="{FF2B5EF4-FFF2-40B4-BE49-F238E27FC236}">
                <a16:creationId xmlns:a16="http://schemas.microsoft.com/office/drawing/2014/main" id="{88E5411B-80C8-407E-9728-62A9C07A6C70}"/>
              </a:ext>
            </a:extLst>
          </p:cNvPr>
          <p:cNvSpPr>
            <a:spLocks noGrp="1"/>
          </p:cNvSpPr>
          <p:nvPr>
            <p:ph type="dt" sz="half" idx="10"/>
          </p:nvPr>
        </p:nvSpPr>
        <p:spPr/>
        <p:txBody>
          <a:bodyPr/>
          <a:lstStyle>
            <a:lvl1pPr>
              <a:defRPr/>
            </a:lvl1pPr>
          </a:lstStyle>
          <a:p>
            <a:pPr>
              <a:defRPr/>
            </a:pPr>
            <a:fld id="{06246297-517E-459D-B1FE-840B06D99727}" type="datetime1">
              <a:rPr lang="zh-CN" altLang="en-US"/>
              <a:pPr>
                <a:defRPr/>
              </a:pPr>
              <a:t>2024/11/5</a:t>
            </a:fld>
            <a:endParaRPr lang="en-US" altLang="zh-CN"/>
          </a:p>
        </p:txBody>
      </p:sp>
      <p:sp>
        <p:nvSpPr>
          <p:cNvPr id="6" name="Footer Placeholder 4">
            <a:extLst>
              <a:ext uri="{FF2B5EF4-FFF2-40B4-BE49-F238E27FC236}">
                <a16:creationId xmlns:a16="http://schemas.microsoft.com/office/drawing/2014/main" id="{3FEC4788-B823-44D5-9D4D-B07F8C9DF81A}"/>
              </a:ext>
            </a:extLst>
          </p:cNvPr>
          <p:cNvSpPr>
            <a:spLocks noGrp="1"/>
          </p:cNvSpPr>
          <p:nvPr>
            <p:ph type="ftr" sz="quarter" idx="11"/>
          </p:nvPr>
        </p:nvSpPr>
        <p:spPr/>
        <p:txBody>
          <a:bodyPr/>
          <a:lstStyle>
            <a:lvl1pPr>
              <a:defRPr/>
            </a:lvl1pPr>
          </a:lstStyle>
          <a:p>
            <a:pPr>
              <a:defRPr/>
            </a:pPr>
            <a:r>
              <a:rPr lang="en-US" altLang="zh-CN"/>
              <a:t>1</a:t>
            </a:r>
          </a:p>
        </p:txBody>
      </p:sp>
      <p:sp>
        <p:nvSpPr>
          <p:cNvPr id="7" name="Slide Number Placeholder 5">
            <a:extLst>
              <a:ext uri="{FF2B5EF4-FFF2-40B4-BE49-F238E27FC236}">
                <a16:creationId xmlns:a16="http://schemas.microsoft.com/office/drawing/2014/main" id="{A96E6BD8-2DD8-4BBB-A34D-CB3334962F50}"/>
              </a:ext>
            </a:extLst>
          </p:cNvPr>
          <p:cNvSpPr>
            <a:spLocks noGrp="1"/>
          </p:cNvSpPr>
          <p:nvPr>
            <p:ph type="sldNum" sz="quarter" idx="12"/>
          </p:nvPr>
        </p:nvSpPr>
        <p:spPr/>
        <p:txBody>
          <a:bodyPr/>
          <a:lstStyle>
            <a:lvl1pPr>
              <a:defRPr/>
            </a:lvl1pPr>
          </a:lstStyle>
          <a:p>
            <a:pPr>
              <a:defRPr/>
            </a:pPr>
            <a:fld id="{FD5E18C2-39D5-4074-BB26-44D021A6A191}" type="slidenum">
              <a:rPr lang="zh-CN" altLang="en-US"/>
              <a:pPr>
                <a:defRPr/>
              </a:pPr>
              <a:t>‹#›</a:t>
            </a:fld>
            <a:endParaRPr lang="en-US" altLang="zh-CN"/>
          </a:p>
        </p:txBody>
      </p:sp>
    </p:spTree>
    <p:extLst>
      <p:ext uri="{BB962C8B-B14F-4D97-AF65-F5344CB8AC3E}">
        <p14:creationId xmlns:p14="http://schemas.microsoft.com/office/powerpoint/2010/main" val="242173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a:extLst>
              <a:ext uri="{FF2B5EF4-FFF2-40B4-BE49-F238E27FC236}">
                <a16:creationId xmlns:a16="http://schemas.microsoft.com/office/drawing/2014/main" id="{0E631239-BC29-4F82-AE27-9F51AB603756}"/>
              </a:ext>
            </a:extLst>
          </p:cNvPr>
          <p:cNvSpPr>
            <a:spLocks noGrp="1"/>
          </p:cNvSpPr>
          <p:nvPr>
            <p:ph type="dt" sz="half" idx="10"/>
          </p:nvPr>
        </p:nvSpPr>
        <p:spPr/>
        <p:txBody>
          <a:bodyPr/>
          <a:lstStyle>
            <a:lvl1pPr>
              <a:defRPr/>
            </a:lvl1pPr>
          </a:lstStyle>
          <a:p>
            <a:pPr>
              <a:defRPr/>
            </a:pPr>
            <a:fld id="{B633E271-E1DB-46C2-BB2A-E991872663A4}" type="datetime1">
              <a:rPr lang="zh-CN" altLang="en-US"/>
              <a:pPr>
                <a:defRPr/>
              </a:pPr>
              <a:t>2024/11/5</a:t>
            </a:fld>
            <a:endParaRPr lang="en-US" altLang="zh-CN"/>
          </a:p>
        </p:txBody>
      </p:sp>
      <p:sp>
        <p:nvSpPr>
          <p:cNvPr id="6" name="Footer Placeholder 4">
            <a:extLst>
              <a:ext uri="{FF2B5EF4-FFF2-40B4-BE49-F238E27FC236}">
                <a16:creationId xmlns:a16="http://schemas.microsoft.com/office/drawing/2014/main" id="{40ECF71C-0FEB-46EC-9286-C80543F90F92}"/>
              </a:ext>
            </a:extLst>
          </p:cNvPr>
          <p:cNvSpPr>
            <a:spLocks noGrp="1"/>
          </p:cNvSpPr>
          <p:nvPr>
            <p:ph type="ftr" sz="quarter" idx="11"/>
          </p:nvPr>
        </p:nvSpPr>
        <p:spPr/>
        <p:txBody>
          <a:bodyPr/>
          <a:lstStyle>
            <a:lvl1pPr>
              <a:defRPr/>
            </a:lvl1pPr>
          </a:lstStyle>
          <a:p>
            <a:pPr>
              <a:defRPr/>
            </a:pPr>
            <a:r>
              <a:rPr lang="en-US" altLang="zh-CN"/>
              <a:t>1</a:t>
            </a:r>
          </a:p>
        </p:txBody>
      </p:sp>
      <p:sp>
        <p:nvSpPr>
          <p:cNvPr id="7" name="Slide Number Placeholder 5">
            <a:extLst>
              <a:ext uri="{FF2B5EF4-FFF2-40B4-BE49-F238E27FC236}">
                <a16:creationId xmlns:a16="http://schemas.microsoft.com/office/drawing/2014/main" id="{5564E96A-46EA-4079-9FF5-237C423390A5}"/>
              </a:ext>
            </a:extLst>
          </p:cNvPr>
          <p:cNvSpPr>
            <a:spLocks noGrp="1"/>
          </p:cNvSpPr>
          <p:nvPr>
            <p:ph type="sldNum" sz="quarter" idx="12"/>
          </p:nvPr>
        </p:nvSpPr>
        <p:spPr/>
        <p:txBody>
          <a:bodyPr/>
          <a:lstStyle>
            <a:lvl1pPr>
              <a:defRPr/>
            </a:lvl1pPr>
          </a:lstStyle>
          <a:p>
            <a:pPr>
              <a:defRPr/>
            </a:pPr>
            <a:fld id="{7FEEF2F0-938B-4E70-930D-D3C75B567226}" type="slidenum">
              <a:rPr lang="zh-CN" altLang="en-US"/>
              <a:pPr>
                <a:defRPr/>
              </a:pPr>
              <a:t>‹#›</a:t>
            </a:fld>
            <a:endParaRPr lang="en-US" altLang="zh-CN"/>
          </a:p>
        </p:txBody>
      </p:sp>
    </p:spTree>
    <p:extLst>
      <p:ext uri="{BB962C8B-B14F-4D97-AF65-F5344CB8AC3E}">
        <p14:creationId xmlns:p14="http://schemas.microsoft.com/office/powerpoint/2010/main" val="4181608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F497E508-56AE-410F-9B16-AFF06F75CCB7}"/>
              </a:ext>
            </a:extLst>
          </p:cNvPr>
          <p:cNvSpPr>
            <a:spLocks noGrp="1"/>
          </p:cNvSpPr>
          <p:nvPr>
            <p:ph type="dt" sz="half" idx="10"/>
          </p:nvPr>
        </p:nvSpPr>
        <p:spPr/>
        <p:txBody>
          <a:bodyPr/>
          <a:lstStyle>
            <a:lvl1pPr>
              <a:defRPr/>
            </a:lvl1pPr>
          </a:lstStyle>
          <a:p>
            <a:pPr>
              <a:defRPr/>
            </a:pPr>
            <a:fld id="{1FF54A75-B04F-4720-BDFD-7CBB93F1A126}" type="datetime1">
              <a:rPr lang="zh-CN" altLang="en-US"/>
              <a:pPr>
                <a:defRPr/>
              </a:pPr>
              <a:t>2024/11/5</a:t>
            </a:fld>
            <a:endParaRPr lang="en-US" altLang="zh-CN"/>
          </a:p>
        </p:txBody>
      </p:sp>
      <p:sp>
        <p:nvSpPr>
          <p:cNvPr id="5" name="Footer Placeholder 4">
            <a:extLst>
              <a:ext uri="{FF2B5EF4-FFF2-40B4-BE49-F238E27FC236}">
                <a16:creationId xmlns:a16="http://schemas.microsoft.com/office/drawing/2014/main" id="{7B551D83-7ADC-4AFE-9CA8-FA7BBFA91EB2}"/>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18A63C18-B600-4DE5-BE5A-ECA45FB591EC}"/>
              </a:ext>
            </a:extLst>
          </p:cNvPr>
          <p:cNvSpPr>
            <a:spLocks noGrp="1"/>
          </p:cNvSpPr>
          <p:nvPr>
            <p:ph type="sldNum" sz="quarter" idx="12"/>
          </p:nvPr>
        </p:nvSpPr>
        <p:spPr/>
        <p:txBody>
          <a:bodyPr/>
          <a:lstStyle>
            <a:lvl1pPr>
              <a:defRPr/>
            </a:lvl1pPr>
          </a:lstStyle>
          <a:p>
            <a:pPr>
              <a:defRPr/>
            </a:pPr>
            <a:fld id="{C308F885-8841-4348-8CC3-0021CCB83490}" type="slidenum">
              <a:rPr lang="zh-CN" altLang="en-US"/>
              <a:pPr>
                <a:defRPr/>
              </a:pPr>
              <a:t>‹#›</a:t>
            </a:fld>
            <a:endParaRPr lang="en-US" altLang="zh-CN"/>
          </a:p>
        </p:txBody>
      </p:sp>
    </p:spTree>
    <p:extLst>
      <p:ext uri="{BB962C8B-B14F-4D97-AF65-F5344CB8AC3E}">
        <p14:creationId xmlns:p14="http://schemas.microsoft.com/office/powerpoint/2010/main" val="2002449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a:extLst>
              <a:ext uri="{FF2B5EF4-FFF2-40B4-BE49-F238E27FC236}">
                <a16:creationId xmlns:a16="http://schemas.microsoft.com/office/drawing/2014/main" id="{F283937E-A7D5-4CE4-A5FC-911D1E42E008}"/>
              </a:ext>
            </a:extLst>
          </p:cNvPr>
          <p:cNvSpPr>
            <a:spLocks noGrp="1"/>
          </p:cNvSpPr>
          <p:nvPr>
            <p:ph type="dt" sz="half" idx="10"/>
          </p:nvPr>
        </p:nvSpPr>
        <p:spPr/>
        <p:txBody>
          <a:bodyPr/>
          <a:lstStyle>
            <a:lvl1pPr>
              <a:defRPr/>
            </a:lvl1pPr>
          </a:lstStyle>
          <a:p>
            <a:pPr>
              <a:defRPr/>
            </a:pPr>
            <a:fld id="{AC6AFAEF-5764-4E5B-8AE2-22FDAF63D6B3}" type="datetime1">
              <a:rPr lang="zh-CN" altLang="en-US"/>
              <a:pPr>
                <a:defRPr/>
              </a:pPr>
              <a:t>2024/11/5</a:t>
            </a:fld>
            <a:endParaRPr lang="en-US" altLang="zh-CN"/>
          </a:p>
        </p:txBody>
      </p:sp>
      <p:sp>
        <p:nvSpPr>
          <p:cNvPr id="5" name="Footer Placeholder 4">
            <a:extLst>
              <a:ext uri="{FF2B5EF4-FFF2-40B4-BE49-F238E27FC236}">
                <a16:creationId xmlns:a16="http://schemas.microsoft.com/office/drawing/2014/main" id="{7FB44162-850B-4AF7-976E-9CA3CC4CC362}"/>
              </a:ext>
            </a:extLst>
          </p:cNvPr>
          <p:cNvSpPr>
            <a:spLocks noGrp="1"/>
          </p:cNvSpPr>
          <p:nvPr>
            <p:ph type="ftr" sz="quarter" idx="11"/>
          </p:nvPr>
        </p:nvSpPr>
        <p:spPr/>
        <p:txBody>
          <a:bodyPr/>
          <a:lstStyle>
            <a:lvl1pPr>
              <a:defRPr/>
            </a:lvl1pPr>
          </a:lstStyle>
          <a:p>
            <a:pPr>
              <a:defRPr/>
            </a:pPr>
            <a:r>
              <a:rPr lang="en-US" altLang="zh-CN"/>
              <a:t>1</a:t>
            </a:r>
          </a:p>
        </p:txBody>
      </p:sp>
      <p:sp>
        <p:nvSpPr>
          <p:cNvPr id="6" name="Slide Number Placeholder 5">
            <a:extLst>
              <a:ext uri="{FF2B5EF4-FFF2-40B4-BE49-F238E27FC236}">
                <a16:creationId xmlns:a16="http://schemas.microsoft.com/office/drawing/2014/main" id="{FA72651B-2980-4A45-8316-EF58AEACE09D}"/>
              </a:ext>
            </a:extLst>
          </p:cNvPr>
          <p:cNvSpPr>
            <a:spLocks noGrp="1"/>
          </p:cNvSpPr>
          <p:nvPr>
            <p:ph type="sldNum" sz="quarter" idx="12"/>
          </p:nvPr>
        </p:nvSpPr>
        <p:spPr/>
        <p:txBody>
          <a:bodyPr/>
          <a:lstStyle>
            <a:lvl1pPr>
              <a:defRPr/>
            </a:lvl1pPr>
          </a:lstStyle>
          <a:p>
            <a:pPr>
              <a:defRPr/>
            </a:pPr>
            <a:fld id="{ACFC5513-5D5A-42D6-AAB0-7F26103DA420}" type="slidenum">
              <a:rPr lang="zh-CN" altLang="en-US"/>
              <a:pPr>
                <a:defRPr/>
              </a:pPr>
              <a:t>‹#›</a:t>
            </a:fld>
            <a:endParaRPr lang="en-US" altLang="zh-CN"/>
          </a:p>
        </p:txBody>
      </p:sp>
    </p:spTree>
    <p:extLst>
      <p:ext uri="{BB962C8B-B14F-4D97-AF65-F5344CB8AC3E}">
        <p14:creationId xmlns:p14="http://schemas.microsoft.com/office/powerpoint/2010/main" val="3416023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a:extLst>
              <a:ext uri="{FF2B5EF4-FFF2-40B4-BE49-F238E27FC236}">
                <a16:creationId xmlns:a16="http://schemas.microsoft.com/office/drawing/2014/main" id="{884874F1-BBDD-4976-9D9F-1CC110D44FFE}"/>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762D1660-CFA3-451E-9F2A-504BF105CE8E}" type="datetime1">
              <a:rPr lang="zh-CN" altLang="en-US"/>
              <a:pPr>
                <a:defRPr/>
              </a:pPr>
              <a:t>2024/11/5</a:t>
            </a:fld>
            <a:endParaRPr lang="en-US" altLang="zh-CN"/>
          </a:p>
        </p:txBody>
      </p:sp>
      <p:sp>
        <p:nvSpPr>
          <p:cNvPr id="5" name="Footer Placeholder 4">
            <a:extLst>
              <a:ext uri="{FF2B5EF4-FFF2-40B4-BE49-F238E27FC236}">
                <a16:creationId xmlns:a16="http://schemas.microsoft.com/office/drawing/2014/main" id="{54A90476-91D2-43ED-A708-652829CE113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ltLang="zh-CN"/>
              <a:t>1</a:t>
            </a:r>
          </a:p>
        </p:txBody>
      </p:sp>
      <p:sp>
        <p:nvSpPr>
          <p:cNvPr id="6" name="Slide Number Placeholder 5">
            <a:extLst>
              <a:ext uri="{FF2B5EF4-FFF2-40B4-BE49-F238E27FC236}">
                <a16:creationId xmlns:a16="http://schemas.microsoft.com/office/drawing/2014/main" id="{6E04BE0A-87DC-4426-A75D-9BA7C0EFB6B7}"/>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35034B39-0FB3-4637-BA93-9CCED0EC9A44}" type="slidenum">
              <a:rPr lang="zh-CN" altLang="en-US"/>
              <a:pPr>
                <a:defRPr/>
              </a:pPr>
              <a:t>‹#›</a:t>
            </a:fld>
            <a:endParaRPr lang="en-US" altLang="zh-CN"/>
          </a:p>
        </p:txBody>
      </p:sp>
      <p:sp>
        <p:nvSpPr>
          <p:cNvPr id="7" name="Rectangle 20">
            <a:extLst>
              <a:ext uri="{FF2B5EF4-FFF2-40B4-BE49-F238E27FC236}">
                <a16:creationId xmlns:a16="http://schemas.microsoft.com/office/drawing/2014/main" id="{9C8BAC42-50FE-4984-B61E-0BA6368B0CEC}"/>
              </a:ext>
            </a:extLst>
          </p:cNvPr>
          <p:cNvSpPr>
            <a:spLocks noChangeArrowheads="1"/>
          </p:cNvSpPr>
          <p:nvPr userDrawn="1"/>
        </p:nvSpPr>
        <p:spPr bwMode="auto">
          <a:xfrm>
            <a:off x="7543800" y="6400800"/>
            <a:ext cx="539750" cy="36513"/>
          </a:xfrm>
          <a:prstGeom prst="rect">
            <a:avLst/>
          </a:prstGeom>
          <a:solidFill>
            <a:srgbClr val="4BA19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endParaRPr lang="zh-CN" altLang="en-US"/>
          </a:p>
        </p:txBody>
      </p:sp>
      <p:sp>
        <p:nvSpPr>
          <p:cNvPr id="8" name="Rectangle 21">
            <a:extLst>
              <a:ext uri="{FF2B5EF4-FFF2-40B4-BE49-F238E27FC236}">
                <a16:creationId xmlns:a16="http://schemas.microsoft.com/office/drawing/2014/main" id="{116D37DC-E1A8-4627-A73B-2BEC10ACC0FC}"/>
              </a:ext>
            </a:extLst>
          </p:cNvPr>
          <p:cNvSpPr>
            <a:spLocks noChangeArrowheads="1"/>
          </p:cNvSpPr>
          <p:nvPr userDrawn="1"/>
        </p:nvSpPr>
        <p:spPr bwMode="auto">
          <a:xfrm>
            <a:off x="8458200" y="6400800"/>
            <a:ext cx="539750" cy="36513"/>
          </a:xfrm>
          <a:prstGeom prst="rect">
            <a:avLst/>
          </a:prstGeom>
          <a:solidFill>
            <a:srgbClr val="4BA19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ea typeface="宋体" panose="02010600030101010101" pitchFamily="2" charset="-122"/>
              </a:defRPr>
            </a:lvl1pPr>
            <a:lvl2pPr marL="742950" indent="-285750">
              <a:defRPr sz="2400">
                <a:solidFill>
                  <a:schemeClr val="tx1"/>
                </a:solidFill>
                <a:latin typeface="Times New Roman" panose="02020603050405020304" pitchFamily="18" charset="0"/>
                <a:ea typeface="宋体" panose="02010600030101010101" pitchFamily="2" charset="-122"/>
              </a:defRPr>
            </a:lvl2pPr>
            <a:lvl3pPr marL="1143000" indent="-228600">
              <a:defRPr sz="2400">
                <a:solidFill>
                  <a:schemeClr val="tx1"/>
                </a:solidFill>
                <a:latin typeface="Times New Roman" panose="02020603050405020304" pitchFamily="18" charset="0"/>
                <a:ea typeface="宋体" panose="02010600030101010101" pitchFamily="2" charset="-122"/>
              </a:defRPr>
            </a:lvl3pPr>
            <a:lvl4pPr marL="1600200" indent="-228600">
              <a:defRPr sz="2400">
                <a:solidFill>
                  <a:schemeClr val="tx1"/>
                </a:solidFill>
                <a:latin typeface="Times New Roman" panose="02020603050405020304" pitchFamily="18" charset="0"/>
                <a:ea typeface="宋体" panose="02010600030101010101" pitchFamily="2" charset="-122"/>
              </a:defRPr>
            </a:lvl4pPr>
            <a:lvl5pPr marL="2057400" indent="-22860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endParaRPr lang="zh-CN" altLang="en-US"/>
          </a:p>
        </p:txBody>
      </p:sp>
    </p:spTree>
  </p:cSld>
  <p:clrMap bg1="lt1" tx1="dk1" bg2="lt2" tx2="dk2" accent1="accent1" accent2="accent2" accent3="accent3" accent4="accent4" accent5="accent5" accent6="accent6" hlink="hlink" folHlink="folHlink"/>
  <p:sldLayoutIdLst>
    <p:sldLayoutId id="2147484184" r:id="rId1"/>
    <p:sldLayoutId id="2147484185" r:id="rId2"/>
    <p:sldLayoutId id="2147484186" r:id="rId3"/>
    <p:sldLayoutId id="2147484187" r:id="rId4"/>
    <p:sldLayoutId id="2147484188" r:id="rId5"/>
    <p:sldLayoutId id="2147484189" r:id="rId6"/>
    <p:sldLayoutId id="2147484190" r:id="rId7"/>
    <p:sldLayoutId id="2147484191" r:id="rId8"/>
    <p:sldLayoutId id="2147484192" r:id="rId9"/>
    <p:sldLayoutId id="2147484193" r:id="rId10"/>
    <p:sldLayoutId id="2147484194" r:id="rId11"/>
  </p:sldLayoutIdLst>
  <p:hf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file:///C:\Documents%20and%20Settings\xpchen\My%20Documents\2005.4&#31934;&#21697;&#35838;&#31243;\nrgy\3-1.files\03_01.files\p_01.gif" TargetMode="Externa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file:///C:\Documents%20and%20Settings\xpchen\My%20Documents\2005.4&#31934;&#21697;&#35838;&#31243;\nrgy\3-1.files\03_01.files\p_02.gif" TargetMode="External"/><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file:///C:\Documents%20and%20Settings\xpchen\My%20Documents\2005.4&#31934;&#21697;&#35838;&#31243;\nrgy\3-1.files\03_01.files\p_03.gi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3.jpeg"/><Relationship Id="rId4" Type="http://schemas.openxmlformats.org/officeDocument/2006/relationships/image" Target="file:///C:\Documents%20and%20Settings\xpchen\My%20Documents\2005.4&#31934;&#21697;&#35838;&#31243;\nrgy\3-1.files\03_01.files\p_04.gif"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5.wmf"/></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20.wmf"/><Relationship Id="rId4" Type="http://schemas.openxmlformats.org/officeDocument/2006/relationships/oleObject" Target="../embeddings/oleObject5.bin"/></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22.wmf"/><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25.wmf"/><Relationship Id="rId4" Type="http://schemas.openxmlformats.org/officeDocument/2006/relationships/oleObject" Target="../embeddings/oleObject8.bin"/></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wmf"/><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37.wmf"/><Relationship Id="rId5" Type="http://schemas.openxmlformats.org/officeDocument/2006/relationships/oleObject" Target="../embeddings/oleObject10.bin"/><Relationship Id="rId4" Type="http://schemas.openxmlformats.org/officeDocument/2006/relationships/image" Target="../media/image36.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11.xml"/><Relationship Id="rId7"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3.bin"/><Relationship Id="rId5" Type="http://schemas.openxmlformats.org/officeDocument/2006/relationships/image" Target="../media/image39.wmf"/><Relationship Id="rId4" Type="http://schemas.openxmlformats.org/officeDocument/2006/relationships/oleObject" Target="../embeddings/oleObject12.bin"/><Relationship Id="rId9" Type="http://schemas.openxmlformats.org/officeDocument/2006/relationships/image" Target="../media/image38.wmf"/></Relationships>
</file>

<file path=ppt/slides/_rels/slide34.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notesSlide" Target="../notesSlides/notesSlide12.xml"/><Relationship Id="rId7"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15.bin"/><Relationship Id="rId5" Type="http://schemas.openxmlformats.org/officeDocument/2006/relationships/image" Target="../media/image41.wmf"/><Relationship Id="rId10" Type="http://schemas.openxmlformats.org/officeDocument/2006/relationships/image" Target="../media/image39.wmf"/><Relationship Id="rId4" Type="http://schemas.openxmlformats.org/officeDocument/2006/relationships/oleObject" Target="../embeddings/oleObject14.bin"/><Relationship Id="rId9" Type="http://schemas.openxmlformats.org/officeDocument/2006/relationships/oleObject" Target="../embeddings/oleObject16.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45.wmf"/><Relationship Id="rId5" Type="http://schemas.openxmlformats.org/officeDocument/2006/relationships/oleObject" Target="../embeddings/oleObject18.bin"/><Relationship Id="rId4" Type="http://schemas.openxmlformats.org/officeDocument/2006/relationships/image" Target="../media/image44.wmf"/></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47.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0.bin"/><Relationship Id="rId5" Type="http://schemas.openxmlformats.org/officeDocument/2006/relationships/image" Target="../media/image46.wmf"/><Relationship Id="rId4" Type="http://schemas.openxmlformats.org/officeDocument/2006/relationships/oleObject" Target="../embeddings/oleObject19.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49.wmf"/><Relationship Id="rId5" Type="http://schemas.openxmlformats.org/officeDocument/2006/relationships/oleObject" Target="../embeddings/oleObject22.bin"/><Relationship Id="rId4" Type="http://schemas.openxmlformats.org/officeDocument/2006/relationships/image" Target="../media/image48.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50.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51.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3.wmf"/><Relationship Id="rId5" Type="http://schemas.openxmlformats.org/officeDocument/2006/relationships/oleObject" Target="../embeddings/oleObject26.bin"/><Relationship Id="rId4" Type="http://schemas.openxmlformats.org/officeDocument/2006/relationships/image" Target="../media/image52.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58.wmf"/><Relationship Id="rId3" Type="http://schemas.openxmlformats.org/officeDocument/2006/relationships/notesSlide" Target="../notesSlides/notesSlide13.xml"/><Relationship Id="rId7" Type="http://schemas.openxmlformats.org/officeDocument/2006/relationships/image" Target="../media/image55.wmf"/><Relationship Id="rId12" Type="http://schemas.openxmlformats.org/officeDocument/2006/relationships/oleObject" Target="../embeddings/oleObject31.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28.bin"/><Relationship Id="rId11" Type="http://schemas.openxmlformats.org/officeDocument/2006/relationships/image" Target="../media/image57.wmf"/><Relationship Id="rId5" Type="http://schemas.openxmlformats.org/officeDocument/2006/relationships/image" Target="../media/image54.wmf"/><Relationship Id="rId15" Type="http://schemas.openxmlformats.org/officeDocument/2006/relationships/image" Target="../media/image59.wmf"/><Relationship Id="rId10" Type="http://schemas.openxmlformats.org/officeDocument/2006/relationships/oleObject" Target="../embeddings/oleObject30.bin"/><Relationship Id="rId4" Type="http://schemas.openxmlformats.org/officeDocument/2006/relationships/oleObject" Target="../embeddings/oleObject27.bin"/><Relationship Id="rId9" Type="http://schemas.openxmlformats.org/officeDocument/2006/relationships/image" Target="../media/image56.wmf"/><Relationship Id="rId14" Type="http://schemas.openxmlformats.org/officeDocument/2006/relationships/oleObject" Target="../embeddings/oleObject32.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60.wmf"/></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7.xml"/><Relationship Id="rId1" Type="http://schemas.openxmlformats.org/officeDocument/2006/relationships/vmlDrawing" Target="../drawings/vmlDrawing18.vml"/><Relationship Id="rId5" Type="http://schemas.openxmlformats.org/officeDocument/2006/relationships/image" Target="../media/image61.wmf"/><Relationship Id="rId4" Type="http://schemas.openxmlformats.org/officeDocument/2006/relationships/oleObject" Target="../embeddings/oleObject34.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9.vml"/><Relationship Id="rId5" Type="http://schemas.openxmlformats.org/officeDocument/2006/relationships/image" Target="../media/image47.wmf"/><Relationship Id="rId4" Type="http://schemas.openxmlformats.org/officeDocument/2006/relationships/oleObject" Target="../embeddings/oleObject35.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16.xml"/><Relationship Id="rId7" Type="http://schemas.openxmlformats.org/officeDocument/2006/relationships/image" Target="../media/image64.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37.bin"/><Relationship Id="rId5" Type="http://schemas.openxmlformats.org/officeDocument/2006/relationships/image" Target="../media/image63.wmf"/><Relationship Id="rId4" Type="http://schemas.openxmlformats.org/officeDocument/2006/relationships/oleObject" Target="../embeddings/oleObject36.bin"/><Relationship Id="rId9" Type="http://schemas.openxmlformats.org/officeDocument/2006/relationships/image" Target="../media/image47.wmf"/></Relationships>
</file>

<file path=ppt/slides/_rels/slide49.xml.rels><?xml version="1.0" encoding="UTF-8" standalone="yes"?>
<Relationships xmlns="http://schemas.openxmlformats.org/package/2006/relationships"><Relationship Id="rId8" Type="http://schemas.openxmlformats.org/officeDocument/2006/relationships/image" Target="../media/image67.wmf"/><Relationship Id="rId13" Type="http://schemas.openxmlformats.org/officeDocument/2006/relationships/oleObject" Target="../embeddings/oleObject44.bin"/><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69.wmf"/><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66.w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68.wmf"/><Relationship Id="rId4" Type="http://schemas.openxmlformats.org/officeDocument/2006/relationships/image" Target="../media/image65.wmf"/><Relationship Id="rId9" Type="http://schemas.openxmlformats.org/officeDocument/2006/relationships/oleObject" Target="../embeddings/oleObject42.bin"/><Relationship Id="rId14" Type="http://schemas.openxmlformats.org/officeDocument/2006/relationships/image" Target="../media/image70.wmf"/></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75.wmf"/><Relationship Id="rId3" Type="http://schemas.openxmlformats.org/officeDocument/2006/relationships/notesSlide" Target="../notesSlides/notesSlide17.xml"/><Relationship Id="rId7" Type="http://schemas.openxmlformats.org/officeDocument/2006/relationships/image" Target="../media/image72.wmf"/><Relationship Id="rId12"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46.bin"/><Relationship Id="rId11" Type="http://schemas.openxmlformats.org/officeDocument/2006/relationships/image" Target="../media/image74.wmf"/><Relationship Id="rId5" Type="http://schemas.openxmlformats.org/officeDocument/2006/relationships/image" Target="../media/image71.wmf"/><Relationship Id="rId10" Type="http://schemas.openxmlformats.org/officeDocument/2006/relationships/oleObject" Target="../embeddings/oleObject48.bin"/><Relationship Id="rId4" Type="http://schemas.openxmlformats.org/officeDocument/2006/relationships/oleObject" Target="../embeddings/oleObject45.bin"/><Relationship Id="rId9" Type="http://schemas.openxmlformats.org/officeDocument/2006/relationships/image" Target="../media/image73.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78.wmf"/><Relationship Id="rId3" Type="http://schemas.openxmlformats.org/officeDocument/2006/relationships/oleObject" Target="../embeddings/oleObject50.bin"/><Relationship Id="rId7" Type="http://schemas.openxmlformats.org/officeDocument/2006/relationships/oleObject" Target="../embeddings/oleObject52.bin"/><Relationship Id="rId12" Type="http://schemas.openxmlformats.org/officeDocument/2006/relationships/image" Target="../media/image63.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77.wmf"/><Relationship Id="rId11" Type="http://schemas.openxmlformats.org/officeDocument/2006/relationships/oleObject" Target="../embeddings/oleObject54.bin"/><Relationship Id="rId5" Type="http://schemas.openxmlformats.org/officeDocument/2006/relationships/oleObject" Target="../embeddings/oleObject51.bin"/><Relationship Id="rId10" Type="http://schemas.openxmlformats.org/officeDocument/2006/relationships/image" Target="../media/image79.wmf"/><Relationship Id="rId4" Type="http://schemas.openxmlformats.org/officeDocument/2006/relationships/image" Target="../media/image76.wmf"/><Relationship Id="rId9" Type="http://schemas.openxmlformats.org/officeDocument/2006/relationships/oleObject" Target="../embeddings/oleObject53.bin"/></Relationships>
</file>

<file path=ppt/slides/_rels/slide53.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81.wmf"/><Relationship Id="rId5" Type="http://schemas.openxmlformats.org/officeDocument/2006/relationships/oleObject" Target="../embeddings/oleObject56.bin"/><Relationship Id="rId10" Type="http://schemas.openxmlformats.org/officeDocument/2006/relationships/image" Target="../media/image83.wmf"/><Relationship Id="rId4" Type="http://schemas.openxmlformats.org/officeDocument/2006/relationships/image" Target="../media/image80.wmf"/><Relationship Id="rId9" Type="http://schemas.openxmlformats.org/officeDocument/2006/relationships/oleObject" Target="../embeddings/oleObject58.bin"/></Relationships>
</file>

<file path=ppt/slides/_rels/slide54.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88.wmf"/><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85.wmf"/><Relationship Id="rId11" Type="http://schemas.openxmlformats.org/officeDocument/2006/relationships/oleObject" Target="../embeddings/oleObject63.bin"/><Relationship Id="rId5" Type="http://schemas.openxmlformats.org/officeDocument/2006/relationships/oleObject" Target="../embeddings/oleObject60.bin"/><Relationship Id="rId10" Type="http://schemas.openxmlformats.org/officeDocument/2006/relationships/image" Target="../media/image87.wmf"/><Relationship Id="rId4" Type="http://schemas.openxmlformats.org/officeDocument/2006/relationships/image" Target="../media/image84.wmf"/><Relationship Id="rId9" Type="http://schemas.openxmlformats.org/officeDocument/2006/relationships/oleObject" Target="../embeddings/oleObject62.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oleObject" Target="../embeddings/oleObject64.bin"/><Relationship Id="rId7" Type="http://schemas.openxmlformats.org/officeDocument/2006/relationships/image" Target="../media/image90.wmf"/><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65.bin"/><Relationship Id="rId5" Type="http://schemas.openxmlformats.org/officeDocument/2006/relationships/image" Target="../media/image91.emf"/><Relationship Id="rId4" Type="http://schemas.openxmlformats.org/officeDocument/2006/relationships/image" Target="../media/image89.wmf"/><Relationship Id="rId9" Type="http://schemas.openxmlformats.org/officeDocument/2006/relationships/image" Target="../media/image88.wmf"/></Relationships>
</file>

<file path=ppt/slides/_rels/slide56.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notesSlide" Target="../notesSlides/notesSlide18.xml"/><Relationship Id="rId7" Type="http://schemas.openxmlformats.org/officeDocument/2006/relationships/oleObject" Target="../embeddings/oleObject68.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94.emf"/><Relationship Id="rId5" Type="http://schemas.openxmlformats.org/officeDocument/2006/relationships/image" Target="../media/image92.wmf"/><Relationship Id="rId4" Type="http://schemas.openxmlformats.org/officeDocument/2006/relationships/oleObject" Target="../embeddings/oleObject67.bin"/></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9.bin"/><Relationship Id="rId7" Type="http://schemas.openxmlformats.org/officeDocument/2006/relationships/image" Target="../media/image96.wmf"/><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70.bin"/><Relationship Id="rId5" Type="http://schemas.openxmlformats.org/officeDocument/2006/relationships/image" Target="../media/image97.emf"/><Relationship Id="rId4" Type="http://schemas.openxmlformats.org/officeDocument/2006/relationships/image" Target="../media/image95.wmf"/></Relationships>
</file>

<file path=ppt/slides/_rels/slide58.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71.bin"/><Relationship Id="rId7"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99.wmf"/><Relationship Id="rId5" Type="http://schemas.openxmlformats.org/officeDocument/2006/relationships/oleObject" Target="../embeddings/oleObject72.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74.bin"/></Relationships>
</file>

<file path=ppt/slides/_rels/slide59.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notesSlide" Target="../notesSlides/notesSlide19.xml"/><Relationship Id="rId7" Type="http://schemas.openxmlformats.org/officeDocument/2006/relationships/oleObject" Target="../embeddings/oleObject76.bin"/><Relationship Id="rId12" Type="http://schemas.openxmlformats.org/officeDocument/2006/relationships/image" Target="../media/image105.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image" Target="../media/image106.emf"/><Relationship Id="rId11" Type="http://schemas.openxmlformats.org/officeDocument/2006/relationships/oleObject" Target="../embeddings/oleObject78.bin"/><Relationship Id="rId5" Type="http://schemas.openxmlformats.org/officeDocument/2006/relationships/image" Target="../media/image102.wmf"/><Relationship Id="rId10" Type="http://schemas.openxmlformats.org/officeDocument/2006/relationships/image" Target="../media/image104.wmf"/><Relationship Id="rId4" Type="http://schemas.openxmlformats.org/officeDocument/2006/relationships/oleObject" Target="../embeddings/oleObject75.bin"/><Relationship Id="rId9" Type="http://schemas.openxmlformats.org/officeDocument/2006/relationships/oleObject" Target="../embeddings/oleObject77.bin"/></Relationships>
</file>

<file path=ppt/slides/_rels/slide60.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png"/><Relationship Id="rId1" Type="http://schemas.openxmlformats.org/officeDocument/2006/relationships/slideLayout" Target="../slideLayouts/slideLayout7.xml"/><Relationship Id="rId4" Type="http://schemas.openxmlformats.org/officeDocument/2006/relationships/image" Target="../media/image111.jpe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81.bin"/><Relationship Id="rId3" Type="http://schemas.openxmlformats.org/officeDocument/2006/relationships/notesSlide" Target="../notesSlides/notesSlide20.xml"/><Relationship Id="rId7" Type="http://schemas.openxmlformats.org/officeDocument/2006/relationships/image" Target="../media/image113.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80.bin"/><Relationship Id="rId5" Type="http://schemas.openxmlformats.org/officeDocument/2006/relationships/image" Target="../media/image112.wmf"/><Relationship Id="rId4" Type="http://schemas.openxmlformats.org/officeDocument/2006/relationships/oleObject" Target="../embeddings/oleObject79.bin"/><Relationship Id="rId9" Type="http://schemas.openxmlformats.org/officeDocument/2006/relationships/image" Target="../media/image47.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32.vml"/><Relationship Id="rId4" Type="http://schemas.openxmlformats.org/officeDocument/2006/relationships/image" Target="../media/image114.wmf"/></Relationships>
</file>

<file path=ppt/slides/_rels/slide66.xml.rels><?xml version="1.0" encoding="UTF-8" standalone="yes"?>
<Relationships xmlns="http://schemas.openxmlformats.org/package/2006/relationships"><Relationship Id="rId3" Type="http://schemas.openxmlformats.org/officeDocument/2006/relationships/image" Target="../media/image108.emf"/><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image" Target="../media/image109.png"/><Relationship Id="rId1" Type="http://schemas.openxmlformats.org/officeDocument/2006/relationships/slideLayout" Target="../slideLayouts/slideLayout7.xml"/><Relationship Id="rId4" Type="http://schemas.openxmlformats.org/officeDocument/2006/relationships/image" Target="../media/image111.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116.wmf"/><Relationship Id="rId5" Type="http://schemas.openxmlformats.org/officeDocument/2006/relationships/oleObject" Target="../embeddings/oleObject84.bin"/><Relationship Id="rId4" Type="http://schemas.openxmlformats.org/officeDocument/2006/relationships/image" Target="../media/image115.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image" Target="../media/image118.wmf"/><Relationship Id="rId5" Type="http://schemas.openxmlformats.org/officeDocument/2006/relationships/oleObject" Target="../embeddings/oleObject86.bin"/><Relationship Id="rId4" Type="http://schemas.openxmlformats.org/officeDocument/2006/relationships/image" Target="../media/image117.wmf"/></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89.bin"/><Relationship Id="rId3" Type="http://schemas.openxmlformats.org/officeDocument/2006/relationships/notesSlide" Target="../notesSlides/notesSlide22.xml"/><Relationship Id="rId7" Type="http://schemas.openxmlformats.org/officeDocument/2006/relationships/image" Target="../media/image120.wmf"/><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88.bin"/><Relationship Id="rId5" Type="http://schemas.openxmlformats.org/officeDocument/2006/relationships/image" Target="../media/image119.wmf"/><Relationship Id="rId4" Type="http://schemas.openxmlformats.org/officeDocument/2006/relationships/oleObject" Target="../embeddings/oleObject87.bin"/><Relationship Id="rId9" Type="http://schemas.openxmlformats.org/officeDocument/2006/relationships/image" Target="../media/image121.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7.xml"/><Relationship Id="rId1" Type="http://schemas.openxmlformats.org/officeDocument/2006/relationships/vmlDrawing" Target="../drawings/vmlDrawing36.vml"/><Relationship Id="rId4" Type="http://schemas.openxmlformats.org/officeDocument/2006/relationships/image" Target="../media/image122.emf"/></Relationships>
</file>

<file path=ppt/slides/_rels/slide74.xml.rels><?xml version="1.0" encoding="UTF-8" standalone="yes"?>
<Relationships xmlns="http://schemas.openxmlformats.org/package/2006/relationships"><Relationship Id="rId3" Type="http://schemas.openxmlformats.org/officeDocument/2006/relationships/image" Target="../media/image124.png"/><Relationship Id="rId7" Type="http://schemas.openxmlformats.org/officeDocument/2006/relationships/image" Target="../media/image128.png"/><Relationship Id="rId2" Type="http://schemas.openxmlformats.org/officeDocument/2006/relationships/image" Target="../media/image123.jpeg"/><Relationship Id="rId1" Type="http://schemas.openxmlformats.org/officeDocument/2006/relationships/slideLayout" Target="../slideLayouts/slideLayout7.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75.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Layout" Target="../slideLayouts/slideLayout7.xml"/><Relationship Id="rId1" Type="http://schemas.openxmlformats.org/officeDocument/2006/relationships/vmlDrawing" Target="../drawings/vmlDrawing37.vml"/><Relationship Id="rId4" Type="http://schemas.openxmlformats.org/officeDocument/2006/relationships/image" Target="../media/image130.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7.xml"/><Relationship Id="rId1" Type="http://schemas.openxmlformats.org/officeDocument/2006/relationships/vmlDrawing" Target="../drawings/vmlDrawing38.vml"/><Relationship Id="rId4" Type="http://schemas.openxmlformats.org/officeDocument/2006/relationships/image" Target="../media/image131.wm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oleObject" Target="../embeddings/oleObject98.bin"/><Relationship Id="rId18" Type="http://schemas.openxmlformats.org/officeDocument/2006/relationships/image" Target="../media/image139.wmf"/><Relationship Id="rId3" Type="http://schemas.openxmlformats.org/officeDocument/2006/relationships/oleObject" Target="../embeddings/oleObject93.bin"/><Relationship Id="rId7" Type="http://schemas.openxmlformats.org/officeDocument/2006/relationships/oleObject" Target="../embeddings/oleObject95.bin"/><Relationship Id="rId12" Type="http://schemas.openxmlformats.org/officeDocument/2006/relationships/image" Target="../media/image136.wmf"/><Relationship Id="rId17" Type="http://schemas.openxmlformats.org/officeDocument/2006/relationships/oleObject" Target="../embeddings/oleObject100.bin"/><Relationship Id="rId2" Type="http://schemas.openxmlformats.org/officeDocument/2006/relationships/slideLayout" Target="../slideLayouts/slideLayout7.xml"/><Relationship Id="rId16" Type="http://schemas.openxmlformats.org/officeDocument/2006/relationships/image" Target="../media/image138.wmf"/><Relationship Id="rId1" Type="http://schemas.openxmlformats.org/officeDocument/2006/relationships/vmlDrawing" Target="../drawings/vmlDrawing39.vml"/><Relationship Id="rId6" Type="http://schemas.openxmlformats.org/officeDocument/2006/relationships/image" Target="../media/image133.wmf"/><Relationship Id="rId11" Type="http://schemas.openxmlformats.org/officeDocument/2006/relationships/oleObject" Target="../embeddings/oleObject97.bin"/><Relationship Id="rId5" Type="http://schemas.openxmlformats.org/officeDocument/2006/relationships/oleObject" Target="../embeddings/oleObject94.bin"/><Relationship Id="rId15" Type="http://schemas.openxmlformats.org/officeDocument/2006/relationships/oleObject" Target="../embeddings/oleObject99.bin"/><Relationship Id="rId10" Type="http://schemas.openxmlformats.org/officeDocument/2006/relationships/image" Target="../media/image135.wmf"/><Relationship Id="rId4" Type="http://schemas.openxmlformats.org/officeDocument/2006/relationships/image" Target="../media/image132.wmf"/><Relationship Id="rId9" Type="http://schemas.openxmlformats.org/officeDocument/2006/relationships/oleObject" Target="../embeddings/oleObject96.bin"/><Relationship Id="rId14" Type="http://schemas.openxmlformats.org/officeDocument/2006/relationships/image" Target="../media/image137.wmf"/></Relationships>
</file>

<file path=ppt/slides/_rels/slide83.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06.bin"/><Relationship Id="rId18" Type="http://schemas.openxmlformats.org/officeDocument/2006/relationships/image" Target="../media/image147.wmf"/><Relationship Id="rId3" Type="http://schemas.openxmlformats.org/officeDocument/2006/relationships/oleObject" Target="../embeddings/oleObject101.bin"/><Relationship Id="rId7" Type="http://schemas.openxmlformats.org/officeDocument/2006/relationships/oleObject" Target="../embeddings/oleObject103.bin"/><Relationship Id="rId12" Type="http://schemas.openxmlformats.org/officeDocument/2006/relationships/image" Target="../media/image144.wmf"/><Relationship Id="rId17" Type="http://schemas.openxmlformats.org/officeDocument/2006/relationships/oleObject" Target="../embeddings/oleObject108.bin"/><Relationship Id="rId2" Type="http://schemas.openxmlformats.org/officeDocument/2006/relationships/slideLayout" Target="../slideLayouts/slideLayout7.xml"/><Relationship Id="rId16" Type="http://schemas.openxmlformats.org/officeDocument/2006/relationships/image" Target="../media/image146.wmf"/><Relationship Id="rId1" Type="http://schemas.openxmlformats.org/officeDocument/2006/relationships/vmlDrawing" Target="../drawings/vmlDrawing40.vml"/><Relationship Id="rId6" Type="http://schemas.openxmlformats.org/officeDocument/2006/relationships/image" Target="../media/image141.wmf"/><Relationship Id="rId11" Type="http://schemas.openxmlformats.org/officeDocument/2006/relationships/oleObject" Target="../embeddings/oleObject105.bin"/><Relationship Id="rId5" Type="http://schemas.openxmlformats.org/officeDocument/2006/relationships/oleObject" Target="../embeddings/oleObject102.bin"/><Relationship Id="rId15" Type="http://schemas.openxmlformats.org/officeDocument/2006/relationships/oleObject" Target="../embeddings/oleObject107.bin"/><Relationship Id="rId10" Type="http://schemas.openxmlformats.org/officeDocument/2006/relationships/image" Target="../media/image143.wmf"/><Relationship Id="rId19" Type="http://schemas.openxmlformats.org/officeDocument/2006/relationships/image" Target="../media/image148.png"/><Relationship Id="rId4" Type="http://schemas.openxmlformats.org/officeDocument/2006/relationships/image" Target="../media/image140.wmf"/><Relationship Id="rId9" Type="http://schemas.openxmlformats.org/officeDocument/2006/relationships/oleObject" Target="../embeddings/oleObject104.bin"/><Relationship Id="rId14" Type="http://schemas.openxmlformats.org/officeDocument/2006/relationships/image" Target="../media/image145.wmf"/></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48.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53.jpe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91.emf"/><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oleObject" Target="../embeddings/oleObject109.bin"/><Relationship Id="rId7"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image" Target="../media/image156.wmf"/><Relationship Id="rId5" Type="http://schemas.openxmlformats.org/officeDocument/2006/relationships/oleObject" Target="../embeddings/oleObject110.bin"/><Relationship Id="rId4" Type="http://schemas.openxmlformats.org/officeDocument/2006/relationships/image" Target="../media/image155.wmf"/></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42.vml"/><Relationship Id="rId6" Type="http://schemas.openxmlformats.org/officeDocument/2006/relationships/image" Target="../media/image159.wmf"/><Relationship Id="rId5" Type="http://schemas.openxmlformats.org/officeDocument/2006/relationships/oleObject" Target="../embeddings/oleObject113.bin"/><Relationship Id="rId4" Type="http://schemas.openxmlformats.org/officeDocument/2006/relationships/image" Target="../media/image158.wmf"/></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113.wmf"/><Relationship Id="rId5" Type="http://schemas.openxmlformats.org/officeDocument/2006/relationships/oleObject" Target="../embeddings/oleObject115.bin"/><Relationship Id="rId4" Type="http://schemas.openxmlformats.org/officeDocument/2006/relationships/image" Target="../media/image112.wmf"/></Relationships>
</file>

<file path=ppt/slides/_rels/slide99.xml.rels><?xml version="1.0" encoding="UTF-8" standalone="yes"?>
<Relationships xmlns="http://schemas.openxmlformats.org/package/2006/relationships"><Relationship Id="rId2" Type="http://schemas.openxmlformats.org/officeDocument/2006/relationships/image" Target="../media/image160.wmf"/><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44.vml"/><Relationship Id="rId4" Type="http://schemas.openxmlformats.org/officeDocument/2006/relationships/image" Target="../media/image161.wmf"/></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8" Type="http://schemas.openxmlformats.org/officeDocument/2006/relationships/image" Target="../media/image164.wmf"/><Relationship Id="rId13" Type="http://schemas.openxmlformats.org/officeDocument/2006/relationships/oleObject" Target="../embeddings/oleObject122.bin"/><Relationship Id="rId3" Type="http://schemas.openxmlformats.org/officeDocument/2006/relationships/oleObject" Target="../embeddings/oleObject117.bin"/><Relationship Id="rId7" Type="http://schemas.openxmlformats.org/officeDocument/2006/relationships/oleObject" Target="../embeddings/oleObject119.bin"/><Relationship Id="rId12" Type="http://schemas.openxmlformats.org/officeDocument/2006/relationships/image" Target="../media/image166.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63.wmf"/><Relationship Id="rId11" Type="http://schemas.openxmlformats.org/officeDocument/2006/relationships/oleObject" Target="../embeddings/oleObject121.bin"/><Relationship Id="rId5" Type="http://schemas.openxmlformats.org/officeDocument/2006/relationships/oleObject" Target="../embeddings/oleObject118.bin"/><Relationship Id="rId10" Type="http://schemas.openxmlformats.org/officeDocument/2006/relationships/image" Target="../media/image165.wmf"/><Relationship Id="rId4" Type="http://schemas.openxmlformats.org/officeDocument/2006/relationships/image" Target="../media/image162.wmf"/><Relationship Id="rId9" Type="http://schemas.openxmlformats.org/officeDocument/2006/relationships/oleObject" Target="../embeddings/oleObject120.bin"/><Relationship Id="rId14" Type="http://schemas.openxmlformats.org/officeDocument/2006/relationships/image" Target="../media/image167.wmf"/></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123.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69.wmf"/><Relationship Id="rId5" Type="http://schemas.openxmlformats.org/officeDocument/2006/relationships/oleObject" Target="../embeddings/oleObject124.bin"/><Relationship Id="rId4" Type="http://schemas.openxmlformats.org/officeDocument/2006/relationships/image" Target="../media/image168.wmf"/></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171.wmf"/><Relationship Id="rId5" Type="http://schemas.openxmlformats.org/officeDocument/2006/relationships/oleObject" Target="../embeddings/oleObject126.bin"/><Relationship Id="rId4" Type="http://schemas.openxmlformats.org/officeDocument/2006/relationships/image" Target="../media/image170.wm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27.bin"/><Relationship Id="rId7" Type="http://schemas.openxmlformats.org/officeDocument/2006/relationships/image" Target="../media/image174.jpeg"/><Relationship Id="rId2" Type="http://schemas.openxmlformats.org/officeDocument/2006/relationships/slideLayout" Target="../slideLayouts/slideLayout7.xml"/><Relationship Id="rId1" Type="http://schemas.openxmlformats.org/officeDocument/2006/relationships/vmlDrawing" Target="../drawings/vmlDrawing48.vml"/><Relationship Id="rId6" Type="http://schemas.openxmlformats.org/officeDocument/2006/relationships/image" Target="../media/image173.wmf"/><Relationship Id="rId5" Type="http://schemas.openxmlformats.org/officeDocument/2006/relationships/oleObject" Target="../embeddings/oleObject128.bin"/><Relationship Id="rId4" Type="http://schemas.openxmlformats.org/officeDocument/2006/relationships/image" Target="../media/image172.wmf"/></Relationships>
</file>

<file path=ppt/slides/_rels/slide108.xml.rels><?xml version="1.0" encoding="UTF-8" standalone="yes"?>
<Relationships xmlns="http://schemas.openxmlformats.org/package/2006/relationships"><Relationship Id="rId8" Type="http://schemas.openxmlformats.org/officeDocument/2006/relationships/oleObject" Target="../embeddings/oleObject131.bin"/><Relationship Id="rId13" Type="http://schemas.openxmlformats.org/officeDocument/2006/relationships/image" Target="../media/image179.wmf"/><Relationship Id="rId3" Type="http://schemas.openxmlformats.org/officeDocument/2006/relationships/notesSlide" Target="../notesSlides/notesSlide26.xml"/><Relationship Id="rId7" Type="http://schemas.openxmlformats.org/officeDocument/2006/relationships/image" Target="../media/image176.wmf"/><Relationship Id="rId12" Type="http://schemas.openxmlformats.org/officeDocument/2006/relationships/oleObject" Target="../embeddings/oleObject133.bin"/><Relationship Id="rId2" Type="http://schemas.openxmlformats.org/officeDocument/2006/relationships/slideLayout" Target="../slideLayouts/slideLayout7.xml"/><Relationship Id="rId1" Type="http://schemas.openxmlformats.org/officeDocument/2006/relationships/vmlDrawing" Target="../drawings/vmlDrawing49.vml"/><Relationship Id="rId6" Type="http://schemas.openxmlformats.org/officeDocument/2006/relationships/oleObject" Target="../embeddings/oleObject130.bin"/><Relationship Id="rId11" Type="http://schemas.openxmlformats.org/officeDocument/2006/relationships/image" Target="../media/image178.wmf"/><Relationship Id="rId5" Type="http://schemas.openxmlformats.org/officeDocument/2006/relationships/image" Target="../media/image175.wmf"/><Relationship Id="rId15" Type="http://schemas.openxmlformats.org/officeDocument/2006/relationships/image" Target="../media/image180.wmf"/><Relationship Id="rId10" Type="http://schemas.openxmlformats.org/officeDocument/2006/relationships/oleObject" Target="../embeddings/oleObject132.bin"/><Relationship Id="rId4" Type="http://schemas.openxmlformats.org/officeDocument/2006/relationships/oleObject" Target="../embeddings/oleObject129.bin"/><Relationship Id="rId9" Type="http://schemas.openxmlformats.org/officeDocument/2006/relationships/image" Target="../media/image177.wmf"/><Relationship Id="rId14" Type="http://schemas.openxmlformats.org/officeDocument/2006/relationships/oleObject" Target="../embeddings/oleObject134.bin"/></Relationships>
</file>

<file path=ppt/slides/_rels/slide109.xml.rels><?xml version="1.0" encoding="UTF-8" standalone="yes"?>
<Relationships xmlns="http://schemas.openxmlformats.org/package/2006/relationships"><Relationship Id="rId8" Type="http://schemas.openxmlformats.org/officeDocument/2006/relationships/image" Target="../media/image183.wmf"/><Relationship Id="rId3" Type="http://schemas.openxmlformats.org/officeDocument/2006/relationships/oleObject" Target="../embeddings/oleObject135.bin"/><Relationship Id="rId7" Type="http://schemas.openxmlformats.org/officeDocument/2006/relationships/oleObject" Target="../embeddings/oleObject137.bin"/><Relationship Id="rId2" Type="http://schemas.openxmlformats.org/officeDocument/2006/relationships/slideLayout" Target="../slideLayouts/slideLayout7.xml"/><Relationship Id="rId1" Type="http://schemas.openxmlformats.org/officeDocument/2006/relationships/vmlDrawing" Target="../drawings/vmlDrawing50.vml"/><Relationship Id="rId6" Type="http://schemas.openxmlformats.org/officeDocument/2006/relationships/image" Target="../media/image182.wmf"/><Relationship Id="rId5" Type="http://schemas.openxmlformats.org/officeDocument/2006/relationships/oleObject" Target="../embeddings/oleObject136.bin"/><Relationship Id="rId4" Type="http://schemas.openxmlformats.org/officeDocument/2006/relationships/image" Target="../media/image181.wmf"/></Relationships>
</file>

<file path=ppt/slides/_rels/slide110.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85.png"/></Relationships>
</file>

<file path=ppt/slides/_rels/slide111.xml.rels><?xml version="1.0" encoding="UTF-8" standalone="yes"?>
<Relationships xmlns="http://schemas.openxmlformats.org/package/2006/relationships"><Relationship Id="rId8" Type="http://schemas.openxmlformats.org/officeDocument/2006/relationships/image" Target="../media/image188.wmf"/><Relationship Id="rId3" Type="http://schemas.openxmlformats.org/officeDocument/2006/relationships/oleObject" Target="../embeddings/oleObject138.bin"/><Relationship Id="rId7" Type="http://schemas.openxmlformats.org/officeDocument/2006/relationships/oleObject" Target="../embeddings/oleObject140.bin"/><Relationship Id="rId2" Type="http://schemas.openxmlformats.org/officeDocument/2006/relationships/slideLayout" Target="../slideLayouts/slideLayout7.xml"/><Relationship Id="rId1" Type="http://schemas.openxmlformats.org/officeDocument/2006/relationships/vmlDrawing" Target="../drawings/vmlDrawing51.vml"/><Relationship Id="rId6" Type="http://schemas.openxmlformats.org/officeDocument/2006/relationships/image" Target="../media/image187.wmf"/><Relationship Id="rId5" Type="http://schemas.openxmlformats.org/officeDocument/2006/relationships/oleObject" Target="../embeddings/oleObject139.bin"/><Relationship Id="rId4" Type="http://schemas.openxmlformats.org/officeDocument/2006/relationships/image" Target="../media/image186.wmf"/><Relationship Id="rId9" Type="http://schemas.openxmlformats.org/officeDocument/2006/relationships/image" Target="../media/image184.png"/></Relationships>
</file>

<file path=ppt/slides/_rels/slide112.xml.rels><?xml version="1.0" encoding="UTF-8" standalone="yes"?>
<Relationships xmlns="http://schemas.openxmlformats.org/package/2006/relationships"><Relationship Id="rId2" Type="http://schemas.openxmlformats.org/officeDocument/2006/relationships/image" Target="../media/image189.emf"/><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Layout" Target="../slideLayouts/slideLayout7.xml"/><Relationship Id="rId1" Type="http://schemas.openxmlformats.org/officeDocument/2006/relationships/vmlDrawing" Target="../drawings/vmlDrawing52.vml"/><Relationship Id="rId4" Type="http://schemas.openxmlformats.org/officeDocument/2006/relationships/image" Target="../media/image190.wmf"/></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144.bin"/><Relationship Id="rId3" Type="http://schemas.openxmlformats.org/officeDocument/2006/relationships/notesSlide" Target="../notesSlides/notesSlide28.xml"/><Relationship Id="rId7" Type="http://schemas.openxmlformats.org/officeDocument/2006/relationships/image" Target="../media/image192.wmf"/><Relationship Id="rId2" Type="http://schemas.openxmlformats.org/officeDocument/2006/relationships/slideLayout" Target="../slideLayouts/slideLayout7.xml"/><Relationship Id="rId1" Type="http://schemas.openxmlformats.org/officeDocument/2006/relationships/vmlDrawing" Target="../drawings/vmlDrawing53.vml"/><Relationship Id="rId6" Type="http://schemas.openxmlformats.org/officeDocument/2006/relationships/oleObject" Target="../embeddings/oleObject143.bin"/><Relationship Id="rId5" Type="http://schemas.openxmlformats.org/officeDocument/2006/relationships/image" Target="../media/image191.wmf"/><Relationship Id="rId4" Type="http://schemas.openxmlformats.org/officeDocument/2006/relationships/oleObject" Target="../embeddings/oleObject142.bin"/><Relationship Id="rId9" Type="http://schemas.openxmlformats.org/officeDocument/2006/relationships/image" Target="../media/image193.wmf"/></Relationships>
</file>

<file path=ppt/slides/_rels/slide115.xml.rels><?xml version="1.0" encoding="UTF-8" standalone="yes"?>
<Relationships xmlns="http://schemas.openxmlformats.org/package/2006/relationships"><Relationship Id="rId8" Type="http://schemas.openxmlformats.org/officeDocument/2006/relationships/image" Target="../media/image196.wmf"/><Relationship Id="rId13" Type="http://schemas.openxmlformats.org/officeDocument/2006/relationships/oleObject" Target="../embeddings/oleObject150.bin"/><Relationship Id="rId18" Type="http://schemas.openxmlformats.org/officeDocument/2006/relationships/image" Target="../media/image201.wmf"/><Relationship Id="rId3" Type="http://schemas.openxmlformats.org/officeDocument/2006/relationships/oleObject" Target="../embeddings/oleObject145.bin"/><Relationship Id="rId7" Type="http://schemas.openxmlformats.org/officeDocument/2006/relationships/oleObject" Target="../embeddings/oleObject147.bin"/><Relationship Id="rId12" Type="http://schemas.openxmlformats.org/officeDocument/2006/relationships/image" Target="../media/image198.wmf"/><Relationship Id="rId17" Type="http://schemas.openxmlformats.org/officeDocument/2006/relationships/oleObject" Target="../embeddings/oleObject152.bin"/><Relationship Id="rId2" Type="http://schemas.openxmlformats.org/officeDocument/2006/relationships/slideLayout" Target="../slideLayouts/slideLayout7.xml"/><Relationship Id="rId16" Type="http://schemas.openxmlformats.org/officeDocument/2006/relationships/image" Target="../media/image200.wmf"/><Relationship Id="rId20" Type="http://schemas.openxmlformats.org/officeDocument/2006/relationships/image" Target="../media/image202.wmf"/><Relationship Id="rId1" Type="http://schemas.openxmlformats.org/officeDocument/2006/relationships/vmlDrawing" Target="../drawings/vmlDrawing54.vml"/><Relationship Id="rId6" Type="http://schemas.openxmlformats.org/officeDocument/2006/relationships/image" Target="../media/image195.wmf"/><Relationship Id="rId11" Type="http://schemas.openxmlformats.org/officeDocument/2006/relationships/oleObject" Target="../embeddings/oleObject149.bin"/><Relationship Id="rId5" Type="http://schemas.openxmlformats.org/officeDocument/2006/relationships/oleObject" Target="../embeddings/oleObject146.bin"/><Relationship Id="rId15" Type="http://schemas.openxmlformats.org/officeDocument/2006/relationships/oleObject" Target="../embeddings/oleObject151.bin"/><Relationship Id="rId10" Type="http://schemas.openxmlformats.org/officeDocument/2006/relationships/image" Target="../media/image197.wmf"/><Relationship Id="rId19" Type="http://schemas.openxmlformats.org/officeDocument/2006/relationships/oleObject" Target="../embeddings/oleObject153.bin"/><Relationship Id="rId4" Type="http://schemas.openxmlformats.org/officeDocument/2006/relationships/image" Target="../media/image194.wmf"/><Relationship Id="rId9" Type="http://schemas.openxmlformats.org/officeDocument/2006/relationships/oleObject" Target="../embeddings/oleObject148.bin"/><Relationship Id="rId14" Type="http://schemas.openxmlformats.org/officeDocument/2006/relationships/image" Target="../media/image199.wmf"/></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154.bin"/><Relationship Id="rId2" Type="http://schemas.openxmlformats.org/officeDocument/2006/relationships/slideLayout" Target="../slideLayouts/slideLayout7.xml"/><Relationship Id="rId1" Type="http://schemas.openxmlformats.org/officeDocument/2006/relationships/vmlDrawing" Target="../drawings/vmlDrawing55.vml"/><Relationship Id="rId4" Type="http://schemas.openxmlformats.org/officeDocument/2006/relationships/image" Target="../media/image203.wm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155.bin"/><Relationship Id="rId2" Type="http://schemas.openxmlformats.org/officeDocument/2006/relationships/slideLayout" Target="../slideLayouts/slideLayout7.xml"/><Relationship Id="rId1" Type="http://schemas.openxmlformats.org/officeDocument/2006/relationships/vmlDrawing" Target="../drawings/vmlDrawing56.vml"/><Relationship Id="rId4" Type="http://schemas.openxmlformats.org/officeDocument/2006/relationships/image" Target="../media/image204.wmf"/></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206.wmf"/><Relationship Id="rId2" Type="http://schemas.openxmlformats.org/officeDocument/2006/relationships/slideLayout" Target="../slideLayouts/slideLayout7.xml"/><Relationship Id="rId1" Type="http://schemas.openxmlformats.org/officeDocument/2006/relationships/vmlDrawing" Target="../drawings/vmlDrawing57.vml"/><Relationship Id="rId6" Type="http://schemas.openxmlformats.org/officeDocument/2006/relationships/oleObject" Target="../embeddings/oleObject157.bin"/><Relationship Id="rId5" Type="http://schemas.openxmlformats.org/officeDocument/2006/relationships/image" Target="../media/image205.wmf"/><Relationship Id="rId4" Type="http://schemas.openxmlformats.org/officeDocument/2006/relationships/oleObject" Target="../embeddings/oleObject156.bin"/></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slideLayout" Target="../slideLayouts/slideLayout7.xml"/><Relationship Id="rId1" Type="http://schemas.openxmlformats.org/officeDocument/2006/relationships/vmlDrawing" Target="../drawings/vmlDrawing58.vml"/><Relationship Id="rId6" Type="http://schemas.openxmlformats.org/officeDocument/2006/relationships/image" Target="../media/image208.wmf"/><Relationship Id="rId5" Type="http://schemas.openxmlformats.org/officeDocument/2006/relationships/oleObject" Target="../embeddings/oleObject159.bin"/><Relationship Id="rId4" Type="http://schemas.openxmlformats.org/officeDocument/2006/relationships/image" Target="../media/image207.wmf"/></Relationships>
</file>

<file path=ppt/slides/_rels/slide124.xml.rels><?xml version="1.0" encoding="UTF-8" standalone="yes"?>
<Relationships xmlns="http://schemas.openxmlformats.org/package/2006/relationships"><Relationship Id="rId8" Type="http://schemas.openxmlformats.org/officeDocument/2006/relationships/oleObject" Target="../embeddings/oleObject162.bin"/><Relationship Id="rId3" Type="http://schemas.openxmlformats.org/officeDocument/2006/relationships/notesSlide" Target="../notesSlides/notesSlide30.xml"/><Relationship Id="rId7" Type="http://schemas.openxmlformats.org/officeDocument/2006/relationships/image" Target="../media/image210.wmf"/><Relationship Id="rId2" Type="http://schemas.openxmlformats.org/officeDocument/2006/relationships/slideLayout" Target="../slideLayouts/slideLayout7.xml"/><Relationship Id="rId1" Type="http://schemas.openxmlformats.org/officeDocument/2006/relationships/vmlDrawing" Target="../drawings/vmlDrawing59.vml"/><Relationship Id="rId6" Type="http://schemas.openxmlformats.org/officeDocument/2006/relationships/oleObject" Target="../embeddings/oleObject161.bin"/><Relationship Id="rId5" Type="http://schemas.openxmlformats.org/officeDocument/2006/relationships/image" Target="../media/image209.wmf"/><Relationship Id="rId4" Type="http://schemas.openxmlformats.org/officeDocument/2006/relationships/oleObject" Target="../embeddings/oleObject160.bin"/><Relationship Id="rId9" Type="http://schemas.openxmlformats.org/officeDocument/2006/relationships/image" Target="../media/image211.wmf"/></Relationships>
</file>

<file path=ppt/slides/_rels/slide125.xml.rels><?xml version="1.0" encoding="UTF-8" standalone="yes"?>
<Relationships xmlns="http://schemas.openxmlformats.org/package/2006/relationships"><Relationship Id="rId8" Type="http://schemas.openxmlformats.org/officeDocument/2006/relationships/image" Target="../media/image214.wmf"/><Relationship Id="rId3" Type="http://schemas.openxmlformats.org/officeDocument/2006/relationships/oleObject" Target="../embeddings/oleObject163.bin"/><Relationship Id="rId7" Type="http://schemas.openxmlformats.org/officeDocument/2006/relationships/oleObject" Target="../embeddings/oleObject165.bin"/><Relationship Id="rId2" Type="http://schemas.openxmlformats.org/officeDocument/2006/relationships/slideLayout" Target="../slideLayouts/slideLayout7.xml"/><Relationship Id="rId1" Type="http://schemas.openxmlformats.org/officeDocument/2006/relationships/vmlDrawing" Target="../drawings/vmlDrawing60.vml"/><Relationship Id="rId6" Type="http://schemas.openxmlformats.org/officeDocument/2006/relationships/image" Target="../media/image213.wmf"/><Relationship Id="rId5" Type="http://schemas.openxmlformats.org/officeDocument/2006/relationships/oleObject" Target="../embeddings/oleObject164.bin"/><Relationship Id="rId10" Type="http://schemas.openxmlformats.org/officeDocument/2006/relationships/image" Target="../media/image215.wmf"/><Relationship Id="rId4" Type="http://schemas.openxmlformats.org/officeDocument/2006/relationships/image" Target="../media/image212.wmf"/><Relationship Id="rId9" Type="http://schemas.openxmlformats.org/officeDocument/2006/relationships/oleObject" Target="../embeddings/oleObject166.bin"/></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216.jpe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8" Type="http://schemas.openxmlformats.org/officeDocument/2006/relationships/oleObject" Target="../embeddings/oleObject169.bin"/><Relationship Id="rId3" Type="http://schemas.openxmlformats.org/officeDocument/2006/relationships/notesSlide" Target="../notesSlides/notesSlide31.xml"/><Relationship Id="rId7" Type="http://schemas.openxmlformats.org/officeDocument/2006/relationships/image" Target="../media/image218.wmf"/><Relationship Id="rId2" Type="http://schemas.openxmlformats.org/officeDocument/2006/relationships/slideLayout" Target="../slideLayouts/slideLayout7.xml"/><Relationship Id="rId1" Type="http://schemas.openxmlformats.org/officeDocument/2006/relationships/vmlDrawing" Target="../drawings/vmlDrawing61.vml"/><Relationship Id="rId6" Type="http://schemas.openxmlformats.org/officeDocument/2006/relationships/oleObject" Target="../embeddings/oleObject168.bin"/><Relationship Id="rId5" Type="http://schemas.openxmlformats.org/officeDocument/2006/relationships/image" Target="../media/image217.wmf"/><Relationship Id="rId4" Type="http://schemas.openxmlformats.org/officeDocument/2006/relationships/oleObject" Target="../embeddings/oleObject167.bin"/><Relationship Id="rId9" Type="http://schemas.openxmlformats.org/officeDocument/2006/relationships/image" Target="../media/image219.wm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11970C0-9D28-4C46-A936-A6A9E7FBD63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a:t>
            </a:fld>
            <a:endParaRPr lang="en-US" altLang="zh-CN" sz="1400" dirty="0">
              <a:latin typeface="Times New Roman" panose="02020603050405020304" pitchFamily="18" charset="0"/>
              <a:ea typeface="宋体" panose="02010600030101010101" pitchFamily="2" charset="-122"/>
            </a:endParaRPr>
          </a:p>
        </p:txBody>
      </p:sp>
      <p:sp>
        <p:nvSpPr>
          <p:cNvPr id="15363" name="Rectangle 17"/>
          <p:cNvSpPr>
            <a:spLocks noChangeArrowheads="1"/>
          </p:cNvSpPr>
          <p:nvPr/>
        </p:nvSpPr>
        <p:spPr bwMode="auto">
          <a:xfrm>
            <a:off x="514350" y="1679575"/>
            <a:ext cx="8020050" cy="191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en-US" altLang="zh-CN" sz="4400" b="1" dirty="0">
                <a:latin typeface="Times New Roman" panose="02020603050405020304" pitchFamily="18" charset="0"/>
                <a:ea typeface="楷体_GB2312" pitchFamily="49" charset="-122"/>
              </a:rPr>
              <a:t>§</a:t>
            </a:r>
            <a:r>
              <a:rPr kumimoji="1" lang="zh-CN" altLang="zh-CN" sz="4400" b="1" dirty="0">
                <a:latin typeface="Times New Roman" panose="02020603050405020304" pitchFamily="18" charset="0"/>
                <a:ea typeface="楷体_GB2312" pitchFamily="49" charset="-122"/>
              </a:rPr>
              <a:t> </a:t>
            </a:r>
            <a:r>
              <a:rPr kumimoji="1" lang="en-US" altLang="zh-CN" sz="4400" b="1" dirty="0">
                <a:latin typeface="Times New Roman" panose="02020603050405020304" pitchFamily="18" charset="0"/>
                <a:ea typeface="楷体_GB2312" pitchFamily="49" charset="-122"/>
              </a:rPr>
              <a:t>4</a:t>
            </a:r>
            <a:r>
              <a:rPr kumimoji="1" lang="zh-CN" altLang="zh-CN" sz="4400" dirty="0">
                <a:latin typeface="Times New Roman" panose="02020603050405020304" pitchFamily="18" charset="0"/>
                <a:ea typeface="楷体_GB2312" pitchFamily="49" charset="-122"/>
              </a:rPr>
              <a:t>   </a:t>
            </a:r>
            <a:r>
              <a:rPr kumimoji="1" lang="zh-CN" altLang="zh-CN" sz="4400" dirty="0">
                <a:solidFill>
                  <a:srgbClr val="FF0000"/>
                </a:solidFill>
                <a:latin typeface="Times New Roman" panose="02020603050405020304" pitchFamily="18" charset="0"/>
                <a:ea typeface="楷体_GB2312" pitchFamily="49" charset="-122"/>
              </a:rPr>
              <a:t>自由基</a:t>
            </a:r>
            <a:r>
              <a:rPr kumimoji="1" lang="zh-CN" altLang="zh-CN" sz="4400" dirty="0">
                <a:latin typeface="Times New Roman" panose="02020603050405020304" pitchFamily="18" charset="0"/>
                <a:ea typeface="楷体_GB2312" pitchFamily="49" charset="-122"/>
              </a:rPr>
              <a:t>共聚合</a:t>
            </a:r>
            <a:endParaRPr kumimoji="1" lang="zh-CN" altLang="en-US" sz="4400" dirty="0">
              <a:latin typeface="Times New Roman" panose="02020603050405020304" pitchFamily="18" charset="0"/>
              <a:ea typeface="楷体_GB2312" pitchFamily="49" charset="-122"/>
            </a:endParaRPr>
          </a:p>
          <a:p>
            <a:pPr algn="ctr" eaLnBrk="1" hangingPunct="1">
              <a:lnSpc>
                <a:spcPct val="100000"/>
              </a:lnSpc>
              <a:spcBef>
                <a:spcPct val="20000"/>
              </a:spcBef>
              <a:spcAft>
                <a:spcPct val="50000"/>
              </a:spcAft>
              <a:buFontTx/>
              <a:buNone/>
            </a:pPr>
            <a:r>
              <a:rPr kumimoji="1" lang="en-US" altLang="zh-CN" sz="4400" dirty="0">
                <a:latin typeface="Times New Roman" panose="02020603050405020304" pitchFamily="18" charset="0"/>
                <a:ea typeface="楷体_GB2312" pitchFamily="49" charset="-122"/>
              </a:rPr>
              <a:t>Free Radical </a:t>
            </a:r>
            <a:r>
              <a:rPr kumimoji="1" lang="en-US" altLang="zh-CN" sz="4400" b="1" i="1" dirty="0">
                <a:solidFill>
                  <a:srgbClr val="FF0000"/>
                </a:solidFill>
                <a:latin typeface="Times New Roman" panose="02020603050405020304" pitchFamily="18" charset="0"/>
                <a:ea typeface="楷体_GB2312" pitchFamily="49" charset="-122"/>
              </a:rPr>
              <a:t>Co</a:t>
            </a:r>
            <a:r>
              <a:rPr kumimoji="1" lang="en-US" altLang="zh-CN" sz="4400" dirty="0">
                <a:latin typeface="Times New Roman" panose="02020603050405020304" pitchFamily="18" charset="0"/>
                <a:ea typeface="楷体_GB2312" pitchFamily="49" charset="-122"/>
              </a:rPr>
              <a:t>polymerization</a:t>
            </a:r>
            <a:endParaRPr kumimoji="1" lang="zh-CN" altLang="en-US" sz="4400" dirty="0">
              <a:latin typeface="Times New Roman" panose="02020603050405020304" pitchFamily="18" charset="0"/>
              <a:ea typeface="楷体_GB2312" pitchFamily="49" charset="-122"/>
            </a:endParaRPr>
          </a:p>
        </p:txBody>
      </p:sp>
      <p:sp>
        <p:nvSpPr>
          <p:cNvPr id="3" name="Text Box 21">
            <a:extLst>
              <a:ext uri="{FF2B5EF4-FFF2-40B4-BE49-F238E27FC236}">
                <a16:creationId xmlns:a16="http://schemas.microsoft.com/office/drawing/2014/main" id="{B9627BD5-405F-4FA2-820F-5C8AF0C46609}"/>
              </a:ext>
            </a:extLst>
          </p:cNvPr>
          <p:cNvSpPr txBox="1">
            <a:spLocks noChangeArrowheads="1"/>
          </p:cNvSpPr>
          <p:nvPr/>
        </p:nvSpPr>
        <p:spPr bwMode="auto">
          <a:xfrm>
            <a:off x="1908175" y="393700"/>
            <a:ext cx="54102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800000"/>
              </a:buClr>
              <a:buSzPct val="90000"/>
              <a:buFont typeface="Wingdings" panose="05000000000000000000" pitchFamily="2" charset="2"/>
              <a:buChar char="v"/>
              <a:defRPr kumimoji="1" sz="2800">
                <a:solidFill>
                  <a:schemeClr val="tx1"/>
                </a:solidFill>
                <a:latin typeface="Times New Roman" panose="02020603050405020304" pitchFamily="18" charset="0"/>
                <a:ea typeface="楷体_GB2312" pitchFamily="49" charset="-122"/>
              </a:defRPr>
            </a:lvl1pPr>
            <a:lvl2pPr marL="742950" indent="-28575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楷体_GB2312" pitchFamily="49" charset="-122"/>
              </a:defRPr>
            </a:lvl2pPr>
            <a:lvl3pPr marL="1143000" indent="-22860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ct val="50000"/>
              </a:spcBef>
              <a:spcAft>
                <a:spcPts val="0"/>
              </a:spcAft>
              <a:buClrTx/>
              <a:buSzTx/>
              <a:buFontTx/>
              <a:buNone/>
              <a:defRPr/>
            </a:pPr>
            <a:r>
              <a:rPr kumimoji="0" lang="zh-CN" altLang="en-US" sz="40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高分子化学</a:t>
            </a:r>
          </a:p>
        </p:txBody>
      </p:sp>
      <p:cxnSp>
        <p:nvCxnSpPr>
          <p:cNvPr id="4" name="直接连接符 3">
            <a:extLst>
              <a:ext uri="{FF2B5EF4-FFF2-40B4-BE49-F238E27FC236}">
                <a16:creationId xmlns:a16="http://schemas.microsoft.com/office/drawing/2014/main" id="{F2F26D44-786B-440C-8191-D7BD6D2A12B6}"/>
              </a:ext>
            </a:extLst>
          </p:cNvPr>
          <p:cNvCxnSpPr/>
          <p:nvPr/>
        </p:nvCxnSpPr>
        <p:spPr>
          <a:xfrm>
            <a:off x="131763" y="1268413"/>
            <a:ext cx="8783637" cy="0"/>
          </a:xfrm>
          <a:prstGeom prst="line">
            <a:avLst/>
          </a:prstGeom>
          <a:ln w="28575">
            <a:solidFill>
              <a:srgbClr val="90109E"/>
            </a:solidFill>
          </a:ln>
        </p:spPr>
        <p:style>
          <a:lnRef idx="1">
            <a:schemeClr val="accent2"/>
          </a:lnRef>
          <a:fillRef idx="0">
            <a:schemeClr val="accent2"/>
          </a:fillRef>
          <a:effectRef idx="0">
            <a:schemeClr val="accent2"/>
          </a:effectRef>
          <a:fontRef idx="minor">
            <a:schemeClr val="tx1"/>
          </a:fontRef>
        </p:style>
      </p:cxnSp>
      <p:sp>
        <p:nvSpPr>
          <p:cNvPr id="15367" name="Text Box 21"/>
          <p:cNvSpPr txBox="1">
            <a:spLocks noChangeArrowheads="1"/>
          </p:cNvSpPr>
          <p:nvPr/>
        </p:nvSpPr>
        <p:spPr bwMode="auto">
          <a:xfrm>
            <a:off x="3059832" y="5157192"/>
            <a:ext cx="5410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r" eaLnBrk="1" hangingPunct="1">
              <a:lnSpc>
                <a:spcPct val="100000"/>
              </a:lnSpc>
              <a:spcBef>
                <a:spcPts val="600"/>
              </a:spcBef>
              <a:buFontTx/>
              <a:buNone/>
            </a:pPr>
            <a:r>
              <a:rPr lang="en-US" altLang="zh-CN" b="1" dirty="0">
                <a:latin typeface="楷体" panose="02010609060101010101" pitchFamily="49" charset="-122"/>
                <a:ea typeface="楷体" panose="02010609060101010101" pitchFamily="49" charset="-122"/>
                <a:cs typeface="Arial" panose="020B0604020202020204" pitchFamily="34" charset="0"/>
              </a:rPr>
              <a:t>2024</a:t>
            </a:r>
            <a:r>
              <a:rPr lang="zh-CN" altLang="en-US" b="1" dirty="0">
                <a:latin typeface="楷体" panose="02010609060101010101" pitchFamily="49" charset="-122"/>
                <a:ea typeface="楷体" panose="02010609060101010101" pitchFamily="49" charset="-122"/>
                <a:cs typeface="Arial" panose="020B0604020202020204" pitchFamily="34" charset="0"/>
              </a:rPr>
              <a:t>年</a:t>
            </a:r>
            <a:r>
              <a:rPr lang="en-US" altLang="zh-CN" b="1" dirty="0">
                <a:latin typeface="楷体" panose="02010609060101010101" pitchFamily="49" charset="-122"/>
                <a:ea typeface="楷体" panose="02010609060101010101" pitchFamily="49" charset="-122"/>
                <a:cs typeface="Arial" panose="020B0604020202020204" pitchFamily="34" charset="0"/>
              </a:rPr>
              <a:t>11</a:t>
            </a:r>
            <a:r>
              <a:rPr lang="zh-CN" altLang="en-US" b="1" dirty="0">
                <a:latin typeface="楷体" panose="02010609060101010101" pitchFamily="49" charset="-122"/>
                <a:ea typeface="楷体" panose="02010609060101010101" pitchFamily="49" charset="-122"/>
                <a:cs typeface="Arial" panose="020B0604020202020204" pitchFamily="34" charset="0"/>
              </a:rPr>
              <a:t>月</a:t>
            </a:r>
            <a:r>
              <a:rPr lang="en-US" altLang="zh-CN" b="1" dirty="0">
                <a:latin typeface="楷体" panose="02010609060101010101" pitchFamily="49" charset="-122"/>
                <a:ea typeface="楷体" panose="02010609060101010101" pitchFamily="49" charset="-122"/>
                <a:cs typeface="Arial" panose="020B0604020202020204" pitchFamily="34" charset="0"/>
              </a:rPr>
              <a:t>6</a:t>
            </a:r>
            <a:r>
              <a:rPr lang="zh-CN" altLang="en-US" b="1" dirty="0">
                <a:latin typeface="楷体" panose="02010609060101010101" pitchFamily="49" charset="-122"/>
                <a:ea typeface="楷体" panose="02010609060101010101" pitchFamily="49" charset="-122"/>
                <a:cs typeface="Arial" panose="020B0604020202020204" pitchFamily="34" charset="0"/>
              </a:rPr>
              <a:t>日</a:t>
            </a:r>
            <a:endParaRPr lang="zh-CN" altLang="en-US" dirty="0">
              <a:latin typeface="Times New Roman" panose="02020603050405020304" pitchFamily="18" charset="0"/>
              <a:ea typeface="隶书" panose="02010509060101010101" pitchFamily="49" charset="-122"/>
              <a:cs typeface="Times New Roman" panose="02020603050405020304" pitchFamily="18" charset="0"/>
            </a:endParaRPr>
          </a:p>
        </p:txBody>
      </p:sp>
      <p:pic>
        <p:nvPicPr>
          <p:cNvPr id="2" name="图片 1"/>
          <p:cNvPicPr>
            <a:picLocks noChangeAspect="1"/>
          </p:cNvPicPr>
          <p:nvPr/>
        </p:nvPicPr>
        <p:blipFill>
          <a:blip r:embed="rId3"/>
          <a:stretch>
            <a:fillRect/>
          </a:stretch>
        </p:blipFill>
        <p:spPr>
          <a:xfrm>
            <a:off x="827584" y="4002086"/>
            <a:ext cx="3888432" cy="1944216"/>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标题 1"/>
          <p:cNvSpPr>
            <a:spLocks noGrp="1"/>
          </p:cNvSpPr>
          <p:nvPr>
            <p:ph type="title"/>
          </p:nvPr>
        </p:nvSpPr>
        <p:spPr>
          <a:xfrm>
            <a:off x="2411413" y="260350"/>
            <a:ext cx="4248150" cy="792163"/>
          </a:xfrm>
        </p:spPr>
        <p:txBody>
          <a:bodyPr/>
          <a:lstStyle/>
          <a:p>
            <a:pPr eaLnBrk="1" hangingPunct="1"/>
            <a:r>
              <a:rPr lang="zh-CN" altLang="en-US" sz="3600" b="1">
                <a:latin typeface="楷体" panose="02010609060101010101" pitchFamily="49" charset="-122"/>
                <a:ea typeface="楷体" panose="02010609060101010101" pitchFamily="49" charset="-122"/>
              </a:rPr>
              <a:t>本章提纲和关键词</a:t>
            </a:r>
          </a:p>
        </p:txBody>
      </p:sp>
      <p:sp>
        <p:nvSpPr>
          <p:cNvPr id="17411" name="内容占位符 2"/>
          <p:cNvSpPr>
            <a:spLocks noGrp="1"/>
          </p:cNvSpPr>
          <p:nvPr>
            <p:ph sz="half" idx="1"/>
          </p:nvPr>
        </p:nvSpPr>
        <p:spPr>
          <a:xfrm>
            <a:off x="1657350" y="1255713"/>
            <a:ext cx="5956300" cy="4897437"/>
          </a:xfrm>
        </p:spPr>
        <p:txBody>
          <a:bodyPr/>
          <a:lstStyle/>
          <a:p>
            <a:pPr marL="0" indent="0" eaLnBrk="1" hangingPunct="1">
              <a:buFont typeface="Arial" panose="020B0604020202020204" pitchFamily="34" charset="0"/>
              <a:buNone/>
            </a:pPr>
            <a:r>
              <a:rPr lang="zh-CN" altLang="en-US">
                <a:latin typeface="Arial" panose="020B0604020202020204" pitchFamily="34" charset="0"/>
                <a:ea typeface="楷体" panose="02010609060101010101" pitchFamily="49" charset="-122"/>
                <a:cs typeface="Arial" panose="020B0604020202020204" pitchFamily="34" charset="0"/>
              </a:rPr>
              <a:t>4.1   共聚的概念</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kumimoji="1" lang="zh-CN" altLang="en-US">
                <a:latin typeface="Arial" panose="020B0604020202020204" pitchFamily="34" charset="0"/>
                <a:ea typeface="楷体" panose="02010609060101010101" pitchFamily="49" charset="-122"/>
                <a:cs typeface="Arial" panose="020B0604020202020204" pitchFamily="34" charset="0"/>
              </a:rPr>
              <a:t>4.2   二元共聚物组成</a:t>
            </a:r>
            <a:endParaRPr kumimoji="1"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4.3   </a:t>
            </a:r>
            <a:r>
              <a:rPr lang="zh-CN" altLang="en-US">
                <a:latin typeface="Arial" panose="020B0604020202020204" pitchFamily="34" charset="0"/>
                <a:ea typeface="楷体" panose="02010609060101010101" pitchFamily="49" charset="-122"/>
                <a:cs typeface="Arial" panose="020B0604020202020204" pitchFamily="34" charset="0"/>
              </a:rPr>
              <a:t>共聚物组成曲线</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4.4   </a:t>
            </a:r>
            <a:r>
              <a:rPr lang="zh-CN" altLang="en-US">
                <a:latin typeface="Arial" panose="020B0604020202020204" pitchFamily="34" charset="0"/>
                <a:ea typeface="楷体" panose="02010609060101010101" pitchFamily="49" charset="-122"/>
                <a:cs typeface="Arial" panose="020B0604020202020204" pitchFamily="34" charset="0"/>
              </a:rPr>
              <a:t>共聚物组成分布控制</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4.5</a:t>
            </a:r>
            <a:r>
              <a:rPr lang="zh-CN" altLang="en-US">
                <a:latin typeface="Arial" panose="020B0604020202020204" pitchFamily="34" charset="0"/>
                <a:ea typeface="楷体" panose="02010609060101010101" pitchFamily="49" charset="-122"/>
                <a:cs typeface="Arial" panose="020B0604020202020204" pitchFamily="34" charset="0"/>
              </a:rPr>
              <a:t>   共聚物微结构和链段分布</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4.6</a:t>
            </a:r>
            <a:r>
              <a:rPr lang="zh-CN" altLang="en-US">
                <a:latin typeface="Arial" panose="020B0604020202020204" pitchFamily="34" charset="0"/>
                <a:ea typeface="楷体" panose="02010609060101010101" pitchFamily="49" charset="-122"/>
                <a:cs typeface="Arial" panose="020B0604020202020204" pitchFamily="34" charset="0"/>
              </a:rPr>
              <a:t>   多元共聚</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4.7</a:t>
            </a:r>
            <a:r>
              <a:rPr lang="zh-CN" altLang="en-US">
                <a:latin typeface="Arial" panose="020B0604020202020204" pitchFamily="34" charset="0"/>
                <a:ea typeface="楷体" panose="02010609060101010101" pitchFamily="49" charset="-122"/>
                <a:cs typeface="Arial" panose="020B0604020202020204" pitchFamily="34" charset="0"/>
              </a:rPr>
              <a:t>   竞聚率</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4.8   </a:t>
            </a:r>
            <a:r>
              <a:rPr lang="zh-CN" altLang="en-US">
                <a:latin typeface="Arial" panose="020B0604020202020204" pitchFamily="34" charset="0"/>
                <a:ea typeface="楷体" panose="02010609060101010101" pitchFamily="49" charset="-122"/>
                <a:cs typeface="Arial" panose="020B0604020202020204" pitchFamily="34" charset="0"/>
              </a:rPr>
              <a:t>单体和自由基的共聚活性</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4.9</a:t>
            </a:r>
            <a:r>
              <a:rPr lang="zh-CN" altLang="en-US">
                <a:latin typeface="Arial" panose="020B0604020202020204" pitchFamily="34" charset="0"/>
                <a:ea typeface="楷体" panose="02010609060101010101" pitchFamily="49" charset="-122"/>
                <a:cs typeface="Arial" panose="020B0604020202020204" pitchFamily="34" charset="0"/>
              </a:rPr>
              <a:t>   </a:t>
            </a:r>
            <a:r>
              <a:rPr lang="en-US" altLang="zh-CN">
                <a:latin typeface="Arial" panose="020B0604020202020204" pitchFamily="34" charset="0"/>
                <a:ea typeface="楷体" panose="02010609060101010101" pitchFamily="49" charset="-122"/>
                <a:cs typeface="Arial" panose="020B0604020202020204" pitchFamily="34" charset="0"/>
              </a:rPr>
              <a:t>Q-e </a:t>
            </a:r>
            <a:r>
              <a:rPr lang="zh-CN" altLang="en-US">
                <a:latin typeface="Arial" panose="020B0604020202020204" pitchFamily="34" charset="0"/>
                <a:ea typeface="楷体" panose="02010609060101010101" pitchFamily="49" charset="-122"/>
                <a:cs typeface="Arial" panose="020B0604020202020204" pitchFamily="34" charset="0"/>
              </a:rPr>
              <a:t>概念</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4.10 </a:t>
            </a:r>
            <a:r>
              <a:rPr lang="zh-CN" altLang="en-US">
                <a:latin typeface="Arial" panose="020B0604020202020204" pitchFamily="34" charset="0"/>
                <a:ea typeface="楷体" panose="02010609060101010101" pitchFamily="49" charset="-122"/>
                <a:cs typeface="Arial" panose="020B0604020202020204" pitchFamily="34" charset="0"/>
              </a:rPr>
              <a:t>共聚速率</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endPar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endParaRPr lang="zh-CN" altLang="en-US"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6" name="灯片编号占位符 5">
            <a:extLst>
              <a:ext uri="{FF2B5EF4-FFF2-40B4-BE49-F238E27FC236}">
                <a16:creationId xmlns:a16="http://schemas.microsoft.com/office/drawing/2014/main" id="{36C8991A-81F2-4822-8DB6-353A72629A7D}"/>
              </a:ext>
            </a:extLst>
          </p:cNvPr>
          <p:cNvSpPr>
            <a:spLocks noGrp="1"/>
          </p:cNvSpPr>
          <p:nvPr>
            <p:ph type="sldNum" sz="quarter" idx="12"/>
          </p:nvPr>
        </p:nvSpPr>
        <p:spPr/>
        <p:txBody>
          <a:bodyPr/>
          <a:lstStyle/>
          <a:p>
            <a:pPr>
              <a:defRPr/>
            </a:pPr>
            <a:fld id="{F3BAFA7C-FE27-45EB-B376-969686D9ABA3}" type="slidenum">
              <a:rPr lang="zh-CN" altLang="en-US"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CA2168C-B79A-44D9-A629-F8E670E4F7C2}"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3</a:t>
            </a:fld>
            <a:endParaRPr lang="en-US" altLang="zh-CN" sz="1400">
              <a:latin typeface="Times New Roman" panose="02020603050405020304" pitchFamily="18" charset="0"/>
              <a:ea typeface="宋体" panose="02010600030101010101" pitchFamily="2" charset="-122"/>
            </a:endParaRPr>
          </a:p>
        </p:txBody>
      </p:sp>
      <p:pic>
        <p:nvPicPr>
          <p:cNvPr id="18435"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3138" y="2698750"/>
            <a:ext cx="4183062" cy="9398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436" name="Rectangle 4"/>
          <p:cNvSpPr>
            <a:spLocks noChangeArrowheads="1"/>
          </p:cNvSpPr>
          <p:nvPr/>
        </p:nvSpPr>
        <p:spPr bwMode="auto">
          <a:xfrm>
            <a:off x="628650" y="4292600"/>
            <a:ext cx="7842250" cy="574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b="1" dirty="0">
                <a:solidFill>
                  <a:srgbClr val="FF0000"/>
                </a:solidFill>
                <a:latin typeface="Arial" panose="020B0604020202020204" pitchFamily="34" charset="0"/>
                <a:ea typeface="楷体" panose="02010609060101010101" pitchFamily="49" charset="-122"/>
                <a:cs typeface="Arial" panose="020B0604020202020204" pitchFamily="34" charset="0"/>
              </a:rPr>
              <a:t>均聚物</a:t>
            </a:r>
            <a:r>
              <a:rPr kumimoji="1" lang="en-US" altLang="zh-CN" sz="2400" b="1" dirty="0">
                <a:solidFill>
                  <a:srgbClr val="FF0000"/>
                </a:solidFill>
                <a:latin typeface="Arial" panose="020B0604020202020204" pitchFamily="34" charset="0"/>
                <a:ea typeface="楷体" panose="02010609060101010101" pitchFamily="49" charset="-122"/>
                <a:cs typeface="Arial" panose="020B0604020202020204" pitchFamily="34" charset="0"/>
              </a:rPr>
              <a:t>(Homo-polymer)</a:t>
            </a:r>
            <a:r>
              <a:rPr kumimoji="1" lang="zh-CN" altLang="en-US" sz="2400" b="1" dirty="0">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zh-CN" altLang="en-US" sz="2400" b="1" dirty="0">
                <a:latin typeface="楷体" panose="02010609060101010101" pitchFamily="49" charset="-122"/>
                <a:ea typeface="楷体" panose="02010609060101010101" pitchFamily="49" charset="-122"/>
                <a:cs typeface="Arial" panose="020B0604020202020204" pitchFamily="34" charset="0"/>
              </a:rPr>
              <a:t>均聚所致，一种</a:t>
            </a:r>
            <a:r>
              <a:rPr kumimoji="1" lang="zh-CN" altLang="en-US" sz="2400" b="1" dirty="0">
                <a:solidFill>
                  <a:srgbClr val="FF0000"/>
                </a:solidFill>
                <a:latin typeface="楷体" panose="02010609060101010101" pitchFamily="49" charset="-122"/>
                <a:ea typeface="楷体" panose="02010609060101010101" pitchFamily="49" charset="-122"/>
                <a:cs typeface="Arial" panose="020B0604020202020204" pitchFamily="34" charset="0"/>
              </a:rPr>
              <a:t>重复结构</a:t>
            </a:r>
            <a:r>
              <a:rPr kumimoji="1" lang="zh-CN" altLang="en-US" sz="2400" b="1" dirty="0">
                <a:latin typeface="楷体" panose="02010609060101010101" pitchFamily="49" charset="-122"/>
                <a:ea typeface="楷体" panose="02010609060101010101" pitchFamily="49" charset="-122"/>
                <a:cs typeface="Arial" panose="020B0604020202020204" pitchFamily="34" charset="0"/>
              </a:rPr>
              <a:t>单元</a:t>
            </a:r>
          </a:p>
        </p:txBody>
      </p:sp>
      <p:sp>
        <p:nvSpPr>
          <p:cNvPr id="18437" name="Rectangle 5"/>
          <p:cNvSpPr>
            <a:spLocks noChangeArrowheads="1"/>
          </p:cNvSpPr>
          <p:nvPr/>
        </p:nvSpPr>
        <p:spPr bwMode="auto">
          <a:xfrm>
            <a:off x="628650" y="1468438"/>
            <a:ext cx="7975600" cy="646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 typeface="Wingdings" panose="05000000000000000000" pitchFamily="2" charset="2"/>
              <a:buNone/>
            </a:pPr>
            <a:r>
              <a:rPr kumimoji="1" lang="zh-CN" altLang="en-US" sz="2400" b="1">
                <a:solidFill>
                  <a:srgbClr val="FF0000"/>
                </a:solidFill>
                <a:latin typeface="楷体" panose="02010609060101010101" pitchFamily="49" charset="-122"/>
                <a:ea typeface="楷体" panose="02010609060101010101" pitchFamily="49" charset="-122"/>
              </a:rPr>
              <a:t>均聚合</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(Homo-polymerization)：</a:t>
            </a:r>
            <a:r>
              <a:rPr kumimoji="1" lang="zh-CN" altLang="en-US" sz="2400" b="1">
                <a:latin typeface="楷体" panose="02010609060101010101" pitchFamily="49" charset="-122"/>
                <a:ea typeface="楷体" panose="02010609060101010101" pitchFamily="49" charset="-122"/>
              </a:rPr>
              <a:t>一种单体参加聚合反应</a:t>
            </a:r>
            <a:endParaRPr kumimoji="1" lang="en-US" altLang="zh-CN" sz="2400" b="1">
              <a:solidFill>
                <a:srgbClr val="A50021"/>
              </a:solidFill>
              <a:latin typeface="楷体" panose="02010609060101010101" pitchFamily="49" charset="-122"/>
              <a:ea typeface="楷体" panose="02010609060101010101" pitchFamily="49" charset="-122"/>
            </a:endParaRPr>
          </a:p>
        </p:txBody>
      </p:sp>
      <p:sp>
        <p:nvSpPr>
          <p:cNvPr id="18438" name="Text Box 9"/>
          <p:cNvSpPr txBox="1">
            <a:spLocks noChangeArrowheads="1"/>
          </p:cNvSpPr>
          <p:nvPr/>
        </p:nvSpPr>
        <p:spPr bwMode="auto">
          <a:xfrm>
            <a:off x="282575" y="287338"/>
            <a:ext cx="48069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b="1">
                <a:latin typeface="楷体" panose="02010609060101010101" pitchFamily="49" charset="-122"/>
                <a:ea typeface="楷体" panose="02010609060101010101" pitchFamily="49" charset="-122"/>
              </a:rPr>
              <a:t>§</a:t>
            </a:r>
            <a:r>
              <a:rPr lang="zh-CN" altLang="en-US" sz="2400" b="1">
                <a:latin typeface="楷体" panose="02010609060101010101" pitchFamily="49" charset="-122"/>
                <a:ea typeface="楷体" panose="02010609060101010101" pitchFamily="49" charset="-122"/>
              </a:rPr>
              <a:t>4.1 共聚合的概念</a:t>
            </a:r>
            <a:endParaRPr lang="en-US" altLang="zh-CN" sz="2400" b="1">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1AC7CDF-B7F2-4AB0-8DC4-C4C831BE8966}"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a:t>
            </a:fld>
            <a:endParaRPr lang="en-US" altLang="zh-CN" sz="1400">
              <a:latin typeface="Times New Roman" panose="02020603050405020304" pitchFamily="18" charset="0"/>
              <a:ea typeface="宋体" panose="02010600030101010101" pitchFamily="2" charset="-122"/>
            </a:endParaRPr>
          </a:p>
        </p:txBody>
      </p:sp>
      <p:sp>
        <p:nvSpPr>
          <p:cNvPr id="19459" name="Text Box 2"/>
          <p:cNvSpPr txBox="1">
            <a:spLocks noChangeArrowheads="1"/>
          </p:cNvSpPr>
          <p:nvPr/>
        </p:nvSpPr>
        <p:spPr bwMode="auto">
          <a:xfrm>
            <a:off x="542925" y="411163"/>
            <a:ext cx="41783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SzPct val="90000"/>
              <a:buFont typeface="Wingdings" panose="05000000000000000000" pitchFamily="2" charset="2"/>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共聚合</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(Copolymerization)：</a:t>
            </a:r>
          </a:p>
        </p:txBody>
      </p:sp>
      <p:sp>
        <p:nvSpPr>
          <p:cNvPr id="19460" name="Rectangle 3"/>
          <p:cNvSpPr>
            <a:spLocks noChangeArrowheads="1"/>
          </p:cNvSpPr>
          <p:nvPr/>
        </p:nvSpPr>
        <p:spPr bwMode="auto">
          <a:xfrm>
            <a:off x="576263" y="1017588"/>
            <a:ext cx="6681787"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dirty="0">
                <a:latin typeface="楷体" panose="02010609060101010101" pitchFamily="49" charset="-122"/>
                <a:ea typeface="楷体" panose="02010609060101010101" pitchFamily="49" charset="-122"/>
              </a:rPr>
              <a:t>由两种或两种以上不同单体进行</a:t>
            </a:r>
            <a:r>
              <a:rPr kumimoji="1" lang="zh-CN" altLang="en-US" sz="2400" b="1" dirty="0">
                <a:solidFill>
                  <a:srgbClr val="FF0000"/>
                </a:solidFill>
                <a:latin typeface="楷体" panose="02010609060101010101" pitchFamily="49" charset="-122"/>
                <a:ea typeface="楷体" panose="02010609060101010101" pitchFamily="49" charset="-122"/>
              </a:rPr>
              <a:t>加成聚合</a:t>
            </a:r>
            <a:r>
              <a:rPr kumimoji="1" lang="zh-CN" altLang="en-US" sz="2400" b="1" dirty="0">
                <a:latin typeface="楷体" panose="02010609060101010101" pitchFamily="49" charset="-122"/>
                <a:ea typeface="楷体" panose="02010609060101010101" pitchFamily="49" charset="-122"/>
              </a:rPr>
              <a:t>的反应</a:t>
            </a:r>
          </a:p>
        </p:txBody>
      </p:sp>
      <p:sp>
        <p:nvSpPr>
          <p:cNvPr id="19461" name="Rectangle 4"/>
          <p:cNvSpPr>
            <a:spLocks noChangeArrowheads="1"/>
          </p:cNvSpPr>
          <p:nvPr/>
        </p:nvSpPr>
        <p:spPr bwMode="auto">
          <a:xfrm>
            <a:off x="414338" y="3933825"/>
            <a:ext cx="8477250" cy="184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共聚物</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(Copolymer)：</a:t>
            </a:r>
            <a:r>
              <a:rPr kumimoji="1" lang="zh-CN" altLang="en-US" sz="2400" b="1">
                <a:latin typeface="楷体" panose="02010609060101010101" pitchFamily="49" charset="-122"/>
                <a:ea typeface="楷体" panose="02010609060101010101" pitchFamily="49" charset="-122"/>
                <a:cs typeface="Arial" panose="020B0604020202020204" pitchFamily="34" charset="0"/>
              </a:rPr>
              <a:t>共聚合所致，含两种或多种结构单元</a:t>
            </a:r>
          </a:p>
          <a:p>
            <a:pPr eaLnBrk="1" hangingPunct="1">
              <a:lnSpc>
                <a:spcPct val="125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cs typeface="Arial" panose="020B0604020202020204" pitchFamily="34" charset="0"/>
              </a:rPr>
              <a:t>共聚物结构单元的特点：</a:t>
            </a:r>
            <a:r>
              <a:rPr kumimoji="1" lang="zh-CN" altLang="en-GB" sz="2400" b="1">
                <a:latin typeface="楷体" panose="02010609060101010101" pitchFamily="49" charset="-122"/>
                <a:ea typeface="楷体" panose="02010609060101010101" pitchFamily="49" charset="-122"/>
                <a:cs typeface="Arial" panose="020B0604020202020204" pitchFamily="34" charset="0"/>
              </a:rPr>
              <a:t>结构单元与各自单体的元素组成相同。</a:t>
            </a:r>
            <a:endParaRPr kumimoji="1" lang="en-US" altLang="zh-CN" sz="2400" b="1">
              <a:latin typeface="楷体" panose="02010609060101010101" pitchFamily="49" charset="-122"/>
              <a:ea typeface="楷体" panose="02010609060101010101" pitchFamily="49" charset="-122"/>
              <a:cs typeface="Arial" panose="020B0604020202020204" pitchFamily="34" charset="0"/>
            </a:endParaRPr>
          </a:p>
          <a:p>
            <a:pPr eaLnBrk="1" hangingPunct="1">
              <a:lnSpc>
                <a:spcPct val="125000"/>
              </a:lnSpc>
              <a:spcBef>
                <a:spcPct val="50000"/>
              </a:spcBef>
              <a:buFont typeface="Arial" panose="020B0604020202020204" pitchFamily="34" charset="0"/>
              <a:buNone/>
            </a:pPr>
            <a:r>
              <a:rPr kumimoji="1" lang="zh-CN" altLang="en-US" sz="2400" b="1">
                <a:latin typeface="楷体" panose="02010609060101010101" pitchFamily="49" charset="-122"/>
                <a:ea typeface="楷体" panose="02010609060101010101" pitchFamily="49" charset="-122"/>
                <a:cs typeface="Arial" panose="020B0604020202020204" pitchFamily="34" charset="0"/>
              </a:rPr>
              <a:t>“共聚”一般指连锁聚合机理的共聚</a:t>
            </a:r>
          </a:p>
        </p:txBody>
      </p:sp>
      <p:graphicFrame>
        <p:nvGraphicFramePr>
          <p:cNvPr id="19462" name="Object 5"/>
          <p:cNvGraphicFramePr>
            <a:graphicFrameLocks noChangeAspect="1"/>
          </p:cNvGraphicFramePr>
          <p:nvPr/>
        </p:nvGraphicFramePr>
        <p:xfrm>
          <a:off x="576263" y="2027238"/>
          <a:ext cx="8153400" cy="969962"/>
        </p:xfrm>
        <a:graphic>
          <a:graphicData uri="http://schemas.openxmlformats.org/presentationml/2006/ole">
            <mc:AlternateContent xmlns:mc="http://schemas.openxmlformats.org/markup-compatibility/2006">
              <mc:Choice xmlns:v="urn:schemas-microsoft-com:vml" Requires="v">
                <p:oleObj spid="_x0000_s19476" r:id="rId4" imgW="4084320" imgH="487680" progId="ChemDraw.Document.6.0">
                  <p:embed/>
                </p:oleObj>
              </mc:Choice>
              <mc:Fallback>
                <p:oleObj r:id="rId4" imgW="4084320" imgH="487680" progId="ChemDraw.Document.6.0">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6263" y="2027238"/>
                        <a:ext cx="8153400" cy="969962"/>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6E939EE-4556-4287-838F-F939AF5F8E6A}"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5</a:t>
            </a:fld>
            <a:endParaRPr lang="en-US" altLang="zh-CN" sz="1400">
              <a:latin typeface="Times New Roman" panose="02020603050405020304" pitchFamily="18" charset="0"/>
              <a:ea typeface="宋体" panose="02010600030101010101" pitchFamily="2" charset="-122"/>
            </a:endParaRPr>
          </a:p>
        </p:txBody>
      </p:sp>
      <p:sp>
        <p:nvSpPr>
          <p:cNvPr id="9220" name="Text Box 2">
            <a:extLst>
              <a:ext uri="{FF2B5EF4-FFF2-40B4-BE49-F238E27FC236}">
                <a16:creationId xmlns:a16="http://schemas.microsoft.com/office/drawing/2014/main" id="{788DB5E0-3FE9-4F10-B3E5-D20703DE4EB7}"/>
              </a:ext>
            </a:extLst>
          </p:cNvPr>
          <p:cNvSpPr txBox="1">
            <a:spLocks noChangeArrowheads="1"/>
          </p:cNvSpPr>
          <p:nvPr/>
        </p:nvSpPr>
        <p:spPr bwMode="auto">
          <a:xfrm>
            <a:off x="339725" y="346075"/>
            <a:ext cx="4537075"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defRPr/>
            </a:pPr>
            <a:r>
              <a:rPr kumimoji="1"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Arial" panose="020B0604020202020204" pitchFamily="34" charset="0"/>
              </a:rPr>
              <a:t>共聚合反应与缩聚反应的区别</a:t>
            </a:r>
            <a:endParaRPr kumimoji="1" lang="zh-CN" altLang="en-US" sz="24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cs typeface="Arial" panose="020B0604020202020204" pitchFamily="34" charset="0"/>
            </a:endParaRPr>
          </a:p>
        </p:txBody>
      </p:sp>
      <p:sp>
        <p:nvSpPr>
          <p:cNvPr id="21508" name="Text Box 5"/>
          <p:cNvSpPr txBox="1">
            <a:spLocks noChangeArrowheads="1"/>
          </p:cNvSpPr>
          <p:nvPr/>
        </p:nvSpPr>
        <p:spPr bwMode="auto">
          <a:xfrm>
            <a:off x="531813" y="3916363"/>
            <a:ext cx="43942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逐步聚合机理：</a:t>
            </a:r>
          </a:p>
        </p:txBody>
      </p:sp>
      <p:sp>
        <p:nvSpPr>
          <p:cNvPr id="21509" name="Text Box 6"/>
          <p:cNvSpPr txBox="1">
            <a:spLocks noChangeArrowheads="1"/>
          </p:cNvSpPr>
          <p:nvPr/>
        </p:nvSpPr>
        <p:spPr bwMode="auto">
          <a:xfrm>
            <a:off x="369888" y="987425"/>
            <a:ext cx="820896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连锁聚合机理：</a:t>
            </a:r>
            <a:r>
              <a:rPr kumimoji="1" lang="zh-CN" altLang="en-US" sz="2400" b="1">
                <a:latin typeface="楷体" panose="02010609060101010101" pitchFamily="49" charset="-122"/>
                <a:ea typeface="楷体" panose="02010609060101010101" pitchFamily="49" charset="-122"/>
              </a:rPr>
              <a:t>自由基共聚、离子共聚，结构单元与单体元素组成完全相同。</a:t>
            </a:r>
          </a:p>
        </p:txBody>
      </p:sp>
      <p:sp>
        <p:nvSpPr>
          <p:cNvPr id="9" name="矩形 8">
            <a:extLst>
              <a:ext uri="{FF2B5EF4-FFF2-40B4-BE49-F238E27FC236}">
                <a16:creationId xmlns:a16="http://schemas.microsoft.com/office/drawing/2014/main" id="{2D69CEEE-C4F1-4D62-90ED-7F0DEA251684}"/>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graphicFrame>
        <p:nvGraphicFramePr>
          <p:cNvPr id="21511" name="对象 2"/>
          <p:cNvGraphicFramePr>
            <a:graphicFrameLocks noChangeAspect="1"/>
          </p:cNvGraphicFramePr>
          <p:nvPr/>
        </p:nvGraphicFramePr>
        <p:xfrm>
          <a:off x="1692275" y="2279650"/>
          <a:ext cx="5543550" cy="1120775"/>
        </p:xfrm>
        <a:graphic>
          <a:graphicData uri="http://schemas.openxmlformats.org/presentationml/2006/ole">
            <mc:AlternateContent xmlns:mc="http://schemas.openxmlformats.org/markup-compatibility/2006">
              <mc:Choice xmlns:v="urn:schemas-microsoft-com:vml" Requires="v">
                <p:oleObj spid="_x0000_s21539" r:id="rId3" imgW="4180840" imgH="848360" progId="">
                  <p:embed/>
                </p:oleObj>
              </mc:Choice>
              <mc:Fallback>
                <p:oleObj r:id="rId3" imgW="4180840" imgH="848360" progId="">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279650"/>
                        <a:ext cx="5543550"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512" name="对象 3"/>
          <p:cNvGraphicFramePr>
            <a:graphicFrameLocks noChangeAspect="1"/>
          </p:cNvGraphicFramePr>
          <p:nvPr/>
        </p:nvGraphicFramePr>
        <p:xfrm>
          <a:off x="2843213" y="3835400"/>
          <a:ext cx="5260975" cy="2247900"/>
        </p:xfrm>
        <a:graphic>
          <a:graphicData uri="http://schemas.openxmlformats.org/presentationml/2006/ole">
            <mc:AlternateContent xmlns:mc="http://schemas.openxmlformats.org/markup-compatibility/2006">
              <mc:Choice xmlns:v="urn:schemas-microsoft-com:vml" Requires="v">
                <p:oleObj spid="_x0000_s21540" r:id="rId5" imgW="4881880" imgH="2082800" progId="">
                  <p:embed/>
                </p:oleObj>
              </mc:Choice>
              <mc:Fallback>
                <p:oleObj r:id="rId5" imgW="4881880" imgH="2082800" progId="">
                  <p:embed/>
                  <p:pic>
                    <p:nvPicPr>
                      <p:cNvPr id="0"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3835400"/>
                        <a:ext cx="5260975"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AEFF2FA-B58B-439E-9BDC-652E521FB9B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a:t>
            </a:fld>
            <a:endParaRPr lang="en-US" altLang="zh-CN" sz="1400">
              <a:latin typeface="Times New Roman" panose="02020603050405020304" pitchFamily="18" charset="0"/>
              <a:ea typeface="宋体" panose="02010600030101010101" pitchFamily="2" charset="-122"/>
            </a:endParaRPr>
          </a:p>
        </p:txBody>
      </p:sp>
      <p:sp>
        <p:nvSpPr>
          <p:cNvPr id="22531" name="Text Box 2"/>
          <p:cNvSpPr txBox="1">
            <a:spLocks noChangeArrowheads="1"/>
          </p:cNvSpPr>
          <p:nvPr/>
        </p:nvSpPr>
        <p:spPr bwMode="auto">
          <a:xfrm>
            <a:off x="609600" y="1219200"/>
            <a:ext cx="7923213"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共缩聚：</a:t>
            </a:r>
            <a:r>
              <a:rPr kumimoji="1" lang="zh-CN" altLang="en-US" sz="2400" b="1">
                <a:latin typeface="楷体" panose="02010609060101010101" pitchFamily="49" charset="-122"/>
                <a:ea typeface="楷体" panose="02010609060101010101" pitchFamily="49" charset="-122"/>
              </a:rPr>
              <a:t>含同种基团的两种单体与另一种基团单体的缩聚。</a:t>
            </a:r>
          </a:p>
          <a:p>
            <a:pPr eaLnBrk="1" hangingPunct="1">
              <a:lnSpc>
                <a:spcPct val="150000"/>
              </a:lnSpc>
              <a:spcBef>
                <a:spcPct val="50000"/>
              </a:spcBef>
              <a:buFontTx/>
              <a:buNone/>
            </a:pPr>
            <a:endParaRPr kumimoji="1" lang="zh-CN" altLang="en-US" sz="2400" b="1">
              <a:solidFill>
                <a:srgbClr val="A50021"/>
              </a:solidFill>
              <a:latin typeface="楷体" panose="02010609060101010101" pitchFamily="49" charset="-122"/>
              <a:ea typeface="楷体" panose="02010609060101010101" pitchFamily="49" charset="-122"/>
            </a:endParaRPr>
          </a:p>
          <a:p>
            <a:pPr eaLnBrk="1" hangingPunct="1">
              <a:lnSpc>
                <a:spcPct val="15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醇酸树脂：</a:t>
            </a:r>
          </a:p>
          <a:p>
            <a:pPr eaLnBrk="1" hangingPunct="1">
              <a:lnSpc>
                <a:spcPct val="150000"/>
              </a:lnSpc>
              <a:spcBef>
                <a:spcPct val="50000"/>
              </a:spcBef>
              <a:buFontTx/>
              <a:buNone/>
            </a:pPr>
            <a:r>
              <a:rPr kumimoji="1" lang="zh-CN" altLang="en-US" sz="2400" b="1">
                <a:latin typeface="楷体" panose="02010609060101010101" pitchFamily="49" charset="-122"/>
                <a:ea typeface="楷体" panose="02010609060101010101" pitchFamily="49" charset="-122"/>
              </a:rPr>
              <a:t>含羟基的两种单体：丙三醇、1</a:t>
            </a:r>
            <a:r>
              <a:rPr kumimoji="1" lang="en-US" altLang="zh-CN" sz="2400" b="1">
                <a:latin typeface="楷体" panose="02010609060101010101" pitchFamily="49" charset="-122"/>
                <a:ea typeface="楷体" panose="02010609060101010101" pitchFamily="49" charset="-122"/>
              </a:rPr>
              <a:t>,2</a:t>
            </a:r>
            <a:r>
              <a:rPr kumimoji="1" lang="zh-CN" altLang="en-US" sz="2400" b="1">
                <a:latin typeface="楷体" panose="02010609060101010101" pitchFamily="49" charset="-122"/>
                <a:ea typeface="楷体" panose="02010609060101010101" pitchFamily="49" charset="-122"/>
              </a:rPr>
              <a:t>丙二醇</a:t>
            </a:r>
          </a:p>
          <a:p>
            <a:pPr eaLnBrk="1" hangingPunct="1">
              <a:lnSpc>
                <a:spcPct val="150000"/>
              </a:lnSpc>
              <a:spcBef>
                <a:spcPct val="50000"/>
              </a:spcBef>
              <a:buFontTx/>
              <a:buNone/>
            </a:pPr>
            <a:r>
              <a:rPr kumimoji="1" lang="zh-CN" altLang="en-US" sz="2400" b="1">
                <a:latin typeface="楷体" panose="02010609060101010101" pitchFamily="49" charset="-122"/>
                <a:ea typeface="楷体" panose="02010609060101010101" pitchFamily="49" charset="-122"/>
              </a:rPr>
              <a:t>含羧基的两种单体：亚麻仁油酸、邻苯二甲酸酐</a:t>
            </a:r>
          </a:p>
        </p:txBody>
      </p:sp>
      <p:sp>
        <p:nvSpPr>
          <p:cNvPr id="10245" name="Text Box 3">
            <a:extLst>
              <a:ext uri="{FF2B5EF4-FFF2-40B4-BE49-F238E27FC236}">
                <a16:creationId xmlns:a16="http://schemas.microsoft.com/office/drawing/2014/main" id="{72869C5B-E1ED-462F-803F-3C33A236117D}"/>
              </a:ext>
            </a:extLst>
          </p:cNvPr>
          <p:cNvSpPr txBox="1">
            <a:spLocks noChangeArrowheads="1"/>
          </p:cNvSpPr>
          <p:nvPr/>
        </p:nvSpPr>
        <p:spPr bwMode="auto">
          <a:xfrm>
            <a:off x="539750" y="549275"/>
            <a:ext cx="2376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defRPr/>
            </a:pPr>
            <a:r>
              <a:rPr kumimoji="1"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共缩聚反应</a:t>
            </a:r>
            <a:endParaRPr kumimoji="1" lang="zh-CN" altLang="en-US" sz="24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22533" name="Text Box 4"/>
          <p:cNvSpPr txBox="1">
            <a:spLocks noChangeArrowheads="1"/>
          </p:cNvSpPr>
          <p:nvPr/>
        </p:nvSpPr>
        <p:spPr bwMode="auto">
          <a:xfrm>
            <a:off x="7694613" y="3908425"/>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缩聚</a:t>
            </a:r>
          </a:p>
        </p:txBody>
      </p:sp>
      <p:sp>
        <p:nvSpPr>
          <p:cNvPr id="22534" name="AutoShape 5"/>
          <p:cNvSpPr>
            <a:spLocks/>
          </p:cNvSpPr>
          <p:nvPr/>
        </p:nvSpPr>
        <p:spPr bwMode="auto">
          <a:xfrm>
            <a:off x="7235825" y="3789363"/>
            <a:ext cx="228600" cy="685800"/>
          </a:xfrm>
          <a:prstGeom prst="rightBrace">
            <a:avLst>
              <a:gd name="adj1" fmla="val 25000"/>
              <a:gd name="adj2" fmla="val 50000"/>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
        <p:nvSpPr>
          <p:cNvPr id="8" name="矩形 7">
            <a:extLst>
              <a:ext uri="{FF2B5EF4-FFF2-40B4-BE49-F238E27FC236}">
                <a16:creationId xmlns:a16="http://schemas.microsoft.com/office/drawing/2014/main" id="{769CB0CE-CE08-4B43-AC2B-A4F7D7BD353B}"/>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970593E-21FB-4544-B10C-90481F4A2F7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7</a:t>
            </a:fld>
            <a:endParaRPr lang="en-US" altLang="zh-CN" sz="1400">
              <a:latin typeface="Times New Roman" panose="02020603050405020304" pitchFamily="18" charset="0"/>
              <a:ea typeface="宋体" panose="02010600030101010101" pitchFamily="2" charset="-122"/>
            </a:endParaRPr>
          </a:p>
        </p:txBody>
      </p:sp>
      <p:sp>
        <p:nvSpPr>
          <p:cNvPr id="23555" name="Text Box 2"/>
          <p:cNvSpPr txBox="1">
            <a:spLocks noChangeArrowheads="1"/>
          </p:cNvSpPr>
          <p:nvPr/>
        </p:nvSpPr>
        <p:spPr bwMode="auto">
          <a:xfrm>
            <a:off x="1116013" y="2252663"/>
            <a:ext cx="83058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二元共聚物按结构单元在大分子链上的排列方式，可分：</a:t>
            </a:r>
          </a:p>
        </p:txBody>
      </p:sp>
      <p:sp>
        <p:nvSpPr>
          <p:cNvPr id="23556" name="Rectangle 3"/>
          <p:cNvSpPr>
            <a:spLocks noChangeArrowheads="1"/>
          </p:cNvSpPr>
          <p:nvPr/>
        </p:nvSpPr>
        <p:spPr bwMode="auto">
          <a:xfrm>
            <a:off x="638175" y="1736725"/>
            <a:ext cx="4233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1</a:t>
            </a:r>
            <a:r>
              <a:rPr kumimoji="1" lang="en-US" altLang="zh-CN" sz="2400" b="1">
                <a:solidFill>
                  <a:srgbClr val="FF0000"/>
                </a:solidFill>
                <a:latin typeface="楷体" panose="02010609060101010101" pitchFamily="49" charset="-122"/>
                <a:ea typeface="楷体" panose="02010609060101010101" pitchFamily="49" charset="-122"/>
              </a:rPr>
              <a:t>) </a:t>
            </a:r>
            <a:r>
              <a:rPr kumimoji="1" lang="zh-CN" altLang="en-US" sz="2400" b="1">
                <a:solidFill>
                  <a:srgbClr val="FF0000"/>
                </a:solidFill>
                <a:latin typeface="楷体" panose="02010609060101010101" pitchFamily="49" charset="-122"/>
                <a:ea typeface="楷体" panose="02010609060101010101" pitchFamily="49" charset="-122"/>
              </a:rPr>
              <a:t>共聚物类型</a:t>
            </a:r>
          </a:p>
        </p:txBody>
      </p:sp>
      <p:sp>
        <p:nvSpPr>
          <p:cNvPr id="23557" name="Rectangle 4"/>
          <p:cNvSpPr>
            <a:spLocks noChangeArrowheads="1"/>
          </p:cNvSpPr>
          <p:nvPr/>
        </p:nvSpPr>
        <p:spPr bwMode="auto">
          <a:xfrm>
            <a:off x="1187450" y="3141663"/>
            <a:ext cx="6124575" cy="2492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FF0000"/>
              </a:buClr>
              <a:buSzPct val="90000"/>
              <a:buFont typeface="Wingdings" panose="05000000000000000000" pitchFamily="2" charset="2"/>
              <a:buChar char="u"/>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无规共聚物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(Random Copolymer)</a:t>
            </a:r>
          </a:p>
          <a:p>
            <a:pPr eaLnBrk="1" hangingPunct="1">
              <a:lnSpc>
                <a:spcPct val="125000"/>
              </a:lnSpc>
              <a:spcBef>
                <a:spcPct val="50000"/>
              </a:spcBef>
              <a:buClr>
                <a:srgbClr val="FF0000"/>
              </a:buClr>
              <a:buSzPct val="90000"/>
              <a:buFont typeface="Wingdings" panose="05000000000000000000" pitchFamily="2" charset="2"/>
              <a:buChar char="u"/>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交替共聚物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(Alternating Copolymer)</a:t>
            </a:r>
          </a:p>
          <a:p>
            <a:pPr eaLnBrk="1" hangingPunct="1">
              <a:lnSpc>
                <a:spcPct val="125000"/>
              </a:lnSpc>
              <a:spcBef>
                <a:spcPct val="50000"/>
              </a:spcBef>
              <a:buClr>
                <a:srgbClr val="FF0000"/>
              </a:buClr>
              <a:buSzPct val="90000"/>
              <a:buFont typeface="Wingdings" panose="05000000000000000000" pitchFamily="2" charset="2"/>
              <a:buChar char="u"/>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嵌段共聚物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(Block Copolymer)</a:t>
            </a:r>
          </a:p>
          <a:p>
            <a:pPr eaLnBrk="1" hangingPunct="1">
              <a:lnSpc>
                <a:spcPct val="125000"/>
              </a:lnSpc>
              <a:spcBef>
                <a:spcPct val="50000"/>
              </a:spcBef>
              <a:buClr>
                <a:srgbClr val="FF0000"/>
              </a:buClr>
              <a:buSzPct val="90000"/>
              <a:buFont typeface="Wingdings" panose="05000000000000000000" pitchFamily="2" charset="2"/>
              <a:buChar char="u"/>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接枝共聚物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(Graft Copolymer)</a:t>
            </a:r>
          </a:p>
        </p:txBody>
      </p:sp>
      <p:sp>
        <p:nvSpPr>
          <p:cNvPr id="23558" name="Text Box 5"/>
          <p:cNvSpPr txBox="1">
            <a:spLocks noChangeArrowheads="1"/>
          </p:cNvSpPr>
          <p:nvPr/>
        </p:nvSpPr>
        <p:spPr bwMode="auto">
          <a:xfrm>
            <a:off x="600075" y="588963"/>
            <a:ext cx="7696200"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共聚物按照组成的单体数可分为二元共聚物、三元共聚物和多元共聚物。</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5276107-5180-490C-A53C-1042405FF071}"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8</a:t>
            </a:fld>
            <a:endParaRPr lang="en-US" altLang="zh-CN" sz="1400">
              <a:latin typeface="Times New Roman" panose="02020603050405020304" pitchFamily="18" charset="0"/>
              <a:ea typeface="宋体" panose="02010600030101010101" pitchFamily="2" charset="-122"/>
            </a:endParaRPr>
          </a:p>
        </p:txBody>
      </p:sp>
      <p:sp>
        <p:nvSpPr>
          <p:cNvPr id="24579" name="Rectangle 2"/>
          <p:cNvSpPr>
            <a:spLocks noChangeArrowheads="1"/>
          </p:cNvSpPr>
          <p:nvPr/>
        </p:nvSpPr>
        <p:spPr bwMode="auto">
          <a:xfrm>
            <a:off x="747713" y="5416550"/>
            <a:ext cx="7777162" cy="505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dirty="0">
                <a:latin typeface="Arial" panose="020B0604020202020204" pitchFamily="34" charset="0"/>
                <a:ea typeface="楷体" panose="02010609060101010101" pitchFamily="49" charset="-122"/>
                <a:cs typeface="Arial" panose="020B0604020202020204" pitchFamily="34" charset="0"/>
              </a:rPr>
              <a:t>自由基共聚物一般属于无规共聚物，如</a:t>
            </a:r>
            <a:r>
              <a:rPr kumimoji="1" lang="en-US" altLang="zh-CN" sz="2400" b="1" dirty="0">
                <a:latin typeface="Arial" panose="020B0604020202020204" pitchFamily="34" charset="0"/>
                <a:ea typeface="楷体" panose="02010609060101010101" pitchFamily="49" charset="-122"/>
                <a:cs typeface="Arial" panose="020B0604020202020204" pitchFamily="34" charset="0"/>
              </a:rPr>
              <a:t>: P(VC-</a:t>
            </a:r>
            <a:r>
              <a:rPr kumimoji="1" lang="en-US" altLang="zh-CN" sz="2400" b="1" i="1" dirty="0">
                <a:solidFill>
                  <a:srgbClr val="FF0000"/>
                </a:solidFill>
                <a:latin typeface="Arial" panose="020B0604020202020204" pitchFamily="34" charset="0"/>
                <a:ea typeface="楷体" panose="02010609060101010101" pitchFamily="49" charset="-122"/>
                <a:cs typeface="Arial" panose="020B0604020202020204" pitchFamily="34" charset="0"/>
              </a:rPr>
              <a:t>co</a:t>
            </a:r>
            <a:r>
              <a:rPr kumimoji="1" lang="en-US" altLang="zh-CN" sz="2400" b="1" dirty="0">
                <a:latin typeface="Arial" panose="020B0604020202020204" pitchFamily="34" charset="0"/>
                <a:ea typeface="楷体" panose="02010609060101010101" pitchFamily="49" charset="-122"/>
                <a:cs typeface="Arial" panose="020B0604020202020204" pitchFamily="34" charset="0"/>
              </a:rPr>
              <a:t>- </a:t>
            </a:r>
            <a:r>
              <a:rPr kumimoji="1" lang="en-US" altLang="zh-CN" sz="2400" b="1" dirty="0" err="1">
                <a:latin typeface="Arial" panose="020B0604020202020204" pitchFamily="34" charset="0"/>
                <a:ea typeface="楷体" panose="02010609060101010101" pitchFamily="49" charset="-122"/>
                <a:cs typeface="Arial" panose="020B0604020202020204" pitchFamily="34" charset="0"/>
              </a:rPr>
              <a:t>VAc</a:t>
            </a:r>
            <a:r>
              <a:rPr kumimoji="1" lang="en-US" altLang="zh-CN" sz="2400" b="1" dirty="0">
                <a:latin typeface="Arial" panose="020B0604020202020204" pitchFamily="34" charset="0"/>
                <a:ea typeface="楷体" panose="02010609060101010101" pitchFamily="49" charset="-122"/>
                <a:cs typeface="Arial" panose="020B0604020202020204" pitchFamily="34" charset="0"/>
              </a:rPr>
              <a:t>)</a:t>
            </a:r>
          </a:p>
        </p:txBody>
      </p:sp>
      <p:sp>
        <p:nvSpPr>
          <p:cNvPr id="24580" name="Rectangle 3"/>
          <p:cNvSpPr>
            <a:spLocks noChangeArrowheads="1"/>
          </p:cNvSpPr>
          <p:nvPr/>
        </p:nvSpPr>
        <p:spPr bwMode="auto">
          <a:xfrm>
            <a:off x="827088" y="1101725"/>
            <a:ext cx="5183187"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两种结构单元</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2</a:t>
            </a:r>
            <a:r>
              <a:rPr kumimoji="1" lang="zh-CN" altLang="en-US" sz="2400" b="1">
                <a:latin typeface="Arial" panose="020B0604020202020204" pitchFamily="34" charset="0"/>
                <a:ea typeface="楷体" panose="02010609060101010101" pitchFamily="49" charset="-122"/>
                <a:cs typeface="Arial" panose="020B0604020202020204" pitchFamily="34" charset="0"/>
              </a:rPr>
              <a:t>无规则地排列：</a:t>
            </a:r>
            <a:endParaRPr kumimoji="1" lang="en-US" altLang="zh-CN" sz="2400" b="1">
              <a:latin typeface="Arial" panose="020B0604020202020204" pitchFamily="34" charset="0"/>
              <a:ea typeface="楷体" panose="02010609060101010101" pitchFamily="49" charset="-122"/>
              <a:cs typeface="Arial" panose="020B0604020202020204" pitchFamily="34" charset="0"/>
            </a:endParaRPr>
          </a:p>
        </p:txBody>
      </p:sp>
      <p:sp>
        <p:nvSpPr>
          <p:cNvPr id="24581" name="Rectangle 4"/>
          <p:cNvSpPr>
            <a:spLocks noChangeArrowheads="1"/>
          </p:cNvSpPr>
          <p:nvPr/>
        </p:nvSpPr>
        <p:spPr bwMode="auto">
          <a:xfrm>
            <a:off x="360363" y="390525"/>
            <a:ext cx="5376862"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SzPct val="90000"/>
              <a:buFont typeface="Wingdings" panose="05000000000000000000" pitchFamily="2" charset="2"/>
              <a:buChar char="u"/>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 无规共聚物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(Random Copolymer)</a:t>
            </a:r>
          </a:p>
        </p:txBody>
      </p:sp>
      <p:pic>
        <p:nvPicPr>
          <p:cNvPr id="24582" name="Picture 5" descr="C:\Documents and Settings\xpchen\My Documents\2005.4精品课程\nrgy\3-1.files\03_01.files\p_01.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971550" y="1978025"/>
            <a:ext cx="4527550" cy="3444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2296" name="Picture 6" descr="无规共聚物">
            <a:extLst>
              <a:ext uri="{FF2B5EF4-FFF2-40B4-BE49-F238E27FC236}">
                <a16:creationId xmlns:a16="http://schemas.microsoft.com/office/drawing/2014/main" id="{D98B0EFA-E208-45A6-86D9-433EFCBAB5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2120" y="2243052"/>
            <a:ext cx="2497137" cy="2284413"/>
          </a:xfrm>
          <a:prstGeom prst="rect">
            <a:avLst/>
          </a:prstGeom>
          <a:noFill/>
          <a:ln w="9525">
            <a:noFill/>
            <a:miter lim="800000"/>
            <a:headEnd/>
            <a:tailEnd/>
          </a:ln>
          <a:effectLst>
            <a:softEdge rad="12700"/>
          </a:effectLst>
          <a:extLst>
            <a:ext uri="{909E8E84-426E-40DD-AFC4-6F175D3DCCD1}">
              <a14:hiddenFill xmlns:a14="http://schemas.microsoft.com/office/drawing/2010/main">
                <a:solidFill>
                  <a:srgbClr val="FFFFFF"/>
                </a:solidFill>
              </a14:hiddenFill>
            </a:ext>
          </a:extLst>
        </p:spPr>
      </p:pic>
      <p:sp>
        <p:nvSpPr>
          <p:cNvPr id="24584" name="Text Box 7"/>
          <p:cNvSpPr txBox="1">
            <a:spLocks noChangeArrowheads="1"/>
          </p:cNvSpPr>
          <p:nvPr/>
        </p:nvSpPr>
        <p:spPr bwMode="auto">
          <a:xfrm>
            <a:off x="827088" y="4670425"/>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2</a:t>
            </a:r>
            <a:r>
              <a:rPr kumimoji="1" lang="zh-CN" altLang="en-US" sz="2400" b="1">
                <a:latin typeface="Arial" panose="020B0604020202020204" pitchFamily="34" charset="0"/>
                <a:ea typeface="楷体" panose="02010609060101010101" pitchFamily="49" charset="-122"/>
                <a:cs typeface="Arial" panose="020B0604020202020204" pitchFamily="34" charset="0"/>
              </a:rPr>
              <a:t>各自连续连接的个数较少，且按一定几率分布。</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3BE55003-08E3-4C3D-93F6-7C3643B5726E}"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9</a:t>
            </a:fld>
            <a:endParaRPr lang="en-US" altLang="zh-CN" sz="1400">
              <a:latin typeface="Times New Roman" panose="02020603050405020304" pitchFamily="18" charset="0"/>
              <a:ea typeface="宋体" panose="02010600030101010101" pitchFamily="2" charset="-122"/>
            </a:endParaRPr>
          </a:p>
        </p:txBody>
      </p:sp>
      <p:sp>
        <p:nvSpPr>
          <p:cNvPr id="25603" name="Rectangle 2"/>
          <p:cNvSpPr>
            <a:spLocks noChangeArrowheads="1"/>
          </p:cNvSpPr>
          <p:nvPr/>
        </p:nvSpPr>
        <p:spPr bwMode="auto">
          <a:xfrm>
            <a:off x="395288" y="515938"/>
            <a:ext cx="57610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SzPct val="90000"/>
              <a:buFont typeface="Wingdings" panose="05000000000000000000" pitchFamily="2" charset="2"/>
              <a:buChar char="u"/>
            </a:pPr>
            <a:r>
              <a:rPr kumimoji="1" lang="zh-CN" altLang="en-US" sz="2400" b="1">
                <a:solidFill>
                  <a:srgbClr val="FF0000"/>
                </a:solidFill>
                <a:latin typeface="Times New Roman" panose="02020603050405020304" pitchFamily="18" charset="0"/>
                <a:ea typeface="楷体_GB2312" pitchFamily="49" charset="-122"/>
              </a:rPr>
              <a:t>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交替共聚物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(Alternating Copolymer)</a:t>
            </a:r>
            <a:endPar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25604" name="Rectangle 3"/>
          <p:cNvSpPr>
            <a:spLocks noChangeArrowheads="1"/>
          </p:cNvSpPr>
          <p:nvPr/>
        </p:nvSpPr>
        <p:spPr bwMode="auto">
          <a:xfrm>
            <a:off x="838200" y="1169988"/>
            <a:ext cx="6829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大分子链中结构单元 </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2</a:t>
            </a:r>
            <a:r>
              <a:rPr kumimoji="1" lang="zh-CN" altLang="en-US" sz="2400" b="1">
                <a:latin typeface="Arial" panose="020B0604020202020204" pitchFamily="34" charset="0"/>
                <a:ea typeface="楷体" panose="02010609060101010101" pitchFamily="49" charset="-122"/>
                <a:cs typeface="Arial" panose="020B0604020202020204" pitchFamily="34" charset="0"/>
              </a:rPr>
              <a:t>有规则地交替排列：</a:t>
            </a:r>
          </a:p>
        </p:txBody>
      </p:sp>
      <p:sp>
        <p:nvSpPr>
          <p:cNvPr id="25605" name="Rectangle 4"/>
          <p:cNvSpPr>
            <a:spLocks noChangeArrowheads="1"/>
          </p:cNvSpPr>
          <p:nvPr/>
        </p:nvSpPr>
        <p:spPr bwMode="auto">
          <a:xfrm>
            <a:off x="900112" y="5216525"/>
            <a:ext cx="626417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dirty="0">
                <a:latin typeface="Arial" panose="020B0604020202020204" pitchFamily="34" charset="0"/>
                <a:ea typeface="楷体" panose="02010609060101010101" pitchFamily="49" charset="-122"/>
                <a:cs typeface="Arial" panose="020B0604020202020204" pitchFamily="34" charset="0"/>
              </a:rPr>
              <a:t>如</a:t>
            </a:r>
            <a:r>
              <a:rPr kumimoji="1" lang="en-US" altLang="zh-CN" sz="2400" b="1" dirty="0">
                <a:latin typeface="Arial" panose="020B0604020202020204" pitchFamily="34" charset="0"/>
                <a:ea typeface="楷体" panose="02010609060101010101" pitchFamily="49" charset="-122"/>
                <a:cs typeface="Arial" panose="020B0604020202020204" pitchFamily="34" charset="0"/>
              </a:rPr>
              <a:t>St-</a:t>
            </a:r>
            <a:r>
              <a:rPr kumimoji="1" lang="en-US" altLang="zh-CN" sz="2400" b="1" dirty="0" err="1">
                <a:latin typeface="Arial" panose="020B0604020202020204" pitchFamily="34" charset="0"/>
                <a:ea typeface="楷体" panose="02010609060101010101" pitchFamily="49" charset="-122"/>
                <a:cs typeface="Arial" panose="020B0604020202020204" pitchFamily="34" charset="0"/>
              </a:rPr>
              <a:t>MAh</a:t>
            </a:r>
            <a:r>
              <a:rPr kumimoji="1" lang="en-US" altLang="zh-CN" sz="2400" b="1" dirty="0">
                <a:latin typeface="Arial" panose="020B0604020202020204" pitchFamily="34" charset="0"/>
                <a:ea typeface="楷体" panose="02010609060101010101" pitchFamily="49" charset="-122"/>
                <a:cs typeface="Arial" panose="020B0604020202020204" pitchFamily="34" charset="0"/>
              </a:rPr>
              <a:t> </a:t>
            </a:r>
            <a:r>
              <a:rPr kumimoji="1" lang="zh-CN" altLang="en-US" sz="2400" b="1" dirty="0">
                <a:latin typeface="Arial" panose="020B0604020202020204" pitchFamily="34" charset="0"/>
                <a:ea typeface="楷体" panose="02010609060101010101" pitchFamily="49" charset="-122"/>
                <a:cs typeface="Arial" panose="020B0604020202020204" pitchFamily="34" charset="0"/>
              </a:rPr>
              <a:t>溶液共聚产物，</a:t>
            </a:r>
            <a:r>
              <a:rPr kumimoji="1" lang="en-US" altLang="zh-CN" sz="2400" b="1" dirty="0">
                <a:latin typeface="Arial" panose="020B0604020202020204" pitchFamily="34" charset="0"/>
                <a:ea typeface="楷体" panose="02010609060101010101" pitchFamily="49" charset="-122"/>
                <a:cs typeface="Arial" panose="020B0604020202020204" pitchFamily="34" charset="0"/>
              </a:rPr>
              <a:t>P(St-</a:t>
            </a:r>
            <a:r>
              <a:rPr kumimoji="1" lang="en-US" altLang="zh-CN" sz="2400" i="1" dirty="0">
                <a:solidFill>
                  <a:srgbClr val="FF0000"/>
                </a:solidFill>
                <a:latin typeface="Arial" panose="020B0604020202020204" pitchFamily="34" charset="0"/>
                <a:ea typeface="楷体" panose="02010609060101010101" pitchFamily="49" charset="-122"/>
                <a:cs typeface="Arial" panose="020B0604020202020204" pitchFamily="34" charset="0"/>
              </a:rPr>
              <a:t>alt</a:t>
            </a:r>
            <a:r>
              <a:rPr kumimoji="1" lang="en-US" altLang="zh-CN" sz="2400" b="1" dirty="0">
                <a:latin typeface="Arial" panose="020B0604020202020204" pitchFamily="34" charset="0"/>
                <a:ea typeface="楷体" panose="02010609060101010101" pitchFamily="49" charset="-122"/>
                <a:cs typeface="Arial" panose="020B0604020202020204" pitchFamily="34" charset="0"/>
              </a:rPr>
              <a:t>-</a:t>
            </a:r>
            <a:r>
              <a:rPr kumimoji="1" lang="en-US" altLang="zh-CN" sz="2400" b="1" dirty="0" err="1">
                <a:latin typeface="Arial" panose="020B0604020202020204" pitchFamily="34" charset="0"/>
                <a:ea typeface="楷体" panose="02010609060101010101" pitchFamily="49" charset="-122"/>
                <a:cs typeface="Arial" panose="020B0604020202020204" pitchFamily="34" charset="0"/>
              </a:rPr>
              <a:t>MAh</a:t>
            </a:r>
            <a:r>
              <a:rPr kumimoji="1" lang="en-US" altLang="zh-CN" sz="2400" b="1" dirty="0">
                <a:latin typeface="Arial" panose="020B0604020202020204" pitchFamily="34" charset="0"/>
                <a:ea typeface="楷体" panose="02010609060101010101" pitchFamily="49" charset="-122"/>
                <a:cs typeface="Arial" panose="020B0604020202020204" pitchFamily="34" charset="0"/>
              </a:rPr>
              <a:t>)</a:t>
            </a:r>
            <a:endParaRPr kumimoji="1" lang="zh-CN" altLang="en-US" sz="2400" b="1" dirty="0">
              <a:latin typeface="Arial" panose="020B0604020202020204" pitchFamily="34" charset="0"/>
              <a:ea typeface="楷体" panose="02010609060101010101" pitchFamily="49" charset="-122"/>
              <a:cs typeface="Arial" panose="020B0604020202020204" pitchFamily="34" charset="0"/>
            </a:endParaRPr>
          </a:p>
        </p:txBody>
      </p:sp>
      <p:pic>
        <p:nvPicPr>
          <p:cNvPr id="25606" name="Picture 5" descr="C:\Documents and Settings\xpchen\My Documents\2005.4精品课程\nrgy\3-1.files\03_01.files\p_02.gif"/>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2473325" y="1824038"/>
            <a:ext cx="396081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6" descr="交替共聚物"/>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2566988"/>
            <a:ext cx="2590800" cy="237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6608B6F-CFD4-4F57-BD2E-6A111351AC4B}"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a:t>
            </a:fld>
            <a:endParaRPr lang="en-US" altLang="zh-CN" sz="1400">
              <a:latin typeface="Times New Roman" panose="02020603050405020304" pitchFamily="18" charset="0"/>
              <a:ea typeface="宋体" panose="02010600030101010101" pitchFamily="2" charset="-122"/>
            </a:endParaRPr>
          </a:p>
        </p:txBody>
      </p:sp>
      <p:sp>
        <p:nvSpPr>
          <p:cNvPr id="26627" name="Rectangle 2"/>
          <p:cNvSpPr>
            <a:spLocks noChangeArrowheads="1"/>
          </p:cNvSpPr>
          <p:nvPr/>
        </p:nvSpPr>
        <p:spPr bwMode="auto">
          <a:xfrm>
            <a:off x="395288" y="465138"/>
            <a:ext cx="49847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SzPct val="90000"/>
              <a:buFont typeface="Wingdings" panose="05000000000000000000" pitchFamily="2" charset="2"/>
              <a:buChar char="u"/>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 嵌段共聚物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(Block Copolymer)</a:t>
            </a:r>
            <a:endPar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26628" name="Rectangle 3"/>
          <p:cNvSpPr>
            <a:spLocks noChangeArrowheads="1"/>
          </p:cNvSpPr>
          <p:nvPr/>
        </p:nvSpPr>
        <p:spPr bwMode="auto">
          <a:xfrm>
            <a:off x="827088" y="1149350"/>
            <a:ext cx="4654550"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较长的</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1</a:t>
            </a:r>
            <a:r>
              <a:rPr kumimoji="1" lang="zh-CN" altLang="en-US" sz="2400" b="1">
                <a:latin typeface="Arial" panose="020B0604020202020204" pitchFamily="34" charset="0"/>
                <a:ea typeface="楷体" panose="02010609060101010101" pitchFamily="49" charset="-122"/>
                <a:cs typeface="Arial" panose="020B0604020202020204" pitchFamily="34" charset="0"/>
              </a:rPr>
              <a:t>链段与另一较长的</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2</a:t>
            </a:r>
            <a:r>
              <a:rPr kumimoji="1" lang="zh-CN" altLang="en-US" sz="2400" b="1">
                <a:latin typeface="Arial" panose="020B0604020202020204" pitchFamily="34" charset="0"/>
                <a:ea typeface="楷体" panose="02010609060101010101" pitchFamily="49" charset="-122"/>
                <a:cs typeface="Arial" panose="020B0604020202020204" pitchFamily="34" charset="0"/>
              </a:rPr>
              <a:t>链段构成大分子，每链段有几百至几千个结构单元组成。</a:t>
            </a:r>
          </a:p>
        </p:txBody>
      </p:sp>
      <p:sp>
        <p:nvSpPr>
          <p:cNvPr id="26629" name="Rectangle 4"/>
          <p:cNvSpPr>
            <a:spLocks noChangeArrowheads="1"/>
          </p:cNvSpPr>
          <p:nvPr/>
        </p:nvSpPr>
        <p:spPr bwMode="auto">
          <a:xfrm>
            <a:off x="827088" y="5294313"/>
            <a:ext cx="7010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Tx/>
              <a:buNone/>
            </a:pPr>
            <a:r>
              <a:rPr kumimoji="1" lang="zh-CN" altLang="en-US" sz="2400" b="1" dirty="0">
                <a:latin typeface="Arial" panose="020B0604020202020204" pitchFamily="34" charset="0"/>
                <a:ea typeface="楷体" panose="02010609060101010101" pitchFamily="49" charset="-122"/>
                <a:cs typeface="Arial" panose="020B0604020202020204" pitchFamily="34" charset="0"/>
              </a:rPr>
              <a:t>如</a:t>
            </a:r>
            <a:r>
              <a:rPr kumimoji="1" lang="en-US" altLang="zh-CN" sz="2400" b="1" dirty="0">
                <a:latin typeface="Arial" panose="020B0604020202020204" pitchFamily="34" charset="0"/>
                <a:ea typeface="楷体" panose="02010609060101010101" pitchFamily="49" charset="-122"/>
                <a:cs typeface="Arial" panose="020B0604020202020204" pitchFamily="34" charset="0"/>
              </a:rPr>
              <a:t>SBS</a:t>
            </a:r>
            <a:r>
              <a:rPr kumimoji="1" lang="zh-CN" altLang="en-US" sz="2400" b="1" dirty="0">
                <a:latin typeface="Arial" panose="020B0604020202020204" pitchFamily="34" charset="0"/>
                <a:ea typeface="楷体" panose="02010609060101010101" pitchFamily="49" charset="-122"/>
                <a:cs typeface="Arial" panose="020B0604020202020204" pitchFamily="34" charset="0"/>
              </a:rPr>
              <a:t>热塑性弹性体： </a:t>
            </a:r>
            <a:r>
              <a:rPr kumimoji="1" lang="en-US" altLang="zh-CN" sz="2400" b="1" dirty="0">
                <a:latin typeface="Arial" panose="020B0604020202020204" pitchFamily="34" charset="0"/>
                <a:ea typeface="楷体" panose="02010609060101010101" pitchFamily="49" charset="-122"/>
                <a:cs typeface="Arial" panose="020B0604020202020204" pitchFamily="34" charset="0"/>
              </a:rPr>
              <a:t>St-</a:t>
            </a:r>
            <a:r>
              <a:rPr kumimoji="1" lang="en-US" altLang="zh-CN" sz="2400" b="1" dirty="0" err="1">
                <a:latin typeface="Arial" panose="020B0604020202020204" pitchFamily="34" charset="0"/>
                <a:ea typeface="楷体" panose="02010609060101010101" pitchFamily="49" charset="-122"/>
                <a:cs typeface="Arial" panose="020B0604020202020204" pitchFamily="34" charset="0"/>
              </a:rPr>
              <a:t>Bd</a:t>
            </a:r>
            <a:r>
              <a:rPr kumimoji="1" lang="en-US" altLang="zh-CN" sz="2400" b="1" dirty="0">
                <a:latin typeface="Arial" panose="020B0604020202020204" pitchFamily="34" charset="0"/>
                <a:ea typeface="楷体" panose="02010609060101010101" pitchFamily="49" charset="-122"/>
                <a:cs typeface="Arial" panose="020B0604020202020204" pitchFamily="34" charset="0"/>
              </a:rPr>
              <a:t>-St</a:t>
            </a:r>
            <a:r>
              <a:rPr kumimoji="1" lang="zh-CN" altLang="en-US" sz="2400" b="1" dirty="0">
                <a:latin typeface="Arial" panose="020B0604020202020204" pitchFamily="34" charset="0"/>
                <a:ea typeface="楷体" panose="02010609060101010101" pitchFamily="49" charset="-122"/>
                <a:cs typeface="Arial" panose="020B0604020202020204" pitchFamily="34" charset="0"/>
              </a:rPr>
              <a:t>三嵌段共聚物。</a:t>
            </a:r>
            <a:r>
              <a:rPr kumimoji="1" lang="en-US" altLang="zh-CN" sz="2400" b="1" dirty="0">
                <a:latin typeface="Arial" panose="020B0604020202020204" pitchFamily="34" charset="0"/>
                <a:ea typeface="楷体" panose="02010609060101010101" pitchFamily="49" charset="-122"/>
                <a:cs typeface="Arial" panose="020B0604020202020204" pitchFamily="34" charset="0"/>
              </a:rPr>
              <a:t>PS-</a:t>
            </a:r>
            <a:r>
              <a:rPr kumimoji="1" lang="en-US" altLang="zh-CN" sz="2400" i="1" dirty="0">
                <a:solidFill>
                  <a:srgbClr val="FF0000"/>
                </a:solidFill>
                <a:latin typeface="Arial" panose="020B0604020202020204" pitchFamily="34" charset="0"/>
                <a:ea typeface="楷体" panose="02010609060101010101" pitchFamily="49" charset="-122"/>
                <a:cs typeface="Arial" panose="020B0604020202020204" pitchFamily="34" charset="0"/>
              </a:rPr>
              <a:t>b</a:t>
            </a:r>
            <a:r>
              <a:rPr kumimoji="1" lang="en-US" altLang="zh-CN" sz="2400" b="1" dirty="0">
                <a:latin typeface="Arial" panose="020B0604020202020204" pitchFamily="34" charset="0"/>
                <a:ea typeface="楷体" panose="02010609060101010101" pitchFamily="49" charset="-122"/>
                <a:cs typeface="Arial" panose="020B0604020202020204" pitchFamily="34" charset="0"/>
              </a:rPr>
              <a:t>-PB-</a:t>
            </a:r>
            <a:r>
              <a:rPr kumimoji="1" lang="en-US" altLang="zh-CN" sz="2400" i="1" dirty="0">
                <a:solidFill>
                  <a:srgbClr val="FF0000"/>
                </a:solidFill>
                <a:latin typeface="Arial" panose="020B0604020202020204" pitchFamily="34" charset="0"/>
                <a:ea typeface="楷体" panose="02010609060101010101" pitchFamily="49" charset="-122"/>
                <a:cs typeface="Arial" panose="020B0604020202020204" pitchFamily="34" charset="0"/>
              </a:rPr>
              <a:t>b</a:t>
            </a:r>
            <a:r>
              <a:rPr kumimoji="1" lang="en-US" altLang="zh-CN" sz="2400" b="1" dirty="0">
                <a:latin typeface="Arial" panose="020B0604020202020204" pitchFamily="34" charset="0"/>
                <a:ea typeface="楷体" panose="02010609060101010101" pitchFamily="49" charset="-122"/>
                <a:cs typeface="Arial" panose="020B0604020202020204" pitchFamily="34" charset="0"/>
              </a:rPr>
              <a:t>-PS</a:t>
            </a:r>
            <a:endParaRPr kumimoji="1" lang="zh-CN" altLang="en-US" sz="2400" b="1" dirty="0">
              <a:latin typeface="Arial" panose="020B0604020202020204" pitchFamily="34" charset="0"/>
              <a:ea typeface="楷体" panose="02010609060101010101" pitchFamily="49" charset="-122"/>
              <a:cs typeface="Arial" panose="020B0604020202020204" pitchFamily="34" charset="0"/>
            </a:endParaRPr>
          </a:p>
        </p:txBody>
      </p:sp>
      <p:pic>
        <p:nvPicPr>
          <p:cNvPr id="26630" name="Picture 5" descr="C:\Documents and Settings\xpchen\My Documents\2005.4精品课程\nrgy\3-1.files\03_01.files\p_03.gif"/>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900113" y="4608513"/>
            <a:ext cx="7004050"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6" descr="嵌段共聚物"/>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1431925"/>
            <a:ext cx="2544762"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0523C45-CFF0-4CCA-BF64-8FBF7197BD3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11</a:t>
            </a:fld>
            <a:endParaRPr lang="en-US" altLang="zh-CN" sz="1400">
              <a:latin typeface="Times New Roman" panose="02020603050405020304" pitchFamily="18" charset="0"/>
              <a:ea typeface="宋体" panose="02010600030101010101" pitchFamily="2" charset="-122"/>
            </a:endParaRPr>
          </a:p>
        </p:txBody>
      </p:sp>
      <p:sp>
        <p:nvSpPr>
          <p:cNvPr id="28675" name="Rectangle 2"/>
          <p:cNvSpPr>
            <a:spLocks noChangeArrowheads="1"/>
          </p:cNvSpPr>
          <p:nvPr/>
        </p:nvSpPr>
        <p:spPr bwMode="auto">
          <a:xfrm>
            <a:off x="395288" y="473075"/>
            <a:ext cx="533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SzPct val="90000"/>
              <a:buFont typeface="Wingdings" panose="05000000000000000000" pitchFamily="2" charset="2"/>
              <a:buChar char="u"/>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 接枝共聚物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(Graft Copolymer)</a:t>
            </a:r>
          </a:p>
        </p:txBody>
      </p:sp>
      <p:sp>
        <p:nvSpPr>
          <p:cNvPr id="28676" name="Rectangle 3"/>
          <p:cNvSpPr>
            <a:spLocks noChangeArrowheads="1"/>
          </p:cNvSpPr>
          <p:nvPr/>
        </p:nvSpPr>
        <p:spPr bwMode="auto">
          <a:xfrm>
            <a:off x="755650" y="1082675"/>
            <a:ext cx="7240588"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其中一种结构单元</a:t>
            </a:r>
            <a:r>
              <a:rPr kumimoji="1" lang="en-US" altLang="zh-CN" sz="2400" b="1">
                <a:latin typeface="Arial" panose="020B0604020202020204" pitchFamily="34" charset="0"/>
                <a:ea typeface="楷体" panose="02010609060101010101" pitchFamily="49" charset="-122"/>
                <a:cs typeface="Arial" panose="020B0604020202020204" pitchFamily="34" charset="0"/>
              </a:rPr>
              <a:t>(</a:t>
            </a:r>
            <a:r>
              <a:rPr kumimoji="1" lang="zh-CN" altLang="en-US" sz="2400" b="1">
                <a:latin typeface="Arial" panose="020B0604020202020204" pitchFamily="34" charset="0"/>
                <a:ea typeface="楷体" panose="02010609060101010101" pitchFamily="49" charset="-122"/>
                <a:cs typeface="Arial" panose="020B0604020202020204" pitchFamily="34" charset="0"/>
              </a:rPr>
              <a:t>如</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400" b="1">
                <a:latin typeface="Arial" panose="020B0604020202020204" pitchFamily="34" charset="0"/>
                <a:ea typeface="楷体" panose="02010609060101010101" pitchFamily="49" charset="-122"/>
                <a:cs typeface="Arial" panose="020B0604020202020204" pitchFamily="34" charset="0"/>
              </a:rPr>
              <a:t>)</a:t>
            </a:r>
            <a:r>
              <a:rPr kumimoji="1" lang="zh-CN" altLang="en-US" sz="2400" b="1">
                <a:latin typeface="Arial" panose="020B0604020202020204" pitchFamily="34" charset="0"/>
                <a:ea typeface="楷体" panose="02010609060101010101" pitchFamily="49" charset="-122"/>
                <a:cs typeface="Arial" panose="020B0604020202020204" pitchFamily="34" charset="0"/>
              </a:rPr>
              <a:t>为主链，接枝另一结构单元</a:t>
            </a:r>
            <a:r>
              <a:rPr kumimoji="1" lang="en-US" altLang="zh-CN" sz="2400" b="1">
                <a:latin typeface="Arial" panose="020B0604020202020204" pitchFamily="34" charset="0"/>
                <a:ea typeface="楷体" panose="02010609060101010101" pitchFamily="49" charset="-122"/>
                <a:cs typeface="Arial" panose="020B0604020202020204" pitchFamily="34" charset="0"/>
              </a:rPr>
              <a:t>M</a:t>
            </a:r>
            <a:r>
              <a:rPr kumimoji="1" lang="en-US" altLang="zh-CN" sz="2400" b="1" baseline="-30000">
                <a:latin typeface="Arial" panose="020B0604020202020204" pitchFamily="34" charset="0"/>
                <a:ea typeface="楷体" panose="02010609060101010101" pitchFamily="49" charset="-122"/>
                <a:cs typeface="Arial" panose="020B0604020202020204" pitchFamily="34" charset="0"/>
              </a:rPr>
              <a:t>2</a:t>
            </a:r>
            <a:r>
              <a:rPr kumimoji="1" lang="zh-CN" altLang="en-US" sz="2400" b="1">
                <a:latin typeface="Arial" panose="020B0604020202020204" pitchFamily="34" charset="0"/>
                <a:ea typeface="楷体" panose="02010609060101010101" pitchFamily="49" charset="-122"/>
                <a:cs typeface="Arial" panose="020B0604020202020204" pitchFamily="34" charset="0"/>
              </a:rPr>
              <a:t>作为支链</a:t>
            </a:r>
          </a:p>
        </p:txBody>
      </p:sp>
      <p:sp>
        <p:nvSpPr>
          <p:cNvPr id="28677" name="Rectangle 4"/>
          <p:cNvSpPr>
            <a:spLocks noChangeArrowheads="1"/>
          </p:cNvSpPr>
          <p:nvPr/>
        </p:nvSpPr>
        <p:spPr bwMode="auto">
          <a:xfrm>
            <a:off x="779462" y="4908550"/>
            <a:ext cx="825703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Tx/>
              <a:buNone/>
            </a:pPr>
            <a:r>
              <a:rPr kumimoji="1" lang="zh-CN" altLang="en-US" sz="2400" b="1" dirty="0">
                <a:latin typeface="Arial" panose="020B0604020202020204" pitchFamily="34" charset="0"/>
                <a:ea typeface="楷体" panose="02010609060101010101" pitchFamily="49" charset="-122"/>
                <a:cs typeface="Arial" panose="020B0604020202020204" pitchFamily="34" charset="0"/>
              </a:rPr>
              <a:t>如</a:t>
            </a:r>
            <a:r>
              <a:rPr kumimoji="1" lang="en-US" altLang="zh-CN" sz="2400" b="1" dirty="0">
                <a:latin typeface="Arial" panose="020B0604020202020204" pitchFamily="34" charset="0"/>
                <a:ea typeface="楷体" panose="02010609060101010101" pitchFamily="49" charset="-122"/>
                <a:cs typeface="Arial" panose="020B0604020202020204" pitchFamily="34" charset="0"/>
              </a:rPr>
              <a:t>HIPS：PB</a:t>
            </a:r>
            <a:r>
              <a:rPr kumimoji="1" lang="zh-CN" altLang="en-US" sz="2400" b="1" dirty="0">
                <a:latin typeface="Arial" panose="020B0604020202020204" pitchFamily="34" charset="0"/>
                <a:ea typeface="楷体" panose="02010609060101010101" pitchFamily="49" charset="-122"/>
                <a:cs typeface="Arial" panose="020B0604020202020204" pitchFamily="34" charset="0"/>
              </a:rPr>
              <a:t>作主链，接枝上</a:t>
            </a:r>
            <a:r>
              <a:rPr kumimoji="1" lang="en-US" altLang="zh-CN" sz="2400" b="1" dirty="0">
                <a:latin typeface="Arial" panose="020B0604020202020204" pitchFamily="34" charset="0"/>
                <a:ea typeface="楷体" panose="02010609060101010101" pitchFamily="49" charset="-122"/>
                <a:cs typeface="Arial" panose="020B0604020202020204" pitchFamily="34" charset="0"/>
              </a:rPr>
              <a:t>St</a:t>
            </a:r>
            <a:r>
              <a:rPr kumimoji="1" lang="zh-CN" altLang="en-US" sz="2400" b="1" dirty="0">
                <a:latin typeface="Arial" panose="020B0604020202020204" pitchFamily="34" charset="0"/>
                <a:ea typeface="楷体" panose="02010609060101010101" pitchFamily="49" charset="-122"/>
                <a:cs typeface="Arial" panose="020B0604020202020204" pitchFamily="34" charset="0"/>
              </a:rPr>
              <a:t>为支链；提高抗冲性能。</a:t>
            </a:r>
            <a:r>
              <a:rPr kumimoji="1" lang="en-US" altLang="zh-CN" sz="2400" b="1" dirty="0">
                <a:latin typeface="Arial" panose="020B0604020202020204" pitchFamily="34" charset="0"/>
                <a:ea typeface="楷体" panose="02010609060101010101" pitchFamily="49" charset="-122"/>
                <a:cs typeface="Arial" panose="020B0604020202020204" pitchFamily="34" charset="0"/>
              </a:rPr>
              <a:t>-</a:t>
            </a:r>
            <a:r>
              <a:rPr kumimoji="1" lang="en-US" altLang="zh-CN" sz="2400" i="1" dirty="0">
                <a:solidFill>
                  <a:srgbClr val="FF0000"/>
                </a:solidFill>
                <a:latin typeface="Arial" panose="020B0604020202020204" pitchFamily="34" charset="0"/>
                <a:ea typeface="楷体" panose="02010609060101010101" pitchFamily="49" charset="-122"/>
                <a:cs typeface="Arial" panose="020B0604020202020204" pitchFamily="34" charset="0"/>
              </a:rPr>
              <a:t>g</a:t>
            </a:r>
            <a:r>
              <a:rPr kumimoji="1" lang="en-US" altLang="zh-CN" sz="2400" b="1" dirty="0">
                <a:latin typeface="Arial" panose="020B0604020202020204" pitchFamily="34" charset="0"/>
                <a:ea typeface="楷体" panose="02010609060101010101" pitchFamily="49" charset="-122"/>
                <a:cs typeface="Arial" panose="020B0604020202020204" pitchFamily="34" charset="0"/>
              </a:rPr>
              <a:t>-</a:t>
            </a:r>
            <a:endParaRPr kumimoji="1" lang="zh-CN" altLang="en-US" sz="2400" b="1" dirty="0">
              <a:latin typeface="Arial" panose="020B0604020202020204" pitchFamily="34" charset="0"/>
              <a:ea typeface="楷体" panose="02010609060101010101" pitchFamily="49" charset="-122"/>
              <a:cs typeface="Arial" panose="020B0604020202020204" pitchFamily="34" charset="0"/>
            </a:endParaRPr>
          </a:p>
        </p:txBody>
      </p:sp>
      <p:pic>
        <p:nvPicPr>
          <p:cNvPr id="28678" name="Picture 5" descr="C:\Documents and Settings\xpchen\My Documents\2005.4精品课程\nrgy\3-1.files\03_01.files\p_04.gif"/>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885825" y="2370138"/>
            <a:ext cx="4033838" cy="1068387"/>
          </a:xfrm>
          <a:prstGeom prst="rect">
            <a:avLst/>
          </a:prstGeom>
          <a:solidFill>
            <a:srgbClr val="D5FFF4"/>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28679" name="Picture 6" descr="接枝共聚物"/>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4588" y="2068513"/>
            <a:ext cx="3006725" cy="274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0" name="矩形 7"/>
          <p:cNvSpPr>
            <a:spLocks noChangeArrowheads="1"/>
          </p:cNvSpPr>
          <p:nvPr/>
        </p:nvSpPr>
        <p:spPr bwMode="auto">
          <a:xfrm>
            <a:off x="2251075" y="5581650"/>
            <a:ext cx="4206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b="1">
                <a:solidFill>
                  <a:srgbClr val="FF0000"/>
                </a:solidFill>
                <a:latin typeface="楷体" panose="02010609060101010101" pitchFamily="49" charset="-122"/>
                <a:ea typeface="楷体" panose="02010609060101010101" pitchFamily="49" charset="-122"/>
              </a:rPr>
              <a:t>超支化共聚物；树枝状共聚物</a:t>
            </a:r>
            <a:endParaRPr lang="zh-CN" altLang="en-US" sz="2400">
              <a:solidFill>
                <a:srgbClr val="FF0000"/>
              </a:solidFill>
            </a:endParaRPr>
          </a:p>
        </p:txBody>
      </p:sp>
      <p:sp>
        <p:nvSpPr>
          <p:cNvPr id="9" name="矩形 7">
            <a:extLst>
              <a:ext uri="{FF2B5EF4-FFF2-40B4-BE49-F238E27FC236}">
                <a16:creationId xmlns:a16="http://schemas.microsoft.com/office/drawing/2014/main" id="{CA88FDD4-C3F6-46C4-BE55-5524545B4AD1}"/>
              </a:ext>
            </a:extLst>
          </p:cNvPr>
          <p:cNvSpPr>
            <a:spLocks noChangeArrowheads="1"/>
          </p:cNvSpPr>
          <p:nvPr/>
        </p:nvSpPr>
        <p:spPr bwMode="auto">
          <a:xfrm>
            <a:off x="3419475" y="6105525"/>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defRPr/>
            </a:pPr>
            <a:r>
              <a:rPr kumimoji="1" lang="zh-CN" altLang="en-US"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拓扑结构</a:t>
            </a:r>
            <a:endParaRPr lang="zh-CN" altLang="en-US" dirty="0">
              <a:effectLst>
                <a:outerShdw blurRad="38100" dist="38100" dir="2700000" algn="tl">
                  <a:srgbClr val="000000">
                    <a:alpha val="43137"/>
                  </a:srgbClr>
                </a:outerShdw>
              </a:effectLst>
            </a:endParaRPr>
          </a:p>
        </p:txBody>
      </p:sp>
      <p:sp>
        <p:nvSpPr>
          <p:cNvPr id="2" name="文本框 1">
            <a:extLst>
              <a:ext uri="{FF2B5EF4-FFF2-40B4-BE49-F238E27FC236}">
                <a16:creationId xmlns:a16="http://schemas.microsoft.com/office/drawing/2014/main" id="{28E79ED0-94A0-48F2-B3F0-A5638A572F4B}"/>
              </a:ext>
            </a:extLst>
          </p:cNvPr>
          <p:cNvSpPr txBox="1"/>
          <p:nvPr/>
        </p:nvSpPr>
        <p:spPr>
          <a:xfrm>
            <a:off x="5729288" y="116313"/>
            <a:ext cx="2633242" cy="954107"/>
          </a:xfrm>
          <a:prstGeom prst="rect">
            <a:avLst/>
          </a:prstGeom>
          <a:noFill/>
        </p:spPr>
        <p:txBody>
          <a:bodyPr wrap="square" rtlCol="0">
            <a:spAutoFit/>
          </a:bodyPr>
          <a:lstStyle/>
          <a:p>
            <a:r>
              <a:rPr lang="zh-CN" altLang="en-US" sz="2800" dirty="0">
                <a:solidFill>
                  <a:srgbClr val="FF0000"/>
                </a:solidFill>
              </a:rPr>
              <a:t>有没有其他的共聚物结构？</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EF56AEA-2EDA-4264-98B4-18B1E55702B7}"/>
              </a:ext>
            </a:extLst>
          </p:cNvPr>
          <p:cNvSpPr>
            <a:spLocks noGrp="1"/>
          </p:cNvSpPr>
          <p:nvPr>
            <p:ph type="sldNum" sz="quarter" idx="12"/>
          </p:nvPr>
        </p:nvSpPr>
        <p:spPr/>
        <p:txBody>
          <a:bodyPr/>
          <a:lstStyle/>
          <a:p>
            <a:pPr>
              <a:defRPr/>
            </a:pPr>
            <a:fld id="{091190F7-C745-4DA1-BE02-E0AAE2918659}" type="slidenum">
              <a:rPr lang="zh-CN" altLang="en-US" smtClean="0"/>
              <a:pPr>
                <a:defRPr/>
              </a:pPr>
              <a:t>12</a:t>
            </a:fld>
            <a:endParaRPr lang="en-US" altLang="zh-CN"/>
          </a:p>
        </p:txBody>
      </p:sp>
      <p:sp>
        <p:nvSpPr>
          <p:cNvPr id="30723" name="Rectangle 1"/>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zh-CN" altLang="en-US" sz="1800"/>
          </a:p>
        </p:txBody>
      </p:sp>
      <p:pic>
        <p:nvPicPr>
          <p:cNvPr id="30724"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9388" y="692150"/>
            <a:ext cx="8785225" cy="52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BACC9E22-5EDC-4157-A0B8-832DBB024A98}"/>
              </a:ext>
            </a:extLst>
          </p:cNvPr>
          <p:cNvSpPr/>
          <p:nvPr/>
        </p:nvSpPr>
        <p:spPr>
          <a:xfrm>
            <a:off x="468313" y="6103938"/>
            <a:ext cx="8783637" cy="369887"/>
          </a:xfrm>
          <a:prstGeom prst="rect">
            <a:avLst/>
          </a:prstGeom>
        </p:spPr>
        <p:txBody>
          <a:bodyPr>
            <a:spAutoFit/>
          </a:bodyPr>
          <a:lstStyle/>
          <a:p>
            <a:pPr>
              <a:defRPr/>
            </a:pPr>
            <a:r>
              <a:rPr lang="en-US" altLang="zh-CN" kern="100" dirty="0">
                <a:latin typeface="Times New Roman" panose="02020603050405020304" pitchFamily="18" charset="0"/>
                <a:ea typeface="宋体" panose="02010600030101010101" pitchFamily="2" charset="-122"/>
              </a:rPr>
              <a:t>Schematic illustration of polymer and polymer brushes from zero dimension (0D) to 3D.</a:t>
            </a:r>
            <a:endParaRPr lang="zh-CN" altLang="en-US" dirty="0"/>
          </a:p>
        </p:txBody>
      </p:sp>
      <p:sp>
        <p:nvSpPr>
          <p:cNvPr id="6" name="矩形 5">
            <a:extLst>
              <a:ext uri="{FF2B5EF4-FFF2-40B4-BE49-F238E27FC236}">
                <a16:creationId xmlns:a16="http://schemas.microsoft.com/office/drawing/2014/main" id="{025DE82E-A335-4F35-92DC-5B773F0FC569}"/>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3A8613A-524A-4AA7-AF17-3A107CB4D52E}"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13</a:t>
            </a:fld>
            <a:endParaRPr lang="en-US" altLang="zh-CN" sz="1400">
              <a:latin typeface="Times New Roman" panose="02020603050405020304" pitchFamily="18" charset="0"/>
              <a:ea typeface="宋体" panose="02010600030101010101" pitchFamily="2" charset="-122"/>
            </a:endParaRPr>
          </a:p>
        </p:txBody>
      </p:sp>
      <p:sp>
        <p:nvSpPr>
          <p:cNvPr id="31747" name="Text Box 2"/>
          <p:cNvSpPr txBox="1">
            <a:spLocks noChangeArrowheads="1"/>
          </p:cNvSpPr>
          <p:nvPr/>
        </p:nvSpPr>
        <p:spPr bwMode="auto">
          <a:xfrm>
            <a:off x="1258888" y="3429000"/>
            <a:ext cx="67056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Clr>
                <a:srgbClr val="FF0000"/>
              </a:buClr>
              <a:buSzPct val="90000"/>
              <a:buFont typeface="Wingdings" panose="05000000000000000000" pitchFamily="2" charset="2"/>
              <a:buChar char="u"/>
            </a:pPr>
            <a:r>
              <a:rPr kumimoji="1" lang="zh-CN" altLang="en-US" sz="2400" b="1">
                <a:solidFill>
                  <a:schemeClr val="folHlink"/>
                </a:solidFill>
                <a:latin typeface="楷体" panose="02010609060101010101" pitchFamily="49" charset="-122"/>
                <a:ea typeface="楷体" panose="02010609060101010101" pitchFamily="49" charset="-122"/>
              </a:rPr>
              <a:t>  </a:t>
            </a:r>
            <a:r>
              <a:rPr kumimoji="1" lang="zh-CN" altLang="en-US" sz="2400" b="1">
                <a:latin typeface="楷体" panose="02010609060101010101" pitchFamily="49" charset="-122"/>
                <a:ea typeface="楷体" panose="02010609060101010101" pitchFamily="49" charset="-122"/>
              </a:rPr>
              <a:t>无规共聚物：前为主单体，后为第二单体；</a:t>
            </a:r>
          </a:p>
          <a:p>
            <a:pPr algn="just" eaLnBrk="1" hangingPunct="1">
              <a:lnSpc>
                <a:spcPct val="100000"/>
              </a:lnSpc>
              <a:spcBef>
                <a:spcPct val="50000"/>
              </a:spcBef>
              <a:buClr>
                <a:srgbClr val="FF0000"/>
              </a:buClr>
              <a:buSzPct val="90000"/>
              <a:buFont typeface="Wingdings" panose="05000000000000000000" pitchFamily="2" charset="2"/>
              <a:buChar char="u"/>
            </a:pPr>
            <a:r>
              <a:rPr kumimoji="1" lang="zh-CN" altLang="en-US" sz="2400" b="1">
                <a:latin typeface="楷体" panose="02010609060101010101" pitchFamily="49" charset="-122"/>
                <a:ea typeface="楷体" panose="02010609060101010101" pitchFamily="49" charset="-122"/>
              </a:rPr>
              <a:t>  嵌段共聚物：前后代表单体聚合的次序；</a:t>
            </a:r>
          </a:p>
          <a:p>
            <a:pPr algn="just" eaLnBrk="1" hangingPunct="1">
              <a:lnSpc>
                <a:spcPct val="100000"/>
              </a:lnSpc>
              <a:spcBef>
                <a:spcPct val="50000"/>
              </a:spcBef>
              <a:buClr>
                <a:srgbClr val="FF0000"/>
              </a:buClr>
              <a:buSzPct val="90000"/>
              <a:buFont typeface="Wingdings" panose="05000000000000000000" pitchFamily="2" charset="2"/>
              <a:buChar char="u"/>
            </a:pPr>
            <a:r>
              <a:rPr kumimoji="1" lang="zh-CN" altLang="en-US" sz="2400" b="1">
                <a:latin typeface="楷体" panose="02010609060101010101" pitchFamily="49" charset="-122"/>
                <a:ea typeface="楷体" panose="02010609060101010101" pitchFamily="49" charset="-122"/>
              </a:rPr>
              <a:t>  接枝共聚物：前为主链，后为支链。</a:t>
            </a:r>
          </a:p>
        </p:txBody>
      </p:sp>
      <p:sp>
        <p:nvSpPr>
          <p:cNvPr id="31748" name="Rectangle 3"/>
          <p:cNvSpPr>
            <a:spLocks noChangeArrowheads="1"/>
          </p:cNvSpPr>
          <p:nvPr/>
        </p:nvSpPr>
        <p:spPr bwMode="auto">
          <a:xfrm>
            <a:off x="404813" y="269875"/>
            <a:ext cx="23526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2</a:t>
            </a:r>
            <a:r>
              <a:rPr kumimoji="1" lang="en-US" altLang="zh-CN" sz="2400" b="1">
                <a:solidFill>
                  <a:srgbClr val="FF0000"/>
                </a:solidFill>
                <a:latin typeface="楷体" panose="02010609060101010101" pitchFamily="49" charset="-122"/>
                <a:ea typeface="楷体" panose="02010609060101010101" pitchFamily="49" charset="-122"/>
              </a:rPr>
              <a:t>)</a:t>
            </a:r>
            <a:r>
              <a:rPr kumimoji="1" lang="zh-CN" altLang="en-US" sz="2400" b="1">
                <a:solidFill>
                  <a:srgbClr val="FF0000"/>
                </a:solidFill>
                <a:latin typeface="楷体" panose="02010609060101010101" pitchFamily="49" charset="-122"/>
                <a:ea typeface="楷体" panose="02010609060101010101" pitchFamily="49" charset="-122"/>
              </a:rPr>
              <a:t>共聚物的命名</a:t>
            </a:r>
          </a:p>
        </p:txBody>
      </p:sp>
      <p:sp>
        <p:nvSpPr>
          <p:cNvPr id="31749" name="Rectangle 4"/>
          <p:cNvSpPr>
            <a:spLocks noChangeArrowheads="1"/>
          </p:cNvSpPr>
          <p:nvPr/>
        </p:nvSpPr>
        <p:spPr bwMode="auto">
          <a:xfrm>
            <a:off x="633413" y="981075"/>
            <a:ext cx="8140700" cy="157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《高分子化学命名原则》：共聚单体名称间加一短横线，前面冠以</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“聚”</a:t>
            </a:r>
            <a:r>
              <a:rPr kumimoji="1" lang="zh-CN" altLang="en-US" sz="2400" b="1">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b="1">
                <a:latin typeface="Arial" panose="020B0604020202020204" pitchFamily="34" charset="0"/>
                <a:ea typeface="楷体" panose="02010609060101010101" pitchFamily="49" charset="-122"/>
                <a:cs typeface="Arial" panose="020B0604020202020204" pitchFamily="34" charset="0"/>
              </a:rPr>
              <a:t>字，或后面冠以</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“共聚物”</a:t>
            </a:r>
            <a:r>
              <a:rPr kumimoji="1" lang="zh-CN" altLang="en-US" sz="2400" b="1">
                <a:latin typeface="Arial" panose="020B0604020202020204" pitchFamily="34" charset="0"/>
                <a:ea typeface="楷体" panose="02010609060101010101" pitchFamily="49" charset="-122"/>
                <a:cs typeface="Arial" panose="020B0604020202020204" pitchFamily="34" charset="0"/>
              </a:rPr>
              <a:t>。</a:t>
            </a:r>
          </a:p>
          <a:p>
            <a:pPr eaLnBrk="1" hangingPunct="1">
              <a:lnSpc>
                <a:spcPct val="100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如：</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聚</a:t>
            </a:r>
            <a:r>
              <a:rPr kumimoji="1" lang="zh-CN" altLang="en-US" sz="2400" b="1">
                <a:latin typeface="Arial" panose="020B0604020202020204" pitchFamily="34" charset="0"/>
                <a:ea typeface="楷体" panose="02010609060101010101" pitchFamily="49" charset="-122"/>
                <a:cs typeface="Arial" panose="020B0604020202020204" pitchFamily="34" charset="0"/>
              </a:rPr>
              <a:t>氯乙烯－醋酸乙烯酯；氯乙烯-醋酸乙烯酯</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共聚物</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4EC03308-3531-486C-8361-8B6CDC64C8A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4515" name="Rectangle 3">
            <a:extLst>
              <a:ext uri="{FF2B5EF4-FFF2-40B4-BE49-F238E27FC236}">
                <a16:creationId xmlns:a16="http://schemas.microsoft.com/office/drawing/2014/main" id="{F021AF94-248D-45C6-A8A1-ED0B933A4275}"/>
              </a:ext>
            </a:extLst>
          </p:cNvPr>
          <p:cNvSpPr>
            <a:spLocks noGrp="1" noChangeArrowheads="1"/>
          </p:cNvSpPr>
          <p:nvPr>
            <p:ph sz="quarter" idx="1"/>
          </p:nvPr>
        </p:nvSpPr>
        <p:spPr>
          <a:xfrm>
            <a:off x="471488" y="1439863"/>
            <a:ext cx="8421687" cy="4916487"/>
          </a:xfrm>
        </p:spPr>
        <p:txBody>
          <a:bodyPr>
            <a:normAutofit fontScale="92500"/>
          </a:bodyPr>
          <a:lstStyle/>
          <a:p>
            <a:pPr marL="274320" indent="-274320" eaLnBrk="1" fontAlgn="auto" hangingPunct="1">
              <a:lnSpc>
                <a:spcPct val="150000"/>
              </a:lnSpc>
              <a:spcAft>
                <a:spcPts val="0"/>
              </a:spcAft>
              <a:buFontTx/>
              <a:buNone/>
              <a:defRPr/>
            </a:pPr>
            <a:r>
              <a:rPr lang="zh-CN" altLang="en-US" sz="2600" b="1" dirty="0"/>
              <a:t>－</a:t>
            </a:r>
            <a:r>
              <a:rPr lang="en-US" altLang="zh-CN" sz="2600" b="1" i="1" dirty="0"/>
              <a:t>co</a:t>
            </a:r>
            <a:r>
              <a:rPr lang="en-US" altLang="zh-CN" sz="2600" b="1" dirty="0"/>
              <a:t>－，－</a:t>
            </a:r>
            <a:r>
              <a:rPr lang="en-US" altLang="zh-CN" sz="2600" b="1" i="1" dirty="0"/>
              <a:t>alt</a:t>
            </a:r>
            <a:r>
              <a:rPr lang="en-US" altLang="zh-CN" sz="2600" b="1" dirty="0"/>
              <a:t>－，－</a:t>
            </a:r>
            <a:r>
              <a:rPr lang="en-US" altLang="zh-CN" sz="2600" b="1" i="1" dirty="0"/>
              <a:t>b</a:t>
            </a:r>
            <a:r>
              <a:rPr lang="en-US" altLang="zh-CN" sz="2600" b="1" dirty="0"/>
              <a:t>－，－</a:t>
            </a:r>
            <a:r>
              <a:rPr lang="en-US" altLang="zh-CN" sz="2600" b="1" i="1" dirty="0"/>
              <a:t>g</a:t>
            </a:r>
            <a:r>
              <a:rPr lang="en-US" altLang="zh-CN" sz="2600" b="1" dirty="0"/>
              <a:t>－ </a:t>
            </a:r>
            <a:r>
              <a:rPr lang="zh-CN" altLang="en-US" sz="2600" b="1" dirty="0">
                <a:latin typeface="楷体" panose="02010609060101010101" pitchFamily="49" charset="-122"/>
                <a:ea typeface="楷体" panose="02010609060101010101" pitchFamily="49" charset="-122"/>
              </a:rPr>
              <a:t>表明共聚物的类型</a:t>
            </a:r>
            <a:endParaRPr lang="en-US" altLang="zh-CN" sz="2600" b="1" dirty="0">
              <a:latin typeface="楷体" panose="02010609060101010101" pitchFamily="49" charset="-122"/>
              <a:ea typeface="楷体" panose="02010609060101010101" pitchFamily="49" charset="-122"/>
            </a:endParaRPr>
          </a:p>
          <a:p>
            <a:pPr marL="274320" indent="-274320" eaLnBrk="1" fontAlgn="auto" hangingPunct="1">
              <a:lnSpc>
                <a:spcPct val="150000"/>
              </a:lnSpc>
              <a:spcAft>
                <a:spcPts val="0"/>
              </a:spcAft>
              <a:buFontTx/>
              <a:buNone/>
              <a:defRPr/>
            </a:pPr>
            <a:endParaRPr lang="zh-CN" altLang="en-US" sz="2100" b="1" dirty="0">
              <a:solidFill>
                <a:schemeClr val="bg2"/>
              </a:solidFill>
            </a:endParaRPr>
          </a:p>
          <a:p>
            <a:pPr marL="274320" indent="-274320" eaLnBrk="1" fontAlgn="auto" hangingPunct="1">
              <a:lnSpc>
                <a:spcPct val="150000"/>
              </a:lnSpc>
              <a:spcAft>
                <a:spcPts val="0"/>
              </a:spcAft>
              <a:buFontTx/>
              <a:buNone/>
              <a:defRPr/>
            </a:pPr>
            <a:r>
              <a:rPr lang="zh-CN" altLang="zh-CN" sz="2100" dirty="0"/>
              <a:t>                    	            	                                </a:t>
            </a:r>
            <a:r>
              <a:rPr lang="en-US" altLang="zh-CN" sz="2100" dirty="0"/>
              <a:t>    </a:t>
            </a:r>
            <a:r>
              <a:rPr lang="zh-CN" altLang="en-US" sz="2100" dirty="0"/>
              <a:t> </a:t>
            </a:r>
            <a:r>
              <a:rPr lang="zh-CN" altLang="en-US" sz="2100" b="1" dirty="0">
                <a:latin typeface="楷体" panose="02010609060101010101" pitchFamily="49" charset="-122"/>
                <a:ea typeface="楷体" panose="02010609060101010101" pitchFamily="49" charset="-122"/>
              </a:rPr>
              <a:t>前一单体         后一单体</a:t>
            </a:r>
          </a:p>
          <a:p>
            <a:pPr eaLnBrk="1" fontAlgn="auto" hangingPunct="1">
              <a:spcAft>
                <a:spcPts val="0"/>
              </a:spcAft>
              <a:buClr>
                <a:srgbClr val="FF0000"/>
              </a:buClr>
              <a:buFont typeface="Wingdings" panose="05000000000000000000" pitchFamily="2" charset="2"/>
              <a:buChar char="Ø"/>
              <a:defRPr/>
            </a:pPr>
            <a:r>
              <a:rPr lang="en-US" altLang="zh-CN" sz="2200" b="1" dirty="0">
                <a:solidFill>
                  <a:srgbClr val="FF0000"/>
                </a:solidFill>
              </a:rPr>
              <a:t>random copolymer     </a:t>
            </a:r>
            <a:r>
              <a:rPr lang="en-US" altLang="zh-CN" sz="2200" dirty="0">
                <a:solidFill>
                  <a:srgbClr val="FF0000"/>
                </a:solidFill>
              </a:rPr>
              <a:t>Poly(St-</a:t>
            </a:r>
            <a:r>
              <a:rPr lang="en-US" altLang="zh-CN" sz="2200" i="1" dirty="0">
                <a:solidFill>
                  <a:srgbClr val="FF0000"/>
                </a:solidFill>
              </a:rPr>
              <a:t>co</a:t>
            </a:r>
            <a:r>
              <a:rPr lang="en-US" altLang="zh-CN" sz="2200" dirty="0">
                <a:solidFill>
                  <a:srgbClr val="FF0000"/>
                </a:solidFill>
              </a:rPr>
              <a:t>-MMA)</a:t>
            </a:r>
            <a:r>
              <a:rPr lang="zh-CN" altLang="en-US" sz="2200" dirty="0">
                <a:solidFill>
                  <a:srgbClr val="FF0000"/>
                </a:solidFill>
              </a:rPr>
              <a:t>         </a:t>
            </a:r>
            <a:r>
              <a:rPr lang="zh-CN" altLang="en-US" sz="2200" b="1" dirty="0">
                <a:latin typeface="楷体" panose="02010609060101010101" pitchFamily="49" charset="-122"/>
                <a:ea typeface="楷体" panose="02010609060101010101" pitchFamily="49" charset="-122"/>
                <a:cs typeface="Arial" panose="020B0604020202020204" pitchFamily="34" charset="0"/>
              </a:rPr>
              <a:t>主单体           次单体</a:t>
            </a:r>
          </a:p>
          <a:p>
            <a:pPr eaLnBrk="1" fontAlgn="auto" hangingPunct="1">
              <a:spcAft>
                <a:spcPts val="0"/>
              </a:spcAft>
              <a:buClr>
                <a:srgbClr val="FF0000"/>
              </a:buClr>
              <a:buFont typeface="Wingdings" panose="05000000000000000000" pitchFamily="2" charset="2"/>
              <a:buChar char="Ø"/>
              <a:defRPr/>
            </a:pPr>
            <a:endParaRPr lang="zh-CN" altLang="zh-CN" sz="2200" b="1" dirty="0">
              <a:solidFill>
                <a:srgbClr val="FF0000"/>
              </a:solidFill>
            </a:endParaRPr>
          </a:p>
          <a:p>
            <a:pPr eaLnBrk="1" fontAlgn="auto" hangingPunct="1">
              <a:spcAft>
                <a:spcPts val="0"/>
              </a:spcAft>
              <a:buClr>
                <a:srgbClr val="FF0000"/>
              </a:buClr>
              <a:buFont typeface="Wingdings" panose="05000000000000000000" pitchFamily="2" charset="2"/>
              <a:buChar char="Ø"/>
              <a:defRPr/>
            </a:pPr>
            <a:r>
              <a:rPr lang="en-US" altLang="zh-CN" sz="2200" b="1" dirty="0">
                <a:solidFill>
                  <a:srgbClr val="FF0000"/>
                </a:solidFill>
              </a:rPr>
              <a:t>alternating</a:t>
            </a:r>
            <a:r>
              <a:rPr lang="en-US" altLang="zh-CN" sz="2200" dirty="0">
                <a:solidFill>
                  <a:srgbClr val="FF0000"/>
                </a:solidFill>
              </a:rPr>
              <a:t>	           Poly(St-</a:t>
            </a:r>
            <a:r>
              <a:rPr lang="en-US" altLang="zh-CN" sz="2200" i="1" dirty="0">
                <a:solidFill>
                  <a:srgbClr val="FF0000"/>
                </a:solidFill>
              </a:rPr>
              <a:t>alt</a:t>
            </a:r>
            <a:r>
              <a:rPr lang="en-US" altLang="zh-CN" sz="2200" dirty="0">
                <a:solidFill>
                  <a:srgbClr val="FF0000"/>
                </a:solidFill>
              </a:rPr>
              <a:t>-MAH)           </a:t>
            </a:r>
            <a:r>
              <a:rPr lang="en-US" altLang="zh-CN" sz="2200" b="1" dirty="0">
                <a:solidFill>
                  <a:srgbClr val="FF0000"/>
                </a:solidFill>
              </a:rPr>
              <a:t>	                       	</a:t>
            </a:r>
          </a:p>
          <a:p>
            <a:pPr eaLnBrk="1" fontAlgn="auto" hangingPunct="1">
              <a:spcAft>
                <a:spcPts val="0"/>
              </a:spcAft>
              <a:buClr>
                <a:srgbClr val="FF0000"/>
              </a:buClr>
              <a:buFont typeface="Wingdings" panose="05000000000000000000" pitchFamily="2" charset="2"/>
              <a:buChar char="Ø"/>
              <a:defRPr/>
            </a:pPr>
            <a:endParaRPr lang="en-US" altLang="zh-CN" sz="2200" b="1" dirty="0">
              <a:solidFill>
                <a:srgbClr val="FF0000"/>
              </a:solidFill>
            </a:endParaRPr>
          </a:p>
          <a:p>
            <a:pPr eaLnBrk="1" fontAlgn="auto" hangingPunct="1">
              <a:spcAft>
                <a:spcPts val="0"/>
              </a:spcAft>
              <a:buClr>
                <a:srgbClr val="FF0000"/>
              </a:buClr>
              <a:buFont typeface="Wingdings" panose="05000000000000000000" pitchFamily="2" charset="2"/>
              <a:buChar char="Ø"/>
              <a:defRPr/>
            </a:pPr>
            <a:r>
              <a:rPr lang="en-US" altLang="zh-CN" sz="2200" b="1" dirty="0">
                <a:solidFill>
                  <a:srgbClr val="FF0000"/>
                </a:solidFill>
              </a:rPr>
              <a:t>block	</a:t>
            </a:r>
            <a:r>
              <a:rPr lang="en-US" altLang="zh-CN" sz="2200" dirty="0">
                <a:solidFill>
                  <a:srgbClr val="FF0000"/>
                </a:solidFill>
              </a:rPr>
              <a:t>                            Poly(St-</a:t>
            </a:r>
            <a:r>
              <a:rPr lang="en-US" altLang="zh-CN" sz="2200" i="1" dirty="0">
                <a:solidFill>
                  <a:srgbClr val="FF0000"/>
                </a:solidFill>
              </a:rPr>
              <a:t>b</a:t>
            </a:r>
            <a:r>
              <a:rPr lang="en-US" altLang="zh-CN" sz="2200" dirty="0">
                <a:solidFill>
                  <a:srgbClr val="FF0000"/>
                </a:solidFill>
              </a:rPr>
              <a:t>-</a:t>
            </a:r>
            <a:r>
              <a:rPr lang="en-US" altLang="zh-CN" sz="2200" dirty="0" err="1">
                <a:solidFill>
                  <a:srgbClr val="FF0000"/>
                </a:solidFill>
              </a:rPr>
              <a:t>Bd</a:t>
            </a:r>
            <a:r>
              <a:rPr lang="en-US" altLang="zh-CN" sz="2200" dirty="0">
                <a:solidFill>
                  <a:srgbClr val="FF0000"/>
                </a:solidFill>
              </a:rPr>
              <a:t>)	           </a:t>
            </a:r>
            <a:r>
              <a:rPr lang="zh-CN" altLang="en-US" sz="2200" b="1" dirty="0">
                <a:solidFill>
                  <a:srgbClr val="FF0000"/>
                </a:solidFill>
              </a:rPr>
              <a:t>	</a:t>
            </a:r>
          </a:p>
          <a:p>
            <a:pPr eaLnBrk="1" fontAlgn="auto" hangingPunct="1">
              <a:spcAft>
                <a:spcPts val="0"/>
              </a:spcAft>
              <a:buClr>
                <a:srgbClr val="FF0000"/>
              </a:buClr>
              <a:buFont typeface="Wingdings" panose="05000000000000000000" pitchFamily="2" charset="2"/>
              <a:buChar char="Ø"/>
              <a:defRPr/>
            </a:pPr>
            <a:endParaRPr lang="zh-CN" altLang="en-US" sz="2200" b="1" dirty="0">
              <a:solidFill>
                <a:srgbClr val="FF0000"/>
              </a:solidFill>
            </a:endParaRPr>
          </a:p>
          <a:p>
            <a:pPr eaLnBrk="1" fontAlgn="auto" hangingPunct="1">
              <a:spcAft>
                <a:spcPts val="0"/>
              </a:spcAft>
              <a:buClr>
                <a:srgbClr val="FF0000"/>
              </a:buClr>
              <a:buFont typeface="Wingdings" panose="05000000000000000000" pitchFamily="2" charset="2"/>
              <a:buChar char="Ø"/>
              <a:defRPr/>
            </a:pPr>
            <a:r>
              <a:rPr lang="en-US" altLang="zh-CN" sz="2200" b="1" dirty="0">
                <a:solidFill>
                  <a:srgbClr val="FF0000"/>
                </a:solidFill>
              </a:rPr>
              <a:t>graft	</a:t>
            </a:r>
            <a:r>
              <a:rPr lang="en-US" altLang="zh-CN" sz="2200" dirty="0"/>
              <a:t>                            </a:t>
            </a:r>
            <a:r>
              <a:rPr lang="en-US" altLang="zh-CN" sz="2200" dirty="0">
                <a:solidFill>
                  <a:srgbClr val="FF0000"/>
                </a:solidFill>
              </a:rPr>
              <a:t>Poly(MMA-</a:t>
            </a:r>
            <a:r>
              <a:rPr lang="en-US" altLang="zh-CN" sz="2200" i="1" dirty="0">
                <a:solidFill>
                  <a:srgbClr val="FF0000"/>
                </a:solidFill>
              </a:rPr>
              <a:t>g</a:t>
            </a:r>
            <a:r>
              <a:rPr lang="en-US" altLang="zh-CN" sz="2200" dirty="0">
                <a:solidFill>
                  <a:srgbClr val="FF0000"/>
                </a:solidFill>
              </a:rPr>
              <a:t>-St)           </a:t>
            </a:r>
            <a:r>
              <a:rPr lang="zh-CN" altLang="en-US" sz="2200" b="1" dirty="0">
                <a:latin typeface="楷体" panose="02010609060101010101" pitchFamily="49" charset="-122"/>
                <a:ea typeface="楷体" panose="02010609060101010101" pitchFamily="49" charset="-122"/>
              </a:rPr>
              <a:t>主链单体         支链单体</a:t>
            </a:r>
          </a:p>
          <a:p>
            <a:pPr marL="274320" indent="-274320" algn="just" eaLnBrk="1" fontAlgn="auto" hangingPunct="1">
              <a:spcAft>
                <a:spcPts val="0"/>
              </a:spcAft>
              <a:buFont typeface="Wingdings"/>
              <a:buChar char=""/>
              <a:defRPr/>
            </a:pPr>
            <a:endParaRPr lang="zh-CN" altLang="en-US" sz="2100" b="1" dirty="0">
              <a:solidFill>
                <a:srgbClr val="0033CC"/>
              </a:solidFill>
            </a:endParaRPr>
          </a:p>
        </p:txBody>
      </p:sp>
      <p:sp>
        <p:nvSpPr>
          <p:cNvPr id="32772" name="Rectangle 5"/>
          <p:cNvSpPr>
            <a:spLocks noChangeArrowheads="1"/>
          </p:cNvSpPr>
          <p:nvPr/>
        </p:nvSpPr>
        <p:spPr bwMode="auto">
          <a:xfrm>
            <a:off x="628650" y="442913"/>
            <a:ext cx="21780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IUPAC</a:t>
            </a:r>
            <a:r>
              <a:rPr kumimoji="1" lang="zh-CN" altLang="en-US" sz="2400" b="1">
                <a:latin typeface="Arial" panose="020B0604020202020204" pitchFamily="34" charset="0"/>
                <a:ea typeface="楷体" panose="02010609060101010101" pitchFamily="49" charset="-122"/>
                <a:cs typeface="Arial" panose="020B0604020202020204" pitchFamily="34" charset="0"/>
              </a:rPr>
              <a:t>命名</a:t>
            </a:r>
          </a:p>
        </p:txBody>
      </p:sp>
      <p:sp>
        <p:nvSpPr>
          <p:cNvPr id="32773" name="矩形 2"/>
          <p:cNvSpPr>
            <a:spLocks noChangeArrowheads="1"/>
          </p:cNvSpPr>
          <p:nvPr/>
        </p:nvSpPr>
        <p:spPr bwMode="auto">
          <a:xfrm>
            <a:off x="471488" y="2084388"/>
            <a:ext cx="434498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en-US" altLang="zh-CN" sz="1800" b="1">
                <a:latin typeface="Arial" panose="020B0604020202020204" pitchFamily="34" charset="0"/>
                <a:ea typeface="楷体" panose="02010609060101010101" pitchFamily="49" charset="-122"/>
                <a:cs typeface="Arial" panose="020B0604020202020204" pitchFamily="34" charset="0"/>
              </a:rPr>
              <a:t>Copolymer,  Alternating,  Block,  Graft</a:t>
            </a:r>
            <a:endParaRPr lang="zh-CN" altLang="en-US" sz="1800">
              <a:cs typeface="Arial" panose="020B0604020202020204" pitchFamily="34" charset="0"/>
            </a:endParaRPr>
          </a:p>
        </p:txBody>
      </p:sp>
      <p:sp>
        <p:nvSpPr>
          <p:cNvPr id="3" name="灯片编号占位符 2">
            <a:extLst>
              <a:ext uri="{FF2B5EF4-FFF2-40B4-BE49-F238E27FC236}">
                <a16:creationId xmlns:a16="http://schemas.microsoft.com/office/drawing/2014/main" id="{9A533E30-67DF-4578-B065-37482BBE8D00}"/>
              </a:ext>
            </a:extLst>
          </p:cNvPr>
          <p:cNvSpPr>
            <a:spLocks noGrp="1"/>
          </p:cNvSpPr>
          <p:nvPr>
            <p:ph type="sldNum" sz="quarter" idx="12"/>
          </p:nvPr>
        </p:nvSpPr>
        <p:spPr/>
        <p:txBody>
          <a:bodyPr/>
          <a:lstStyle/>
          <a:p>
            <a:pPr>
              <a:defRPr/>
            </a:pPr>
            <a:fld id="{C3938D10-F9CE-4BC7-904C-3409325100EB}" type="slidenum">
              <a:rPr lang="zh-CN" altLang="en-US" smtClean="0"/>
              <a:pPr>
                <a:defRPr/>
              </a:pPr>
              <a:t>14</a:t>
            </a:fld>
            <a:endParaRPr lang="en-US" altLang="zh-C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E360746-BA0B-4F95-9132-A50E6997C5E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15</a:t>
            </a:fld>
            <a:endParaRPr lang="en-US" altLang="zh-CN" sz="1400">
              <a:latin typeface="Times New Roman" panose="02020603050405020304" pitchFamily="18" charset="0"/>
              <a:ea typeface="宋体" panose="02010600030101010101" pitchFamily="2" charset="-122"/>
            </a:endParaRPr>
          </a:p>
        </p:txBody>
      </p:sp>
      <p:sp>
        <p:nvSpPr>
          <p:cNvPr id="33795" name="Rectangle 2"/>
          <p:cNvSpPr>
            <a:spLocks noChangeArrowheads="1"/>
          </p:cNvSpPr>
          <p:nvPr/>
        </p:nvSpPr>
        <p:spPr bwMode="auto">
          <a:xfrm>
            <a:off x="762000" y="1905000"/>
            <a:ext cx="7772400"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Clr>
                <a:srgbClr val="FF0000"/>
              </a:buClr>
              <a:buFont typeface="Wingdings" panose="05000000000000000000" pitchFamily="2" charset="2"/>
              <a:buChar char="Ø"/>
            </a:pPr>
            <a:r>
              <a:rPr kumimoji="1" lang="zh-CN" altLang="en-US" sz="2400" b="1">
                <a:latin typeface="楷体" panose="02010609060101010101" pitchFamily="49" charset="-122"/>
                <a:ea typeface="楷体" panose="02010609060101010101" pitchFamily="49" charset="-122"/>
              </a:rPr>
              <a:t>利用共聚合反应测定单体及自由基的活性</a:t>
            </a:r>
            <a:endParaRPr kumimoji="1" lang="en-US" altLang="zh-CN" sz="2400" b="1">
              <a:latin typeface="楷体" panose="02010609060101010101" pitchFamily="49" charset="-122"/>
              <a:ea typeface="楷体" panose="02010609060101010101" pitchFamily="49" charset="-122"/>
            </a:endParaRPr>
          </a:p>
          <a:p>
            <a:pPr eaLnBrk="1" hangingPunct="1">
              <a:lnSpc>
                <a:spcPct val="150000"/>
              </a:lnSpc>
              <a:spcBef>
                <a:spcPct val="50000"/>
              </a:spcBef>
              <a:buClr>
                <a:srgbClr val="FF0000"/>
              </a:buClr>
              <a:buFont typeface="Wingdings" panose="05000000000000000000" pitchFamily="2" charset="2"/>
              <a:buChar char="Ø"/>
            </a:pPr>
            <a:r>
              <a:rPr kumimoji="1" lang="zh-CN" altLang="en-US" sz="2400" b="1">
                <a:latin typeface="楷体" panose="02010609060101010101" pitchFamily="49" charset="-122"/>
                <a:ea typeface="楷体" panose="02010609060101010101" pitchFamily="49" charset="-122"/>
              </a:rPr>
              <a:t>获得单体活性与反应能力的关系</a:t>
            </a:r>
            <a:endParaRPr kumimoji="1" lang="en-US" altLang="zh-CN" sz="2400" b="1">
              <a:latin typeface="楷体" panose="02010609060101010101" pitchFamily="49" charset="-122"/>
              <a:ea typeface="楷体" panose="02010609060101010101" pitchFamily="49" charset="-122"/>
            </a:endParaRPr>
          </a:p>
          <a:p>
            <a:pPr eaLnBrk="1" hangingPunct="1">
              <a:lnSpc>
                <a:spcPct val="150000"/>
              </a:lnSpc>
              <a:spcBef>
                <a:spcPct val="50000"/>
              </a:spcBef>
              <a:buClr>
                <a:srgbClr val="FF0000"/>
              </a:buClr>
              <a:buFont typeface="Wingdings" panose="05000000000000000000" pitchFamily="2" charset="2"/>
              <a:buChar char="Ø"/>
            </a:pPr>
            <a:r>
              <a:rPr kumimoji="1" lang="zh-CN" altLang="en-US" sz="2400" b="1">
                <a:latin typeface="楷体" panose="02010609060101010101" pitchFamily="49" charset="-122"/>
                <a:ea typeface="楷体" panose="02010609060101010101" pitchFamily="49" charset="-122"/>
              </a:rPr>
              <a:t>控制共聚物的组成和结构</a:t>
            </a:r>
          </a:p>
        </p:txBody>
      </p:sp>
      <p:sp>
        <p:nvSpPr>
          <p:cNvPr id="27653" name="Rectangle 3">
            <a:extLst>
              <a:ext uri="{FF2B5EF4-FFF2-40B4-BE49-F238E27FC236}">
                <a16:creationId xmlns:a16="http://schemas.microsoft.com/office/drawing/2014/main" id="{3B7F3583-8A2A-4517-A423-91E6AB920BC0}"/>
              </a:ext>
            </a:extLst>
          </p:cNvPr>
          <p:cNvSpPr>
            <a:spLocks noChangeArrowheads="1"/>
          </p:cNvSpPr>
          <p:nvPr/>
        </p:nvSpPr>
        <p:spPr bwMode="auto">
          <a:xfrm>
            <a:off x="792163" y="1168400"/>
            <a:ext cx="17303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kumimoji="1"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1.</a:t>
            </a:r>
            <a:r>
              <a:rPr kumimoji="1"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理论研究</a:t>
            </a:r>
          </a:p>
        </p:txBody>
      </p:sp>
      <p:sp>
        <p:nvSpPr>
          <p:cNvPr id="33797" name="Rectangle 3"/>
          <p:cNvSpPr>
            <a:spLocks noChangeArrowheads="1"/>
          </p:cNvSpPr>
          <p:nvPr/>
        </p:nvSpPr>
        <p:spPr bwMode="auto">
          <a:xfrm>
            <a:off x="539750" y="550863"/>
            <a:ext cx="363696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3</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研究共聚合反应的意义</a:t>
            </a:r>
          </a:p>
        </p:txBody>
      </p:sp>
      <p:sp>
        <p:nvSpPr>
          <p:cNvPr id="33798" name="矩形 2"/>
          <p:cNvSpPr>
            <a:spLocks noChangeArrowheads="1"/>
          </p:cNvSpPr>
          <p:nvPr/>
        </p:nvSpPr>
        <p:spPr bwMode="auto">
          <a:xfrm>
            <a:off x="900113" y="4508500"/>
            <a:ext cx="51276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3200" b="1">
                <a:solidFill>
                  <a:srgbClr val="FF0000"/>
                </a:solidFill>
                <a:latin typeface="楷体" panose="02010609060101010101" pitchFamily="49" charset="-122"/>
                <a:ea typeface="楷体" panose="02010609060101010101" pitchFamily="49" charset="-122"/>
              </a:rPr>
              <a:t>预测和指导合成新型聚合物</a:t>
            </a:r>
            <a:endParaRPr lang="zh-CN" altLang="en-US" sz="3200">
              <a:solidFill>
                <a:srgbClr val="FF0000"/>
              </a:solidFill>
            </a:endParaRPr>
          </a:p>
        </p:txBody>
      </p:sp>
      <p:sp>
        <p:nvSpPr>
          <p:cNvPr id="7" name="矩形 6">
            <a:extLst>
              <a:ext uri="{FF2B5EF4-FFF2-40B4-BE49-F238E27FC236}">
                <a16:creationId xmlns:a16="http://schemas.microsoft.com/office/drawing/2014/main" id="{FF354012-9361-4876-9E29-2B80C7440DB1}"/>
              </a:ext>
            </a:extLst>
          </p:cNvPr>
          <p:cNvSpPr/>
          <p:nvPr/>
        </p:nvSpPr>
        <p:spPr>
          <a:xfrm>
            <a:off x="6894393" y="4324340"/>
            <a:ext cx="1620957" cy="954107"/>
          </a:xfrm>
          <a:prstGeom prst="rect">
            <a:avLst/>
          </a:prstGeom>
          <a:solidFill>
            <a:srgbClr val="FF0000"/>
          </a:solidFill>
          <a:ln w="28575">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spAutoFit/>
          </a:bodyPr>
          <a:lstStyle/>
          <a:p>
            <a:pPr>
              <a:defRPr/>
            </a:pPr>
            <a:r>
              <a:rPr lang="zh-CN" altLang="en-US" sz="2800" b="1" dirty="0">
                <a:solidFill>
                  <a:schemeClr val="bg1"/>
                </a:solidFill>
              </a:rPr>
              <a:t>改变结构</a:t>
            </a:r>
            <a:endParaRPr lang="en-US" altLang="zh-CN" sz="2800" b="1" dirty="0">
              <a:solidFill>
                <a:schemeClr val="bg1"/>
              </a:solidFill>
            </a:endParaRPr>
          </a:p>
          <a:p>
            <a:pPr>
              <a:defRPr/>
            </a:pPr>
            <a:r>
              <a:rPr lang="zh-CN" altLang="en-US" sz="2800" b="1" dirty="0">
                <a:solidFill>
                  <a:schemeClr val="bg1"/>
                </a:solidFill>
              </a:rPr>
              <a:t>调控性能</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3C5ACE9-91E3-4E53-8ABB-D758582268AB}"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16</a:t>
            </a:fld>
            <a:endParaRPr lang="en-US" altLang="zh-CN" sz="1400">
              <a:latin typeface="Times New Roman" panose="02020603050405020304" pitchFamily="18" charset="0"/>
              <a:ea typeface="宋体" panose="02010600030101010101" pitchFamily="2" charset="-122"/>
            </a:endParaRPr>
          </a:p>
        </p:txBody>
      </p:sp>
      <p:sp>
        <p:nvSpPr>
          <p:cNvPr id="18436" name="Text Box 2">
            <a:extLst>
              <a:ext uri="{FF2B5EF4-FFF2-40B4-BE49-F238E27FC236}">
                <a16:creationId xmlns:a16="http://schemas.microsoft.com/office/drawing/2014/main" id="{1F78C4A9-63CC-49CB-A618-1EADBF0B17D0}"/>
              </a:ext>
            </a:extLst>
          </p:cNvPr>
          <p:cNvSpPr txBox="1">
            <a:spLocks noChangeArrowheads="1"/>
          </p:cNvSpPr>
          <p:nvPr/>
        </p:nvSpPr>
        <p:spPr bwMode="auto">
          <a:xfrm>
            <a:off x="971550" y="1196975"/>
            <a:ext cx="7696200" cy="267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defRPr/>
            </a:pPr>
            <a:r>
              <a:rPr kumimoji="1"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2.</a:t>
            </a:r>
            <a:r>
              <a:rPr kumimoji="1"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实际应用</a:t>
            </a:r>
            <a:r>
              <a:rPr kumimoji="1" lang="en-US" altLang="zh-CN"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a:t>
            </a:r>
            <a:endParaRPr kumimoji="1"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342900" indent="-342900" algn="just" eaLnBrk="1" hangingPunct="1">
              <a:lnSpc>
                <a:spcPct val="115000"/>
              </a:lnSpc>
              <a:spcBef>
                <a:spcPct val="50000"/>
              </a:spcBef>
              <a:buClr>
                <a:srgbClr val="FF0000"/>
              </a:buClr>
              <a:buSzPct val="90000"/>
              <a:buFont typeface="Wingdings" panose="05000000000000000000" pitchFamily="2" charset="2"/>
              <a:buChar char="p"/>
              <a:defRPr/>
            </a:pPr>
            <a:r>
              <a:rPr kumimoji="1" lang="zh-CN" altLang="en-US" sz="2400" b="1" dirty="0">
                <a:latin typeface="Arial" panose="020B0604020202020204" pitchFamily="34" charset="0"/>
                <a:ea typeface="楷体" panose="02010609060101010101" pitchFamily="49" charset="-122"/>
                <a:cs typeface="Arial" panose="020B0604020202020204" pitchFamily="34" charset="0"/>
              </a:rPr>
              <a:t>  通过共聚合，增加聚合物品种，扩大单体应用范围</a:t>
            </a:r>
          </a:p>
          <a:p>
            <a:pPr indent="536575" algn="just" eaLnBrk="1" hangingPunct="1">
              <a:lnSpc>
                <a:spcPct val="125000"/>
              </a:lnSpc>
              <a:spcBef>
                <a:spcPct val="0"/>
              </a:spcBef>
              <a:buClr>
                <a:srgbClr val="FF0000"/>
              </a:buClr>
              <a:buSzPct val="90000"/>
              <a:buFont typeface="Arial" panose="020B0604020202020204" pitchFamily="34" charset="0"/>
              <a:buNone/>
              <a:defRPr/>
            </a:pPr>
            <a:r>
              <a:rPr kumimoji="1" lang="zh-CN" altLang="en-US" sz="2400" b="1" dirty="0">
                <a:latin typeface="Arial" panose="020B0604020202020204" pitchFamily="34" charset="0"/>
                <a:ea typeface="楷体" panose="02010609060101010101" pitchFamily="49" charset="-122"/>
                <a:cs typeface="Arial" panose="020B0604020202020204" pitchFamily="34" charset="0"/>
              </a:rPr>
              <a:t>如顺丁烯二酸酐和1,2-二苯基乙烯，都不能均聚；</a:t>
            </a:r>
          </a:p>
          <a:p>
            <a:pPr indent="536575" algn="just" eaLnBrk="1" hangingPunct="1">
              <a:lnSpc>
                <a:spcPct val="125000"/>
              </a:lnSpc>
              <a:spcBef>
                <a:spcPct val="0"/>
              </a:spcBef>
              <a:buClr>
                <a:srgbClr val="FF0000"/>
              </a:buClr>
              <a:buSzPct val="90000"/>
              <a:buFont typeface="Arial" panose="020B0604020202020204" pitchFamily="34" charset="0"/>
              <a:buNone/>
              <a:defRPr/>
            </a:pPr>
            <a:r>
              <a:rPr kumimoji="1" lang="zh-CN" altLang="en-US" sz="2400" b="1" dirty="0">
                <a:latin typeface="Arial" panose="020B0604020202020204" pitchFamily="34" charset="0"/>
                <a:ea typeface="楷体" panose="02010609060101010101" pitchFamily="49" charset="-122"/>
                <a:cs typeface="Arial" panose="020B0604020202020204" pitchFamily="34" charset="0"/>
              </a:rPr>
              <a:t>若共聚合：组成比为 1</a:t>
            </a:r>
            <a:r>
              <a:rPr kumimoji="1" lang="en-US" altLang="zh-CN" sz="2400" b="1" dirty="0">
                <a:latin typeface="Arial" panose="020B0604020202020204" pitchFamily="34" charset="0"/>
                <a:ea typeface="楷体" panose="02010609060101010101" pitchFamily="49" charset="-122"/>
                <a:cs typeface="Arial" panose="020B0604020202020204" pitchFamily="34" charset="0"/>
              </a:rPr>
              <a:t>:1 </a:t>
            </a:r>
            <a:r>
              <a:rPr kumimoji="1" lang="zh-CN" altLang="en-US" sz="2400" b="1" dirty="0">
                <a:latin typeface="Arial" panose="020B0604020202020204" pitchFamily="34" charset="0"/>
                <a:ea typeface="楷体" panose="02010609060101010101" pitchFamily="49" charset="-122"/>
                <a:cs typeface="Arial" panose="020B0604020202020204" pitchFamily="34" charset="0"/>
              </a:rPr>
              <a:t>的交替共聚物。 </a:t>
            </a:r>
          </a:p>
          <a:p>
            <a:pPr marL="342900" indent="-342900" eaLnBrk="1" hangingPunct="1">
              <a:lnSpc>
                <a:spcPct val="115000"/>
              </a:lnSpc>
              <a:spcBef>
                <a:spcPct val="50000"/>
              </a:spcBef>
              <a:buClr>
                <a:srgbClr val="FF0000"/>
              </a:buClr>
              <a:buSzPct val="90000"/>
              <a:buFont typeface="Wingdings" panose="05000000000000000000" pitchFamily="2" charset="2"/>
              <a:buChar char="p"/>
              <a:defRPr/>
            </a:pPr>
            <a:r>
              <a:rPr kumimoji="1" lang="zh-CN" altLang="en-US" sz="2400" b="1" dirty="0">
                <a:latin typeface="Arial" panose="020B0604020202020204" pitchFamily="34" charset="0"/>
                <a:ea typeface="楷体" panose="02010609060101010101" pitchFamily="49" charset="-122"/>
                <a:cs typeface="Arial" panose="020B0604020202020204" pitchFamily="34" charset="0"/>
              </a:rPr>
              <a:t>  聚合物改性：共聚物可集成几种均聚物的优点。</a:t>
            </a:r>
            <a:r>
              <a:rPr kumimoji="1" lang="en-US" altLang="zh-CN" sz="2400" b="1" dirty="0">
                <a:latin typeface="Arial" panose="020B0604020202020204" pitchFamily="34" charset="0"/>
                <a:ea typeface="楷体" panose="02010609060101010101" pitchFamily="49" charset="-122"/>
                <a:cs typeface="Arial" panose="020B0604020202020204" pitchFamily="34" charset="0"/>
              </a:rPr>
              <a:t>   </a:t>
            </a:r>
          </a:p>
        </p:txBody>
      </p:sp>
      <p:sp>
        <p:nvSpPr>
          <p:cNvPr id="34820" name="Rectangle 3"/>
          <p:cNvSpPr>
            <a:spLocks noChangeArrowheads="1"/>
          </p:cNvSpPr>
          <p:nvPr/>
        </p:nvSpPr>
        <p:spPr bwMode="auto">
          <a:xfrm>
            <a:off x="539750" y="550863"/>
            <a:ext cx="3636963"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3</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研究共聚合反应的意义</a:t>
            </a:r>
          </a:p>
        </p:txBody>
      </p:sp>
      <p:sp>
        <p:nvSpPr>
          <p:cNvPr id="34821" name="Rectangle 4"/>
          <p:cNvSpPr>
            <a:spLocks noChangeArrowheads="1"/>
          </p:cNvSpPr>
          <p:nvPr/>
        </p:nvSpPr>
        <p:spPr bwMode="auto">
          <a:xfrm>
            <a:off x="900113" y="4635500"/>
            <a:ext cx="8064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Clr>
                <a:srgbClr val="90109E"/>
              </a:buClr>
              <a:buFont typeface="Times New Roman" panose="02020603050405020304" pitchFamily="18" charset="0"/>
              <a:buChar char="☻"/>
            </a:pPr>
            <a:r>
              <a:rPr kumimoji="1" lang="zh-CN" altLang="en-US" sz="2400" b="1">
                <a:latin typeface="Times New Roman" panose="02020603050405020304" pitchFamily="18" charset="0"/>
                <a:ea typeface="楷体_GB2312" pitchFamily="49" charset="-122"/>
              </a:rPr>
              <a:t> </a:t>
            </a:r>
            <a:r>
              <a:rPr kumimoji="1" lang="zh-CN" altLang="en-US" sz="2400" b="1">
                <a:latin typeface="楷体" panose="02010609060101010101" pitchFamily="49" charset="-122"/>
                <a:ea typeface="楷体" panose="02010609060101010101" pitchFamily="49" charset="-122"/>
              </a:rPr>
              <a:t>通过共聚合，改变聚合物结构，改进聚合物诸多性能，如机械性能、热性能、染色性能、表面性能等。</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7A1508A-980B-49AF-9134-594E89D32CFD}"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17</a:t>
            </a:fld>
            <a:endParaRPr lang="en-US" altLang="zh-CN" sz="1400">
              <a:latin typeface="Times New Roman" panose="02020603050405020304" pitchFamily="18" charset="0"/>
              <a:ea typeface="宋体" panose="02010600030101010101" pitchFamily="2" charset="-122"/>
            </a:endParaRPr>
          </a:p>
        </p:txBody>
      </p:sp>
      <p:sp>
        <p:nvSpPr>
          <p:cNvPr id="36867" name="Text Box 2"/>
          <p:cNvSpPr txBox="1">
            <a:spLocks noChangeArrowheads="1"/>
          </p:cNvSpPr>
          <p:nvPr/>
        </p:nvSpPr>
        <p:spPr bwMode="auto">
          <a:xfrm>
            <a:off x="468313" y="495300"/>
            <a:ext cx="3505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苯乙烯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Styrene</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St)</a:t>
            </a:r>
          </a:p>
        </p:txBody>
      </p:sp>
      <p:sp>
        <p:nvSpPr>
          <p:cNvPr id="36868" name="Text Box 5"/>
          <p:cNvSpPr txBox="1">
            <a:spLocks noChangeArrowheads="1"/>
          </p:cNvSpPr>
          <p:nvPr/>
        </p:nvSpPr>
        <p:spPr bwMode="auto">
          <a:xfrm>
            <a:off x="595313" y="4092575"/>
            <a:ext cx="5545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普通</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PS</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均聚物脆性大、抗冲强度低。</a:t>
            </a:r>
            <a:endPar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36869" name="Text Box 7"/>
          <p:cNvSpPr txBox="1">
            <a:spLocks noChangeArrowheads="1"/>
          </p:cNvSpPr>
          <p:nvPr/>
        </p:nvSpPr>
        <p:spPr bwMode="auto">
          <a:xfrm>
            <a:off x="628650" y="4776788"/>
            <a:ext cx="7704138" cy="124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000" b="1">
                <a:latin typeface="Arial" panose="020B0604020202020204" pitchFamily="34" charset="0"/>
                <a:ea typeface="楷体" panose="02010609060101010101" pitchFamily="49" charset="-122"/>
                <a:cs typeface="Arial" panose="020B0604020202020204" pitchFamily="34" charset="0"/>
              </a:rPr>
              <a:t>通用塑料，电绝缘性、化学稳定性、光学性能和加工性能优良，生产工艺成熟；也可作</a:t>
            </a:r>
            <a:r>
              <a:rPr kumimoji="1" lang="zh-CN" altLang="en-GB" sz="2000" b="1">
                <a:latin typeface="Arial" panose="020B0604020202020204" pitchFamily="34" charset="0"/>
                <a:ea typeface="楷体" panose="02010609060101010101" pitchFamily="49" charset="-122"/>
                <a:cs typeface="Arial" panose="020B0604020202020204" pitchFamily="34" charset="0"/>
              </a:rPr>
              <a:t>为</a:t>
            </a:r>
            <a:r>
              <a:rPr kumimoji="1" lang="zh-CN" altLang="en-US" sz="2000" b="1">
                <a:latin typeface="Arial" panose="020B0604020202020204" pitchFamily="34" charset="0"/>
                <a:ea typeface="楷体" panose="02010609060101010101" pitchFamily="49" charset="-122"/>
                <a:cs typeface="Arial" panose="020B0604020202020204" pitchFamily="34" charset="0"/>
              </a:rPr>
              <a:t>工程塑料、合成橡胶，</a:t>
            </a: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但含苯乙烯的共聚物应用极其广泛</a:t>
            </a:r>
            <a:r>
              <a:rPr kumimoji="1" lang="zh-CN" altLang="en-US" sz="2000" b="1">
                <a:latin typeface="Arial" panose="020B0604020202020204" pitchFamily="34" charset="0"/>
                <a:ea typeface="楷体" panose="02010609060101010101" pitchFamily="49" charset="-122"/>
                <a:cs typeface="Arial" panose="020B0604020202020204" pitchFamily="34" charset="0"/>
              </a:rPr>
              <a:t>。</a:t>
            </a:r>
            <a:endParaRPr kumimoji="1" lang="en-US" altLang="zh-CN" sz="2000" b="1">
              <a:latin typeface="Arial" panose="020B0604020202020204" pitchFamily="34" charset="0"/>
              <a:ea typeface="楷体" panose="02010609060101010101" pitchFamily="49" charset="-122"/>
              <a:cs typeface="Arial" panose="020B0604020202020204" pitchFamily="34" charset="0"/>
            </a:endParaRPr>
          </a:p>
        </p:txBody>
      </p:sp>
      <p:sp>
        <p:nvSpPr>
          <p:cNvPr id="36870" name="Text Box 2"/>
          <p:cNvSpPr txBox="1">
            <a:spLocks noChangeArrowheads="1"/>
          </p:cNvSpPr>
          <p:nvPr/>
        </p:nvSpPr>
        <p:spPr bwMode="auto">
          <a:xfrm>
            <a:off x="598488" y="3424238"/>
            <a:ext cx="45354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聚苯乙烯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Polystyrene</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PS)</a:t>
            </a:r>
          </a:p>
        </p:txBody>
      </p:sp>
      <p:graphicFrame>
        <p:nvGraphicFramePr>
          <p:cNvPr id="36871" name="对象 1"/>
          <p:cNvGraphicFramePr>
            <a:graphicFrameLocks noChangeAspect="1"/>
          </p:cNvGraphicFramePr>
          <p:nvPr/>
        </p:nvGraphicFramePr>
        <p:xfrm>
          <a:off x="1835150" y="1158875"/>
          <a:ext cx="4792663" cy="1924050"/>
        </p:xfrm>
        <a:graphic>
          <a:graphicData uri="http://schemas.openxmlformats.org/presentationml/2006/ole">
            <mc:AlternateContent xmlns:mc="http://schemas.openxmlformats.org/markup-compatibility/2006">
              <mc:Choice xmlns:v="urn:schemas-microsoft-com:vml" Requires="v">
                <p:oleObj spid="_x0000_s36885" r:id="rId3" imgW="4312920" imgH="1732280" progId="">
                  <p:embed/>
                </p:oleObj>
              </mc:Choice>
              <mc:Fallback>
                <p:oleObj r:id="rId3" imgW="4312920" imgH="1732280" progId="">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1158875"/>
                        <a:ext cx="4792663"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9C59154-ECFB-4DE4-AAB6-ED4A3816316E}"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18</a:t>
            </a:fld>
            <a:endParaRPr lang="en-US" altLang="zh-CN" sz="1400">
              <a:latin typeface="Times New Roman" panose="02020603050405020304" pitchFamily="18" charset="0"/>
              <a:ea typeface="宋体" panose="02010600030101010101" pitchFamily="2" charset="-122"/>
            </a:endParaRPr>
          </a:p>
        </p:txBody>
      </p:sp>
      <p:sp>
        <p:nvSpPr>
          <p:cNvPr id="35843" name="Text Box 3"/>
          <p:cNvSpPr txBox="1">
            <a:spLocks noChangeArrowheads="1"/>
          </p:cNvSpPr>
          <p:nvPr/>
        </p:nvSpPr>
        <p:spPr bwMode="auto">
          <a:xfrm>
            <a:off x="603250" y="5189538"/>
            <a:ext cx="81661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嵌段共聚：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SBS</a:t>
            </a:r>
          </a:p>
        </p:txBody>
      </p:sp>
      <p:sp>
        <p:nvSpPr>
          <p:cNvPr id="37892" name="Rectangle 6"/>
          <p:cNvSpPr>
            <a:spLocks noChangeArrowheads="1"/>
          </p:cNvSpPr>
          <p:nvPr/>
        </p:nvSpPr>
        <p:spPr bwMode="auto">
          <a:xfrm>
            <a:off x="611188" y="476250"/>
            <a:ext cx="411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S：</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苯乙烯、</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B：</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丁二烯</a:t>
            </a:r>
          </a:p>
        </p:txBody>
      </p:sp>
      <p:pic>
        <p:nvPicPr>
          <p:cNvPr id="3789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1619250"/>
            <a:ext cx="3132138"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4" name="Text Box 10"/>
          <p:cNvSpPr txBox="1">
            <a:spLocks noChangeArrowheads="1"/>
          </p:cNvSpPr>
          <p:nvPr/>
        </p:nvSpPr>
        <p:spPr bwMode="auto">
          <a:xfrm>
            <a:off x="611188" y="1347788"/>
            <a:ext cx="74882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无规共聚：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SBR</a:t>
            </a:r>
            <a:endPar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35847" name="Text Box 11"/>
          <p:cNvSpPr txBox="1">
            <a:spLocks noChangeArrowheads="1"/>
          </p:cNvSpPr>
          <p:nvPr/>
        </p:nvSpPr>
        <p:spPr bwMode="auto">
          <a:xfrm>
            <a:off x="582613" y="3078163"/>
            <a:ext cx="78486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接枝共聚：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HIPS</a:t>
            </a:r>
            <a:endPar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pic>
        <p:nvPicPr>
          <p:cNvPr id="35848"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5988" y="2290763"/>
            <a:ext cx="4340225"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9"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9975" y="5240338"/>
            <a:ext cx="3416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0" name="矩形 2"/>
          <p:cNvSpPr>
            <a:spLocks noChangeArrowheads="1"/>
          </p:cNvSpPr>
          <p:nvPr/>
        </p:nvSpPr>
        <p:spPr bwMode="auto">
          <a:xfrm>
            <a:off x="6777038" y="5635625"/>
            <a:ext cx="1731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热塑性弹性体</a:t>
            </a:r>
          </a:p>
        </p:txBody>
      </p:sp>
      <p:sp>
        <p:nvSpPr>
          <p:cNvPr id="37899" name="矩形 3"/>
          <p:cNvSpPr>
            <a:spLocks noChangeArrowheads="1"/>
          </p:cNvSpPr>
          <p:nvPr/>
        </p:nvSpPr>
        <p:spPr bwMode="auto">
          <a:xfrm>
            <a:off x="6732588" y="1782763"/>
            <a:ext cx="1209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丁苯橡胶</a:t>
            </a:r>
            <a:endParaRPr lang="zh-CN" altLang="en-US" sz="2000" b="1">
              <a:cs typeface="Arial" panose="020B0604020202020204" pitchFamily="34" charset="0"/>
            </a:endParaRPr>
          </a:p>
        </p:txBody>
      </p:sp>
      <p:sp>
        <p:nvSpPr>
          <p:cNvPr id="35852" name="矩形 4"/>
          <p:cNvSpPr>
            <a:spLocks noChangeArrowheads="1"/>
          </p:cNvSpPr>
          <p:nvPr/>
        </p:nvSpPr>
        <p:spPr bwMode="auto">
          <a:xfrm>
            <a:off x="6694488" y="3589338"/>
            <a:ext cx="1731962"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b="1">
                <a:solidFill>
                  <a:srgbClr val="FF0000"/>
                </a:solidFill>
                <a:latin typeface="楷体" panose="02010609060101010101" pitchFamily="49" charset="-122"/>
                <a:ea typeface="楷体" panose="02010609060101010101" pitchFamily="49" charset="-122"/>
              </a:rPr>
              <a:t>抗冲聚苯乙烯</a:t>
            </a:r>
          </a:p>
        </p:txBody>
      </p:sp>
      <p:pic>
        <p:nvPicPr>
          <p:cNvPr id="37901" name="Picture 3" descr="Rubber-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20038" y="1039813"/>
            <a:ext cx="1179512" cy="148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7"/>
                                        </p:tgtEl>
                                        <p:attrNameLst>
                                          <p:attrName>style.visibility</p:attrName>
                                        </p:attrNameLst>
                                      </p:cBhvr>
                                      <p:to>
                                        <p:strVal val="visible"/>
                                      </p:to>
                                    </p:set>
                                    <p:anim calcmode="lin" valueType="num">
                                      <p:cBhvr additive="base">
                                        <p:cTn id="7" dur="500" fill="hold"/>
                                        <p:tgtEl>
                                          <p:spTgt spid="35847"/>
                                        </p:tgtEl>
                                        <p:attrNameLst>
                                          <p:attrName>ppt_x</p:attrName>
                                        </p:attrNameLst>
                                      </p:cBhvr>
                                      <p:tavLst>
                                        <p:tav tm="0">
                                          <p:val>
                                            <p:strVal val="#ppt_x"/>
                                          </p:val>
                                        </p:tav>
                                        <p:tav tm="100000">
                                          <p:val>
                                            <p:strVal val="#ppt_x"/>
                                          </p:val>
                                        </p:tav>
                                      </p:tavLst>
                                    </p:anim>
                                    <p:anim calcmode="lin" valueType="num">
                                      <p:cBhvr additive="base">
                                        <p:cTn id="8" dur="500" fill="hold"/>
                                        <p:tgtEl>
                                          <p:spTgt spid="3584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5848"/>
                                        </p:tgtEl>
                                        <p:attrNameLst>
                                          <p:attrName>style.visibility</p:attrName>
                                        </p:attrNameLst>
                                      </p:cBhvr>
                                      <p:to>
                                        <p:strVal val="visible"/>
                                      </p:to>
                                    </p:set>
                                    <p:anim calcmode="lin" valueType="num">
                                      <p:cBhvr additive="base">
                                        <p:cTn id="11" dur="500" fill="hold"/>
                                        <p:tgtEl>
                                          <p:spTgt spid="35848"/>
                                        </p:tgtEl>
                                        <p:attrNameLst>
                                          <p:attrName>ppt_x</p:attrName>
                                        </p:attrNameLst>
                                      </p:cBhvr>
                                      <p:tavLst>
                                        <p:tav tm="0">
                                          <p:val>
                                            <p:strVal val="#ppt_x"/>
                                          </p:val>
                                        </p:tav>
                                        <p:tav tm="100000">
                                          <p:val>
                                            <p:strVal val="#ppt_x"/>
                                          </p:val>
                                        </p:tav>
                                      </p:tavLst>
                                    </p:anim>
                                    <p:anim calcmode="lin" valueType="num">
                                      <p:cBhvr additive="base">
                                        <p:cTn id="12" dur="500" fill="hold"/>
                                        <p:tgtEl>
                                          <p:spTgt spid="3584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852"/>
                                        </p:tgtEl>
                                        <p:attrNameLst>
                                          <p:attrName>style.visibility</p:attrName>
                                        </p:attrNameLst>
                                      </p:cBhvr>
                                      <p:to>
                                        <p:strVal val="visible"/>
                                      </p:to>
                                    </p:set>
                                    <p:anim calcmode="lin" valueType="num">
                                      <p:cBhvr additive="base">
                                        <p:cTn id="15" dur="500" fill="hold"/>
                                        <p:tgtEl>
                                          <p:spTgt spid="35852"/>
                                        </p:tgtEl>
                                        <p:attrNameLst>
                                          <p:attrName>ppt_x</p:attrName>
                                        </p:attrNameLst>
                                      </p:cBhvr>
                                      <p:tavLst>
                                        <p:tav tm="0">
                                          <p:val>
                                            <p:strVal val="#ppt_x"/>
                                          </p:val>
                                        </p:tav>
                                        <p:tav tm="100000">
                                          <p:val>
                                            <p:strVal val="#ppt_x"/>
                                          </p:val>
                                        </p:tav>
                                      </p:tavLst>
                                    </p:anim>
                                    <p:anim calcmode="lin" valueType="num">
                                      <p:cBhvr additive="base">
                                        <p:cTn id="16" dur="500" fill="hold"/>
                                        <p:tgtEl>
                                          <p:spTgt spid="35852"/>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5843"/>
                                        </p:tgtEl>
                                        <p:attrNameLst>
                                          <p:attrName>style.visibility</p:attrName>
                                        </p:attrNameLst>
                                      </p:cBhvr>
                                      <p:to>
                                        <p:strVal val="visible"/>
                                      </p:to>
                                    </p:set>
                                    <p:animEffect transition="in" filter="fade">
                                      <p:cBhvr>
                                        <p:cTn id="21" dur="1000"/>
                                        <p:tgtEl>
                                          <p:spTgt spid="35843"/>
                                        </p:tgtEl>
                                      </p:cBhvr>
                                    </p:animEffect>
                                    <p:anim calcmode="lin" valueType="num">
                                      <p:cBhvr>
                                        <p:cTn id="22" dur="1000" fill="hold"/>
                                        <p:tgtEl>
                                          <p:spTgt spid="35843"/>
                                        </p:tgtEl>
                                        <p:attrNameLst>
                                          <p:attrName>ppt_x</p:attrName>
                                        </p:attrNameLst>
                                      </p:cBhvr>
                                      <p:tavLst>
                                        <p:tav tm="0">
                                          <p:val>
                                            <p:strVal val="#ppt_x"/>
                                          </p:val>
                                        </p:tav>
                                        <p:tav tm="100000">
                                          <p:val>
                                            <p:strVal val="#ppt_x"/>
                                          </p:val>
                                        </p:tav>
                                      </p:tavLst>
                                    </p:anim>
                                    <p:anim calcmode="lin" valueType="num">
                                      <p:cBhvr>
                                        <p:cTn id="23" dur="1000" fill="hold"/>
                                        <p:tgtEl>
                                          <p:spTgt spid="35843"/>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5849"/>
                                        </p:tgtEl>
                                        <p:attrNameLst>
                                          <p:attrName>style.visibility</p:attrName>
                                        </p:attrNameLst>
                                      </p:cBhvr>
                                      <p:to>
                                        <p:strVal val="visible"/>
                                      </p:to>
                                    </p:set>
                                    <p:animEffect transition="in" filter="fade">
                                      <p:cBhvr>
                                        <p:cTn id="26" dur="1000"/>
                                        <p:tgtEl>
                                          <p:spTgt spid="35849"/>
                                        </p:tgtEl>
                                      </p:cBhvr>
                                    </p:animEffect>
                                    <p:anim calcmode="lin" valueType="num">
                                      <p:cBhvr>
                                        <p:cTn id="27" dur="1000" fill="hold"/>
                                        <p:tgtEl>
                                          <p:spTgt spid="35849"/>
                                        </p:tgtEl>
                                        <p:attrNameLst>
                                          <p:attrName>ppt_x</p:attrName>
                                        </p:attrNameLst>
                                      </p:cBhvr>
                                      <p:tavLst>
                                        <p:tav tm="0">
                                          <p:val>
                                            <p:strVal val="#ppt_x"/>
                                          </p:val>
                                        </p:tav>
                                        <p:tav tm="100000">
                                          <p:val>
                                            <p:strVal val="#ppt_x"/>
                                          </p:val>
                                        </p:tav>
                                      </p:tavLst>
                                    </p:anim>
                                    <p:anim calcmode="lin" valueType="num">
                                      <p:cBhvr>
                                        <p:cTn id="28" dur="1000" fill="hold"/>
                                        <p:tgtEl>
                                          <p:spTgt spid="3584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5850"/>
                                        </p:tgtEl>
                                        <p:attrNameLst>
                                          <p:attrName>style.visibility</p:attrName>
                                        </p:attrNameLst>
                                      </p:cBhvr>
                                      <p:to>
                                        <p:strVal val="visible"/>
                                      </p:to>
                                    </p:set>
                                    <p:animEffect transition="in" filter="fade">
                                      <p:cBhvr>
                                        <p:cTn id="31" dur="1000"/>
                                        <p:tgtEl>
                                          <p:spTgt spid="35850"/>
                                        </p:tgtEl>
                                      </p:cBhvr>
                                    </p:animEffect>
                                    <p:anim calcmode="lin" valueType="num">
                                      <p:cBhvr>
                                        <p:cTn id="32" dur="1000" fill="hold"/>
                                        <p:tgtEl>
                                          <p:spTgt spid="35850"/>
                                        </p:tgtEl>
                                        <p:attrNameLst>
                                          <p:attrName>ppt_x</p:attrName>
                                        </p:attrNameLst>
                                      </p:cBhvr>
                                      <p:tavLst>
                                        <p:tav tm="0">
                                          <p:val>
                                            <p:strVal val="#ppt_x"/>
                                          </p:val>
                                        </p:tav>
                                        <p:tav tm="100000">
                                          <p:val>
                                            <p:strVal val="#ppt_x"/>
                                          </p:val>
                                        </p:tav>
                                      </p:tavLst>
                                    </p:anim>
                                    <p:anim calcmode="lin" valueType="num">
                                      <p:cBhvr>
                                        <p:cTn id="33" dur="1000" fill="hold"/>
                                        <p:tgtEl>
                                          <p:spTgt spid="358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p:bldP spid="35847" grpId="0"/>
      <p:bldP spid="35850" grpId="0"/>
      <p:bldP spid="35852"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 name="Oval 1029">
            <a:extLst>
              <a:ext uri="{FF2B5EF4-FFF2-40B4-BE49-F238E27FC236}">
                <a16:creationId xmlns:a16="http://schemas.microsoft.com/office/drawing/2014/main" id="{1197E066-58E1-49CD-9D3A-17C241154DC6}"/>
              </a:ext>
            </a:extLst>
          </p:cNvPr>
          <p:cNvSpPr>
            <a:spLocks noChangeArrowheads="1"/>
          </p:cNvSpPr>
          <p:nvPr/>
        </p:nvSpPr>
        <p:spPr bwMode="auto">
          <a:xfrm>
            <a:off x="131763" y="1938338"/>
            <a:ext cx="2644775" cy="1416050"/>
          </a:xfrm>
          <a:prstGeom prst="ellipse">
            <a:avLst/>
          </a:prstGeom>
          <a:solidFill>
            <a:schemeClr val="accent4">
              <a:lumMod val="60000"/>
              <a:lumOff val="40000"/>
            </a:schemeClr>
          </a:solidFill>
          <a:ln w="9525">
            <a:noFill/>
            <a:round/>
            <a:headEnd/>
            <a:tailEnd/>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defRPr/>
            </a:pPr>
            <a:endParaRPr kumimoji="1" lang="zh-CN" altLang="en-US" sz="2400">
              <a:latin typeface="Tahoma" panose="020B0604030504040204" pitchFamily="34" charset="0"/>
              <a:ea typeface="宋体" panose="02010600030101010101" pitchFamily="2" charset="-122"/>
            </a:endParaRPr>
          </a:p>
        </p:txBody>
      </p:sp>
      <p:sp>
        <p:nvSpPr>
          <p:cNvPr id="39939"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AA008B0-3462-43B7-BC83-F8E82FFB6A39}"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19</a:t>
            </a:fld>
            <a:endParaRPr lang="en-US" altLang="zh-CN" sz="1400">
              <a:latin typeface="Times New Roman" panose="02020603050405020304" pitchFamily="18" charset="0"/>
              <a:ea typeface="宋体" panose="02010600030101010101" pitchFamily="2" charset="-122"/>
            </a:endParaRPr>
          </a:p>
        </p:txBody>
      </p:sp>
      <p:sp>
        <p:nvSpPr>
          <p:cNvPr id="22532" name="Oval 1027">
            <a:extLst>
              <a:ext uri="{FF2B5EF4-FFF2-40B4-BE49-F238E27FC236}">
                <a16:creationId xmlns:a16="http://schemas.microsoft.com/office/drawing/2014/main" id="{67A35E50-131A-4274-8240-134ABB0D9B36}"/>
              </a:ext>
            </a:extLst>
          </p:cNvPr>
          <p:cNvSpPr>
            <a:spLocks noChangeArrowheads="1"/>
          </p:cNvSpPr>
          <p:nvPr/>
        </p:nvSpPr>
        <p:spPr bwMode="auto">
          <a:xfrm>
            <a:off x="3657600" y="2149475"/>
            <a:ext cx="1944688" cy="935038"/>
          </a:xfrm>
          <a:prstGeom prst="ellipse">
            <a:avLst/>
          </a:prstGeom>
          <a:solidFill>
            <a:schemeClr val="bg2">
              <a:lumMod val="50000"/>
            </a:schemeClr>
          </a:solidFill>
          <a:ln w="9525">
            <a:noFill/>
            <a:round/>
            <a:headEnd/>
            <a:tailEnd/>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defRPr/>
            </a:pPr>
            <a:endParaRPr kumimoji="1" lang="zh-CN" altLang="en-US" sz="2400">
              <a:latin typeface="Tahoma" panose="020B0604030504040204" pitchFamily="34" charset="0"/>
              <a:ea typeface="宋体" panose="02010600030101010101" pitchFamily="2" charset="-122"/>
            </a:endParaRPr>
          </a:p>
        </p:txBody>
      </p:sp>
      <p:sp>
        <p:nvSpPr>
          <p:cNvPr id="39941" name="Rectangle 1028"/>
          <p:cNvSpPr>
            <a:spLocks noChangeArrowheads="1"/>
          </p:cNvSpPr>
          <p:nvPr/>
        </p:nvSpPr>
        <p:spPr bwMode="auto">
          <a:xfrm>
            <a:off x="3832225" y="2417763"/>
            <a:ext cx="16986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Clr>
                <a:schemeClr val="folHlink"/>
              </a:buClr>
              <a:buSzPct val="90000"/>
              <a:buFont typeface="Wingdings" panose="05000000000000000000" pitchFamily="2" charset="2"/>
              <a:buNone/>
            </a:pPr>
            <a:r>
              <a:rPr kumimoji="1" lang="en-US" altLang="zh-CN" sz="2000" b="1">
                <a:solidFill>
                  <a:schemeClr val="bg1"/>
                </a:solidFill>
                <a:latin typeface="Arial" panose="020B0604020202020204" pitchFamily="34" charset="0"/>
                <a:ea typeface="楷体_GB2312" pitchFamily="49" charset="-122"/>
              </a:rPr>
              <a:t>HIPS</a:t>
            </a:r>
            <a:r>
              <a:rPr kumimoji="1" lang="zh-CN" altLang="en-US" sz="2000" b="1">
                <a:solidFill>
                  <a:schemeClr val="bg1"/>
                </a:solidFill>
                <a:latin typeface="Arial" panose="020B0604020202020204" pitchFamily="34" charset="0"/>
                <a:ea typeface="楷体_GB2312" pitchFamily="49" charset="-122"/>
              </a:rPr>
              <a:t>、</a:t>
            </a:r>
            <a:r>
              <a:rPr kumimoji="1" lang="en-US" altLang="zh-CN" sz="2000" b="1">
                <a:solidFill>
                  <a:schemeClr val="bg1"/>
                </a:solidFill>
                <a:latin typeface="Arial" panose="020B0604020202020204" pitchFamily="34" charset="0"/>
                <a:ea typeface="楷体_GB2312" pitchFamily="49" charset="-122"/>
              </a:rPr>
              <a:t>ABS</a:t>
            </a:r>
          </a:p>
        </p:txBody>
      </p:sp>
      <p:sp>
        <p:nvSpPr>
          <p:cNvPr id="22534" name="Oval 1029">
            <a:extLst>
              <a:ext uri="{FF2B5EF4-FFF2-40B4-BE49-F238E27FC236}">
                <a16:creationId xmlns:a16="http://schemas.microsoft.com/office/drawing/2014/main" id="{E96F7769-C6A5-4688-B24D-FADC7F7955F9}"/>
              </a:ext>
            </a:extLst>
          </p:cNvPr>
          <p:cNvSpPr>
            <a:spLocks noChangeArrowheads="1"/>
          </p:cNvSpPr>
          <p:nvPr/>
        </p:nvSpPr>
        <p:spPr bwMode="auto">
          <a:xfrm>
            <a:off x="6477000" y="1908175"/>
            <a:ext cx="2644775" cy="1417638"/>
          </a:xfrm>
          <a:prstGeom prst="ellipse">
            <a:avLst/>
          </a:prstGeom>
          <a:solidFill>
            <a:schemeClr val="accent4">
              <a:lumMod val="60000"/>
              <a:lumOff val="40000"/>
            </a:schemeClr>
          </a:solidFill>
          <a:ln w="9525">
            <a:noFill/>
            <a:round/>
            <a:headEnd/>
            <a:tailEnd/>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defRPr/>
            </a:pPr>
            <a:endParaRPr kumimoji="1" lang="zh-CN" altLang="en-US" sz="2400">
              <a:latin typeface="Tahoma" panose="020B0604030504040204" pitchFamily="34" charset="0"/>
              <a:ea typeface="宋体" panose="02010600030101010101" pitchFamily="2" charset="-122"/>
            </a:endParaRPr>
          </a:p>
        </p:txBody>
      </p:sp>
      <p:sp>
        <p:nvSpPr>
          <p:cNvPr id="37895" name="Rectangle 1030"/>
          <p:cNvSpPr>
            <a:spLocks noChangeArrowheads="1"/>
          </p:cNvSpPr>
          <p:nvPr/>
        </p:nvSpPr>
        <p:spPr bwMode="auto">
          <a:xfrm>
            <a:off x="6873875" y="2171700"/>
            <a:ext cx="19208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20000"/>
              </a:spcBef>
              <a:buClr>
                <a:schemeClr val="folHlink"/>
              </a:buClr>
              <a:buSzPct val="90000"/>
              <a:buFont typeface="Wingdings" panose="05000000000000000000" pitchFamily="2" charset="2"/>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耐热</a:t>
            </a:r>
          </a:p>
          <a:p>
            <a:pPr algn="ctr" eaLnBrk="1" hangingPunct="1">
              <a:lnSpc>
                <a:spcPct val="100000"/>
              </a:lnSpc>
              <a:spcBef>
                <a:spcPct val="20000"/>
              </a:spcBef>
              <a:buClr>
                <a:schemeClr val="folHlink"/>
              </a:buClr>
              <a:buSzPct val="90000"/>
              <a:buFont typeface="Wingdings" panose="05000000000000000000" pitchFamily="2" charset="2"/>
              <a:buNone/>
            </a:pPr>
            <a:r>
              <a:rPr kumimoji="1" lang="en-US" altLang="zh-CN" sz="2400">
                <a:latin typeface="Arial" panose="020B0604020202020204" pitchFamily="34" charset="0"/>
                <a:ea typeface="楷体" panose="02010609060101010101" pitchFamily="49" charset="-122"/>
                <a:cs typeface="Arial" panose="020B0604020202020204" pitchFamily="34" charset="0"/>
              </a:rPr>
              <a:t>HIPS</a:t>
            </a:r>
            <a:r>
              <a:rPr kumimoji="1" lang="zh-CN" altLang="en-US" sz="2400">
                <a:latin typeface="Arial" panose="020B0604020202020204" pitchFamily="34" charset="0"/>
                <a:ea typeface="楷体" panose="02010609060101010101" pitchFamily="49" charset="-122"/>
                <a:cs typeface="Arial" panose="020B0604020202020204" pitchFamily="34" charset="0"/>
              </a:rPr>
              <a:t>、</a:t>
            </a:r>
            <a:r>
              <a:rPr kumimoji="1" lang="en-US" altLang="zh-CN" sz="2400">
                <a:latin typeface="Arial" panose="020B0604020202020204" pitchFamily="34" charset="0"/>
                <a:ea typeface="楷体" panose="02010609060101010101" pitchFamily="49" charset="-122"/>
                <a:cs typeface="Arial" panose="020B0604020202020204" pitchFamily="34" charset="0"/>
              </a:rPr>
              <a:t>ABS</a:t>
            </a:r>
          </a:p>
        </p:txBody>
      </p:sp>
      <p:sp>
        <p:nvSpPr>
          <p:cNvPr id="37896" name="Rectangle 1032"/>
          <p:cNvSpPr>
            <a:spLocks noChangeArrowheads="1"/>
          </p:cNvSpPr>
          <p:nvPr/>
        </p:nvSpPr>
        <p:spPr bwMode="auto">
          <a:xfrm>
            <a:off x="301625" y="2117725"/>
            <a:ext cx="213518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20000"/>
              </a:spcBef>
              <a:buClr>
                <a:schemeClr val="folHlink"/>
              </a:buClr>
              <a:buSzPct val="90000"/>
              <a:buFont typeface="Wingdings" panose="05000000000000000000" pitchFamily="2" charset="2"/>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透明</a:t>
            </a:r>
          </a:p>
          <a:p>
            <a:pPr algn="ctr" eaLnBrk="1" hangingPunct="1">
              <a:lnSpc>
                <a:spcPct val="100000"/>
              </a:lnSpc>
              <a:spcBef>
                <a:spcPct val="20000"/>
              </a:spcBef>
              <a:buClr>
                <a:schemeClr val="folHlink"/>
              </a:buClr>
              <a:buSzPct val="90000"/>
              <a:buFont typeface="Wingdings" panose="05000000000000000000" pitchFamily="2" charset="2"/>
              <a:buNone/>
            </a:pPr>
            <a:r>
              <a:rPr kumimoji="1" lang="en-US" altLang="zh-CN" sz="2400">
                <a:latin typeface="Arial" panose="020B0604020202020204" pitchFamily="34" charset="0"/>
                <a:ea typeface="楷体" panose="02010609060101010101" pitchFamily="49" charset="-122"/>
                <a:cs typeface="Arial" panose="020B0604020202020204" pitchFamily="34" charset="0"/>
              </a:rPr>
              <a:t>HIPS</a:t>
            </a:r>
            <a:r>
              <a:rPr kumimoji="1" lang="zh-CN" altLang="en-US" sz="2400">
                <a:latin typeface="Arial" panose="020B0604020202020204" pitchFamily="34" charset="0"/>
                <a:ea typeface="楷体" panose="02010609060101010101" pitchFamily="49" charset="-122"/>
                <a:cs typeface="Arial" panose="020B0604020202020204" pitchFamily="34" charset="0"/>
              </a:rPr>
              <a:t>、</a:t>
            </a:r>
            <a:r>
              <a:rPr kumimoji="1" lang="en-US" altLang="zh-CN" sz="2400">
                <a:latin typeface="Arial" panose="020B0604020202020204" pitchFamily="34" charset="0"/>
                <a:ea typeface="楷体" panose="02010609060101010101" pitchFamily="49" charset="-122"/>
                <a:cs typeface="Arial" panose="020B0604020202020204" pitchFamily="34" charset="0"/>
              </a:rPr>
              <a:t>ABS</a:t>
            </a:r>
          </a:p>
        </p:txBody>
      </p:sp>
      <p:sp>
        <p:nvSpPr>
          <p:cNvPr id="37897" name="Line 1035"/>
          <p:cNvSpPr>
            <a:spLocks noChangeShapeType="1"/>
          </p:cNvSpPr>
          <p:nvPr/>
        </p:nvSpPr>
        <p:spPr bwMode="auto">
          <a:xfrm flipH="1">
            <a:off x="2765425" y="2570163"/>
            <a:ext cx="914400"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898" name="Line 1036"/>
          <p:cNvSpPr>
            <a:spLocks noChangeShapeType="1"/>
          </p:cNvSpPr>
          <p:nvPr/>
        </p:nvSpPr>
        <p:spPr bwMode="auto">
          <a:xfrm>
            <a:off x="5584825" y="2646363"/>
            <a:ext cx="838200" cy="0"/>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7899" name="AutoShape 1038"/>
          <p:cNvSpPr>
            <a:spLocks noChangeArrowheads="1"/>
          </p:cNvSpPr>
          <p:nvPr/>
        </p:nvSpPr>
        <p:spPr bwMode="auto">
          <a:xfrm>
            <a:off x="6003925" y="4225925"/>
            <a:ext cx="2622550" cy="1090613"/>
          </a:xfrm>
          <a:prstGeom prst="wedgeEllipseCallout">
            <a:avLst>
              <a:gd name="adj1" fmla="val -53657"/>
              <a:gd name="adj2" fmla="val -194963"/>
            </a:avLst>
          </a:prstGeom>
          <a:solidFill>
            <a:srgbClr val="FF99CC"/>
          </a:solidFill>
          <a:ln>
            <a:noFill/>
          </a:ln>
          <a:extLst>
            <a:ext uri="{91240B29-F687-4F45-9708-019B960494DF}">
              <a14:hiddenLine xmlns:a14="http://schemas.microsoft.com/office/drawing/2010/main" w="19050">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kumimoji="1" lang="en-US" altLang="zh-CN" sz="2000" b="1">
              <a:latin typeface="楷体" panose="02010609060101010101" pitchFamily="49" charset="-122"/>
              <a:ea typeface="楷体" panose="02010609060101010101" pitchFamily="49" charset="-122"/>
            </a:endParaRPr>
          </a:p>
          <a:p>
            <a:pPr algn="ctr" eaLnBrk="1" hangingPunct="1">
              <a:lnSpc>
                <a:spcPct val="100000"/>
              </a:lnSpc>
              <a:spcBef>
                <a:spcPct val="0"/>
              </a:spcBef>
              <a:buFontTx/>
              <a:buNone/>
            </a:pPr>
            <a:r>
              <a:rPr kumimoji="1" lang="zh-CN" altLang="en-US" sz="2000" b="1">
                <a:latin typeface="楷体" panose="02010609060101010101" pitchFamily="49" charset="-122"/>
                <a:ea typeface="楷体" panose="02010609060101010101" pitchFamily="49" charset="-122"/>
              </a:rPr>
              <a:t>引入刚性单体</a:t>
            </a:r>
          </a:p>
        </p:txBody>
      </p:sp>
      <p:sp>
        <p:nvSpPr>
          <p:cNvPr id="22544" name="AutoShape 1039">
            <a:extLst>
              <a:ext uri="{FF2B5EF4-FFF2-40B4-BE49-F238E27FC236}">
                <a16:creationId xmlns:a16="http://schemas.microsoft.com/office/drawing/2014/main" id="{1299F862-15F0-47C5-A166-FC044E3D6220}"/>
              </a:ext>
            </a:extLst>
          </p:cNvPr>
          <p:cNvSpPr>
            <a:spLocks noChangeArrowheads="1"/>
          </p:cNvSpPr>
          <p:nvPr/>
        </p:nvSpPr>
        <p:spPr bwMode="auto">
          <a:xfrm>
            <a:off x="22225" y="4306888"/>
            <a:ext cx="4318000" cy="1265237"/>
          </a:xfrm>
          <a:prstGeom prst="wedgeEllipseCallout">
            <a:avLst>
              <a:gd name="adj1" fmla="val 23963"/>
              <a:gd name="adj2" fmla="val -188181"/>
            </a:avLst>
          </a:prstGeom>
          <a:solidFill>
            <a:srgbClr val="FF99CC"/>
          </a:solidFill>
          <a:ln w="19050">
            <a:no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30000"/>
              </a:spcBef>
              <a:buClr>
                <a:srgbClr val="003300"/>
              </a:buClr>
              <a:buSzPct val="90000"/>
              <a:buFont typeface="Wingdings" panose="05000000000000000000" pitchFamily="2" charset="2"/>
              <a:buChar char="q"/>
              <a:defRPr/>
            </a:pPr>
            <a:r>
              <a:rPr kumimoji="1" lang="en-US" altLang="zh-CN" sz="2000" b="1" dirty="0">
                <a:solidFill>
                  <a:schemeClr val="tx1">
                    <a:lumMod val="95000"/>
                    <a:lumOff val="5000"/>
                  </a:schemeClr>
                </a:solidFill>
                <a:latin typeface="楷体" panose="02010609060101010101" pitchFamily="49" charset="-122"/>
                <a:ea typeface="楷体" panose="02010609060101010101" pitchFamily="49" charset="-122"/>
              </a:rPr>
              <a:t> </a:t>
            </a:r>
            <a:r>
              <a:rPr kumimoji="1" lang="zh-CN" altLang="en-US" sz="2000" b="1" dirty="0">
                <a:solidFill>
                  <a:schemeClr val="tx1">
                    <a:lumMod val="95000"/>
                    <a:lumOff val="5000"/>
                  </a:schemeClr>
                </a:solidFill>
                <a:latin typeface="楷体" panose="02010609060101010101" pitchFamily="49" charset="-122"/>
                <a:ea typeface="楷体" panose="02010609060101010101" pitchFamily="49" charset="-122"/>
              </a:rPr>
              <a:t>匹配两相折光指数</a:t>
            </a:r>
          </a:p>
          <a:p>
            <a:pPr eaLnBrk="1" hangingPunct="1">
              <a:lnSpc>
                <a:spcPct val="100000"/>
              </a:lnSpc>
              <a:spcBef>
                <a:spcPct val="30000"/>
              </a:spcBef>
              <a:buClr>
                <a:srgbClr val="003300"/>
              </a:buClr>
              <a:buSzPct val="90000"/>
              <a:buFont typeface="Wingdings" panose="05000000000000000000" pitchFamily="2" charset="2"/>
              <a:buChar char="q"/>
              <a:defRPr/>
            </a:pPr>
            <a:r>
              <a:rPr kumimoji="1" lang="zh-CN" altLang="en-US" sz="2000" b="1" dirty="0">
                <a:solidFill>
                  <a:schemeClr val="tx1">
                    <a:lumMod val="95000"/>
                    <a:lumOff val="5000"/>
                  </a:schemeClr>
                </a:solidFill>
                <a:latin typeface="楷体" panose="02010609060101010101" pitchFamily="49" charset="-122"/>
                <a:ea typeface="楷体" panose="02010609060101010101" pitchFamily="49" charset="-122"/>
              </a:rPr>
              <a:t> 降低橡胶相粒子尺寸</a:t>
            </a:r>
          </a:p>
        </p:txBody>
      </p:sp>
      <p:sp>
        <p:nvSpPr>
          <p:cNvPr id="22546" name="Oval 1027">
            <a:extLst>
              <a:ext uri="{FF2B5EF4-FFF2-40B4-BE49-F238E27FC236}">
                <a16:creationId xmlns:a16="http://schemas.microsoft.com/office/drawing/2014/main" id="{B9D04FB0-D2FB-4C80-9D31-644D5F028D8E}"/>
              </a:ext>
            </a:extLst>
          </p:cNvPr>
          <p:cNvSpPr>
            <a:spLocks noChangeArrowheads="1"/>
          </p:cNvSpPr>
          <p:nvPr/>
        </p:nvSpPr>
        <p:spPr bwMode="auto">
          <a:xfrm>
            <a:off x="3729038" y="549275"/>
            <a:ext cx="1873250" cy="649288"/>
          </a:xfrm>
          <a:prstGeom prst="ellipse">
            <a:avLst/>
          </a:prstGeom>
          <a:solidFill>
            <a:schemeClr val="bg1">
              <a:lumMod val="85000"/>
            </a:schemeClr>
          </a:solidFill>
          <a:ln w="9525">
            <a:noFill/>
            <a:round/>
            <a:headEnd/>
            <a:tailEnd/>
          </a:ln>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defRPr/>
            </a:pPr>
            <a:r>
              <a:rPr kumimoji="1" lang="en-US" altLang="zh-CN" sz="2400" dirty="0">
                <a:latin typeface="Arial" panose="020B0604020202020204" pitchFamily="34" charset="0"/>
                <a:ea typeface="宋体" panose="02010600030101010101" pitchFamily="2" charset="-122"/>
                <a:cs typeface="Arial" panose="020B0604020202020204" pitchFamily="34" charset="0"/>
              </a:rPr>
              <a:t>GPPS</a:t>
            </a:r>
          </a:p>
        </p:txBody>
      </p:sp>
      <p:sp>
        <p:nvSpPr>
          <p:cNvPr id="39950" name="Line 1037"/>
          <p:cNvSpPr>
            <a:spLocks noChangeShapeType="1"/>
          </p:cNvSpPr>
          <p:nvPr/>
        </p:nvSpPr>
        <p:spPr bwMode="auto">
          <a:xfrm>
            <a:off x="4665663" y="1235075"/>
            <a:ext cx="0" cy="841375"/>
          </a:xfrm>
          <a:prstGeom prst="line">
            <a:avLst/>
          </a:prstGeom>
          <a:noFill/>
          <a:ln w="38100">
            <a:solidFill>
              <a:srgbClr val="CC33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39951" name="矩形 2"/>
          <p:cNvSpPr>
            <a:spLocks noChangeArrowheads="1"/>
          </p:cNvSpPr>
          <p:nvPr/>
        </p:nvSpPr>
        <p:spPr bwMode="auto">
          <a:xfrm>
            <a:off x="412750" y="700088"/>
            <a:ext cx="34194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通用级聚苯乙烯</a:t>
            </a:r>
            <a:r>
              <a:rPr lang="en-US" altLang="zh-CN" sz="2000">
                <a:latin typeface="Arial" panose="020B0604020202020204" pitchFamily="34" charset="0"/>
                <a:ea typeface="楷体" panose="02010609060101010101" pitchFamily="49" charset="-122"/>
                <a:cs typeface="Arial" panose="020B0604020202020204" pitchFamily="34" charset="0"/>
              </a:rPr>
              <a:t>,</a:t>
            </a:r>
          </a:p>
          <a:p>
            <a:pPr>
              <a:lnSpc>
                <a:spcPct val="10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general purpose polystyrene</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sp>
        <p:nvSpPr>
          <p:cNvPr id="39952" name="矩形 3"/>
          <p:cNvSpPr>
            <a:spLocks noChangeArrowheads="1"/>
          </p:cNvSpPr>
          <p:nvPr/>
        </p:nvSpPr>
        <p:spPr bwMode="auto">
          <a:xfrm>
            <a:off x="5584825" y="666750"/>
            <a:ext cx="1981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a:latin typeface="楷体" panose="02010609060101010101" pitchFamily="49" charset="-122"/>
                <a:ea typeface="楷体" panose="02010609060101010101" pitchFamily="49" charset="-122"/>
              </a:rPr>
              <a:t>热塑性非结晶性</a:t>
            </a:r>
          </a:p>
        </p:txBody>
      </p:sp>
      <p:sp>
        <p:nvSpPr>
          <p:cNvPr id="39953" name="矩形 1"/>
          <p:cNvSpPr>
            <a:spLocks noChangeArrowheads="1"/>
          </p:cNvSpPr>
          <p:nvPr/>
        </p:nvSpPr>
        <p:spPr bwMode="auto">
          <a:xfrm>
            <a:off x="2436813" y="5956300"/>
            <a:ext cx="4738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2000" b="1"/>
              <a:t>ABS: </a:t>
            </a:r>
            <a:r>
              <a:rPr lang="zh-CN" altLang="en-US" sz="2000" b="1"/>
              <a:t>丙烯腈</a:t>
            </a:r>
            <a:r>
              <a:rPr lang="en-US" altLang="zh-CN" sz="2000" b="1"/>
              <a:t>-</a:t>
            </a:r>
            <a:r>
              <a:rPr lang="zh-CN" altLang="en-US" sz="2000" b="1"/>
              <a:t>丁二烯</a:t>
            </a:r>
            <a:r>
              <a:rPr lang="en-US" altLang="zh-CN" sz="2000" b="1"/>
              <a:t>-</a:t>
            </a:r>
            <a:r>
              <a:rPr lang="zh-CN" altLang="en-US" sz="2000" b="1"/>
              <a:t>苯乙烯共聚物，无规</a:t>
            </a:r>
            <a:endParaRPr lang="en-US" altLang="zh-CN" sz="2000" b="1"/>
          </a:p>
        </p:txBody>
      </p:sp>
      <p:sp>
        <p:nvSpPr>
          <p:cNvPr id="18" name="矩形 17">
            <a:extLst>
              <a:ext uri="{FF2B5EF4-FFF2-40B4-BE49-F238E27FC236}">
                <a16:creationId xmlns:a16="http://schemas.microsoft.com/office/drawing/2014/main" id="{39021465-3660-48D1-A795-87AB9D6FC315}"/>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2"/>
                                        </p:tgtEl>
                                        <p:attrNameLst>
                                          <p:attrName>style.visibility</p:attrName>
                                        </p:attrNameLst>
                                      </p:cBhvr>
                                      <p:to>
                                        <p:strVal val="visible"/>
                                      </p:to>
                                    </p:set>
                                    <p:anim calcmode="lin" valueType="num">
                                      <p:cBhvr additive="base">
                                        <p:cTn id="7" dur="500" fill="hold"/>
                                        <p:tgtEl>
                                          <p:spTgt spid="22532"/>
                                        </p:tgtEl>
                                        <p:attrNameLst>
                                          <p:attrName>ppt_x</p:attrName>
                                        </p:attrNameLst>
                                      </p:cBhvr>
                                      <p:tavLst>
                                        <p:tav tm="0">
                                          <p:val>
                                            <p:strVal val="#ppt_x"/>
                                          </p:val>
                                        </p:tav>
                                        <p:tav tm="100000">
                                          <p:val>
                                            <p:strVal val="#ppt_x"/>
                                          </p:val>
                                        </p:tav>
                                      </p:tavLst>
                                    </p:anim>
                                    <p:anim calcmode="lin" valueType="num">
                                      <p:cBhvr additive="base">
                                        <p:cTn id="8" dur="500" fill="hold"/>
                                        <p:tgtEl>
                                          <p:spTgt spid="2253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2534"/>
                                        </p:tgtEl>
                                        <p:attrNameLst>
                                          <p:attrName>style.visibility</p:attrName>
                                        </p:attrNameLst>
                                      </p:cBhvr>
                                      <p:to>
                                        <p:strVal val="visible"/>
                                      </p:to>
                                    </p:set>
                                    <p:animEffect transition="in" filter="fade">
                                      <p:cBhvr>
                                        <p:cTn id="13" dur="1000"/>
                                        <p:tgtEl>
                                          <p:spTgt spid="22534"/>
                                        </p:tgtEl>
                                      </p:cBhvr>
                                    </p:animEffect>
                                    <p:anim calcmode="lin" valueType="num">
                                      <p:cBhvr>
                                        <p:cTn id="14" dur="1000" fill="hold"/>
                                        <p:tgtEl>
                                          <p:spTgt spid="22534"/>
                                        </p:tgtEl>
                                        <p:attrNameLst>
                                          <p:attrName>ppt_x</p:attrName>
                                        </p:attrNameLst>
                                      </p:cBhvr>
                                      <p:tavLst>
                                        <p:tav tm="0">
                                          <p:val>
                                            <p:strVal val="#ppt_x"/>
                                          </p:val>
                                        </p:tav>
                                        <p:tav tm="100000">
                                          <p:val>
                                            <p:strVal val="#ppt_x"/>
                                          </p:val>
                                        </p:tav>
                                      </p:tavLst>
                                    </p:anim>
                                    <p:anim calcmode="lin" valueType="num">
                                      <p:cBhvr>
                                        <p:cTn id="15" dur="1000" fill="hold"/>
                                        <p:tgtEl>
                                          <p:spTgt spid="22534"/>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7895"/>
                                        </p:tgtEl>
                                        <p:attrNameLst>
                                          <p:attrName>style.visibility</p:attrName>
                                        </p:attrNameLst>
                                      </p:cBhvr>
                                      <p:to>
                                        <p:strVal val="visible"/>
                                      </p:to>
                                    </p:set>
                                    <p:animEffect transition="in" filter="fade">
                                      <p:cBhvr>
                                        <p:cTn id="18" dur="1000"/>
                                        <p:tgtEl>
                                          <p:spTgt spid="37895"/>
                                        </p:tgtEl>
                                      </p:cBhvr>
                                    </p:animEffect>
                                    <p:anim calcmode="lin" valueType="num">
                                      <p:cBhvr>
                                        <p:cTn id="19" dur="1000" fill="hold"/>
                                        <p:tgtEl>
                                          <p:spTgt spid="37895"/>
                                        </p:tgtEl>
                                        <p:attrNameLst>
                                          <p:attrName>ppt_x</p:attrName>
                                        </p:attrNameLst>
                                      </p:cBhvr>
                                      <p:tavLst>
                                        <p:tav tm="0">
                                          <p:val>
                                            <p:strVal val="#ppt_x"/>
                                          </p:val>
                                        </p:tav>
                                        <p:tav tm="100000">
                                          <p:val>
                                            <p:strVal val="#ppt_x"/>
                                          </p:val>
                                        </p:tav>
                                      </p:tavLst>
                                    </p:anim>
                                    <p:anim calcmode="lin" valueType="num">
                                      <p:cBhvr>
                                        <p:cTn id="20" dur="1000" fill="hold"/>
                                        <p:tgtEl>
                                          <p:spTgt spid="37895"/>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37898"/>
                                        </p:tgtEl>
                                        <p:attrNameLst>
                                          <p:attrName>style.visibility</p:attrName>
                                        </p:attrNameLst>
                                      </p:cBhvr>
                                      <p:to>
                                        <p:strVal val="visible"/>
                                      </p:to>
                                    </p:set>
                                    <p:animEffect transition="in" filter="fade">
                                      <p:cBhvr>
                                        <p:cTn id="23" dur="1000"/>
                                        <p:tgtEl>
                                          <p:spTgt spid="37898"/>
                                        </p:tgtEl>
                                      </p:cBhvr>
                                    </p:animEffect>
                                    <p:anim calcmode="lin" valueType="num">
                                      <p:cBhvr>
                                        <p:cTn id="24" dur="1000" fill="hold"/>
                                        <p:tgtEl>
                                          <p:spTgt spid="37898"/>
                                        </p:tgtEl>
                                        <p:attrNameLst>
                                          <p:attrName>ppt_x</p:attrName>
                                        </p:attrNameLst>
                                      </p:cBhvr>
                                      <p:tavLst>
                                        <p:tav tm="0">
                                          <p:val>
                                            <p:strVal val="#ppt_x"/>
                                          </p:val>
                                        </p:tav>
                                        <p:tav tm="100000">
                                          <p:val>
                                            <p:strVal val="#ppt_x"/>
                                          </p:val>
                                        </p:tav>
                                      </p:tavLst>
                                    </p:anim>
                                    <p:anim calcmode="lin" valueType="num">
                                      <p:cBhvr>
                                        <p:cTn id="25" dur="1000" fill="hold"/>
                                        <p:tgtEl>
                                          <p:spTgt spid="37898"/>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37899"/>
                                        </p:tgtEl>
                                        <p:attrNameLst>
                                          <p:attrName>style.visibility</p:attrName>
                                        </p:attrNameLst>
                                      </p:cBhvr>
                                      <p:to>
                                        <p:strVal val="visible"/>
                                      </p:to>
                                    </p:set>
                                    <p:animEffect transition="in" filter="fade">
                                      <p:cBhvr>
                                        <p:cTn id="28" dur="1000"/>
                                        <p:tgtEl>
                                          <p:spTgt spid="37899"/>
                                        </p:tgtEl>
                                      </p:cBhvr>
                                    </p:animEffect>
                                    <p:anim calcmode="lin" valueType="num">
                                      <p:cBhvr>
                                        <p:cTn id="29" dur="1000" fill="hold"/>
                                        <p:tgtEl>
                                          <p:spTgt spid="37899"/>
                                        </p:tgtEl>
                                        <p:attrNameLst>
                                          <p:attrName>ppt_x</p:attrName>
                                        </p:attrNameLst>
                                      </p:cBhvr>
                                      <p:tavLst>
                                        <p:tav tm="0">
                                          <p:val>
                                            <p:strVal val="#ppt_x"/>
                                          </p:val>
                                        </p:tav>
                                        <p:tav tm="100000">
                                          <p:val>
                                            <p:strVal val="#ppt_x"/>
                                          </p:val>
                                        </p:tav>
                                      </p:tavLst>
                                    </p:anim>
                                    <p:anim calcmode="lin" valueType="num">
                                      <p:cBhvr>
                                        <p:cTn id="30" dur="1000" fill="hold"/>
                                        <p:tgtEl>
                                          <p:spTgt spid="37899"/>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1000"/>
                                        <p:tgtEl>
                                          <p:spTgt spid="20"/>
                                        </p:tgtEl>
                                      </p:cBhvr>
                                    </p:animEffect>
                                    <p:anim calcmode="lin" valueType="num">
                                      <p:cBhvr>
                                        <p:cTn id="36" dur="1000" fill="hold"/>
                                        <p:tgtEl>
                                          <p:spTgt spid="20"/>
                                        </p:tgtEl>
                                        <p:attrNameLst>
                                          <p:attrName>ppt_x</p:attrName>
                                        </p:attrNameLst>
                                      </p:cBhvr>
                                      <p:tavLst>
                                        <p:tav tm="0">
                                          <p:val>
                                            <p:strVal val="#ppt_x"/>
                                          </p:val>
                                        </p:tav>
                                        <p:tav tm="100000">
                                          <p:val>
                                            <p:strVal val="#ppt_x"/>
                                          </p:val>
                                        </p:tav>
                                      </p:tavLst>
                                    </p:anim>
                                    <p:anim calcmode="lin" valueType="num">
                                      <p:cBhvr>
                                        <p:cTn id="37" dur="1000" fill="hold"/>
                                        <p:tgtEl>
                                          <p:spTgt spid="20"/>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7896"/>
                                        </p:tgtEl>
                                        <p:attrNameLst>
                                          <p:attrName>style.visibility</p:attrName>
                                        </p:attrNameLst>
                                      </p:cBhvr>
                                      <p:to>
                                        <p:strVal val="visible"/>
                                      </p:to>
                                    </p:set>
                                    <p:animEffect transition="in" filter="fade">
                                      <p:cBhvr>
                                        <p:cTn id="40" dur="1000"/>
                                        <p:tgtEl>
                                          <p:spTgt spid="37896"/>
                                        </p:tgtEl>
                                      </p:cBhvr>
                                    </p:animEffect>
                                    <p:anim calcmode="lin" valueType="num">
                                      <p:cBhvr>
                                        <p:cTn id="41" dur="1000" fill="hold"/>
                                        <p:tgtEl>
                                          <p:spTgt spid="37896"/>
                                        </p:tgtEl>
                                        <p:attrNameLst>
                                          <p:attrName>ppt_x</p:attrName>
                                        </p:attrNameLst>
                                      </p:cBhvr>
                                      <p:tavLst>
                                        <p:tav tm="0">
                                          <p:val>
                                            <p:strVal val="#ppt_x"/>
                                          </p:val>
                                        </p:tav>
                                        <p:tav tm="100000">
                                          <p:val>
                                            <p:strVal val="#ppt_x"/>
                                          </p:val>
                                        </p:tav>
                                      </p:tavLst>
                                    </p:anim>
                                    <p:anim calcmode="lin" valueType="num">
                                      <p:cBhvr>
                                        <p:cTn id="42" dur="1000" fill="hold"/>
                                        <p:tgtEl>
                                          <p:spTgt spid="37896"/>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7897"/>
                                        </p:tgtEl>
                                        <p:attrNameLst>
                                          <p:attrName>style.visibility</p:attrName>
                                        </p:attrNameLst>
                                      </p:cBhvr>
                                      <p:to>
                                        <p:strVal val="visible"/>
                                      </p:to>
                                    </p:set>
                                    <p:animEffect transition="in" filter="fade">
                                      <p:cBhvr>
                                        <p:cTn id="45" dur="1000"/>
                                        <p:tgtEl>
                                          <p:spTgt spid="37897"/>
                                        </p:tgtEl>
                                      </p:cBhvr>
                                    </p:animEffect>
                                    <p:anim calcmode="lin" valueType="num">
                                      <p:cBhvr>
                                        <p:cTn id="46" dur="1000" fill="hold"/>
                                        <p:tgtEl>
                                          <p:spTgt spid="37897"/>
                                        </p:tgtEl>
                                        <p:attrNameLst>
                                          <p:attrName>ppt_x</p:attrName>
                                        </p:attrNameLst>
                                      </p:cBhvr>
                                      <p:tavLst>
                                        <p:tav tm="0">
                                          <p:val>
                                            <p:strVal val="#ppt_x"/>
                                          </p:val>
                                        </p:tav>
                                        <p:tav tm="100000">
                                          <p:val>
                                            <p:strVal val="#ppt_x"/>
                                          </p:val>
                                        </p:tav>
                                      </p:tavLst>
                                    </p:anim>
                                    <p:anim calcmode="lin" valueType="num">
                                      <p:cBhvr>
                                        <p:cTn id="47" dur="1000" fill="hold"/>
                                        <p:tgtEl>
                                          <p:spTgt spid="37897"/>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2544"/>
                                        </p:tgtEl>
                                        <p:attrNameLst>
                                          <p:attrName>style.visibility</p:attrName>
                                        </p:attrNameLst>
                                      </p:cBhvr>
                                      <p:to>
                                        <p:strVal val="visible"/>
                                      </p:to>
                                    </p:set>
                                    <p:animEffect transition="in" filter="fade">
                                      <p:cBhvr>
                                        <p:cTn id="50" dur="1000"/>
                                        <p:tgtEl>
                                          <p:spTgt spid="22544"/>
                                        </p:tgtEl>
                                      </p:cBhvr>
                                    </p:animEffect>
                                    <p:anim calcmode="lin" valueType="num">
                                      <p:cBhvr>
                                        <p:cTn id="51" dur="1000" fill="hold"/>
                                        <p:tgtEl>
                                          <p:spTgt spid="22544"/>
                                        </p:tgtEl>
                                        <p:attrNameLst>
                                          <p:attrName>ppt_x</p:attrName>
                                        </p:attrNameLst>
                                      </p:cBhvr>
                                      <p:tavLst>
                                        <p:tav tm="0">
                                          <p:val>
                                            <p:strVal val="#ppt_x"/>
                                          </p:val>
                                        </p:tav>
                                        <p:tav tm="100000">
                                          <p:val>
                                            <p:strVal val="#ppt_x"/>
                                          </p:val>
                                        </p:tav>
                                      </p:tavLst>
                                    </p:anim>
                                    <p:anim calcmode="lin" valueType="num">
                                      <p:cBhvr>
                                        <p:cTn id="52" dur="1000" fill="hold"/>
                                        <p:tgtEl>
                                          <p:spTgt spid="225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532" grpId="0" animBg="1"/>
      <p:bldP spid="22534" grpId="0" animBg="1"/>
      <p:bldP spid="37895" grpId="0"/>
      <p:bldP spid="37896" grpId="0"/>
      <p:bldP spid="37899" grpId="0" animBg="1"/>
      <p:bldP spid="22544"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26B644F-2D59-4E09-A566-1B9D7CF6649C}"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20</a:t>
            </a:fld>
            <a:endParaRPr lang="en-US" altLang="zh-CN" sz="1400">
              <a:latin typeface="Times New Roman" panose="02020603050405020304" pitchFamily="18" charset="0"/>
              <a:ea typeface="宋体" panose="02010600030101010101" pitchFamily="2" charset="-122"/>
            </a:endParaRPr>
          </a:p>
        </p:txBody>
      </p:sp>
      <p:sp>
        <p:nvSpPr>
          <p:cNvPr id="40963" name="Text Box 2"/>
          <p:cNvSpPr txBox="1">
            <a:spLocks noChangeArrowheads="1"/>
          </p:cNvSpPr>
          <p:nvPr/>
        </p:nvSpPr>
        <p:spPr bwMode="auto">
          <a:xfrm>
            <a:off x="628650" y="3846513"/>
            <a:ext cx="7918450" cy="2122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PMMA</a:t>
            </a:r>
            <a:r>
              <a:rPr kumimoji="1" lang="zh-CN" altLang="en-US" sz="2400" b="1">
                <a:latin typeface="Arial" panose="020B0604020202020204" pitchFamily="34" charset="0"/>
                <a:ea typeface="楷体" panose="02010609060101010101" pitchFamily="49" charset="-122"/>
                <a:cs typeface="Arial" panose="020B0604020202020204" pitchFamily="34" charset="0"/>
              </a:rPr>
              <a:t>具有良好透光度和光泽度，较高的抗冲击强度，但其熔融粘度大、流动性差，加工成型较困难。</a:t>
            </a:r>
            <a:endParaRPr kumimoji="1" lang="en-US" altLang="zh-CN" sz="2400" b="1">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当</a:t>
            </a:r>
            <a:r>
              <a:rPr kumimoji="1" lang="en-US" altLang="zh-CN" sz="2400" b="1">
                <a:latin typeface="Arial" panose="020B0604020202020204" pitchFamily="34" charset="0"/>
                <a:ea typeface="楷体" panose="02010609060101010101" pitchFamily="49" charset="-122"/>
                <a:cs typeface="Arial" panose="020B0604020202020204" pitchFamily="34" charset="0"/>
              </a:rPr>
              <a:t>St</a:t>
            </a:r>
            <a:r>
              <a:rPr kumimoji="1" lang="zh-CN" altLang="en-US" sz="2400" b="1">
                <a:latin typeface="Arial" panose="020B0604020202020204" pitchFamily="34" charset="0"/>
                <a:ea typeface="楷体" panose="02010609060101010101" pitchFamily="49" charset="-122"/>
                <a:cs typeface="Arial" panose="020B0604020202020204" pitchFamily="34" charset="0"/>
              </a:rPr>
              <a:t>与之共聚时，显著改善其流动性能和加工性能，成为用途广泛的塑料。</a:t>
            </a:r>
            <a:r>
              <a:rPr kumimoji="1" lang="zh-CN" altLang="en-US" sz="2400">
                <a:latin typeface="Arial" panose="020B0604020202020204" pitchFamily="34" charset="0"/>
                <a:ea typeface="楷体" panose="02010609060101010101" pitchFamily="49" charset="-122"/>
                <a:cs typeface="Arial" panose="020B0604020202020204" pitchFamily="34" charset="0"/>
              </a:rPr>
              <a:t> </a:t>
            </a:r>
          </a:p>
        </p:txBody>
      </p:sp>
      <p:sp>
        <p:nvSpPr>
          <p:cNvPr id="40964" name="Rectangle 4"/>
          <p:cNvSpPr>
            <a:spLocks noChangeArrowheads="1"/>
          </p:cNvSpPr>
          <p:nvPr/>
        </p:nvSpPr>
        <p:spPr bwMode="auto">
          <a:xfrm>
            <a:off x="468313" y="476250"/>
            <a:ext cx="7543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甲基丙烯酸甲酯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(Methyl Methacrylate, MMA)</a:t>
            </a:r>
          </a:p>
        </p:txBody>
      </p:sp>
      <p:pic>
        <p:nvPicPr>
          <p:cNvPr id="40965" name="Picture 5" descr="PMMA_clip_image0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75463" y="1554163"/>
            <a:ext cx="1958975" cy="161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0966" name="对象 2"/>
          <p:cNvGraphicFramePr>
            <a:graphicFrameLocks noChangeAspect="1"/>
          </p:cNvGraphicFramePr>
          <p:nvPr/>
        </p:nvGraphicFramePr>
        <p:xfrm>
          <a:off x="628650" y="1262063"/>
          <a:ext cx="5953125" cy="2095500"/>
        </p:xfrm>
        <a:graphic>
          <a:graphicData uri="http://schemas.openxmlformats.org/presentationml/2006/ole">
            <mc:AlternateContent xmlns:mc="http://schemas.openxmlformats.org/markup-compatibility/2006">
              <mc:Choice xmlns:v="urn:schemas-microsoft-com:vml" Requires="v">
                <p:oleObj spid="_x0000_s40980" r:id="rId4" imgW="5410200" imgH="1905000" progId="">
                  <p:embed/>
                </p:oleObj>
              </mc:Choice>
              <mc:Fallback>
                <p:oleObj r:id="rId4" imgW="5410200" imgH="1905000" progId="">
                  <p:embed/>
                  <p:pic>
                    <p:nvPicPr>
                      <p:cNvPr id="0"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650" y="1262063"/>
                        <a:ext cx="5953125"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图片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17475"/>
            <a:ext cx="9144000" cy="638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DEA291E5-4353-4E4E-9E38-DF35970D67C8}"/>
              </a:ext>
            </a:extLst>
          </p:cNvPr>
          <p:cNvSpPr>
            <a:spLocks noGrp="1"/>
          </p:cNvSpPr>
          <p:nvPr>
            <p:ph type="sldNum" sz="quarter" idx="12"/>
          </p:nvPr>
        </p:nvSpPr>
        <p:spPr/>
        <p:txBody>
          <a:bodyPr/>
          <a:lstStyle/>
          <a:p>
            <a:pPr>
              <a:defRPr/>
            </a:pPr>
            <a:fld id="{03B30E22-4531-4714-BBBA-2F2AAB661A15}" type="slidenum">
              <a:rPr lang="zh-CN" altLang="en-US" smtClean="0"/>
              <a:pPr>
                <a:defRPr/>
              </a:pPr>
              <a:t>21</a:t>
            </a:fld>
            <a:endParaRPr lang="en-US" altLang="zh-CN"/>
          </a:p>
        </p:txBody>
      </p:sp>
      <p:sp>
        <p:nvSpPr>
          <p:cNvPr id="12" name="矩形 11">
            <a:extLst>
              <a:ext uri="{FF2B5EF4-FFF2-40B4-BE49-F238E27FC236}">
                <a16:creationId xmlns:a16="http://schemas.microsoft.com/office/drawing/2014/main" id="{5394A322-B154-4207-A3C6-3AC7C25F7A97}"/>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graphicFrame>
        <p:nvGraphicFramePr>
          <p:cNvPr id="41989" name="对象 12"/>
          <p:cNvGraphicFramePr>
            <a:graphicFrameLocks noChangeAspect="1"/>
          </p:cNvGraphicFramePr>
          <p:nvPr/>
        </p:nvGraphicFramePr>
        <p:xfrm>
          <a:off x="250825" y="2924175"/>
          <a:ext cx="4646613" cy="1079500"/>
        </p:xfrm>
        <a:graphic>
          <a:graphicData uri="http://schemas.openxmlformats.org/presentationml/2006/ole">
            <mc:AlternateContent xmlns:mc="http://schemas.openxmlformats.org/markup-compatibility/2006">
              <mc:Choice xmlns:v="urn:schemas-microsoft-com:vml" Requires="v">
                <p:oleObj spid="_x0000_s42018" r:id="rId4" imgW="3698240" imgH="863600" progId="">
                  <p:embed/>
                </p:oleObj>
              </mc:Choice>
              <mc:Fallback>
                <p:oleObj r:id="rId4" imgW="3698240" imgH="863600" progId="">
                  <p:embed/>
                  <p:pic>
                    <p:nvPicPr>
                      <p:cNvPr id="0" name="对象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2924175"/>
                        <a:ext cx="4646613" cy="10795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nvGraphicFramePr>
        <p:xfrm>
          <a:off x="0" y="17463"/>
          <a:ext cx="5811838" cy="4032250"/>
        </p:xfrm>
        <a:graphic>
          <a:graphicData uri="http://schemas.openxmlformats.org/presentationml/2006/ole">
            <mc:AlternateContent xmlns:mc="http://schemas.openxmlformats.org/markup-compatibility/2006">
              <mc:Choice xmlns:v="urn:schemas-microsoft-com:vml" Requires="v">
                <p:oleObj spid="_x0000_s42019" name="Graph" r:id="rId6" imgW="4158867" imgH="2891928" progId="Origin50.Graph">
                  <p:embed/>
                </p:oleObj>
              </mc:Choice>
              <mc:Fallback>
                <p:oleObj name="Graph" r:id="rId6" imgW="4158867" imgH="2891928" progId="Origin50.Graph">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7463"/>
                        <a:ext cx="5811838" cy="4032250"/>
                      </a:xfrm>
                      <a:prstGeom prst="rect">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991" name="矩形 13"/>
          <p:cNvSpPr>
            <a:spLocks noChangeArrowheads="1"/>
          </p:cNvSpPr>
          <p:nvPr/>
        </p:nvSpPr>
        <p:spPr bwMode="auto">
          <a:xfrm>
            <a:off x="107950" y="6537325"/>
            <a:ext cx="39703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1800"/>
              <a:t>Polymer Chemistry, 2016, 7, 3731 - 3739</a:t>
            </a:r>
            <a:endParaRPr lang="zh-CN"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A4CDD3D-85C3-496E-BD88-B4478B31163A}"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22</a:t>
            </a:fld>
            <a:endParaRPr lang="en-US" altLang="zh-CN" sz="1400">
              <a:latin typeface="Times New Roman" panose="02020603050405020304" pitchFamily="18" charset="0"/>
              <a:ea typeface="宋体" panose="02010600030101010101" pitchFamily="2" charset="-122"/>
            </a:endParaRPr>
          </a:p>
        </p:txBody>
      </p:sp>
      <p:sp>
        <p:nvSpPr>
          <p:cNvPr id="39939" name="Text Box 2">
            <a:extLst>
              <a:ext uri="{FF2B5EF4-FFF2-40B4-BE49-F238E27FC236}">
                <a16:creationId xmlns:a16="http://schemas.microsoft.com/office/drawing/2014/main" id="{9CB98466-8FA5-42FE-89F0-6D792FC5E96D}"/>
              </a:ext>
            </a:extLst>
          </p:cNvPr>
          <p:cNvSpPr txBox="1">
            <a:spLocks noChangeArrowheads="1"/>
          </p:cNvSpPr>
          <p:nvPr/>
        </p:nvSpPr>
        <p:spPr bwMode="auto">
          <a:xfrm>
            <a:off x="869950" y="3427413"/>
            <a:ext cx="7805738"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defRPr/>
            </a:pPr>
            <a:r>
              <a:rPr kumimoji="1" lang="en-US" altLang="zh-CN" sz="2200" dirty="0">
                <a:latin typeface="Arial" panose="020B0604020202020204" pitchFamily="34" charset="0"/>
                <a:ea typeface="楷体" panose="02010609060101010101" pitchFamily="49" charset="-122"/>
                <a:cs typeface="Arial" panose="020B0604020202020204" pitchFamily="34" charset="0"/>
              </a:rPr>
              <a:t>PVC</a:t>
            </a:r>
            <a:r>
              <a:rPr kumimoji="1" lang="zh-CN" altLang="en-US" sz="2200" dirty="0">
                <a:latin typeface="Arial" panose="020B0604020202020204" pitchFamily="34" charset="0"/>
                <a:ea typeface="楷体" panose="02010609060101010101" pitchFamily="49" charset="-122"/>
                <a:cs typeface="Arial" panose="020B0604020202020204" pitchFamily="34" charset="0"/>
              </a:rPr>
              <a:t>机械性能好，但对光、热稳定性差，脆性大。</a:t>
            </a:r>
          </a:p>
          <a:p>
            <a:pPr eaLnBrk="1" hangingPunct="1">
              <a:lnSpc>
                <a:spcPct val="125000"/>
              </a:lnSpc>
              <a:spcBef>
                <a:spcPct val="50000"/>
              </a:spcBef>
              <a:buClr>
                <a:srgbClr val="FF0000"/>
              </a:buClr>
              <a:buFont typeface="Wingdings" panose="05000000000000000000" pitchFamily="2" charset="2"/>
              <a:buChar char="u"/>
              <a:defRPr/>
            </a:pPr>
            <a:r>
              <a:rPr kumimoji="1" lang="zh-CN" altLang="en-US" sz="2200" dirty="0">
                <a:latin typeface="Arial" panose="020B0604020202020204" pitchFamily="34" charset="0"/>
                <a:ea typeface="楷体" panose="02010609060101010101" pitchFamily="49" charset="-122"/>
                <a:cs typeface="Arial" panose="020B0604020202020204" pitchFamily="34" charset="0"/>
              </a:rPr>
              <a:t> </a:t>
            </a:r>
            <a:r>
              <a:rPr kumimoji="1" lang="en-US" altLang="zh-CN" sz="2200" dirty="0">
                <a:latin typeface="Arial" panose="020B0604020202020204" pitchFamily="34" charset="0"/>
                <a:ea typeface="楷体" panose="02010609060101010101" pitchFamily="49" charset="-122"/>
                <a:cs typeface="Arial" panose="020B0604020202020204" pitchFamily="34" charset="0"/>
              </a:rPr>
              <a:t>VC</a:t>
            </a:r>
            <a:r>
              <a:rPr kumimoji="1" lang="zh-CN" altLang="en-US" sz="2200" dirty="0">
                <a:latin typeface="Arial" panose="020B0604020202020204" pitchFamily="34" charset="0"/>
                <a:ea typeface="楷体" panose="02010609060101010101" pitchFamily="49" charset="-122"/>
                <a:cs typeface="Arial" panose="020B0604020202020204" pitchFamily="34" charset="0"/>
              </a:rPr>
              <a:t>与</a:t>
            </a:r>
            <a:r>
              <a:rPr kumimoji="1" lang="en-US" altLang="zh-CN" sz="2200" dirty="0">
                <a:latin typeface="Arial" panose="020B0604020202020204" pitchFamily="34" charset="0"/>
                <a:ea typeface="楷体" panose="02010609060101010101" pitchFamily="49" charset="-122"/>
                <a:cs typeface="Arial" panose="020B0604020202020204" pitchFamily="34" charset="0"/>
              </a:rPr>
              <a:t>VAc</a:t>
            </a:r>
            <a:r>
              <a:rPr kumimoji="1" lang="zh-CN" altLang="en-US" sz="2200" dirty="0">
                <a:latin typeface="Arial" panose="020B0604020202020204" pitchFamily="34" charset="0"/>
                <a:ea typeface="楷体" panose="02010609060101010101" pitchFamily="49" charset="-122"/>
                <a:cs typeface="Arial" panose="020B0604020202020204" pitchFamily="34" charset="0"/>
              </a:rPr>
              <a:t>共聚：</a:t>
            </a:r>
            <a:r>
              <a:rPr kumimoji="1" lang="en-US" altLang="zh-CN" sz="2200" dirty="0">
                <a:latin typeface="Arial" panose="020B0604020202020204" pitchFamily="34" charset="0"/>
                <a:ea typeface="楷体" panose="02010609060101010101" pitchFamily="49" charset="-122"/>
                <a:cs typeface="Arial" panose="020B0604020202020204" pitchFamily="34" charset="0"/>
              </a:rPr>
              <a:t>VAc </a:t>
            </a:r>
            <a:r>
              <a:rPr kumimoji="1" lang="zh-CN" altLang="en-US" sz="2200" dirty="0">
                <a:latin typeface="Arial" panose="020B0604020202020204" pitchFamily="34" charset="0"/>
                <a:ea typeface="楷体" panose="02010609060101010101" pitchFamily="49" charset="-122"/>
                <a:cs typeface="Arial" panose="020B0604020202020204" pitchFamily="34" charset="0"/>
              </a:rPr>
              <a:t>起着内增塑作用，改善流动性能，易加工。含5%</a:t>
            </a:r>
            <a:r>
              <a:rPr kumimoji="1" lang="en-US" altLang="zh-CN" sz="2200" dirty="0">
                <a:latin typeface="Arial" panose="020B0604020202020204" pitchFamily="34" charset="0"/>
                <a:ea typeface="楷体" panose="02010609060101010101" pitchFamily="49" charset="-122"/>
                <a:cs typeface="Arial" panose="020B0604020202020204" pitchFamily="34" charset="0"/>
              </a:rPr>
              <a:t>VAc </a:t>
            </a:r>
            <a:r>
              <a:rPr kumimoji="1" lang="zh-CN" altLang="en-US" sz="2200" dirty="0">
                <a:latin typeface="Arial" panose="020B0604020202020204" pitchFamily="34" charset="0"/>
                <a:ea typeface="楷体" panose="02010609060101010101" pitchFamily="49" charset="-122"/>
                <a:cs typeface="Arial" panose="020B0604020202020204" pitchFamily="34" charset="0"/>
              </a:rPr>
              <a:t>的硬共聚物可制造挤压管、薄板等；含20</a:t>
            </a:r>
            <a:r>
              <a:rPr kumimoji="1" lang="en-US" altLang="zh-CN" sz="2200" dirty="0">
                <a:latin typeface="Arial" panose="020B0604020202020204" pitchFamily="34" charset="0"/>
                <a:ea typeface="楷体" panose="02010609060101010101" pitchFamily="49" charset="-122"/>
                <a:cs typeface="Arial" panose="020B0604020202020204" pitchFamily="34" charset="0"/>
              </a:rPr>
              <a:t>~ 40% VAc</a:t>
            </a:r>
            <a:r>
              <a:rPr kumimoji="1" lang="zh-CN" altLang="en-US" sz="2200" dirty="0">
                <a:latin typeface="Arial" panose="020B0604020202020204" pitchFamily="34" charset="0"/>
                <a:ea typeface="楷体" panose="02010609060101010101" pitchFamily="49" charset="-122"/>
                <a:cs typeface="Arial" panose="020B0604020202020204" pitchFamily="34" charset="0"/>
              </a:rPr>
              <a:t>的软质共聚物可制造管材、</a:t>
            </a:r>
            <a:r>
              <a:rPr kumimoji="1" lang="zh-CN" altLang="en-US" sz="2200" u="sng" dirty="0">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rPr>
              <a:t>手提包</a:t>
            </a:r>
            <a:r>
              <a:rPr kumimoji="1" lang="zh-CN" altLang="en-US" sz="2200" dirty="0">
                <a:latin typeface="Arial" panose="020B0604020202020204" pitchFamily="34" charset="0"/>
                <a:ea typeface="楷体" panose="02010609060101010101" pitchFamily="49" charset="-122"/>
                <a:cs typeface="Arial" panose="020B0604020202020204" pitchFamily="34" charset="0"/>
              </a:rPr>
              <a:t>和地板砖等。</a:t>
            </a:r>
          </a:p>
          <a:p>
            <a:pPr eaLnBrk="1" hangingPunct="1">
              <a:lnSpc>
                <a:spcPct val="125000"/>
              </a:lnSpc>
              <a:spcBef>
                <a:spcPct val="50000"/>
              </a:spcBef>
              <a:buClr>
                <a:srgbClr val="FF0000"/>
              </a:buClr>
              <a:buFont typeface="Wingdings" panose="05000000000000000000" pitchFamily="2" charset="2"/>
              <a:buChar char="u"/>
              <a:defRPr/>
            </a:pPr>
            <a:r>
              <a:rPr kumimoji="1" lang="zh-CN" altLang="en-US" sz="2200" dirty="0">
                <a:latin typeface="Arial" panose="020B0604020202020204" pitchFamily="34" charset="0"/>
                <a:ea typeface="楷体" panose="02010609060101010101" pitchFamily="49" charset="-122"/>
                <a:cs typeface="Arial" panose="020B0604020202020204" pitchFamily="34" charset="0"/>
              </a:rPr>
              <a:t> </a:t>
            </a:r>
            <a:r>
              <a:rPr kumimoji="1" lang="en-US" altLang="zh-CN" sz="2200" dirty="0">
                <a:latin typeface="Arial" panose="020B0604020202020204" pitchFamily="34" charset="0"/>
                <a:ea typeface="楷体" panose="02010609060101010101" pitchFamily="49" charset="-122"/>
                <a:cs typeface="Arial" panose="020B0604020202020204" pitchFamily="34" charset="0"/>
              </a:rPr>
              <a:t>VC</a:t>
            </a:r>
            <a:r>
              <a:rPr kumimoji="1" lang="zh-CN" altLang="en-US" sz="2200" dirty="0">
                <a:latin typeface="Arial" panose="020B0604020202020204" pitchFamily="34" charset="0"/>
                <a:ea typeface="楷体" panose="02010609060101010101" pitchFamily="49" charset="-122"/>
                <a:cs typeface="Arial" panose="020B0604020202020204" pitchFamily="34" charset="0"/>
              </a:rPr>
              <a:t>与偏氯乙烯共聚：具有耐油脂、抗氧和抗水蒸气性能，广泛用于包装薄膜和涂料。  </a:t>
            </a:r>
          </a:p>
        </p:txBody>
      </p:sp>
      <p:sp>
        <p:nvSpPr>
          <p:cNvPr id="43012" name="Rectangle 3"/>
          <p:cNvSpPr>
            <a:spLocks noChangeArrowheads="1"/>
          </p:cNvSpPr>
          <p:nvPr/>
        </p:nvSpPr>
        <p:spPr bwMode="auto">
          <a:xfrm>
            <a:off x="457200" y="457200"/>
            <a:ext cx="42005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氯乙烯</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(Vinyl Chloride，VC )</a:t>
            </a:r>
          </a:p>
        </p:txBody>
      </p:sp>
      <p:sp>
        <p:nvSpPr>
          <p:cNvPr id="43013" name="Rectangle 4"/>
          <p:cNvSpPr>
            <a:spLocks noChangeArrowheads="1"/>
          </p:cNvSpPr>
          <p:nvPr/>
        </p:nvSpPr>
        <p:spPr bwMode="auto">
          <a:xfrm>
            <a:off x="869950" y="2908300"/>
            <a:ext cx="6577013"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FontTx/>
              <a:buNone/>
            </a:pPr>
            <a:r>
              <a:rPr kumimoji="1" lang="en-US" altLang="zh-CN" sz="2000" b="1">
                <a:latin typeface="Arial" panose="020B0604020202020204" pitchFamily="34" charset="0"/>
                <a:ea typeface="楷体" panose="02010609060101010101" pitchFamily="49" charset="-122"/>
                <a:cs typeface="Arial" panose="020B0604020202020204" pitchFamily="34" charset="0"/>
              </a:rPr>
              <a:t>PVC</a:t>
            </a:r>
            <a:r>
              <a:rPr kumimoji="1" lang="zh-CN" altLang="en-US" sz="2000" b="1">
                <a:latin typeface="Arial" panose="020B0604020202020204" pitchFamily="34" charset="0"/>
                <a:ea typeface="楷体" panose="02010609060101010101" pitchFamily="49" charset="-122"/>
                <a:cs typeface="Arial" panose="020B0604020202020204" pitchFamily="34" charset="0"/>
              </a:rPr>
              <a:t>世界年产量超过1000万吨，占第二位，仅次于</a:t>
            </a:r>
            <a:r>
              <a:rPr kumimoji="1" lang="en-US" altLang="zh-CN" sz="2000" b="1">
                <a:latin typeface="Arial" panose="020B0604020202020204" pitchFamily="34" charset="0"/>
                <a:ea typeface="楷体" panose="02010609060101010101" pitchFamily="49" charset="-122"/>
                <a:cs typeface="Arial" panose="020B0604020202020204" pitchFamily="34" charset="0"/>
              </a:rPr>
              <a:t>PE</a:t>
            </a:r>
            <a:r>
              <a:rPr kumimoji="1" lang="zh-CN" altLang="en-US" sz="2000" b="1">
                <a:latin typeface="Arial" panose="020B0604020202020204" pitchFamily="34" charset="0"/>
                <a:ea typeface="楷体" panose="02010609060101010101" pitchFamily="49" charset="-122"/>
                <a:cs typeface="Arial" panose="020B0604020202020204" pitchFamily="34" charset="0"/>
              </a:rPr>
              <a:t>。</a:t>
            </a:r>
          </a:p>
        </p:txBody>
      </p:sp>
      <p:pic>
        <p:nvPicPr>
          <p:cNvPr id="43014" name="Picture 6" descr="pvc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4600" y="1143000"/>
            <a:ext cx="220980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3015" name="对象 1"/>
          <p:cNvGraphicFramePr>
            <a:graphicFrameLocks noChangeAspect="1"/>
          </p:cNvGraphicFramePr>
          <p:nvPr/>
        </p:nvGraphicFramePr>
        <p:xfrm>
          <a:off x="684213" y="1090613"/>
          <a:ext cx="5170487" cy="1646237"/>
        </p:xfrm>
        <a:graphic>
          <a:graphicData uri="http://schemas.openxmlformats.org/presentationml/2006/ole">
            <mc:AlternateContent xmlns:mc="http://schemas.openxmlformats.org/markup-compatibility/2006">
              <mc:Choice xmlns:v="urn:schemas-microsoft-com:vml" Requires="v">
                <p:oleObj spid="_x0000_s43029" r:id="rId4" imgW="5171440" imgH="1645920" progId="">
                  <p:embed/>
                </p:oleObj>
              </mc:Choice>
              <mc:Fallback>
                <p:oleObj r:id="rId4" imgW="5171440" imgH="1645920" progId="">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090613"/>
                        <a:ext cx="5170487"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F3077AD1-C044-401F-8165-56325C09196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6564" name="Rectangle 3">
            <a:extLst>
              <a:ext uri="{FF2B5EF4-FFF2-40B4-BE49-F238E27FC236}">
                <a16:creationId xmlns:a16="http://schemas.microsoft.com/office/drawing/2014/main" id="{DCB7AECB-335F-4BF9-A9DE-639B835FDF4D}"/>
              </a:ext>
            </a:extLst>
          </p:cNvPr>
          <p:cNvSpPr>
            <a:spLocks noGrp="1" noChangeArrowheads="1"/>
          </p:cNvSpPr>
          <p:nvPr>
            <p:ph sz="quarter" idx="1"/>
          </p:nvPr>
        </p:nvSpPr>
        <p:spPr>
          <a:xfrm>
            <a:off x="323850" y="836613"/>
            <a:ext cx="6911975" cy="5143500"/>
          </a:xfrm>
        </p:spPr>
        <p:txBody>
          <a:bodyPr>
            <a:normAutofit fontScale="85000" lnSpcReduction="20000"/>
          </a:bodyPr>
          <a:lstStyle/>
          <a:p>
            <a:pPr eaLnBrk="1" fontAlgn="auto" hangingPunct="1">
              <a:lnSpc>
                <a:spcPct val="160000"/>
              </a:lnSpc>
              <a:spcAft>
                <a:spcPts val="0"/>
              </a:spcAft>
              <a:buFont typeface="Wingdings" panose="05000000000000000000" pitchFamily="2" charset="2"/>
              <a:buChar char="Ø"/>
              <a:defRPr/>
            </a:pP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 共聚带来的新问题 -组成问题</a:t>
            </a:r>
          </a:p>
          <a:p>
            <a:pPr eaLnBrk="1" fontAlgn="auto" hangingPunct="1">
              <a:lnSpc>
                <a:spcPct val="160000"/>
              </a:lnSpc>
              <a:spcAft>
                <a:spcPts val="0"/>
              </a:spcAft>
              <a:buFont typeface="Wingdings" panose="05000000000000000000" pitchFamily="2" charset="2"/>
              <a:buChar char="Ø"/>
              <a:defRPr/>
            </a:pP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 组成对共聚物的性能有决定性的影响</a:t>
            </a:r>
          </a:p>
          <a:p>
            <a:pPr marL="274320" indent="-274320" eaLnBrk="1" fontAlgn="auto" hangingPunct="1">
              <a:spcAft>
                <a:spcPts val="0"/>
              </a:spcAft>
              <a:buFontTx/>
              <a:buNone/>
              <a:defRPr/>
            </a:pPr>
            <a:endParaRPr lang="zh-CN" altLang="en-US" sz="1400" b="1" dirty="0">
              <a:latin typeface="Arial" panose="020B0604020202020204" pitchFamily="34" charset="0"/>
              <a:ea typeface="楷体" panose="02010609060101010101" pitchFamily="49" charset="-122"/>
              <a:cs typeface="Arial" panose="020B0604020202020204" pitchFamily="34" charset="0"/>
            </a:endParaRPr>
          </a:p>
          <a:p>
            <a:pPr marL="274320" indent="-274320" eaLnBrk="1" fontAlgn="auto" hangingPunct="1">
              <a:lnSpc>
                <a:spcPct val="110000"/>
              </a:lnSpc>
              <a:spcBef>
                <a:spcPts val="1200"/>
              </a:spcBef>
              <a:spcAft>
                <a:spcPts val="0"/>
              </a:spcAft>
              <a:buFontTx/>
              <a:buNone/>
              <a:defRPr/>
            </a:pPr>
            <a:r>
              <a:rPr lang="zh-CN" altLang="en-US" sz="2600" b="1" dirty="0">
                <a:latin typeface="Arial" panose="020B0604020202020204" pitchFamily="34" charset="0"/>
                <a:ea typeface="楷体" panose="02010609060101010101" pitchFamily="49" charset="-122"/>
                <a:cs typeface="Arial" panose="020B0604020202020204" pitchFamily="34" charset="0"/>
              </a:rPr>
              <a:t>以乙烯-醋酸乙烯共聚物</a:t>
            </a:r>
            <a:r>
              <a:rPr lang="en-US" altLang="zh-CN" sz="2600" b="1" dirty="0">
                <a:latin typeface="Arial" panose="020B0604020202020204" pitchFamily="34" charset="0"/>
                <a:ea typeface="楷体" panose="02010609060101010101" pitchFamily="49" charset="-122"/>
                <a:cs typeface="Arial" panose="020B0604020202020204" pitchFamily="34" charset="0"/>
              </a:rPr>
              <a:t>(EVA)</a:t>
            </a:r>
            <a:r>
              <a:rPr lang="zh-CN" altLang="en-US" sz="2600" b="1" dirty="0">
                <a:latin typeface="Arial" panose="020B0604020202020204" pitchFamily="34" charset="0"/>
                <a:ea typeface="楷体" panose="02010609060101010101" pitchFamily="49" charset="-122"/>
                <a:cs typeface="Arial" panose="020B0604020202020204" pitchFamily="34" charset="0"/>
              </a:rPr>
              <a:t>为例：</a:t>
            </a:r>
          </a:p>
          <a:p>
            <a:pPr marL="274320" indent="-274320" eaLnBrk="1" fontAlgn="auto" hangingPunct="1">
              <a:lnSpc>
                <a:spcPct val="110000"/>
              </a:lnSpc>
              <a:spcBef>
                <a:spcPts val="1200"/>
              </a:spcBef>
              <a:spcAft>
                <a:spcPts val="0"/>
              </a:spcAft>
              <a:buFontTx/>
              <a:buNone/>
              <a:defRPr/>
            </a:pPr>
            <a:r>
              <a:rPr lang="en-US" altLang="zh-CN" sz="2600" b="1" dirty="0">
                <a:latin typeface="Arial" panose="020B0604020202020204" pitchFamily="34" charset="0"/>
                <a:ea typeface="楷体" panose="02010609060101010101" pitchFamily="49" charset="-122"/>
                <a:cs typeface="Arial" panose="020B0604020202020204" pitchFamily="34" charset="0"/>
              </a:rPr>
              <a:t>       VAc</a:t>
            </a:r>
            <a:r>
              <a:rPr lang="zh-CN" altLang="en-US" sz="2600" b="1" dirty="0">
                <a:latin typeface="Arial" panose="020B0604020202020204" pitchFamily="34" charset="0"/>
                <a:ea typeface="楷体" panose="02010609060101010101" pitchFamily="49" charset="-122"/>
                <a:cs typeface="Arial" panose="020B0604020202020204" pitchFamily="34" charset="0"/>
              </a:rPr>
              <a:t>含量：</a:t>
            </a:r>
          </a:p>
          <a:p>
            <a:pPr marL="274320" indent="-274320" eaLnBrk="1" fontAlgn="auto" hangingPunct="1">
              <a:lnSpc>
                <a:spcPct val="110000"/>
              </a:lnSpc>
              <a:spcBef>
                <a:spcPts val="1200"/>
              </a:spcBef>
              <a:spcAft>
                <a:spcPts val="0"/>
              </a:spcAft>
              <a:buFontTx/>
              <a:buNone/>
              <a:defRPr/>
            </a:pPr>
            <a:r>
              <a:rPr lang="zh-CN" altLang="en-US" sz="2600" b="1" dirty="0">
                <a:latin typeface="Arial" panose="020B0604020202020204" pitchFamily="34" charset="0"/>
                <a:ea typeface="楷体" panose="02010609060101010101" pitchFamily="49" charset="-122"/>
                <a:cs typeface="Arial" panose="020B0604020202020204" pitchFamily="34" charset="0"/>
              </a:rPr>
              <a:t>       10 ~ 20%        塑料 </a:t>
            </a:r>
            <a:r>
              <a:rPr lang="en-US" altLang="zh-CN" sz="2600" b="1" dirty="0">
                <a:latin typeface="Arial" panose="020B0604020202020204" pitchFamily="34" charset="0"/>
                <a:ea typeface="楷体" panose="02010609060101010101" pitchFamily="49" charset="-122"/>
                <a:cs typeface="Arial" panose="020B0604020202020204" pitchFamily="34" charset="0"/>
              </a:rPr>
              <a:t>(</a:t>
            </a:r>
            <a:r>
              <a:rPr lang="zh-CN" altLang="en-US" sz="2600" b="1" dirty="0">
                <a:latin typeface="Arial" panose="020B0604020202020204" pitchFamily="34" charset="0"/>
                <a:ea typeface="楷体" panose="02010609060101010101" pitchFamily="49" charset="-122"/>
                <a:cs typeface="Arial" panose="020B0604020202020204" pitchFamily="34" charset="0"/>
              </a:rPr>
              <a:t>相当于改性</a:t>
            </a:r>
            <a:r>
              <a:rPr lang="en-US" altLang="zh-CN" sz="2600" b="1" dirty="0">
                <a:latin typeface="Arial" panose="020B0604020202020204" pitchFamily="34" charset="0"/>
                <a:ea typeface="楷体" panose="02010609060101010101" pitchFamily="49" charset="-122"/>
                <a:cs typeface="Arial" panose="020B0604020202020204" pitchFamily="34" charset="0"/>
              </a:rPr>
              <a:t>PE)</a:t>
            </a:r>
            <a:endParaRPr lang="zh-CN" altLang="en-US" sz="2600" b="1" dirty="0">
              <a:latin typeface="Arial" panose="020B0604020202020204" pitchFamily="34" charset="0"/>
              <a:ea typeface="楷体" panose="02010609060101010101" pitchFamily="49" charset="-122"/>
              <a:cs typeface="Arial" panose="020B0604020202020204" pitchFamily="34" charset="0"/>
            </a:endParaRPr>
          </a:p>
          <a:p>
            <a:pPr marL="274320" indent="-274320" eaLnBrk="1" fontAlgn="auto" hangingPunct="1">
              <a:lnSpc>
                <a:spcPct val="110000"/>
              </a:lnSpc>
              <a:spcBef>
                <a:spcPts val="1200"/>
              </a:spcBef>
              <a:spcAft>
                <a:spcPts val="0"/>
              </a:spcAft>
              <a:buFontTx/>
              <a:buNone/>
              <a:defRPr/>
            </a:pPr>
            <a:r>
              <a:rPr lang="zh-CN" altLang="en-US" sz="2600" b="1" dirty="0">
                <a:latin typeface="Arial" panose="020B0604020202020204" pitchFamily="34" charset="0"/>
                <a:ea typeface="楷体" panose="02010609060101010101" pitchFamily="49" charset="-122"/>
                <a:cs typeface="Arial" panose="020B0604020202020204" pitchFamily="34" charset="0"/>
              </a:rPr>
              <a:t>       30 ~ 40%        粘合剂 </a:t>
            </a:r>
            <a:r>
              <a:rPr lang="en-US" altLang="zh-CN" sz="2600" b="1" dirty="0">
                <a:latin typeface="Arial" panose="020B0604020202020204" pitchFamily="34" charset="0"/>
                <a:ea typeface="楷体" panose="02010609060101010101" pitchFamily="49" charset="-122"/>
                <a:cs typeface="Arial" panose="020B0604020202020204" pitchFamily="34" charset="0"/>
              </a:rPr>
              <a:t>(</a:t>
            </a:r>
            <a:r>
              <a:rPr lang="zh-CN" altLang="en-US" sz="2600" b="1" dirty="0">
                <a:latin typeface="Arial" panose="020B0604020202020204" pitchFamily="34" charset="0"/>
                <a:ea typeface="楷体" panose="02010609060101010101" pitchFamily="49" charset="-122"/>
                <a:cs typeface="Arial" panose="020B0604020202020204" pitchFamily="34" charset="0"/>
              </a:rPr>
              <a:t>热熔胶</a:t>
            </a:r>
            <a:r>
              <a:rPr lang="en-US" altLang="zh-CN" sz="2600" b="1" dirty="0">
                <a:latin typeface="Arial" panose="020B0604020202020204" pitchFamily="34" charset="0"/>
                <a:ea typeface="楷体" panose="02010609060101010101" pitchFamily="49" charset="-122"/>
                <a:cs typeface="Arial" panose="020B0604020202020204" pitchFamily="34" charset="0"/>
              </a:rPr>
              <a:t>)</a:t>
            </a:r>
            <a:endParaRPr lang="zh-CN" altLang="en-US" sz="2600" b="1" dirty="0">
              <a:latin typeface="Arial" panose="020B0604020202020204" pitchFamily="34" charset="0"/>
              <a:ea typeface="楷体" panose="02010609060101010101" pitchFamily="49" charset="-122"/>
              <a:cs typeface="Arial" panose="020B0604020202020204" pitchFamily="34" charset="0"/>
            </a:endParaRPr>
          </a:p>
          <a:p>
            <a:pPr marL="274320" indent="-274320" eaLnBrk="1" fontAlgn="auto" hangingPunct="1">
              <a:lnSpc>
                <a:spcPct val="110000"/>
              </a:lnSpc>
              <a:spcBef>
                <a:spcPts val="1200"/>
              </a:spcBef>
              <a:spcAft>
                <a:spcPts val="0"/>
              </a:spcAft>
              <a:buFontTx/>
              <a:buNone/>
              <a:defRPr/>
            </a:pPr>
            <a:r>
              <a:rPr lang="zh-CN" altLang="en-US" sz="2600" b="1" dirty="0">
                <a:latin typeface="Arial" panose="020B0604020202020204" pitchFamily="34" charset="0"/>
                <a:ea typeface="楷体" panose="02010609060101010101" pitchFamily="49" charset="-122"/>
                <a:cs typeface="Arial" panose="020B0604020202020204" pitchFamily="34" charset="0"/>
              </a:rPr>
              <a:t>               50%        橡胶 </a:t>
            </a:r>
            <a:r>
              <a:rPr lang="en-US" altLang="zh-CN" sz="2600" b="1" dirty="0">
                <a:latin typeface="Arial" panose="020B0604020202020204" pitchFamily="34" charset="0"/>
                <a:ea typeface="楷体" panose="02010609060101010101" pitchFamily="49" charset="-122"/>
                <a:cs typeface="Arial" panose="020B0604020202020204" pitchFamily="34" charset="0"/>
              </a:rPr>
              <a:t>(</a:t>
            </a:r>
            <a:r>
              <a:rPr lang="zh-CN" altLang="en-US" sz="2600" b="1" dirty="0">
                <a:latin typeface="Arial" panose="020B0604020202020204" pitchFamily="34" charset="0"/>
                <a:ea typeface="楷体" panose="02010609060101010101" pitchFamily="49" charset="-122"/>
                <a:cs typeface="Arial" panose="020B0604020202020204" pitchFamily="34" charset="0"/>
              </a:rPr>
              <a:t>弹性体</a:t>
            </a:r>
            <a:r>
              <a:rPr lang="en-US" altLang="zh-CN" sz="2600" b="1" dirty="0">
                <a:latin typeface="Arial" panose="020B0604020202020204" pitchFamily="34" charset="0"/>
                <a:ea typeface="楷体" panose="02010609060101010101" pitchFamily="49" charset="-122"/>
                <a:cs typeface="Arial" panose="020B0604020202020204" pitchFamily="34" charset="0"/>
              </a:rPr>
              <a:t>)</a:t>
            </a:r>
            <a:endParaRPr lang="zh-CN" altLang="en-US" sz="2600" b="1" dirty="0">
              <a:latin typeface="Arial" panose="020B0604020202020204" pitchFamily="34" charset="0"/>
              <a:ea typeface="楷体" panose="02010609060101010101" pitchFamily="49" charset="-122"/>
              <a:cs typeface="Arial" panose="020B0604020202020204" pitchFamily="34" charset="0"/>
            </a:endParaRPr>
          </a:p>
          <a:p>
            <a:pPr marL="274320" indent="-274320" eaLnBrk="1" fontAlgn="auto" hangingPunct="1">
              <a:spcAft>
                <a:spcPts val="0"/>
              </a:spcAft>
              <a:buFontTx/>
              <a:buNone/>
              <a:defRPr/>
            </a:pPr>
            <a:endParaRPr lang="zh-CN" altLang="en-US" sz="900" b="1" dirty="0">
              <a:latin typeface="Arial" panose="020B0604020202020204" pitchFamily="34" charset="0"/>
              <a:ea typeface="楷体" panose="02010609060101010101" pitchFamily="49" charset="-122"/>
              <a:cs typeface="Arial" panose="020B0604020202020204" pitchFamily="34" charset="0"/>
            </a:endParaRPr>
          </a:p>
          <a:p>
            <a:pPr marL="274320" indent="-274320" eaLnBrk="1" fontAlgn="auto" hangingPunct="1">
              <a:spcAft>
                <a:spcPts val="0"/>
              </a:spcAft>
              <a:buFontTx/>
              <a:buNone/>
              <a:defRPr/>
            </a:pPr>
            <a:endParaRPr lang="en-US" altLang="zh-CN" b="1" dirty="0">
              <a:solidFill>
                <a:srgbClr val="0033CC"/>
              </a:solidFill>
              <a:latin typeface="Arial" panose="020B0604020202020204" pitchFamily="34" charset="0"/>
              <a:ea typeface="楷体" panose="02010609060101010101" pitchFamily="49" charset="-122"/>
              <a:cs typeface="Arial" panose="020B0604020202020204" pitchFamily="34" charset="0"/>
            </a:endParaRPr>
          </a:p>
          <a:p>
            <a:pPr marL="274320" indent="-274320" eaLnBrk="1" fontAlgn="auto" hangingPunct="1">
              <a:spcAft>
                <a:spcPts val="0"/>
              </a:spcAft>
              <a:buFontTx/>
              <a:buNone/>
              <a:defRPr/>
            </a:pP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共聚物中两种单体各占一半左右时，其性质与</a:t>
            </a:r>
            <a:endParaRPr lang="en-US" altLang="zh-CN" b="1" dirty="0">
              <a:solidFill>
                <a:srgbClr val="FF0000"/>
              </a:solidFill>
              <a:latin typeface="Arial" panose="020B0604020202020204" pitchFamily="34" charset="0"/>
              <a:ea typeface="楷体" panose="02010609060101010101" pitchFamily="49" charset="-122"/>
              <a:cs typeface="Arial" panose="020B0604020202020204" pitchFamily="34" charset="0"/>
            </a:endParaRPr>
          </a:p>
          <a:p>
            <a:pPr marL="274320" indent="-274320" eaLnBrk="1" fontAlgn="auto" hangingPunct="1">
              <a:spcAft>
                <a:spcPts val="0"/>
              </a:spcAft>
              <a:buFontTx/>
              <a:buNone/>
              <a:defRPr/>
            </a:pP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两种均聚物的差别最大</a:t>
            </a:r>
          </a:p>
        </p:txBody>
      </p:sp>
      <p:sp>
        <p:nvSpPr>
          <p:cNvPr id="44036"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EB3225EE-2C43-4D97-8179-1C227110C757}"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23</a:t>
            </a:fld>
            <a:endParaRPr lang="en-US" altLang="zh-CN" sz="1200">
              <a:solidFill>
                <a:srgbClr val="FFFFFF"/>
              </a:solidFill>
              <a:latin typeface="Century Schoolbook" panose="02040604050505020304" pitchFamily="18" charset="0"/>
              <a:ea typeface="宋体" panose="02010600030101010101" pitchFamily="2" charset="-122"/>
            </a:endParaRPr>
          </a:p>
        </p:txBody>
      </p:sp>
      <p:pic>
        <p:nvPicPr>
          <p:cNvPr id="44037" name="图片 6" descr="EVA agrofilm.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07150" y="1628775"/>
            <a:ext cx="2413000" cy="1871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44038" name="图片 7" descr="EVA hot melt adhesive.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407150" y="3671888"/>
            <a:ext cx="2413000" cy="1412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cxnSp>
        <p:nvCxnSpPr>
          <p:cNvPr id="10" name="直接箭头连接符 9">
            <a:extLst>
              <a:ext uri="{FF2B5EF4-FFF2-40B4-BE49-F238E27FC236}">
                <a16:creationId xmlns:a16="http://schemas.microsoft.com/office/drawing/2014/main" id="{93E6A939-4B7E-4D53-8FC8-997CA0B8BC1D}"/>
              </a:ext>
            </a:extLst>
          </p:cNvPr>
          <p:cNvCxnSpPr>
            <a:cxnSpLocks/>
          </p:cNvCxnSpPr>
          <p:nvPr/>
        </p:nvCxnSpPr>
        <p:spPr>
          <a:xfrm flipV="1">
            <a:off x="5364163" y="2776538"/>
            <a:ext cx="1041400" cy="723900"/>
          </a:xfrm>
          <a:prstGeom prst="straightConnector1">
            <a:avLst/>
          </a:prstGeom>
          <a:ln w="44450">
            <a:solidFill>
              <a:srgbClr val="3366FF"/>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6CC28C04-192F-4E89-A37E-DEDD910B679B}"/>
              </a:ext>
            </a:extLst>
          </p:cNvPr>
          <p:cNvCxnSpPr>
            <a:cxnSpLocks/>
          </p:cNvCxnSpPr>
          <p:nvPr/>
        </p:nvCxnSpPr>
        <p:spPr>
          <a:xfrm>
            <a:off x="4773613" y="4076700"/>
            <a:ext cx="1631950" cy="301625"/>
          </a:xfrm>
          <a:prstGeom prst="straightConnector1">
            <a:avLst/>
          </a:prstGeom>
          <a:ln w="44450">
            <a:solidFill>
              <a:srgbClr val="3366FF"/>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B8495342-8CF0-4DD2-807F-EC9CA21E0CA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0658" name="Rectangle 3">
            <a:extLst>
              <a:ext uri="{FF2B5EF4-FFF2-40B4-BE49-F238E27FC236}">
                <a16:creationId xmlns:a16="http://schemas.microsoft.com/office/drawing/2014/main" id="{DBBBB54D-D338-4990-A483-7D9A874FC028}"/>
              </a:ext>
            </a:extLst>
          </p:cNvPr>
          <p:cNvSpPr>
            <a:spLocks noGrp="1" noChangeArrowheads="1"/>
          </p:cNvSpPr>
          <p:nvPr>
            <p:ph sz="quarter" idx="1"/>
          </p:nvPr>
        </p:nvSpPr>
        <p:spPr>
          <a:xfrm>
            <a:off x="685800" y="381000"/>
            <a:ext cx="8153400" cy="5638800"/>
          </a:xfrm>
        </p:spPr>
        <p:txBody>
          <a:bodyPr>
            <a:normAutofit/>
          </a:bodyPr>
          <a:lstStyle/>
          <a:p>
            <a:pPr marL="274320" indent="-274320" algn="just" eaLnBrk="1" fontAlgn="auto" hangingPunct="1">
              <a:spcAft>
                <a:spcPts val="0"/>
              </a:spcAft>
              <a:buFont typeface="Wingdings" panose="05000000000000000000" pitchFamily="2" charset="2"/>
              <a:buNone/>
              <a:defRPr/>
            </a:pPr>
            <a:endParaRPr lang="zh-CN" altLang="en-US" sz="2200" b="1" dirty="0">
              <a:latin typeface="Lucida Sans Unicode" pitchFamily="34" charset="0"/>
            </a:endParaRPr>
          </a:p>
          <a:p>
            <a:pPr marL="274320" indent="-274320" algn="just" eaLnBrk="1" fontAlgn="auto" hangingPunct="1">
              <a:lnSpc>
                <a:spcPct val="130000"/>
              </a:lnSpc>
              <a:spcAft>
                <a:spcPts val="0"/>
              </a:spcAft>
              <a:buFontTx/>
              <a:buNone/>
              <a:defRPr/>
            </a:pPr>
            <a:r>
              <a:rPr lang="zh-CN" altLang="en-US" b="1" dirty="0">
                <a:latin typeface="Arial" panose="020B0604020202020204" pitchFamily="34" charset="0"/>
                <a:ea typeface="楷体" panose="02010609060101010101" pitchFamily="49" charset="-122"/>
                <a:cs typeface="Arial" panose="020B0604020202020204" pitchFamily="34" charset="0"/>
              </a:rPr>
              <a:t>共聚合研究的核心问题：</a:t>
            </a:r>
          </a:p>
          <a:p>
            <a:pPr marL="274320" indent="-274320" algn="just" eaLnBrk="1" fontAlgn="auto" hangingPunct="1">
              <a:lnSpc>
                <a:spcPct val="130000"/>
              </a:lnSpc>
              <a:spcAft>
                <a:spcPts val="0"/>
              </a:spcAft>
              <a:buFontTx/>
              <a:buNone/>
              <a:defRPr/>
            </a:pP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b="1"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共聚物组成  </a:t>
            </a:r>
            <a:endParaRPr lang="en-US" altLang="zh-CN" b="1" dirty="0">
              <a:solidFill>
                <a:srgbClr val="FF0000"/>
              </a:solidFill>
              <a:latin typeface="Arial" panose="020B0604020202020204" pitchFamily="34" charset="0"/>
              <a:ea typeface="楷体" panose="02010609060101010101" pitchFamily="49" charset="-122"/>
              <a:cs typeface="Arial" panose="020B0604020202020204" pitchFamily="34" charset="0"/>
            </a:endParaRPr>
          </a:p>
          <a:p>
            <a:pPr marL="274320" indent="-274320" algn="just" eaLnBrk="1" fontAlgn="auto" hangingPunct="1">
              <a:lnSpc>
                <a:spcPct val="130000"/>
              </a:lnSpc>
              <a:spcAft>
                <a:spcPts val="0"/>
              </a:spcAft>
              <a:buFontTx/>
              <a:buNone/>
              <a:defRPr/>
            </a:pPr>
            <a:r>
              <a:rPr lang="zh-CN" altLang="en-US" sz="2200" b="1" dirty="0">
                <a:solidFill>
                  <a:srgbClr val="CC3300"/>
                </a:solidFill>
                <a:latin typeface="Arial" panose="020B0604020202020204" pitchFamily="34" charset="0"/>
                <a:ea typeface="楷体" panose="02010609060101010101" pitchFamily="49" charset="-122"/>
                <a:cs typeface="Arial" panose="020B0604020202020204" pitchFamily="34" charset="0"/>
              </a:rPr>
              <a:t>      </a:t>
            </a:r>
            <a:r>
              <a:rPr lang="zh-CN" altLang="en-US" sz="2400" b="1" dirty="0">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rPr>
              <a:t>能否共聚？每种单体能进入多少？</a:t>
            </a:r>
            <a:endParaRPr lang="en-US" altLang="zh-CN" sz="2400" b="1" dirty="0">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endParaRPr>
          </a:p>
          <a:p>
            <a:pPr marL="274320" indent="-274320" algn="just" eaLnBrk="1" fontAlgn="auto" hangingPunct="1">
              <a:lnSpc>
                <a:spcPct val="130000"/>
              </a:lnSpc>
              <a:spcAft>
                <a:spcPts val="0"/>
              </a:spcAft>
              <a:buFontTx/>
              <a:buNone/>
              <a:defRPr/>
            </a:pPr>
            <a:endParaRPr lang="zh-CN" altLang="en-US" sz="2200" b="1" dirty="0">
              <a:solidFill>
                <a:srgbClr val="CC3300"/>
              </a:solidFill>
              <a:latin typeface="Arial" panose="020B0604020202020204" pitchFamily="34" charset="0"/>
              <a:ea typeface="楷体" panose="02010609060101010101" pitchFamily="49" charset="-122"/>
              <a:cs typeface="Arial" panose="020B0604020202020204" pitchFamily="34" charset="0"/>
            </a:endParaRPr>
          </a:p>
          <a:p>
            <a:pPr marL="274320" indent="-274320" algn="just" eaLnBrk="1" fontAlgn="auto" hangingPunct="1">
              <a:lnSpc>
                <a:spcPct val="130000"/>
              </a:lnSpc>
              <a:spcAft>
                <a:spcPts val="0"/>
              </a:spcAft>
              <a:buFontTx/>
              <a:buNone/>
              <a:defRPr/>
            </a:pP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b="1" dirty="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 共聚物序列分布</a:t>
            </a:r>
            <a:endParaRPr lang="en-US" altLang="zh-CN" b="1" dirty="0">
              <a:solidFill>
                <a:srgbClr val="FF0000"/>
              </a:solidFill>
              <a:latin typeface="Arial" panose="020B0604020202020204" pitchFamily="34" charset="0"/>
              <a:ea typeface="楷体" panose="02010609060101010101" pitchFamily="49" charset="-122"/>
              <a:cs typeface="Arial" panose="020B0604020202020204" pitchFamily="34" charset="0"/>
            </a:endParaRPr>
          </a:p>
          <a:p>
            <a:pPr marL="274320" indent="-274320" algn="just" eaLnBrk="1" fontAlgn="auto" hangingPunct="1">
              <a:lnSpc>
                <a:spcPct val="130000"/>
              </a:lnSpc>
              <a:spcAft>
                <a:spcPts val="0"/>
              </a:spcAft>
              <a:buFontTx/>
              <a:buNone/>
              <a:defRPr/>
            </a:pPr>
            <a:r>
              <a:rPr lang="zh-CN" altLang="en-US" sz="2200" b="1" dirty="0">
                <a:solidFill>
                  <a:srgbClr val="CC3300"/>
                </a:solidFill>
                <a:latin typeface="Arial" panose="020B0604020202020204" pitchFamily="34" charset="0"/>
                <a:ea typeface="楷体" panose="02010609060101010101" pitchFamily="49" charset="-122"/>
                <a:cs typeface="Arial" panose="020B0604020202020204" pitchFamily="34" charset="0"/>
              </a:rPr>
              <a:t>      </a:t>
            </a:r>
            <a:r>
              <a:rPr lang="zh-CN" altLang="en-US" sz="2400" b="1" dirty="0">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rPr>
              <a:t>两种单体在链中的空间排布情况</a:t>
            </a:r>
          </a:p>
        </p:txBody>
      </p:sp>
      <p:sp>
        <p:nvSpPr>
          <p:cNvPr id="46084"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9BB6D782-8C20-4AD2-BD61-0337CBA423D8}"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24</a:t>
            </a:fld>
            <a:endParaRPr lang="en-US" altLang="zh-CN" sz="1200">
              <a:solidFill>
                <a:srgbClr val="FFFFFF"/>
              </a:solidFill>
              <a:latin typeface="Century Schoolbook" panose="02040604050505020304" pitchFamily="18" charset="0"/>
              <a:ea typeface="宋体" panose="02010600030101010101" pitchFamily="2"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descr="Large confetti"/>
          <p:cNvSpPr>
            <a:spLocks noGrp="1"/>
          </p:cNvSpPr>
          <p:nvPr>
            <p:ph type="title"/>
          </p:nvPr>
        </p:nvSpPr>
        <p:spPr>
          <a:xfrm>
            <a:off x="933450" y="333375"/>
            <a:ext cx="7705725" cy="633413"/>
          </a:xfrm>
        </p:spPr>
        <p:txBody>
          <a:bodyPr/>
          <a:lstStyle/>
          <a:p>
            <a:pPr eaLnBrk="1" hangingPunct="1"/>
            <a:r>
              <a:rPr lang="zh-CN" altLang="en-US" sz="2400" b="1">
                <a:latin typeface="楷体" panose="02010609060101010101" pitchFamily="49" charset="-122"/>
                <a:ea typeface="楷体" panose="02010609060101010101" pitchFamily="49" charset="-122"/>
              </a:rPr>
              <a:t>传统自由基共聚中聚合物链的增长过程：</a:t>
            </a:r>
          </a:p>
        </p:txBody>
      </p:sp>
      <p:sp>
        <p:nvSpPr>
          <p:cNvPr id="4813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C4A265A-5E5A-4BB0-BC19-1DBFB752FB7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25</a:t>
            </a:fld>
            <a:endParaRPr lang="en-US" altLang="zh-CN" sz="1400">
              <a:latin typeface="Times New Roman" panose="02020603050405020304" pitchFamily="18" charset="0"/>
              <a:ea typeface="宋体" panose="02010600030101010101" pitchFamily="2" charset="-122"/>
            </a:endParaRPr>
          </a:p>
        </p:txBody>
      </p:sp>
      <p:grpSp>
        <p:nvGrpSpPr>
          <p:cNvPr id="300035" name="Group 3"/>
          <p:cNvGrpSpPr>
            <a:grpSpLocks/>
          </p:cNvGrpSpPr>
          <p:nvPr/>
        </p:nvGrpSpPr>
        <p:grpSpPr bwMode="auto">
          <a:xfrm>
            <a:off x="989013" y="981075"/>
            <a:ext cx="6858000" cy="838200"/>
            <a:chOff x="672" y="1056"/>
            <a:chExt cx="4320" cy="528"/>
          </a:xfrm>
        </p:grpSpPr>
        <p:sp>
          <p:nvSpPr>
            <p:cNvPr id="48689" name="Line 4"/>
            <p:cNvSpPr>
              <a:spLocks noChangeShapeType="1"/>
            </p:cNvSpPr>
            <p:nvPr/>
          </p:nvSpPr>
          <p:spPr bwMode="auto">
            <a:xfrm>
              <a:off x="4992" y="124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690" name="Group 5"/>
            <p:cNvGrpSpPr>
              <a:grpSpLocks/>
            </p:cNvGrpSpPr>
            <p:nvPr/>
          </p:nvGrpSpPr>
          <p:grpSpPr bwMode="auto">
            <a:xfrm>
              <a:off x="672" y="1056"/>
              <a:ext cx="4320" cy="528"/>
              <a:chOff x="672" y="1056"/>
              <a:chExt cx="4320" cy="528"/>
            </a:xfrm>
          </p:grpSpPr>
          <p:sp>
            <p:nvSpPr>
              <p:cNvPr id="48691" name="Line 6"/>
              <p:cNvSpPr>
                <a:spLocks noChangeShapeType="1"/>
              </p:cNvSpPr>
              <p:nvPr/>
            </p:nvSpPr>
            <p:spPr bwMode="auto">
              <a:xfrm>
                <a:off x="672" y="148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692" name="Group 7"/>
              <p:cNvGrpSpPr>
                <a:grpSpLocks/>
              </p:cNvGrpSpPr>
              <p:nvPr/>
            </p:nvGrpSpPr>
            <p:grpSpPr bwMode="auto">
              <a:xfrm>
                <a:off x="768" y="1056"/>
                <a:ext cx="4224" cy="528"/>
                <a:chOff x="768" y="1056"/>
                <a:chExt cx="4224" cy="528"/>
              </a:xfrm>
            </p:grpSpPr>
            <p:grpSp>
              <p:nvGrpSpPr>
                <p:cNvPr id="48693" name="Group 8"/>
                <p:cNvGrpSpPr>
                  <a:grpSpLocks/>
                </p:cNvGrpSpPr>
                <p:nvPr/>
              </p:nvGrpSpPr>
              <p:grpSpPr bwMode="auto">
                <a:xfrm>
                  <a:off x="912" y="1488"/>
                  <a:ext cx="4013" cy="77"/>
                  <a:chOff x="912" y="1008"/>
                  <a:chExt cx="4013" cy="77"/>
                </a:xfrm>
              </p:grpSpPr>
              <p:sp>
                <p:nvSpPr>
                  <p:cNvPr id="48698" name="Oval 9"/>
                  <p:cNvSpPr>
                    <a:spLocks noChangeArrowheads="1"/>
                  </p:cNvSpPr>
                  <p:nvPr/>
                </p:nvSpPr>
                <p:spPr bwMode="auto">
                  <a:xfrm>
                    <a:off x="91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99" name="Oval 10"/>
                  <p:cNvSpPr>
                    <a:spLocks noChangeArrowheads="1"/>
                  </p:cNvSpPr>
                  <p:nvPr/>
                </p:nvSpPr>
                <p:spPr bwMode="auto">
                  <a:xfrm>
                    <a:off x="98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0" name="Oval 11"/>
                  <p:cNvSpPr>
                    <a:spLocks noChangeArrowheads="1"/>
                  </p:cNvSpPr>
                  <p:nvPr/>
                </p:nvSpPr>
                <p:spPr bwMode="auto">
                  <a:xfrm>
                    <a:off x="105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1" name="Oval 12"/>
                  <p:cNvSpPr>
                    <a:spLocks noChangeArrowheads="1"/>
                  </p:cNvSpPr>
                  <p:nvPr/>
                </p:nvSpPr>
                <p:spPr bwMode="auto">
                  <a:xfrm>
                    <a:off x="112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702" name="Oval 13"/>
                  <p:cNvSpPr>
                    <a:spLocks noChangeArrowheads="1"/>
                  </p:cNvSpPr>
                  <p:nvPr/>
                </p:nvSpPr>
                <p:spPr bwMode="auto">
                  <a:xfrm>
                    <a:off x="1200"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703" name="Oval 14"/>
                  <p:cNvSpPr>
                    <a:spLocks noChangeArrowheads="1"/>
                  </p:cNvSpPr>
                  <p:nvPr/>
                </p:nvSpPr>
                <p:spPr bwMode="auto">
                  <a:xfrm>
                    <a:off x="127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4" name="Oval 15"/>
                  <p:cNvSpPr>
                    <a:spLocks noChangeArrowheads="1"/>
                  </p:cNvSpPr>
                  <p:nvPr/>
                </p:nvSpPr>
                <p:spPr bwMode="auto">
                  <a:xfrm>
                    <a:off x="134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5" name="Oval 16"/>
                  <p:cNvSpPr>
                    <a:spLocks noChangeArrowheads="1"/>
                  </p:cNvSpPr>
                  <p:nvPr/>
                </p:nvSpPr>
                <p:spPr bwMode="auto">
                  <a:xfrm>
                    <a:off x="141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6" name="Oval 17"/>
                  <p:cNvSpPr>
                    <a:spLocks noChangeArrowheads="1"/>
                  </p:cNvSpPr>
                  <p:nvPr/>
                </p:nvSpPr>
                <p:spPr bwMode="auto">
                  <a:xfrm>
                    <a:off x="148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7" name="Oval 18"/>
                  <p:cNvSpPr>
                    <a:spLocks noChangeArrowheads="1"/>
                  </p:cNvSpPr>
                  <p:nvPr/>
                </p:nvSpPr>
                <p:spPr bwMode="auto">
                  <a:xfrm>
                    <a:off x="155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8" name="Oval 19"/>
                  <p:cNvSpPr>
                    <a:spLocks noChangeArrowheads="1"/>
                  </p:cNvSpPr>
                  <p:nvPr/>
                </p:nvSpPr>
                <p:spPr bwMode="auto">
                  <a:xfrm>
                    <a:off x="163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09" name="Oval 20"/>
                  <p:cNvSpPr>
                    <a:spLocks noChangeArrowheads="1"/>
                  </p:cNvSpPr>
                  <p:nvPr/>
                </p:nvSpPr>
                <p:spPr bwMode="auto">
                  <a:xfrm>
                    <a:off x="170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0" name="Oval 21"/>
                  <p:cNvSpPr>
                    <a:spLocks noChangeArrowheads="1"/>
                  </p:cNvSpPr>
                  <p:nvPr/>
                </p:nvSpPr>
                <p:spPr bwMode="auto">
                  <a:xfrm>
                    <a:off x="177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1" name="Oval 22"/>
                  <p:cNvSpPr>
                    <a:spLocks noChangeArrowheads="1"/>
                  </p:cNvSpPr>
                  <p:nvPr/>
                </p:nvSpPr>
                <p:spPr bwMode="auto">
                  <a:xfrm>
                    <a:off x="1846"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2" name="Oval 23"/>
                  <p:cNvSpPr>
                    <a:spLocks noChangeArrowheads="1"/>
                  </p:cNvSpPr>
                  <p:nvPr/>
                </p:nvSpPr>
                <p:spPr bwMode="auto">
                  <a:xfrm>
                    <a:off x="192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3" name="Oval 24"/>
                  <p:cNvSpPr>
                    <a:spLocks noChangeArrowheads="1"/>
                  </p:cNvSpPr>
                  <p:nvPr/>
                </p:nvSpPr>
                <p:spPr bwMode="auto">
                  <a:xfrm>
                    <a:off x="199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4" name="Oval 25"/>
                  <p:cNvSpPr>
                    <a:spLocks noChangeArrowheads="1"/>
                  </p:cNvSpPr>
                  <p:nvPr/>
                </p:nvSpPr>
                <p:spPr bwMode="auto">
                  <a:xfrm>
                    <a:off x="206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5" name="Oval 26"/>
                  <p:cNvSpPr>
                    <a:spLocks noChangeArrowheads="1"/>
                  </p:cNvSpPr>
                  <p:nvPr/>
                </p:nvSpPr>
                <p:spPr bwMode="auto">
                  <a:xfrm>
                    <a:off x="213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6" name="Oval 27"/>
                  <p:cNvSpPr>
                    <a:spLocks noChangeArrowheads="1"/>
                  </p:cNvSpPr>
                  <p:nvPr/>
                </p:nvSpPr>
                <p:spPr bwMode="auto">
                  <a:xfrm>
                    <a:off x="2208"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7" name="Oval 28"/>
                  <p:cNvSpPr>
                    <a:spLocks noChangeArrowheads="1"/>
                  </p:cNvSpPr>
                  <p:nvPr/>
                </p:nvSpPr>
                <p:spPr bwMode="auto">
                  <a:xfrm>
                    <a:off x="227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8" name="Oval 29"/>
                  <p:cNvSpPr>
                    <a:spLocks noChangeArrowheads="1"/>
                  </p:cNvSpPr>
                  <p:nvPr/>
                </p:nvSpPr>
                <p:spPr bwMode="auto">
                  <a:xfrm>
                    <a:off x="235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19" name="Oval 30"/>
                  <p:cNvSpPr>
                    <a:spLocks noChangeArrowheads="1"/>
                  </p:cNvSpPr>
                  <p:nvPr/>
                </p:nvSpPr>
                <p:spPr bwMode="auto">
                  <a:xfrm>
                    <a:off x="242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0" name="Oval 31"/>
                  <p:cNvSpPr>
                    <a:spLocks noChangeArrowheads="1"/>
                  </p:cNvSpPr>
                  <p:nvPr/>
                </p:nvSpPr>
                <p:spPr bwMode="auto">
                  <a:xfrm>
                    <a:off x="249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1" name="Oval 32"/>
                  <p:cNvSpPr>
                    <a:spLocks noChangeArrowheads="1"/>
                  </p:cNvSpPr>
                  <p:nvPr/>
                </p:nvSpPr>
                <p:spPr bwMode="auto">
                  <a:xfrm>
                    <a:off x="256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2" name="Oval 33"/>
                  <p:cNvSpPr>
                    <a:spLocks noChangeArrowheads="1"/>
                  </p:cNvSpPr>
                  <p:nvPr/>
                </p:nvSpPr>
                <p:spPr bwMode="auto">
                  <a:xfrm>
                    <a:off x="2640"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3" name="Oval 34"/>
                  <p:cNvSpPr>
                    <a:spLocks noChangeArrowheads="1"/>
                  </p:cNvSpPr>
                  <p:nvPr/>
                </p:nvSpPr>
                <p:spPr bwMode="auto">
                  <a:xfrm>
                    <a:off x="271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4" name="Oval 35"/>
                  <p:cNvSpPr>
                    <a:spLocks noChangeArrowheads="1"/>
                  </p:cNvSpPr>
                  <p:nvPr/>
                </p:nvSpPr>
                <p:spPr bwMode="auto">
                  <a:xfrm>
                    <a:off x="278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5" name="Oval 36"/>
                  <p:cNvSpPr>
                    <a:spLocks noChangeArrowheads="1"/>
                  </p:cNvSpPr>
                  <p:nvPr/>
                </p:nvSpPr>
                <p:spPr bwMode="auto">
                  <a:xfrm>
                    <a:off x="285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6" name="Oval 37"/>
                  <p:cNvSpPr>
                    <a:spLocks noChangeArrowheads="1"/>
                  </p:cNvSpPr>
                  <p:nvPr/>
                </p:nvSpPr>
                <p:spPr bwMode="auto">
                  <a:xfrm>
                    <a:off x="292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7" name="Oval 38"/>
                  <p:cNvSpPr>
                    <a:spLocks noChangeArrowheads="1"/>
                  </p:cNvSpPr>
                  <p:nvPr/>
                </p:nvSpPr>
                <p:spPr bwMode="auto">
                  <a:xfrm>
                    <a:off x="299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8" name="Oval 39"/>
                  <p:cNvSpPr>
                    <a:spLocks noChangeArrowheads="1"/>
                  </p:cNvSpPr>
                  <p:nvPr/>
                </p:nvSpPr>
                <p:spPr bwMode="auto">
                  <a:xfrm>
                    <a:off x="307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29" name="Oval 40"/>
                  <p:cNvSpPr>
                    <a:spLocks noChangeArrowheads="1"/>
                  </p:cNvSpPr>
                  <p:nvPr/>
                </p:nvSpPr>
                <p:spPr bwMode="auto">
                  <a:xfrm>
                    <a:off x="314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0" name="Oval 41"/>
                  <p:cNvSpPr>
                    <a:spLocks noChangeArrowheads="1"/>
                  </p:cNvSpPr>
                  <p:nvPr/>
                </p:nvSpPr>
                <p:spPr bwMode="auto">
                  <a:xfrm>
                    <a:off x="319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1" name="Oval 42"/>
                  <p:cNvSpPr>
                    <a:spLocks noChangeArrowheads="1"/>
                  </p:cNvSpPr>
                  <p:nvPr/>
                </p:nvSpPr>
                <p:spPr bwMode="auto">
                  <a:xfrm>
                    <a:off x="326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2" name="Oval 43"/>
                  <p:cNvSpPr>
                    <a:spLocks noChangeArrowheads="1"/>
                  </p:cNvSpPr>
                  <p:nvPr/>
                </p:nvSpPr>
                <p:spPr bwMode="auto">
                  <a:xfrm>
                    <a:off x="333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3" name="Oval 44"/>
                  <p:cNvSpPr>
                    <a:spLocks noChangeArrowheads="1"/>
                  </p:cNvSpPr>
                  <p:nvPr/>
                </p:nvSpPr>
                <p:spPr bwMode="auto">
                  <a:xfrm>
                    <a:off x="340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4" name="Oval 45"/>
                  <p:cNvSpPr>
                    <a:spLocks noChangeArrowheads="1"/>
                  </p:cNvSpPr>
                  <p:nvPr/>
                </p:nvSpPr>
                <p:spPr bwMode="auto">
                  <a:xfrm>
                    <a:off x="348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5" name="Oval 46"/>
                  <p:cNvSpPr>
                    <a:spLocks noChangeArrowheads="1"/>
                  </p:cNvSpPr>
                  <p:nvPr/>
                </p:nvSpPr>
                <p:spPr bwMode="auto">
                  <a:xfrm>
                    <a:off x="3552"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6" name="Oval 47"/>
                  <p:cNvSpPr>
                    <a:spLocks noChangeArrowheads="1"/>
                  </p:cNvSpPr>
                  <p:nvPr/>
                </p:nvSpPr>
                <p:spPr bwMode="auto">
                  <a:xfrm>
                    <a:off x="362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7" name="Oval 48"/>
                  <p:cNvSpPr>
                    <a:spLocks noChangeArrowheads="1"/>
                  </p:cNvSpPr>
                  <p:nvPr/>
                </p:nvSpPr>
                <p:spPr bwMode="auto">
                  <a:xfrm>
                    <a:off x="369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8" name="Oval 49"/>
                  <p:cNvSpPr>
                    <a:spLocks noChangeArrowheads="1"/>
                  </p:cNvSpPr>
                  <p:nvPr/>
                </p:nvSpPr>
                <p:spPr bwMode="auto">
                  <a:xfrm>
                    <a:off x="3770"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39" name="Oval 50"/>
                  <p:cNvSpPr>
                    <a:spLocks noChangeArrowheads="1"/>
                  </p:cNvSpPr>
                  <p:nvPr/>
                </p:nvSpPr>
                <p:spPr bwMode="auto">
                  <a:xfrm>
                    <a:off x="384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0" name="Oval 51"/>
                  <p:cNvSpPr>
                    <a:spLocks noChangeArrowheads="1"/>
                  </p:cNvSpPr>
                  <p:nvPr/>
                </p:nvSpPr>
                <p:spPr bwMode="auto">
                  <a:xfrm>
                    <a:off x="391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1" name="Oval 52"/>
                  <p:cNvSpPr>
                    <a:spLocks noChangeArrowheads="1"/>
                  </p:cNvSpPr>
                  <p:nvPr/>
                </p:nvSpPr>
                <p:spPr bwMode="auto">
                  <a:xfrm>
                    <a:off x="398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2" name="Oval 53"/>
                  <p:cNvSpPr>
                    <a:spLocks noChangeArrowheads="1"/>
                  </p:cNvSpPr>
                  <p:nvPr/>
                </p:nvSpPr>
                <p:spPr bwMode="auto">
                  <a:xfrm>
                    <a:off x="405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3" name="Oval 54"/>
                  <p:cNvSpPr>
                    <a:spLocks noChangeArrowheads="1"/>
                  </p:cNvSpPr>
                  <p:nvPr/>
                </p:nvSpPr>
                <p:spPr bwMode="auto">
                  <a:xfrm>
                    <a:off x="412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4" name="Oval 55"/>
                  <p:cNvSpPr>
                    <a:spLocks noChangeArrowheads="1"/>
                  </p:cNvSpPr>
                  <p:nvPr/>
                </p:nvSpPr>
                <p:spPr bwMode="auto">
                  <a:xfrm>
                    <a:off x="420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5" name="Oval 56"/>
                  <p:cNvSpPr>
                    <a:spLocks noChangeArrowheads="1"/>
                  </p:cNvSpPr>
                  <p:nvPr/>
                </p:nvSpPr>
                <p:spPr bwMode="auto">
                  <a:xfrm>
                    <a:off x="427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6" name="Oval 57"/>
                  <p:cNvSpPr>
                    <a:spLocks noChangeArrowheads="1"/>
                  </p:cNvSpPr>
                  <p:nvPr/>
                </p:nvSpPr>
                <p:spPr bwMode="auto">
                  <a:xfrm>
                    <a:off x="4346"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7" name="Oval 58"/>
                  <p:cNvSpPr>
                    <a:spLocks noChangeArrowheads="1"/>
                  </p:cNvSpPr>
                  <p:nvPr/>
                </p:nvSpPr>
                <p:spPr bwMode="auto">
                  <a:xfrm>
                    <a:off x="441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8" name="Oval 59"/>
                  <p:cNvSpPr>
                    <a:spLocks noChangeArrowheads="1"/>
                  </p:cNvSpPr>
                  <p:nvPr/>
                </p:nvSpPr>
                <p:spPr bwMode="auto">
                  <a:xfrm>
                    <a:off x="449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49" name="Oval 60"/>
                  <p:cNvSpPr>
                    <a:spLocks noChangeArrowheads="1"/>
                  </p:cNvSpPr>
                  <p:nvPr/>
                </p:nvSpPr>
                <p:spPr bwMode="auto">
                  <a:xfrm>
                    <a:off x="456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50" name="Oval 61"/>
                  <p:cNvSpPr>
                    <a:spLocks noChangeArrowheads="1"/>
                  </p:cNvSpPr>
                  <p:nvPr/>
                </p:nvSpPr>
                <p:spPr bwMode="auto">
                  <a:xfrm>
                    <a:off x="463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51" name="Oval 62"/>
                  <p:cNvSpPr>
                    <a:spLocks noChangeArrowheads="1"/>
                  </p:cNvSpPr>
                  <p:nvPr/>
                </p:nvSpPr>
                <p:spPr bwMode="auto">
                  <a:xfrm>
                    <a:off x="470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52" name="Oval 63"/>
                  <p:cNvSpPr>
                    <a:spLocks noChangeArrowheads="1"/>
                  </p:cNvSpPr>
                  <p:nvPr/>
                </p:nvSpPr>
                <p:spPr bwMode="auto">
                  <a:xfrm>
                    <a:off x="477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753" name="Oval 64"/>
                  <p:cNvSpPr>
                    <a:spLocks noChangeArrowheads="1"/>
                  </p:cNvSpPr>
                  <p:nvPr/>
                </p:nvSpPr>
                <p:spPr bwMode="auto">
                  <a:xfrm>
                    <a:off x="4848"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694" name="Line 65"/>
                <p:cNvSpPr>
                  <a:spLocks noChangeShapeType="1"/>
                </p:cNvSpPr>
                <p:nvPr/>
              </p:nvSpPr>
              <p:spPr bwMode="auto">
                <a:xfrm>
                  <a:off x="912" y="124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48695" name="AutoShape 66"/>
                <p:cNvCxnSpPr>
                  <a:cxnSpLocks noChangeShapeType="1"/>
                </p:cNvCxnSpPr>
                <p:nvPr/>
              </p:nvCxnSpPr>
              <p:spPr bwMode="auto">
                <a:xfrm>
                  <a:off x="912" y="1344"/>
                  <a:ext cx="4080" cy="0"/>
                </a:xfrm>
                <a:prstGeom prst="straightConnector1">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696" name="Text Box 67"/>
                <p:cNvSpPr txBox="1">
                  <a:spLocks noChangeArrowheads="1"/>
                </p:cNvSpPr>
                <p:nvPr/>
              </p:nvSpPr>
              <p:spPr bwMode="auto">
                <a:xfrm>
                  <a:off x="2496" y="1056"/>
                  <a:ext cx="90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宋体" panose="02010600030101010101" pitchFamily="2" charset="-122"/>
                      <a:cs typeface="Arial" panose="020B0604020202020204" pitchFamily="34" charset="0"/>
                    </a:rPr>
                    <a:t>seconds</a:t>
                  </a:r>
                </a:p>
              </p:txBody>
            </p:sp>
            <p:sp>
              <p:nvSpPr>
                <p:cNvPr id="48697" name="Line 68"/>
                <p:cNvSpPr>
                  <a:spLocks noChangeShapeType="1"/>
                </p:cNvSpPr>
                <p:nvPr/>
              </p:nvSpPr>
              <p:spPr bwMode="auto">
                <a:xfrm>
                  <a:off x="768" y="148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300101" name="Group 69"/>
          <p:cNvGrpSpPr>
            <a:grpSpLocks/>
          </p:cNvGrpSpPr>
          <p:nvPr/>
        </p:nvGrpSpPr>
        <p:grpSpPr bwMode="auto">
          <a:xfrm>
            <a:off x="1141413" y="1819275"/>
            <a:ext cx="5148262" cy="274638"/>
            <a:chOff x="768" y="1584"/>
            <a:chExt cx="3243" cy="173"/>
          </a:xfrm>
        </p:grpSpPr>
        <p:sp>
          <p:nvSpPr>
            <p:cNvPr id="48645" name="Oval 70"/>
            <p:cNvSpPr>
              <a:spLocks noChangeArrowheads="1"/>
            </p:cNvSpPr>
            <p:nvPr/>
          </p:nvSpPr>
          <p:spPr bwMode="auto">
            <a:xfrm>
              <a:off x="91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46" name="Oval 71"/>
            <p:cNvSpPr>
              <a:spLocks noChangeArrowheads="1"/>
            </p:cNvSpPr>
            <p:nvPr/>
          </p:nvSpPr>
          <p:spPr bwMode="auto">
            <a:xfrm>
              <a:off x="98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47" name="Oval 72"/>
            <p:cNvSpPr>
              <a:spLocks noChangeArrowheads="1"/>
            </p:cNvSpPr>
            <p:nvPr/>
          </p:nvSpPr>
          <p:spPr bwMode="auto">
            <a:xfrm>
              <a:off x="105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48" name="Oval 73"/>
            <p:cNvSpPr>
              <a:spLocks noChangeArrowheads="1"/>
            </p:cNvSpPr>
            <p:nvPr/>
          </p:nvSpPr>
          <p:spPr bwMode="auto">
            <a:xfrm>
              <a:off x="1126"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649" name="Oval 74"/>
            <p:cNvSpPr>
              <a:spLocks noChangeArrowheads="1"/>
            </p:cNvSpPr>
            <p:nvPr/>
          </p:nvSpPr>
          <p:spPr bwMode="auto">
            <a:xfrm>
              <a:off x="120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650" name="Oval 75"/>
            <p:cNvSpPr>
              <a:spLocks noChangeArrowheads="1"/>
            </p:cNvSpPr>
            <p:nvPr/>
          </p:nvSpPr>
          <p:spPr bwMode="auto">
            <a:xfrm>
              <a:off x="127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1" name="Oval 76"/>
            <p:cNvSpPr>
              <a:spLocks noChangeArrowheads="1"/>
            </p:cNvSpPr>
            <p:nvPr/>
          </p:nvSpPr>
          <p:spPr bwMode="auto">
            <a:xfrm>
              <a:off x="134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2" name="Oval 77"/>
            <p:cNvSpPr>
              <a:spLocks noChangeArrowheads="1"/>
            </p:cNvSpPr>
            <p:nvPr/>
          </p:nvSpPr>
          <p:spPr bwMode="auto">
            <a:xfrm>
              <a:off x="141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3" name="Oval 78"/>
            <p:cNvSpPr>
              <a:spLocks noChangeArrowheads="1"/>
            </p:cNvSpPr>
            <p:nvPr/>
          </p:nvSpPr>
          <p:spPr bwMode="auto">
            <a:xfrm>
              <a:off x="148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4" name="Oval 79"/>
            <p:cNvSpPr>
              <a:spLocks noChangeArrowheads="1"/>
            </p:cNvSpPr>
            <p:nvPr/>
          </p:nvSpPr>
          <p:spPr bwMode="auto">
            <a:xfrm>
              <a:off x="155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5" name="Oval 80"/>
            <p:cNvSpPr>
              <a:spLocks noChangeArrowheads="1"/>
            </p:cNvSpPr>
            <p:nvPr/>
          </p:nvSpPr>
          <p:spPr bwMode="auto">
            <a:xfrm>
              <a:off x="163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6" name="Oval 81"/>
            <p:cNvSpPr>
              <a:spLocks noChangeArrowheads="1"/>
            </p:cNvSpPr>
            <p:nvPr/>
          </p:nvSpPr>
          <p:spPr bwMode="auto">
            <a:xfrm>
              <a:off x="170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7" name="Oval 82"/>
            <p:cNvSpPr>
              <a:spLocks noChangeArrowheads="1"/>
            </p:cNvSpPr>
            <p:nvPr/>
          </p:nvSpPr>
          <p:spPr bwMode="auto">
            <a:xfrm>
              <a:off x="1776"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8" name="Oval 83"/>
            <p:cNvSpPr>
              <a:spLocks noChangeArrowheads="1"/>
            </p:cNvSpPr>
            <p:nvPr/>
          </p:nvSpPr>
          <p:spPr bwMode="auto">
            <a:xfrm>
              <a:off x="1846"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59" name="Oval 84"/>
            <p:cNvSpPr>
              <a:spLocks noChangeArrowheads="1"/>
            </p:cNvSpPr>
            <p:nvPr/>
          </p:nvSpPr>
          <p:spPr bwMode="auto">
            <a:xfrm>
              <a:off x="192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0" name="Oval 85"/>
            <p:cNvSpPr>
              <a:spLocks noChangeArrowheads="1"/>
            </p:cNvSpPr>
            <p:nvPr/>
          </p:nvSpPr>
          <p:spPr bwMode="auto">
            <a:xfrm>
              <a:off x="199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1" name="Oval 86"/>
            <p:cNvSpPr>
              <a:spLocks noChangeArrowheads="1"/>
            </p:cNvSpPr>
            <p:nvPr/>
          </p:nvSpPr>
          <p:spPr bwMode="auto">
            <a:xfrm>
              <a:off x="206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2" name="Oval 87"/>
            <p:cNvSpPr>
              <a:spLocks noChangeArrowheads="1"/>
            </p:cNvSpPr>
            <p:nvPr/>
          </p:nvSpPr>
          <p:spPr bwMode="auto">
            <a:xfrm>
              <a:off x="213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3" name="Oval 88"/>
            <p:cNvSpPr>
              <a:spLocks noChangeArrowheads="1"/>
            </p:cNvSpPr>
            <p:nvPr/>
          </p:nvSpPr>
          <p:spPr bwMode="auto">
            <a:xfrm>
              <a:off x="2208"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4" name="Oval 89"/>
            <p:cNvSpPr>
              <a:spLocks noChangeArrowheads="1"/>
            </p:cNvSpPr>
            <p:nvPr/>
          </p:nvSpPr>
          <p:spPr bwMode="auto">
            <a:xfrm>
              <a:off x="227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5" name="Oval 90"/>
            <p:cNvSpPr>
              <a:spLocks noChangeArrowheads="1"/>
            </p:cNvSpPr>
            <p:nvPr/>
          </p:nvSpPr>
          <p:spPr bwMode="auto">
            <a:xfrm>
              <a:off x="235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6" name="Oval 91"/>
            <p:cNvSpPr>
              <a:spLocks noChangeArrowheads="1"/>
            </p:cNvSpPr>
            <p:nvPr/>
          </p:nvSpPr>
          <p:spPr bwMode="auto">
            <a:xfrm>
              <a:off x="242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7" name="Oval 92"/>
            <p:cNvSpPr>
              <a:spLocks noChangeArrowheads="1"/>
            </p:cNvSpPr>
            <p:nvPr/>
          </p:nvSpPr>
          <p:spPr bwMode="auto">
            <a:xfrm>
              <a:off x="2496"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8" name="Oval 93"/>
            <p:cNvSpPr>
              <a:spLocks noChangeArrowheads="1"/>
            </p:cNvSpPr>
            <p:nvPr/>
          </p:nvSpPr>
          <p:spPr bwMode="auto">
            <a:xfrm>
              <a:off x="256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69" name="Oval 94"/>
            <p:cNvSpPr>
              <a:spLocks noChangeArrowheads="1"/>
            </p:cNvSpPr>
            <p:nvPr/>
          </p:nvSpPr>
          <p:spPr bwMode="auto">
            <a:xfrm>
              <a:off x="2640"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0" name="Oval 95"/>
            <p:cNvSpPr>
              <a:spLocks noChangeArrowheads="1"/>
            </p:cNvSpPr>
            <p:nvPr/>
          </p:nvSpPr>
          <p:spPr bwMode="auto">
            <a:xfrm>
              <a:off x="271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1" name="Oval 96"/>
            <p:cNvSpPr>
              <a:spLocks noChangeArrowheads="1"/>
            </p:cNvSpPr>
            <p:nvPr/>
          </p:nvSpPr>
          <p:spPr bwMode="auto">
            <a:xfrm>
              <a:off x="278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2" name="Oval 97"/>
            <p:cNvSpPr>
              <a:spLocks noChangeArrowheads="1"/>
            </p:cNvSpPr>
            <p:nvPr/>
          </p:nvSpPr>
          <p:spPr bwMode="auto">
            <a:xfrm>
              <a:off x="285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3" name="Oval 98"/>
            <p:cNvSpPr>
              <a:spLocks noChangeArrowheads="1"/>
            </p:cNvSpPr>
            <p:nvPr/>
          </p:nvSpPr>
          <p:spPr bwMode="auto">
            <a:xfrm>
              <a:off x="2928"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4" name="Oval 99"/>
            <p:cNvSpPr>
              <a:spLocks noChangeArrowheads="1"/>
            </p:cNvSpPr>
            <p:nvPr/>
          </p:nvSpPr>
          <p:spPr bwMode="auto">
            <a:xfrm>
              <a:off x="299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5" name="Oval 100"/>
            <p:cNvSpPr>
              <a:spLocks noChangeArrowheads="1"/>
            </p:cNvSpPr>
            <p:nvPr/>
          </p:nvSpPr>
          <p:spPr bwMode="auto">
            <a:xfrm>
              <a:off x="307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6" name="Oval 101"/>
            <p:cNvSpPr>
              <a:spLocks noChangeArrowheads="1"/>
            </p:cNvSpPr>
            <p:nvPr/>
          </p:nvSpPr>
          <p:spPr bwMode="auto">
            <a:xfrm>
              <a:off x="314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7" name="Oval 102"/>
            <p:cNvSpPr>
              <a:spLocks noChangeArrowheads="1"/>
            </p:cNvSpPr>
            <p:nvPr/>
          </p:nvSpPr>
          <p:spPr bwMode="auto">
            <a:xfrm>
              <a:off x="321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8" name="Oval 103"/>
            <p:cNvSpPr>
              <a:spLocks noChangeArrowheads="1"/>
            </p:cNvSpPr>
            <p:nvPr/>
          </p:nvSpPr>
          <p:spPr bwMode="auto">
            <a:xfrm>
              <a:off x="328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79" name="Oval 104"/>
            <p:cNvSpPr>
              <a:spLocks noChangeArrowheads="1"/>
            </p:cNvSpPr>
            <p:nvPr/>
          </p:nvSpPr>
          <p:spPr bwMode="auto">
            <a:xfrm>
              <a:off x="335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0" name="Oval 105"/>
            <p:cNvSpPr>
              <a:spLocks noChangeArrowheads="1"/>
            </p:cNvSpPr>
            <p:nvPr/>
          </p:nvSpPr>
          <p:spPr bwMode="auto">
            <a:xfrm>
              <a:off x="342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1" name="Oval 106"/>
            <p:cNvSpPr>
              <a:spLocks noChangeArrowheads="1"/>
            </p:cNvSpPr>
            <p:nvPr/>
          </p:nvSpPr>
          <p:spPr bwMode="auto">
            <a:xfrm>
              <a:off x="350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2" name="Oval 107"/>
            <p:cNvSpPr>
              <a:spLocks noChangeArrowheads="1"/>
            </p:cNvSpPr>
            <p:nvPr/>
          </p:nvSpPr>
          <p:spPr bwMode="auto">
            <a:xfrm>
              <a:off x="3572"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3" name="Oval 108"/>
            <p:cNvSpPr>
              <a:spLocks noChangeArrowheads="1"/>
            </p:cNvSpPr>
            <p:nvPr/>
          </p:nvSpPr>
          <p:spPr bwMode="auto">
            <a:xfrm>
              <a:off x="364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4" name="Oval 109"/>
            <p:cNvSpPr>
              <a:spLocks noChangeArrowheads="1"/>
            </p:cNvSpPr>
            <p:nvPr/>
          </p:nvSpPr>
          <p:spPr bwMode="auto">
            <a:xfrm>
              <a:off x="371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5" name="Oval 110"/>
            <p:cNvSpPr>
              <a:spLocks noChangeArrowheads="1"/>
            </p:cNvSpPr>
            <p:nvPr/>
          </p:nvSpPr>
          <p:spPr bwMode="auto">
            <a:xfrm>
              <a:off x="379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6" name="Oval 111"/>
            <p:cNvSpPr>
              <a:spLocks noChangeArrowheads="1"/>
            </p:cNvSpPr>
            <p:nvPr/>
          </p:nvSpPr>
          <p:spPr bwMode="auto">
            <a:xfrm>
              <a:off x="3860"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7" name="Oval 112"/>
            <p:cNvSpPr>
              <a:spLocks noChangeArrowheads="1"/>
            </p:cNvSpPr>
            <p:nvPr/>
          </p:nvSpPr>
          <p:spPr bwMode="auto">
            <a:xfrm>
              <a:off x="393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88" name="Line 113"/>
            <p:cNvSpPr>
              <a:spLocks noChangeShapeType="1"/>
            </p:cNvSpPr>
            <p:nvPr/>
          </p:nvSpPr>
          <p:spPr bwMode="auto">
            <a:xfrm>
              <a:off x="768" y="158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146" name="Group 114"/>
          <p:cNvGrpSpPr>
            <a:grpSpLocks/>
          </p:cNvGrpSpPr>
          <p:nvPr/>
        </p:nvGrpSpPr>
        <p:grpSpPr bwMode="auto">
          <a:xfrm>
            <a:off x="1141413" y="2047875"/>
            <a:ext cx="4202112" cy="350838"/>
            <a:chOff x="768" y="1728"/>
            <a:chExt cx="2647" cy="221"/>
          </a:xfrm>
        </p:grpSpPr>
        <p:sp>
          <p:nvSpPr>
            <p:cNvPr id="48609" name="Oval 115"/>
            <p:cNvSpPr>
              <a:spLocks noChangeArrowheads="1"/>
            </p:cNvSpPr>
            <p:nvPr/>
          </p:nvSpPr>
          <p:spPr bwMode="auto">
            <a:xfrm>
              <a:off x="91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0" name="Oval 116"/>
            <p:cNvSpPr>
              <a:spLocks noChangeArrowheads="1"/>
            </p:cNvSpPr>
            <p:nvPr/>
          </p:nvSpPr>
          <p:spPr bwMode="auto">
            <a:xfrm>
              <a:off x="98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1" name="Oval 117"/>
            <p:cNvSpPr>
              <a:spLocks noChangeArrowheads="1"/>
            </p:cNvSpPr>
            <p:nvPr/>
          </p:nvSpPr>
          <p:spPr bwMode="auto">
            <a:xfrm>
              <a:off x="105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2" name="Oval 118"/>
            <p:cNvSpPr>
              <a:spLocks noChangeArrowheads="1"/>
            </p:cNvSpPr>
            <p:nvPr/>
          </p:nvSpPr>
          <p:spPr bwMode="auto">
            <a:xfrm>
              <a:off x="1126"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楷体_GB2312" pitchFamily="49" charset="-122"/>
                <a:ea typeface="楷体_GB2312" pitchFamily="49" charset="-122"/>
              </a:endParaRPr>
            </a:p>
          </p:txBody>
        </p:sp>
        <p:sp>
          <p:nvSpPr>
            <p:cNvPr id="48613" name="Oval 119"/>
            <p:cNvSpPr>
              <a:spLocks noChangeArrowheads="1"/>
            </p:cNvSpPr>
            <p:nvPr/>
          </p:nvSpPr>
          <p:spPr bwMode="auto">
            <a:xfrm>
              <a:off x="1200"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楷体_GB2312" pitchFamily="49" charset="-122"/>
                <a:ea typeface="楷体_GB2312" pitchFamily="49" charset="-122"/>
              </a:endParaRPr>
            </a:p>
          </p:txBody>
        </p:sp>
        <p:sp>
          <p:nvSpPr>
            <p:cNvPr id="48614" name="Oval 120"/>
            <p:cNvSpPr>
              <a:spLocks noChangeArrowheads="1"/>
            </p:cNvSpPr>
            <p:nvPr/>
          </p:nvSpPr>
          <p:spPr bwMode="auto">
            <a:xfrm>
              <a:off x="127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5" name="Oval 121"/>
            <p:cNvSpPr>
              <a:spLocks noChangeArrowheads="1"/>
            </p:cNvSpPr>
            <p:nvPr/>
          </p:nvSpPr>
          <p:spPr bwMode="auto">
            <a:xfrm>
              <a:off x="134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6" name="Oval 122"/>
            <p:cNvSpPr>
              <a:spLocks noChangeArrowheads="1"/>
            </p:cNvSpPr>
            <p:nvPr/>
          </p:nvSpPr>
          <p:spPr bwMode="auto">
            <a:xfrm>
              <a:off x="141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7" name="Oval 123"/>
            <p:cNvSpPr>
              <a:spLocks noChangeArrowheads="1"/>
            </p:cNvSpPr>
            <p:nvPr/>
          </p:nvSpPr>
          <p:spPr bwMode="auto">
            <a:xfrm>
              <a:off x="148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8" name="Oval 124"/>
            <p:cNvSpPr>
              <a:spLocks noChangeArrowheads="1"/>
            </p:cNvSpPr>
            <p:nvPr/>
          </p:nvSpPr>
          <p:spPr bwMode="auto">
            <a:xfrm>
              <a:off x="155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19" name="Oval 125"/>
            <p:cNvSpPr>
              <a:spLocks noChangeArrowheads="1"/>
            </p:cNvSpPr>
            <p:nvPr/>
          </p:nvSpPr>
          <p:spPr bwMode="auto">
            <a:xfrm>
              <a:off x="163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0" name="Oval 126"/>
            <p:cNvSpPr>
              <a:spLocks noChangeArrowheads="1"/>
            </p:cNvSpPr>
            <p:nvPr/>
          </p:nvSpPr>
          <p:spPr bwMode="auto">
            <a:xfrm>
              <a:off x="170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1" name="Oval 127"/>
            <p:cNvSpPr>
              <a:spLocks noChangeArrowheads="1"/>
            </p:cNvSpPr>
            <p:nvPr/>
          </p:nvSpPr>
          <p:spPr bwMode="auto">
            <a:xfrm>
              <a:off x="177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2" name="Oval 128"/>
            <p:cNvSpPr>
              <a:spLocks noChangeArrowheads="1"/>
            </p:cNvSpPr>
            <p:nvPr/>
          </p:nvSpPr>
          <p:spPr bwMode="auto">
            <a:xfrm>
              <a:off x="1846"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3" name="Oval 129"/>
            <p:cNvSpPr>
              <a:spLocks noChangeArrowheads="1"/>
            </p:cNvSpPr>
            <p:nvPr/>
          </p:nvSpPr>
          <p:spPr bwMode="auto">
            <a:xfrm>
              <a:off x="192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4" name="Oval 130"/>
            <p:cNvSpPr>
              <a:spLocks noChangeArrowheads="1"/>
            </p:cNvSpPr>
            <p:nvPr/>
          </p:nvSpPr>
          <p:spPr bwMode="auto">
            <a:xfrm>
              <a:off x="1990"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5" name="Oval 131"/>
            <p:cNvSpPr>
              <a:spLocks noChangeArrowheads="1"/>
            </p:cNvSpPr>
            <p:nvPr/>
          </p:nvSpPr>
          <p:spPr bwMode="auto">
            <a:xfrm>
              <a:off x="2064"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6" name="Oval 132"/>
            <p:cNvSpPr>
              <a:spLocks noChangeArrowheads="1"/>
            </p:cNvSpPr>
            <p:nvPr/>
          </p:nvSpPr>
          <p:spPr bwMode="auto">
            <a:xfrm>
              <a:off x="2134"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7" name="Oval 133"/>
            <p:cNvSpPr>
              <a:spLocks noChangeArrowheads="1"/>
            </p:cNvSpPr>
            <p:nvPr/>
          </p:nvSpPr>
          <p:spPr bwMode="auto">
            <a:xfrm>
              <a:off x="2208"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8" name="Oval 134"/>
            <p:cNvSpPr>
              <a:spLocks noChangeArrowheads="1"/>
            </p:cNvSpPr>
            <p:nvPr/>
          </p:nvSpPr>
          <p:spPr bwMode="auto">
            <a:xfrm>
              <a:off x="227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29" name="Oval 135"/>
            <p:cNvSpPr>
              <a:spLocks noChangeArrowheads="1"/>
            </p:cNvSpPr>
            <p:nvPr/>
          </p:nvSpPr>
          <p:spPr bwMode="auto">
            <a:xfrm>
              <a:off x="2352"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0" name="Oval 136"/>
            <p:cNvSpPr>
              <a:spLocks noChangeArrowheads="1"/>
            </p:cNvSpPr>
            <p:nvPr/>
          </p:nvSpPr>
          <p:spPr bwMode="auto">
            <a:xfrm>
              <a:off x="2422"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1" name="Oval 137"/>
            <p:cNvSpPr>
              <a:spLocks noChangeArrowheads="1"/>
            </p:cNvSpPr>
            <p:nvPr/>
          </p:nvSpPr>
          <p:spPr bwMode="auto">
            <a:xfrm>
              <a:off x="249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2" name="Oval 138"/>
            <p:cNvSpPr>
              <a:spLocks noChangeArrowheads="1"/>
            </p:cNvSpPr>
            <p:nvPr/>
          </p:nvSpPr>
          <p:spPr bwMode="auto">
            <a:xfrm>
              <a:off x="256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3" name="Oval 139"/>
            <p:cNvSpPr>
              <a:spLocks noChangeArrowheads="1"/>
            </p:cNvSpPr>
            <p:nvPr/>
          </p:nvSpPr>
          <p:spPr bwMode="auto">
            <a:xfrm>
              <a:off x="2640"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4" name="Oval 140"/>
            <p:cNvSpPr>
              <a:spLocks noChangeArrowheads="1"/>
            </p:cNvSpPr>
            <p:nvPr/>
          </p:nvSpPr>
          <p:spPr bwMode="auto">
            <a:xfrm>
              <a:off x="271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5" name="Oval 141"/>
            <p:cNvSpPr>
              <a:spLocks noChangeArrowheads="1"/>
            </p:cNvSpPr>
            <p:nvPr/>
          </p:nvSpPr>
          <p:spPr bwMode="auto">
            <a:xfrm>
              <a:off x="278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6" name="Oval 142"/>
            <p:cNvSpPr>
              <a:spLocks noChangeArrowheads="1"/>
            </p:cNvSpPr>
            <p:nvPr/>
          </p:nvSpPr>
          <p:spPr bwMode="auto">
            <a:xfrm>
              <a:off x="285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7" name="Oval 143"/>
            <p:cNvSpPr>
              <a:spLocks noChangeArrowheads="1"/>
            </p:cNvSpPr>
            <p:nvPr/>
          </p:nvSpPr>
          <p:spPr bwMode="auto">
            <a:xfrm>
              <a:off x="2928"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8" name="Oval 144"/>
            <p:cNvSpPr>
              <a:spLocks noChangeArrowheads="1"/>
            </p:cNvSpPr>
            <p:nvPr/>
          </p:nvSpPr>
          <p:spPr bwMode="auto">
            <a:xfrm>
              <a:off x="299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39" name="Oval 145"/>
            <p:cNvSpPr>
              <a:spLocks noChangeArrowheads="1"/>
            </p:cNvSpPr>
            <p:nvPr/>
          </p:nvSpPr>
          <p:spPr bwMode="auto">
            <a:xfrm>
              <a:off x="307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40" name="Oval 146"/>
            <p:cNvSpPr>
              <a:spLocks noChangeArrowheads="1"/>
            </p:cNvSpPr>
            <p:nvPr/>
          </p:nvSpPr>
          <p:spPr bwMode="auto">
            <a:xfrm>
              <a:off x="314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41" name="Oval 147"/>
            <p:cNvSpPr>
              <a:spLocks noChangeArrowheads="1"/>
            </p:cNvSpPr>
            <p:nvPr/>
          </p:nvSpPr>
          <p:spPr bwMode="auto">
            <a:xfrm>
              <a:off x="319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42" name="Oval 148"/>
            <p:cNvSpPr>
              <a:spLocks noChangeArrowheads="1"/>
            </p:cNvSpPr>
            <p:nvPr/>
          </p:nvSpPr>
          <p:spPr bwMode="auto">
            <a:xfrm>
              <a:off x="326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43" name="Oval 149"/>
            <p:cNvSpPr>
              <a:spLocks noChangeArrowheads="1"/>
            </p:cNvSpPr>
            <p:nvPr/>
          </p:nvSpPr>
          <p:spPr bwMode="auto">
            <a:xfrm>
              <a:off x="333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48644" name="Line 150"/>
            <p:cNvSpPr>
              <a:spLocks noChangeShapeType="1"/>
            </p:cNvSpPr>
            <p:nvPr/>
          </p:nvSpPr>
          <p:spPr bwMode="auto">
            <a:xfrm>
              <a:off x="768" y="172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183" name="Group 151"/>
          <p:cNvGrpSpPr>
            <a:grpSpLocks/>
          </p:cNvGrpSpPr>
          <p:nvPr/>
        </p:nvGrpSpPr>
        <p:grpSpPr bwMode="auto">
          <a:xfrm>
            <a:off x="1141413" y="2352675"/>
            <a:ext cx="5802312" cy="350838"/>
            <a:chOff x="768" y="1920"/>
            <a:chExt cx="3655" cy="221"/>
          </a:xfrm>
        </p:grpSpPr>
        <p:sp>
          <p:nvSpPr>
            <p:cNvPr id="48559" name="Oval 152"/>
            <p:cNvSpPr>
              <a:spLocks noChangeArrowheads="1"/>
            </p:cNvSpPr>
            <p:nvPr/>
          </p:nvSpPr>
          <p:spPr bwMode="auto">
            <a:xfrm>
              <a:off x="91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0" name="Oval 153"/>
            <p:cNvSpPr>
              <a:spLocks noChangeArrowheads="1"/>
            </p:cNvSpPr>
            <p:nvPr/>
          </p:nvSpPr>
          <p:spPr bwMode="auto">
            <a:xfrm>
              <a:off x="98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1" name="Oval 154"/>
            <p:cNvSpPr>
              <a:spLocks noChangeArrowheads="1"/>
            </p:cNvSpPr>
            <p:nvPr/>
          </p:nvSpPr>
          <p:spPr bwMode="auto">
            <a:xfrm>
              <a:off x="105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2" name="Oval 155"/>
            <p:cNvSpPr>
              <a:spLocks noChangeArrowheads="1"/>
            </p:cNvSpPr>
            <p:nvPr/>
          </p:nvSpPr>
          <p:spPr bwMode="auto">
            <a:xfrm>
              <a:off x="112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563" name="Oval 156"/>
            <p:cNvSpPr>
              <a:spLocks noChangeArrowheads="1"/>
            </p:cNvSpPr>
            <p:nvPr/>
          </p:nvSpPr>
          <p:spPr bwMode="auto">
            <a:xfrm>
              <a:off x="120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564" name="Oval 157"/>
            <p:cNvSpPr>
              <a:spLocks noChangeArrowheads="1"/>
            </p:cNvSpPr>
            <p:nvPr/>
          </p:nvSpPr>
          <p:spPr bwMode="auto">
            <a:xfrm>
              <a:off x="127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5" name="Oval 158"/>
            <p:cNvSpPr>
              <a:spLocks noChangeArrowheads="1"/>
            </p:cNvSpPr>
            <p:nvPr/>
          </p:nvSpPr>
          <p:spPr bwMode="auto">
            <a:xfrm>
              <a:off x="134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6" name="Oval 159"/>
            <p:cNvSpPr>
              <a:spLocks noChangeArrowheads="1"/>
            </p:cNvSpPr>
            <p:nvPr/>
          </p:nvSpPr>
          <p:spPr bwMode="auto">
            <a:xfrm>
              <a:off x="141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7" name="Oval 160"/>
            <p:cNvSpPr>
              <a:spLocks noChangeArrowheads="1"/>
            </p:cNvSpPr>
            <p:nvPr/>
          </p:nvSpPr>
          <p:spPr bwMode="auto">
            <a:xfrm>
              <a:off x="148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8" name="Oval 161"/>
            <p:cNvSpPr>
              <a:spLocks noChangeArrowheads="1"/>
            </p:cNvSpPr>
            <p:nvPr/>
          </p:nvSpPr>
          <p:spPr bwMode="auto">
            <a:xfrm>
              <a:off x="155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69" name="Oval 162"/>
            <p:cNvSpPr>
              <a:spLocks noChangeArrowheads="1"/>
            </p:cNvSpPr>
            <p:nvPr/>
          </p:nvSpPr>
          <p:spPr bwMode="auto">
            <a:xfrm>
              <a:off x="163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0" name="Oval 163"/>
            <p:cNvSpPr>
              <a:spLocks noChangeArrowheads="1"/>
            </p:cNvSpPr>
            <p:nvPr/>
          </p:nvSpPr>
          <p:spPr bwMode="auto">
            <a:xfrm>
              <a:off x="170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1" name="Oval 164"/>
            <p:cNvSpPr>
              <a:spLocks noChangeArrowheads="1"/>
            </p:cNvSpPr>
            <p:nvPr/>
          </p:nvSpPr>
          <p:spPr bwMode="auto">
            <a:xfrm>
              <a:off x="177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2" name="Oval 165"/>
            <p:cNvSpPr>
              <a:spLocks noChangeArrowheads="1"/>
            </p:cNvSpPr>
            <p:nvPr/>
          </p:nvSpPr>
          <p:spPr bwMode="auto">
            <a:xfrm>
              <a:off x="184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3" name="Oval 166"/>
            <p:cNvSpPr>
              <a:spLocks noChangeArrowheads="1"/>
            </p:cNvSpPr>
            <p:nvPr/>
          </p:nvSpPr>
          <p:spPr bwMode="auto">
            <a:xfrm>
              <a:off x="192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4" name="Oval 167"/>
            <p:cNvSpPr>
              <a:spLocks noChangeArrowheads="1"/>
            </p:cNvSpPr>
            <p:nvPr/>
          </p:nvSpPr>
          <p:spPr bwMode="auto">
            <a:xfrm>
              <a:off x="199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5" name="Oval 168"/>
            <p:cNvSpPr>
              <a:spLocks noChangeArrowheads="1"/>
            </p:cNvSpPr>
            <p:nvPr/>
          </p:nvSpPr>
          <p:spPr bwMode="auto">
            <a:xfrm>
              <a:off x="206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6" name="Oval 169"/>
            <p:cNvSpPr>
              <a:spLocks noChangeArrowheads="1"/>
            </p:cNvSpPr>
            <p:nvPr/>
          </p:nvSpPr>
          <p:spPr bwMode="auto">
            <a:xfrm>
              <a:off x="213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7" name="Oval 170"/>
            <p:cNvSpPr>
              <a:spLocks noChangeArrowheads="1"/>
            </p:cNvSpPr>
            <p:nvPr/>
          </p:nvSpPr>
          <p:spPr bwMode="auto">
            <a:xfrm>
              <a:off x="220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8" name="Oval 171"/>
            <p:cNvSpPr>
              <a:spLocks noChangeArrowheads="1"/>
            </p:cNvSpPr>
            <p:nvPr/>
          </p:nvSpPr>
          <p:spPr bwMode="auto">
            <a:xfrm>
              <a:off x="227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79" name="Oval 172"/>
            <p:cNvSpPr>
              <a:spLocks noChangeArrowheads="1"/>
            </p:cNvSpPr>
            <p:nvPr/>
          </p:nvSpPr>
          <p:spPr bwMode="auto">
            <a:xfrm>
              <a:off x="235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0" name="Oval 173"/>
            <p:cNvSpPr>
              <a:spLocks noChangeArrowheads="1"/>
            </p:cNvSpPr>
            <p:nvPr/>
          </p:nvSpPr>
          <p:spPr bwMode="auto">
            <a:xfrm>
              <a:off x="242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1" name="Oval 174"/>
            <p:cNvSpPr>
              <a:spLocks noChangeArrowheads="1"/>
            </p:cNvSpPr>
            <p:nvPr/>
          </p:nvSpPr>
          <p:spPr bwMode="auto">
            <a:xfrm>
              <a:off x="249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2" name="Oval 175"/>
            <p:cNvSpPr>
              <a:spLocks noChangeArrowheads="1"/>
            </p:cNvSpPr>
            <p:nvPr/>
          </p:nvSpPr>
          <p:spPr bwMode="auto">
            <a:xfrm>
              <a:off x="256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3" name="Oval 176"/>
            <p:cNvSpPr>
              <a:spLocks noChangeArrowheads="1"/>
            </p:cNvSpPr>
            <p:nvPr/>
          </p:nvSpPr>
          <p:spPr bwMode="auto">
            <a:xfrm>
              <a:off x="264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4" name="Oval 177"/>
            <p:cNvSpPr>
              <a:spLocks noChangeArrowheads="1"/>
            </p:cNvSpPr>
            <p:nvPr/>
          </p:nvSpPr>
          <p:spPr bwMode="auto">
            <a:xfrm>
              <a:off x="271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5" name="Oval 178"/>
            <p:cNvSpPr>
              <a:spLocks noChangeArrowheads="1"/>
            </p:cNvSpPr>
            <p:nvPr/>
          </p:nvSpPr>
          <p:spPr bwMode="auto">
            <a:xfrm>
              <a:off x="278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6" name="Oval 179"/>
            <p:cNvSpPr>
              <a:spLocks noChangeArrowheads="1"/>
            </p:cNvSpPr>
            <p:nvPr/>
          </p:nvSpPr>
          <p:spPr bwMode="auto">
            <a:xfrm>
              <a:off x="285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7" name="Oval 180"/>
            <p:cNvSpPr>
              <a:spLocks noChangeArrowheads="1"/>
            </p:cNvSpPr>
            <p:nvPr/>
          </p:nvSpPr>
          <p:spPr bwMode="auto">
            <a:xfrm>
              <a:off x="292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8" name="Oval 181"/>
            <p:cNvSpPr>
              <a:spLocks noChangeArrowheads="1"/>
            </p:cNvSpPr>
            <p:nvPr/>
          </p:nvSpPr>
          <p:spPr bwMode="auto">
            <a:xfrm>
              <a:off x="299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89" name="Oval 182"/>
            <p:cNvSpPr>
              <a:spLocks noChangeArrowheads="1"/>
            </p:cNvSpPr>
            <p:nvPr/>
          </p:nvSpPr>
          <p:spPr bwMode="auto">
            <a:xfrm>
              <a:off x="307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0" name="Oval 183"/>
            <p:cNvSpPr>
              <a:spLocks noChangeArrowheads="1"/>
            </p:cNvSpPr>
            <p:nvPr/>
          </p:nvSpPr>
          <p:spPr bwMode="auto">
            <a:xfrm>
              <a:off x="314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1" name="Oval 184"/>
            <p:cNvSpPr>
              <a:spLocks noChangeArrowheads="1"/>
            </p:cNvSpPr>
            <p:nvPr/>
          </p:nvSpPr>
          <p:spPr bwMode="auto">
            <a:xfrm>
              <a:off x="319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2" name="Oval 185"/>
            <p:cNvSpPr>
              <a:spLocks noChangeArrowheads="1"/>
            </p:cNvSpPr>
            <p:nvPr/>
          </p:nvSpPr>
          <p:spPr bwMode="auto">
            <a:xfrm>
              <a:off x="326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3" name="Oval 186"/>
            <p:cNvSpPr>
              <a:spLocks noChangeArrowheads="1"/>
            </p:cNvSpPr>
            <p:nvPr/>
          </p:nvSpPr>
          <p:spPr bwMode="auto">
            <a:xfrm>
              <a:off x="333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4" name="Oval 187"/>
            <p:cNvSpPr>
              <a:spLocks noChangeArrowheads="1"/>
            </p:cNvSpPr>
            <p:nvPr/>
          </p:nvSpPr>
          <p:spPr bwMode="auto">
            <a:xfrm>
              <a:off x="3408"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5" name="Oval 188"/>
            <p:cNvSpPr>
              <a:spLocks noChangeArrowheads="1"/>
            </p:cNvSpPr>
            <p:nvPr/>
          </p:nvSpPr>
          <p:spPr bwMode="auto">
            <a:xfrm>
              <a:off x="348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6" name="Oval 189"/>
            <p:cNvSpPr>
              <a:spLocks noChangeArrowheads="1"/>
            </p:cNvSpPr>
            <p:nvPr/>
          </p:nvSpPr>
          <p:spPr bwMode="auto">
            <a:xfrm>
              <a:off x="355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7" name="Oval 190"/>
            <p:cNvSpPr>
              <a:spLocks noChangeArrowheads="1"/>
            </p:cNvSpPr>
            <p:nvPr/>
          </p:nvSpPr>
          <p:spPr bwMode="auto">
            <a:xfrm>
              <a:off x="3626"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8" name="Oval 191"/>
            <p:cNvSpPr>
              <a:spLocks noChangeArrowheads="1"/>
            </p:cNvSpPr>
            <p:nvPr/>
          </p:nvSpPr>
          <p:spPr bwMode="auto">
            <a:xfrm>
              <a:off x="3696"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99" name="Oval 192"/>
            <p:cNvSpPr>
              <a:spLocks noChangeArrowheads="1"/>
            </p:cNvSpPr>
            <p:nvPr/>
          </p:nvSpPr>
          <p:spPr bwMode="auto">
            <a:xfrm>
              <a:off x="3770"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0" name="Oval 193"/>
            <p:cNvSpPr>
              <a:spLocks noChangeArrowheads="1"/>
            </p:cNvSpPr>
            <p:nvPr/>
          </p:nvSpPr>
          <p:spPr bwMode="auto">
            <a:xfrm>
              <a:off x="384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1" name="Oval 194"/>
            <p:cNvSpPr>
              <a:spLocks noChangeArrowheads="1"/>
            </p:cNvSpPr>
            <p:nvPr/>
          </p:nvSpPr>
          <p:spPr bwMode="auto">
            <a:xfrm>
              <a:off x="391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2" name="Oval 195"/>
            <p:cNvSpPr>
              <a:spLocks noChangeArrowheads="1"/>
            </p:cNvSpPr>
            <p:nvPr/>
          </p:nvSpPr>
          <p:spPr bwMode="auto">
            <a:xfrm>
              <a:off x="398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3" name="Oval 196"/>
            <p:cNvSpPr>
              <a:spLocks noChangeArrowheads="1"/>
            </p:cNvSpPr>
            <p:nvPr/>
          </p:nvSpPr>
          <p:spPr bwMode="auto">
            <a:xfrm>
              <a:off x="4058"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4" name="Oval 197"/>
            <p:cNvSpPr>
              <a:spLocks noChangeArrowheads="1"/>
            </p:cNvSpPr>
            <p:nvPr/>
          </p:nvSpPr>
          <p:spPr bwMode="auto">
            <a:xfrm>
              <a:off x="412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5" name="Oval 198"/>
            <p:cNvSpPr>
              <a:spLocks noChangeArrowheads="1"/>
            </p:cNvSpPr>
            <p:nvPr/>
          </p:nvSpPr>
          <p:spPr bwMode="auto">
            <a:xfrm>
              <a:off x="420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6" name="Oval 199"/>
            <p:cNvSpPr>
              <a:spLocks noChangeArrowheads="1"/>
            </p:cNvSpPr>
            <p:nvPr/>
          </p:nvSpPr>
          <p:spPr bwMode="auto">
            <a:xfrm>
              <a:off x="427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7" name="Oval 200"/>
            <p:cNvSpPr>
              <a:spLocks noChangeArrowheads="1"/>
            </p:cNvSpPr>
            <p:nvPr/>
          </p:nvSpPr>
          <p:spPr bwMode="auto">
            <a:xfrm>
              <a:off x="434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608" name="Line 201"/>
            <p:cNvSpPr>
              <a:spLocks noChangeShapeType="1"/>
            </p:cNvSpPr>
            <p:nvPr/>
          </p:nvSpPr>
          <p:spPr bwMode="auto">
            <a:xfrm>
              <a:off x="768" y="19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234" name="Group 202"/>
          <p:cNvGrpSpPr>
            <a:grpSpLocks/>
          </p:cNvGrpSpPr>
          <p:nvPr/>
        </p:nvGrpSpPr>
        <p:grpSpPr bwMode="auto">
          <a:xfrm>
            <a:off x="679450" y="1666875"/>
            <a:ext cx="5461000" cy="1341438"/>
            <a:chOff x="477" y="1488"/>
            <a:chExt cx="3440" cy="845"/>
          </a:xfrm>
        </p:grpSpPr>
        <p:sp>
          <p:nvSpPr>
            <p:cNvPr id="48513" name="Oval 203"/>
            <p:cNvSpPr>
              <a:spLocks noChangeArrowheads="1"/>
            </p:cNvSpPr>
            <p:nvPr/>
          </p:nvSpPr>
          <p:spPr bwMode="auto">
            <a:xfrm>
              <a:off x="91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14" name="Oval 204"/>
            <p:cNvSpPr>
              <a:spLocks noChangeArrowheads="1"/>
            </p:cNvSpPr>
            <p:nvPr/>
          </p:nvSpPr>
          <p:spPr bwMode="auto">
            <a:xfrm>
              <a:off x="98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15" name="Oval 205"/>
            <p:cNvSpPr>
              <a:spLocks noChangeArrowheads="1"/>
            </p:cNvSpPr>
            <p:nvPr/>
          </p:nvSpPr>
          <p:spPr bwMode="auto">
            <a:xfrm>
              <a:off x="1056"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16" name="Oval 206"/>
            <p:cNvSpPr>
              <a:spLocks noChangeArrowheads="1"/>
            </p:cNvSpPr>
            <p:nvPr/>
          </p:nvSpPr>
          <p:spPr bwMode="auto">
            <a:xfrm>
              <a:off x="112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517" name="Oval 207"/>
            <p:cNvSpPr>
              <a:spLocks noChangeArrowheads="1"/>
            </p:cNvSpPr>
            <p:nvPr/>
          </p:nvSpPr>
          <p:spPr bwMode="auto">
            <a:xfrm>
              <a:off x="120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518" name="Oval 208"/>
            <p:cNvSpPr>
              <a:spLocks noChangeArrowheads="1"/>
            </p:cNvSpPr>
            <p:nvPr/>
          </p:nvSpPr>
          <p:spPr bwMode="auto">
            <a:xfrm>
              <a:off x="127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19" name="Oval 209"/>
            <p:cNvSpPr>
              <a:spLocks noChangeArrowheads="1"/>
            </p:cNvSpPr>
            <p:nvPr/>
          </p:nvSpPr>
          <p:spPr bwMode="auto">
            <a:xfrm>
              <a:off x="134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0" name="Oval 210"/>
            <p:cNvSpPr>
              <a:spLocks noChangeArrowheads="1"/>
            </p:cNvSpPr>
            <p:nvPr/>
          </p:nvSpPr>
          <p:spPr bwMode="auto">
            <a:xfrm>
              <a:off x="141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1" name="Oval 211"/>
            <p:cNvSpPr>
              <a:spLocks noChangeArrowheads="1"/>
            </p:cNvSpPr>
            <p:nvPr/>
          </p:nvSpPr>
          <p:spPr bwMode="auto">
            <a:xfrm>
              <a:off x="148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2" name="Oval 212"/>
            <p:cNvSpPr>
              <a:spLocks noChangeArrowheads="1"/>
            </p:cNvSpPr>
            <p:nvPr/>
          </p:nvSpPr>
          <p:spPr bwMode="auto">
            <a:xfrm>
              <a:off x="155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3" name="Oval 213"/>
            <p:cNvSpPr>
              <a:spLocks noChangeArrowheads="1"/>
            </p:cNvSpPr>
            <p:nvPr/>
          </p:nvSpPr>
          <p:spPr bwMode="auto">
            <a:xfrm>
              <a:off x="163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4" name="Oval 214"/>
            <p:cNvSpPr>
              <a:spLocks noChangeArrowheads="1"/>
            </p:cNvSpPr>
            <p:nvPr/>
          </p:nvSpPr>
          <p:spPr bwMode="auto">
            <a:xfrm>
              <a:off x="170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5" name="Oval 215"/>
            <p:cNvSpPr>
              <a:spLocks noChangeArrowheads="1"/>
            </p:cNvSpPr>
            <p:nvPr/>
          </p:nvSpPr>
          <p:spPr bwMode="auto">
            <a:xfrm>
              <a:off x="177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6" name="Oval 216"/>
            <p:cNvSpPr>
              <a:spLocks noChangeArrowheads="1"/>
            </p:cNvSpPr>
            <p:nvPr/>
          </p:nvSpPr>
          <p:spPr bwMode="auto">
            <a:xfrm>
              <a:off x="184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7" name="Oval 217"/>
            <p:cNvSpPr>
              <a:spLocks noChangeArrowheads="1"/>
            </p:cNvSpPr>
            <p:nvPr/>
          </p:nvSpPr>
          <p:spPr bwMode="auto">
            <a:xfrm>
              <a:off x="192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8" name="Oval 218"/>
            <p:cNvSpPr>
              <a:spLocks noChangeArrowheads="1"/>
            </p:cNvSpPr>
            <p:nvPr/>
          </p:nvSpPr>
          <p:spPr bwMode="auto">
            <a:xfrm>
              <a:off x="199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29" name="Oval 219"/>
            <p:cNvSpPr>
              <a:spLocks noChangeArrowheads="1"/>
            </p:cNvSpPr>
            <p:nvPr/>
          </p:nvSpPr>
          <p:spPr bwMode="auto">
            <a:xfrm>
              <a:off x="206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0" name="Oval 220"/>
            <p:cNvSpPr>
              <a:spLocks noChangeArrowheads="1"/>
            </p:cNvSpPr>
            <p:nvPr/>
          </p:nvSpPr>
          <p:spPr bwMode="auto">
            <a:xfrm>
              <a:off x="213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1" name="Oval 221"/>
            <p:cNvSpPr>
              <a:spLocks noChangeArrowheads="1"/>
            </p:cNvSpPr>
            <p:nvPr/>
          </p:nvSpPr>
          <p:spPr bwMode="auto">
            <a:xfrm>
              <a:off x="220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2" name="Oval 222"/>
            <p:cNvSpPr>
              <a:spLocks noChangeArrowheads="1"/>
            </p:cNvSpPr>
            <p:nvPr/>
          </p:nvSpPr>
          <p:spPr bwMode="auto">
            <a:xfrm>
              <a:off x="2278"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3" name="Oval 223"/>
            <p:cNvSpPr>
              <a:spLocks noChangeArrowheads="1"/>
            </p:cNvSpPr>
            <p:nvPr/>
          </p:nvSpPr>
          <p:spPr bwMode="auto">
            <a:xfrm>
              <a:off x="235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4" name="Oval 224"/>
            <p:cNvSpPr>
              <a:spLocks noChangeArrowheads="1"/>
            </p:cNvSpPr>
            <p:nvPr/>
          </p:nvSpPr>
          <p:spPr bwMode="auto">
            <a:xfrm>
              <a:off x="242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5" name="Oval 225"/>
            <p:cNvSpPr>
              <a:spLocks noChangeArrowheads="1"/>
            </p:cNvSpPr>
            <p:nvPr/>
          </p:nvSpPr>
          <p:spPr bwMode="auto">
            <a:xfrm>
              <a:off x="249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6" name="Oval 226"/>
            <p:cNvSpPr>
              <a:spLocks noChangeArrowheads="1"/>
            </p:cNvSpPr>
            <p:nvPr/>
          </p:nvSpPr>
          <p:spPr bwMode="auto">
            <a:xfrm>
              <a:off x="2566"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7" name="Oval 227"/>
            <p:cNvSpPr>
              <a:spLocks noChangeArrowheads="1"/>
            </p:cNvSpPr>
            <p:nvPr/>
          </p:nvSpPr>
          <p:spPr bwMode="auto">
            <a:xfrm>
              <a:off x="264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8" name="Oval 228"/>
            <p:cNvSpPr>
              <a:spLocks noChangeArrowheads="1"/>
            </p:cNvSpPr>
            <p:nvPr/>
          </p:nvSpPr>
          <p:spPr bwMode="auto">
            <a:xfrm>
              <a:off x="271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39" name="Oval 229"/>
            <p:cNvSpPr>
              <a:spLocks noChangeArrowheads="1"/>
            </p:cNvSpPr>
            <p:nvPr/>
          </p:nvSpPr>
          <p:spPr bwMode="auto">
            <a:xfrm>
              <a:off x="278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0" name="Oval 230"/>
            <p:cNvSpPr>
              <a:spLocks noChangeArrowheads="1"/>
            </p:cNvSpPr>
            <p:nvPr/>
          </p:nvSpPr>
          <p:spPr bwMode="auto">
            <a:xfrm>
              <a:off x="285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1" name="Oval 231"/>
            <p:cNvSpPr>
              <a:spLocks noChangeArrowheads="1"/>
            </p:cNvSpPr>
            <p:nvPr/>
          </p:nvSpPr>
          <p:spPr bwMode="auto">
            <a:xfrm>
              <a:off x="292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2" name="Oval 232"/>
            <p:cNvSpPr>
              <a:spLocks noChangeArrowheads="1"/>
            </p:cNvSpPr>
            <p:nvPr/>
          </p:nvSpPr>
          <p:spPr bwMode="auto">
            <a:xfrm>
              <a:off x="299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3" name="Oval 233"/>
            <p:cNvSpPr>
              <a:spLocks noChangeArrowheads="1"/>
            </p:cNvSpPr>
            <p:nvPr/>
          </p:nvSpPr>
          <p:spPr bwMode="auto">
            <a:xfrm>
              <a:off x="307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4" name="Oval 234"/>
            <p:cNvSpPr>
              <a:spLocks noChangeArrowheads="1"/>
            </p:cNvSpPr>
            <p:nvPr/>
          </p:nvSpPr>
          <p:spPr bwMode="auto">
            <a:xfrm>
              <a:off x="314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5" name="Oval 235"/>
            <p:cNvSpPr>
              <a:spLocks noChangeArrowheads="1"/>
            </p:cNvSpPr>
            <p:nvPr/>
          </p:nvSpPr>
          <p:spPr bwMode="auto">
            <a:xfrm>
              <a:off x="319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6" name="Oval 236"/>
            <p:cNvSpPr>
              <a:spLocks noChangeArrowheads="1"/>
            </p:cNvSpPr>
            <p:nvPr/>
          </p:nvSpPr>
          <p:spPr bwMode="auto">
            <a:xfrm>
              <a:off x="326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7" name="Oval 237"/>
            <p:cNvSpPr>
              <a:spLocks noChangeArrowheads="1"/>
            </p:cNvSpPr>
            <p:nvPr/>
          </p:nvSpPr>
          <p:spPr bwMode="auto">
            <a:xfrm>
              <a:off x="3338" y="225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8" name="Oval 238"/>
            <p:cNvSpPr>
              <a:spLocks noChangeArrowheads="1"/>
            </p:cNvSpPr>
            <p:nvPr/>
          </p:nvSpPr>
          <p:spPr bwMode="auto">
            <a:xfrm>
              <a:off x="340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49" name="Oval 239"/>
            <p:cNvSpPr>
              <a:spLocks noChangeArrowheads="1"/>
            </p:cNvSpPr>
            <p:nvPr/>
          </p:nvSpPr>
          <p:spPr bwMode="auto">
            <a:xfrm>
              <a:off x="348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50" name="Oval 240"/>
            <p:cNvSpPr>
              <a:spLocks noChangeArrowheads="1"/>
            </p:cNvSpPr>
            <p:nvPr/>
          </p:nvSpPr>
          <p:spPr bwMode="auto">
            <a:xfrm>
              <a:off x="355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51" name="Oval 241"/>
            <p:cNvSpPr>
              <a:spLocks noChangeArrowheads="1"/>
            </p:cNvSpPr>
            <p:nvPr/>
          </p:nvSpPr>
          <p:spPr bwMode="auto">
            <a:xfrm>
              <a:off x="362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52" name="Oval 242"/>
            <p:cNvSpPr>
              <a:spLocks noChangeArrowheads="1"/>
            </p:cNvSpPr>
            <p:nvPr/>
          </p:nvSpPr>
          <p:spPr bwMode="auto">
            <a:xfrm>
              <a:off x="369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53" name="Oval 243"/>
            <p:cNvSpPr>
              <a:spLocks noChangeArrowheads="1"/>
            </p:cNvSpPr>
            <p:nvPr/>
          </p:nvSpPr>
          <p:spPr bwMode="auto">
            <a:xfrm>
              <a:off x="377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54" name="Oval 244"/>
            <p:cNvSpPr>
              <a:spLocks noChangeArrowheads="1"/>
            </p:cNvSpPr>
            <p:nvPr/>
          </p:nvSpPr>
          <p:spPr bwMode="auto">
            <a:xfrm>
              <a:off x="384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55" name="Line 245"/>
            <p:cNvSpPr>
              <a:spLocks noChangeShapeType="1"/>
            </p:cNvSpPr>
            <p:nvPr/>
          </p:nvSpPr>
          <p:spPr bwMode="auto">
            <a:xfrm>
              <a:off x="672" y="230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556" name="Text Box 246"/>
            <p:cNvSpPr txBox="1">
              <a:spLocks noChangeArrowheads="1"/>
            </p:cNvSpPr>
            <p:nvPr/>
          </p:nvSpPr>
          <p:spPr bwMode="auto">
            <a:xfrm>
              <a:off x="477" y="1632"/>
              <a:ext cx="349"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hours</a:t>
              </a:r>
            </a:p>
          </p:txBody>
        </p:sp>
        <p:sp>
          <p:nvSpPr>
            <p:cNvPr id="48557" name="Line 247"/>
            <p:cNvSpPr>
              <a:spLocks noChangeShapeType="1"/>
            </p:cNvSpPr>
            <p:nvPr/>
          </p:nvSpPr>
          <p:spPr bwMode="auto">
            <a:xfrm>
              <a:off x="768" y="2112"/>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558" name="Line 248"/>
            <p:cNvSpPr>
              <a:spLocks noChangeShapeType="1"/>
            </p:cNvSpPr>
            <p:nvPr/>
          </p:nvSpPr>
          <p:spPr bwMode="auto">
            <a:xfrm flipV="1">
              <a:off x="768" y="1488"/>
              <a:ext cx="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282" name="Group 250"/>
          <p:cNvGrpSpPr>
            <a:grpSpLocks/>
          </p:cNvGrpSpPr>
          <p:nvPr/>
        </p:nvGrpSpPr>
        <p:grpSpPr bwMode="auto">
          <a:xfrm>
            <a:off x="681038" y="4076700"/>
            <a:ext cx="811212" cy="1752600"/>
            <a:chOff x="478" y="2928"/>
            <a:chExt cx="511" cy="1104"/>
          </a:xfrm>
        </p:grpSpPr>
        <p:sp>
          <p:nvSpPr>
            <p:cNvPr id="48499" name="Line 251"/>
            <p:cNvSpPr>
              <a:spLocks noChangeShapeType="1"/>
            </p:cNvSpPr>
            <p:nvPr/>
          </p:nvSpPr>
          <p:spPr bwMode="auto">
            <a:xfrm>
              <a:off x="912" y="38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8500" name="Group 252"/>
            <p:cNvGrpSpPr>
              <a:grpSpLocks/>
            </p:cNvGrpSpPr>
            <p:nvPr/>
          </p:nvGrpSpPr>
          <p:grpSpPr bwMode="auto">
            <a:xfrm>
              <a:off x="478" y="2928"/>
              <a:ext cx="511" cy="1008"/>
              <a:chOff x="478" y="2928"/>
              <a:chExt cx="511" cy="1008"/>
            </a:xfrm>
          </p:grpSpPr>
          <p:grpSp>
            <p:nvGrpSpPr>
              <p:cNvPr id="48501" name="Group 253"/>
              <p:cNvGrpSpPr>
                <a:grpSpLocks/>
              </p:cNvGrpSpPr>
              <p:nvPr/>
            </p:nvGrpSpPr>
            <p:grpSpPr bwMode="auto">
              <a:xfrm>
                <a:off x="478" y="2928"/>
                <a:ext cx="511" cy="845"/>
                <a:chOff x="478" y="2928"/>
                <a:chExt cx="511" cy="845"/>
              </a:xfrm>
            </p:grpSpPr>
            <p:grpSp>
              <p:nvGrpSpPr>
                <p:cNvPr id="48503" name="Group 254"/>
                <p:cNvGrpSpPr>
                  <a:grpSpLocks/>
                </p:cNvGrpSpPr>
                <p:nvPr/>
              </p:nvGrpSpPr>
              <p:grpSpPr bwMode="auto">
                <a:xfrm>
                  <a:off x="912" y="2928"/>
                  <a:ext cx="77" cy="845"/>
                  <a:chOff x="912" y="2496"/>
                  <a:chExt cx="77" cy="845"/>
                </a:xfrm>
              </p:grpSpPr>
              <p:sp>
                <p:nvSpPr>
                  <p:cNvPr id="48508" name="Oval 255"/>
                  <p:cNvSpPr>
                    <a:spLocks noChangeArrowheads="1"/>
                  </p:cNvSpPr>
                  <p:nvPr/>
                </p:nvSpPr>
                <p:spPr bwMode="auto">
                  <a:xfrm>
                    <a:off x="91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09" name="Oval 256"/>
                  <p:cNvSpPr>
                    <a:spLocks noChangeArrowheads="1"/>
                  </p:cNvSpPr>
                  <p:nvPr/>
                </p:nvSpPr>
                <p:spPr bwMode="auto">
                  <a:xfrm>
                    <a:off x="91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10" name="Oval 257"/>
                  <p:cNvSpPr>
                    <a:spLocks noChangeArrowheads="1"/>
                  </p:cNvSpPr>
                  <p:nvPr/>
                </p:nvSpPr>
                <p:spPr bwMode="auto">
                  <a:xfrm>
                    <a:off x="91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11" name="Oval 258"/>
                  <p:cNvSpPr>
                    <a:spLocks noChangeArrowheads="1"/>
                  </p:cNvSpPr>
                  <p:nvPr/>
                </p:nvSpPr>
                <p:spPr bwMode="auto">
                  <a:xfrm>
                    <a:off x="91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512" name="Oval 259"/>
                  <p:cNvSpPr>
                    <a:spLocks noChangeArrowheads="1"/>
                  </p:cNvSpPr>
                  <p:nvPr/>
                </p:nvSpPr>
                <p:spPr bwMode="auto">
                  <a:xfrm>
                    <a:off x="91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504" name="Line 260"/>
                <p:cNvSpPr>
                  <a:spLocks noChangeShapeType="1"/>
                </p:cNvSpPr>
                <p:nvPr/>
              </p:nvSpPr>
              <p:spPr bwMode="auto">
                <a:xfrm>
                  <a:off x="672" y="292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505" name="Line 261"/>
                <p:cNvSpPr>
                  <a:spLocks noChangeShapeType="1"/>
                </p:cNvSpPr>
                <p:nvPr/>
              </p:nvSpPr>
              <p:spPr bwMode="auto">
                <a:xfrm>
                  <a:off x="672" y="374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48506" name="AutoShape 262"/>
                <p:cNvCxnSpPr>
                  <a:cxnSpLocks noChangeShapeType="1"/>
                </p:cNvCxnSpPr>
                <p:nvPr/>
              </p:nvCxnSpPr>
              <p:spPr bwMode="auto">
                <a:xfrm>
                  <a:off x="768" y="2928"/>
                  <a:ext cx="0" cy="816"/>
                </a:xfrm>
                <a:prstGeom prst="straightConnector1">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507" name="Text Box 263"/>
                <p:cNvSpPr txBox="1">
                  <a:spLocks noChangeArrowheads="1"/>
                </p:cNvSpPr>
                <p:nvPr/>
              </p:nvSpPr>
              <p:spPr bwMode="auto">
                <a:xfrm>
                  <a:off x="478" y="2976"/>
                  <a:ext cx="310" cy="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000" b="1">
                      <a:latin typeface="Times New Roman" panose="02020603050405020304" pitchFamily="18" charset="0"/>
                      <a:ea typeface="宋体" panose="02010600030101010101" pitchFamily="2" charset="-122"/>
                    </a:rPr>
                    <a:t>short time</a:t>
                  </a:r>
                </a:p>
              </p:txBody>
            </p:sp>
          </p:grpSp>
          <p:sp>
            <p:nvSpPr>
              <p:cNvPr id="48502" name="Line 264"/>
              <p:cNvSpPr>
                <a:spLocks noChangeShapeType="1"/>
              </p:cNvSpPr>
              <p:nvPr/>
            </p:nvSpPr>
            <p:spPr bwMode="auto">
              <a:xfrm>
                <a:off x="912"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297" name="Group 265"/>
          <p:cNvGrpSpPr>
            <a:grpSpLocks/>
          </p:cNvGrpSpPr>
          <p:nvPr/>
        </p:nvGrpSpPr>
        <p:grpSpPr bwMode="auto">
          <a:xfrm>
            <a:off x="1446213" y="4076700"/>
            <a:ext cx="960437" cy="1600200"/>
            <a:chOff x="1066" y="1842"/>
            <a:chExt cx="605" cy="1008"/>
          </a:xfrm>
        </p:grpSpPr>
        <p:grpSp>
          <p:nvGrpSpPr>
            <p:cNvPr id="48435" name="Group 266"/>
            <p:cNvGrpSpPr>
              <a:grpSpLocks/>
            </p:cNvGrpSpPr>
            <p:nvPr/>
          </p:nvGrpSpPr>
          <p:grpSpPr bwMode="auto">
            <a:xfrm>
              <a:off x="1066" y="1842"/>
              <a:ext cx="99" cy="1008"/>
              <a:chOff x="960" y="2928"/>
              <a:chExt cx="99" cy="1008"/>
            </a:xfrm>
          </p:grpSpPr>
          <p:grpSp>
            <p:nvGrpSpPr>
              <p:cNvPr id="48492" name="Group 267"/>
              <p:cNvGrpSpPr>
                <a:grpSpLocks/>
              </p:cNvGrpSpPr>
              <p:nvPr/>
            </p:nvGrpSpPr>
            <p:grpSpPr bwMode="auto">
              <a:xfrm>
                <a:off x="982" y="2928"/>
                <a:ext cx="77" cy="845"/>
                <a:chOff x="982" y="2496"/>
                <a:chExt cx="77" cy="845"/>
              </a:xfrm>
            </p:grpSpPr>
            <p:sp>
              <p:nvSpPr>
                <p:cNvPr id="48494" name="Oval 268"/>
                <p:cNvSpPr>
                  <a:spLocks noChangeArrowheads="1"/>
                </p:cNvSpPr>
                <p:nvPr/>
              </p:nvSpPr>
              <p:spPr bwMode="auto">
                <a:xfrm>
                  <a:off x="98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95" name="Oval 269"/>
                <p:cNvSpPr>
                  <a:spLocks noChangeArrowheads="1"/>
                </p:cNvSpPr>
                <p:nvPr/>
              </p:nvSpPr>
              <p:spPr bwMode="auto">
                <a:xfrm>
                  <a:off x="98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96" name="Oval 270"/>
                <p:cNvSpPr>
                  <a:spLocks noChangeArrowheads="1"/>
                </p:cNvSpPr>
                <p:nvPr/>
              </p:nvSpPr>
              <p:spPr bwMode="auto">
                <a:xfrm>
                  <a:off x="98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97" name="Oval 271"/>
                <p:cNvSpPr>
                  <a:spLocks noChangeArrowheads="1"/>
                </p:cNvSpPr>
                <p:nvPr/>
              </p:nvSpPr>
              <p:spPr bwMode="auto">
                <a:xfrm>
                  <a:off x="98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98" name="Oval 272"/>
                <p:cNvSpPr>
                  <a:spLocks noChangeArrowheads="1"/>
                </p:cNvSpPr>
                <p:nvPr/>
              </p:nvSpPr>
              <p:spPr bwMode="auto">
                <a:xfrm>
                  <a:off x="98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93" name="Line 273"/>
              <p:cNvSpPr>
                <a:spLocks noChangeShapeType="1"/>
              </p:cNvSpPr>
              <p:nvPr/>
            </p:nvSpPr>
            <p:spPr bwMode="auto">
              <a:xfrm>
                <a:off x="960"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6" name="Group 274"/>
            <p:cNvGrpSpPr>
              <a:grpSpLocks/>
            </p:cNvGrpSpPr>
            <p:nvPr/>
          </p:nvGrpSpPr>
          <p:grpSpPr bwMode="auto">
            <a:xfrm>
              <a:off x="1114" y="1842"/>
              <a:ext cx="557" cy="1008"/>
              <a:chOff x="1114" y="1842"/>
              <a:chExt cx="557" cy="1008"/>
            </a:xfrm>
          </p:grpSpPr>
          <p:grpSp>
            <p:nvGrpSpPr>
              <p:cNvPr id="48437" name="Group 275"/>
              <p:cNvGrpSpPr>
                <a:grpSpLocks/>
              </p:cNvGrpSpPr>
              <p:nvPr/>
            </p:nvGrpSpPr>
            <p:grpSpPr bwMode="auto">
              <a:xfrm>
                <a:off x="1114" y="1842"/>
                <a:ext cx="125" cy="1008"/>
                <a:chOff x="1008" y="2928"/>
                <a:chExt cx="125" cy="1008"/>
              </a:xfrm>
            </p:grpSpPr>
            <p:grpSp>
              <p:nvGrpSpPr>
                <p:cNvPr id="48485" name="Group 276"/>
                <p:cNvGrpSpPr>
                  <a:grpSpLocks/>
                </p:cNvGrpSpPr>
                <p:nvPr/>
              </p:nvGrpSpPr>
              <p:grpSpPr bwMode="auto">
                <a:xfrm>
                  <a:off x="1056" y="2928"/>
                  <a:ext cx="77" cy="845"/>
                  <a:chOff x="1056" y="2496"/>
                  <a:chExt cx="77" cy="845"/>
                </a:xfrm>
              </p:grpSpPr>
              <p:sp>
                <p:nvSpPr>
                  <p:cNvPr id="48487" name="Oval 277"/>
                  <p:cNvSpPr>
                    <a:spLocks noChangeArrowheads="1"/>
                  </p:cNvSpPr>
                  <p:nvPr/>
                </p:nvSpPr>
                <p:spPr bwMode="auto">
                  <a:xfrm>
                    <a:off x="105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88" name="Oval 278"/>
                  <p:cNvSpPr>
                    <a:spLocks noChangeArrowheads="1"/>
                  </p:cNvSpPr>
                  <p:nvPr/>
                </p:nvSpPr>
                <p:spPr bwMode="auto">
                  <a:xfrm>
                    <a:off x="105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89" name="Oval 279"/>
                  <p:cNvSpPr>
                    <a:spLocks noChangeArrowheads="1"/>
                  </p:cNvSpPr>
                  <p:nvPr/>
                </p:nvSpPr>
                <p:spPr bwMode="auto">
                  <a:xfrm>
                    <a:off x="105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90" name="Oval 280"/>
                  <p:cNvSpPr>
                    <a:spLocks noChangeArrowheads="1"/>
                  </p:cNvSpPr>
                  <p:nvPr/>
                </p:nvSpPr>
                <p:spPr bwMode="auto">
                  <a:xfrm>
                    <a:off x="105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91" name="Oval 281"/>
                  <p:cNvSpPr>
                    <a:spLocks noChangeArrowheads="1"/>
                  </p:cNvSpPr>
                  <p:nvPr/>
                </p:nvSpPr>
                <p:spPr bwMode="auto">
                  <a:xfrm>
                    <a:off x="105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86" name="Line 282"/>
                <p:cNvSpPr>
                  <a:spLocks noChangeShapeType="1"/>
                </p:cNvSpPr>
                <p:nvPr/>
              </p:nvSpPr>
              <p:spPr bwMode="auto">
                <a:xfrm>
                  <a:off x="1008"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8" name="Group 283"/>
              <p:cNvGrpSpPr>
                <a:grpSpLocks/>
              </p:cNvGrpSpPr>
              <p:nvPr/>
            </p:nvGrpSpPr>
            <p:grpSpPr bwMode="auto">
              <a:xfrm>
                <a:off x="1210" y="1842"/>
                <a:ext cx="99" cy="1008"/>
                <a:chOff x="1104" y="2928"/>
                <a:chExt cx="99" cy="1008"/>
              </a:xfrm>
            </p:grpSpPr>
            <p:grpSp>
              <p:nvGrpSpPr>
                <p:cNvPr id="48478" name="Group 284"/>
                <p:cNvGrpSpPr>
                  <a:grpSpLocks/>
                </p:cNvGrpSpPr>
                <p:nvPr/>
              </p:nvGrpSpPr>
              <p:grpSpPr bwMode="auto">
                <a:xfrm>
                  <a:off x="1126" y="2928"/>
                  <a:ext cx="77" cy="845"/>
                  <a:chOff x="1126" y="2496"/>
                  <a:chExt cx="77" cy="845"/>
                </a:xfrm>
              </p:grpSpPr>
              <p:sp>
                <p:nvSpPr>
                  <p:cNvPr id="48480" name="Oval 285"/>
                  <p:cNvSpPr>
                    <a:spLocks noChangeArrowheads="1"/>
                  </p:cNvSpPr>
                  <p:nvPr/>
                </p:nvSpPr>
                <p:spPr bwMode="auto">
                  <a:xfrm>
                    <a:off x="1126"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81" name="Oval 286"/>
                  <p:cNvSpPr>
                    <a:spLocks noChangeArrowheads="1"/>
                  </p:cNvSpPr>
                  <p:nvPr/>
                </p:nvSpPr>
                <p:spPr bwMode="auto">
                  <a:xfrm>
                    <a:off x="112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82" name="Oval 287"/>
                  <p:cNvSpPr>
                    <a:spLocks noChangeArrowheads="1"/>
                  </p:cNvSpPr>
                  <p:nvPr/>
                </p:nvSpPr>
                <p:spPr bwMode="auto">
                  <a:xfrm>
                    <a:off x="112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83" name="Oval 288"/>
                  <p:cNvSpPr>
                    <a:spLocks noChangeArrowheads="1"/>
                  </p:cNvSpPr>
                  <p:nvPr/>
                </p:nvSpPr>
                <p:spPr bwMode="auto">
                  <a:xfrm>
                    <a:off x="1126"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84" name="Oval 289"/>
                  <p:cNvSpPr>
                    <a:spLocks noChangeArrowheads="1"/>
                  </p:cNvSpPr>
                  <p:nvPr/>
                </p:nvSpPr>
                <p:spPr bwMode="auto">
                  <a:xfrm>
                    <a:off x="1126"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grpSp>
            <p:sp>
              <p:nvSpPr>
                <p:cNvPr id="48479" name="Line 290"/>
                <p:cNvSpPr>
                  <a:spLocks noChangeShapeType="1"/>
                </p:cNvSpPr>
                <p:nvPr/>
              </p:nvSpPr>
              <p:spPr bwMode="auto">
                <a:xfrm>
                  <a:off x="110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39" name="Group 291"/>
              <p:cNvGrpSpPr>
                <a:grpSpLocks/>
              </p:cNvGrpSpPr>
              <p:nvPr/>
            </p:nvGrpSpPr>
            <p:grpSpPr bwMode="auto">
              <a:xfrm>
                <a:off x="1306" y="1842"/>
                <a:ext cx="77" cy="1008"/>
                <a:chOff x="1200" y="2928"/>
                <a:chExt cx="77" cy="1008"/>
              </a:xfrm>
            </p:grpSpPr>
            <p:grpSp>
              <p:nvGrpSpPr>
                <p:cNvPr id="48471" name="Group 292"/>
                <p:cNvGrpSpPr>
                  <a:grpSpLocks/>
                </p:cNvGrpSpPr>
                <p:nvPr/>
              </p:nvGrpSpPr>
              <p:grpSpPr bwMode="auto">
                <a:xfrm>
                  <a:off x="1200" y="2928"/>
                  <a:ext cx="77" cy="845"/>
                  <a:chOff x="1200" y="2496"/>
                  <a:chExt cx="77" cy="845"/>
                </a:xfrm>
              </p:grpSpPr>
              <p:sp>
                <p:nvSpPr>
                  <p:cNvPr id="48473" name="Oval 293"/>
                  <p:cNvSpPr>
                    <a:spLocks noChangeArrowheads="1"/>
                  </p:cNvSpPr>
                  <p:nvPr/>
                </p:nvSpPr>
                <p:spPr bwMode="auto">
                  <a:xfrm>
                    <a:off x="120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74" name="Oval 294"/>
                  <p:cNvSpPr>
                    <a:spLocks noChangeArrowheads="1"/>
                  </p:cNvSpPr>
                  <p:nvPr/>
                </p:nvSpPr>
                <p:spPr bwMode="auto">
                  <a:xfrm>
                    <a:off x="120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75" name="Oval 295"/>
                  <p:cNvSpPr>
                    <a:spLocks noChangeArrowheads="1"/>
                  </p:cNvSpPr>
                  <p:nvPr/>
                </p:nvSpPr>
                <p:spPr bwMode="auto">
                  <a:xfrm>
                    <a:off x="120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76" name="Oval 296"/>
                  <p:cNvSpPr>
                    <a:spLocks noChangeArrowheads="1"/>
                  </p:cNvSpPr>
                  <p:nvPr/>
                </p:nvSpPr>
                <p:spPr bwMode="auto">
                  <a:xfrm>
                    <a:off x="120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48477" name="Oval 297"/>
                  <p:cNvSpPr>
                    <a:spLocks noChangeArrowheads="1"/>
                  </p:cNvSpPr>
                  <p:nvPr/>
                </p:nvSpPr>
                <p:spPr bwMode="auto">
                  <a:xfrm>
                    <a:off x="120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grpSp>
            <p:sp>
              <p:nvSpPr>
                <p:cNvPr id="48472" name="Line 298"/>
                <p:cNvSpPr>
                  <a:spLocks noChangeShapeType="1"/>
                </p:cNvSpPr>
                <p:nvPr/>
              </p:nvSpPr>
              <p:spPr bwMode="auto">
                <a:xfrm>
                  <a:off x="1200"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40" name="Group 299"/>
              <p:cNvGrpSpPr>
                <a:grpSpLocks/>
              </p:cNvGrpSpPr>
              <p:nvPr/>
            </p:nvGrpSpPr>
            <p:grpSpPr bwMode="auto">
              <a:xfrm>
                <a:off x="1354" y="1842"/>
                <a:ext cx="99" cy="1008"/>
                <a:chOff x="1248" y="2928"/>
                <a:chExt cx="99" cy="1008"/>
              </a:xfrm>
            </p:grpSpPr>
            <p:grpSp>
              <p:nvGrpSpPr>
                <p:cNvPr id="48464" name="Group 300"/>
                <p:cNvGrpSpPr>
                  <a:grpSpLocks/>
                </p:cNvGrpSpPr>
                <p:nvPr/>
              </p:nvGrpSpPr>
              <p:grpSpPr bwMode="auto">
                <a:xfrm>
                  <a:off x="1270" y="2928"/>
                  <a:ext cx="77" cy="845"/>
                  <a:chOff x="1270" y="2496"/>
                  <a:chExt cx="77" cy="845"/>
                </a:xfrm>
              </p:grpSpPr>
              <p:sp>
                <p:nvSpPr>
                  <p:cNvPr id="48466" name="Oval 301"/>
                  <p:cNvSpPr>
                    <a:spLocks noChangeArrowheads="1"/>
                  </p:cNvSpPr>
                  <p:nvPr/>
                </p:nvSpPr>
                <p:spPr bwMode="auto">
                  <a:xfrm>
                    <a:off x="127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67" name="Oval 302"/>
                  <p:cNvSpPr>
                    <a:spLocks noChangeArrowheads="1"/>
                  </p:cNvSpPr>
                  <p:nvPr/>
                </p:nvSpPr>
                <p:spPr bwMode="auto">
                  <a:xfrm>
                    <a:off x="127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68" name="Oval 303"/>
                  <p:cNvSpPr>
                    <a:spLocks noChangeArrowheads="1"/>
                  </p:cNvSpPr>
                  <p:nvPr/>
                </p:nvSpPr>
                <p:spPr bwMode="auto">
                  <a:xfrm>
                    <a:off x="127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69" name="Oval 304"/>
                  <p:cNvSpPr>
                    <a:spLocks noChangeArrowheads="1"/>
                  </p:cNvSpPr>
                  <p:nvPr/>
                </p:nvSpPr>
                <p:spPr bwMode="auto">
                  <a:xfrm>
                    <a:off x="127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70" name="Oval 305"/>
                  <p:cNvSpPr>
                    <a:spLocks noChangeArrowheads="1"/>
                  </p:cNvSpPr>
                  <p:nvPr/>
                </p:nvSpPr>
                <p:spPr bwMode="auto">
                  <a:xfrm>
                    <a:off x="127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65" name="Line 306"/>
                <p:cNvSpPr>
                  <a:spLocks noChangeShapeType="1"/>
                </p:cNvSpPr>
                <p:nvPr/>
              </p:nvSpPr>
              <p:spPr bwMode="auto">
                <a:xfrm>
                  <a:off x="1248"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41" name="Group 307"/>
              <p:cNvGrpSpPr>
                <a:grpSpLocks/>
              </p:cNvGrpSpPr>
              <p:nvPr/>
            </p:nvGrpSpPr>
            <p:grpSpPr bwMode="auto">
              <a:xfrm>
                <a:off x="1450" y="1842"/>
                <a:ext cx="96" cy="1008"/>
                <a:chOff x="1344" y="2928"/>
                <a:chExt cx="96" cy="1008"/>
              </a:xfrm>
            </p:grpSpPr>
            <p:grpSp>
              <p:nvGrpSpPr>
                <p:cNvPr id="48457" name="Group 308"/>
                <p:cNvGrpSpPr>
                  <a:grpSpLocks/>
                </p:cNvGrpSpPr>
                <p:nvPr/>
              </p:nvGrpSpPr>
              <p:grpSpPr bwMode="auto">
                <a:xfrm>
                  <a:off x="1344" y="2928"/>
                  <a:ext cx="77" cy="845"/>
                  <a:chOff x="1344" y="2496"/>
                  <a:chExt cx="77" cy="845"/>
                </a:xfrm>
              </p:grpSpPr>
              <p:sp>
                <p:nvSpPr>
                  <p:cNvPr id="48459" name="Oval 309"/>
                  <p:cNvSpPr>
                    <a:spLocks noChangeArrowheads="1"/>
                  </p:cNvSpPr>
                  <p:nvPr/>
                </p:nvSpPr>
                <p:spPr bwMode="auto">
                  <a:xfrm>
                    <a:off x="134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60" name="Oval 310"/>
                  <p:cNvSpPr>
                    <a:spLocks noChangeArrowheads="1"/>
                  </p:cNvSpPr>
                  <p:nvPr/>
                </p:nvSpPr>
                <p:spPr bwMode="auto">
                  <a:xfrm>
                    <a:off x="134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61" name="Oval 311"/>
                  <p:cNvSpPr>
                    <a:spLocks noChangeArrowheads="1"/>
                  </p:cNvSpPr>
                  <p:nvPr/>
                </p:nvSpPr>
                <p:spPr bwMode="auto">
                  <a:xfrm>
                    <a:off x="134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62" name="Oval 312"/>
                  <p:cNvSpPr>
                    <a:spLocks noChangeArrowheads="1"/>
                  </p:cNvSpPr>
                  <p:nvPr/>
                </p:nvSpPr>
                <p:spPr bwMode="auto">
                  <a:xfrm>
                    <a:off x="134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63" name="Oval 313"/>
                  <p:cNvSpPr>
                    <a:spLocks noChangeArrowheads="1"/>
                  </p:cNvSpPr>
                  <p:nvPr/>
                </p:nvSpPr>
                <p:spPr bwMode="auto">
                  <a:xfrm>
                    <a:off x="134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58" name="Line 314"/>
                <p:cNvSpPr>
                  <a:spLocks noChangeShapeType="1"/>
                </p:cNvSpPr>
                <p:nvPr/>
              </p:nvSpPr>
              <p:spPr bwMode="auto">
                <a:xfrm>
                  <a:off x="134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442" name="Group 315"/>
              <p:cNvGrpSpPr>
                <a:grpSpLocks/>
              </p:cNvGrpSpPr>
              <p:nvPr/>
            </p:nvGrpSpPr>
            <p:grpSpPr bwMode="auto">
              <a:xfrm>
                <a:off x="1520" y="1842"/>
                <a:ext cx="151" cy="1008"/>
                <a:chOff x="1414" y="2928"/>
                <a:chExt cx="151" cy="1008"/>
              </a:xfrm>
            </p:grpSpPr>
            <p:grpSp>
              <p:nvGrpSpPr>
                <p:cNvPr id="48443" name="Group 316"/>
                <p:cNvGrpSpPr>
                  <a:grpSpLocks/>
                </p:cNvGrpSpPr>
                <p:nvPr/>
              </p:nvGrpSpPr>
              <p:grpSpPr bwMode="auto">
                <a:xfrm>
                  <a:off x="1414" y="2928"/>
                  <a:ext cx="77" cy="845"/>
                  <a:chOff x="1414" y="2496"/>
                  <a:chExt cx="77" cy="845"/>
                </a:xfrm>
              </p:grpSpPr>
              <p:sp>
                <p:nvSpPr>
                  <p:cNvPr id="48452" name="Oval 317"/>
                  <p:cNvSpPr>
                    <a:spLocks noChangeArrowheads="1"/>
                  </p:cNvSpPr>
                  <p:nvPr/>
                </p:nvSpPr>
                <p:spPr bwMode="auto">
                  <a:xfrm>
                    <a:off x="141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53" name="Oval 318"/>
                  <p:cNvSpPr>
                    <a:spLocks noChangeArrowheads="1"/>
                  </p:cNvSpPr>
                  <p:nvPr/>
                </p:nvSpPr>
                <p:spPr bwMode="auto">
                  <a:xfrm>
                    <a:off x="141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54" name="Oval 319"/>
                  <p:cNvSpPr>
                    <a:spLocks noChangeArrowheads="1"/>
                  </p:cNvSpPr>
                  <p:nvPr/>
                </p:nvSpPr>
                <p:spPr bwMode="auto">
                  <a:xfrm>
                    <a:off x="141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55" name="Oval 320"/>
                  <p:cNvSpPr>
                    <a:spLocks noChangeArrowheads="1"/>
                  </p:cNvSpPr>
                  <p:nvPr/>
                </p:nvSpPr>
                <p:spPr bwMode="auto">
                  <a:xfrm>
                    <a:off x="141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56" name="Oval 321"/>
                  <p:cNvSpPr>
                    <a:spLocks noChangeArrowheads="1"/>
                  </p:cNvSpPr>
                  <p:nvPr/>
                </p:nvSpPr>
                <p:spPr bwMode="auto">
                  <a:xfrm>
                    <a:off x="141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grpSp>
              <p:nvGrpSpPr>
                <p:cNvPr id="48444" name="Group 322"/>
                <p:cNvGrpSpPr>
                  <a:grpSpLocks/>
                </p:cNvGrpSpPr>
                <p:nvPr/>
              </p:nvGrpSpPr>
              <p:grpSpPr bwMode="auto">
                <a:xfrm>
                  <a:off x="1440" y="2928"/>
                  <a:ext cx="125" cy="1008"/>
                  <a:chOff x="1440" y="2928"/>
                  <a:chExt cx="125" cy="1008"/>
                </a:xfrm>
              </p:grpSpPr>
              <p:grpSp>
                <p:nvGrpSpPr>
                  <p:cNvPr id="48445" name="Group 323"/>
                  <p:cNvGrpSpPr>
                    <a:grpSpLocks/>
                  </p:cNvGrpSpPr>
                  <p:nvPr/>
                </p:nvGrpSpPr>
                <p:grpSpPr bwMode="auto">
                  <a:xfrm>
                    <a:off x="1488" y="2928"/>
                    <a:ext cx="77" cy="845"/>
                    <a:chOff x="1488" y="2496"/>
                    <a:chExt cx="77" cy="845"/>
                  </a:xfrm>
                </p:grpSpPr>
                <p:sp>
                  <p:nvSpPr>
                    <p:cNvPr id="48447" name="Oval 324"/>
                    <p:cNvSpPr>
                      <a:spLocks noChangeArrowheads="1"/>
                    </p:cNvSpPr>
                    <p:nvPr/>
                  </p:nvSpPr>
                  <p:spPr bwMode="auto">
                    <a:xfrm>
                      <a:off x="148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48" name="Oval 325"/>
                    <p:cNvSpPr>
                      <a:spLocks noChangeArrowheads="1"/>
                    </p:cNvSpPr>
                    <p:nvPr/>
                  </p:nvSpPr>
                  <p:spPr bwMode="auto">
                    <a:xfrm>
                      <a:off x="148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49" name="Oval 326"/>
                    <p:cNvSpPr>
                      <a:spLocks noChangeArrowheads="1"/>
                    </p:cNvSpPr>
                    <p:nvPr/>
                  </p:nvSpPr>
                  <p:spPr bwMode="auto">
                    <a:xfrm>
                      <a:off x="148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50" name="Oval 327"/>
                    <p:cNvSpPr>
                      <a:spLocks noChangeArrowheads="1"/>
                    </p:cNvSpPr>
                    <p:nvPr/>
                  </p:nvSpPr>
                  <p:spPr bwMode="auto">
                    <a:xfrm>
                      <a:off x="148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51" name="Oval 328"/>
                    <p:cNvSpPr>
                      <a:spLocks noChangeArrowheads="1"/>
                    </p:cNvSpPr>
                    <p:nvPr/>
                  </p:nvSpPr>
                  <p:spPr bwMode="auto">
                    <a:xfrm>
                      <a:off x="148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46" name="Line 329"/>
                  <p:cNvSpPr>
                    <a:spLocks noChangeShapeType="1"/>
                  </p:cNvSpPr>
                  <p:nvPr/>
                </p:nvSpPr>
                <p:spPr bwMode="auto">
                  <a:xfrm>
                    <a:off x="1440"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grpSp>
        <p:nvGrpSpPr>
          <p:cNvPr id="300362" name="Group 330"/>
          <p:cNvGrpSpPr>
            <a:grpSpLocks/>
          </p:cNvGrpSpPr>
          <p:nvPr/>
        </p:nvGrpSpPr>
        <p:grpSpPr bwMode="auto">
          <a:xfrm>
            <a:off x="2360613" y="4076700"/>
            <a:ext cx="157162" cy="1600200"/>
            <a:chOff x="1536" y="2928"/>
            <a:chExt cx="99" cy="1008"/>
          </a:xfrm>
        </p:grpSpPr>
        <p:grpSp>
          <p:nvGrpSpPr>
            <p:cNvPr id="48428" name="Group 331"/>
            <p:cNvGrpSpPr>
              <a:grpSpLocks/>
            </p:cNvGrpSpPr>
            <p:nvPr/>
          </p:nvGrpSpPr>
          <p:grpSpPr bwMode="auto">
            <a:xfrm>
              <a:off x="1558" y="2928"/>
              <a:ext cx="77" cy="845"/>
              <a:chOff x="1558" y="2496"/>
              <a:chExt cx="77" cy="845"/>
            </a:xfrm>
          </p:grpSpPr>
          <p:sp>
            <p:nvSpPr>
              <p:cNvPr id="48430" name="Oval 332"/>
              <p:cNvSpPr>
                <a:spLocks noChangeArrowheads="1"/>
              </p:cNvSpPr>
              <p:nvPr/>
            </p:nvSpPr>
            <p:spPr bwMode="auto">
              <a:xfrm>
                <a:off x="1558"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31" name="Oval 333"/>
              <p:cNvSpPr>
                <a:spLocks noChangeArrowheads="1"/>
              </p:cNvSpPr>
              <p:nvPr/>
            </p:nvSpPr>
            <p:spPr bwMode="auto">
              <a:xfrm>
                <a:off x="1558"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32" name="Oval 334"/>
              <p:cNvSpPr>
                <a:spLocks noChangeArrowheads="1"/>
              </p:cNvSpPr>
              <p:nvPr/>
            </p:nvSpPr>
            <p:spPr bwMode="auto">
              <a:xfrm>
                <a:off x="1558"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33" name="Oval 335"/>
              <p:cNvSpPr>
                <a:spLocks noChangeArrowheads="1"/>
              </p:cNvSpPr>
              <p:nvPr/>
            </p:nvSpPr>
            <p:spPr bwMode="auto">
              <a:xfrm>
                <a:off x="1558"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34" name="Oval 336"/>
              <p:cNvSpPr>
                <a:spLocks noChangeArrowheads="1"/>
              </p:cNvSpPr>
              <p:nvPr/>
            </p:nvSpPr>
            <p:spPr bwMode="auto">
              <a:xfrm>
                <a:off x="1558"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29" name="Line 337"/>
            <p:cNvSpPr>
              <a:spLocks noChangeShapeType="1"/>
            </p:cNvSpPr>
            <p:nvPr/>
          </p:nvSpPr>
          <p:spPr bwMode="auto">
            <a:xfrm>
              <a:off x="1536"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370" name="Group 338"/>
          <p:cNvGrpSpPr>
            <a:grpSpLocks/>
          </p:cNvGrpSpPr>
          <p:nvPr/>
        </p:nvGrpSpPr>
        <p:grpSpPr bwMode="auto">
          <a:xfrm>
            <a:off x="2513013" y="4076700"/>
            <a:ext cx="919162" cy="1600200"/>
            <a:chOff x="1738" y="1842"/>
            <a:chExt cx="579" cy="1008"/>
          </a:xfrm>
        </p:grpSpPr>
        <p:grpSp>
          <p:nvGrpSpPr>
            <p:cNvPr id="48370" name="Group 339"/>
            <p:cNvGrpSpPr>
              <a:grpSpLocks/>
            </p:cNvGrpSpPr>
            <p:nvPr/>
          </p:nvGrpSpPr>
          <p:grpSpPr bwMode="auto">
            <a:xfrm>
              <a:off x="1738" y="1842"/>
              <a:ext cx="77" cy="1008"/>
              <a:chOff x="1632" y="2928"/>
              <a:chExt cx="77" cy="1008"/>
            </a:xfrm>
          </p:grpSpPr>
          <p:grpSp>
            <p:nvGrpSpPr>
              <p:cNvPr id="48421" name="Group 340"/>
              <p:cNvGrpSpPr>
                <a:grpSpLocks/>
              </p:cNvGrpSpPr>
              <p:nvPr/>
            </p:nvGrpSpPr>
            <p:grpSpPr bwMode="auto">
              <a:xfrm>
                <a:off x="1632" y="2928"/>
                <a:ext cx="77" cy="845"/>
                <a:chOff x="1632" y="2496"/>
                <a:chExt cx="77" cy="845"/>
              </a:xfrm>
            </p:grpSpPr>
            <p:sp>
              <p:nvSpPr>
                <p:cNvPr id="48423" name="Oval 341"/>
                <p:cNvSpPr>
                  <a:spLocks noChangeArrowheads="1"/>
                </p:cNvSpPr>
                <p:nvPr/>
              </p:nvSpPr>
              <p:spPr bwMode="auto">
                <a:xfrm>
                  <a:off x="163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24" name="Oval 342"/>
                <p:cNvSpPr>
                  <a:spLocks noChangeArrowheads="1"/>
                </p:cNvSpPr>
                <p:nvPr/>
              </p:nvSpPr>
              <p:spPr bwMode="auto">
                <a:xfrm>
                  <a:off x="163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25" name="Oval 343"/>
                <p:cNvSpPr>
                  <a:spLocks noChangeArrowheads="1"/>
                </p:cNvSpPr>
                <p:nvPr/>
              </p:nvSpPr>
              <p:spPr bwMode="auto">
                <a:xfrm>
                  <a:off x="163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26" name="Oval 344"/>
                <p:cNvSpPr>
                  <a:spLocks noChangeArrowheads="1"/>
                </p:cNvSpPr>
                <p:nvPr/>
              </p:nvSpPr>
              <p:spPr bwMode="auto">
                <a:xfrm>
                  <a:off x="163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27" name="Oval 345"/>
                <p:cNvSpPr>
                  <a:spLocks noChangeArrowheads="1"/>
                </p:cNvSpPr>
                <p:nvPr/>
              </p:nvSpPr>
              <p:spPr bwMode="auto">
                <a:xfrm>
                  <a:off x="163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22" name="Line 346"/>
              <p:cNvSpPr>
                <a:spLocks noChangeShapeType="1"/>
              </p:cNvSpPr>
              <p:nvPr/>
            </p:nvSpPr>
            <p:spPr bwMode="auto">
              <a:xfrm>
                <a:off x="1632"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371" name="Group 347"/>
            <p:cNvGrpSpPr>
              <a:grpSpLocks/>
            </p:cNvGrpSpPr>
            <p:nvPr/>
          </p:nvGrpSpPr>
          <p:grpSpPr bwMode="auto">
            <a:xfrm>
              <a:off x="1786" y="1842"/>
              <a:ext cx="99" cy="1008"/>
              <a:chOff x="1680" y="2928"/>
              <a:chExt cx="99" cy="1008"/>
            </a:xfrm>
          </p:grpSpPr>
          <p:grpSp>
            <p:nvGrpSpPr>
              <p:cNvPr id="48414" name="Group 348"/>
              <p:cNvGrpSpPr>
                <a:grpSpLocks/>
              </p:cNvGrpSpPr>
              <p:nvPr/>
            </p:nvGrpSpPr>
            <p:grpSpPr bwMode="auto">
              <a:xfrm>
                <a:off x="1702" y="2928"/>
                <a:ext cx="77" cy="845"/>
                <a:chOff x="1702" y="2496"/>
                <a:chExt cx="77" cy="845"/>
              </a:xfrm>
            </p:grpSpPr>
            <p:sp>
              <p:nvSpPr>
                <p:cNvPr id="48416" name="Oval 349"/>
                <p:cNvSpPr>
                  <a:spLocks noChangeArrowheads="1"/>
                </p:cNvSpPr>
                <p:nvPr/>
              </p:nvSpPr>
              <p:spPr bwMode="auto">
                <a:xfrm>
                  <a:off x="170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17" name="Oval 350"/>
                <p:cNvSpPr>
                  <a:spLocks noChangeArrowheads="1"/>
                </p:cNvSpPr>
                <p:nvPr/>
              </p:nvSpPr>
              <p:spPr bwMode="auto">
                <a:xfrm>
                  <a:off x="170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18" name="Oval 351"/>
                <p:cNvSpPr>
                  <a:spLocks noChangeArrowheads="1"/>
                </p:cNvSpPr>
                <p:nvPr/>
              </p:nvSpPr>
              <p:spPr bwMode="auto">
                <a:xfrm>
                  <a:off x="170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19" name="Oval 352"/>
                <p:cNvSpPr>
                  <a:spLocks noChangeArrowheads="1"/>
                </p:cNvSpPr>
                <p:nvPr/>
              </p:nvSpPr>
              <p:spPr bwMode="auto">
                <a:xfrm>
                  <a:off x="170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20" name="Oval 353"/>
                <p:cNvSpPr>
                  <a:spLocks noChangeArrowheads="1"/>
                </p:cNvSpPr>
                <p:nvPr/>
              </p:nvSpPr>
              <p:spPr bwMode="auto">
                <a:xfrm>
                  <a:off x="170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15" name="Line 354"/>
              <p:cNvSpPr>
                <a:spLocks noChangeShapeType="1"/>
              </p:cNvSpPr>
              <p:nvPr/>
            </p:nvSpPr>
            <p:spPr bwMode="auto">
              <a:xfrm>
                <a:off x="1680"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372" name="Group 355"/>
            <p:cNvGrpSpPr>
              <a:grpSpLocks/>
            </p:cNvGrpSpPr>
            <p:nvPr/>
          </p:nvGrpSpPr>
          <p:grpSpPr bwMode="auto">
            <a:xfrm>
              <a:off x="1882" y="1842"/>
              <a:ext cx="77" cy="1008"/>
              <a:chOff x="1776" y="2928"/>
              <a:chExt cx="77" cy="1008"/>
            </a:xfrm>
          </p:grpSpPr>
          <p:grpSp>
            <p:nvGrpSpPr>
              <p:cNvPr id="48407" name="Group 356"/>
              <p:cNvGrpSpPr>
                <a:grpSpLocks/>
              </p:cNvGrpSpPr>
              <p:nvPr/>
            </p:nvGrpSpPr>
            <p:grpSpPr bwMode="auto">
              <a:xfrm>
                <a:off x="1776" y="2928"/>
                <a:ext cx="77" cy="845"/>
                <a:chOff x="1776" y="2496"/>
                <a:chExt cx="77" cy="845"/>
              </a:xfrm>
            </p:grpSpPr>
            <p:sp>
              <p:nvSpPr>
                <p:cNvPr id="48409" name="Oval 357"/>
                <p:cNvSpPr>
                  <a:spLocks noChangeArrowheads="1"/>
                </p:cNvSpPr>
                <p:nvPr/>
              </p:nvSpPr>
              <p:spPr bwMode="auto">
                <a:xfrm>
                  <a:off x="177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10" name="Oval 358"/>
                <p:cNvSpPr>
                  <a:spLocks noChangeArrowheads="1"/>
                </p:cNvSpPr>
                <p:nvPr/>
              </p:nvSpPr>
              <p:spPr bwMode="auto">
                <a:xfrm>
                  <a:off x="177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11" name="Oval 359"/>
                <p:cNvSpPr>
                  <a:spLocks noChangeArrowheads="1"/>
                </p:cNvSpPr>
                <p:nvPr/>
              </p:nvSpPr>
              <p:spPr bwMode="auto">
                <a:xfrm>
                  <a:off x="177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12" name="Oval 360"/>
                <p:cNvSpPr>
                  <a:spLocks noChangeArrowheads="1"/>
                </p:cNvSpPr>
                <p:nvPr/>
              </p:nvSpPr>
              <p:spPr bwMode="auto">
                <a:xfrm>
                  <a:off x="177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13" name="Oval 361"/>
                <p:cNvSpPr>
                  <a:spLocks noChangeArrowheads="1"/>
                </p:cNvSpPr>
                <p:nvPr/>
              </p:nvSpPr>
              <p:spPr bwMode="auto">
                <a:xfrm>
                  <a:off x="177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08" name="Line 362"/>
              <p:cNvSpPr>
                <a:spLocks noChangeShapeType="1"/>
              </p:cNvSpPr>
              <p:nvPr/>
            </p:nvSpPr>
            <p:spPr bwMode="auto">
              <a:xfrm>
                <a:off x="1776"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373" name="Group 363"/>
            <p:cNvGrpSpPr>
              <a:grpSpLocks/>
            </p:cNvGrpSpPr>
            <p:nvPr/>
          </p:nvGrpSpPr>
          <p:grpSpPr bwMode="auto">
            <a:xfrm>
              <a:off x="1930" y="1842"/>
              <a:ext cx="99" cy="1008"/>
              <a:chOff x="1824" y="2928"/>
              <a:chExt cx="99" cy="1008"/>
            </a:xfrm>
          </p:grpSpPr>
          <p:grpSp>
            <p:nvGrpSpPr>
              <p:cNvPr id="48400" name="Group 364"/>
              <p:cNvGrpSpPr>
                <a:grpSpLocks/>
              </p:cNvGrpSpPr>
              <p:nvPr/>
            </p:nvGrpSpPr>
            <p:grpSpPr bwMode="auto">
              <a:xfrm>
                <a:off x="1846" y="2928"/>
                <a:ext cx="77" cy="845"/>
                <a:chOff x="1846" y="2496"/>
                <a:chExt cx="77" cy="845"/>
              </a:xfrm>
            </p:grpSpPr>
            <p:sp>
              <p:nvSpPr>
                <p:cNvPr id="48402" name="Oval 365"/>
                <p:cNvSpPr>
                  <a:spLocks noChangeArrowheads="1"/>
                </p:cNvSpPr>
                <p:nvPr/>
              </p:nvSpPr>
              <p:spPr bwMode="auto">
                <a:xfrm>
                  <a:off x="184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03" name="Oval 366"/>
                <p:cNvSpPr>
                  <a:spLocks noChangeArrowheads="1"/>
                </p:cNvSpPr>
                <p:nvPr/>
              </p:nvSpPr>
              <p:spPr bwMode="auto">
                <a:xfrm>
                  <a:off x="184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04" name="Oval 367"/>
                <p:cNvSpPr>
                  <a:spLocks noChangeArrowheads="1"/>
                </p:cNvSpPr>
                <p:nvPr/>
              </p:nvSpPr>
              <p:spPr bwMode="auto">
                <a:xfrm>
                  <a:off x="184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05" name="Oval 368"/>
                <p:cNvSpPr>
                  <a:spLocks noChangeArrowheads="1"/>
                </p:cNvSpPr>
                <p:nvPr/>
              </p:nvSpPr>
              <p:spPr bwMode="auto">
                <a:xfrm>
                  <a:off x="184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406" name="Oval 369"/>
                <p:cNvSpPr>
                  <a:spLocks noChangeArrowheads="1"/>
                </p:cNvSpPr>
                <p:nvPr/>
              </p:nvSpPr>
              <p:spPr bwMode="auto">
                <a:xfrm>
                  <a:off x="184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401" name="Line 370"/>
              <p:cNvSpPr>
                <a:spLocks noChangeShapeType="1"/>
              </p:cNvSpPr>
              <p:nvPr/>
            </p:nvSpPr>
            <p:spPr bwMode="auto">
              <a:xfrm>
                <a:off x="182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374" name="Group 371"/>
            <p:cNvGrpSpPr>
              <a:grpSpLocks/>
            </p:cNvGrpSpPr>
            <p:nvPr/>
          </p:nvGrpSpPr>
          <p:grpSpPr bwMode="auto">
            <a:xfrm>
              <a:off x="2026" y="1842"/>
              <a:ext cx="147" cy="1008"/>
              <a:chOff x="1920" y="2928"/>
              <a:chExt cx="147" cy="1008"/>
            </a:xfrm>
          </p:grpSpPr>
          <p:grpSp>
            <p:nvGrpSpPr>
              <p:cNvPr id="48388" name="Group 372"/>
              <p:cNvGrpSpPr>
                <a:grpSpLocks/>
              </p:cNvGrpSpPr>
              <p:nvPr/>
            </p:nvGrpSpPr>
            <p:grpSpPr bwMode="auto">
              <a:xfrm>
                <a:off x="1920" y="2928"/>
                <a:ext cx="147" cy="845"/>
                <a:chOff x="1920" y="2496"/>
                <a:chExt cx="147" cy="845"/>
              </a:xfrm>
            </p:grpSpPr>
            <p:sp>
              <p:nvSpPr>
                <p:cNvPr id="48390" name="Oval 373"/>
                <p:cNvSpPr>
                  <a:spLocks noChangeArrowheads="1"/>
                </p:cNvSpPr>
                <p:nvPr/>
              </p:nvSpPr>
              <p:spPr bwMode="auto">
                <a:xfrm>
                  <a:off x="192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1" name="Oval 374"/>
                <p:cNvSpPr>
                  <a:spLocks noChangeArrowheads="1"/>
                </p:cNvSpPr>
                <p:nvPr/>
              </p:nvSpPr>
              <p:spPr bwMode="auto">
                <a:xfrm>
                  <a:off x="199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2" name="Oval 375"/>
                <p:cNvSpPr>
                  <a:spLocks noChangeArrowheads="1"/>
                </p:cNvSpPr>
                <p:nvPr/>
              </p:nvSpPr>
              <p:spPr bwMode="auto">
                <a:xfrm>
                  <a:off x="192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3" name="Oval 376"/>
                <p:cNvSpPr>
                  <a:spLocks noChangeArrowheads="1"/>
                </p:cNvSpPr>
                <p:nvPr/>
              </p:nvSpPr>
              <p:spPr bwMode="auto">
                <a:xfrm>
                  <a:off x="199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4" name="Oval 377"/>
                <p:cNvSpPr>
                  <a:spLocks noChangeArrowheads="1"/>
                </p:cNvSpPr>
                <p:nvPr/>
              </p:nvSpPr>
              <p:spPr bwMode="auto">
                <a:xfrm>
                  <a:off x="192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5" name="Oval 378"/>
                <p:cNvSpPr>
                  <a:spLocks noChangeArrowheads="1"/>
                </p:cNvSpPr>
                <p:nvPr/>
              </p:nvSpPr>
              <p:spPr bwMode="auto">
                <a:xfrm>
                  <a:off x="199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6" name="Oval 379"/>
                <p:cNvSpPr>
                  <a:spLocks noChangeArrowheads="1"/>
                </p:cNvSpPr>
                <p:nvPr/>
              </p:nvSpPr>
              <p:spPr bwMode="auto">
                <a:xfrm>
                  <a:off x="192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7" name="Oval 380"/>
                <p:cNvSpPr>
                  <a:spLocks noChangeArrowheads="1"/>
                </p:cNvSpPr>
                <p:nvPr/>
              </p:nvSpPr>
              <p:spPr bwMode="auto">
                <a:xfrm>
                  <a:off x="199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8" name="Oval 381"/>
                <p:cNvSpPr>
                  <a:spLocks noChangeArrowheads="1"/>
                </p:cNvSpPr>
                <p:nvPr/>
              </p:nvSpPr>
              <p:spPr bwMode="auto">
                <a:xfrm>
                  <a:off x="192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99" name="Oval 382"/>
                <p:cNvSpPr>
                  <a:spLocks noChangeArrowheads="1"/>
                </p:cNvSpPr>
                <p:nvPr/>
              </p:nvSpPr>
              <p:spPr bwMode="auto">
                <a:xfrm>
                  <a:off x="199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389" name="Line 383"/>
              <p:cNvSpPr>
                <a:spLocks noChangeShapeType="1"/>
              </p:cNvSpPr>
              <p:nvPr/>
            </p:nvSpPr>
            <p:spPr bwMode="auto">
              <a:xfrm>
                <a:off x="1920"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375" name="Group 384"/>
            <p:cNvGrpSpPr>
              <a:grpSpLocks/>
            </p:cNvGrpSpPr>
            <p:nvPr/>
          </p:nvGrpSpPr>
          <p:grpSpPr bwMode="auto">
            <a:xfrm>
              <a:off x="2170" y="1842"/>
              <a:ext cx="147" cy="1008"/>
              <a:chOff x="2064" y="2928"/>
              <a:chExt cx="147" cy="1008"/>
            </a:xfrm>
          </p:grpSpPr>
          <p:grpSp>
            <p:nvGrpSpPr>
              <p:cNvPr id="48376" name="Group 385"/>
              <p:cNvGrpSpPr>
                <a:grpSpLocks/>
              </p:cNvGrpSpPr>
              <p:nvPr/>
            </p:nvGrpSpPr>
            <p:grpSpPr bwMode="auto">
              <a:xfrm>
                <a:off x="2064" y="2928"/>
                <a:ext cx="147" cy="845"/>
                <a:chOff x="2064" y="2496"/>
                <a:chExt cx="147" cy="845"/>
              </a:xfrm>
            </p:grpSpPr>
            <p:sp>
              <p:nvSpPr>
                <p:cNvPr id="48378" name="Oval 386"/>
                <p:cNvSpPr>
                  <a:spLocks noChangeArrowheads="1"/>
                </p:cNvSpPr>
                <p:nvPr/>
              </p:nvSpPr>
              <p:spPr bwMode="auto">
                <a:xfrm>
                  <a:off x="2064"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79" name="Oval 387"/>
                <p:cNvSpPr>
                  <a:spLocks noChangeArrowheads="1"/>
                </p:cNvSpPr>
                <p:nvPr/>
              </p:nvSpPr>
              <p:spPr bwMode="auto">
                <a:xfrm>
                  <a:off x="213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0" name="Oval 388"/>
                <p:cNvSpPr>
                  <a:spLocks noChangeArrowheads="1"/>
                </p:cNvSpPr>
                <p:nvPr/>
              </p:nvSpPr>
              <p:spPr bwMode="auto">
                <a:xfrm>
                  <a:off x="2064"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1" name="Oval 389"/>
                <p:cNvSpPr>
                  <a:spLocks noChangeArrowheads="1"/>
                </p:cNvSpPr>
                <p:nvPr/>
              </p:nvSpPr>
              <p:spPr bwMode="auto">
                <a:xfrm>
                  <a:off x="213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2" name="Oval 390"/>
                <p:cNvSpPr>
                  <a:spLocks noChangeArrowheads="1"/>
                </p:cNvSpPr>
                <p:nvPr/>
              </p:nvSpPr>
              <p:spPr bwMode="auto">
                <a:xfrm>
                  <a:off x="2064"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3" name="Oval 391"/>
                <p:cNvSpPr>
                  <a:spLocks noChangeArrowheads="1"/>
                </p:cNvSpPr>
                <p:nvPr/>
              </p:nvSpPr>
              <p:spPr bwMode="auto">
                <a:xfrm>
                  <a:off x="213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4" name="Oval 392"/>
                <p:cNvSpPr>
                  <a:spLocks noChangeArrowheads="1"/>
                </p:cNvSpPr>
                <p:nvPr/>
              </p:nvSpPr>
              <p:spPr bwMode="auto">
                <a:xfrm>
                  <a:off x="2064"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5" name="Oval 393"/>
                <p:cNvSpPr>
                  <a:spLocks noChangeArrowheads="1"/>
                </p:cNvSpPr>
                <p:nvPr/>
              </p:nvSpPr>
              <p:spPr bwMode="auto">
                <a:xfrm>
                  <a:off x="213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6" name="Oval 394"/>
                <p:cNvSpPr>
                  <a:spLocks noChangeArrowheads="1"/>
                </p:cNvSpPr>
                <p:nvPr/>
              </p:nvSpPr>
              <p:spPr bwMode="auto">
                <a:xfrm>
                  <a:off x="2064"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87" name="Oval 395"/>
                <p:cNvSpPr>
                  <a:spLocks noChangeArrowheads="1"/>
                </p:cNvSpPr>
                <p:nvPr/>
              </p:nvSpPr>
              <p:spPr bwMode="auto">
                <a:xfrm>
                  <a:off x="213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377" name="Line 396"/>
              <p:cNvSpPr>
                <a:spLocks noChangeShapeType="1"/>
              </p:cNvSpPr>
              <p:nvPr/>
            </p:nvSpPr>
            <p:spPr bwMode="auto">
              <a:xfrm>
                <a:off x="2064"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429" name="Group 397"/>
          <p:cNvGrpSpPr>
            <a:grpSpLocks/>
          </p:cNvGrpSpPr>
          <p:nvPr/>
        </p:nvGrpSpPr>
        <p:grpSpPr bwMode="auto">
          <a:xfrm>
            <a:off x="3427413" y="4076700"/>
            <a:ext cx="1066800" cy="1600200"/>
            <a:chOff x="2314" y="1842"/>
            <a:chExt cx="672" cy="1008"/>
          </a:xfrm>
        </p:grpSpPr>
        <p:grpSp>
          <p:nvGrpSpPr>
            <p:cNvPr id="48315" name="Group 398"/>
            <p:cNvGrpSpPr>
              <a:grpSpLocks/>
            </p:cNvGrpSpPr>
            <p:nvPr/>
          </p:nvGrpSpPr>
          <p:grpSpPr bwMode="auto">
            <a:xfrm>
              <a:off x="2314" y="1842"/>
              <a:ext cx="147" cy="1008"/>
              <a:chOff x="2208" y="2928"/>
              <a:chExt cx="147" cy="1008"/>
            </a:xfrm>
          </p:grpSpPr>
          <p:grpSp>
            <p:nvGrpSpPr>
              <p:cNvPr id="48358" name="Group 399"/>
              <p:cNvGrpSpPr>
                <a:grpSpLocks/>
              </p:cNvGrpSpPr>
              <p:nvPr/>
            </p:nvGrpSpPr>
            <p:grpSpPr bwMode="auto">
              <a:xfrm>
                <a:off x="2208" y="2928"/>
                <a:ext cx="147" cy="845"/>
                <a:chOff x="2208" y="2496"/>
                <a:chExt cx="147" cy="845"/>
              </a:xfrm>
            </p:grpSpPr>
            <p:sp>
              <p:nvSpPr>
                <p:cNvPr id="48360" name="Oval 400"/>
                <p:cNvSpPr>
                  <a:spLocks noChangeArrowheads="1"/>
                </p:cNvSpPr>
                <p:nvPr/>
              </p:nvSpPr>
              <p:spPr bwMode="auto">
                <a:xfrm>
                  <a:off x="220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1" name="Oval 401"/>
                <p:cNvSpPr>
                  <a:spLocks noChangeArrowheads="1"/>
                </p:cNvSpPr>
                <p:nvPr/>
              </p:nvSpPr>
              <p:spPr bwMode="auto">
                <a:xfrm>
                  <a:off x="227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2" name="Oval 402"/>
                <p:cNvSpPr>
                  <a:spLocks noChangeArrowheads="1"/>
                </p:cNvSpPr>
                <p:nvPr/>
              </p:nvSpPr>
              <p:spPr bwMode="auto">
                <a:xfrm>
                  <a:off x="220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3" name="Oval 403"/>
                <p:cNvSpPr>
                  <a:spLocks noChangeArrowheads="1"/>
                </p:cNvSpPr>
                <p:nvPr/>
              </p:nvSpPr>
              <p:spPr bwMode="auto">
                <a:xfrm>
                  <a:off x="227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4" name="Oval 404"/>
                <p:cNvSpPr>
                  <a:spLocks noChangeArrowheads="1"/>
                </p:cNvSpPr>
                <p:nvPr/>
              </p:nvSpPr>
              <p:spPr bwMode="auto">
                <a:xfrm>
                  <a:off x="220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5" name="Oval 405"/>
                <p:cNvSpPr>
                  <a:spLocks noChangeArrowheads="1"/>
                </p:cNvSpPr>
                <p:nvPr/>
              </p:nvSpPr>
              <p:spPr bwMode="auto">
                <a:xfrm>
                  <a:off x="227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6" name="Oval 406"/>
                <p:cNvSpPr>
                  <a:spLocks noChangeArrowheads="1"/>
                </p:cNvSpPr>
                <p:nvPr/>
              </p:nvSpPr>
              <p:spPr bwMode="auto">
                <a:xfrm>
                  <a:off x="220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7" name="Oval 407"/>
                <p:cNvSpPr>
                  <a:spLocks noChangeArrowheads="1"/>
                </p:cNvSpPr>
                <p:nvPr/>
              </p:nvSpPr>
              <p:spPr bwMode="auto">
                <a:xfrm>
                  <a:off x="227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8" name="Oval 408"/>
                <p:cNvSpPr>
                  <a:spLocks noChangeArrowheads="1"/>
                </p:cNvSpPr>
                <p:nvPr/>
              </p:nvSpPr>
              <p:spPr bwMode="auto">
                <a:xfrm>
                  <a:off x="220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69" name="Oval 409"/>
                <p:cNvSpPr>
                  <a:spLocks noChangeArrowheads="1"/>
                </p:cNvSpPr>
                <p:nvPr/>
              </p:nvSpPr>
              <p:spPr bwMode="auto">
                <a:xfrm>
                  <a:off x="227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359" name="Line 410"/>
              <p:cNvSpPr>
                <a:spLocks noChangeShapeType="1"/>
              </p:cNvSpPr>
              <p:nvPr/>
            </p:nvSpPr>
            <p:spPr bwMode="auto">
              <a:xfrm>
                <a:off x="2208"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316" name="Group 411"/>
            <p:cNvGrpSpPr>
              <a:grpSpLocks/>
            </p:cNvGrpSpPr>
            <p:nvPr/>
          </p:nvGrpSpPr>
          <p:grpSpPr bwMode="auto">
            <a:xfrm>
              <a:off x="2458" y="1842"/>
              <a:ext cx="291" cy="1008"/>
              <a:chOff x="2352" y="2928"/>
              <a:chExt cx="291" cy="1008"/>
            </a:xfrm>
          </p:grpSpPr>
          <p:grpSp>
            <p:nvGrpSpPr>
              <p:cNvPr id="48335" name="Group 412"/>
              <p:cNvGrpSpPr>
                <a:grpSpLocks/>
              </p:cNvGrpSpPr>
              <p:nvPr/>
            </p:nvGrpSpPr>
            <p:grpSpPr bwMode="auto">
              <a:xfrm>
                <a:off x="2352" y="2928"/>
                <a:ext cx="291" cy="845"/>
                <a:chOff x="2352" y="2496"/>
                <a:chExt cx="291" cy="845"/>
              </a:xfrm>
            </p:grpSpPr>
            <p:sp>
              <p:nvSpPr>
                <p:cNvPr id="48337" name="Oval 413"/>
                <p:cNvSpPr>
                  <a:spLocks noChangeArrowheads="1"/>
                </p:cNvSpPr>
                <p:nvPr/>
              </p:nvSpPr>
              <p:spPr bwMode="auto">
                <a:xfrm>
                  <a:off x="256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38" name="Oval 414"/>
                <p:cNvSpPr>
                  <a:spLocks noChangeArrowheads="1"/>
                </p:cNvSpPr>
                <p:nvPr/>
              </p:nvSpPr>
              <p:spPr bwMode="auto">
                <a:xfrm>
                  <a:off x="256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39" name="Oval 415"/>
                <p:cNvSpPr>
                  <a:spLocks noChangeArrowheads="1"/>
                </p:cNvSpPr>
                <p:nvPr/>
              </p:nvSpPr>
              <p:spPr bwMode="auto">
                <a:xfrm>
                  <a:off x="256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40" name="Oval 416"/>
                <p:cNvSpPr>
                  <a:spLocks noChangeArrowheads="1"/>
                </p:cNvSpPr>
                <p:nvPr/>
              </p:nvSpPr>
              <p:spPr bwMode="auto">
                <a:xfrm>
                  <a:off x="256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nvGrpSpPr>
                <p:cNvPr id="48341" name="Group 417"/>
                <p:cNvGrpSpPr>
                  <a:grpSpLocks/>
                </p:cNvGrpSpPr>
                <p:nvPr/>
              </p:nvGrpSpPr>
              <p:grpSpPr bwMode="auto">
                <a:xfrm>
                  <a:off x="2352" y="2496"/>
                  <a:ext cx="221" cy="845"/>
                  <a:chOff x="2352" y="2496"/>
                  <a:chExt cx="221" cy="845"/>
                </a:xfrm>
              </p:grpSpPr>
              <p:sp>
                <p:nvSpPr>
                  <p:cNvPr id="48343" name="Oval 418"/>
                  <p:cNvSpPr>
                    <a:spLocks noChangeArrowheads="1"/>
                  </p:cNvSpPr>
                  <p:nvPr/>
                </p:nvSpPr>
                <p:spPr bwMode="auto">
                  <a:xfrm>
                    <a:off x="235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44" name="Oval 419"/>
                  <p:cNvSpPr>
                    <a:spLocks noChangeArrowheads="1"/>
                  </p:cNvSpPr>
                  <p:nvPr/>
                </p:nvSpPr>
                <p:spPr bwMode="auto">
                  <a:xfrm>
                    <a:off x="242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45" name="Oval 420"/>
                  <p:cNvSpPr>
                    <a:spLocks noChangeArrowheads="1"/>
                  </p:cNvSpPr>
                  <p:nvPr/>
                </p:nvSpPr>
                <p:spPr bwMode="auto">
                  <a:xfrm>
                    <a:off x="249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46" name="Oval 421"/>
                  <p:cNvSpPr>
                    <a:spLocks noChangeArrowheads="1"/>
                  </p:cNvSpPr>
                  <p:nvPr/>
                </p:nvSpPr>
                <p:spPr bwMode="auto">
                  <a:xfrm>
                    <a:off x="235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47" name="Oval 422"/>
                  <p:cNvSpPr>
                    <a:spLocks noChangeArrowheads="1"/>
                  </p:cNvSpPr>
                  <p:nvPr/>
                </p:nvSpPr>
                <p:spPr bwMode="auto">
                  <a:xfrm>
                    <a:off x="242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48" name="Oval 423"/>
                  <p:cNvSpPr>
                    <a:spLocks noChangeArrowheads="1"/>
                  </p:cNvSpPr>
                  <p:nvPr/>
                </p:nvSpPr>
                <p:spPr bwMode="auto">
                  <a:xfrm>
                    <a:off x="249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49" name="Oval 424"/>
                  <p:cNvSpPr>
                    <a:spLocks noChangeArrowheads="1"/>
                  </p:cNvSpPr>
                  <p:nvPr/>
                </p:nvSpPr>
                <p:spPr bwMode="auto">
                  <a:xfrm>
                    <a:off x="235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0" name="Oval 425"/>
                  <p:cNvSpPr>
                    <a:spLocks noChangeArrowheads="1"/>
                  </p:cNvSpPr>
                  <p:nvPr/>
                </p:nvSpPr>
                <p:spPr bwMode="auto">
                  <a:xfrm>
                    <a:off x="242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1" name="Oval 426"/>
                  <p:cNvSpPr>
                    <a:spLocks noChangeArrowheads="1"/>
                  </p:cNvSpPr>
                  <p:nvPr/>
                </p:nvSpPr>
                <p:spPr bwMode="auto">
                  <a:xfrm>
                    <a:off x="249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2" name="Oval 427"/>
                  <p:cNvSpPr>
                    <a:spLocks noChangeArrowheads="1"/>
                  </p:cNvSpPr>
                  <p:nvPr/>
                </p:nvSpPr>
                <p:spPr bwMode="auto">
                  <a:xfrm>
                    <a:off x="235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3" name="Oval 428"/>
                  <p:cNvSpPr>
                    <a:spLocks noChangeArrowheads="1"/>
                  </p:cNvSpPr>
                  <p:nvPr/>
                </p:nvSpPr>
                <p:spPr bwMode="auto">
                  <a:xfrm>
                    <a:off x="242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4" name="Oval 429"/>
                  <p:cNvSpPr>
                    <a:spLocks noChangeArrowheads="1"/>
                  </p:cNvSpPr>
                  <p:nvPr/>
                </p:nvSpPr>
                <p:spPr bwMode="auto">
                  <a:xfrm>
                    <a:off x="249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5" name="Oval 430"/>
                  <p:cNvSpPr>
                    <a:spLocks noChangeArrowheads="1"/>
                  </p:cNvSpPr>
                  <p:nvPr/>
                </p:nvSpPr>
                <p:spPr bwMode="auto">
                  <a:xfrm>
                    <a:off x="235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6" name="Oval 431"/>
                  <p:cNvSpPr>
                    <a:spLocks noChangeArrowheads="1"/>
                  </p:cNvSpPr>
                  <p:nvPr/>
                </p:nvSpPr>
                <p:spPr bwMode="auto">
                  <a:xfrm>
                    <a:off x="242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57" name="Oval 432"/>
                  <p:cNvSpPr>
                    <a:spLocks noChangeArrowheads="1"/>
                  </p:cNvSpPr>
                  <p:nvPr/>
                </p:nvSpPr>
                <p:spPr bwMode="auto">
                  <a:xfrm>
                    <a:off x="249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342" name="Oval 433"/>
                <p:cNvSpPr>
                  <a:spLocks noChangeArrowheads="1"/>
                </p:cNvSpPr>
                <p:nvPr/>
              </p:nvSpPr>
              <p:spPr bwMode="auto">
                <a:xfrm>
                  <a:off x="256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336" name="Line 434"/>
              <p:cNvSpPr>
                <a:spLocks noChangeShapeType="1"/>
              </p:cNvSpPr>
              <p:nvPr/>
            </p:nvSpPr>
            <p:spPr bwMode="auto">
              <a:xfrm>
                <a:off x="2352" y="39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317" name="Group 435"/>
            <p:cNvGrpSpPr>
              <a:grpSpLocks/>
            </p:cNvGrpSpPr>
            <p:nvPr/>
          </p:nvGrpSpPr>
          <p:grpSpPr bwMode="auto">
            <a:xfrm>
              <a:off x="2746" y="1842"/>
              <a:ext cx="240" cy="1008"/>
              <a:chOff x="2640" y="2928"/>
              <a:chExt cx="240" cy="1008"/>
            </a:xfrm>
          </p:grpSpPr>
          <p:grpSp>
            <p:nvGrpSpPr>
              <p:cNvPr id="48318" name="Group 436"/>
              <p:cNvGrpSpPr>
                <a:grpSpLocks/>
              </p:cNvGrpSpPr>
              <p:nvPr/>
            </p:nvGrpSpPr>
            <p:grpSpPr bwMode="auto">
              <a:xfrm>
                <a:off x="2640" y="2928"/>
                <a:ext cx="221" cy="845"/>
                <a:chOff x="2640" y="2496"/>
                <a:chExt cx="221" cy="845"/>
              </a:xfrm>
            </p:grpSpPr>
            <p:sp>
              <p:nvSpPr>
                <p:cNvPr id="48320" name="Oval 437"/>
                <p:cNvSpPr>
                  <a:spLocks noChangeArrowheads="1"/>
                </p:cNvSpPr>
                <p:nvPr/>
              </p:nvSpPr>
              <p:spPr bwMode="auto">
                <a:xfrm>
                  <a:off x="264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1" name="Oval 438"/>
                <p:cNvSpPr>
                  <a:spLocks noChangeArrowheads="1"/>
                </p:cNvSpPr>
                <p:nvPr/>
              </p:nvSpPr>
              <p:spPr bwMode="auto">
                <a:xfrm>
                  <a:off x="271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2" name="Oval 439"/>
                <p:cNvSpPr>
                  <a:spLocks noChangeArrowheads="1"/>
                </p:cNvSpPr>
                <p:nvPr/>
              </p:nvSpPr>
              <p:spPr bwMode="auto">
                <a:xfrm>
                  <a:off x="278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3" name="Oval 440"/>
                <p:cNvSpPr>
                  <a:spLocks noChangeArrowheads="1"/>
                </p:cNvSpPr>
                <p:nvPr/>
              </p:nvSpPr>
              <p:spPr bwMode="auto">
                <a:xfrm>
                  <a:off x="264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4" name="Oval 441"/>
                <p:cNvSpPr>
                  <a:spLocks noChangeArrowheads="1"/>
                </p:cNvSpPr>
                <p:nvPr/>
              </p:nvSpPr>
              <p:spPr bwMode="auto">
                <a:xfrm>
                  <a:off x="271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5" name="Oval 442"/>
                <p:cNvSpPr>
                  <a:spLocks noChangeArrowheads="1"/>
                </p:cNvSpPr>
                <p:nvPr/>
              </p:nvSpPr>
              <p:spPr bwMode="auto">
                <a:xfrm>
                  <a:off x="278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6" name="Oval 443"/>
                <p:cNvSpPr>
                  <a:spLocks noChangeArrowheads="1"/>
                </p:cNvSpPr>
                <p:nvPr/>
              </p:nvSpPr>
              <p:spPr bwMode="auto">
                <a:xfrm>
                  <a:off x="264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7" name="Oval 444"/>
                <p:cNvSpPr>
                  <a:spLocks noChangeArrowheads="1"/>
                </p:cNvSpPr>
                <p:nvPr/>
              </p:nvSpPr>
              <p:spPr bwMode="auto">
                <a:xfrm>
                  <a:off x="271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8" name="Oval 445"/>
                <p:cNvSpPr>
                  <a:spLocks noChangeArrowheads="1"/>
                </p:cNvSpPr>
                <p:nvPr/>
              </p:nvSpPr>
              <p:spPr bwMode="auto">
                <a:xfrm>
                  <a:off x="278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29" name="Oval 446"/>
                <p:cNvSpPr>
                  <a:spLocks noChangeArrowheads="1"/>
                </p:cNvSpPr>
                <p:nvPr/>
              </p:nvSpPr>
              <p:spPr bwMode="auto">
                <a:xfrm>
                  <a:off x="264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30" name="Oval 447"/>
                <p:cNvSpPr>
                  <a:spLocks noChangeArrowheads="1"/>
                </p:cNvSpPr>
                <p:nvPr/>
              </p:nvSpPr>
              <p:spPr bwMode="auto">
                <a:xfrm>
                  <a:off x="271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31" name="Oval 448"/>
                <p:cNvSpPr>
                  <a:spLocks noChangeArrowheads="1"/>
                </p:cNvSpPr>
                <p:nvPr/>
              </p:nvSpPr>
              <p:spPr bwMode="auto">
                <a:xfrm>
                  <a:off x="278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32" name="Oval 449"/>
                <p:cNvSpPr>
                  <a:spLocks noChangeArrowheads="1"/>
                </p:cNvSpPr>
                <p:nvPr/>
              </p:nvSpPr>
              <p:spPr bwMode="auto">
                <a:xfrm>
                  <a:off x="264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33" name="Oval 450"/>
                <p:cNvSpPr>
                  <a:spLocks noChangeArrowheads="1"/>
                </p:cNvSpPr>
                <p:nvPr/>
              </p:nvSpPr>
              <p:spPr bwMode="auto">
                <a:xfrm>
                  <a:off x="271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34" name="Oval 451"/>
                <p:cNvSpPr>
                  <a:spLocks noChangeArrowheads="1"/>
                </p:cNvSpPr>
                <p:nvPr/>
              </p:nvSpPr>
              <p:spPr bwMode="auto">
                <a:xfrm>
                  <a:off x="278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319" name="Line 452"/>
              <p:cNvSpPr>
                <a:spLocks noChangeShapeType="1"/>
              </p:cNvSpPr>
              <p:nvPr/>
            </p:nvSpPr>
            <p:spPr bwMode="auto">
              <a:xfrm>
                <a:off x="2640" y="3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485" name="Group 453"/>
          <p:cNvGrpSpPr>
            <a:grpSpLocks/>
          </p:cNvGrpSpPr>
          <p:nvPr/>
        </p:nvGrpSpPr>
        <p:grpSpPr bwMode="auto">
          <a:xfrm>
            <a:off x="4452938" y="4076700"/>
            <a:ext cx="468312" cy="1600200"/>
            <a:chOff x="2854" y="2928"/>
            <a:chExt cx="295" cy="1008"/>
          </a:xfrm>
        </p:grpSpPr>
        <p:grpSp>
          <p:nvGrpSpPr>
            <p:cNvPr id="48293" name="Group 454"/>
            <p:cNvGrpSpPr>
              <a:grpSpLocks/>
            </p:cNvGrpSpPr>
            <p:nvPr/>
          </p:nvGrpSpPr>
          <p:grpSpPr bwMode="auto">
            <a:xfrm>
              <a:off x="2854" y="2928"/>
              <a:ext cx="295" cy="845"/>
              <a:chOff x="2854" y="2496"/>
              <a:chExt cx="295" cy="845"/>
            </a:xfrm>
          </p:grpSpPr>
          <p:sp>
            <p:nvSpPr>
              <p:cNvPr id="48295" name="Oval 455"/>
              <p:cNvSpPr>
                <a:spLocks noChangeArrowheads="1"/>
              </p:cNvSpPr>
              <p:nvPr/>
            </p:nvSpPr>
            <p:spPr bwMode="auto">
              <a:xfrm>
                <a:off x="2854"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96" name="Oval 456"/>
              <p:cNvSpPr>
                <a:spLocks noChangeArrowheads="1"/>
              </p:cNvSpPr>
              <p:nvPr/>
            </p:nvSpPr>
            <p:spPr bwMode="auto">
              <a:xfrm>
                <a:off x="292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97" name="Oval 457"/>
              <p:cNvSpPr>
                <a:spLocks noChangeArrowheads="1"/>
              </p:cNvSpPr>
              <p:nvPr/>
            </p:nvSpPr>
            <p:spPr bwMode="auto">
              <a:xfrm>
                <a:off x="299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98" name="Oval 458"/>
              <p:cNvSpPr>
                <a:spLocks noChangeArrowheads="1"/>
              </p:cNvSpPr>
              <p:nvPr/>
            </p:nvSpPr>
            <p:spPr bwMode="auto">
              <a:xfrm>
                <a:off x="307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99" name="Oval 459"/>
              <p:cNvSpPr>
                <a:spLocks noChangeArrowheads="1"/>
              </p:cNvSpPr>
              <p:nvPr/>
            </p:nvSpPr>
            <p:spPr bwMode="auto">
              <a:xfrm>
                <a:off x="2854"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0" name="Oval 460"/>
              <p:cNvSpPr>
                <a:spLocks noChangeArrowheads="1"/>
              </p:cNvSpPr>
              <p:nvPr/>
            </p:nvSpPr>
            <p:spPr bwMode="auto">
              <a:xfrm>
                <a:off x="292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1" name="Oval 461"/>
              <p:cNvSpPr>
                <a:spLocks noChangeArrowheads="1"/>
              </p:cNvSpPr>
              <p:nvPr/>
            </p:nvSpPr>
            <p:spPr bwMode="auto">
              <a:xfrm>
                <a:off x="299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2" name="Oval 462"/>
              <p:cNvSpPr>
                <a:spLocks noChangeArrowheads="1"/>
              </p:cNvSpPr>
              <p:nvPr/>
            </p:nvSpPr>
            <p:spPr bwMode="auto">
              <a:xfrm>
                <a:off x="307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3" name="Oval 463"/>
              <p:cNvSpPr>
                <a:spLocks noChangeArrowheads="1"/>
              </p:cNvSpPr>
              <p:nvPr/>
            </p:nvSpPr>
            <p:spPr bwMode="auto">
              <a:xfrm>
                <a:off x="2854"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4" name="Oval 464"/>
              <p:cNvSpPr>
                <a:spLocks noChangeArrowheads="1"/>
              </p:cNvSpPr>
              <p:nvPr/>
            </p:nvSpPr>
            <p:spPr bwMode="auto">
              <a:xfrm>
                <a:off x="292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5" name="Oval 465"/>
              <p:cNvSpPr>
                <a:spLocks noChangeArrowheads="1"/>
              </p:cNvSpPr>
              <p:nvPr/>
            </p:nvSpPr>
            <p:spPr bwMode="auto">
              <a:xfrm>
                <a:off x="299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6" name="Oval 466"/>
              <p:cNvSpPr>
                <a:spLocks noChangeArrowheads="1"/>
              </p:cNvSpPr>
              <p:nvPr/>
            </p:nvSpPr>
            <p:spPr bwMode="auto">
              <a:xfrm>
                <a:off x="307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7" name="Oval 467"/>
              <p:cNvSpPr>
                <a:spLocks noChangeArrowheads="1"/>
              </p:cNvSpPr>
              <p:nvPr/>
            </p:nvSpPr>
            <p:spPr bwMode="auto">
              <a:xfrm>
                <a:off x="2854"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8" name="Oval 468"/>
              <p:cNvSpPr>
                <a:spLocks noChangeArrowheads="1"/>
              </p:cNvSpPr>
              <p:nvPr/>
            </p:nvSpPr>
            <p:spPr bwMode="auto">
              <a:xfrm>
                <a:off x="292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09" name="Oval 469"/>
              <p:cNvSpPr>
                <a:spLocks noChangeArrowheads="1"/>
              </p:cNvSpPr>
              <p:nvPr/>
            </p:nvSpPr>
            <p:spPr bwMode="auto">
              <a:xfrm>
                <a:off x="299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10" name="Oval 470"/>
              <p:cNvSpPr>
                <a:spLocks noChangeArrowheads="1"/>
              </p:cNvSpPr>
              <p:nvPr/>
            </p:nvSpPr>
            <p:spPr bwMode="auto">
              <a:xfrm>
                <a:off x="307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11" name="Oval 471"/>
              <p:cNvSpPr>
                <a:spLocks noChangeArrowheads="1"/>
              </p:cNvSpPr>
              <p:nvPr/>
            </p:nvSpPr>
            <p:spPr bwMode="auto">
              <a:xfrm>
                <a:off x="2854"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12" name="Oval 472"/>
              <p:cNvSpPr>
                <a:spLocks noChangeArrowheads="1"/>
              </p:cNvSpPr>
              <p:nvPr/>
            </p:nvSpPr>
            <p:spPr bwMode="auto">
              <a:xfrm>
                <a:off x="292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13" name="Oval 473"/>
              <p:cNvSpPr>
                <a:spLocks noChangeArrowheads="1"/>
              </p:cNvSpPr>
              <p:nvPr/>
            </p:nvSpPr>
            <p:spPr bwMode="auto">
              <a:xfrm>
                <a:off x="299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314" name="Oval 474"/>
              <p:cNvSpPr>
                <a:spLocks noChangeArrowheads="1"/>
              </p:cNvSpPr>
              <p:nvPr/>
            </p:nvSpPr>
            <p:spPr bwMode="auto">
              <a:xfrm>
                <a:off x="307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294" name="Line 475"/>
            <p:cNvSpPr>
              <a:spLocks noChangeShapeType="1"/>
            </p:cNvSpPr>
            <p:nvPr/>
          </p:nvSpPr>
          <p:spPr bwMode="auto">
            <a:xfrm>
              <a:off x="2880" y="3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508" name="Group 476"/>
          <p:cNvGrpSpPr>
            <a:grpSpLocks/>
          </p:cNvGrpSpPr>
          <p:nvPr/>
        </p:nvGrpSpPr>
        <p:grpSpPr bwMode="auto">
          <a:xfrm>
            <a:off x="4875213" y="4076700"/>
            <a:ext cx="842962" cy="1600200"/>
            <a:chOff x="3226" y="1842"/>
            <a:chExt cx="531" cy="1008"/>
          </a:xfrm>
        </p:grpSpPr>
        <p:grpSp>
          <p:nvGrpSpPr>
            <p:cNvPr id="48252" name="Group 477"/>
            <p:cNvGrpSpPr>
              <a:grpSpLocks/>
            </p:cNvGrpSpPr>
            <p:nvPr/>
          </p:nvGrpSpPr>
          <p:grpSpPr bwMode="auto">
            <a:xfrm>
              <a:off x="3226" y="1842"/>
              <a:ext cx="336" cy="1008"/>
              <a:chOff x="3120" y="2928"/>
              <a:chExt cx="336" cy="1008"/>
            </a:xfrm>
          </p:grpSpPr>
          <p:grpSp>
            <p:nvGrpSpPr>
              <p:cNvPr id="48271" name="Group 478"/>
              <p:cNvGrpSpPr>
                <a:grpSpLocks/>
              </p:cNvGrpSpPr>
              <p:nvPr/>
            </p:nvGrpSpPr>
            <p:grpSpPr bwMode="auto">
              <a:xfrm>
                <a:off x="3142" y="2928"/>
                <a:ext cx="295" cy="845"/>
                <a:chOff x="3142" y="2496"/>
                <a:chExt cx="295" cy="845"/>
              </a:xfrm>
            </p:grpSpPr>
            <p:sp>
              <p:nvSpPr>
                <p:cNvPr id="48273" name="Oval 479"/>
                <p:cNvSpPr>
                  <a:spLocks noChangeArrowheads="1"/>
                </p:cNvSpPr>
                <p:nvPr/>
              </p:nvSpPr>
              <p:spPr bwMode="auto">
                <a:xfrm>
                  <a:off x="314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74" name="Oval 480"/>
                <p:cNvSpPr>
                  <a:spLocks noChangeArrowheads="1"/>
                </p:cNvSpPr>
                <p:nvPr/>
              </p:nvSpPr>
              <p:spPr bwMode="auto">
                <a:xfrm>
                  <a:off x="321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75" name="Oval 481"/>
                <p:cNvSpPr>
                  <a:spLocks noChangeArrowheads="1"/>
                </p:cNvSpPr>
                <p:nvPr/>
              </p:nvSpPr>
              <p:spPr bwMode="auto">
                <a:xfrm>
                  <a:off x="328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76" name="Oval 482"/>
                <p:cNvSpPr>
                  <a:spLocks noChangeArrowheads="1"/>
                </p:cNvSpPr>
                <p:nvPr/>
              </p:nvSpPr>
              <p:spPr bwMode="auto">
                <a:xfrm>
                  <a:off x="3360"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77" name="Oval 483"/>
                <p:cNvSpPr>
                  <a:spLocks noChangeArrowheads="1"/>
                </p:cNvSpPr>
                <p:nvPr/>
              </p:nvSpPr>
              <p:spPr bwMode="auto">
                <a:xfrm>
                  <a:off x="314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78" name="Oval 484"/>
                <p:cNvSpPr>
                  <a:spLocks noChangeArrowheads="1"/>
                </p:cNvSpPr>
                <p:nvPr/>
              </p:nvSpPr>
              <p:spPr bwMode="auto">
                <a:xfrm>
                  <a:off x="321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79" name="Oval 485"/>
                <p:cNvSpPr>
                  <a:spLocks noChangeArrowheads="1"/>
                </p:cNvSpPr>
                <p:nvPr/>
              </p:nvSpPr>
              <p:spPr bwMode="auto">
                <a:xfrm>
                  <a:off x="328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0" name="Oval 486"/>
                <p:cNvSpPr>
                  <a:spLocks noChangeArrowheads="1"/>
                </p:cNvSpPr>
                <p:nvPr/>
              </p:nvSpPr>
              <p:spPr bwMode="auto">
                <a:xfrm>
                  <a:off x="3360"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1" name="Oval 487"/>
                <p:cNvSpPr>
                  <a:spLocks noChangeArrowheads="1"/>
                </p:cNvSpPr>
                <p:nvPr/>
              </p:nvSpPr>
              <p:spPr bwMode="auto">
                <a:xfrm>
                  <a:off x="314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2" name="Oval 488"/>
                <p:cNvSpPr>
                  <a:spLocks noChangeArrowheads="1"/>
                </p:cNvSpPr>
                <p:nvPr/>
              </p:nvSpPr>
              <p:spPr bwMode="auto">
                <a:xfrm>
                  <a:off x="321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3" name="Oval 489"/>
                <p:cNvSpPr>
                  <a:spLocks noChangeArrowheads="1"/>
                </p:cNvSpPr>
                <p:nvPr/>
              </p:nvSpPr>
              <p:spPr bwMode="auto">
                <a:xfrm>
                  <a:off x="328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4" name="Oval 490"/>
                <p:cNvSpPr>
                  <a:spLocks noChangeArrowheads="1"/>
                </p:cNvSpPr>
                <p:nvPr/>
              </p:nvSpPr>
              <p:spPr bwMode="auto">
                <a:xfrm>
                  <a:off x="3360"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5" name="Oval 491"/>
                <p:cNvSpPr>
                  <a:spLocks noChangeArrowheads="1"/>
                </p:cNvSpPr>
                <p:nvPr/>
              </p:nvSpPr>
              <p:spPr bwMode="auto">
                <a:xfrm>
                  <a:off x="314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6" name="Oval 492"/>
                <p:cNvSpPr>
                  <a:spLocks noChangeArrowheads="1"/>
                </p:cNvSpPr>
                <p:nvPr/>
              </p:nvSpPr>
              <p:spPr bwMode="auto">
                <a:xfrm>
                  <a:off x="321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7" name="Oval 493"/>
                <p:cNvSpPr>
                  <a:spLocks noChangeArrowheads="1"/>
                </p:cNvSpPr>
                <p:nvPr/>
              </p:nvSpPr>
              <p:spPr bwMode="auto">
                <a:xfrm>
                  <a:off x="328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8" name="Oval 494"/>
                <p:cNvSpPr>
                  <a:spLocks noChangeArrowheads="1"/>
                </p:cNvSpPr>
                <p:nvPr/>
              </p:nvSpPr>
              <p:spPr bwMode="auto">
                <a:xfrm>
                  <a:off x="3360"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89" name="Oval 495"/>
                <p:cNvSpPr>
                  <a:spLocks noChangeArrowheads="1"/>
                </p:cNvSpPr>
                <p:nvPr/>
              </p:nvSpPr>
              <p:spPr bwMode="auto">
                <a:xfrm>
                  <a:off x="314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90" name="Oval 496"/>
                <p:cNvSpPr>
                  <a:spLocks noChangeArrowheads="1"/>
                </p:cNvSpPr>
                <p:nvPr/>
              </p:nvSpPr>
              <p:spPr bwMode="auto">
                <a:xfrm>
                  <a:off x="321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91" name="Oval 497"/>
                <p:cNvSpPr>
                  <a:spLocks noChangeArrowheads="1"/>
                </p:cNvSpPr>
                <p:nvPr/>
              </p:nvSpPr>
              <p:spPr bwMode="auto">
                <a:xfrm>
                  <a:off x="328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92" name="Oval 498"/>
                <p:cNvSpPr>
                  <a:spLocks noChangeArrowheads="1"/>
                </p:cNvSpPr>
                <p:nvPr/>
              </p:nvSpPr>
              <p:spPr bwMode="auto">
                <a:xfrm>
                  <a:off x="3360"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272" name="Line 499"/>
              <p:cNvSpPr>
                <a:spLocks noChangeShapeType="1"/>
              </p:cNvSpPr>
              <p:nvPr/>
            </p:nvSpPr>
            <p:spPr bwMode="auto">
              <a:xfrm>
                <a:off x="3120" y="393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253" name="Group 500"/>
            <p:cNvGrpSpPr>
              <a:grpSpLocks/>
            </p:cNvGrpSpPr>
            <p:nvPr/>
          </p:nvGrpSpPr>
          <p:grpSpPr bwMode="auto">
            <a:xfrm>
              <a:off x="3536" y="1842"/>
              <a:ext cx="221" cy="1008"/>
              <a:chOff x="3430" y="2928"/>
              <a:chExt cx="221" cy="1008"/>
            </a:xfrm>
          </p:grpSpPr>
          <p:grpSp>
            <p:nvGrpSpPr>
              <p:cNvPr id="48254" name="Group 501"/>
              <p:cNvGrpSpPr>
                <a:grpSpLocks/>
              </p:cNvGrpSpPr>
              <p:nvPr/>
            </p:nvGrpSpPr>
            <p:grpSpPr bwMode="auto">
              <a:xfrm>
                <a:off x="3430" y="2928"/>
                <a:ext cx="221" cy="845"/>
                <a:chOff x="3430" y="2496"/>
                <a:chExt cx="221" cy="845"/>
              </a:xfrm>
            </p:grpSpPr>
            <p:sp>
              <p:nvSpPr>
                <p:cNvPr id="48256" name="Oval 502"/>
                <p:cNvSpPr>
                  <a:spLocks noChangeArrowheads="1"/>
                </p:cNvSpPr>
                <p:nvPr/>
              </p:nvSpPr>
              <p:spPr bwMode="auto">
                <a:xfrm>
                  <a:off x="343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57" name="Oval 503"/>
                <p:cNvSpPr>
                  <a:spLocks noChangeArrowheads="1"/>
                </p:cNvSpPr>
                <p:nvPr/>
              </p:nvSpPr>
              <p:spPr bwMode="auto">
                <a:xfrm>
                  <a:off x="350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58" name="Oval 504"/>
                <p:cNvSpPr>
                  <a:spLocks noChangeArrowheads="1"/>
                </p:cNvSpPr>
                <p:nvPr/>
              </p:nvSpPr>
              <p:spPr bwMode="auto">
                <a:xfrm>
                  <a:off x="357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59" name="Oval 505"/>
                <p:cNvSpPr>
                  <a:spLocks noChangeArrowheads="1"/>
                </p:cNvSpPr>
                <p:nvPr/>
              </p:nvSpPr>
              <p:spPr bwMode="auto">
                <a:xfrm>
                  <a:off x="343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0" name="Oval 506"/>
                <p:cNvSpPr>
                  <a:spLocks noChangeArrowheads="1"/>
                </p:cNvSpPr>
                <p:nvPr/>
              </p:nvSpPr>
              <p:spPr bwMode="auto">
                <a:xfrm>
                  <a:off x="350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1" name="Oval 507"/>
                <p:cNvSpPr>
                  <a:spLocks noChangeArrowheads="1"/>
                </p:cNvSpPr>
                <p:nvPr/>
              </p:nvSpPr>
              <p:spPr bwMode="auto">
                <a:xfrm>
                  <a:off x="357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2" name="Oval 508"/>
                <p:cNvSpPr>
                  <a:spLocks noChangeArrowheads="1"/>
                </p:cNvSpPr>
                <p:nvPr/>
              </p:nvSpPr>
              <p:spPr bwMode="auto">
                <a:xfrm>
                  <a:off x="343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3" name="Oval 509"/>
                <p:cNvSpPr>
                  <a:spLocks noChangeArrowheads="1"/>
                </p:cNvSpPr>
                <p:nvPr/>
              </p:nvSpPr>
              <p:spPr bwMode="auto">
                <a:xfrm>
                  <a:off x="350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4" name="Oval 510"/>
                <p:cNvSpPr>
                  <a:spLocks noChangeArrowheads="1"/>
                </p:cNvSpPr>
                <p:nvPr/>
              </p:nvSpPr>
              <p:spPr bwMode="auto">
                <a:xfrm>
                  <a:off x="357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5" name="Oval 511"/>
                <p:cNvSpPr>
                  <a:spLocks noChangeArrowheads="1"/>
                </p:cNvSpPr>
                <p:nvPr/>
              </p:nvSpPr>
              <p:spPr bwMode="auto">
                <a:xfrm>
                  <a:off x="343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6" name="Oval 512"/>
                <p:cNvSpPr>
                  <a:spLocks noChangeArrowheads="1"/>
                </p:cNvSpPr>
                <p:nvPr/>
              </p:nvSpPr>
              <p:spPr bwMode="auto">
                <a:xfrm>
                  <a:off x="350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7" name="Oval 513"/>
                <p:cNvSpPr>
                  <a:spLocks noChangeArrowheads="1"/>
                </p:cNvSpPr>
                <p:nvPr/>
              </p:nvSpPr>
              <p:spPr bwMode="auto">
                <a:xfrm>
                  <a:off x="357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8" name="Oval 514"/>
                <p:cNvSpPr>
                  <a:spLocks noChangeArrowheads="1"/>
                </p:cNvSpPr>
                <p:nvPr/>
              </p:nvSpPr>
              <p:spPr bwMode="auto">
                <a:xfrm>
                  <a:off x="343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69" name="Oval 515"/>
                <p:cNvSpPr>
                  <a:spLocks noChangeArrowheads="1"/>
                </p:cNvSpPr>
                <p:nvPr/>
              </p:nvSpPr>
              <p:spPr bwMode="auto">
                <a:xfrm>
                  <a:off x="350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70" name="Oval 516"/>
                <p:cNvSpPr>
                  <a:spLocks noChangeArrowheads="1"/>
                </p:cNvSpPr>
                <p:nvPr/>
              </p:nvSpPr>
              <p:spPr bwMode="auto">
                <a:xfrm>
                  <a:off x="357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255" name="Line 517"/>
              <p:cNvSpPr>
                <a:spLocks noChangeShapeType="1"/>
              </p:cNvSpPr>
              <p:nvPr/>
            </p:nvSpPr>
            <p:spPr bwMode="auto">
              <a:xfrm>
                <a:off x="3456" y="393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550" name="Group 518"/>
          <p:cNvGrpSpPr>
            <a:grpSpLocks/>
          </p:cNvGrpSpPr>
          <p:nvPr/>
        </p:nvGrpSpPr>
        <p:grpSpPr bwMode="auto">
          <a:xfrm>
            <a:off x="5713413" y="4076700"/>
            <a:ext cx="1036637" cy="1600200"/>
            <a:chOff x="3754" y="1842"/>
            <a:chExt cx="653" cy="1008"/>
          </a:xfrm>
        </p:grpSpPr>
        <p:grpSp>
          <p:nvGrpSpPr>
            <p:cNvPr id="48201" name="Group 519"/>
            <p:cNvGrpSpPr>
              <a:grpSpLocks/>
            </p:cNvGrpSpPr>
            <p:nvPr/>
          </p:nvGrpSpPr>
          <p:grpSpPr bwMode="auto">
            <a:xfrm>
              <a:off x="3754" y="1842"/>
              <a:ext cx="291" cy="1008"/>
              <a:chOff x="3648" y="2928"/>
              <a:chExt cx="291" cy="1008"/>
            </a:xfrm>
          </p:grpSpPr>
          <p:grpSp>
            <p:nvGrpSpPr>
              <p:cNvPr id="48230" name="Group 520"/>
              <p:cNvGrpSpPr>
                <a:grpSpLocks/>
              </p:cNvGrpSpPr>
              <p:nvPr/>
            </p:nvGrpSpPr>
            <p:grpSpPr bwMode="auto">
              <a:xfrm>
                <a:off x="3648" y="2928"/>
                <a:ext cx="291" cy="845"/>
                <a:chOff x="3648" y="2496"/>
                <a:chExt cx="291" cy="845"/>
              </a:xfrm>
            </p:grpSpPr>
            <p:sp>
              <p:nvSpPr>
                <p:cNvPr id="48232" name="Oval 521"/>
                <p:cNvSpPr>
                  <a:spLocks noChangeArrowheads="1"/>
                </p:cNvSpPr>
                <p:nvPr/>
              </p:nvSpPr>
              <p:spPr bwMode="auto">
                <a:xfrm>
                  <a:off x="364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33" name="Oval 522"/>
                <p:cNvSpPr>
                  <a:spLocks noChangeArrowheads="1"/>
                </p:cNvSpPr>
                <p:nvPr/>
              </p:nvSpPr>
              <p:spPr bwMode="auto">
                <a:xfrm>
                  <a:off x="371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34" name="Oval 523"/>
                <p:cNvSpPr>
                  <a:spLocks noChangeArrowheads="1"/>
                </p:cNvSpPr>
                <p:nvPr/>
              </p:nvSpPr>
              <p:spPr bwMode="auto">
                <a:xfrm>
                  <a:off x="3792"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35" name="Oval 524"/>
                <p:cNvSpPr>
                  <a:spLocks noChangeArrowheads="1"/>
                </p:cNvSpPr>
                <p:nvPr/>
              </p:nvSpPr>
              <p:spPr bwMode="auto">
                <a:xfrm>
                  <a:off x="386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36" name="Oval 525"/>
                <p:cNvSpPr>
                  <a:spLocks noChangeArrowheads="1"/>
                </p:cNvSpPr>
                <p:nvPr/>
              </p:nvSpPr>
              <p:spPr bwMode="auto">
                <a:xfrm>
                  <a:off x="364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37" name="Oval 526"/>
                <p:cNvSpPr>
                  <a:spLocks noChangeArrowheads="1"/>
                </p:cNvSpPr>
                <p:nvPr/>
              </p:nvSpPr>
              <p:spPr bwMode="auto">
                <a:xfrm>
                  <a:off x="371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38" name="Oval 527"/>
                <p:cNvSpPr>
                  <a:spLocks noChangeArrowheads="1"/>
                </p:cNvSpPr>
                <p:nvPr/>
              </p:nvSpPr>
              <p:spPr bwMode="auto">
                <a:xfrm>
                  <a:off x="3792"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39" name="Oval 528"/>
                <p:cNvSpPr>
                  <a:spLocks noChangeArrowheads="1"/>
                </p:cNvSpPr>
                <p:nvPr/>
              </p:nvSpPr>
              <p:spPr bwMode="auto">
                <a:xfrm>
                  <a:off x="386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0" name="Oval 529"/>
                <p:cNvSpPr>
                  <a:spLocks noChangeArrowheads="1"/>
                </p:cNvSpPr>
                <p:nvPr/>
              </p:nvSpPr>
              <p:spPr bwMode="auto">
                <a:xfrm>
                  <a:off x="364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1" name="Oval 530"/>
                <p:cNvSpPr>
                  <a:spLocks noChangeArrowheads="1"/>
                </p:cNvSpPr>
                <p:nvPr/>
              </p:nvSpPr>
              <p:spPr bwMode="auto">
                <a:xfrm>
                  <a:off x="371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2" name="Oval 531"/>
                <p:cNvSpPr>
                  <a:spLocks noChangeArrowheads="1"/>
                </p:cNvSpPr>
                <p:nvPr/>
              </p:nvSpPr>
              <p:spPr bwMode="auto">
                <a:xfrm>
                  <a:off x="3792"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3" name="Oval 532"/>
                <p:cNvSpPr>
                  <a:spLocks noChangeArrowheads="1"/>
                </p:cNvSpPr>
                <p:nvPr/>
              </p:nvSpPr>
              <p:spPr bwMode="auto">
                <a:xfrm>
                  <a:off x="386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4" name="Oval 533"/>
                <p:cNvSpPr>
                  <a:spLocks noChangeArrowheads="1"/>
                </p:cNvSpPr>
                <p:nvPr/>
              </p:nvSpPr>
              <p:spPr bwMode="auto">
                <a:xfrm>
                  <a:off x="364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5" name="Oval 534"/>
                <p:cNvSpPr>
                  <a:spLocks noChangeArrowheads="1"/>
                </p:cNvSpPr>
                <p:nvPr/>
              </p:nvSpPr>
              <p:spPr bwMode="auto">
                <a:xfrm>
                  <a:off x="371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6" name="Oval 535"/>
                <p:cNvSpPr>
                  <a:spLocks noChangeArrowheads="1"/>
                </p:cNvSpPr>
                <p:nvPr/>
              </p:nvSpPr>
              <p:spPr bwMode="auto">
                <a:xfrm>
                  <a:off x="3792"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7" name="Oval 536"/>
                <p:cNvSpPr>
                  <a:spLocks noChangeArrowheads="1"/>
                </p:cNvSpPr>
                <p:nvPr/>
              </p:nvSpPr>
              <p:spPr bwMode="auto">
                <a:xfrm>
                  <a:off x="386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8" name="Oval 537"/>
                <p:cNvSpPr>
                  <a:spLocks noChangeArrowheads="1"/>
                </p:cNvSpPr>
                <p:nvPr/>
              </p:nvSpPr>
              <p:spPr bwMode="auto">
                <a:xfrm>
                  <a:off x="364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49" name="Oval 538"/>
                <p:cNvSpPr>
                  <a:spLocks noChangeArrowheads="1"/>
                </p:cNvSpPr>
                <p:nvPr/>
              </p:nvSpPr>
              <p:spPr bwMode="auto">
                <a:xfrm>
                  <a:off x="371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50" name="Oval 539"/>
                <p:cNvSpPr>
                  <a:spLocks noChangeArrowheads="1"/>
                </p:cNvSpPr>
                <p:nvPr/>
              </p:nvSpPr>
              <p:spPr bwMode="auto">
                <a:xfrm>
                  <a:off x="3792"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51" name="Oval 540"/>
                <p:cNvSpPr>
                  <a:spLocks noChangeArrowheads="1"/>
                </p:cNvSpPr>
                <p:nvPr/>
              </p:nvSpPr>
              <p:spPr bwMode="auto">
                <a:xfrm>
                  <a:off x="386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231" name="Line 541"/>
              <p:cNvSpPr>
                <a:spLocks noChangeShapeType="1"/>
              </p:cNvSpPr>
              <p:nvPr/>
            </p:nvSpPr>
            <p:spPr bwMode="auto">
              <a:xfrm>
                <a:off x="3648" y="39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202" name="Group 542"/>
            <p:cNvGrpSpPr>
              <a:grpSpLocks/>
            </p:cNvGrpSpPr>
            <p:nvPr/>
          </p:nvGrpSpPr>
          <p:grpSpPr bwMode="auto">
            <a:xfrm>
              <a:off x="4042" y="1842"/>
              <a:ext cx="365" cy="1008"/>
              <a:chOff x="3936" y="2928"/>
              <a:chExt cx="365" cy="1008"/>
            </a:xfrm>
          </p:grpSpPr>
          <p:grpSp>
            <p:nvGrpSpPr>
              <p:cNvPr id="48203" name="Group 543"/>
              <p:cNvGrpSpPr>
                <a:grpSpLocks/>
              </p:cNvGrpSpPr>
              <p:nvPr/>
            </p:nvGrpSpPr>
            <p:grpSpPr bwMode="auto">
              <a:xfrm>
                <a:off x="3936" y="2928"/>
                <a:ext cx="365" cy="845"/>
                <a:chOff x="3936" y="2496"/>
                <a:chExt cx="365" cy="845"/>
              </a:xfrm>
            </p:grpSpPr>
            <p:sp>
              <p:nvSpPr>
                <p:cNvPr id="48205" name="Oval 544"/>
                <p:cNvSpPr>
                  <a:spLocks noChangeArrowheads="1"/>
                </p:cNvSpPr>
                <p:nvPr/>
              </p:nvSpPr>
              <p:spPr bwMode="auto">
                <a:xfrm>
                  <a:off x="393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06" name="Oval 545"/>
                <p:cNvSpPr>
                  <a:spLocks noChangeArrowheads="1"/>
                </p:cNvSpPr>
                <p:nvPr/>
              </p:nvSpPr>
              <p:spPr bwMode="auto">
                <a:xfrm>
                  <a:off x="400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07" name="Oval 546"/>
                <p:cNvSpPr>
                  <a:spLocks noChangeArrowheads="1"/>
                </p:cNvSpPr>
                <p:nvPr/>
              </p:nvSpPr>
              <p:spPr bwMode="auto">
                <a:xfrm>
                  <a:off x="408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08" name="Oval 547"/>
                <p:cNvSpPr>
                  <a:spLocks noChangeArrowheads="1"/>
                </p:cNvSpPr>
                <p:nvPr/>
              </p:nvSpPr>
              <p:spPr bwMode="auto">
                <a:xfrm>
                  <a:off x="415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09" name="Oval 548"/>
                <p:cNvSpPr>
                  <a:spLocks noChangeArrowheads="1"/>
                </p:cNvSpPr>
                <p:nvPr/>
              </p:nvSpPr>
              <p:spPr bwMode="auto">
                <a:xfrm>
                  <a:off x="422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0" name="Oval 549"/>
                <p:cNvSpPr>
                  <a:spLocks noChangeArrowheads="1"/>
                </p:cNvSpPr>
                <p:nvPr/>
              </p:nvSpPr>
              <p:spPr bwMode="auto">
                <a:xfrm>
                  <a:off x="393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1" name="Oval 550"/>
                <p:cNvSpPr>
                  <a:spLocks noChangeArrowheads="1"/>
                </p:cNvSpPr>
                <p:nvPr/>
              </p:nvSpPr>
              <p:spPr bwMode="auto">
                <a:xfrm>
                  <a:off x="400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2" name="Oval 551"/>
                <p:cNvSpPr>
                  <a:spLocks noChangeArrowheads="1"/>
                </p:cNvSpPr>
                <p:nvPr/>
              </p:nvSpPr>
              <p:spPr bwMode="auto">
                <a:xfrm>
                  <a:off x="408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3" name="Oval 552"/>
                <p:cNvSpPr>
                  <a:spLocks noChangeArrowheads="1"/>
                </p:cNvSpPr>
                <p:nvPr/>
              </p:nvSpPr>
              <p:spPr bwMode="auto">
                <a:xfrm>
                  <a:off x="415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4" name="Oval 553"/>
                <p:cNvSpPr>
                  <a:spLocks noChangeArrowheads="1"/>
                </p:cNvSpPr>
                <p:nvPr/>
              </p:nvSpPr>
              <p:spPr bwMode="auto">
                <a:xfrm>
                  <a:off x="422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5" name="Oval 554"/>
                <p:cNvSpPr>
                  <a:spLocks noChangeArrowheads="1"/>
                </p:cNvSpPr>
                <p:nvPr/>
              </p:nvSpPr>
              <p:spPr bwMode="auto">
                <a:xfrm>
                  <a:off x="393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6" name="Oval 555"/>
                <p:cNvSpPr>
                  <a:spLocks noChangeArrowheads="1"/>
                </p:cNvSpPr>
                <p:nvPr/>
              </p:nvSpPr>
              <p:spPr bwMode="auto">
                <a:xfrm>
                  <a:off x="400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7" name="Oval 556"/>
                <p:cNvSpPr>
                  <a:spLocks noChangeArrowheads="1"/>
                </p:cNvSpPr>
                <p:nvPr/>
              </p:nvSpPr>
              <p:spPr bwMode="auto">
                <a:xfrm>
                  <a:off x="408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8" name="Oval 557"/>
                <p:cNvSpPr>
                  <a:spLocks noChangeArrowheads="1"/>
                </p:cNvSpPr>
                <p:nvPr/>
              </p:nvSpPr>
              <p:spPr bwMode="auto">
                <a:xfrm>
                  <a:off x="415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19" name="Oval 558"/>
                <p:cNvSpPr>
                  <a:spLocks noChangeArrowheads="1"/>
                </p:cNvSpPr>
                <p:nvPr/>
              </p:nvSpPr>
              <p:spPr bwMode="auto">
                <a:xfrm>
                  <a:off x="422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0" name="Oval 559"/>
                <p:cNvSpPr>
                  <a:spLocks noChangeArrowheads="1"/>
                </p:cNvSpPr>
                <p:nvPr/>
              </p:nvSpPr>
              <p:spPr bwMode="auto">
                <a:xfrm>
                  <a:off x="393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1" name="Oval 560"/>
                <p:cNvSpPr>
                  <a:spLocks noChangeArrowheads="1"/>
                </p:cNvSpPr>
                <p:nvPr/>
              </p:nvSpPr>
              <p:spPr bwMode="auto">
                <a:xfrm>
                  <a:off x="400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2" name="Oval 561"/>
                <p:cNvSpPr>
                  <a:spLocks noChangeArrowheads="1"/>
                </p:cNvSpPr>
                <p:nvPr/>
              </p:nvSpPr>
              <p:spPr bwMode="auto">
                <a:xfrm>
                  <a:off x="408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3" name="Oval 562"/>
                <p:cNvSpPr>
                  <a:spLocks noChangeArrowheads="1"/>
                </p:cNvSpPr>
                <p:nvPr/>
              </p:nvSpPr>
              <p:spPr bwMode="auto">
                <a:xfrm>
                  <a:off x="415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4" name="Oval 563"/>
                <p:cNvSpPr>
                  <a:spLocks noChangeArrowheads="1"/>
                </p:cNvSpPr>
                <p:nvPr/>
              </p:nvSpPr>
              <p:spPr bwMode="auto">
                <a:xfrm>
                  <a:off x="422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5" name="Oval 564"/>
                <p:cNvSpPr>
                  <a:spLocks noChangeArrowheads="1"/>
                </p:cNvSpPr>
                <p:nvPr/>
              </p:nvSpPr>
              <p:spPr bwMode="auto">
                <a:xfrm>
                  <a:off x="393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6" name="Oval 565"/>
                <p:cNvSpPr>
                  <a:spLocks noChangeArrowheads="1"/>
                </p:cNvSpPr>
                <p:nvPr/>
              </p:nvSpPr>
              <p:spPr bwMode="auto">
                <a:xfrm>
                  <a:off x="400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7" name="Oval 566"/>
                <p:cNvSpPr>
                  <a:spLocks noChangeArrowheads="1"/>
                </p:cNvSpPr>
                <p:nvPr/>
              </p:nvSpPr>
              <p:spPr bwMode="auto">
                <a:xfrm>
                  <a:off x="408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8" name="Oval 567"/>
                <p:cNvSpPr>
                  <a:spLocks noChangeArrowheads="1"/>
                </p:cNvSpPr>
                <p:nvPr/>
              </p:nvSpPr>
              <p:spPr bwMode="auto">
                <a:xfrm>
                  <a:off x="415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29" name="Oval 568"/>
                <p:cNvSpPr>
                  <a:spLocks noChangeArrowheads="1"/>
                </p:cNvSpPr>
                <p:nvPr/>
              </p:nvSpPr>
              <p:spPr bwMode="auto">
                <a:xfrm>
                  <a:off x="422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204" name="Line 569"/>
              <p:cNvSpPr>
                <a:spLocks noChangeShapeType="1"/>
              </p:cNvSpPr>
              <p:nvPr/>
            </p:nvSpPr>
            <p:spPr bwMode="auto">
              <a:xfrm>
                <a:off x="3936" y="393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602" name="Group 570"/>
          <p:cNvGrpSpPr>
            <a:grpSpLocks/>
          </p:cNvGrpSpPr>
          <p:nvPr/>
        </p:nvGrpSpPr>
        <p:grpSpPr bwMode="auto">
          <a:xfrm>
            <a:off x="6704013" y="4076700"/>
            <a:ext cx="731837" cy="1600200"/>
            <a:chOff x="4272" y="2928"/>
            <a:chExt cx="461" cy="1008"/>
          </a:xfrm>
        </p:grpSpPr>
        <p:grpSp>
          <p:nvGrpSpPr>
            <p:cNvPr id="48169" name="Group 571"/>
            <p:cNvGrpSpPr>
              <a:grpSpLocks/>
            </p:cNvGrpSpPr>
            <p:nvPr/>
          </p:nvGrpSpPr>
          <p:grpSpPr bwMode="auto">
            <a:xfrm>
              <a:off x="4294" y="2928"/>
              <a:ext cx="439" cy="845"/>
              <a:chOff x="4294" y="2496"/>
              <a:chExt cx="439" cy="845"/>
            </a:xfrm>
          </p:grpSpPr>
          <p:sp>
            <p:nvSpPr>
              <p:cNvPr id="48171" name="Oval 572"/>
              <p:cNvSpPr>
                <a:spLocks noChangeArrowheads="1"/>
              </p:cNvSpPr>
              <p:nvPr/>
            </p:nvSpPr>
            <p:spPr bwMode="auto">
              <a:xfrm>
                <a:off x="429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2" name="Oval 573"/>
              <p:cNvSpPr>
                <a:spLocks noChangeArrowheads="1"/>
              </p:cNvSpPr>
              <p:nvPr/>
            </p:nvSpPr>
            <p:spPr bwMode="auto">
              <a:xfrm>
                <a:off x="436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3" name="Oval 574"/>
              <p:cNvSpPr>
                <a:spLocks noChangeArrowheads="1"/>
              </p:cNvSpPr>
              <p:nvPr/>
            </p:nvSpPr>
            <p:spPr bwMode="auto">
              <a:xfrm>
                <a:off x="443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4" name="Oval 575"/>
              <p:cNvSpPr>
                <a:spLocks noChangeArrowheads="1"/>
              </p:cNvSpPr>
              <p:nvPr/>
            </p:nvSpPr>
            <p:spPr bwMode="auto">
              <a:xfrm>
                <a:off x="451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5" name="Oval 576"/>
              <p:cNvSpPr>
                <a:spLocks noChangeArrowheads="1"/>
              </p:cNvSpPr>
              <p:nvPr/>
            </p:nvSpPr>
            <p:spPr bwMode="auto">
              <a:xfrm>
                <a:off x="458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6" name="Oval 577"/>
              <p:cNvSpPr>
                <a:spLocks noChangeArrowheads="1"/>
              </p:cNvSpPr>
              <p:nvPr/>
            </p:nvSpPr>
            <p:spPr bwMode="auto">
              <a:xfrm>
                <a:off x="465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7" name="Oval 578"/>
              <p:cNvSpPr>
                <a:spLocks noChangeArrowheads="1"/>
              </p:cNvSpPr>
              <p:nvPr/>
            </p:nvSpPr>
            <p:spPr bwMode="auto">
              <a:xfrm>
                <a:off x="429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8" name="Oval 579"/>
              <p:cNvSpPr>
                <a:spLocks noChangeArrowheads="1"/>
              </p:cNvSpPr>
              <p:nvPr/>
            </p:nvSpPr>
            <p:spPr bwMode="auto">
              <a:xfrm>
                <a:off x="436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79" name="Oval 580"/>
              <p:cNvSpPr>
                <a:spLocks noChangeArrowheads="1"/>
              </p:cNvSpPr>
              <p:nvPr/>
            </p:nvSpPr>
            <p:spPr bwMode="auto">
              <a:xfrm>
                <a:off x="443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0" name="Oval 581"/>
              <p:cNvSpPr>
                <a:spLocks noChangeArrowheads="1"/>
              </p:cNvSpPr>
              <p:nvPr/>
            </p:nvSpPr>
            <p:spPr bwMode="auto">
              <a:xfrm>
                <a:off x="451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1" name="Oval 582"/>
              <p:cNvSpPr>
                <a:spLocks noChangeArrowheads="1"/>
              </p:cNvSpPr>
              <p:nvPr/>
            </p:nvSpPr>
            <p:spPr bwMode="auto">
              <a:xfrm>
                <a:off x="458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2" name="Oval 583"/>
              <p:cNvSpPr>
                <a:spLocks noChangeArrowheads="1"/>
              </p:cNvSpPr>
              <p:nvPr/>
            </p:nvSpPr>
            <p:spPr bwMode="auto">
              <a:xfrm>
                <a:off x="465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3" name="Oval 584"/>
              <p:cNvSpPr>
                <a:spLocks noChangeArrowheads="1"/>
              </p:cNvSpPr>
              <p:nvPr/>
            </p:nvSpPr>
            <p:spPr bwMode="auto">
              <a:xfrm>
                <a:off x="429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4" name="Oval 585"/>
              <p:cNvSpPr>
                <a:spLocks noChangeArrowheads="1"/>
              </p:cNvSpPr>
              <p:nvPr/>
            </p:nvSpPr>
            <p:spPr bwMode="auto">
              <a:xfrm>
                <a:off x="436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5" name="Oval 586"/>
              <p:cNvSpPr>
                <a:spLocks noChangeArrowheads="1"/>
              </p:cNvSpPr>
              <p:nvPr/>
            </p:nvSpPr>
            <p:spPr bwMode="auto">
              <a:xfrm>
                <a:off x="443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6" name="Oval 587"/>
              <p:cNvSpPr>
                <a:spLocks noChangeArrowheads="1"/>
              </p:cNvSpPr>
              <p:nvPr/>
            </p:nvSpPr>
            <p:spPr bwMode="auto">
              <a:xfrm>
                <a:off x="451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7" name="Oval 588"/>
              <p:cNvSpPr>
                <a:spLocks noChangeArrowheads="1"/>
              </p:cNvSpPr>
              <p:nvPr/>
            </p:nvSpPr>
            <p:spPr bwMode="auto">
              <a:xfrm>
                <a:off x="458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8" name="Oval 589"/>
              <p:cNvSpPr>
                <a:spLocks noChangeArrowheads="1"/>
              </p:cNvSpPr>
              <p:nvPr/>
            </p:nvSpPr>
            <p:spPr bwMode="auto">
              <a:xfrm>
                <a:off x="465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89" name="Oval 590"/>
              <p:cNvSpPr>
                <a:spLocks noChangeArrowheads="1"/>
              </p:cNvSpPr>
              <p:nvPr/>
            </p:nvSpPr>
            <p:spPr bwMode="auto">
              <a:xfrm>
                <a:off x="429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0" name="Oval 591"/>
              <p:cNvSpPr>
                <a:spLocks noChangeArrowheads="1"/>
              </p:cNvSpPr>
              <p:nvPr/>
            </p:nvSpPr>
            <p:spPr bwMode="auto">
              <a:xfrm>
                <a:off x="436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1" name="Oval 592"/>
              <p:cNvSpPr>
                <a:spLocks noChangeArrowheads="1"/>
              </p:cNvSpPr>
              <p:nvPr/>
            </p:nvSpPr>
            <p:spPr bwMode="auto">
              <a:xfrm>
                <a:off x="443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2" name="Oval 593"/>
              <p:cNvSpPr>
                <a:spLocks noChangeArrowheads="1"/>
              </p:cNvSpPr>
              <p:nvPr/>
            </p:nvSpPr>
            <p:spPr bwMode="auto">
              <a:xfrm>
                <a:off x="451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3" name="Oval 594"/>
              <p:cNvSpPr>
                <a:spLocks noChangeArrowheads="1"/>
              </p:cNvSpPr>
              <p:nvPr/>
            </p:nvSpPr>
            <p:spPr bwMode="auto">
              <a:xfrm>
                <a:off x="458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4" name="Oval 595"/>
              <p:cNvSpPr>
                <a:spLocks noChangeArrowheads="1"/>
              </p:cNvSpPr>
              <p:nvPr/>
            </p:nvSpPr>
            <p:spPr bwMode="auto">
              <a:xfrm>
                <a:off x="465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5" name="Oval 596"/>
              <p:cNvSpPr>
                <a:spLocks noChangeArrowheads="1"/>
              </p:cNvSpPr>
              <p:nvPr/>
            </p:nvSpPr>
            <p:spPr bwMode="auto">
              <a:xfrm>
                <a:off x="429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6" name="Oval 597"/>
              <p:cNvSpPr>
                <a:spLocks noChangeArrowheads="1"/>
              </p:cNvSpPr>
              <p:nvPr/>
            </p:nvSpPr>
            <p:spPr bwMode="auto">
              <a:xfrm>
                <a:off x="436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7" name="Oval 598"/>
              <p:cNvSpPr>
                <a:spLocks noChangeArrowheads="1"/>
              </p:cNvSpPr>
              <p:nvPr/>
            </p:nvSpPr>
            <p:spPr bwMode="auto">
              <a:xfrm>
                <a:off x="443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8" name="Oval 599"/>
              <p:cNvSpPr>
                <a:spLocks noChangeArrowheads="1"/>
              </p:cNvSpPr>
              <p:nvPr/>
            </p:nvSpPr>
            <p:spPr bwMode="auto">
              <a:xfrm>
                <a:off x="451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99" name="Oval 600"/>
              <p:cNvSpPr>
                <a:spLocks noChangeArrowheads="1"/>
              </p:cNvSpPr>
              <p:nvPr/>
            </p:nvSpPr>
            <p:spPr bwMode="auto">
              <a:xfrm>
                <a:off x="458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200" name="Oval 601"/>
              <p:cNvSpPr>
                <a:spLocks noChangeArrowheads="1"/>
              </p:cNvSpPr>
              <p:nvPr/>
            </p:nvSpPr>
            <p:spPr bwMode="auto">
              <a:xfrm>
                <a:off x="465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170" name="Line 602"/>
            <p:cNvSpPr>
              <a:spLocks noChangeShapeType="1"/>
            </p:cNvSpPr>
            <p:nvPr/>
          </p:nvSpPr>
          <p:spPr bwMode="auto">
            <a:xfrm>
              <a:off x="4272" y="393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635" name="Group 603"/>
          <p:cNvGrpSpPr>
            <a:grpSpLocks/>
          </p:cNvGrpSpPr>
          <p:nvPr/>
        </p:nvGrpSpPr>
        <p:grpSpPr bwMode="auto">
          <a:xfrm>
            <a:off x="1370013" y="4076700"/>
            <a:ext cx="6405562" cy="1985963"/>
            <a:chOff x="912" y="2928"/>
            <a:chExt cx="4035" cy="1251"/>
          </a:xfrm>
        </p:grpSpPr>
        <p:grpSp>
          <p:nvGrpSpPr>
            <p:cNvPr id="48149" name="Group 604"/>
            <p:cNvGrpSpPr>
              <a:grpSpLocks/>
            </p:cNvGrpSpPr>
            <p:nvPr/>
          </p:nvGrpSpPr>
          <p:grpSpPr bwMode="auto">
            <a:xfrm>
              <a:off x="4726" y="2928"/>
              <a:ext cx="221" cy="845"/>
              <a:chOff x="4726" y="2496"/>
              <a:chExt cx="221" cy="845"/>
            </a:xfrm>
          </p:grpSpPr>
          <p:sp>
            <p:nvSpPr>
              <p:cNvPr id="48154" name="Oval 605"/>
              <p:cNvSpPr>
                <a:spLocks noChangeArrowheads="1"/>
              </p:cNvSpPr>
              <p:nvPr/>
            </p:nvSpPr>
            <p:spPr bwMode="auto">
              <a:xfrm>
                <a:off x="472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55" name="Oval 606"/>
              <p:cNvSpPr>
                <a:spLocks noChangeArrowheads="1"/>
              </p:cNvSpPr>
              <p:nvPr/>
            </p:nvSpPr>
            <p:spPr bwMode="auto">
              <a:xfrm>
                <a:off x="480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56" name="Oval 607"/>
              <p:cNvSpPr>
                <a:spLocks noChangeArrowheads="1"/>
              </p:cNvSpPr>
              <p:nvPr/>
            </p:nvSpPr>
            <p:spPr bwMode="auto">
              <a:xfrm>
                <a:off x="487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57" name="Oval 608"/>
              <p:cNvSpPr>
                <a:spLocks noChangeArrowheads="1"/>
              </p:cNvSpPr>
              <p:nvPr/>
            </p:nvSpPr>
            <p:spPr bwMode="auto">
              <a:xfrm>
                <a:off x="472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58" name="Oval 609"/>
              <p:cNvSpPr>
                <a:spLocks noChangeArrowheads="1"/>
              </p:cNvSpPr>
              <p:nvPr/>
            </p:nvSpPr>
            <p:spPr bwMode="auto">
              <a:xfrm>
                <a:off x="480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59" name="Oval 610"/>
              <p:cNvSpPr>
                <a:spLocks noChangeArrowheads="1"/>
              </p:cNvSpPr>
              <p:nvPr/>
            </p:nvSpPr>
            <p:spPr bwMode="auto">
              <a:xfrm>
                <a:off x="487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0" name="Oval 611"/>
              <p:cNvSpPr>
                <a:spLocks noChangeArrowheads="1"/>
              </p:cNvSpPr>
              <p:nvPr/>
            </p:nvSpPr>
            <p:spPr bwMode="auto">
              <a:xfrm>
                <a:off x="472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1" name="Oval 612"/>
              <p:cNvSpPr>
                <a:spLocks noChangeArrowheads="1"/>
              </p:cNvSpPr>
              <p:nvPr/>
            </p:nvSpPr>
            <p:spPr bwMode="auto">
              <a:xfrm>
                <a:off x="480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2" name="Oval 613"/>
              <p:cNvSpPr>
                <a:spLocks noChangeArrowheads="1"/>
              </p:cNvSpPr>
              <p:nvPr/>
            </p:nvSpPr>
            <p:spPr bwMode="auto">
              <a:xfrm>
                <a:off x="487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3" name="Oval 614"/>
              <p:cNvSpPr>
                <a:spLocks noChangeArrowheads="1"/>
              </p:cNvSpPr>
              <p:nvPr/>
            </p:nvSpPr>
            <p:spPr bwMode="auto">
              <a:xfrm>
                <a:off x="472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4" name="Oval 615"/>
              <p:cNvSpPr>
                <a:spLocks noChangeArrowheads="1"/>
              </p:cNvSpPr>
              <p:nvPr/>
            </p:nvSpPr>
            <p:spPr bwMode="auto">
              <a:xfrm>
                <a:off x="480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5" name="Oval 616"/>
              <p:cNvSpPr>
                <a:spLocks noChangeArrowheads="1"/>
              </p:cNvSpPr>
              <p:nvPr/>
            </p:nvSpPr>
            <p:spPr bwMode="auto">
              <a:xfrm>
                <a:off x="487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6" name="Oval 617"/>
              <p:cNvSpPr>
                <a:spLocks noChangeArrowheads="1"/>
              </p:cNvSpPr>
              <p:nvPr/>
            </p:nvSpPr>
            <p:spPr bwMode="auto">
              <a:xfrm>
                <a:off x="472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7" name="Oval 618"/>
              <p:cNvSpPr>
                <a:spLocks noChangeArrowheads="1"/>
              </p:cNvSpPr>
              <p:nvPr/>
            </p:nvSpPr>
            <p:spPr bwMode="auto">
              <a:xfrm>
                <a:off x="480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48168" name="Oval 619"/>
              <p:cNvSpPr>
                <a:spLocks noChangeArrowheads="1"/>
              </p:cNvSpPr>
              <p:nvPr/>
            </p:nvSpPr>
            <p:spPr bwMode="auto">
              <a:xfrm>
                <a:off x="487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48150" name="Line 620"/>
            <p:cNvSpPr>
              <a:spLocks noChangeShapeType="1"/>
            </p:cNvSpPr>
            <p:nvPr/>
          </p:nvSpPr>
          <p:spPr bwMode="auto">
            <a:xfrm>
              <a:off x="4944" y="38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1" name="Text Box 621"/>
            <p:cNvSpPr txBox="1">
              <a:spLocks noChangeArrowheads="1"/>
            </p:cNvSpPr>
            <p:nvPr/>
          </p:nvSpPr>
          <p:spPr bwMode="auto">
            <a:xfrm>
              <a:off x="2592" y="3888"/>
              <a:ext cx="6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hours</a:t>
              </a:r>
            </a:p>
          </p:txBody>
        </p:sp>
        <p:sp>
          <p:nvSpPr>
            <p:cNvPr id="48152" name="Line 622"/>
            <p:cNvSpPr>
              <a:spLocks noChangeShapeType="1"/>
            </p:cNvSpPr>
            <p:nvPr/>
          </p:nvSpPr>
          <p:spPr bwMode="auto">
            <a:xfrm>
              <a:off x="4704" y="393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3" name="Line 623"/>
            <p:cNvSpPr>
              <a:spLocks noChangeShapeType="1"/>
            </p:cNvSpPr>
            <p:nvPr/>
          </p:nvSpPr>
          <p:spPr bwMode="auto">
            <a:xfrm flipH="1">
              <a:off x="912" y="3936"/>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0656" name="Rectangle 624"/>
          <p:cNvSpPr>
            <a:spLocks/>
          </p:cNvSpPr>
          <p:nvPr/>
        </p:nvSpPr>
        <p:spPr bwMode="auto">
          <a:xfrm>
            <a:off x="1006475" y="3429000"/>
            <a:ext cx="7705725"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latin typeface="楷体" panose="02010609060101010101" pitchFamily="49" charset="-122"/>
                <a:ea typeface="楷体" panose="02010609060101010101" pitchFamily="49" charset="-122"/>
              </a:rPr>
              <a:t>活性自由基共聚中聚合物链的增长过程：</a:t>
            </a:r>
          </a:p>
        </p:txBody>
      </p:sp>
      <p:sp>
        <p:nvSpPr>
          <p:cNvPr id="3" name="矩形 2">
            <a:extLst>
              <a:ext uri="{FF2B5EF4-FFF2-40B4-BE49-F238E27FC236}">
                <a16:creationId xmlns:a16="http://schemas.microsoft.com/office/drawing/2014/main" id="{7ED26C3F-C8AA-4F3F-A139-35644A28F9F8}"/>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000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0010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3001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30018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30023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00656"/>
                                        </p:tgtEl>
                                        <p:attrNameLst>
                                          <p:attrName>style.visibility</p:attrName>
                                        </p:attrNameLst>
                                      </p:cBhvr>
                                      <p:to>
                                        <p:strVal val="visible"/>
                                      </p:to>
                                    </p:set>
                                    <p:anim calcmode="lin" valueType="num">
                                      <p:cBhvr additive="base">
                                        <p:cTn id="27" dur="500" fill="hold"/>
                                        <p:tgtEl>
                                          <p:spTgt spid="300656"/>
                                        </p:tgtEl>
                                        <p:attrNameLst>
                                          <p:attrName>ppt_x</p:attrName>
                                        </p:attrNameLst>
                                      </p:cBhvr>
                                      <p:tavLst>
                                        <p:tav tm="0">
                                          <p:val>
                                            <p:strVal val="#ppt_x"/>
                                          </p:val>
                                        </p:tav>
                                        <p:tav tm="100000">
                                          <p:val>
                                            <p:strVal val="#ppt_x"/>
                                          </p:val>
                                        </p:tav>
                                      </p:tavLst>
                                    </p:anim>
                                    <p:anim calcmode="lin" valueType="num">
                                      <p:cBhvr additive="base">
                                        <p:cTn id="28" dur="500" fill="hold"/>
                                        <p:tgtEl>
                                          <p:spTgt spid="300656"/>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499"/>
                                          </p:stCondLst>
                                        </p:cTn>
                                        <p:tgtEl>
                                          <p:spTgt spid="300282"/>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499"/>
                                          </p:stCondLst>
                                        </p:cTn>
                                        <p:tgtEl>
                                          <p:spTgt spid="30029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499"/>
                                          </p:stCondLst>
                                        </p:cTn>
                                        <p:tgtEl>
                                          <p:spTgt spid="300362"/>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499"/>
                                          </p:stCondLst>
                                        </p:cTn>
                                        <p:tgtEl>
                                          <p:spTgt spid="30037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300429"/>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300485"/>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300508"/>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499"/>
                                          </p:stCondLst>
                                        </p:cTn>
                                        <p:tgtEl>
                                          <p:spTgt spid="300550"/>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499"/>
                                          </p:stCondLst>
                                        </p:cTn>
                                        <p:tgtEl>
                                          <p:spTgt spid="300602"/>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499"/>
                                          </p:stCondLst>
                                        </p:cTn>
                                        <p:tgtEl>
                                          <p:spTgt spid="3006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656"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D0691E2-061B-45D1-B69E-42C4445FCF16}"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26</a:t>
            </a:fld>
            <a:endParaRPr lang="en-US" altLang="zh-CN" sz="1400">
              <a:latin typeface="Times New Roman" panose="02020603050405020304" pitchFamily="18" charset="0"/>
              <a:ea typeface="宋体" panose="02010600030101010101" pitchFamily="2" charset="-122"/>
            </a:endParaRPr>
          </a:p>
        </p:txBody>
      </p:sp>
      <p:sp>
        <p:nvSpPr>
          <p:cNvPr id="50179" name="Text Box 2"/>
          <p:cNvSpPr txBox="1">
            <a:spLocks noChangeArrowheads="1"/>
          </p:cNvSpPr>
          <p:nvPr/>
        </p:nvSpPr>
        <p:spPr bwMode="auto">
          <a:xfrm>
            <a:off x="1028700" y="1216025"/>
            <a:ext cx="64008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共聚单体化学结构不同，活性不同</a:t>
            </a:r>
          </a:p>
        </p:txBody>
      </p:sp>
      <p:sp>
        <p:nvSpPr>
          <p:cNvPr id="50180" name="Rectangle 3"/>
          <p:cNvSpPr>
            <a:spLocks noChangeArrowheads="1"/>
          </p:cNvSpPr>
          <p:nvPr/>
        </p:nvSpPr>
        <p:spPr bwMode="auto">
          <a:xfrm>
            <a:off x="900113" y="5219700"/>
            <a:ext cx="7615237" cy="9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共聚物组成：</a:t>
            </a:r>
            <a:r>
              <a:rPr kumimoji="1" lang="zh-CN" altLang="en-US" sz="2400" b="1">
                <a:latin typeface="Arial" panose="020B0604020202020204" pitchFamily="34" charset="0"/>
                <a:ea typeface="楷体" panose="02010609060101010101" pitchFamily="49" charset="-122"/>
                <a:cs typeface="Arial" panose="020B0604020202020204" pitchFamily="34" charset="0"/>
              </a:rPr>
              <a:t>瞬时组成、平均组成、组成分布、链段序列分布</a:t>
            </a:r>
            <a:r>
              <a:rPr kumimoji="1" lang="en-US" altLang="zh-CN" sz="2400" b="1">
                <a:latin typeface="Arial" panose="020B0604020202020204" pitchFamily="34" charset="0"/>
                <a:ea typeface="楷体" panose="02010609060101010101" pitchFamily="49" charset="-122"/>
                <a:cs typeface="Arial" panose="020B0604020202020204" pitchFamily="34" charset="0"/>
              </a:rPr>
              <a:t>(</a:t>
            </a:r>
            <a:r>
              <a:rPr kumimoji="1" lang="zh-CN" altLang="en-US" sz="2400" b="1">
                <a:latin typeface="Arial" panose="020B0604020202020204" pitchFamily="34" charset="0"/>
                <a:ea typeface="楷体" panose="02010609060101010101" pitchFamily="49" charset="-122"/>
                <a:cs typeface="Arial" panose="020B0604020202020204" pitchFamily="34" charset="0"/>
              </a:rPr>
              <a:t>更加微观</a:t>
            </a:r>
            <a:r>
              <a:rPr kumimoji="1" lang="en-US" altLang="zh-CN" sz="2400" b="1">
                <a:latin typeface="Arial" panose="020B0604020202020204" pitchFamily="34" charset="0"/>
                <a:ea typeface="楷体" panose="02010609060101010101" pitchFamily="49" charset="-122"/>
                <a:cs typeface="Arial" panose="020B0604020202020204" pitchFamily="34" charset="0"/>
              </a:rPr>
              <a:t>)</a:t>
            </a:r>
            <a:r>
              <a:rPr kumimoji="1" lang="zh-CN" altLang="en-US" sz="2400" b="1">
                <a:latin typeface="Arial" panose="020B0604020202020204" pitchFamily="34" charset="0"/>
                <a:ea typeface="楷体" panose="02010609060101010101" pitchFamily="49" charset="-122"/>
                <a:cs typeface="Arial" panose="020B0604020202020204" pitchFamily="34" charset="0"/>
              </a:rPr>
              <a:t>等</a:t>
            </a:r>
          </a:p>
        </p:txBody>
      </p:sp>
      <p:sp>
        <p:nvSpPr>
          <p:cNvPr id="50181" name="AutoShape 4"/>
          <p:cNvSpPr>
            <a:spLocks noChangeArrowheads="1"/>
          </p:cNvSpPr>
          <p:nvPr/>
        </p:nvSpPr>
        <p:spPr bwMode="auto">
          <a:xfrm>
            <a:off x="2686050" y="1811338"/>
            <a:ext cx="403225" cy="557212"/>
          </a:xfrm>
          <a:prstGeom prst="downArrow">
            <a:avLst>
              <a:gd name="adj1" fmla="val 50000"/>
              <a:gd name="adj2" fmla="val 49927"/>
            </a:avLst>
          </a:prstGeom>
          <a:noFill/>
          <a:ln w="38100">
            <a:solidFill>
              <a:srgbClr val="7EF74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
        <p:nvSpPr>
          <p:cNvPr id="50182" name="Rectangle 5"/>
          <p:cNvSpPr>
            <a:spLocks noChangeArrowheads="1"/>
          </p:cNvSpPr>
          <p:nvPr/>
        </p:nvSpPr>
        <p:spPr bwMode="auto">
          <a:xfrm>
            <a:off x="1028700" y="2443163"/>
            <a:ext cx="7837488"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进入共聚物链中的单体比例</a:t>
            </a:r>
            <a:r>
              <a:rPr kumimoji="1" lang="en-US" altLang="zh-CN" sz="2400" b="1">
                <a:latin typeface="楷体" panose="02010609060101010101" pitchFamily="49" charset="-122"/>
                <a:ea typeface="楷体" panose="02010609060101010101" pitchFamily="49" charset="-122"/>
              </a:rPr>
              <a:t>(</a:t>
            </a:r>
            <a:r>
              <a:rPr kumimoji="1" lang="zh-CN" altLang="en-US" sz="2400" b="1">
                <a:latin typeface="楷体" panose="02010609060101010101" pitchFamily="49" charset="-122"/>
                <a:ea typeface="楷体" panose="02010609060101010101" pitchFamily="49" charset="-122"/>
              </a:rPr>
              <a:t>即共聚物组成</a:t>
            </a:r>
            <a:r>
              <a:rPr kumimoji="1" lang="en-US" altLang="zh-CN" sz="2400" b="1">
                <a:latin typeface="楷体" panose="02010609060101010101" pitchFamily="49" charset="-122"/>
                <a:ea typeface="楷体" panose="02010609060101010101" pitchFamily="49" charset="-122"/>
              </a:rPr>
              <a:t>)</a:t>
            </a:r>
            <a:r>
              <a:rPr kumimoji="1" lang="zh-CN" altLang="en-US" sz="2400" b="1">
                <a:latin typeface="楷体" panose="02010609060101010101" pitchFamily="49" charset="-122"/>
                <a:ea typeface="楷体" panose="02010609060101010101" pitchFamily="49" charset="-122"/>
              </a:rPr>
              <a:t>不同，并导致单体配比发生变化</a:t>
            </a:r>
          </a:p>
        </p:txBody>
      </p:sp>
      <p:sp>
        <p:nvSpPr>
          <p:cNvPr id="50183" name="Rectangle 6"/>
          <p:cNvSpPr>
            <a:spLocks noChangeArrowheads="1"/>
          </p:cNvSpPr>
          <p:nvPr/>
        </p:nvSpPr>
        <p:spPr bwMode="auto">
          <a:xfrm>
            <a:off x="1039813" y="4041775"/>
            <a:ext cx="7920037"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cs typeface="Arial" panose="020B0604020202020204" pitchFamily="34" charset="0"/>
              </a:rPr>
              <a:t>共聚物组成随转化率</a:t>
            </a:r>
            <a:r>
              <a:rPr kumimoji="1" lang="en-US" altLang="zh-CN" sz="2400" b="1">
                <a:latin typeface="Arial" panose="020B0604020202020204" pitchFamily="34" charset="0"/>
                <a:ea typeface="楷体" panose="02010609060101010101" pitchFamily="49" charset="-122"/>
                <a:cs typeface="Arial" panose="020B0604020202020204" pitchFamily="34" charset="0"/>
              </a:rPr>
              <a:t>(Conversion)</a:t>
            </a:r>
            <a:r>
              <a:rPr kumimoji="1" lang="zh-CN" altLang="en-US" sz="2400" b="1">
                <a:latin typeface="楷体" panose="02010609060101010101" pitchFamily="49" charset="-122"/>
                <a:ea typeface="楷体" panose="02010609060101010101" pitchFamily="49" charset="-122"/>
                <a:cs typeface="Arial" panose="020B0604020202020204" pitchFamily="34" charset="0"/>
              </a:rPr>
              <a:t>而变，存在组成分布</a:t>
            </a:r>
          </a:p>
        </p:txBody>
      </p:sp>
      <p:sp>
        <p:nvSpPr>
          <p:cNvPr id="50184" name="Text Box 9"/>
          <p:cNvSpPr txBox="1">
            <a:spLocks noChangeArrowheads="1"/>
          </p:cNvSpPr>
          <p:nvPr/>
        </p:nvSpPr>
        <p:spPr bwMode="auto">
          <a:xfrm>
            <a:off x="323850" y="442913"/>
            <a:ext cx="7777163"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4.2 二元共聚物组成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(Copolymer Composition)</a:t>
            </a:r>
            <a:endPar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50185" name="AutoShape 4"/>
          <p:cNvSpPr>
            <a:spLocks noChangeArrowheads="1"/>
          </p:cNvSpPr>
          <p:nvPr/>
        </p:nvSpPr>
        <p:spPr bwMode="auto">
          <a:xfrm>
            <a:off x="2652713" y="3536950"/>
            <a:ext cx="403225" cy="557213"/>
          </a:xfrm>
          <a:prstGeom prst="downArrow">
            <a:avLst>
              <a:gd name="adj1" fmla="val 50000"/>
              <a:gd name="adj2" fmla="val 49927"/>
            </a:avLst>
          </a:prstGeom>
          <a:noFill/>
          <a:ln w="38100">
            <a:solidFill>
              <a:srgbClr val="7EF74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195B38DE-90C4-4C11-8608-5099E3433D1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7587" name="Rectangle 2">
            <a:extLst>
              <a:ext uri="{FF2B5EF4-FFF2-40B4-BE49-F238E27FC236}">
                <a16:creationId xmlns:a16="http://schemas.microsoft.com/office/drawing/2014/main" id="{39660996-435C-409D-A649-8523EEA0434C}"/>
              </a:ext>
            </a:extLst>
          </p:cNvPr>
          <p:cNvSpPr>
            <a:spLocks noGrp="1" noChangeArrowheads="1"/>
          </p:cNvSpPr>
          <p:nvPr>
            <p:ph type="title"/>
          </p:nvPr>
        </p:nvSpPr>
        <p:spPr>
          <a:xfrm>
            <a:off x="762000" y="685800"/>
            <a:ext cx="7848600" cy="685800"/>
          </a:xfrm>
        </p:spPr>
        <p:txBody>
          <a:bodyPr>
            <a:normAutofit fontScale="90000"/>
          </a:bodyPr>
          <a:lstStyle/>
          <a:p>
            <a:pPr eaLnBrk="1" fontAlgn="auto" hangingPunct="1">
              <a:spcAft>
                <a:spcPts val="0"/>
              </a:spcAft>
              <a:defRPr/>
            </a:pPr>
            <a:br>
              <a:rPr lang="zh-CN" altLang="en-US" sz="2000"/>
            </a:br>
            <a:br>
              <a:rPr lang="zh-CN" altLang="en-US" sz="2000"/>
            </a:br>
            <a:br>
              <a:rPr lang="zh-CN" altLang="en-US" sz="2600" b="1">
                <a:latin typeface="楷体_GB2312" pitchFamily="49" charset="-122"/>
                <a:ea typeface="楷体_GB2312" pitchFamily="49" charset="-122"/>
              </a:rPr>
            </a:br>
            <a:br>
              <a:rPr lang="en-US" altLang="zh-CN" sz="2000" b="1"/>
            </a:br>
            <a:endParaRPr lang="zh-CN" altLang="en-US"/>
          </a:p>
        </p:txBody>
      </p:sp>
      <p:sp>
        <p:nvSpPr>
          <p:cNvPr id="45060" name="Rectangle 3">
            <a:extLst>
              <a:ext uri="{FF2B5EF4-FFF2-40B4-BE49-F238E27FC236}">
                <a16:creationId xmlns:a16="http://schemas.microsoft.com/office/drawing/2014/main" id="{57D94DE6-50FD-4C57-832A-20F99B06BF3A}"/>
              </a:ext>
            </a:extLst>
          </p:cNvPr>
          <p:cNvSpPr>
            <a:spLocks noGrp="1" noChangeArrowheads="1"/>
          </p:cNvSpPr>
          <p:nvPr>
            <p:ph sz="quarter" idx="1"/>
          </p:nvPr>
        </p:nvSpPr>
        <p:spPr>
          <a:xfrm>
            <a:off x="609600" y="457200"/>
            <a:ext cx="8077200" cy="5867400"/>
          </a:xfrm>
        </p:spPr>
        <p:txBody>
          <a:bodyPr/>
          <a:lstStyle/>
          <a:p>
            <a:pPr algn="just" eaLnBrk="1" hangingPunct="1">
              <a:lnSpc>
                <a:spcPct val="110000"/>
              </a:lnSpc>
              <a:buFontTx/>
              <a:buNone/>
              <a:defRPr/>
            </a:pPr>
            <a:r>
              <a:rPr lang="zh-CN" altLang="en-US" sz="2400" b="1" dirty="0">
                <a:solidFill>
                  <a:srgbClr val="FF0000"/>
                </a:solidFill>
                <a:latin typeface="楷体" panose="02010609060101010101" pitchFamily="49" charset="-122"/>
                <a:ea typeface="楷体" panose="02010609060101010101" pitchFamily="49" charset="-122"/>
              </a:rPr>
              <a:t>共聚物组成方程的推导</a:t>
            </a:r>
          </a:p>
          <a:p>
            <a:pPr marL="0" indent="0" algn="just" eaLnBrk="1" hangingPunct="1">
              <a:lnSpc>
                <a:spcPct val="110000"/>
              </a:lnSpc>
              <a:buFontTx/>
              <a:buNone/>
              <a:defRPr/>
            </a:pPr>
            <a:r>
              <a:rPr lang="zh-CN" altLang="en-US" sz="2400" b="1" dirty="0">
                <a:latin typeface="楷体" panose="02010609060101010101" pitchFamily="49" charset="-122"/>
                <a:ea typeface="楷体" panose="02010609060101010101" pitchFamily="49" charset="-122"/>
              </a:rPr>
              <a:t>自由基共聚合反应历程同样有：链引发，链增长，链终止和链转移</a:t>
            </a:r>
          </a:p>
          <a:p>
            <a:pPr algn="just" eaLnBrk="1" hangingPunct="1">
              <a:lnSpc>
                <a:spcPct val="110000"/>
              </a:lnSpc>
              <a:buFontTx/>
              <a:buNone/>
              <a:defRPr/>
            </a:pPr>
            <a:r>
              <a:rPr lang="zh-CN" altLang="en-US" sz="2400" b="1" dirty="0">
                <a:solidFill>
                  <a:srgbClr val="FF0000"/>
                </a:solidFill>
                <a:latin typeface="楷体" panose="02010609060101010101" pitchFamily="49" charset="-122"/>
                <a:ea typeface="楷体" panose="02010609060101010101" pitchFamily="49" charset="-122"/>
              </a:rPr>
              <a:t>以二元共聚为例，</a:t>
            </a:r>
            <a:endParaRPr lang="zh-CN" altLang="en-US" sz="2400" dirty="0">
              <a:solidFill>
                <a:srgbClr val="FF0000"/>
              </a:solidFill>
              <a:latin typeface="楷体" panose="02010609060101010101" pitchFamily="49" charset="-122"/>
              <a:ea typeface="楷体" panose="02010609060101010101" pitchFamily="49" charset="-122"/>
            </a:endParaRPr>
          </a:p>
          <a:p>
            <a:pPr algn="just" eaLnBrk="1" hangingPunct="1">
              <a:buFontTx/>
              <a:buNone/>
              <a:defRPr/>
            </a:pPr>
            <a:r>
              <a:rPr lang="zh-CN" altLang="en-US" sz="2400" b="1" dirty="0">
                <a:solidFill>
                  <a:srgbClr val="FF0000"/>
                </a:solidFill>
                <a:latin typeface="楷体" panose="02010609060101010101" pitchFamily="49" charset="-122"/>
                <a:ea typeface="楷体" panose="02010609060101010101" pitchFamily="49" charset="-122"/>
              </a:rPr>
              <a:t>链引发：</a:t>
            </a:r>
            <a:endParaRPr lang="zh-CN" altLang="en-US" sz="2400" dirty="0">
              <a:solidFill>
                <a:srgbClr val="FF0000"/>
              </a:solidFill>
              <a:latin typeface="楷体" panose="02010609060101010101" pitchFamily="49" charset="-122"/>
              <a:ea typeface="楷体" panose="02010609060101010101" pitchFamily="49" charset="-122"/>
            </a:endParaRPr>
          </a:p>
          <a:p>
            <a:pPr marL="0" indent="0" algn="just" eaLnBrk="1" hangingPunct="1">
              <a:lnSpc>
                <a:spcPct val="110000"/>
              </a:lnSpc>
              <a:buFontTx/>
              <a:buNone/>
              <a:defRPr/>
            </a:pPr>
            <a:r>
              <a:rPr lang="zh-CN" altLang="en-US" sz="2400" b="1" dirty="0">
                <a:latin typeface="楷体" panose="02010609060101010101" pitchFamily="49" charset="-122"/>
                <a:ea typeface="楷体" panose="02010609060101010101" pitchFamily="49" charset="-122"/>
              </a:rPr>
              <a:t>  二元共聚体系中，根据被引发单体的不同，可形成两种自由基 </a:t>
            </a:r>
            <a:r>
              <a:rPr lang="en-US" altLang="zh-CN" sz="2400" dirty="0">
                <a:latin typeface="Arial" panose="020B0604020202020204" pitchFamily="34" charset="0"/>
                <a:ea typeface="楷体" panose="02010609060101010101" pitchFamily="49" charset="-122"/>
                <a:cs typeface="Arial" panose="020B0604020202020204" pitchFamily="34" charset="0"/>
              </a:rPr>
              <a:t>M</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400" baseline="30000" dirty="0">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400" baseline="30000" dirty="0">
                <a:latin typeface="Arial" panose="020B0604020202020204" pitchFamily="34" charset="0"/>
                <a:ea typeface="楷体" panose="02010609060101010101" pitchFamily="49" charset="-122"/>
                <a:cs typeface="Arial" panose="020B0604020202020204" pitchFamily="34" charset="0"/>
              </a:rPr>
              <a:t>  </a:t>
            </a:r>
            <a:r>
              <a:rPr lang="zh-CN" altLang="en-US" sz="2400" b="1" dirty="0">
                <a:latin typeface="Arial" panose="020B0604020202020204" pitchFamily="34" charset="0"/>
                <a:ea typeface="楷体" panose="02010609060101010101" pitchFamily="49" charset="-122"/>
                <a:cs typeface="Arial" panose="020B0604020202020204" pitchFamily="34" charset="0"/>
              </a:rPr>
              <a:t>和</a:t>
            </a:r>
            <a:r>
              <a:rPr lang="zh-CN" altLang="en-US" sz="2400" dirty="0">
                <a:latin typeface="Arial" panose="020B0604020202020204" pitchFamily="34" charset="0"/>
                <a:ea typeface="楷体" panose="02010609060101010101" pitchFamily="49" charset="-122"/>
                <a:cs typeface="Arial" panose="020B0604020202020204" pitchFamily="34" charset="0"/>
              </a:rPr>
              <a:t> </a:t>
            </a:r>
            <a:r>
              <a:rPr lang="en-US" altLang="zh-CN" sz="2400" dirty="0">
                <a:latin typeface="Arial" panose="020B0604020202020204" pitchFamily="34" charset="0"/>
                <a:ea typeface="楷体" panose="02010609060101010101" pitchFamily="49" charset="-122"/>
                <a:cs typeface="Arial" panose="020B0604020202020204" pitchFamily="34" charset="0"/>
              </a:rPr>
              <a:t>M</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400" baseline="30000" dirty="0">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endParaRPr lang="zh-CN" altLang="en-US" sz="2400" baseline="30000" dirty="0">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endParaRPr>
          </a:p>
        </p:txBody>
      </p:sp>
      <p:sp>
        <p:nvSpPr>
          <p:cNvPr id="51205"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0F91C11C-B2A6-41EA-A7F7-105D3E56955F}"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27</a:t>
            </a:fld>
            <a:endParaRPr lang="en-US" altLang="zh-CN" sz="1200">
              <a:solidFill>
                <a:srgbClr val="FFFFFF"/>
              </a:solidFill>
              <a:latin typeface="Century Schoolbook" panose="02040604050505020304" pitchFamily="18" charset="0"/>
              <a:ea typeface="宋体" panose="02010600030101010101" pitchFamily="2" charset="-122"/>
            </a:endParaRPr>
          </a:p>
        </p:txBody>
      </p:sp>
      <p:grpSp>
        <p:nvGrpSpPr>
          <p:cNvPr id="45062" name="Group 9">
            <a:extLst>
              <a:ext uri="{FF2B5EF4-FFF2-40B4-BE49-F238E27FC236}">
                <a16:creationId xmlns:a16="http://schemas.microsoft.com/office/drawing/2014/main" id="{1DAB7F64-91A4-424E-9DD3-B56FDB4F366B}"/>
              </a:ext>
            </a:extLst>
          </p:cNvPr>
          <p:cNvGrpSpPr>
            <a:grpSpLocks noChangeAspect="1"/>
          </p:cNvGrpSpPr>
          <p:nvPr/>
        </p:nvGrpSpPr>
        <p:grpSpPr bwMode="auto">
          <a:xfrm>
            <a:off x="3779912" y="3573016"/>
            <a:ext cx="4104456" cy="2625725"/>
            <a:chOff x="1776" y="2340"/>
            <a:chExt cx="2499" cy="1654"/>
          </a:xfrm>
          <a:solidFill>
            <a:schemeClr val="bg1">
              <a:lumMod val="95000"/>
            </a:schemeClr>
          </a:solidFill>
        </p:grpSpPr>
        <p:sp>
          <p:nvSpPr>
            <p:cNvPr id="45064" name="AutoShape 8">
              <a:extLst>
                <a:ext uri="{FF2B5EF4-FFF2-40B4-BE49-F238E27FC236}">
                  <a16:creationId xmlns:a16="http://schemas.microsoft.com/office/drawing/2014/main" id="{D8A73A1B-F53F-49A4-AE79-811919701AF4}"/>
                </a:ext>
              </a:extLst>
            </p:cNvPr>
            <p:cNvSpPr>
              <a:spLocks noChangeAspect="1" noChangeArrowheads="1" noTextEdit="1"/>
            </p:cNvSpPr>
            <p:nvPr/>
          </p:nvSpPr>
          <p:spPr bwMode="auto">
            <a:xfrm>
              <a:off x="1776" y="2340"/>
              <a:ext cx="2499" cy="16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p>
          </p:txBody>
        </p:sp>
        <p:sp>
          <p:nvSpPr>
            <p:cNvPr id="45065" name="Rectangle 10">
              <a:extLst>
                <a:ext uri="{FF2B5EF4-FFF2-40B4-BE49-F238E27FC236}">
                  <a16:creationId xmlns:a16="http://schemas.microsoft.com/office/drawing/2014/main" id="{3C76061A-DBDC-4D65-9EDA-BC91AEAA31D3}"/>
                </a:ext>
              </a:extLst>
            </p:cNvPr>
            <p:cNvSpPr>
              <a:spLocks noChangeArrowheads="1"/>
            </p:cNvSpPr>
            <p:nvPr/>
          </p:nvSpPr>
          <p:spPr bwMode="auto">
            <a:xfrm>
              <a:off x="1967" y="3581"/>
              <a:ext cx="197"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R</a:t>
              </a:r>
              <a:endParaRPr lang="zh-CN" altLang="zh-CN" sz="1800">
                <a:latin typeface="Arial" panose="020B0604020202020204" pitchFamily="34" charset="0"/>
                <a:ea typeface="宋体" panose="02010600030101010101" pitchFamily="2" charset="-122"/>
              </a:endParaRPr>
            </a:p>
          </p:txBody>
        </p:sp>
        <p:sp>
          <p:nvSpPr>
            <p:cNvPr id="45066" name="Oval 11">
              <a:extLst>
                <a:ext uri="{FF2B5EF4-FFF2-40B4-BE49-F238E27FC236}">
                  <a16:creationId xmlns:a16="http://schemas.microsoft.com/office/drawing/2014/main" id="{EF1C2F3E-4D37-4BCE-8193-CE2D8D0972CB}"/>
                </a:ext>
              </a:extLst>
            </p:cNvPr>
            <p:cNvSpPr>
              <a:spLocks noChangeArrowheads="1"/>
            </p:cNvSpPr>
            <p:nvPr/>
          </p:nvSpPr>
          <p:spPr bwMode="auto">
            <a:xfrm>
              <a:off x="2078" y="3665"/>
              <a:ext cx="27" cy="27"/>
            </a:xfrm>
            <a:prstGeom prst="ellipse">
              <a:avLst/>
            </a:prstGeom>
            <a:gr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endParaRPr lang="zh-CN" altLang="en-US" sz="1800">
                <a:latin typeface="Arial" panose="020B0604020202020204" pitchFamily="34" charset="0"/>
                <a:ea typeface="宋体" panose="02010600030101010101" pitchFamily="2" charset="-122"/>
              </a:endParaRPr>
            </a:p>
          </p:txBody>
        </p:sp>
        <p:sp>
          <p:nvSpPr>
            <p:cNvPr id="45067" name="Rectangle 12">
              <a:extLst>
                <a:ext uri="{FF2B5EF4-FFF2-40B4-BE49-F238E27FC236}">
                  <a16:creationId xmlns:a16="http://schemas.microsoft.com/office/drawing/2014/main" id="{13732270-D50F-4A8F-A623-DFE031915517}"/>
                </a:ext>
              </a:extLst>
            </p:cNvPr>
            <p:cNvSpPr>
              <a:spLocks noChangeArrowheads="1"/>
            </p:cNvSpPr>
            <p:nvPr/>
          </p:nvSpPr>
          <p:spPr bwMode="auto">
            <a:xfrm>
              <a:off x="2136" y="3581"/>
              <a:ext cx="270"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 + </a:t>
              </a:r>
              <a:endParaRPr lang="zh-CN" altLang="zh-CN" sz="1800">
                <a:latin typeface="Arial" panose="020B0604020202020204" pitchFamily="34" charset="0"/>
                <a:ea typeface="宋体" panose="02010600030101010101" pitchFamily="2" charset="-122"/>
              </a:endParaRPr>
            </a:p>
          </p:txBody>
        </p:sp>
        <p:sp>
          <p:nvSpPr>
            <p:cNvPr id="45068" name="Rectangle 13">
              <a:extLst>
                <a:ext uri="{FF2B5EF4-FFF2-40B4-BE49-F238E27FC236}">
                  <a16:creationId xmlns:a16="http://schemas.microsoft.com/office/drawing/2014/main" id="{2ACAD466-254A-49A4-A1E4-EE3F954A8839}"/>
                </a:ext>
              </a:extLst>
            </p:cNvPr>
            <p:cNvSpPr>
              <a:spLocks noChangeArrowheads="1"/>
            </p:cNvSpPr>
            <p:nvPr/>
          </p:nvSpPr>
          <p:spPr bwMode="auto">
            <a:xfrm>
              <a:off x="2575" y="3637"/>
              <a:ext cx="167"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  </a:t>
              </a:r>
              <a:endParaRPr lang="zh-CN" altLang="zh-CN" sz="1800">
                <a:latin typeface="Arial" panose="020B0604020202020204" pitchFamily="34" charset="0"/>
                <a:ea typeface="宋体" panose="02010600030101010101" pitchFamily="2" charset="-122"/>
              </a:endParaRPr>
            </a:p>
          </p:txBody>
        </p:sp>
        <p:sp>
          <p:nvSpPr>
            <p:cNvPr id="45069" name="Rectangle 14">
              <a:extLst>
                <a:ext uri="{FF2B5EF4-FFF2-40B4-BE49-F238E27FC236}">
                  <a16:creationId xmlns:a16="http://schemas.microsoft.com/office/drawing/2014/main" id="{23FCC7B3-D274-4171-AD31-E9465DAB72BF}"/>
                </a:ext>
              </a:extLst>
            </p:cNvPr>
            <p:cNvSpPr>
              <a:spLocks noChangeArrowheads="1"/>
            </p:cNvSpPr>
            <p:nvPr/>
          </p:nvSpPr>
          <p:spPr bwMode="auto">
            <a:xfrm>
              <a:off x="2373" y="3581"/>
              <a:ext cx="239"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45070" name="Rectangle 15">
              <a:extLst>
                <a:ext uri="{FF2B5EF4-FFF2-40B4-BE49-F238E27FC236}">
                  <a16:creationId xmlns:a16="http://schemas.microsoft.com/office/drawing/2014/main" id="{59E3DAA1-9D95-40A8-98A0-1753840768D2}"/>
                </a:ext>
              </a:extLst>
            </p:cNvPr>
            <p:cNvSpPr>
              <a:spLocks noChangeArrowheads="1"/>
            </p:cNvSpPr>
            <p:nvPr/>
          </p:nvSpPr>
          <p:spPr bwMode="auto">
            <a:xfrm>
              <a:off x="2530" y="3655"/>
              <a:ext cx="124" cy="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700">
                  <a:solidFill>
                    <a:srgbClr val="000000"/>
                  </a:solidFill>
                  <a:latin typeface="Times New Roman" panose="02020603050405020304" pitchFamily="18" charset="0"/>
                  <a:ea typeface="宋体" panose="02010600030101010101" pitchFamily="2" charset="-122"/>
                </a:rPr>
                <a:t>2</a:t>
              </a:r>
              <a:endParaRPr lang="zh-CN" altLang="zh-CN" sz="1800">
                <a:latin typeface="Arial" panose="020B0604020202020204" pitchFamily="34" charset="0"/>
                <a:ea typeface="宋体" panose="02010600030101010101" pitchFamily="2" charset="-122"/>
              </a:endParaRPr>
            </a:p>
          </p:txBody>
        </p:sp>
        <p:sp>
          <p:nvSpPr>
            <p:cNvPr id="45071" name="Line 16">
              <a:extLst>
                <a:ext uri="{FF2B5EF4-FFF2-40B4-BE49-F238E27FC236}">
                  <a16:creationId xmlns:a16="http://schemas.microsoft.com/office/drawing/2014/main" id="{6DADDD0E-6098-4585-8AA4-D1C3EC662C13}"/>
                </a:ext>
              </a:extLst>
            </p:cNvPr>
            <p:cNvSpPr>
              <a:spLocks noChangeShapeType="1"/>
            </p:cNvSpPr>
            <p:nvPr/>
          </p:nvSpPr>
          <p:spPr bwMode="auto">
            <a:xfrm>
              <a:off x="2834" y="3724"/>
              <a:ext cx="957" cy="1"/>
            </a:xfrm>
            <a:prstGeom prst="line">
              <a:avLst/>
            </a:prstGeom>
            <a:grpFill/>
            <a:ln w="17463">
              <a:solidFill>
                <a:srgbClr val="000000"/>
              </a:solidFill>
              <a:round/>
              <a:headEnd/>
              <a:tailEnd/>
            </a:ln>
            <a:extLst/>
          </p:spPr>
          <p:txBody>
            <a:bodyPr/>
            <a:lstStyle/>
            <a:p>
              <a:pPr>
                <a:defRPr/>
              </a:pPr>
              <a:endParaRPr lang="zh-CN" altLang="en-US"/>
            </a:p>
          </p:txBody>
        </p:sp>
        <p:sp>
          <p:nvSpPr>
            <p:cNvPr id="45072" name="Freeform 17">
              <a:extLst>
                <a:ext uri="{FF2B5EF4-FFF2-40B4-BE49-F238E27FC236}">
                  <a16:creationId xmlns:a16="http://schemas.microsoft.com/office/drawing/2014/main" id="{0BCDB3C5-F8CF-4007-BD40-83C4B1E1F099}"/>
                </a:ext>
              </a:extLst>
            </p:cNvPr>
            <p:cNvSpPr>
              <a:spLocks/>
            </p:cNvSpPr>
            <p:nvPr/>
          </p:nvSpPr>
          <p:spPr bwMode="auto">
            <a:xfrm>
              <a:off x="3678" y="3690"/>
              <a:ext cx="113" cy="68"/>
            </a:xfrm>
            <a:custGeom>
              <a:avLst/>
              <a:gdLst>
                <a:gd name="T0" fmla="*/ 113 w 113"/>
                <a:gd name="T1" fmla="*/ 34 h 68"/>
                <a:gd name="T2" fmla="*/ 0 w 113"/>
                <a:gd name="T3" fmla="*/ 68 h 68"/>
                <a:gd name="T4" fmla="*/ 23 w 113"/>
                <a:gd name="T5" fmla="*/ 34 h 68"/>
                <a:gd name="T6" fmla="*/ 0 w 113"/>
                <a:gd name="T7" fmla="*/ 0 h 68"/>
                <a:gd name="T8" fmla="*/ 113 w 113"/>
                <a:gd name="T9" fmla="*/ 34 h 68"/>
                <a:gd name="T10" fmla="*/ 0 60000 65536"/>
                <a:gd name="T11" fmla="*/ 0 60000 65536"/>
                <a:gd name="T12" fmla="*/ 0 60000 65536"/>
                <a:gd name="T13" fmla="*/ 0 60000 65536"/>
                <a:gd name="T14" fmla="*/ 0 60000 65536"/>
                <a:gd name="T15" fmla="*/ 0 w 113"/>
                <a:gd name="T16" fmla="*/ 0 h 68"/>
                <a:gd name="T17" fmla="*/ 113 w 113"/>
                <a:gd name="T18" fmla="*/ 68 h 68"/>
              </a:gdLst>
              <a:ahLst/>
              <a:cxnLst>
                <a:cxn ang="T10">
                  <a:pos x="T0" y="T1"/>
                </a:cxn>
                <a:cxn ang="T11">
                  <a:pos x="T2" y="T3"/>
                </a:cxn>
                <a:cxn ang="T12">
                  <a:pos x="T4" y="T5"/>
                </a:cxn>
                <a:cxn ang="T13">
                  <a:pos x="T6" y="T7"/>
                </a:cxn>
                <a:cxn ang="T14">
                  <a:pos x="T8" y="T9"/>
                </a:cxn>
              </a:cxnLst>
              <a:rect l="T15" t="T16" r="T17" b="T18"/>
              <a:pathLst>
                <a:path w="113" h="68">
                  <a:moveTo>
                    <a:pt x="113" y="34"/>
                  </a:moveTo>
                  <a:lnTo>
                    <a:pt x="0" y="68"/>
                  </a:lnTo>
                  <a:lnTo>
                    <a:pt x="23" y="34"/>
                  </a:lnTo>
                  <a:lnTo>
                    <a:pt x="0" y="0"/>
                  </a:lnTo>
                  <a:lnTo>
                    <a:pt x="113" y="34"/>
                  </a:lnTo>
                  <a:close/>
                </a:path>
              </a:pathLst>
            </a:custGeom>
            <a:grpFill/>
            <a:ln w="17463">
              <a:solidFill>
                <a:srgbClr val="000000"/>
              </a:solidFill>
              <a:prstDash val="solid"/>
              <a:round/>
              <a:headEnd/>
              <a:tailEnd/>
            </a:ln>
          </p:spPr>
          <p:txBody>
            <a:bodyPr/>
            <a:lstStyle/>
            <a:p>
              <a:pPr>
                <a:defRPr/>
              </a:pPr>
              <a:endParaRPr lang="zh-CN" altLang="en-US"/>
            </a:p>
          </p:txBody>
        </p:sp>
        <p:sp>
          <p:nvSpPr>
            <p:cNvPr id="45073" name="Rectangle 18">
              <a:extLst>
                <a:ext uri="{FF2B5EF4-FFF2-40B4-BE49-F238E27FC236}">
                  <a16:creationId xmlns:a16="http://schemas.microsoft.com/office/drawing/2014/main" id="{BB8524C1-2783-4C79-93B5-2A4C4BBA5B48}"/>
                </a:ext>
              </a:extLst>
            </p:cNvPr>
            <p:cNvSpPr>
              <a:spLocks noChangeArrowheads="1"/>
            </p:cNvSpPr>
            <p:nvPr/>
          </p:nvSpPr>
          <p:spPr bwMode="auto">
            <a:xfrm>
              <a:off x="3859" y="3637"/>
              <a:ext cx="239"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45074" name="Rectangle 19">
              <a:extLst>
                <a:ext uri="{FF2B5EF4-FFF2-40B4-BE49-F238E27FC236}">
                  <a16:creationId xmlns:a16="http://schemas.microsoft.com/office/drawing/2014/main" id="{7ECC841F-9F18-4A0B-88F3-397733D728F5}"/>
                </a:ext>
              </a:extLst>
            </p:cNvPr>
            <p:cNvSpPr>
              <a:spLocks noChangeArrowheads="1"/>
            </p:cNvSpPr>
            <p:nvPr/>
          </p:nvSpPr>
          <p:spPr bwMode="auto">
            <a:xfrm>
              <a:off x="4016" y="3711"/>
              <a:ext cx="124" cy="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700">
                  <a:solidFill>
                    <a:srgbClr val="000000"/>
                  </a:solidFill>
                  <a:latin typeface="Times New Roman" panose="02020603050405020304" pitchFamily="18" charset="0"/>
                  <a:ea typeface="宋体" panose="02010600030101010101" pitchFamily="2" charset="-122"/>
                </a:rPr>
                <a:t>2</a:t>
              </a:r>
              <a:endParaRPr lang="zh-CN" altLang="zh-CN" sz="1800">
                <a:latin typeface="Arial" panose="020B0604020202020204" pitchFamily="34" charset="0"/>
                <a:ea typeface="宋体" panose="02010600030101010101" pitchFamily="2" charset="-122"/>
              </a:endParaRPr>
            </a:p>
          </p:txBody>
        </p:sp>
        <p:sp>
          <p:nvSpPr>
            <p:cNvPr id="45075" name="Oval 20">
              <a:extLst>
                <a:ext uri="{FF2B5EF4-FFF2-40B4-BE49-F238E27FC236}">
                  <a16:creationId xmlns:a16="http://schemas.microsoft.com/office/drawing/2014/main" id="{4A83C4BF-03F8-4713-BA5E-2E2CD290D7E3}"/>
                </a:ext>
              </a:extLst>
            </p:cNvPr>
            <p:cNvSpPr>
              <a:spLocks noChangeArrowheads="1"/>
            </p:cNvSpPr>
            <p:nvPr/>
          </p:nvSpPr>
          <p:spPr bwMode="auto">
            <a:xfrm>
              <a:off x="4093" y="3722"/>
              <a:ext cx="27" cy="27"/>
            </a:xfrm>
            <a:prstGeom prst="ellipse">
              <a:avLst/>
            </a:prstGeom>
            <a:gr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endParaRPr lang="zh-CN" altLang="en-US" sz="1800">
                <a:latin typeface="Arial" panose="020B0604020202020204" pitchFamily="34" charset="0"/>
                <a:ea typeface="宋体" panose="02010600030101010101" pitchFamily="2" charset="-122"/>
              </a:endParaRPr>
            </a:p>
          </p:txBody>
        </p:sp>
        <p:sp>
          <p:nvSpPr>
            <p:cNvPr id="45076" name="Rectangle 21">
              <a:extLst>
                <a:ext uri="{FF2B5EF4-FFF2-40B4-BE49-F238E27FC236}">
                  <a16:creationId xmlns:a16="http://schemas.microsoft.com/office/drawing/2014/main" id="{FF507A73-57C6-4174-ABE0-5608C0D77AEF}"/>
                </a:ext>
              </a:extLst>
            </p:cNvPr>
            <p:cNvSpPr>
              <a:spLocks noChangeArrowheads="1"/>
            </p:cNvSpPr>
            <p:nvPr/>
          </p:nvSpPr>
          <p:spPr bwMode="auto">
            <a:xfrm>
              <a:off x="3104" y="3465"/>
              <a:ext cx="83" cy="2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i="1" dirty="0">
                  <a:solidFill>
                    <a:srgbClr val="000000"/>
                  </a:solidFill>
                  <a:latin typeface="Times New Roman" panose="02020603050405020304" pitchFamily="18" charset="0"/>
                  <a:ea typeface="宋体" panose="02010600030101010101" pitchFamily="2" charset="-122"/>
                </a:rPr>
                <a:t>k</a:t>
              </a:r>
              <a:endParaRPr lang="zh-CN" altLang="zh-CN" sz="1800" i="1" dirty="0">
                <a:latin typeface="Arial" panose="020B0604020202020204" pitchFamily="34" charset="0"/>
                <a:ea typeface="宋体" panose="02010600030101010101" pitchFamily="2" charset="-122"/>
              </a:endParaRPr>
            </a:p>
          </p:txBody>
        </p:sp>
        <p:sp>
          <p:nvSpPr>
            <p:cNvPr id="45077" name="Rectangle 22">
              <a:extLst>
                <a:ext uri="{FF2B5EF4-FFF2-40B4-BE49-F238E27FC236}">
                  <a16:creationId xmlns:a16="http://schemas.microsoft.com/office/drawing/2014/main" id="{F9D02AC3-8C52-4BA3-9B22-36C8CB3E440F}"/>
                </a:ext>
              </a:extLst>
            </p:cNvPr>
            <p:cNvSpPr>
              <a:spLocks noChangeArrowheads="1"/>
            </p:cNvSpPr>
            <p:nvPr/>
          </p:nvSpPr>
          <p:spPr bwMode="auto">
            <a:xfrm>
              <a:off x="3193" y="3538"/>
              <a:ext cx="36" cy="1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600" dirty="0">
                  <a:solidFill>
                    <a:srgbClr val="000000"/>
                  </a:solidFill>
                  <a:latin typeface="Times New Roman" panose="02020603050405020304" pitchFamily="18" charset="0"/>
                  <a:ea typeface="宋体" panose="02010600030101010101" pitchFamily="2" charset="-122"/>
                </a:rPr>
                <a:t>i</a:t>
              </a:r>
              <a:endParaRPr lang="zh-CN" altLang="zh-CN" sz="1600" dirty="0">
                <a:latin typeface="Arial" panose="020B0604020202020204" pitchFamily="34" charset="0"/>
                <a:ea typeface="宋体" panose="02010600030101010101" pitchFamily="2" charset="-122"/>
              </a:endParaRPr>
            </a:p>
          </p:txBody>
        </p:sp>
        <p:sp>
          <p:nvSpPr>
            <p:cNvPr id="45078" name="Rectangle 23">
              <a:extLst>
                <a:ext uri="{FF2B5EF4-FFF2-40B4-BE49-F238E27FC236}">
                  <a16:creationId xmlns:a16="http://schemas.microsoft.com/office/drawing/2014/main" id="{DE36F2D3-6B40-4CF9-ACFE-58E0A855BF9F}"/>
                </a:ext>
              </a:extLst>
            </p:cNvPr>
            <p:cNvSpPr>
              <a:spLocks noChangeArrowheads="1"/>
            </p:cNvSpPr>
            <p:nvPr/>
          </p:nvSpPr>
          <p:spPr bwMode="auto">
            <a:xfrm>
              <a:off x="3250" y="3513"/>
              <a:ext cx="137" cy="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900" dirty="0">
                  <a:solidFill>
                    <a:srgbClr val="000000"/>
                  </a:solidFill>
                  <a:latin typeface="Times New Roman" panose="02020603050405020304" pitchFamily="18" charset="0"/>
                  <a:ea typeface="宋体" panose="02010600030101010101" pitchFamily="2" charset="-122"/>
                </a:rPr>
                <a:t>2</a:t>
              </a:r>
              <a:endParaRPr lang="zh-CN" altLang="zh-CN" sz="1800" dirty="0">
                <a:latin typeface="Arial" panose="020B0604020202020204" pitchFamily="34" charset="0"/>
                <a:ea typeface="宋体" panose="02010600030101010101" pitchFamily="2" charset="-122"/>
              </a:endParaRPr>
            </a:p>
          </p:txBody>
        </p:sp>
        <p:sp>
          <p:nvSpPr>
            <p:cNvPr id="45079" name="Rectangle 24">
              <a:extLst>
                <a:ext uri="{FF2B5EF4-FFF2-40B4-BE49-F238E27FC236}">
                  <a16:creationId xmlns:a16="http://schemas.microsoft.com/office/drawing/2014/main" id="{73D1495D-1984-4402-AFE8-8EDDFCE65505}"/>
                </a:ext>
              </a:extLst>
            </p:cNvPr>
            <p:cNvSpPr>
              <a:spLocks noChangeArrowheads="1"/>
            </p:cNvSpPr>
            <p:nvPr/>
          </p:nvSpPr>
          <p:spPr bwMode="auto">
            <a:xfrm>
              <a:off x="2536" y="2647"/>
              <a:ext cx="136"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I</a:t>
              </a:r>
              <a:endParaRPr lang="zh-CN" altLang="zh-CN" sz="1800">
                <a:latin typeface="Arial" panose="020B0604020202020204" pitchFamily="34" charset="0"/>
                <a:ea typeface="宋体" panose="02010600030101010101" pitchFamily="2" charset="-122"/>
              </a:endParaRPr>
            </a:p>
          </p:txBody>
        </p:sp>
        <p:sp>
          <p:nvSpPr>
            <p:cNvPr id="45080" name="Line 25">
              <a:extLst>
                <a:ext uri="{FF2B5EF4-FFF2-40B4-BE49-F238E27FC236}">
                  <a16:creationId xmlns:a16="http://schemas.microsoft.com/office/drawing/2014/main" id="{67C30BB9-0E74-4994-A0C9-640477387533}"/>
                </a:ext>
              </a:extLst>
            </p:cNvPr>
            <p:cNvSpPr>
              <a:spLocks noChangeShapeType="1"/>
            </p:cNvSpPr>
            <p:nvPr/>
          </p:nvSpPr>
          <p:spPr bwMode="auto">
            <a:xfrm>
              <a:off x="2812" y="2723"/>
              <a:ext cx="911" cy="1"/>
            </a:xfrm>
            <a:prstGeom prst="line">
              <a:avLst/>
            </a:prstGeom>
            <a:grpFill/>
            <a:ln w="17463">
              <a:solidFill>
                <a:srgbClr val="000000"/>
              </a:solidFill>
              <a:round/>
              <a:headEnd/>
              <a:tailEnd/>
            </a:ln>
            <a:extLst/>
          </p:spPr>
          <p:txBody>
            <a:bodyPr/>
            <a:lstStyle/>
            <a:p>
              <a:pPr>
                <a:defRPr/>
              </a:pPr>
              <a:endParaRPr lang="zh-CN" altLang="en-US"/>
            </a:p>
          </p:txBody>
        </p:sp>
        <p:sp>
          <p:nvSpPr>
            <p:cNvPr id="45081" name="Freeform 26">
              <a:extLst>
                <a:ext uri="{FF2B5EF4-FFF2-40B4-BE49-F238E27FC236}">
                  <a16:creationId xmlns:a16="http://schemas.microsoft.com/office/drawing/2014/main" id="{2901E2CC-9B31-47FA-995C-747040E8A91C}"/>
                </a:ext>
              </a:extLst>
            </p:cNvPr>
            <p:cNvSpPr>
              <a:spLocks/>
            </p:cNvSpPr>
            <p:nvPr/>
          </p:nvSpPr>
          <p:spPr bwMode="auto">
            <a:xfrm>
              <a:off x="3611" y="2689"/>
              <a:ext cx="112" cy="67"/>
            </a:xfrm>
            <a:custGeom>
              <a:avLst/>
              <a:gdLst>
                <a:gd name="T0" fmla="*/ 112 w 112"/>
                <a:gd name="T1" fmla="*/ 34 h 67"/>
                <a:gd name="T2" fmla="*/ 0 w 112"/>
                <a:gd name="T3" fmla="*/ 67 h 67"/>
                <a:gd name="T4" fmla="*/ 22 w 112"/>
                <a:gd name="T5" fmla="*/ 34 h 67"/>
                <a:gd name="T6" fmla="*/ 0 w 112"/>
                <a:gd name="T7" fmla="*/ 0 h 67"/>
                <a:gd name="T8" fmla="*/ 112 w 112"/>
                <a:gd name="T9" fmla="*/ 34 h 67"/>
                <a:gd name="T10" fmla="*/ 0 60000 65536"/>
                <a:gd name="T11" fmla="*/ 0 60000 65536"/>
                <a:gd name="T12" fmla="*/ 0 60000 65536"/>
                <a:gd name="T13" fmla="*/ 0 60000 65536"/>
                <a:gd name="T14" fmla="*/ 0 60000 65536"/>
                <a:gd name="T15" fmla="*/ 0 w 112"/>
                <a:gd name="T16" fmla="*/ 0 h 67"/>
                <a:gd name="T17" fmla="*/ 112 w 112"/>
                <a:gd name="T18" fmla="*/ 67 h 67"/>
              </a:gdLst>
              <a:ahLst/>
              <a:cxnLst>
                <a:cxn ang="T10">
                  <a:pos x="T0" y="T1"/>
                </a:cxn>
                <a:cxn ang="T11">
                  <a:pos x="T2" y="T3"/>
                </a:cxn>
                <a:cxn ang="T12">
                  <a:pos x="T4" y="T5"/>
                </a:cxn>
                <a:cxn ang="T13">
                  <a:pos x="T6" y="T7"/>
                </a:cxn>
                <a:cxn ang="T14">
                  <a:pos x="T8" y="T9"/>
                </a:cxn>
              </a:cxnLst>
              <a:rect l="T15" t="T16" r="T17" b="T18"/>
              <a:pathLst>
                <a:path w="112" h="67">
                  <a:moveTo>
                    <a:pt x="112" y="34"/>
                  </a:moveTo>
                  <a:lnTo>
                    <a:pt x="0" y="67"/>
                  </a:lnTo>
                  <a:lnTo>
                    <a:pt x="22" y="34"/>
                  </a:lnTo>
                  <a:lnTo>
                    <a:pt x="0" y="0"/>
                  </a:lnTo>
                  <a:lnTo>
                    <a:pt x="112" y="34"/>
                  </a:lnTo>
                  <a:close/>
                </a:path>
              </a:pathLst>
            </a:custGeom>
            <a:grpFill/>
            <a:ln w="17463">
              <a:solidFill>
                <a:srgbClr val="000000"/>
              </a:solidFill>
              <a:prstDash val="solid"/>
              <a:round/>
              <a:headEnd/>
              <a:tailEnd/>
            </a:ln>
          </p:spPr>
          <p:txBody>
            <a:bodyPr/>
            <a:lstStyle/>
            <a:p>
              <a:pPr>
                <a:defRPr/>
              </a:pPr>
              <a:endParaRPr lang="zh-CN" altLang="en-US"/>
            </a:p>
          </p:txBody>
        </p:sp>
        <p:sp>
          <p:nvSpPr>
            <p:cNvPr id="45082" name="Rectangle 27">
              <a:extLst>
                <a:ext uri="{FF2B5EF4-FFF2-40B4-BE49-F238E27FC236}">
                  <a16:creationId xmlns:a16="http://schemas.microsoft.com/office/drawing/2014/main" id="{E1594BC7-E949-4B86-AF7E-50744775D99E}"/>
                </a:ext>
              </a:extLst>
            </p:cNvPr>
            <p:cNvSpPr>
              <a:spLocks noChangeArrowheads="1"/>
            </p:cNvSpPr>
            <p:nvPr/>
          </p:nvSpPr>
          <p:spPr bwMode="auto">
            <a:xfrm>
              <a:off x="3026" y="2489"/>
              <a:ext cx="83" cy="2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i="1">
                  <a:solidFill>
                    <a:srgbClr val="000000"/>
                  </a:solidFill>
                  <a:latin typeface="Times New Roman" panose="02020603050405020304" pitchFamily="18" charset="0"/>
                  <a:ea typeface="宋体" panose="02010600030101010101" pitchFamily="2" charset="-122"/>
                </a:rPr>
                <a:t>k</a:t>
              </a:r>
              <a:endParaRPr lang="zh-CN" altLang="zh-CN" sz="1800" i="1">
                <a:latin typeface="Arial" panose="020B0604020202020204" pitchFamily="34" charset="0"/>
                <a:ea typeface="宋体" panose="02010600030101010101" pitchFamily="2" charset="-122"/>
              </a:endParaRPr>
            </a:p>
          </p:txBody>
        </p:sp>
        <p:sp>
          <p:nvSpPr>
            <p:cNvPr id="45083" name="Rectangle 28">
              <a:extLst>
                <a:ext uri="{FF2B5EF4-FFF2-40B4-BE49-F238E27FC236}">
                  <a16:creationId xmlns:a16="http://schemas.microsoft.com/office/drawing/2014/main" id="{8C34CB9E-BC21-4ABF-9B76-86250C2F5B21}"/>
                </a:ext>
              </a:extLst>
            </p:cNvPr>
            <p:cNvSpPr>
              <a:spLocks noChangeArrowheads="1"/>
            </p:cNvSpPr>
            <p:nvPr/>
          </p:nvSpPr>
          <p:spPr bwMode="auto">
            <a:xfrm>
              <a:off x="3109" y="2558"/>
              <a:ext cx="123" cy="1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600" dirty="0">
                  <a:solidFill>
                    <a:srgbClr val="000000"/>
                  </a:solidFill>
                  <a:latin typeface="Times New Roman" panose="02020603050405020304" pitchFamily="18" charset="0"/>
                  <a:ea typeface="宋体" panose="02010600030101010101" pitchFamily="2" charset="-122"/>
                </a:rPr>
                <a:t>d</a:t>
              </a:r>
              <a:endParaRPr lang="zh-CN" altLang="zh-CN" sz="1600" dirty="0">
                <a:latin typeface="Arial" panose="020B0604020202020204" pitchFamily="34" charset="0"/>
                <a:ea typeface="宋体" panose="02010600030101010101" pitchFamily="2" charset="-122"/>
              </a:endParaRPr>
            </a:p>
          </p:txBody>
        </p:sp>
        <p:sp>
          <p:nvSpPr>
            <p:cNvPr id="45084" name="Line 29">
              <a:extLst>
                <a:ext uri="{FF2B5EF4-FFF2-40B4-BE49-F238E27FC236}">
                  <a16:creationId xmlns:a16="http://schemas.microsoft.com/office/drawing/2014/main" id="{3B1A3C41-E202-4413-81C8-25D85291BEFD}"/>
                </a:ext>
              </a:extLst>
            </p:cNvPr>
            <p:cNvSpPr>
              <a:spLocks noChangeShapeType="1"/>
            </p:cNvSpPr>
            <p:nvPr/>
          </p:nvSpPr>
          <p:spPr bwMode="auto">
            <a:xfrm flipH="1" flipV="1">
              <a:off x="3132" y="2754"/>
              <a:ext cx="79" cy="84"/>
            </a:xfrm>
            <a:prstGeom prst="line">
              <a:avLst/>
            </a:prstGeom>
            <a:grpFill/>
            <a:ln w="17463">
              <a:solidFill>
                <a:srgbClr val="000000"/>
              </a:solidFill>
              <a:round/>
              <a:headEnd/>
              <a:tailEnd/>
            </a:ln>
            <a:extLst/>
          </p:spPr>
          <p:txBody>
            <a:bodyPr/>
            <a:lstStyle/>
            <a:p>
              <a:pPr>
                <a:defRPr/>
              </a:pPr>
              <a:endParaRPr lang="zh-CN" altLang="en-US"/>
            </a:p>
          </p:txBody>
        </p:sp>
        <p:sp>
          <p:nvSpPr>
            <p:cNvPr id="45085" name="Line 30">
              <a:extLst>
                <a:ext uri="{FF2B5EF4-FFF2-40B4-BE49-F238E27FC236}">
                  <a16:creationId xmlns:a16="http://schemas.microsoft.com/office/drawing/2014/main" id="{443F463F-1CB7-46D7-B42F-4700B9FC28B6}"/>
                </a:ext>
              </a:extLst>
            </p:cNvPr>
            <p:cNvSpPr>
              <a:spLocks noChangeShapeType="1"/>
            </p:cNvSpPr>
            <p:nvPr/>
          </p:nvSpPr>
          <p:spPr bwMode="auto">
            <a:xfrm flipH="1">
              <a:off x="3054" y="2754"/>
              <a:ext cx="78" cy="84"/>
            </a:xfrm>
            <a:prstGeom prst="line">
              <a:avLst/>
            </a:prstGeom>
            <a:grpFill/>
            <a:ln w="17463">
              <a:solidFill>
                <a:srgbClr val="000000"/>
              </a:solidFill>
              <a:round/>
              <a:headEnd/>
              <a:tailEnd/>
            </a:ln>
            <a:extLst/>
          </p:spPr>
          <p:txBody>
            <a:bodyPr/>
            <a:lstStyle/>
            <a:p>
              <a:pPr>
                <a:defRPr/>
              </a:pPr>
              <a:endParaRPr lang="zh-CN" altLang="en-US"/>
            </a:p>
          </p:txBody>
        </p:sp>
        <p:sp>
          <p:nvSpPr>
            <p:cNvPr id="45086" name="Line 31">
              <a:extLst>
                <a:ext uri="{FF2B5EF4-FFF2-40B4-BE49-F238E27FC236}">
                  <a16:creationId xmlns:a16="http://schemas.microsoft.com/office/drawing/2014/main" id="{3A474E3A-B8F8-45E1-B500-71EA6CF76883}"/>
                </a:ext>
              </a:extLst>
            </p:cNvPr>
            <p:cNvSpPr>
              <a:spLocks noChangeShapeType="1"/>
            </p:cNvSpPr>
            <p:nvPr/>
          </p:nvSpPr>
          <p:spPr bwMode="auto">
            <a:xfrm>
              <a:off x="3054" y="2838"/>
              <a:ext cx="157" cy="1"/>
            </a:xfrm>
            <a:prstGeom prst="line">
              <a:avLst/>
            </a:prstGeom>
            <a:grpFill/>
            <a:ln w="17463">
              <a:solidFill>
                <a:srgbClr val="000000"/>
              </a:solidFill>
              <a:round/>
              <a:headEnd/>
              <a:tailEnd/>
            </a:ln>
            <a:extLst/>
          </p:spPr>
          <p:txBody>
            <a:bodyPr/>
            <a:lstStyle/>
            <a:p>
              <a:pPr>
                <a:defRPr/>
              </a:pPr>
              <a:endParaRPr lang="zh-CN" altLang="en-US"/>
            </a:p>
          </p:txBody>
        </p:sp>
        <p:sp>
          <p:nvSpPr>
            <p:cNvPr id="45087" name="Rectangle 32">
              <a:extLst>
                <a:ext uri="{FF2B5EF4-FFF2-40B4-BE49-F238E27FC236}">
                  <a16:creationId xmlns:a16="http://schemas.microsoft.com/office/drawing/2014/main" id="{B49479AA-FA4D-45C5-9514-7E926475A29E}"/>
                </a:ext>
              </a:extLst>
            </p:cNvPr>
            <p:cNvSpPr>
              <a:spLocks noChangeArrowheads="1"/>
            </p:cNvSpPr>
            <p:nvPr/>
          </p:nvSpPr>
          <p:spPr bwMode="auto">
            <a:xfrm>
              <a:off x="3813" y="2636"/>
              <a:ext cx="335"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2 R</a:t>
              </a:r>
              <a:endParaRPr lang="zh-CN" altLang="zh-CN" sz="1800">
                <a:latin typeface="Arial" panose="020B0604020202020204" pitchFamily="34" charset="0"/>
                <a:ea typeface="宋体" panose="02010600030101010101" pitchFamily="2" charset="-122"/>
              </a:endParaRPr>
            </a:p>
          </p:txBody>
        </p:sp>
        <p:sp>
          <p:nvSpPr>
            <p:cNvPr id="45088" name="Oval 33">
              <a:extLst>
                <a:ext uri="{FF2B5EF4-FFF2-40B4-BE49-F238E27FC236}">
                  <a16:creationId xmlns:a16="http://schemas.microsoft.com/office/drawing/2014/main" id="{9460EF6B-4DE9-49FE-9600-C06E4D498248}"/>
                </a:ext>
              </a:extLst>
            </p:cNvPr>
            <p:cNvSpPr>
              <a:spLocks noChangeArrowheads="1"/>
            </p:cNvSpPr>
            <p:nvPr/>
          </p:nvSpPr>
          <p:spPr bwMode="auto">
            <a:xfrm>
              <a:off x="4093" y="2720"/>
              <a:ext cx="27" cy="27"/>
            </a:xfrm>
            <a:prstGeom prst="ellipse">
              <a:avLst/>
            </a:prstGeom>
            <a:gr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endParaRPr lang="zh-CN" altLang="en-US" sz="1800">
                <a:latin typeface="Arial" panose="020B0604020202020204" pitchFamily="34" charset="0"/>
                <a:ea typeface="宋体" panose="02010600030101010101" pitchFamily="2" charset="-122"/>
              </a:endParaRPr>
            </a:p>
          </p:txBody>
        </p:sp>
        <p:sp>
          <p:nvSpPr>
            <p:cNvPr id="45089" name="Oval 34">
              <a:extLst>
                <a:ext uri="{FF2B5EF4-FFF2-40B4-BE49-F238E27FC236}">
                  <a16:creationId xmlns:a16="http://schemas.microsoft.com/office/drawing/2014/main" id="{B563EC56-09AC-4005-BF99-B16056D6B911}"/>
                </a:ext>
              </a:extLst>
            </p:cNvPr>
            <p:cNvSpPr>
              <a:spLocks noChangeArrowheads="1"/>
            </p:cNvSpPr>
            <p:nvPr/>
          </p:nvSpPr>
          <p:spPr bwMode="auto">
            <a:xfrm>
              <a:off x="4070" y="3170"/>
              <a:ext cx="27" cy="27"/>
            </a:xfrm>
            <a:prstGeom prst="ellipse">
              <a:avLst/>
            </a:prstGeom>
            <a:gr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endParaRPr lang="zh-CN" altLang="en-US" sz="1800">
                <a:latin typeface="Arial" panose="020B0604020202020204" pitchFamily="34" charset="0"/>
                <a:ea typeface="宋体" panose="02010600030101010101" pitchFamily="2" charset="-122"/>
              </a:endParaRPr>
            </a:p>
          </p:txBody>
        </p:sp>
        <p:sp>
          <p:nvSpPr>
            <p:cNvPr id="45090" name="Rectangle 35">
              <a:extLst>
                <a:ext uri="{FF2B5EF4-FFF2-40B4-BE49-F238E27FC236}">
                  <a16:creationId xmlns:a16="http://schemas.microsoft.com/office/drawing/2014/main" id="{27C0C007-5700-4BC0-AC26-46091CBA637C}"/>
                </a:ext>
              </a:extLst>
            </p:cNvPr>
            <p:cNvSpPr>
              <a:spLocks noChangeArrowheads="1"/>
            </p:cNvSpPr>
            <p:nvPr/>
          </p:nvSpPr>
          <p:spPr bwMode="auto">
            <a:xfrm>
              <a:off x="1945" y="3041"/>
              <a:ext cx="197"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dirty="0">
                  <a:solidFill>
                    <a:srgbClr val="000000"/>
                  </a:solidFill>
                  <a:latin typeface="Times New Roman" panose="02020603050405020304" pitchFamily="18" charset="0"/>
                  <a:ea typeface="宋体" panose="02010600030101010101" pitchFamily="2" charset="-122"/>
                </a:rPr>
                <a:t>R</a:t>
              </a:r>
              <a:endParaRPr lang="zh-CN" altLang="zh-CN" sz="1800" dirty="0">
                <a:latin typeface="Arial" panose="020B0604020202020204" pitchFamily="34" charset="0"/>
                <a:ea typeface="宋体" panose="02010600030101010101" pitchFamily="2" charset="-122"/>
              </a:endParaRPr>
            </a:p>
          </p:txBody>
        </p:sp>
        <p:sp>
          <p:nvSpPr>
            <p:cNvPr id="45091" name="Oval 36">
              <a:extLst>
                <a:ext uri="{FF2B5EF4-FFF2-40B4-BE49-F238E27FC236}">
                  <a16:creationId xmlns:a16="http://schemas.microsoft.com/office/drawing/2014/main" id="{CA51EFC8-092E-43F3-95C2-3A012ACC84E1}"/>
                </a:ext>
              </a:extLst>
            </p:cNvPr>
            <p:cNvSpPr>
              <a:spLocks noChangeArrowheads="1"/>
            </p:cNvSpPr>
            <p:nvPr/>
          </p:nvSpPr>
          <p:spPr bwMode="auto">
            <a:xfrm>
              <a:off x="2055" y="3125"/>
              <a:ext cx="27" cy="27"/>
            </a:xfrm>
            <a:prstGeom prst="ellipse">
              <a:avLst/>
            </a:prstGeom>
            <a:gr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endParaRPr lang="zh-CN" altLang="en-US" sz="1800">
                <a:latin typeface="Arial" panose="020B0604020202020204" pitchFamily="34" charset="0"/>
                <a:ea typeface="宋体" panose="02010600030101010101" pitchFamily="2" charset="-122"/>
              </a:endParaRPr>
            </a:p>
          </p:txBody>
        </p:sp>
        <p:sp>
          <p:nvSpPr>
            <p:cNvPr id="45092" name="Rectangle 37">
              <a:extLst>
                <a:ext uri="{FF2B5EF4-FFF2-40B4-BE49-F238E27FC236}">
                  <a16:creationId xmlns:a16="http://schemas.microsoft.com/office/drawing/2014/main" id="{E65F8CD9-4653-4344-97F9-C2E60A82D469}"/>
                </a:ext>
              </a:extLst>
            </p:cNvPr>
            <p:cNvSpPr>
              <a:spLocks noChangeArrowheads="1"/>
            </p:cNvSpPr>
            <p:nvPr/>
          </p:nvSpPr>
          <p:spPr bwMode="auto">
            <a:xfrm>
              <a:off x="2114" y="3041"/>
              <a:ext cx="270"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 + </a:t>
              </a:r>
              <a:endParaRPr lang="zh-CN" altLang="zh-CN" sz="1800">
                <a:latin typeface="Arial" panose="020B0604020202020204" pitchFamily="34" charset="0"/>
                <a:ea typeface="宋体" panose="02010600030101010101" pitchFamily="2" charset="-122"/>
              </a:endParaRPr>
            </a:p>
          </p:txBody>
        </p:sp>
        <p:sp>
          <p:nvSpPr>
            <p:cNvPr id="45093" name="Rectangle 38">
              <a:extLst>
                <a:ext uri="{FF2B5EF4-FFF2-40B4-BE49-F238E27FC236}">
                  <a16:creationId xmlns:a16="http://schemas.microsoft.com/office/drawing/2014/main" id="{3E06436A-B908-4B6F-B223-A2C3BA4ADF95}"/>
                </a:ext>
              </a:extLst>
            </p:cNvPr>
            <p:cNvSpPr>
              <a:spLocks noChangeArrowheads="1"/>
            </p:cNvSpPr>
            <p:nvPr/>
          </p:nvSpPr>
          <p:spPr bwMode="auto">
            <a:xfrm>
              <a:off x="2553" y="3097"/>
              <a:ext cx="167"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a:solidFill>
                    <a:srgbClr val="000000"/>
                  </a:solidFill>
                  <a:latin typeface="Times New Roman" panose="02020603050405020304" pitchFamily="18" charset="0"/>
                  <a:ea typeface="宋体" panose="02010600030101010101" pitchFamily="2" charset="-122"/>
                </a:rPr>
                <a:t>  </a:t>
              </a:r>
              <a:endParaRPr lang="zh-CN" altLang="zh-CN" sz="1800">
                <a:latin typeface="Arial" panose="020B0604020202020204" pitchFamily="34" charset="0"/>
                <a:ea typeface="宋体" panose="02010600030101010101" pitchFamily="2" charset="-122"/>
              </a:endParaRPr>
            </a:p>
          </p:txBody>
        </p:sp>
        <p:sp>
          <p:nvSpPr>
            <p:cNvPr id="45094" name="Rectangle 39">
              <a:extLst>
                <a:ext uri="{FF2B5EF4-FFF2-40B4-BE49-F238E27FC236}">
                  <a16:creationId xmlns:a16="http://schemas.microsoft.com/office/drawing/2014/main" id="{37D11EA1-D079-472F-9FF5-8CCEFA85DB14}"/>
                </a:ext>
              </a:extLst>
            </p:cNvPr>
            <p:cNvSpPr>
              <a:spLocks noChangeArrowheads="1"/>
            </p:cNvSpPr>
            <p:nvPr/>
          </p:nvSpPr>
          <p:spPr bwMode="auto">
            <a:xfrm>
              <a:off x="2350" y="3041"/>
              <a:ext cx="239"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dirty="0">
                  <a:solidFill>
                    <a:srgbClr val="000000"/>
                  </a:solidFill>
                  <a:latin typeface="Times New Roman" panose="02020603050405020304" pitchFamily="18" charset="0"/>
                  <a:ea typeface="宋体" panose="02010600030101010101" pitchFamily="2" charset="-122"/>
                </a:rPr>
                <a:t>M</a:t>
              </a:r>
              <a:endParaRPr lang="zh-CN" altLang="zh-CN" sz="1800" dirty="0">
                <a:latin typeface="Arial" panose="020B0604020202020204" pitchFamily="34" charset="0"/>
                <a:ea typeface="宋体" panose="02010600030101010101" pitchFamily="2" charset="-122"/>
              </a:endParaRPr>
            </a:p>
          </p:txBody>
        </p:sp>
        <p:sp>
          <p:nvSpPr>
            <p:cNvPr id="45095" name="Rectangle 40">
              <a:extLst>
                <a:ext uri="{FF2B5EF4-FFF2-40B4-BE49-F238E27FC236}">
                  <a16:creationId xmlns:a16="http://schemas.microsoft.com/office/drawing/2014/main" id="{09B4F8B7-15B2-4AE0-A734-630425AA70E9}"/>
                </a:ext>
              </a:extLst>
            </p:cNvPr>
            <p:cNvSpPr>
              <a:spLocks noChangeArrowheads="1"/>
            </p:cNvSpPr>
            <p:nvPr/>
          </p:nvSpPr>
          <p:spPr bwMode="auto">
            <a:xfrm>
              <a:off x="2508" y="3115"/>
              <a:ext cx="124" cy="18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700" dirty="0">
                  <a:solidFill>
                    <a:srgbClr val="000000"/>
                  </a:solidFill>
                  <a:latin typeface="Times New Roman" panose="02020603050405020304" pitchFamily="18" charset="0"/>
                  <a:ea typeface="宋体" panose="02010600030101010101" pitchFamily="2" charset="-122"/>
                </a:rPr>
                <a:t>1</a:t>
              </a:r>
              <a:endParaRPr lang="zh-CN" altLang="zh-CN" sz="1800" dirty="0">
                <a:latin typeface="Arial" panose="020B0604020202020204" pitchFamily="34" charset="0"/>
                <a:ea typeface="宋体" panose="02010600030101010101" pitchFamily="2" charset="-122"/>
              </a:endParaRPr>
            </a:p>
          </p:txBody>
        </p:sp>
        <p:sp>
          <p:nvSpPr>
            <p:cNvPr id="45096" name="Line 41">
              <a:extLst>
                <a:ext uri="{FF2B5EF4-FFF2-40B4-BE49-F238E27FC236}">
                  <a16:creationId xmlns:a16="http://schemas.microsoft.com/office/drawing/2014/main" id="{F4CCB9FB-4533-4FE6-A9E2-C511FB038728}"/>
                </a:ext>
              </a:extLst>
            </p:cNvPr>
            <p:cNvSpPr>
              <a:spLocks noChangeShapeType="1"/>
            </p:cNvSpPr>
            <p:nvPr/>
          </p:nvSpPr>
          <p:spPr bwMode="auto">
            <a:xfrm>
              <a:off x="2812" y="3184"/>
              <a:ext cx="956" cy="1"/>
            </a:xfrm>
            <a:prstGeom prst="line">
              <a:avLst/>
            </a:prstGeom>
            <a:grpFill/>
            <a:ln w="17463">
              <a:solidFill>
                <a:srgbClr val="000000"/>
              </a:solidFill>
              <a:round/>
              <a:headEnd/>
              <a:tailEnd/>
            </a:ln>
            <a:extLst/>
          </p:spPr>
          <p:txBody>
            <a:bodyPr/>
            <a:lstStyle/>
            <a:p>
              <a:pPr>
                <a:defRPr/>
              </a:pPr>
              <a:endParaRPr lang="zh-CN" altLang="en-US"/>
            </a:p>
          </p:txBody>
        </p:sp>
        <p:sp>
          <p:nvSpPr>
            <p:cNvPr id="45097" name="Freeform 42">
              <a:extLst>
                <a:ext uri="{FF2B5EF4-FFF2-40B4-BE49-F238E27FC236}">
                  <a16:creationId xmlns:a16="http://schemas.microsoft.com/office/drawing/2014/main" id="{A4CE8F38-33DD-4801-B248-D5C615A1045C}"/>
                </a:ext>
              </a:extLst>
            </p:cNvPr>
            <p:cNvSpPr>
              <a:spLocks/>
            </p:cNvSpPr>
            <p:nvPr/>
          </p:nvSpPr>
          <p:spPr bwMode="auto">
            <a:xfrm>
              <a:off x="3656" y="3150"/>
              <a:ext cx="112" cy="68"/>
            </a:xfrm>
            <a:custGeom>
              <a:avLst/>
              <a:gdLst>
                <a:gd name="T0" fmla="*/ 112 w 112"/>
                <a:gd name="T1" fmla="*/ 34 h 68"/>
                <a:gd name="T2" fmla="*/ 0 w 112"/>
                <a:gd name="T3" fmla="*/ 68 h 68"/>
                <a:gd name="T4" fmla="*/ 22 w 112"/>
                <a:gd name="T5" fmla="*/ 34 h 68"/>
                <a:gd name="T6" fmla="*/ 0 w 112"/>
                <a:gd name="T7" fmla="*/ 0 h 68"/>
                <a:gd name="T8" fmla="*/ 112 w 112"/>
                <a:gd name="T9" fmla="*/ 34 h 68"/>
                <a:gd name="T10" fmla="*/ 0 60000 65536"/>
                <a:gd name="T11" fmla="*/ 0 60000 65536"/>
                <a:gd name="T12" fmla="*/ 0 60000 65536"/>
                <a:gd name="T13" fmla="*/ 0 60000 65536"/>
                <a:gd name="T14" fmla="*/ 0 60000 65536"/>
                <a:gd name="T15" fmla="*/ 0 w 112"/>
                <a:gd name="T16" fmla="*/ 0 h 68"/>
                <a:gd name="T17" fmla="*/ 112 w 112"/>
                <a:gd name="T18" fmla="*/ 68 h 68"/>
              </a:gdLst>
              <a:ahLst/>
              <a:cxnLst>
                <a:cxn ang="T10">
                  <a:pos x="T0" y="T1"/>
                </a:cxn>
                <a:cxn ang="T11">
                  <a:pos x="T2" y="T3"/>
                </a:cxn>
                <a:cxn ang="T12">
                  <a:pos x="T4" y="T5"/>
                </a:cxn>
                <a:cxn ang="T13">
                  <a:pos x="T6" y="T7"/>
                </a:cxn>
                <a:cxn ang="T14">
                  <a:pos x="T8" y="T9"/>
                </a:cxn>
              </a:cxnLst>
              <a:rect l="T15" t="T16" r="T17" b="T18"/>
              <a:pathLst>
                <a:path w="112" h="68">
                  <a:moveTo>
                    <a:pt x="112" y="34"/>
                  </a:moveTo>
                  <a:lnTo>
                    <a:pt x="0" y="68"/>
                  </a:lnTo>
                  <a:lnTo>
                    <a:pt x="22" y="34"/>
                  </a:lnTo>
                  <a:lnTo>
                    <a:pt x="0" y="0"/>
                  </a:lnTo>
                  <a:lnTo>
                    <a:pt x="112" y="34"/>
                  </a:lnTo>
                  <a:close/>
                </a:path>
              </a:pathLst>
            </a:custGeom>
            <a:grpFill/>
            <a:ln w="17463">
              <a:solidFill>
                <a:srgbClr val="000000"/>
              </a:solidFill>
              <a:prstDash val="solid"/>
              <a:round/>
              <a:headEnd/>
              <a:tailEnd/>
            </a:ln>
          </p:spPr>
          <p:txBody>
            <a:bodyPr/>
            <a:lstStyle/>
            <a:p>
              <a:pPr>
                <a:defRPr/>
              </a:pPr>
              <a:endParaRPr lang="zh-CN" altLang="en-US"/>
            </a:p>
          </p:txBody>
        </p:sp>
        <p:sp>
          <p:nvSpPr>
            <p:cNvPr id="45098" name="Rectangle 43">
              <a:extLst>
                <a:ext uri="{FF2B5EF4-FFF2-40B4-BE49-F238E27FC236}">
                  <a16:creationId xmlns:a16="http://schemas.microsoft.com/office/drawing/2014/main" id="{7B0672B7-FD23-49CF-8106-7EEFFF097358}"/>
                </a:ext>
              </a:extLst>
            </p:cNvPr>
            <p:cNvSpPr>
              <a:spLocks noChangeArrowheads="1"/>
            </p:cNvSpPr>
            <p:nvPr/>
          </p:nvSpPr>
          <p:spPr bwMode="auto">
            <a:xfrm>
              <a:off x="3836" y="3097"/>
              <a:ext cx="383" cy="22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dirty="0">
                  <a:solidFill>
                    <a:srgbClr val="000000"/>
                  </a:solidFill>
                  <a:latin typeface="Times New Roman" panose="02020603050405020304" pitchFamily="18" charset="0"/>
                  <a:ea typeface="宋体" panose="02010600030101010101" pitchFamily="2" charset="-122"/>
                </a:rPr>
                <a:t>M</a:t>
              </a:r>
              <a:endParaRPr lang="zh-CN" altLang="zh-CN" sz="1800" dirty="0">
                <a:latin typeface="Arial" panose="020B0604020202020204" pitchFamily="34" charset="0"/>
                <a:ea typeface="宋体" panose="02010600030101010101" pitchFamily="2" charset="-122"/>
              </a:endParaRPr>
            </a:p>
          </p:txBody>
        </p:sp>
        <p:sp>
          <p:nvSpPr>
            <p:cNvPr id="45099" name="Rectangle 44">
              <a:extLst>
                <a:ext uri="{FF2B5EF4-FFF2-40B4-BE49-F238E27FC236}">
                  <a16:creationId xmlns:a16="http://schemas.microsoft.com/office/drawing/2014/main" id="{BD6C950B-AA76-490B-8B61-2C1C1681E1B3}"/>
                </a:ext>
              </a:extLst>
            </p:cNvPr>
            <p:cNvSpPr>
              <a:spLocks noChangeArrowheads="1"/>
            </p:cNvSpPr>
            <p:nvPr/>
          </p:nvSpPr>
          <p:spPr bwMode="auto">
            <a:xfrm>
              <a:off x="3994" y="3171"/>
              <a:ext cx="98" cy="1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700" dirty="0">
                  <a:solidFill>
                    <a:srgbClr val="000000"/>
                  </a:solidFill>
                  <a:latin typeface="Times New Roman" panose="02020603050405020304" pitchFamily="18" charset="0"/>
                  <a:ea typeface="宋体" panose="02010600030101010101" pitchFamily="2" charset="-122"/>
                </a:rPr>
                <a:t>1</a:t>
              </a:r>
              <a:r>
                <a:rPr lang="en-US" altLang="zh-CN" sz="1700" baseline="30000" dirty="0">
                  <a:solidFill>
                    <a:srgbClr val="000000"/>
                  </a:solidFill>
                  <a:latin typeface="Times New Roman" panose="02020603050405020304" pitchFamily="18" charset="0"/>
                  <a:ea typeface="宋体" panose="02010600030101010101" pitchFamily="2" charset="-122"/>
                </a:rPr>
                <a:t>•</a:t>
              </a:r>
              <a:endParaRPr lang="zh-CN" altLang="zh-CN" sz="1800" baseline="30000" dirty="0">
                <a:latin typeface="Arial" panose="020B0604020202020204" pitchFamily="34" charset="0"/>
                <a:ea typeface="宋体" panose="02010600030101010101" pitchFamily="2" charset="-122"/>
              </a:endParaRPr>
            </a:p>
          </p:txBody>
        </p:sp>
        <p:sp>
          <p:nvSpPr>
            <p:cNvPr id="45100" name="Rectangle 45">
              <a:extLst>
                <a:ext uri="{FF2B5EF4-FFF2-40B4-BE49-F238E27FC236}">
                  <a16:creationId xmlns:a16="http://schemas.microsoft.com/office/drawing/2014/main" id="{0EA109FB-D02B-49FC-896D-79316E35DBC9}"/>
                </a:ext>
              </a:extLst>
            </p:cNvPr>
            <p:cNvSpPr>
              <a:spLocks noChangeArrowheads="1"/>
            </p:cNvSpPr>
            <p:nvPr/>
          </p:nvSpPr>
          <p:spPr bwMode="auto">
            <a:xfrm>
              <a:off x="3046" y="2938"/>
              <a:ext cx="83" cy="22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2300" i="1" dirty="0">
                  <a:solidFill>
                    <a:srgbClr val="000000"/>
                  </a:solidFill>
                  <a:latin typeface="Times New Roman" panose="02020603050405020304" pitchFamily="18" charset="0"/>
                  <a:ea typeface="宋体" panose="02010600030101010101" pitchFamily="2" charset="-122"/>
                </a:rPr>
                <a:t>k</a:t>
              </a:r>
              <a:endParaRPr lang="zh-CN" altLang="zh-CN" sz="1800" i="1" dirty="0">
                <a:latin typeface="Arial" panose="020B0604020202020204" pitchFamily="34" charset="0"/>
                <a:ea typeface="宋体" panose="02010600030101010101" pitchFamily="2" charset="-122"/>
              </a:endParaRPr>
            </a:p>
          </p:txBody>
        </p:sp>
        <p:sp>
          <p:nvSpPr>
            <p:cNvPr id="45101" name="Rectangle 46">
              <a:extLst>
                <a:ext uri="{FF2B5EF4-FFF2-40B4-BE49-F238E27FC236}">
                  <a16:creationId xmlns:a16="http://schemas.microsoft.com/office/drawing/2014/main" id="{6B907635-C9E8-4FB5-9070-5DA3EB85C85C}"/>
                </a:ext>
              </a:extLst>
            </p:cNvPr>
            <p:cNvSpPr>
              <a:spLocks noChangeArrowheads="1"/>
            </p:cNvSpPr>
            <p:nvPr/>
          </p:nvSpPr>
          <p:spPr bwMode="auto">
            <a:xfrm>
              <a:off x="3131" y="2993"/>
              <a:ext cx="36" cy="15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600" dirty="0">
                  <a:solidFill>
                    <a:srgbClr val="000000"/>
                  </a:solidFill>
                  <a:latin typeface="Times New Roman" panose="02020603050405020304" pitchFamily="18" charset="0"/>
                  <a:ea typeface="宋体" panose="02010600030101010101" pitchFamily="2" charset="-122"/>
                </a:rPr>
                <a:t>i</a:t>
              </a:r>
              <a:endParaRPr lang="zh-CN" altLang="zh-CN" sz="1600" dirty="0">
                <a:latin typeface="Arial" panose="020B0604020202020204" pitchFamily="34" charset="0"/>
                <a:ea typeface="宋体" panose="02010600030101010101" pitchFamily="2" charset="-122"/>
              </a:endParaRPr>
            </a:p>
          </p:txBody>
        </p:sp>
        <p:sp>
          <p:nvSpPr>
            <p:cNvPr id="45102" name="Rectangle 47">
              <a:extLst>
                <a:ext uri="{FF2B5EF4-FFF2-40B4-BE49-F238E27FC236}">
                  <a16:creationId xmlns:a16="http://schemas.microsoft.com/office/drawing/2014/main" id="{072ED418-070F-4353-BFBE-8752CBBDD79A}"/>
                </a:ext>
              </a:extLst>
            </p:cNvPr>
            <p:cNvSpPr>
              <a:spLocks noChangeArrowheads="1"/>
            </p:cNvSpPr>
            <p:nvPr/>
          </p:nvSpPr>
          <p:spPr bwMode="auto">
            <a:xfrm>
              <a:off x="3157" y="2969"/>
              <a:ext cx="137" cy="20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defRPr/>
              </a:pPr>
              <a:r>
                <a:rPr lang="zh-CN" altLang="zh-CN" sz="1900" dirty="0">
                  <a:solidFill>
                    <a:srgbClr val="000000"/>
                  </a:solidFill>
                  <a:latin typeface="Times New Roman" panose="02020603050405020304" pitchFamily="18" charset="0"/>
                  <a:ea typeface="宋体" panose="02010600030101010101" pitchFamily="2" charset="-122"/>
                </a:rPr>
                <a:t>1</a:t>
              </a:r>
              <a:endParaRPr lang="zh-CN" altLang="zh-CN" sz="1800" dirty="0">
                <a:latin typeface="Arial" panose="020B0604020202020204" pitchFamily="34" charset="0"/>
                <a:ea typeface="宋体" panose="02010600030101010101" pitchFamily="2" charset="-122"/>
              </a:endParaRPr>
            </a:p>
          </p:txBody>
        </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0DB0D073-91BC-4DC0-A1D1-8A3E0C71B53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3251"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8A734AA3-488B-4BDA-BBA0-49F0DB75BF99}"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28</a:t>
            </a:fld>
            <a:endParaRPr lang="en-US" altLang="zh-CN" sz="1200">
              <a:solidFill>
                <a:srgbClr val="FFFFFF"/>
              </a:solidFill>
              <a:latin typeface="Century Schoolbook" panose="02040604050505020304" pitchFamily="18" charset="0"/>
              <a:ea typeface="宋体" panose="02010600030101010101" pitchFamily="2" charset="-122"/>
            </a:endParaRPr>
          </a:p>
        </p:txBody>
      </p:sp>
      <p:pic>
        <p:nvPicPr>
          <p:cNvPr id="5325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113" y="2514600"/>
            <a:ext cx="194627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pic>
        <p:nvPicPr>
          <p:cNvPr id="5325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3675" y="2514600"/>
            <a:ext cx="2028825"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4"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8613" y="4292600"/>
            <a:ext cx="16764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8750" y="4292600"/>
            <a:ext cx="17526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Text Box 11"/>
          <p:cNvSpPr txBox="1">
            <a:spLocks noChangeArrowheads="1"/>
          </p:cNvSpPr>
          <p:nvPr/>
        </p:nvSpPr>
        <p:spPr bwMode="auto">
          <a:xfrm>
            <a:off x="601663" y="3473450"/>
            <a:ext cx="5783262"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40000"/>
              </a:lnSpc>
              <a:spcBef>
                <a:spcPct val="0"/>
              </a:spcBef>
              <a:buFontTx/>
              <a:buNone/>
            </a:pPr>
            <a:r>
              <a:rPr lang="zh-CN" altLang="en-US" sz="2400" b="1">
                <a:latin typeface="楷体" panose="02010609060101010101" pitchFamily="49" charset="-122"/>
                <a:ea typeface="楷体" panose="02010609060101010101" pitchFamily="49" charset="-122"/>
              </a:rPr>
              <a:t>体系中有两种单体</a:t>
            </a:r>
            <a:r>
              <a:rPr lang="zh-CN" altLang="en-US" sz="1800" b="1">
                <a:solidFill>
                  <a:srgbClr val="0033CC"/>
                </a:solidFill>
                <a:latin typeface="Century Schoolbook" panose="02040604050505020304" pitchFamily="18" charset="0"/>
                <a:ea typeface="宋体" panose="02010600030101010101" pitchFamily="2" charset="-122"/>
              </a:rPr>
              <a:t>             </a:t>
            </a:r>
            <a:r>
              <a:rPr lang="en-US" altLang="zh-CN" sz="2400">
                <a:latin typeface="Arial" panose="020B0604020202020204" pitchFamily="34" charset="0"/>
                <a:ea typeface="宋体" panose="02010600030101010101" pitchFamily="2" charset="-122"/>
                <a:cs typeface="Arial" panose="020B0604020202020204" pitchFamily="34" charset="0"/>
              </a:rPr>
              <a:t>M</a:t>
            </a:r>
            <a:r>
              <a:rPr lang="en-US" altLang="zh-CN" sz="2400" baseline="-25000">
                <a:latin typeface="Arial" panose="020B0604020202020204" pitchFamily="34" charset="0"/>
                <a:ea typeface="宋体" panose="02010600030101010101" pitchFamily="2" charset="-122"/>
                <a:cs typeface="Arial" panose="020B0604020202020204" pitchFamily="34" charset="0"/>
              </a:rPr>
              <a:t>1</a:t>
            </a:r>
            <a:r>
              <a:rPr lang="zh-CN" altLang="en-US" sz="2400">
                <a:latin typeface="Arial" panose="020B0604020202020204" pitchFamily="34" charset="0"/>
                <a:ea typeface="宋体" panose="02010600030101010101" pitchFamily="2" charset="-122"/>
                <a:cs typeface="Arial" panose="020B0604020202020204" pitchFamily="34" charset="0"/>
              </a:rPr>
              <a:t>                  </a:t>
            </a:r>
            <a:r>
              <a:rPr lang="en-US" altLang="zh-CN" sz="2400">
                <a:latin typeface="Arial" panose="020B0604020202020204" pitchFamily="34" charset="0"/>
                <a:ea typeface="宋体" panose="02010600030101010101" pitchFamily="2" charset="-122"/>
                <a:cs typeface="Arial" panose="020B0604020202020204" pitchFamily="34" charset="0"/>
              </a:rPr>
              <a:t>M</a:t>
            </a:r>
            <a:r>
              <a:rPr lang="en-US" altLang="zh-CN" sz="2400" baseline="-25000">
                <a:latin typeface="Arial" panose="020B0604020202020204" pitchFamily="34" charset="0"/>
                <a:ea typeface="宋体" panose="02010600030101010101" pitchFamily="2" charset="-122"/>
                <a:cs typeface="Arial" panose="020B0604020202020204" pitchFamily="34" charset="0"/>
              </a:rPr>
              <a:t>2</a:t>
            </a:r>
          </a:p>
          <a:p>
            <a:pPr eaLnBrk="1" hangingPunct="1">
              <a:lnSpc>
                <a:spcPct val="140000"/>
              </a:lnSpc>
              <a:spcBef>
                <a:spcPct val="0"/>
              </a:spcBef>
              <a:buFontTx/>
              <a:buNone/>
            </a:pPr>
            <a:endParaRPr lang="en-US" altLang="zh-CN" sz="1800" b="1">
              <a:latin typeface="Century Schoolbook" panose="02040604050505020304" pitchFamily="18" charset="0"/>
              <a:ea typeface="宋体" panose="02010600030101010101" pitchFamily="2" charset="-122"/>
            </a:endParaRPr>
          </a:p>
          <a:p>
            <a:pPr eaLnBrk="1" hangingPunct="1">
              <a:lnSpc>
                <a:spcPct val="140000"/>
              </a:lnSpc>
              <a:spcBef>
                <a:spcPct val="0"/>
              </a:spcBef>
              <a:buFontTx/>
              <a:buNone/>
            </a:pPr>
            <a:r>
              <a:rPr lang="zh-CN" altLang="en-US" sz="2400" b="1">
                <a:solidFill>
                  <a:srgbClr val="FF0000"/>
                </a:solidFill>
                <a:latin typeface="楷体" panose="02010609060101010101" pitchFamily="49" charset="-122"/>
                <a:ea typeface="楷体" panose="02010609060101010101" pitchFamily="49" charset="-122"/>
              </a:rPr>
              <a:t>两种自由基</a:t>
            </a:r>
          </a:p>
        </p:txBody>
      </p:sp>
      <p:sp>
        <p:nvSpPr>
          <p:cNvPr id="53257" name="Rectangle 20"/>
          <p:cNvSpPr>
            <a:spLocks noChangeArrowheads="1"/>
          </p:cNvSpPr>
          <p:nvPr/>
        </p:nvSpPr>
        <p:spPr bwMode="auto">
          <a:xfrm>
            <a:off x="414338" y="484188"/>
            <a:ext cx="467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20000"/>
              </a:spcBef>
              <a:buFontTx/>
              <a:buNone/>
            </a:pPr>
            <a:r>
              <a:rPr lang="zh-CN" altLang="en-US" sz="2400" b="1">
                <a:solidFill>
                  <a:srgbClr val="FF0000"/>
                </a:solidFill>
                <a:latin typeface="楷体" panose="02010609060101010101" pitchFamily="49" charset="-122"/>
                <a:ea typeface="楷体" panose="02010609060101010101" pitchFamily="49" charset="-122"/>
              </a:rPr>
              <a:t>链增长—— 大分子链的增长反应</a:t>
            </a:r>
          </a:p>
        </p:txBody>
      </p:sp>
      <p:sp>
        <p:nvSpPr>
          <p:cNvPr id="53258" name="Text Box 22"/>
          <p:cNvSpPr txBox="1">
            <a:spLocks noChangeArrowheads="1"/>
          </p:cNvSpPr>
          <p:nvPr/>
        </p:nvSpPr>
        <p:spPr bwMode="auto">
          <a:xfrm>
            <a:off x="500063" y="1227138"/>
            <a:ext cx="74676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077913" indent="-10779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solidFill>
                  <a:srgbClr val="FF0000"/>
                </a:solidFill>
                <a:latin typeface="楷体" panose="02010609060101010101" pitchFamily="49" charset="-122"/>
                <a:ea typeface="楷体" panose="02010609060101010101" pitchFamily="49" charset="-122"/>
              </a:rPr>
              <a:t>假定1：链自由基的类型及其性质完全决定于末端的结构单元，而与其余链节单元无关。</a:t>
            </a:r>
          </a:p>
        </p:txBody>
      </p:sp>
      <p:sp>
        <p:nvSpPr>
          <p:cNvPr id="53259" name="Text Box 23"/>
          <p:cNvSpPr txBox="1">
            <a:spLocks noChangeArrowheads="1"/>
          </p:cNvSpPr>
          <p:nvPr/>
        </p:nvSpPr>
        <p:spPr bwMode="auto">
          <a:xfrm>
            <a:off x="4645025" y="2579688"/>
            <a:ext cx="38687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楷体" panose="02010609060101010101" pitchFamily="49" charset="-122"/>
                <a:ea typeface="楷体" panose="02010609060101010101" pitchFamily="49" charset="-122"/>
                <a:cs typeface="Arial" panose="020B0604020202020204" pitchFamily="34" charset="0"/>
              </a:rPr>
              <a:t>与同一单体反应时活性相同</a:t>
            </a:r>
          </a:p>
        </p:txBody>
      </p:sp>
      <p:sp>
        <p:nvSpPr>
          <p:cNvPr id="53260" name="矩形 2"/>
          <p:cNvSpPr>
            <a:spLocks noChangeArrowheads="1"/>
          </p:cNvSpPr>
          <p:nvPr/>
        </p:nvSpPr>
        <p:spPr bwMode="auto">
          <a:xfrm>
            <a:off x="2390775" y="2616200"/>
            <a:ext cx="4175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b="1">
                <a:latin typeface="楷体" panose="02010609060101010101" pitchFamily="49" charset="-122"/>
                <a:ea typeface="楷体" panose="02010609060101010101" pitchFamily="49" charset="-122"/>
                <a:cs typeface="Arial" panose="020B0604020202020204" pitchFamily="34" charset="0"/>
              </a:rPr>
              <a:t>和</a:t>
            </a:r>
            <a:endParaRPr lang="zh-CN" altLang="en-US" sz="1800">
              <a:cs typeface="Arial" panose="020B0604020202020204" pitchFamily="34" charset="0"/>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36" name="直接连接符 135">
            <a:extLst>
              <a:ext uri="{FF2B5EF4-FFF2-40B4-BE49-F238E27FC236}">
                <a16:creationId xmlns:a16="http://schemas.microsoft.com/office/drawing/2014/main" id="{65EF9C78-36FC-480A-974A-A322CD4B523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42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6D9182A-CCA1-4DF0-980D-3CF8BF1810F7}"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29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54276" name="Text Box 2"/>
          <p:cNvSpPr txBox="1">
            <a:spLocks noChangeArrowheads="1"/>
          </p:cNvSpPr>
          <p:nvPr/>
        </p:nvSpPr>
        <p:spPr bwMode="auto">
          <a:xfrm>
            <a:off x="171450" y="361950"/>
            <a:ext cx="457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solidFill>
                  <a:srgbClr val="FF0000"/>
                </a:solidFill>
                <a:latin typeface="楷体" panose="02010609060101010101" pitchFamily="49" charset="-122"/>
                <a:ea typeface="楷体" panose="02010609060101010101" pitchFamily="49" charset="-122"/>
              </a:rPr>
              <a:t>链增长过程可用四种反应表示：</a:t>
            </a:r>
          </a:p>
        </p:txBody>
      </p:sp>
      <p:pic>
        <p:nvPicPr>
          <p:cNvPr id="5427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5650" y="4743450"/>
            <a:ext cx="1309688" cy="117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pic>
      <p:sp>
        <p:nvSpPr>
          <p:cNvPr id="54278" name="Text Box 5"/>
          <p:cNvSpPr txBox="1">
            <a:spLocks noChangeArrowheads="1"/>
          </p:cNvSpPr>
          <p:nvPr/>
        </p:nvSpPr>
        <p:spPr bwMode="auto">
          <a:xfrm>
            <a:off x="6724650" y="4705350"/>
            <a:ext cx="20923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solidFill>
                  <a:srgbClr val="FF0000"/>
                </a:solidFill>
                <a:latin typeface="楷体" panose="02010609060101010101" pitchFamily="49" charset="-122"/>
                <a:ea typeface="楷体" panose="02010609060101010101" pitchFamily="49" charset="-122"/>
              </a:rPr>
              <a:t>自由基类型</a:t>
            </a:r>
          </a:p>
        </p:txBody>
      </p:sp>
      <p:sp>
        <p:nvSpPr>
          <p:cNvPr id="54279" name="Text Box 6"/>
          <p:cNvSpPr txBox="1">
            <a:spLocks noChangeArrowheads="1"/>
          </p:cNvSpPr>
          <p:nvPr/>
        </p:nvSpPr>
        <p:spPr bwMode="auto">
          <a:xfrm>
            <a:off x="6994525" y="5451475"/>
            <a:ext cx="14097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solidFill>
                  <a:srgbClr val="FF0000"/>
                </a:solidFill>
                <a:latin typeface="楷体" panose="02010609060101010101" pitchFamily="49" charset="-122"/>
                <a:ea typeface="楷体" panose="02010609060101010101" pitchFamily="49" charset="-122"/>
              </a:rPr>
              <a:t>单体类型</a:t>
            </a:r>
          </a:p>
        </p:txBody>
      </p:sp>
      <p:sp>
        <p:nvSpPr>
          <p:cNvPr id="52232" name="Text Box 9"/>
          <p:cNvSpPr txBox="1">
            <a:spLocks noChangeArrowheads="1"/>
          </p:cNvSpPr>
          <p:nvPr/>
        </p:nvSpPr>
        <p:spPr bwMode="auto">
          <a:xfrm>
            <a:off x="7786688" y="2165350"/>
            <a:ext cx="1349375" cy="425450"/>
          </a:xfrm>
          <a:prstGeom prst="rect">
            <a:avLst/>
          </a:prstGeom>
          <a:noFill/>
          <a:ln w="12700" cap="sq">
            <a:solidFill>
              <a:srgbClr val="CC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100" b="1">
                <a:latin typeface="Century Schoolbook" panose="02040604050505020304" pitchFamily="18" charset="0"/>
                <a:ea typeface="宋体" panose="02010600030101010101" pitchFamily="2" charset="-122"/>
              </a:rPr>
              <a:t>消耗</a:t>
            </a:r>
            <a:r>
              <a:rPr lang="en-US" altLang="zh-CN" sz="2100" b="1">
                <a:latin typeface="Century Schoolbook" panose="02040604050505020304" pitchFamily="18" charset="0"/>
                <a:ea typeface="宋体" panose="02010600030101010101" pitchFamily="2" charset="-122"/>
              </a:rPr>
              <a:t>M1</a:t>
            </a:r>
            <a:endParaRPr lang="en-US" altLang="zh-CN" sz="1800" b="1">
              <a:latin typeface="Century Schoolbook" panose="02040604050505020304" pitchFamily="18" charset="0"/>
              <a:ea typeface="宋体" panose="02010600030101010101" pitchFamily="2" charset="-122"/>
            </a:endParaRPr>
          </a:p>
        </p:txBody>
      </p:sp>
      <p:sp>
        <p:nvSpPr>
          <p:cNvPr id="52233" name="Text Box 11"/>
          <p:cNvSpPr txBox="1">
            <a:spLocks noChangeArrowheads="1"/>
          </p:cNvSpPr>
          <p:nvPr/>
        </p:nvSpPr>
        <p:spPr bwMode="auto">
          <a:xfrm>
            <a:off x="7848600" y="3155950"/>
            <a:ext cx="1287463" cy="425450"/>
          </a:xfrm>
          <a:prstGeom prst="rect">
            <a:avLst/>
          </a:prstGeom>
          <a:noFill/>
          <a:ln w="12700" cap="sq">
            <a:solidFill>
              <a:srgbClr val="CC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100" b="1">
                <a:latin typeface="Century Schoolbook" panose="02040604050505020304" pitchFamily="18" charset="0"/>
                <a:ea typeface="宋体" panose="02010600030101010101" pitchFamily="2" charset="-122"/>
              </a:rPr>
              <a:t>消耗</a:t>
            </a:r>
            <a:r>
              <a:rPr lang="en-US" altLang="zh-CN" sz="2100" b="1">
                <a:latin typeface="Century Schoolbook" panose="02040604050505020304" pitchFamily="18" charset="0"/>
                <a:ea typeface="宋体" panose="02010600030101010101" pitchFamily="2" charset="-122"/>
              </a:rPr>
              <a:t>M2</a:t>
            </a:r>
            <a:endParaRPr lang="en-US" altLang="zh-CN" sz="1800" b="1">
              <a:latin typeface="Century Schoolbook" panose="02040604050505020304" pitchFamily="18" charset="0"/>
              <a:ea typeface="宋体" panose="02010600030101010101" pitchFamily="2" charset="-122"/>
            </a:endParaRPr>
          </a:p>
        </p:txBody>
      </p:sp>
      <p:sp>
        <p:nvSpPr>
          <p:cNvPr id="52234" name="Line 12"/>
          <p:cNvSpPr>
            <a:spLocks noChangeShapeType="1"/>
          </p:cNvSpPr>
          <p:nvPr/>
        </p:nvSpPr>
        <p:spPr bwMode="auto">
          <a:xfrm>
            <a:off x="7191375" y="1941513"/>
            <a:ext cx="595313" cy="420687"/>
          </a:xfrm>
          <a:prstGeom prst="line">
            <a:avLst/>
          </a:prstGeom>
          <a:noFill/>
          <a:ln w="25400">
            <a:solidFill>
              <a:srgbClr val="CC3300"/>
            </a:solidFill>
            <a:round/>
            <a:headEnd/>
            <a:tailEnd/>
          </a:ln>
          <a:extLst>
            <a:ext uri="{909E8E84-426E-40DD-AFC4-6F175D3DCCD1}">
              <a14:hiddenFill xmlns:a14="http://schemas.microsoft.com/office/drawing/2010/main">
                <a:noFill/>
              </a14:hiddenFill>
            </a:ext>
          </a:extLst>
        </p:spPr>
        <p:txBody>
          <a:bodyPr lIns="93600" tIns="46800" rIns="93600" bIns="46800">
            <a:spAutoFit/>
          </a:bodyPr>
          <a:lstStyle/>
          <a:p>
            <a:endParaRPr lang="zh-CN" altLang="en-US"/>
          </a:p>
        </p:txBody>
      </p:sp>
      <p:sp>
        <p:nvSpPr>
          <p:cNvPr id="52235" name="Line 13"/>
          <p:cNvSpPr>
            <a:spLocks noChangeShapeType="1"/>
          </p:cNvSpPr>
          <p:nvPr/>
        </p:nvSpPr>
        <p:spPr bwMode="auto">
          <a:xfrm flipV="1">
            <a:off x="7191375" y="2590800"/>
            <a:ext cx="595313" cy="863600"/>
          </a:xfrm>
          <a:prstGeom prst="line">
            <a:avLst/>
          </a:prstGeom>
          <a:noFill/>
          <a:ln w="25400">
            <a:solidFill>
              <a:srgbClr val="CC3300"/>
            </a:solidFill>
            <a:round/>
            <a:headEnd/>
            <a:tailEnd/>
          </a:ln>
          <a:extLst>
            <a:ext uri="{909E8E84-426E-40DD-AFC4-6F175D3DCCD1}">
              <a14:hiddenFill xmlns:a14="http://schemas.microsoft.com/office/drawing/2010/main">
                <a:noFill/>
              </a14:hiddenFill>
            </a:ext>
          </a:extLst>
        </p:spPr>
        <p:txBody>
          <a:bodyPr lIns="93600" tIns="46800" rIns="93600" bIns="46800">
            <a:spAutoFit/>
          </a:bodyPr>
          <a:lstStyle/>
          <a:p>
            <a:endParaRPr lang="zh-CN" altLang="en-US"/>
          </a:p>
        </p:txBody>
      </p:sp>
      <p:sp>
        <p:nvSpPr>
          <p:cNvPr id="52236" name="Line 14"/>
          <p:cNvSpPr>
            <a:spLocks noChangeShapeType="1"/>
          </p:cNvSpPr>
          <p:nvPr/>
        </p:nvSpPr>
        <p:spPr bwMode="auto">
          <a:xfrm flipV="1">
            <a:off x="7262813" y="3571875"/>
            <a:ext cx="576262" cy="601663"/>
          </a:xfrm>
          <a:prstGeom prst="line">
            <a:avLst/>
          </a:prstGeom>
          <a:noFill/>
          <a:ln w="25400">
            <a:solidFill>
              <a:srgbClr val="CC3300"/>
            </a:solidFill>
            <a:round/>
            <a:headEnd/>
            <a:tailEnd/>
          </a:ln>
          <a:extLst>
            <a:ext uri="{909E8E84-426E-40DD-AFC4-6F175D3DCCD1}">
              <a14:hiddenFill xmlns:a14="http://schemas.microsoft.com/office/drawing/2010/main">
                <a:noFill/>
              </a14:hiddenFill>
            </a:ext>
          </a:extLst>
        </p:spPr>
        <p:txBody>
          <a:bodyPr lIns="93600" tIns="46800" rIns="93600" bIns="46800">
            <a:spAutoFit/>
          </a:bodyPr>
          <a:lstStyle/>
          <a:p>
            <a:endParaRPr lang="zh-CN" altLang="en-US"/>
          </a:p>
        </p:txBody>
      </p:sp>
      <p:sp>
        <p:nvSpPr>
          <p:cNvPr id="52237" name="Line 15"/>
          <p:cNvSpPr>
            <a:spLocks noChangeShapeType="1"/>
          </p:cNvSpPr>
          <p:nvPr/>
        </p:nvSpPr>
        <p:spPr bwMode="auto">
          <a:xfrm>
            <a:off x="7262813" y="2662238"/>
            <a:ext cx="576262" cy="614362"/>
          </a:xfrm>
          <a:prstGeom prst="line">
            <a:avLst/>
          </a:prstGeom>
          <a:noFill/>
          <a:ln w="25400">
            <a:solidFill>
              <a:srgbClr val="CC3300"/>
            </a:solidFill>
            <a:round/>
            <a:headEnd/>
            <a:tailEnd/>
          </a:ln>
          <a:extLst>
            <a:ext uri="{909E8E84-426E-40DD-AFC4-6F175D3DCCD1}">
              <a14:hiddenFill xmlns:a14="http://schemas.microsoft.com/office/drawing/2010/main">
                <a:noFill/>
              </a14:hiddenFill>
            </a:ext>
          </a:extLst>
        </p:spPr>
        <p:txBody>
          <a:bodyPr lIns="93600" tIns="46800" rIns="93600" bIns="46800">
            <a:spAutoFit/>
          </a:bodyPr>
          <a:lstStyle/>
          <a:p>
            <a:endParaRPr lang="zh-CN" altLang="en-US"/>
          </a:p>
        </p:txBody>
      </p:sp>
      <p:grpSp>
        <p:nvGrpSpPr>
          <p:cNvPr id="54286" name="Group 17"/>
          <p:cNvGrpSpPr>
            <a:grpSpLocks noChangeAspect="1"/>
          </p:cNvGrpSpPr>
          <p:nvPr/>
        </p:nvGrpSpPr>
        <p:grpSpPr bwMode="auto">
          <a:xfrm>
            <a:off x="171450" y="1066800"/>
            <a:ext cx="7164388" cy="3676650"/>
            <a:chOff x="-45" y="384"/>
            <a:chExt cx="4494" cy="2316"/>
          </a:xfrm>
        </p:grpSpPr>
        <p:sp>
          <p:nvSpPr>
            <p:cNvPr id="54288" name="AutoShape 16"/>
            <p:cNvSpPr>
              <a:spLocks noChangeAspect="1" noChangeArrowheads="1" noTextEdit="1"/>
            </p:cNvSpPr>
            <p:nvPr/>
          </p:nvSpPr>
          <p:spPr bwMode="auto">
            <a:xfrm>
              <a:off x="-45" y="384"/>
              <a:ext cx="4494" cy="2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4289" name="Oval 18"/>
            <p:cNvSpPr>
              <a:spLocks noChangeArrowheads="1"/>
            </p:cNvSpPr>
            <p:nvPr/>
          </p:nvSpPr>
          <p:spPr bwMode="auto">
            <a:xfrm>
              <a:off x="730" y="1341"/>
              <a:ext cx="9" cy="10"/>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290" name="Rectangle 19"/>
            <p:cNvSpPr>
              <a:spLocks noChangeArrowheads="1"/>
            </p:cNvSpPr>
            <p:nvPr/>
          </p:nvSpPr>
          <p:spPr bwMode="auto">
            <a:xfrm>
              <a:off x="775" y="1271"/>
              <a:ext cx="22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 </a:t>
              </a:r>
              <a:endParaRPr lang="zh-CN" altLang="zh-CN" sz="1800">
                <a:latin typeface="Century Schoolbook" panose="02040604050505020304" pitchFamily="18" charset="0"/>
                <a:ea typeface="宋体" panose="02010600030101010101" pitchFamily="2" charset="-122"/>
              </a:endParaRPr>
            </a:p>
          </p:txBody>
        </p:sp>
        <p:sp>
          <p:nvSpPr>
            <p:cNvPr id="54291" name="Rectangle 20"/>
            <p:cNvSpPr>
              <a:spLocks noChangeArrowheads="1"/>
            </p:cNvSpPr>
            <p:nvPr/>
          </p:nvSpPr>
          <p:spPr bwMode="auto">
            <a:xfrm>
              <a:off x="1131" y="1316"/>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292" name="Rectangle 21"/>
            <p:cNvSpPr>
              <a:spLocks noChangeArrowheads="1"/>
            </p:cNvSpPr>
            <p:nvPr/>
          </p:nvSpPr>
          <p:spPr bwMode="auto">
            <a:xfrm>
              <a:off x="967" y="1271"/>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293" name="Rectangle 22"/>
            <p:cNvSpPr>
              <a:spLocks noChangeArrowheads="1"/>
            </p:cNvSpPr>
            <p:nvPr/>
          </p:nvSpPr>
          <p:spPr bwMode="auto">
            <a:xfrm>
              <a:off x="1095" y="1331"/>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294" name="Line 23"/>
            <p:cNvSpPr>
              <a:spLocks noChangeShapeType="1"/>
            </p:cNvSpPr>
            <p:nvPr/>
          </p:nvSpPr>
          <p:spPr bwMode="auto">
            <a:xfrm>
              <a:off x="1341" y="1387"/>
              <a:ext cx="775" cy="1"/>
            </a:xfrm>
            <a:prstGeom prst="line">
              <a:avLst/>
            </a:prstGeom>
            <a:noFill/>
            <a:ln w="9">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95" name="Freeform 24"/>
            <p:cNvSpPr>
              <a:spLocks/>
            </p:cNvSpPr>
            <p:nvPr/>
          </p:nvSpPr>
          <p:spPr bwMode="auto">
            <a:xfrm>
              <a:off x="2024" y="1360"/>
              <a:ext cx="92" cy="54"/>
            </a:xfrm>
            <a:custGeom>
              <a:avLst/>
              <a:gdLst>
                <a:gd name="T0" fmla="*/ 92 w 92"/>
                <a:gd name="T1" fmla="*/ 27 h 54"/>
                <a:gd name="T2" fmla="*/ 0 w 92"/>
                <a:gd name="T3" fmla="*/ 54 h 54"/>
                <a:gd name="T4" fmla="*/ 19 w 92"/>
                <a:gd name="T5" fmla="*/ 27 h 54"/>
                <a:gd name="T6" fmla="*/ 0 w 92"/>
                <a:gd name="T7" fmla="*/ 0 h 54"/>
                <a:gd name="T8" fmla="*/ 92 w 92"/>
                <a:gd name="T9" fmla="*/ 27 h 54"/>
                <a:gd name="T10" fmla="*/ 0 60000 65536"/>
                <a:gd name="T11" fmla="*/ 0 60000 65536"/>
                <a:gd name="T12" fmla="*/ 0 60000 65536"/>
                <a:gd name="T13" fmla="*/ 0 60000 65536"/>
                <a:gd name="T14" fmla="*/ 0 60000 65536"/>
                <a:gd name="T15" fmla="*/ 0 w 92"/>
                <a:gd name="T16" fmla="*/ 0 h 54"/>
                <a:gd name="T17" fmla="*/ 92 w 92"/>
                <a:gd name="T18" fmla="*/ 54 h 54"/>
              </a:gdLst>
              <a:ahLst/>
              <a:cxnLst>
                <a:cxn ang="T10">
                  <a:pos x="T0" y="T1"/>
                </a:cxn>
                <a:cxn ang="T11">
                  <a:pos x="T2" y="T3"/>
                </a:cxn>
                <a:cxn ang="T12">
                  <a:pos x="T4" y="T5"/>
                </a:cxn>
                <a:cxn ang="T13">
                  <a:pos x="T6" y="T7"/>
                </a:cxn>
                <a:cxn ang="T14">
                  <a:pos x="T8" y="T9"/>
                </a:cxn>
              </a:cxnLst>
              <a:rect l="T15" t="T16" r="T17" b="T18"/>
              <a:pathLst>
                <a:path w="92" h="54">
                  <a:moveTo>
                    <a:pt x="92" y="27"/>
                  </a:moveTo>
                  <a:lnTo>
                    <a:pt x="0" y="54"/>
                  </a:lnTo>
                  <a:lnTo>
                    <a:pt x="19" y="27"/>
                  </a:lnTo>
                  <a:lnTo>
                    <a:pt x="0" y="0"/>
                  </a:lnTo>
                  <a:lnTo>
                    <a:pt x="92" y="27"/>
                  </a:lnTo>
                  <a:close/>
                </a:path>
              </a:pathLst>
            </a:custGeom>
            <a:blipFill dpi="0" rotWithShape="0">
              <a:blip r:embed="rId3"/>
              <a:srcRect/>
              <a:tile tx="0" ty="0" sx="100000" sy="100000" flip="none" algn="tl"/>
            </a:blipFill>
            <a:ln w="9">
              <a:solidFill>
                <a:srgbClr val="000000"/>
              </a:solidFill>
              <a:round/>
              <a:headEnd/>
              <a:tailEnd/>
            </a:ln>
          </p:spPr>
          <p:txBody>
            <a:bodyPr/>
            <a:lstStyle/>
            <a:p>
              <a:endParaRPr lang="zh-CN" altLang="en-US"/>
            </a:p>
          </p:txBody>
        </p:sp>
        <p:sp>
          <p:nvSpPr>
            <p:cNvPr id="54296" name="Rectangle 25"/>
            <p:cNvSpPr>
              <a:spLocks noChangeArrowheads="1"/>
            </p:cNvSpPr>
            <p:nvPr/>
          </p:nvSpPr>
          <p:spPr bwMode="auto">
            <a:xfrm>
              <a:off x="748" y="842"/>
              <a:ext cx="22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 </a:t>
              </a:r>
              <a:endParaRPr lang="zh-CN" altLang="zh-CN" sz="1800">
                <a:latin typeface="Century Schoolbook" panose="02040604050505020304" pitchFamily="18" charset="0"/>
                <a:ea typeface="宋体" panose="02010600030101010101" pitchFamily="2" charset="-122"/>
              </a:endParaRPr>
            </a:p>
          </p:txBody>
        </p:sp>
        <p:sp>
          <p:nvSpPr>
            <p:cNvPr id="54297" name="Rectangle 26"/>
            <p:cNvSpPr>
              <a:spLocks noChangeArrowheads="1"/>
            </p:cNvSpPr>
            <p:nvPr/>
          </p:nvSpPr>
          <p:spPr bwMode="auto">
            <a:xfrm>
              <a:off x="1104" y="888"/>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298" name="Rectangle 27"/>
            <p:cNvSpPr>
              <a:spLocks noChangeArrowheads="1"/>
            </p:cNvSpPr>
            <p:nvPr/>
          </p:nvSpPr>
          <p:spPr bwMode="auto">
            <a:xfrm>
              <a:off x="940" y="842"/>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299" name="Rectangle 28"/>
            <p:cNvSpPr>
              <a:spLocks noChangeArrowheads="1"/>
            </p:cNvSpPr>
            <p:nvPr/>
          </p:nvSpPr>
          <p:spPr bwMode="auto">
            <a:xfrm>
              <a:off x="1067" y="903"/>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00" name="Line 29"/>
            <p:cNvSpPr>
              <a:spLocks noChangeShapeType="1"/>
            </p:cNvSpPr>
            <p:nvPr/>
          </p:nvSpPr>
          <p:spPr bwMode="auto">
            <a:xfrm>
              <a:off x="1313" y="958"/>
              <a:ext cx="775" cy="1"/>
            </a:xfrm>
            <a:prstGeom prst="line">
              <a:avLst/>
            </a:prstGeom>
            <a:noFill/>
            <a:ln w="9">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01" name="Freeform 30"/>
            <p:cNvSpPr>
              <a:spLocks/>
            </p:cNvSpPr>
            <p:nvPr/>
          </p:nvSpPr>
          <p:spPr bwMode="auto">
            <a:xfrm>
              <a:off x="1997" y="931"/>
              <a:ext cx="91" cy="55"/>
            </a:xfrm>
            <a:custGeom>
              <a:avLst/>
              <a:gdLst>
                <a:gd name="T0" fmla="*/ 91 w 91"/>
                <a:gd name="T1" fmla="*/ 27 h 55"/>
                <a:gd name="T2" fmla="*/ 0 w 91"/>
                <a:gd name="T3" fmla="*/ 55 h 55"/>
                <a:gd name="T4" fmla="*/ 18 w 91"/>
                <a:gd name="T5" fmla="*/ 27 h 55"/>
                <a:gd name="T6" fmla="*/ 0 w 91"/>
                <a:gd name="T7" fmla="*/ 0 h 55"/>
                <a:gd name="T8" fmla="*/ 91 w 91"/>
                <a:gd name="T9" fmla="*/ 27 h 55"/>
                <a:gd name="T10" fmla="*/ 0 60000 65536"/>
                <a:gd name="T11" fmla="*/ 0 60000 65536"/>
                <a:gd name="T12" fmla="*/ 0 60000 65536"/>
                <a:gd name="T13" fmla="*/ 0 60000 65536"/>
                <a:gd name="T14" fmla="*/ 0 60000 65536"/>
                <a:gd name="T15" fmla="*/ 0 w 91"/>
                <a:gd name="T16" fmla="*/ 0 h 55"/>
                <a:gd name="T17" fmla="*/ 91 w 91"/>
                <a:gd name="T18" fmla="*/ 55 h 55"/>
              </a:gdLst>
              <a:ahLst/>
              <a:cxnLst>
                <a:cxn ang="T10">
                  <a:pos x="T0" y="T1"/>
                </a:cxn>
                <a:cxn ang="T11">
                  <a:pos x="T2" y="T3"/>
                </a:cxn>
                <a:cxn ang="T12">
                  <a:pos x="T4" y="T5"/>
                </a:cxn>
                <a:cxn ang="T13">
                  <a:pos x="T6" y="T7"/>
                </a:cxn>
                <a:cxn ang="T14">
                  <a:pos x="T8" y="T9"/>
                </a:cxn>
              </a:cxnLst>
              <a:rect l="T15" t="T16" r="T17" b="T18"/>
              <a:pathLst>
                <a:path w="91" h="55">
                  <a:moveTo>
                    <a:pt x="91" y="27"/>
                  </a:moveTo>
                  <a:lnTo>
                    <a:pt x="0" y="55"/>
                  </a:lnTo>
                  <a:lnTo>
                    <a:pt x="18" y="27"/>
                  </a:lnTo>
                  <a:lnTo>
                    <a:pt x="0" y="0"/>
                  </a:lnTo>
                  <a:lnTo>
                    <a:pt x="91" y="27"/>
                  </a:lnTo>
                  <a:close/>
                </a:path>
              </a:pathLst>
            </a:custGeom>
            <a:blipFill dpi="0" rotWithShape="0">
              <a:blip r:embed="rId3"/>
              <a:srcRect/>
              <a:tile tx="0" ty="0" sx="100000" sy="100000" flip="none" algn="tl"/>
            </a:blipFill>
            <a:ln w="9">
              <a:solidFill>
                <a:srgbClr val="000000"/>
              </a:solidFill>
              <a:round/>
              <a:headEnd/>
              <a:tailEnd/>
            </a:ln>
          </p:spPr>
          <p:txBody>
            <a:bodyPr/>
            <a:lstStyle/>
            <a:p>
              <a:endParaRPr lang="zh-CN" altLang="en-US"/>
            </a:p>
          </p:txBody>
        </p:sp>
        <p:sp>
          <p:nvSpPr>
            <p:cNvPr id="54302" name="Rectangle 31"/>
            <p:cNvSpPr>
              <a:spLocks noChangeArrowheads="1"/>
            </p:cNvSpPr>
            <p:nvPr/>
          </p:nvSpPr>
          <p:spPr bwMode="auto">
            <a:xfrm>
              <a:off x="1482" y="766"/>
              <a:ext cx="16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endParaRPr lang="zh-CN" altLang="zh-CN" sz="1800" i="1">
                <a:latin typeface="Century Schoolbook" panose="02040604050505020304" pitchFamily="18" charset="0"/>
                <a:ea typeface="宋体" panose="02010600030101010101" pitchFamily="2" charset="-122"/>
              </a:endParaRPr>
            </a:p>
          </p:txBody>
        </p:sp>
        <p:sp>
          <p:nvSpPr>
            <p:cNvPr id="54303" name="Rectangle 32"/>
            <p:cNvSpPr>
              <a:spLocks noChangeArrowheads="1"/>
            </p:cNvSpPr>
            <p:nvPr/>
          </p:nvSpPr>
          <p:spPr bwMode="auto">
            <a:xfrm>
              <a:off x="1578" y="816"/>
              <a:ext cx="1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500">
                  <a:solidFill>
                    <a:srgbClr val="000000"/>
                  </a:solidFill>
                  <a:latin typeface="Century Schoolbook" panose="02040604050505020304" pitchFamily="18" charset="0"/>
                  <a:ea typeface="宋体" panose="02010600030101010101" pitchFamily="2" charset="-122"/>
                </a:rPr>
                <a:t>11</a:t>
              </a:r>
              <a:endParaRPr lang="zh-CN" altLang="zh-CN" sz="1800">
                <a:latin typeface="Century Schoolbook" panose="02040604050505020304" pitchFamily="18" charset="0"/>
                <a:ea typeface="宋体" panose="02010600030101010101" pitchFamily="2" charset="-122"/>
              </a:endParaRPr>
            </a:p>
          </p:txBody>
        </p:sp>
        <p:sp>
          <p:nvSpPr>
            <p:cNvPr id="54304" name="Rectangle 33"/>
            <p:cNvSpPr>
              <a:spLocks noChangeArrowheads="1"/>
            </p:cNvSpPr>
            <p:nvPr/>
          </p:nvSpPr>
          <p:spPr bwMode="auto">
            <a:xfrm>
              <a:off x="515" y="833"/>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05" name="Rectangle 34"/>
            <p:cNvSpPr>
              <a:spLocks noChangeArrowheads="1"/>
            </p:cNvSpPr>
            <p:nvPr/>
          </p:nvSpPr>
          <p:spPr bwMode="auto">
            <a:xfrm>
              <a:off x="642" y="893"/>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06" name="Freeform 35"/>
            <p:cNvSpPr>
              <a:spLocks/>
            </p:cNvSpPr>
            <p:nvPr/>
          </p:nvSpPr>
          <p:spPr bwMode="auto">
            <a:xfrm>
              <a:off x="128" y="895"/>
              <a:ext cx="369" cy="36"/>
            </a:xfrm>
            <a:custGeom>
              <a:avLst/>
              <a:gdLst>
                <a:gd name="T0" fmla="*/ 0 w 404"/>
                <a:gd name="T1" fmla="*/ 5 h 40"/>
                <a:gd name="T2" fmla="*/ 5 w 404"/>
                <a:gd name="T3" fmla="*/ 5 h 40"/>
                <a:gd name="T4" fmla="*/ 5 w 404"/>
                <a:gd name="T5" fmla="*/ 0 h 40"/>
                <a:gd name="T6" fmla="*/ 5 w 404"/>
                <a:gd name="T7" fmla="*/ 5 h 40"/>
                <a:gd name="T8" fmla="*/ 5 w 404"/>
                <a:gd name="T9" fmla="*/ 0 h 40"/>
                <a:gd name="T10" fmla="*/ 5 w 404"/>
                <a:gd name="T11" fmla="*/ 5 h 40"/>
                <a:gd name="T12" fmla="*/ 5 w 404"/>
                <a:gd name="T13" fmla="*/ 0 h 40"/>
                <a:gd name="T14" fmla="*/ 5 w 404"/>
                <a:gd name="T15" fmla="*/ 5 h 40"/>
                <a:gd name="T16" fmla="*/ 5 w 404"/>
                <a:gd name="T17" fmla="*/ 0 h 40"/>
                <a:gd name="T18" fmla="*/ 5 w 404"/>
                <a:gd name="T19" fmla="*/ 5 h 40"/>
                <a:gd name="T20" fmla="*/ 5 w 404"/>
                <a:gd name="T21" fmla="*/ 0 h 40"/>
                <a:gd name="T22" fmla="*/ 5 w 404"/>
                <a:gd name="T23" fmla="*/ 5 h 40"/>
                <a:gd name="T24" fmla="*/ 5 w 404"/>
                <a:gd name="T25" fmla="*/ 0 h 40"/>
                <a:gd name="T26" fmla="*/ 5 w 404"/>
                <a:gd name="T27" fmla="*/ 5 h 40"/>
                <a:gd name="T28" fmla="*/ 5 w 404"/>
                <a:gd name="T29" fmla="*/ 0 h 40"/>
                <a:gd name="T30" fmla="*/ 5 w 404"/>
                <a:gd name="T31" fmla="*/ 5 h 40"/>
                <a:gd name="T32" fmla="*/ 5 w 404"/>
                <a:gd name="T33" fmla="*/ 0 h 40"/>
                <a:gd name="T34" fmla="*/ 5 w 404"/>
                <a:gd name="T35" fmla="*/ 5 h 40"/>
                <a:gd name="T36" fmla="*/ 5 w 404"/>
                <a:gd name="T37" fmla="*/ 0 h 40"/>
                <a:gd name="T38" fmla="*/ 5 w 404"/>
                <a:gd name="T39" fmla="*/ 5 h 40"/>
                <a:gd name="T40" fmla="*/ 5 w 404"/>
                <a:gd name="T41" fmla="*/ 0 h 40"/>
                <a:gd name="T42" fmla="*/ 5 w 404"/>
                <a:gd name="T43" fmla="*/ 5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4"/>
                <a:gd name="T67" fmla="*/ 0 h 40"/>
                <a:gd name="T68" fmla="*/ 404 w 404"/>
                <a:gd name="T69" fmla="*/ 40 h 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4" h="40">
                  <a:moveTo>
                    <a:pt x="0" y="20"/>
                  </a:moveTo>
                  <a:lnTo>
                    <a:pt x="10" y="40"/>
                  </a:lnTo>
                  <a:lnTo>
                    <a:pt x="30" y="0"/>
                  </a:lnTo>
                  <a:lnTo>
                    <a:pt x="50" y="40"/>
                  </a:lnTo>
                  <a:lnTo>
                    <a:pt x="71" y="0"/>
                  </a:lnTo>
                  <a:lnTo>
                    <a:pt x="91" y="40"/>
                  </a:lnTo>
                  <a:lnTo>
                    <a:pt x="111" y="0"/>
                  </a:lnTo>
                  <a:lnTo>
                    <a:pt x="131" y="40"/>
                  </a:lnTo>
                  <a:lnTo>
                    <a:pt x="151" y="0"/>
                  </a:lnTo>
                  <a:lnTo>
                    <a:pt x="172" y="40"/>
                  </a:lnTo>
                  <a:lnTo>
                    <a:pt x="192" y="0"/>
                  </a:lnTo>
                  <a:lnTo>
                    <a:pt x="212" y="40"/>
                  </a:lnTo>
                  <a:lnTo>
                    <a:pt x="232" y="0"/>
                  </a:lnTo>
                  <a:lnTo>
                    <a:pt x="252" y="40"/>
                  </a:lnTo>
                  <a:lnTo>
                    <a:pt x="272" y="0"/>
                  </a:lnTo>
                  <a:lnTo>
                    <a:pt x="293" y="40"/>
                  </a:lnTo>
                  <a:lnTo>
                    <a:pt x="313" y="0"/>
                  </a:lnTo>
                  <a:lnTo>
                    <a:pt x="333" y="40"/>
                  </a:lnTo>
                  <a:lnTo>
                    <a:pt x="353" y="0"/>
                  </a:lnTo>
                  <a:lnTo>
                    <a:pt x="373" y="40"/>
                  </a:lnTo>
                  <a:lnTo>
                    <a:pt x="394" y="0"/>
                  </a:lnTo>
                  <a:lnTo>
                    <a:pt x="404"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07" name="Oval 36"/>
            <p:cNvSpPr>
              <a:spLocks noChangeArrowheads="1"/>
            </p:cNvSpPr>
            <p:nvPr/>
          </p:nvSpPr>
          <p:spPr bwMode="auto">
            <a:xfrm>
              <a:off x="703" y="904"/>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08" name="Rectangle 37"/>
            <p:cNvSpPr>
              <a:spLocks noChangeArrowheads="1"/>
            </p:cNvSpPr>
            <p:nvPr/>
          </p:nvSpPr>
          <p:spPr bwMode="auto">
            <a:xfrm>
              <a:off x="1131" y="1800"/>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09" name="Rectangle 38"/>
            <p:cNvSpPr>
              <a:spLocks noChangeArrowheads="1"/>
            </p:cNvSpPr>
            <p:nvPr/>
          </p:nvSpPr>
          <p:spPr bwMode="auto">
            <a:xfrm>
              <a:off x="1532" y="1678"/>
              <a:ext cx="7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endParaRPr lang="zh-CN" altLang="zh-CN" sz="1800" i="1">
                <a:latin typeface="Century Schoolbook" panose="02040604050505020304" pitchFamily="18" charset="0"/>
                <a:ea typeface="宋体" panose="02010600030101010101" pitchFamily="2" charset="-122"/>
              </a:endParaRPr>
            </a:p>
          </p:txBody>
        </p:sp>
        <p:sp>
          <p:nvSpPr>
            <p:cNvPr id="54310" name="Rectangle 39"/>
            <p:cNvSpPr>
              <a:spLocks noChangeArrowheads="1"/>
            </p:cNvSpPr>
            <p:nvPr/>
          </p:nvSpPr>
          <p:spPr bwMode="auto">
            <a:xfrm>
              <a:off x="1613" y="1728"/>
              <a:ext cx="1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500">
                  <a:solidFill>
                    <a:srgbClr val="000000"/>
                  </a:solidFill>
                  <a:latin typeface="Century Schoolbook" panose="02040604050505020304" pitchFamily="18" charset="0"/>
                  <a:ea typeface="宋体" panose="02010600030101010101" pitchFamily="2" charset="-122"/>
                </a:rPr>
                <a:t>21</a:t>
              </a:r>
              <a:endParaRPr lang="zh-CN" altLang="zh-CN" sz="1800">
                <a:latin typeface="Century Schoolbook" panose="02040604050505020304" pitchFamily="18" charset="0"/>
                <a:ea typeface="宋体" panose="02010600030101010101" pitchFamily="2" charset="-122"/>
              </a:endParaRPr>
            </a:p>
          </p:txBody>
        </p:sp>
        <p:sp>
          <p:nvSpPr>
            <p:cNvPr id="54311" name="Rectangle 40"/>
            <p:cNvSpPr>
              <a:spLocks noChangeArrowheads="1"/>
            </p:cNvSpPr>
            <p:nvPr/>
          </p:nvSpPr>
          <p:spPr bwMode="auto">
            <a:xfrm>
              <a:off x="1140" y="2256"/>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12" name="Rectangle 41"/>
            <p:cNvSpPr>
              <a:spLocks noChangeArrowheads="1"/>
            </p:cNvSpPr>
            <p:nvPr/>
          </p:nvSpPr>
          <p:spPr bwMode="auto">
            <a:xfrm>
              <a:off x="1541" y="2134"/>
              <a:ext cx="7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endParaRPr lang="zh-CN" altLang="zh-CN" sz="1800" i="1">
                <a:latin typeface="Century Schoolbook" panose="02040604050505020304" pitchFamily="18" charset="0"/>
                <a:ea typeface="宋体" panose="02010600030101010101" pitchFamily="2" charset="-122"/>
              </a:endParaRPr>
            </a:p>
          </p:txBody>
        </p:sp>
        <p:sp>
          <p:nvSpPr>
            <p:cNvPr id="54313" name="Rectangle 42"/>
            <p:cNvSpPr>
              <a:spLocks noChangeArrowheads="1"/>
            </p:cNvSpPr>
            <p:nvPr/>
          </p:nvSpPr>
          <p:spPr bwMode="auto">
            <a:xfrm>
              <a:off x="1615" y="2184"/>
              <a:ext cx="1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500">
                  <a:solidFill>
                    <a:srgbClr val="000000"/>
                  </a:solidFill>
                  <a:latin typeface="Century Schoolbook" panose="02040604050505020304" pitchFamily="18" charset="0"/>
                  <a:ea typeface="宋体" panose="02010600030101010101" pitchFamily="2" charset="-122"/>
                </a:rPr>
                <a:t>22</a:t>
              </a:r>
              <a:endParaRPr lang="zh-CN" altLang="zh-CN" sz="1800">
                <a:latin typeface="Century Schoolbook" panose="02040604050505020304" pitchFamily="18" charset="0"/>
                <a:ea typeface="宋体" panose="02010600030101010101" pitchFamily="2" charset="-122"/>
              </a:endParaRPr>
            </a:p>
          </p:txBody>
        </p:sp>
        <p:sp>
          <p:nvSpPr>
            <p:cNvPr id="54314" name="Rectangle 43"/>
            <p:cNvSpPr>
              <a:spLocks noChangeArrowheads="1"/>
            </p:cNvSpPr>
            <p:nvPr/>
          </p:nvSpPr>
          <p:spPr bwMode="auto">
            <a:xfrm>
              <a:off x="1122" y="1298"/>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15" name="Rectangle 44"/>
            <p:cNvSpPr>
              <a:spLocks noChangeArrowheads="1"/>
            </p:cNvSpPr>
            <p:nvPr/>
          </p:nvSpPr>
          <p:spPr bwMode="auto">
            <a:xfrm>
              <a:off x="1523" y="1177"/>
              <a:ext cx="7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endParaRPr lang="zh-CN" altLang="zh-CN" sz="1800" i="1">
                <a:latin typeface="Century Schoolbook" panose="02040604050505020304" pitchFamily="18" charset="0"/>
                <a:ea typeface="宋体" panose="02010600030101010101" pitchFamily="2" charset="-122"/>
              </a:endParaRPr>
            </a:p>
          </p:txBody>
        </p:sp>
        <p:sp>
          <p:nvSpPr>
            <p:cNvPr id="54316" name="Rectangle 45"/>
            <p:cNvSpPr>
              <a:spLocks noChangeArrowheads="1"/>
            </p:cNvSpPr>
            <p:nvPr/>
          </p:nvSpPr>
          <p:spPr bwMode="auto">
            <a:xfrm>
              <a:off x="1613" y="1226"/>
              <a:ext cx="179"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500">
                  <a:solidFill>
                    <a:srgbClr val="000000"/>
                  </a:solidFill>
                  <a:latin typeface="Century Schoolbook" panose="02040604050505020304" pitchFamily="18" charset="0"/>
                  <a:ea typeface="宋体" panose="02010600030101010101" pitchFamily="2" charset="-122"/>
                </a:rPr>
                <a:t>12</a:t>
              </a:r>
              <a:endParaRPr lang="zh-CN" altLang="zh-CN" sz="1800">
                <a:latin typeface="Century Schoolbook" panose="02040604050505020304" pitchFamily="18" charset="0"/>
                <a:ea typeface="宋体" panose="02010600030101010101" pitchFamily="2" charset="-122"/>
              </a:endParaRPr>
            </a:p>
          </p:txBody>
        </p:sp>
        <p:sp>
          <p:nvSpPr>
            <p:cNvPr id="54317" name="Rectangle 46"/>
            <p:cNvSpPr>
              <a:spLocks noChangeArrowheads="1"/>
            </p:cNvSpPr>
            <p:nvPr/>
          </p:nvSpPr>
          <p:spPr bwMode="auto">
            <a:xfrm>
              <a:off x="2663" y="833"/>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18" name="Rectangle 47"/>
            <p:cNvSpPr>
              <a:spLocks noChangeArrowheads="1"/>
            </p:cNvSpPr>
            <p:nvPr/>
          </p:nvSpPr>
          <p:spPr bwMode="auto">
            <a:xfrm>
              <a:off x="2791" y="893"/>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19" name="Freeform 48"/>
            <p:cNvSpPr>
              <a:spLocks/>
            </p:cNvSpPr>
            <p:nvPr/>
          </p:nvSpPr>
          <p:spPr bwMode="auto">
            <a:xfrm>
              <a:off x="2188" y="895"/>
              <a:ext cx="457" cy="36"/>
            </a:xfrm>
            <a:custGeom>
              <a:avLst/>
              <a:gdLst>
                <a:gd name="T0" fmla="*/ 0 w 501"/>
                <a:gd name="T1" fmla="*/ 5 h 40"/>
                <a:gd name="T2" fmla="*/ 5 w 501"/>
                <a:gd name="T3" fmla="*/ 5 h 40"/>
                <a:gd name="T4" fmla="*/ 5 w 501"/>
                <a:gd name="T5" fmla="*/ 0 h 40"/>
                <a:gd name="T6" fmla="*/ 5 w 501"/>
                <a:gd name="T7" fmla="*/ 5 h 40"/>
                <a:gd name="T8" fmla="*/ 5 w 501"/>
                <a:gd name="T9" fmla="*/ 0 h 40"/>
                <a:gd name="T10" fmla="*/ 5 w 501"/>
                <a:gd name="T11" fmla="*/ 5 h 40"/>
                <a:gd name="T12" fmla="*/ 5 w 501"/>
                <a:gd name="T13" fmla="*/ 0 h 40"/>
                <a:gd name="T14" fmla="*/ 5 w 501"/>
                <a:gd name="T15" fmla="*/ 5 h 40"/>
                <a:gd name="T16" fmla="*/ 5 w 501"/>
                <a:gd name="T17" fmla="*/ 0 h 40"/>
                <a:gd name="T18" fmla="*/ 5 w 501"/>
                <a:gd name="T19" fmla="*/ 5 h 40"/>
                <a:gd name="T20" fmla="*/ 5 w 501"/>
                <a:gd name="T21" fmla="*/ 0 h 40"/>
                <a:gd name="T22" fmla="*/ 5 w 501"/>
                <a:gd name="T23" fmla="*/ 5 h 40"/>
                <a:gd name="T24" fmla="*/ 5 w 501"/>
                <a:gd name="T25" fmla="*/ 0 h 40"/>
                <a:gd name="T26" fmla="*/ 5 w 501"/>
                <a:gd name="T27" fmla="*/ 5 h 40"/>
                <a:gd name="T28" fmla="*/ 5 w 501"/>
                <a:gd name="T29" fmla="*/ 0 h 40"/>
                <a:gd name="T30" fmla="*/ 5 w 501"/>
                <a:gd name="T31" fmla="*/ 5 h 40"/>
                <a:gd name="T32" fmla="*/ 5 w 501"/>
                <a:gd name="T33" fmla="*/ 0 h 40"/>
                <a:gd name="T34" fmla="*/ 5 w 501"/>
                <a:gd name="T35" fmla="*/ 5 h 40"/>
                <a:gd name="T36" fmla="*/ 5 w 501"/>
                <a:gd name="T37" fmla="*/ 0 h 40"/>
                <a:gd name="T38" fmla="*/ 5 w 501"/>
                <a:gd name="T39" fmla="*/ 5 h 40"/>
                <a:gd name="T40" fmla="*/ 5 w 501"/>
                <a:gd name="T41" fmla="*/ 0 h 40"/>
                <a:gd name="T42" fmla="*/ 5 w 501"/>
                <a:gd name="T43" fmla="*/ 5 h 40"/>
                <a:gd name="T44" fmla="*/ 5 w 501"/>
                <a:gd name="T45" fmla="*/ 0 h 40"/>
                <a:gd name="T46" fmla="*/ 5 w 501"/>
                <a:gd name="T47" fmla="*/ 5 h 40"/>
                <a:gd name="T48" fmla="*/ 5 w 501"/>
                <a:gd name="T49" fmla="*/ 0 h 40"/>
                <a:gd name="T50" fmla="*/ 5 w 501"/>
                <a:gd name="T51" fmla="*/ 5 h 40"/>
                <a:gd name="T52" fmla="*/ 5 w 501"/>
                <a:gd name="T53" fmla="*/ 0 h 40"/>
                <a:gd name="T54" fmla="*/ 5 w 501"/>
                <a:gd name="T55" fmla="*/ 5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1"/>
                <a:gd name="T85" fmla="*/ 0 h 40"/>
                <a:gd name="T86" fmla="*/ 501 w 501"/>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1" h="40">
                  <a:moveTo>
                    <a:pt x="0" y="20"/>
                  </a:moveTo>
                  <a:lnTo>
                    <a:pt x="10" y="40"/>
                  </a:lnTo>
                  <a:lnTo>
                    <a:pt x="29" y="0"/>
                  </a:lnTo>
                  <a:lnTo>
                    <a:pt x="48" y="40"/>
                  </a:lnTo>
                  <a:lnTo>
                    <a:pt x="67" y="0"/>
                  </a:lnTo>
                  <a:lnTo>
                    <a:pt x="87" y="40"/>
                  </a:lnTo>
                  <a:lnTo>
                    <a:pt x="106" y="0"/>
                  </a:lnTo>
                  <a:lnTo>
                    <a:pt x="125" y="40"/>
                  </a:lnTo>
                  <a:lnTo>
                    <a:pt x="145" y="0"/>
                  </a:lnTo>
                  <a:lnTo>
                    <a:pt x="164" y="40"/>
                  </a:lnTo>
                  <a:lnTo>
                    <a:pt x="183" y="0"/>
                  </a:lnTo>
                  <a:lnTo>
                    <a:pt x="202" y="40"/>
                  </a:lnTo>
                  <a:lnTo>
                    <a:pt x="222" y="0"/>
                  </a:lnTo>
                  <a:lnTo>
                    <a:pt x="241" y="40"/>
                  </a:lnTo>
                  <a:lnTo>
                    <a:pt x="260" y="0"/>
                  </a:lnTo>
                  <a:lnTo>
                    <a:pt x="280" y="40"/>
                  </a:lnTo>
                  <a:lnTo>
                    <a:pt x="299" y="0"/>
                  </a:lnTo>
                  <a:lnTo>
                    <a:pt x="318" y="40"/>
                  </a:lnTo>
                  <a:lnTo>
                    <a:pt x="337" y="0"/>
                  </a:lnTo>
                  <a:lnTo>
                    <a:pt x="357" y="40"/>
                  </a:lnTo>
                  <a:lnTo>
                    <a:pt x="376" y="0"/>
                  </a:lnTo>
                  <a:lnTo>
                    <a:pt x="395" y="40"/>
                  </a:lnTo>
                  <a:lnTo>
                    <a:pt x="415" y="0"/>
                  </a:lnTo>
                  <a:lnTo>
                    <a:pt x="434" y="40"/>
                  </a:lnTo>
                  <a:lnTo>
                    <a:pt x="453" y="0"/>
                  </a:lnTo>
                  <a:lnTo>
                    <a:pt x="472" y="40"/>
                  </a:lnTo>
                  <a:lnTo>
                    <a:pt x="492" y="0"/>
                  </a:lnTo>
                  <a:lnTo>
                    <a:pt x="501"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20" name="Oval 49"/>
            <p:cNvSpPr>
              <a:spLocks noChangeArrowheads="1"/>
            </p:cNvSpPr>
            <p:nvPr/>
          </p:nvSpPr>
          <p:spPr bwMode="auto">
            <a:xfrm>
              <a:off x="2845" y="895"/>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21" name="Rectangle 50"/>
            <p:cNvSpPr>
              <a:spLocks noChangeArrowheads="1"/>
            </p:cNvSpPr>
            <p:nvPr/>
          </p:nvSpPr>
          <p:spPr bwMode="auto">
            <a:xfrm>
              <a:off x="548" y="1253"/>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22" name="Rectangle 51"/>
            <p:cNvSpPr>
              <a:spLocks noChangeArrowheads="1"/>
            </p:cNvSpPr>
            <p:nvPr/>
          </p:nvSpPr>
          <p:spPr bwMode="auto">
            <a:xfrm>
              <a:off x="676" y="1313"/>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23" name="Freeform 52"/>
            <p:cNvSpPr>
              <a:spLocks/>
            </p:cNvSpPr>
            <p:nvPr/>
          </p:nvSpPr>
          <p:spPr bwMode="auto">
            <a:xfrm>
              <a:off x="74" y="1314"/>
              <a:ext cx="456" cy="37"/>
            </a:xfrm>
            <a:custGeom>
              <a:avLst/>
              <a:gdLst>
                <a:gd name="T0" fmla="*/ 0 w 501"/>
                <a:gd name="T1" fmla="*/ 6 h 40"/>
                <a:gd name="T2" fmla="*/ 5 w 501"/>
                <a:gd name="T3" fmla="*/ 6 h 40"/>
                <a:gd name="T4" fmla="*/ 5 w 501"/>
                <a:gd name="T5" fmla="*/ 0 h 40"/>
                <a:gd name="T6" fmla="*/ 5 w 501"/>
                <a:gd name="T7" fmla="*/ 6 h 40"/>
                <a:gd name="T8" fmla="*/ 5 w 501"/>
                <a:gd name="T9" fmla="*/ 0 h 40"/>
                <a:gd name="T10" fmla="*/ 5 w 501"/>
                <a:gd name="T11" fmla="*/ 6 h 40"/>
                <a:gd name="T12" fmla="*/ 5 w 501"/>
                <a:gd name="T13" fmla="*/ 0 h 40"/>
                <a:gd name="T14" fmla="*/ 5 w 501"/>
                <a:gd name="T15" fmla="*/ 6 h 40"/>
                <a:gd name="T16" fmla="*/ 5 w 501"/>
                <a:gd name="T17" fmla="*/ 0 h 40"/>
                <a:gd name="T18" fmla="*/ 5 w 501"/>
                <a:gd name="T19" fmla="*/ 6 h 40"/>
                <a:gd name="T20" fmla="*/ 5 w 501"/>
                <a:gd name="T21" fmla="*/ 0 h 40"/>
                <a:gd name="T22" fmla="*/ 5 w 501"/>
                <a:gd name="T23" fmla="*/ 6 h 40"/>
                <a:gd name="T24" fmla="*/ 5 w 501"/>
                <a:gd name="T25" fmla="*/ 0 h 40"/>
                <a:gd name="T26" fmla="*/ 5 w 501"/>
                <a:gd name="T27" fmla="*/ 6 h 40"/>
                <a:gd name="T28" fmla="*/ 5 w 501"/>
                <a:gd name="T29" fmla="*/ 0 h 40"/>
                <a:gd name="T30" fmla="*/ 5 w 501"/>
                <a:gd name="T31" fmla="*/ 6 h 40"/>
                <a:gd name="T32" fmla="*/ 5 w 501"/>
                <a:gd name="T33" fmla="*/ 0 h 40"/>
                <a:gd name="T34" fmla="*/ 5 w 501"/>
                <a:gd name="T35" fmla="*/ 6 h 40"/>
                <a:gd name="T36" fmla="*/ 5 w 501"/>
                <a:gd name="T37" fmla="*/ 0 h 40"/>
                <a:gd name="T38" fmla="*/ 5 w 501"/>
                <a:gd name="T39" fmla="*/ 6 h 40"/>
                <a:gd name="T40" fmla="*/ 5 w 501"/>
                <a:gd name="T41" fmla="*/ 0 h 40"/>
                <a:gd name="T42" fmla="*/ 5 w 501"/>
                <a:gd name="T43" fmla="*/ 6 h 40"/>
                <a:gd name="T44" fmla="*/ 5 w 501"/>
                <a:gd name="T45" fmla="*/ 0 h 40"/>
                <a:gd name="T46" fmla="*/ 5 w 501"/>
                <a:gd name="T47" fmla="*/ 6 h 40"/>
                <a:gd name="T48" fmla="*/ 5 w 501"/>
                <a:gd name="T49" fmla="*/ 0 h 40"/>
                <a:gd name="T50" fmla="*/ 5 w 501"/>
                <a:gd name="T51" fmla="*/ 6 h 40"/>
                <a:gd name="T52" fmla="*/ 5 w 501"/>
                <a:gd name="T53" fmla="*/ 0 h 40"/>
                <a:gd name="T54" fmla="*/ 5 w 501"/>
                <a:gd name="T55" fmla="*/ 6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1"/>
                <a:gd name="T85" fmla="*/ 0 h 40"/>
                <a:gd name="T86" fmla="*/ 501 w 501"/>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1" h="40">
                  <a:moveTo>
                    <a:pt x="0" y="20"/>
                  </a:moveTo>
                  <a:lnTo>
                    <a:pt x="10" y="40"/>
                  </a:lnTo>
                  <a:lnTo>
                    <a:pt x="29" y="0"/>
                  </a:lnTo>
                  <a:lnTo>
                    <a:pt x="48" y="40"/>
                  </a:lnTo>
                  <a:lnTo>
                    <a:pt x="67" y="0"/>
                  </a:lnTo>
                  <a:lnTo>
                    <a:pt x="87" y="40"/>
                  </a:lnTo>
                  <a:lnTo>
                    <a:pt x="106" y="0"/>
                  </a:lnTo>
                  <a:lnTo>
                    <a:pt x="125" y="40"/>
                  </a:lnTo>
                  <a:lnTo>
                    <a:pt x="145" y="0"/>
                  </a:lnTo>
                  <a:lnTo>
                    <a:pt x="164" y="40"/>
                  </a:lnTo>
                  <a:lnTo>
                    <a:pt x="183" y="0"/>
                  </a:lnTo>
                  <a:lnTo>
                    <a:pt x="202" y="40"/>
                  </a:lnTo>
                  <a:lnTo>
                    <a:pt x="222" y="0"/>
                  </a:lnTo>
                  <a:lnTo>
                    <a:pt x="241" y="40"/>
                  </a:lnTo>
                  <a:lnTo>
                    <a:pt x="260" y="0"/>
                  </a:lnTo>
                  <a:lnTo>
                    <a:pt x="280" y="40"/>
                  </a:lnTo>
                  <a:lnTo>
                    <a:pt x="299" y="0"/>
                  </a:lnTo>
                  <a:lnTo>
                    <a:pt x="318" y="40"/>
                  </a:lnTo>
                  <a:lnTo>
                    <a:pt x="337" y="0"/>
                  </a:lnTo>
                  <a:lnTo>
                    <a:pt x="357" y="40"/>
                  </a:lnTo>
                  <a:lnTo>
                    <a:pt x="376" y="0"/>
                  </a:lnTo>
                  <a:lnTo>
                    <a:pt x="395" y="40"/>
                  </a:lnTo>
                  <a:lnTo>
                    <a:pt x="415" y="0"/>
                  </a:lnTo>
                  <a:lnTo>
                    <a:pt x="434" y="40"/>
                  </a:lnTo>
                  <a:lnTo>
                    <a:pt x="453" y="0"/>
                  </a:lnTo>
                  <a:lnTo>
                    <a:pt x="472" y="40"/>
                  </a:lnTo>
                  <a:lnTo>
                    <a:pt x="492" y="0"/>
                  </a:lnTo>
                  <a:lnTo>
                    <a:pt x="501"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24" name="Rectangle 53"/>
            <p:cNvSpPr>
              <a:spLocks noChangeArrowheads="1"/>
            </p:cNvSpPr>
            <p:nvPr/>
          </p:nvSpPr>
          <p:spPr bwMode="auto">
            <a:xfrm>
              <a:off x="2673" y="1307"/>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25" name="Rectangle 54"/>
            <p:cNvSpPr>
              <a:spLocks noChangeArrowheads="1"/>
            </p:cNvSpPr>
            <p:nvPr/>
          </p:nvSpPr>
          <p:spPr bwMode="auto">
            <a:xfrm>
              <a:off x="2800" y="1368"/>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326" name="Freeform 55"/>
            <p:cNvSpPr>
              <a:spLocks/>
            </p:cNvSpPr>
            <p:nvPr/>
          </p:nvSpPr>
          <p:spPr bwMode="auto">
            <a:xfrm>
              <a:off x="2198" y="1369"/>
              <a:ext cx="456" cy="36"/>
            </a:xfrm>
            <a:custGeom>
              <a:avLst/>
              <a:gdLst>
                <a:gd name="T0" fmla="*/ 0 w 501"/>
                <a:gd name="T1" fmla="*/ 5 h 40"/>
                <a:gd name="T2" fmla="*/ 5 w 501"/>
                <a:gd name="T3" fmla="*/ 5 h 40"/>
                <a:gd name="T4" fmla="*/ 5 w 501"/>
                <a:gd name="T5" fmla="*/ 0 h 40"/>
                <a:gd name="T6" fmla="*/ 5 w 501"/>
                <a:gd name="T7" fmla="*/ 5 h 40"/>
                <a:gd name="T8" fmla="*/ 5 w 501"/>
                <a:gd name="T9" fmla="*/ 0 h 40"/>
                <a:gd name="T10" fmla="*/ 5 w 501"/>
                <a:gd name="T11" fmla="*/ 5 h 40"/>
                <a:gd name="T12" fmla="*/ 5 w 501"/>
                <a:gd name="T13" fmla="*/ 0 h 40"/>
                <a:gd name="T14" fmla="*/ 5 w 501"/>
                <a:gd name="T15" fmla="*/ 5 h 40"/>
                <a:gd name="T16" fmla="*/ 5 w 501"/>
                <a:gd name="T17" fmla="*/ 0 h 40"/>
                <a:gd name="T18" fmla="*/ 5 w 501"/>
                <a:gd name="T19" fmla="*/ 5 h 40"/>
                <a:gd name="T20" fmla="*/ 5 w 501"/>
                <a:gd name="T21" fmla="*/ 0 h 40"/>
                <a:gd name="T22" fmla="*/ 5 w 501"/>
                <a:gd name="T23" fmla="*/ 5 h 40"/>
                <a:gd name="T24" fmla="*/ 5 w 501"/>
                <a:gd name="T25" fmla="*/ 0 h 40"/>
                <a:gd name="T26" fmla="*/ 5 w 501"/>
                <a:gd name="T27" fmla="*/ 5 h 40"/>
                <a:gd name="T28" fmla="*/ 5 w 501"/>
                <a:gd name="T29" fmla="*/ 0 h 40"/>
                <a:gd name="T30" fmla="*/ 5 w 501"/>
                <a:gd name="T31" fmla="*/ 5 h 40"/>
                <a:gd name="T32" fmla="*/ 5 w 501"/>
                <a:gd name="T33" fmla="*/ 0 h 40"/>
                <a:gd name="T34" fmla="*/ 5 w 501"/>
                <a:gd name="T35" fmla="*/ 5 h 40"/>
                <a:gd name="T36" fmla="*/ 5 w 501"/>
                <a:gd name="T37" fmla="*/ 0 h 40"/>
                <a:gd name="T38" fmla="*/ 5 w 501"/>
                <a:gd name="T39" fmla="*/ 5 h 40"/>
                <a:gd name="T40" fmla="*/ 5 w 501"/>
                <a:gd name="T41" fmla="*/ 0 h 40"/>
                <a:gd name="T42" fmla="*/ 5 w 501"/>
                <a:gd name="T43" fmla="*/ 5 h 40"/>
                <a:gd name="T44" fmla="*/ 5 w 501"/>
                <a:gd name="T45" fmla="*/ 0 h 40"/>
                <a:gd name="T46" fmla="*/ 5 w 501"/>
                <a:gd name="T47" fmla="*/ 5 h 40"/>
                <a:gd name="T48" fmla="*/ 5 w 501"/>
                <a:gd name="T49" fmla="*/ 0 h 40"/>
                <a:gd name="T50" fmla="*/ 5 w 501"/>
                <a:gd name="T51" fmla="*/ 5 h 40"/>
                <a:gd name="T52" fmla="*/ 5 w 501"/>
                <a:gd name="T53" fmla="*/ 0 h 40"/>
                <a:gd name="T54" fmla="*/ 5 w 501"/>
                <a:gd name="T55" fmla="*/ 5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1"/>
                <a:gd name="T85" fmla="*/ 0 h 40"/>
                <a:gd name="T86" fmla="*/ 501 w 501"/>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1" h="40">
                  <a:moveTo>
                    <a:pt x="0" y="20"/>
                  </a:moveTo>
                  <a:lnTo>
                    <a:pt x="10" y="40"/>
                  </a:lnTo>
                  <a:lnTo>
                    <a:pt x="29" y="0"/>
                  </a:lnTo>
                  <a:lnTo>
                    <a:pt x="48" y="40"/>
                  </a:lnTo>
                  <a:lnTo>
                    <a:pt x="67" y="0"/>
                  </a:lnTo>
                  <a:lnTo>
                    <a:pt x="87" y="40"/>
                  </a:lnTo>
                  <a:lnTo>
                    <a:pt x="106" y="0"/>
                  </a:lnTo>
                  <a:lnTo>
                    <a:pt x="125" y="40"/>
                  </a:lnTo>
                  <a:lnTo>
                    <a:pt x="145" y="0"/>
                  </a:lnTo>
                  <a:lnTo>
                    <a:pt x="164" y="40"/>
                  </a:lnTo>
                  <a:lnTo>
                    <a:pt x="183" y="0"/>
                  </a:lnTo>
                  <a:lnTo>
                    <a:pt x="202" y="40"/>
                  </a:lnTo>
                  <a:lnTo>
                    <a:pt x="222" y="0"/>
                  </a:lnTo>
                  <a:lnTo>
                    <a:pt x="241" y="40"/>
                  </a:lnTo>
                  <a:lnTo>
                    <a:pt x="260" y="0"/>
                  </a:lnTo>
                  <a:lnTo>
                    <a:pt x="280" y="40"/>
                  </a:lnTo>
                  <a:lnTo>
                    <a:pt x="299" y="0"/>
                  </a:lnTo>
                  <a:lnTo>
                    <a:pt x="318" y="40"/>
                  </a:lnTo>
                  <a:lnTo>
                    <a:pt x="337" y="0"/>
                  </a:lnTo>
                  <a:lnTo>
                    <a:pt x="357" y="40"/>
                  </a:lnTo>
                  <a:lnTo>
                    <a:pt x="376" y="0"/>
                  </a:lnTo>
                  <a:lnTo>
                    <a:pt x="395" y="40"/>
                  </a:lnTo>
                  <a:lnTo>
                    <a:pt x="415" y="0"/>
                  </a:lnTo>
                  <a:lnTo>
                    <a:pt x="434" y="40"/>
                  </a:lnTo>
                  <a:lnTo>
                    <a:pt x="453" y="0"/>
                  </a:lnTo>
                  <a:lnTo>
                    <a:pt x="472" y="40"/>
                  </a:lnTo>
                  <a:lnTo>
                    <a:pt x="492" y="0"/>
                  </a:lnTo>
                  <a:lnTo>
                    <a:pt x="501"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27" name="Oval 56"/>
            <p:cNvSpPr>
              <a:spLocks noChangeArrowheads="1"/>
            </p:cNvSpPr>
            <p:nvPr/>
          </p:nvSpPr>
          <p:spPr bwMode="auto">
            <a:xfrm>
              <a:off x="2872" y="1378"/>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28" name="Oval 57"/>
            <p:cNvSpPr>
              <a:spLocks noChangeArrowheads="1"/>
            </p:cNvSpPr>
            <p:nvPr/>
          </p:nvSpPr>
          <p:spPr bwMode="auto">
            <a:xfrm>
              <a:off x="721" y="1825"/>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29" name="Rectangle 58"/>
            <p:cNvSpPr>
              <a:spLocks noChangeArrowheads="1"/>
            </p:cNvSpPr>
            <p:nvPr/>
          </p:nvSpPr>
          <p:spPr bwMode="auto">
            <a:xfrm>
              <a:off x="766" y="1754"/>
              <a:ext cx="22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 </a:t>
              </a:r>
              <a:endParaRPr lang="zh-CN" altLang="zh-CN" sz="1800">
                <a:latin typeface="Century Schoolbook" panose="02040604050505020304" pitchFamily="18" charset="0"/>
                <a:ea typeface="宋体" panose="02010600030101010101" pitchFamily="2" charset="-122"/>
              </a:endParaRPr>
            </a:p>
          </p:txBody>
        </p:sp>
        <p:sp>
          <p:nvSpPr>
            <p:cNvPr id="54330" name="Rectangle 59"/>
            <p:cNvSpPr>
              <a:spLocks noChangeArrowheads="1"/>
            </p:cNvSpPr>
            <p:nvPr/>
          </p:nvSpPr>
          <p:spPr bwMode="auto">
            <a:xfrm>
              <a:off x="1122" y="1800"/>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31" name="Rectangle 60"/>
            <p:cNvSpPr>
              <a:spLocks noChangeArrowheads="1"/>
            </p:cNvSpPr>
            <p:nvPr/>
          </p:nvSpPr>
          <p:spPr bwMode="auto">
            <a:xfrm>
              <a:off x="958" y="1754"/>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32" name="Rectangle 61"/>
            <p:cNvSpPr>
              <a:spLocks noChangeArrowheads="1"/>
            </p:cNvSpPr>
            <p:nvPr/>
          </p:nvSpPr>
          <p:spPr bwMode="auto">
            <a:xfrm>
              <a:off x="1085" y="1814"/>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33" name="Line 62"/>
            <p:cNvSpPr>
              <a:spLocks noChangeShapeType="1"/>
            </p:cNvSpPr>
            <p:nvPr/>
          </p:nvSpPr>
          <p:spPr bwMode="auto">
            <a:xfrm>
              <a:off x="1332" y="1870"/>
              <a:ext cx="774" cy="1"/>
            </a:xfrm>
            <a:prstGeom prst="line">
              <a:avLst/>
            </a:prstGeom>
            <a:noFill/>
            <a:ln w="9">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34" name="Freeform 63"/>
            <p:cNvSpPr>
              <a:spLocks/>
            </p:cNvSpPr>
            <p:nvPr/>
          </p:nvSpPr>
          <p:spPr bwMode="auto">
            <a:xfrm>
              <a:off x="2015" y="1843"/>
              <a:ext cx="91" cy="55"/>
            </a:xfrm>
            <a:custGeom>
              <a:avLst/>
              <a:gdLst>
                <a:gd name="T0" fmla="*/ 91 w 91"/>
                <a:gd name="T1" fmla="*/ 27 h 55"/>
                <a:gd name="T2" fmla="*/ 0 w 91"/>
                <a:gd name="T3" fmla="*/ 55 h 55"/>
                <a:gd name="T4" fmla="*/ 19 w 91"/>
                <a:gd name="T5" fmla="*/ 27 h 55"/>
                <a:gd name="T6" fmla="*/ 0 w 91"/>
                <a:gd name="T7" fmla="*/ 0 h 55"/>
                <a:gd name="T8" fmla="*/ 91 w 91"/>
                <a:gd name="T9" fmla="*/ 27 h 55"/>
                <a:gd name="T10" fmla="*/ 0 60000 65536"/>
                <a:gd name="T11" fmla="*/ 0 60000 65536"/>
                <a:gd name="T12" fmla="*/ 0 60000 65536"/>
                <a:gd name="T13" fmla="*/ 0 60000 65536"/>
                <a:gd name="T14" fmla="*/ 0 60000 65536"/>
                <a:gd name="T15" fmla="*/ 0 w 91"/>
                <a:gd name="T16" fmla="*/ 0 h 55"/>
                <a:gd name="T17" fmla="*/ 91 w 91"/>
                <a:gd name="T18" fmla="*/ 55 h 55"/>
              </a:gdLst>
              <a:ahLst/>
              <a:cxnLst>
                <a:cxn ang="T10">
                  <a:pos x="T0" y="T1"/>
                </a:cxn>
                <a:cxn ang="T11">
                  <a:pos x="T2" y="T3"/>
                </a:cxn>
                <a:cxn ang="T12">
                  <a:pos x="T4" y="T5"/>
                </a:cxn>
                <a:cxn ang="T13">
                  <a:pos x="T6" y="T7"/>
                </a:cxn>
                <a:cxn ang="T14">
                  <a:pos x="T8" y="T9"/>
                </a:cxn>
              </a:cxnLst>
              <a:rect l="T15" t="T16" r="T17" b="T18"/>
              <a:pathLst>
                <a:path w="91" h="55">
                  <a:moveTo>
                    <a:pt x="91" y="27"/>
                  </a:moveTo>
                  <a:lnTo>
                    <a:pt x="0" y="55"/>
                  </a:lnTo>
                  <a:lnTo>
                    <a:pt x="19" y="27"/>
                  </a:lnTo>
                  <a:lnTo>
                    <a:pt x="0" y="0"/>
                  </a:lnTo>
                  <a:lnTo>
                    <a:pt x="91" y="27"/>
                  </a:lnTo>
                  <a:close/>
                </a:path>
              </a:pathLst>
            </a:custGeom>
            <a:blipFill dpi="0" rotWithShape="0">
              <a:blip r:embed="rId3"/>
              <a:srcRect/>
              <a:tile tx="0" ty="0" sx="100000" sy="100000" flip="none" algn="tl"/>
            </a:blipFill>
            <a:ln w="9">
              <a:solidFill>
                <a:srgbClr val="000000"/>
              </a:solidFill>
              <a:round/>
              <a:headEnd/>
              <a:tailEnd/>
            </a:ln>
          </p:spPr>
          <p:txBody>
            <a:bodyPr/>
            <a:lstStyle/>
            <a:p>
              <a:endParaRPr lang="zh-CN" altLang="en-US"/>
            </a:p>
          </p:txBody>
        </p:sp>
        <p:sp>
          <p:nvSpPr>
            <p:cNvPr id="54335" name="Rectangle 64"/>
            <p:cNvSpPr>
              <a:spLocks noChangeArrowheads="1"/>
            </p:cNvSpPr>
            <p:nvPr/>
          </p:nvSpPr>
          <p:spPr bwMode="auto">
            <a:xfrm>
              <a:off x="1113" y="1781"/>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36" name="Rectangle 65"/>
            <p:cNvSpPr>
              <a:spLocks noChangeArrowheads="1"/>
            </p:cNvSpPr>
            <p:nvPr/>
          </p:nvSpPr>
          <p:spPr bwMode="auto">
            <a:xfrm>
              <a:off x="539" y="1736"/>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37" name="Rectangle 66"/>
            <p:cNvSpPr>
              <a:spLocks noChangeArrowheads="1"/>
            </p:cNvSpPr>
            <p:nvPr/>
          </p:nvSpPr>
          <p:spPr bwMode="auto">
            <a:xfrm>
              <a:off x="667" y="1796"/>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338" name="Freeform 67"/>
            <p:cNvSpPr>
              <a:spLocks/>
            </p:cNvSpPr>
            <p:nvPr/>
          </p:nvSpPr>
          <p:spPr bwMode="auto">
            <a:xfrm>
              <a:off x="64" y="1797"/>
              <a:ext cx="457" cy="37"/>
            </a:xfrm>
            <a:custGeom>
              <a:avLst/>
              <a:gdLst>
                <a:gd name="T0" fmla="*/ 0 w 501"/>
                <a:gd name="T1" fmla="*/ 6 h 40"/>
                <a:gd name="T2" fmla="*/ 5 w 501"/>
                <a:gd name="T3" fmla="*/ 6 h 40"/>
                <a:gd name="T4" fmla="*/ 5 w 501"/>
                <a:gd name="T5" fmla="*/ 0 h 40"/>
                <a:gd name="T6" fmla="*/ 5 w 501"/>
                <a:gd name="T7" fmla="*/ 6 h 40"/>
                <a:gd name="T8" fmla="*/ 5 w 501"/>
                <a:gd name="T9" fmla="*/ 0 h 40"/>
                <a:gd name="T10" fmla="*/ 5 w 501"/>
                <a:gd name="T11" fmla="*/ 6 h 40"/>
                <a:gd name="T12" fmla="*/ 5 w 501"/>
                <a:gd name="T13" fmla="*/ 0 h 40"/>
                <a:gd name="T14" fmla="*/ 5 w 501"/>
                <a:gd name="T15" fmla="*/ 6 h 40"/>
                <a:gd name="T16" fmla="*/ 5 w 501"/>
                <a:gd name="T17" fmla="*/ 0 h 40"/>
                <a:gd name="T18" fmla="*/ 5 w 501"/>
                <a:gd name="T19" fmla="*/ 6 h 40"/>
                <a:gd name="T20" fmla="*/ 5 w 501"/>
                <a:gd name="T21" fmla="*/ 0 h 40"/>
                <a:gd name="T22" fmla="*/ 5 w 501"/>
                <a:gd name="T23" fmla="*/ 6 h 40"/>
                <a:gd name="T24" fmla="*/ 5 w 501"/>
                <a:gd name="T25" fmla="*/ 0 h 40"/>
                <a:gd name="T26" fmla="*/ 5 w 501"/>
                <a:gd name="T27" fmla="*/ 6 h 40"/>
                <a:gd name="T28" fmla="*/ 5 w 501"/>
                <a:gd name="T29" fmla="*/ 0 h 40"/>
                <a:gd name="T30" fmla="*/ 5 w 501"/>
                <a:gd name="T31" fmla="*/ 6 h 40"/>
                <a:gd name="T32" fmla="*/ 5 w 501"/>
                <a:gd name="T33" fmla="*/ 0 h 40"/>
                <a:gd name="T34" fmla="*/ 5 w 501"/>
                <a:gd name="T35" fmla="*/ 6 h 40"/>
                <a:gd name="T36" fmla="*/ 5 w 501"/>
                <a:gd name="T37" fmla="*/ 0 h 40"/>
                <a:gd name="T38" fmla="*/ 5 w 501"/>
                <a:gd name="T39" fmla="*/ 6 h 40"/>
                <a:gd name="T40" fmla="*/ 5 w 501"/>
                <a:gd name="T41" fmla="*/ 0 h 40"/>
                <a:gd name="T42" fmla="*/ 5 w 501"/>
                <a:gd name="T43" fmla="*/ 6 h 40"/>
                <a:gd name="T44" fmla="*/ 5 w 501"/>
                <a:gd name="T45" fmla="*/ 0 h 40"/>
                <a:gd name="T46" fmla="*/ 5 w 501"/>
                <a:gd name="T47" fmla="*/ 6 h 40"/>
                <a:gd name="T48" fmla="*/ 5 w 501"/>
                <a:gd name="T49" fmla="*/ 0 h 40"/>
                <a:gd name="T50" fmla="*/ 5 w 501"/>
                <a:gd name="T51" fmla="*/ 6 h 40"/>
                <a:gd name="T52" fmla="*/ 5 w 501"/>
                <a:gd name="T53" fmla="*/ 0 h 40"/>
                <a:gd name="T54" fmla="*/ 5 w 501"/>
                <a:gd name="T55" fmla="*/ 6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1"/>
                <a:gd name="T85" fmla="*/ 0 h 40"/>
                <a:gd name="T86" fmla="*/ 501 w 501"/>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1" h="40">
                  <a:moveTo>
                    <a:pt x="0" y="20"/>
                  </a:moveTo>
                  <a:lnTo>
                    <a:pt x="10" y="40"/>
                  </a:lnTo>
                  <a:lnTo>
                    <a:pt x="29" y="0"/>
                  </a:lnTo>
                  <a:lnTo>
                    <a:pt x="48" y="40"/>
                  </a:lnTo>
                  <a:lnTo>
                    <a:pt x="67" y="0"/>
                  </a:lnTo>
                  <a:lnTo>
                    <a:pt x="87" y="40"/>
                  </a:lnTo>
                  <a:lnTo>
                    <a:pt x="106" y="0"/>
                  </a:lnTo>
                  <a:lnTo>
                    <a:pt x="125" y="40"/>
                  </a:lnTo>
                  <a:lnTo>
                    <a:pt x="145" y="0"/>
                  </a:lnTo>
                  <a:lnTo>
                    <a:pt x="164" y="40"/>
                  </a:lnTo>
                  <a:lnTo>
                    <a:pt x="183" y="0"/>
                  </a:lnTo>
                  <a:lnTo>
                    <a:pt x="202" y="40"/>
                  </a:lnTo>
                  <a:lnTo>
                    <a:pt x="222" y="0"/>
                  </a:lnTo>
                  <a:lnTo>
                    <a:pt x="241" y="40"/>
                  </a:lnTo>
                  <a:lnTo>
                    <a:pt x="260" y="0"/>
                  </a:lnTo>
                  <a:lnTo>
                    <a:pt x="280" y="40"/>
                  </a:lnTo>
                  <a:lnTo>
                    <a:pt x="299" y="0"/>
                  </a:lnTo>
                  <a:lnTo>
                    <a:pt x="318" y="40"/>
                  </a:lnTo>
                  <a:lnTo>
                    <a:pt x="337" y="0"/>
                  </a:lnTo>
                  <a:lnTo>
                    <a:pt x="357" y="40"/>
                  </a:lnTo>
                  <a:lnTo>
                    <a:pt x="376" y="0"/>
                  </a:lnTo>
                  <a:lnTo>
                    <a:pt x="395" y="40"/>
                  </a:lnTo>
                  <a:lnTo>
                    <a:pt x="415" y="0"/>
                  </a:lnTo>
                  <a:lnTo>
                    <a:pt x="434" y="40"/>
                  </a:lnTo>
                  <a:lnTo>
                    <a:pt x="453" y="0"/>
                  </a:lnTo>
                  <a:lnTo>
                    <a:pt x="472" y="40"/>
                  </a:lnTo>
                  <a:lnTo>
                    <a:pt x="492" y="0"/>
                  </a:lnTo>
                  <a:lnTo>
                    <a:pt x="501"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39" name="Rectangle 68"/>
            <p:cNvSpPr>
              <a:spLocks noChangeArrowheads="1"/>
            </p:cNvSpPr>
            <p:nvPr/>
          </p:nvSpPr>
          <p:spPr bwMode="auto">
            <a:xfrm>
              <a:off x="2663" y="1791"/>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40" name="Rectangle 69"/>
            <p:cNvSpPr>
              <a:spLocks noChangeArrowheads="1"/>
            </p:cNvSpPr>
            <p:nvPr/>
          </p:nvSpPr>
          <p:spPr bwMode="auto">
            <a:xfrm>
              <a:off x="2791" y="1851"/>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41" name="Freeform 70"/>
            <p:cNvSpPr>
              <a:spLocks/>
            </p:cNvSpPr>
            <p:nvPr/>
          </p:nvSpPr>
          <p:spPr bwMode="auto">
            <a:xfrm>
              <a:off x="2188" y="1852"/>
              <a:ext cx="457" cy="37"/>
            </a:xfrm>
            <a:custGeom>
              <a:avLst/>
              <a:gdLst>
                <a:gd name="T0" fmla="*/ 0 w 501"/>
                <a:gd name="T1" fmla="*/ 6 h 40"/>
                <a:gd name="T2" fmla="*/ 5 w 501"/>
                <a:gd name="T3" fmla="*/ 6 h 40"/>
                <a:gd name="T4" fmla="*/ 5 w 501"/>
                <a:gd name="T5" fmla="*/ 0 h 40"/>
                <a:gd name="T6" fmla="*/ 5 w 501"/>
                <a:gd name="T7" fmla="*/ 6 h 40"/>
                <a:gd name="T8" fmla="*/ 5 w 501"/>
                <a:gd name="T9" fmla="*/ 0 h 40"/>
                <a:gd name="T10" fmla="*/ 5 w 501"/>
                <a:gd name="T11" fmla="*/ 6 h 40"/>
                <a:gd name="T12" fmla="*/ 5 w 501"/>
                <a:gd name="T13" fmla="*/ 0 h 40"/>
                <a:gd name="T14" fmla="*/ 5 w 501"/>
                <a:gd name="T15" fmla="*/ 6 h 40"/>
                <a:gd name="T16" fmla="*/ 5 w 501"/>
                <a:gd name="T17" fmla="*/ 0 h 40"/>
                <a:gd name="T18" fmla="*/ 5 w 501"/>
                <a:gd name="T19" fmla="*/ 6 h 40"/>
                <a:gd name="T20" fmla="*/ 5 w 501"/>
                <a:gd name="T21" fmla="*/ 0 h 40"/>
                <a:gd name="T22" fmla="*/ 5 w 501"/>
                <a:gd name="T23" fmla="*/ 6 h 40"/>
                <a:gd name="T24" fmla="*/ 5 w 501"/>
                <a:gd name="T25" fmla="*/ 0 h 40"/>
                <a:gd name="T26" fmla="*/ 5 w 501"/>
                <a:gd name="T27" fmla="*/ 6 h 40"/>
                <a:gd name="T28" fmla="*/ 5 w 501"/>
                <a:gd name="T29" fmla="*/ 0 h 40"/>
                <a:gd name="T30" fmla="*/ 5 w 501"/>
                <a:gd name="T31" fmla="*/ 6 h 40"/>
                <a:gd name="T32" fmla="*/ 5 w 501"/>
                <a:gd name="T33" fmla="*/ 0 h 40"/>
                <a:gd name="T34" fmla="*/ 5 w 501"/>
                <a:gd name="T35" fmla="*/ 6 h 40"/>
                <a:gd name="T36" fmla="*/ 5 w 501"/>
                <a:gd name="T37" fmla="*/ 0 h 40"/>
                <a:gd name="T38" fmla="*/ 5 w 501"/>
                <a:gd name="T39" fmla="*/ 6 h 40"/>
                <a:gd name="T40" fmla="*/ 5 w 501"/>
                <a:gd name="T41" fmla="*/ 0 h 40"/>
                <a:gd name="T42" fmla="*/ 5 w 501"/>
                <a:gd name="T43" fmla="*/ 6 h 40"/>
                <a:gd name="T44" fmla="*/ 5 w 501"/>
                <a:gd name="T45" fmla="*/ 0 h 40"/>
                <a:gd name="T46" fmla="*/ 5 w 501"/>
                <a:gd name="T47" fmla="*/ 6 h 40"/>
                <a:gd name="T48" fmla="*/ 5 w 501"/>
                <a:gd name="T49" fmla="*/ 0 h 40"/>
                <a:gd name="T50" fmla="*/ 5 w 501"/>
                <a:gd name="T51" fmla="*/ 6 h 40"/>
                <a:gd name="T52" fmla="*/ 5 w 501"/>
                <a:gd name="T53" fmla="*/ 0 h 40"/>
                <a:gd name="T54" fmla="*/ 5 w 501"/>
                <a:gd name="T55" fmla="*/ 6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1"/>
                <a:gd name="T85" fmla="*/ 0 h 40"/>
                <a:gd name="T86" fmla="*/ 501 w 501"/>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1" h="40">
                  <a:moveTo>
                    <a:pt x="0" y="20"/>
                  </a:moveTo>
                  <a:lnTo>
                    <a:pt x="10" y="40"/>
                  </a:lnTo>
                  <a:lnTo>
                    <a:pt x="29" y="0"/>
                  </a:lnTo>
                  <a:lnTo>
                    <a:pt x="48" y="40"/>
                  </a:lnTo>
                  <a:lnTo>
                    <a:pt x="67" y="0"/>
                  </a:lnTo>
                  <a:lnTo>
                    <a:pt x="87" y="40"/>
                  </a:lnTo>
                  <a:lnTo>
                    <a:pt x="106" y="0"/>
                  </a:lnTo>
                  <a:lnTo>
                    <a:pt x="125" y="40"/>
                  </a:lnTo>
                  <a:lnTo>
                    <a:pt x="145" y="0"/>
                  </a:lnTo>
                  <a:lnTo>
                    <a:pt x="164" y="40"/>
                  </a:lnTo>
                  <a:lnTo>
                    <a:pt x="183" y="0"/>
                  </a:lnTo>
                  <a:lnTo>
                    <a:pt x="202" y="40"/>
                  </a:lnTo>
                  <a:lnTo>
                    <a:pt x="222" y="0"/>
                  </a:lnTo>
                  <a:lnTo>
                    <a:pt x="241" y="40"/>
                  </a:lnTo>
                  <a:lnTo>
                    <a:pt x="260" y="0"/>
                  </a:lnTo>
                  <a:lnTo>
                    <a:pt x="280" y="40"/>
                  </a:lnTo>
                  <a:lnTo>
                    <a:pt x="299" y="0"/>
                  </a:lnTo>
                  <a:lnTo>
                    <a:pt x="318" y="40"/>
                  </a:lnTo>
                  <a:lnTo>
                    <a:pt x="337" y="0"/>
                  </a:lnTo>
                  <a:lnTo>
                    <a:pt x="357" y="40"/>
                  </a:lnTo>
                  <a:lnTo>
                    <a:pt x="376" y="0"/>
                  </a:lnTo>
                  <a:lnTo>
                    <a:pt x="395" y="40"/>
                  </a:lnTo>
                  <a:lnTo>
                    <a:pt x="415" y="0"/>
                  </a:lnTo>
                  <a:lnTo>
                    <a:pt x="434" y="40"/>
                  </a:lnTo>
                  <a:lnTo>
                    <a:pt x="453" y="0"/>
                  </a:lnTo>
                  <a:lnTo>
                    <a:pt x="472" y="40"/>
                  </a:lnTo>
                  <a:lnTo>
                    <a:pt x="492" y="0"/>
                  </a:lnTo>
                  <a:lnTo>
                    <a:pt x="501"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42" name="Oval 71"/>
            <p:cNvSpPr>
              <a:spLocks noChangeArrowheads="1"/>
            </p:cNvSpPr>
            <p:nvPr/>
          </p:nvSpPr>
          <p:spPr bwMode="auto">
            <a:xfrm>
              <a:off x="2863" y="1861"/>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43" name="Rectangle 72"/>
            <p:cNvSpPr>
              <a:spLocks noChangeArrowheads="1"/>
            </p:cNvSpPr>
            <p:nvPr/>
          </p:nvSpPr>
          <p:spPr bwMode="auto">
            <a:xfrm>
              <a:off x="1122" y="2265"/>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44" name="Oval 73"/>
            <p:cNvSpPr>
              <a:spLocks noChangeArrowheads="1"/>
            </p:cNvSpPr>
            <p:nvPr/>
          </p:nvSpPr>
          <p:spPr bwMode="auto">
            <a:xfrm>
              <a:off x="712" y="2290"/>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45" name="Rectangle 74"/>
            <p:cNvSpPr>
              <a:spLocks noChangeArrowheads="1"/>
            </p:cNvSpPr>
            <p:nvPr/>
          </p:nvSpPr>
          <p:spPr bwMode="auto">
            <a:xfrm>
              <a:off x="757" y="2219"/>
              <a:ext cx="223"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 </a:t>
              </a:r>
              <a:endParaRPr lang="zh-CN" altLang="zh-CN" sz="1800">
                <a:latin typeface="Century Schoolbook" panose="02040604050505020304" pitchFamily="18" charset="0"/>
                <a:ea typeface="宋体" panose="02010600030101010101" pitchFamily="2" charset="-122"/>
              </a:endParaRPr>
            </a:p>
          </p:txBody>
        </p:sp>
        <p:sp>
          <p:nvSpPr>
            <p:cNvPr id="54346" name="Rectangle 75"/>
            <p:cNvSpPr>
              <a:spLocks noChangeArrowheads="1"/>
            </p:cNvSpPr>
            <p:nvPr/>
          </p:nvSpPr>
          <p:spPr bwMode="auto">
            <a:xfrm>
              <a:off x="1113" y="2265"/>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47" name="Rectangle 76"/>
            <p:cNvSpPr>
              <a:spLocks noChangeArrowheads="1"/>
            </p:cNvSpPr>
            <p:nvPr/>
          </p:nvSpPr>
          <p:spPr bwMode="auto">
            <a:xfrm>
              <a:off x="949" y="2219"/>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48" name="Rectangle 77"/>
            <p:cNvSpPr>
              <a:spLocks noChangeArrowheads="1"/>
            </p:cNvSpPr>
            <p:nvPr/>
          </p:nvSpPr>
          <p:spPr bwMode="auto">
            <a:xfrm>
              <a:off x="1076" y="2280"/>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349" name="Line 78"/>
            <p:cNvSpPr>
              <a:spLocks noChangeShapeType="1"/>
            </p:cNvSpPr>
            <p:nvPr/>
          </p:nvSpPr>
          <p:spPr bwMode="auto">
            <a:xfrm>
              <a:off x="1322" y="2335"/>
              <a:ext cx="775" cy="1"/>
            </a:xfrm>
            <a:prstGeom prst="line">
              <a:avLst/>
            </a:prstGeom>
            <a:noFill/>
            <a:ln w="9">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350" name="Freeform 79"/>
            <p:cNvSpPr>
              <a:spLocks/>
            </p:cNvSpPr>
            <p:nvPr/>
          </p:nvSpPr>
          <p:spPr bwMode="auto">
            <a:xfrm>
              <a:off x="2006" y="2308"/>
              <a:ext cx="91" cy="55"/>
            </a:xfrm>
            <a:custGeom>
              <a:avLst/>
              <a:gdLst>
                <a:gd name="T0" fmla="*/ 91 w 91"/>
                <a:gd name="T1" fmla="*/ 27 h 55"/>
                <a:gd name="T2" fmla="*/ 0 w 91"/>
                <a:gd name="T3" fmla="*/ 55 h 55"/>
                <a:gd name="T4" fmla="*/ 18 w 91"/>
                <a:gd name="T5" fmla="*/ 27 h 55"/>
                <a:gd name="T6" fmla="*/ 0 w 91"/>
                <a:gd name="T7" fmla="*/ 0 h 55"/>
                <a:gd name="T8" fmla="*/ 91 w 91"/>
                <a:gd name="T9" fmla="*/ 27 h 55"/>
                <a:gd name="T10" fmla="*/ 0 60000 65536"/>
                <a:gd name="T11" fmla="*/ 0 60000 65536"/>
                <a:gd name="T12" fmla="*/ 0 60000 65536"/>
                <a:gd name="T13" fmla="*/ 0 60000 65536"/>
                <a:gd name="T14" fmla="*/ 0 60000 65536"/>
                <a:gd name="T15" fmla="*/ 0 w 91"/>
                <a:gd name="T16" fmla="*/ 0 h 55"/>
                <a:gd name="T17" fmla="*/ 91 w 91"/>
                <a:gd name="T18" fmla="*/ 55 h 55"/>
              </a:gdLst>
              <a:ahLst/>
              <a:cxnLst>
                <a:cxn ang="T10">
                  <a:pos x="T0" y="T1"/>
                </a:cxn>
                <a:cxn ang="T11">
                  <a:pos x="T2" y="T3"/>
                </a:cxn>
                <a:cxn ang="T12">
                  <a:pos x="T4" y="T5"/>
                </a:cxn>
                <a:cxn ang="T13">
                  <a:pos x="T6" y="T7"/>
                </a:cxn>
                <a:cxn ang="T14">
                  <a:pos x="T8" y="T9"/>
                </a:cxn>
              </a:cxnLst>
              <a:rect l="T15" t="T16" r="T17" b="T18"/>
              <a:pathLst>
                <a:path w="91" h="55">
                  <a:moveTo>
                    <a:pt x="91" y="27"/>
                  </a:moveTo>
                  <a:lnTo>
                    <a:pt x="0" y="55"/>
                  </a:lnTo>
                  <a:lnTo>
                    <a:pt x="18" y="27"/>
                  </a:lnTo>
                  <a:lnTo>
                    <a:pt x="0" y="0"/>
                  </a:lnTo>
                  <a:lnTo>
                    <a:pt x="91" y="27"/>
                  </a:lnTo>
                  <a:close/>
                </a:path>
              </a:pathLst>
            </a:custGeom>
            <a:blipFill dpi="0" rotWithShape="0">
              <a:blip r:embed="rId3"/>
              <a:srcRect/>
              <a:tile tx="0" ty="0" sx="100000" sy="100000" flip="none" algn="tl"/>
            </a:blipFill>
            <a:ln w="9">
              <a:solidFill>
                <a:srgbClr val="000000"/>
              </a:solidFill>
              <a:round/>
              <a:headEnd/>
              <a:tailEnd/>
            </a:ln>
          </p:spPr>
          <p:txBody>
            <a:bodyPr/>
            <a:lstStyle/>
            <a:p>
              <a:endParaRPr lang="zh-CN" altLang="en-US"/>
            </a:p>
          </p:txBody>
        </p:sp>
        <p:sp>
          <p:nvSpPr>
            <p:cNvPr id="54351" name="Rectangle 80"/>
            <p:cNvSpPr>
              <a:spLocks noChangeArrowheads="1"/>
            </p:cNvSpPr>
            <p:nvPr/>
          </p:nvSpPr>
          <p:spPr bwMode="auto">
            <a:xfrm>
              <a:off x="1104" y="2247"/>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52" name="Rectangle 81"/>
            <p:cNvSpPr>
              <a:spLocks noChangeArrowheads="1"/>
            </p:cNvSpPr>
            <p:nvPr/>
          </p:nvSpPr>
          <p:spPr bwMode="auto">
            <a:xfrm>
              <a:off x="530" y="2201"/>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53" name="Rectangle 82"/>
            <p:cNvSpPr>
              <a:spLocks noChangeArrowheads="1"/>
            </p:cNvSpPr>
            <p:nvPr/>
          </p:nvSpPr>
          <p:spPr bwMode="auto">
            <a:xfrm>
              <a:off x="658" y="2261"/>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354" name="Freeform 83"/>
            <p:cNvSpPr>
              <a:spLocks/>
            </p:cNvSpPr>
            <p:nvPr/>
          </p:nvSpPr>
          <p:spPr bwMode="auto">
            <a:xfrm>
              <a:off x="55" y="2263"/>
              <a:ext cx="457" cy="36"/>
            </a:xfrm>
            <a:custGeom>
              <a:avLst/>
              <a:gdLst>
                <a:gd name="T0" fmla="*/ 0 w 501"/>
                <a:gd name="T1" fmla="*/ 5 h 40"/>
                <a:gd name="T2" fmla="*/ 5 w 501"/>
                <a:gd name="T3" fmla="*/ 5 h 40"/>
                <a:gd name="T4" fmla="*/ 5 w 501"/>
                <a:gd name="T5" fmla="*/ 0 h 40"/>
                <a:gd name="T6" fmla="*/ 5 w 501"/>
                <a:gd name="T7" fmla="*/ 5 h 40"/>
                <a:gd name="T8" fmla="*/ 5 w 501"/>
                <a:gd name="T9" fmla="*/ 0 h 40"/>
                <a:gd name="T10" fmla="*/ 5 w 501"/>
                <a:gd name="T11" fmla="*/ 5 h 40"/>
                <a:gd name="T12" fmla="*/ 5 w 501"/>
                <a:gd name="T13" fmla="*/ 0 h 40"/>
                <a:gd name="T14" fmla="*/ 5 w 501"/>
                <a:gd name="T15" fmla="*/ 5 h 40"/>
                <a:gd name="T16" fmla="*/ 5 w 501"/>
                <a:gd name="T17" fmla="*/ 0 h 40"/>
                <a:gd name="T18" fmla="*/ 5 w 501"/>
                <a:gd name="T19" fmla="*/ 5 h 40"/>
                <a:gd name="T20" fmla="*/ 5 w 501"/>
                <a:gd name="T21" fmla="*/ 0 h 40"/>
                <a:gd name="T22" fmla="*/ 5 w 501"/>
                <a:gd name="T23" fmla="*/ 5 h 40"/>
                <a:gd name="T24" fmla="*/ 5 w 501"/>
                <a:gd name="T25" fmla="*/ 0 h 40"/>
                <a:gd name="T26" fmla="*/ 5 w 501"/>
                <a:gd name="T27" fmla="*/ 5 h 40"/>
                <a:gd name="T28" fmla="*/ 5 w 501"/>
                <a:gd name="T29" fmla="*/ 0 h 40"/>
                <a:gd name="T30" fmla="*/ 5 w 501"/>
                <a:gd name="T31" fmla="*/ 5 h 40"/>
                <a:gd name="T32" fmla="*/ 5 w 501"/>
                <a:gd name="T33" fmla="*/ 0 h 40"/>
                <a:gd name="T34" fmla="*/ 5 w 501"/>
                <a:gd name="T35" fmla="*/ 5 h 40"/>
                <a:gd name="T36" fmla="*/ 5 w 501"/>
                <a:gd name="T37" fmla="*/ 0 h 40"/>
                <a:gd name="T38" fmla="*/ 5 w 501"/>
                <a:gd name="T39" fmla="*/ 5 h 40"/>
                <a:gd name="T40" fmla="*/ 5 w 501"/>
                <a:gd name="T41" fmla="*/ 0 h 40"/>
                <a:gd name="T42" fmla="*/ 5 w 501"/>
                <a:gd name="T43" fmla="*/ 5 h 40"/>
                <a:gd name="T44" fmla="*/ 5 w 501"/>
                <a:gd name="T45" fmla="*/ 0 h 40"/>
                <a:gd name="T46" fmla="*/ 5 w 501"/>
                <a:gd name="T47" fmla="*/ 5 h 40"/>
                <a:gd name="T48" fmla="*/ 5 w 501"/>
                <a:gd name="T49" fmla="*/ 0 h 40"/>
                <a:gd name="T50" fmla="*/ 5 w 501"/>
                <a:gd name="T51" fmla="*/ 5 h 40"/>
                <a:gd name="T52" fmla="*/ 5 w 501"/>
                <a:gd name="T53" fmla="*/ 0 h 40"/>
                <a:gd name="T54" fmla="*/ 5 w 501"/>
                <a:gd name="T55" fmla="*/ 5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1"/>
                <a:gd name="T85" fmla="*/ 0 h 40"/>
                <a:gd name="T86" fmla="*/ 501 w 501"/>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1" h="40">
                  <a:moveTo>
                    <a:pt x="0" y="20"/>
                  </a:moveTo>
                  <a:lnTo>
                    <a:pt x="10" y="40"/>
                  </a:lnTo>
                  <a:lnTo>
                    <a:pt x="29" y="0"/>
                  </a:lnTo>
                  <a:lnTo>
                    <a:pt x="48" y="40"/>
                  </a:lnTo>
                  <a:lnTo>
                    <a:pt x="67" y="0"/>
                  </a:lnTo>
                  <a:lnTo>
                    <a:pt x="87" y="40"/>
                  </a:lnTo>
                  <a:lnTo>
                    <a:pt x="106" y="0"/>
                  </a:lnTo>
                  <a:lnTo>
                    <a:pt x="125" y="40"/>
                  </a:lnTo>
                  <a:lnTo>
                    <a:pt x="145" y="0"/>
                  </a:lnTo>
                  <a:lnTo>
                    <a:pt x="164" y="40"/>
                  </a:lnTo>
                  <a:lnTo>
                    <a:pt x="183" y="0"/>
                  </a:lnTo>
                  <a:lnTo>
                    <a:pt x="202" y="40"/>
                  </a:lnTo>
                  <a:lnTo>
                    <a:pt x="222" y="0"/>
                  </a:lnTo>
                  <a:lnTo>
                    <a:pt x="241" y="40"/>
                  </a:lnTo>
                  <a:lnTo>
                    <a:pt x="260" y="0"/>
                  </a:lnTo>
                  <a:lnTo>
                    <a:pt x="280" y="40"/>
                  </a:lnTo>
                  <a:lnTo>
                    <a:pt x="299" y="0"/>
                  </a:lnTo>
                  <a:lnTo>
                    <a:pt x="318" y="40"/>
                  </a:lnTo>
                  <a:lnTo>
                    <a:pt x="337" y="0"/>
                  </a:lnTo>
                  <a:lnTo>
                    <a:pt x="357" y="40"/>
                  </a:lnTo>
                  <a:lnTo>
                    <a:pt x="376" y="0"/>
                  </a:lnTo>
                  <a:lnTo>
                    <a:pt x="395" y="40"/>
                  </a:lnTo>
                  <a:lnTo>
                    <a:pt x="415" y="0"/>
                  </a:lnTo>
                  <a:lnTo>
                    <a:pt x="434" y="40"/>
                  </a:lnTo>
                  <a:lnTo>
                    <a:pt x="453" y="0"/>
                  </a:lnTo>
                  <a:lnTo>
                    <a:pt x="472" y="40"/>
                  </a:lnTo>
                  <a:lnTo>
                    <a:pt x="492" y="0"/>
                  </a:lnTo>
                  <a:lnTo>
                    <a:pt x="501"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55" name="Rectangle 84"/>
            <p:cNvSpPr>
              <a:spLocks noChangeArrowheads="1"/>
            </p:cNvSpPr>
            <p:nvPr/>
          </p:nvSpPr>
          <p:spPr bwMode="auto">
            <a:xfrm>
              <a:off x="2654" y="2256"/>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56" name="Rectangle 85"/>
            <p:cNvSpPr>
              <a:spLocks noChangeArrowheads="1"/>
            </p:cNvSpPr>
            <p:nvPr/>
          </p:nvSpPr>
          <p:spPr bwMode="auto">
            <a:xfrm>
              <a:off x="2782" y="2316"/>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357" name="Freeform 86"/>
            <p:cNvSpPr>
              <a:spLocks/>
            </p:cNvSpPr>
            <p:nvPr/>
          </p:nvSpPr>
          <p:spPr bwMode="auto">
            <a:xfrm>
              <a:off x="2179" y="2317"/>
              <a:ext cx="457" cy="37"/>
            </a:xfrm>
            <a:custGeom>
              <a:avLst/>
              <a:gdLst>
                <a:gd name="T0" fmla="*/ 0 w 501"/>
                <a:gd name="T1" fmla="*/ 6 h 40"/>
                <a:gd name="T2" fmla="*/ 5 w 501"/>
                <a:gd name="T3" fmla="*/ 6 h 40"/>
                <a:gd name="T4" fmla="*/ 5 w 501"/>
                <a:gd name="T5" fmla="*/ 0 h 40"/>
                <a:gd name="T6" fmla="*/ 5 w 501"/>
                <a:gd name="T7" fmla="*/ 6 h 40"/>
                <a:gd name="T8" fmla="*/ 5 w 501"/>
                <a:gd name="T9" fmla="*/ 0 h 40"/>
                <a:gd name="T10" fmla="*/ 5 w 501"/>
                <a:gd name="T11" fmla="*/ 6 h 40"/>
                <a:gd name="T12" fmla="*/ 5 w 501"/>
                <a:gd name="T13" fmla="*/ 0 h 40"/>
                <a:gd name="T14" fmla="*/ 5 w 501"/>
                <a:gd name="T15" fmla="*/ 6 h 40"/>
                <a:gd name="T16" fmla="*/ 5 w 501"/>
                <a:gd name="T17" fmla="*/ 0 h 40"/>
                <a:gd name="T18" fmla="*/ 5 w 501"/>
                <a:gd name="T19" fmla="*/ 6 h 40"/>
                <a:gd name="T20" fmla="*/ 5 w 501"/>
                <a:gd name="T21" fmla="*/ 0 h 40"/>
                <a:gd name="T22" fmla="*/ 5 w 501"/>
                <a:gd name="T23" fmla="*/ 6 h 40"/>
                <a:gd name="T24" fmla="*/ 5 w 501"/>
                <a:gd name="T25" fmla="*/ 0 h 40"/>
                <a:gd name="T26" fmla="*/ 5 w 501"/>
                <a:gd name="T27" fmla="*/ 6 h 40"/>
                <a:gd name="T28" fmla="*/ 5 w 501"/>
                <a:gd name="T29" fmla="*/ 0 h 40"/>
                <a:gd name="T30" fmla="*/ 5 w 501"/>
                <a:gd name="T31" fmla="*/ 6 h 40"/>
                <a:gd name="T32" fmla="*/ 5 w 501"/>
                <a:gd name="T33" fmla="*/ 0 h 40"/>
                <a:gd name="T34" fmla="*/ 5 w 501"/>
                <a:gd name="T35" fmla="*/ 6 h 40"/>
                <a:gd name="T36" fmla="*/ 5 w 501"/>
                <a:gd name="T37" fmla="*/ 0 h 40"/>
                <a:gd name="T38" fmla="*/ 5 w 501"/>
                <a:gd name="T39" fmla="*/ 6 h 40"/>
                <a:gd name="T40" fmla="*/ 5 w 501"/>
                <a:gd name="T41" fmla="*/ 0 h 40"/>
                <a:gd name="T42" fmla="*/ 5 w 501"/>
                <a:gd name="T43" fmla="*/ 6 h 40"/>
                <a:gd name="T44" fmla="*/ 5 w 501"/>
                <a:gd name="T45" fmla="*/ 0 h 40"/>
                <a:gd name="T46" fmla="*/ 5 w 501"/>
                <a:gd name="T47" fmla="*/ 6 h 40"/>
                <a:gd name="T48" fmla="*/ 5 w 501"/>
                <a:gd name="T49" fmla="*/ 0 h 40"/>
                <a:gd name="T50" fmla="*/ 5 w 501"/>
                <a:gd name="T51" fmla="*/ 6 h 40"/>
                <a:gd name="T52" fmla="*/ 5 w 501"/>
                <a:gd name="T53" fmla="*/ 0 h 40"/>
                <a:gd name="T54" fmla="*/ 5 w 501"/>
                <a:gd name="T55" fmla="*/ 6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1"/>
                <a:gd name="T85" fmla="*/ 0 h 40"/>
                <a:gd name="T86" fmla="*/ 501 w 501"/>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1" h="40">
                  <a:moveTo>
                    <a:pt x="0" y="20"/>
                  </a:moveTo>
                  <a:lnTo>
                    <a:pt x="10" y="40"/>
                  </a:lnTo>
                  <a:lnTo>
                    <a:pt x="29" y="0"/>
                  </a:lnTo>
                  <a:lnTo>
                    <a:pt x="48" y="40"/>
                  </a:lnTo>
                  <a:lnTo>
                    <a:pt x="67" y="0"/>
                  </a:lnTo>
                  <a:lnTo>
                    <a:pt x="87" y="40"/>
                  </a:lnTo>
                  <a:lnTo>
                    <a:pt x="106" y="0"/>
                  </a:lnTo>
                  <a:lnTo>
                    <a:pt x="125" y="40"/>
                  </a:lnTo>
                  <a:lnTo>
                    <a:pt x="145" y="0"/>
                  </a:lnTo>
                  <a:lnTo>
                    <a:pt x="164" y="40"/>
                  </a:lnTo>
                  <a:lnTo>
                    <a:pt x="183" y="0"/>
                  </a:lnTo>
                  <a:lnTo>
                    <a:pt x="202" y="40"/>
                  </a:lnTo>
                  <a:lnTo>
                    <a:pt x="222" y="0"/>
                  </a:lnTo>
                  <a:lnTo>
                    <a:pt x="241" y="40"/>
                  </a:lnTo>
                  <a:lnTo>
                    <a:pt x="260" y="0"/>
                  </a:lnTo>
                  <a:lnTo>
                    <a:pt x="280" y="40"/>
                  </a:lnTo>
                  <a:lnTo>
                    <a:pt x="299" y="0"/>
                  </a:lnTo>
                  <a:lnTo>
                    <a:pt x="318" y="40"/>
                  </a:lnTo>
                  <a:lnTo>
                    <a:pt x="337" y="0"/>
                  </a:lnTo>
                  <a:lnTo>
                    <a:pt x="357" y="40"/>
                  </a:lnTo>
                  <a:lnTo>
                    <a:pt x="376" y="0"/>
                  </a:lnTo>
                  <a:lnTo>
                    <a:pt x="395" y="40"/>
                  </a:lnTo>
                  <a:lnTo>
                    <a:pt x="415" y="0"/>
                  </a:lnTo>
                  <a:lnTo>
                    <a:pt x="434" y="40"/>
                  </a:lnTo>
                  <a:lnTo>
                    <a:pt x="453" y="0"/>
                  </a:lnTo>
                  <a:lnTo>
                    <a:pt x="472" y="40"/>
                  </a:lnTo>
                  <a:lnTo>
                    <a:pt x="492" y="0"/>
                  </a:lnTo>
                  <a:lnTo>
                    <a:pt x="501" y="2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58" name="Oval 87"/>
            <p:cNvSpPr>
              <a:spLocks noChangeArrowheads="1"/>
            </p:cNvSpPr>
            <p:nvPr/>
          </p:nvSpPr>
          <p:spPr bwMode="auto">
            <a:xfrm>
              <a:off x="2854" y="2326"/>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59" name="Rectangle 88"/>
            <p:cNvSpPr>
              <a:spLocks noChangeArrowheads="1"/>
            </p:cNvSpPr>
            <p:nvPr/>
          </p:nvSpPr>
          <p:spPr bwMode="auto">
            <a:xfrm>
              <a:off x="3209" y="970"/>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60" name="Rectangle 89"/>
            <p:cNvSpPr>
              <a:spLocks noChangeArrowheads="1"/>
            </p:cNvSpPr>
            <p:nvPr/>
          </p:nvSpPr>
          <p:spPr bwMode="auto">
            <a:xfrm>
              <a:off x="3563" y="849"/>
              <a:ext cx="6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endParaRPr lang="zh-CN" altLang="zh-CN" sz="1800" i="1">
                <a:latin typeface="Century Schoolbook" panose="02040604050505020304" pitchFamily="18" charset="0"/>
                <a:ea typeface="宋体" panose="02010600030101010101" pitchFamily="2" charset="-122"/>
              </a:endParaRPr>
            </a:p>
          </p:txBody>
        </p:sp>
        <p:sp>
          <p:nvSpPr>
            <p:cNvPr id="54361" name="Rectangle 90"/>
            <p:cNvSpPr>
              <a:spLocks noChangeArrowheads="1"/>
            </p:cNvSpPr>
            <p:nvPr/>
          </p:nvSpPr>
          <p:spPr bwMode="auto">
            <a:xfrm>
              <a:off x="3636" y="935"/>
              <a:ext cx="1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11</a:t>
              </a:r>
              <a:endParaRPr lang="zh-CN" altLang="zh-CN" sz="1400">
                <a:latin typeface="Century Schoolbook" panose="02040604050505020304" pitchFamily="18" charset="0"/>
                <a:ea typeface="宋体" panose="02010600030101010101" pitchFamily="2" charset="-122"/>
              </a:endParaRPr>
            </a:p>
          </p:txBody>
        </p:sp>
        <p:sp>
          <p:nvSpPr>
            <p:cNvPr id="54362" name="Oval 91"/>
            <p:cNvSpPr>
              <a:spLocks noChangeArrowheads="1"/>
            </p:cNvSpPr>
            <p:nvPr/>
          </p:nvSpPr>
          <p:spPr bwMode="auto">
            <a:xfrm>
              <a:off x="4012" y="931"/>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63" name="Rectangle 92"/>
            <p:cNvSpPr>
              <a:spLocks noChangeArrowheads="1"/>
            </p:cNvSpPr>
            <p:nvPr/>
          </p:nvSpPr>
          <p:spPr bwMode="auto">
            <a:xfrm>
              <a:off x="3830" y="870"/>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64" name="Rectangle 93"/>
            <p:cNvSpPr>
              <a:spLocks noChangeArrowheads="1"/>
            </p:cNvSpPr>
            <p:nvPr/>
          </p:nvSpPr>
          <p:spPr bwMode="auto">
            <a:xfrm>
              <a:off x="3958" y="930"/>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65" name="Freeform 94"/>
            <p:cNvSpPr>
              <a:spLocks/>
            </p:cNvSpPr>
            <p:nvPr/>
          </p:nvSpPr>
          <p:spPr bwMode="auto">
            <a:xfrm>
              <a:off x="3793" y="867"/>
              <a:ext cx="36" cy="164"/>
            </a:xfrm>
            <a:custGeom>
              <a:avLst/>
              <a:gdLst>
                <a:gd name="T0" fmla="*/ 5 w 40"/>
                <a:gd name="T1" fmla="*/ 5 h 180"/>
                <a:gd name="T2" fmla="*/ 0 w 40"/>
                <a:gd name="T3" fmla="*/ 5 h 180"/>
                <a:gd name="T4" fmla="*/ 0 w 40"/>
                <a:gd name="T5" fmla="*/ 0 h 180"/>
                <a:gd name="T6" fmla="*/ 5 w 40"/>
                <a:gd name="T7" fmla="*/ 0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40" y="180"/>
                  </a:moveTo>
                  <a:lnTo>
                    <a:pt x="0" y="18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66" name="Freeform 95"/>
            <p:cNvSpPr>
              <a:spLocks/>
            </p:cNvSpPr>
            <p:nvPr/>
          </p:nvSpPr>
          <p:spPr bwMode="auto">
            <a:xfrm>
              <a:off x="4012" y="867"/>
              <a:ext cx="36" cy="164"/>
            </a:xfrm>
            <a:custGeom>
              <a:avLst/>
              <a:gdLst>
                <a:gd name="T0" fmla="*/ 0 w 40"/>
                <a:gd name="T1" fmla="*/ 0 h 180"/>
                <a:gd name="T2" fmla="*/ 5 w 40"/>
                <a:gd name="T3" fmla="*/ 0 h 180"/>
                <a:gd name="T4" fmla="*/ 5 w 40"/>
                <a:gd name="T5" fmla="*/ 5 h 180"/>
                <a:gd name="T6" fmla="*/ 0 w 40"/>
                <a:gd name="T7" fmla="*/ 5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0" y="0"/>
                  </a:moveTo>
                  <a:lnTo>
                    <a:pt x="40" y="0"/>
                  </a:lnTo>
                  <a:lnTo>
                    <a:pt x="40" y="180"/>
                  </a:lnTo>
                  <a:lnTo>
                    <a:pt x="0" y="18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67" name="Rectangle 96"/>
            <p:cNvSpPr>
              <a:spLocks noChangeArrowheads="1"/>
            </p:cNvSpPr>
            <p:nvPr/>
          </p:nvSpPr>
          <p:spPr bwMode="auto">
            <a:xfrm>
              <a:off x="4127" y="879"/>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68" name="Rectangle 97"/>
            <p:cNvSpPr>
              <a:spLocks noChangeArrowheads="1"/>
            </p:cNvSpPr>
            <p:nvPr/>
          </p:nvSpPr>
          <p:spPr bwMode="auto">
            <a:xfrm>
              <a:off x="4255" y="939"/>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69" name="Freeform 98"/>
            <p:cNvSpPr>
              <a:spLocks/>
            </p:cNvSpPr>
            <p:nvPr/>
          </p:nvSpPr>
          <p:spPr bwMode="auto">
            <a:xfrm>
              <a:off x="4085" y="867"/>
              <a:ext cx="36" cy="174"/>
            </a:xfrm>
            <a:custGeom>
              <a:avLst/>
              <a:gdLst>
                <a:gd name="T0" fmla="*/ 5 w 40"/>
                <a:gd name="T1" fmla="*/ 5 h 190"/>
                <a:gd name="T2" fmla="*/ 0 w 40"/>
                <a:gd name="T3" fmla="*/ 5 h 190"/>
                <a:gd name="T4" fmla="*/ 0 w 40"/>
                <a:gd name="T5" fmla="*/ 0 h 190"/>
                <a:gd name="T6" fmla="*/ 5 w 40"/>
                <a:gd name="T7" fmla="*/ 0 h 190"/>
                <a:gd name="T8" fmla="*/ 0 60000 65536"/>
                <a:gd name="T9" fmla="*/ 0 60000 65536"/>
                <a:gd name="T10" fmla="*/ 0 60000 65536"/>
                <a:gd name="T11" fmla="*/ 0 60000 65536"/>
                <a:gd name="T12" fmla="*/ 0 w 40"/>
                <a:gd name="T13" fmla="*/ 0 h 190"/>
                <a:gd name="T14" fmla="*/ 40 w 40"/>
                <a:gd name="T15" fmla="*/ 190 h 190"/>
              </a:gdLst>
              <a:ahLst/>
              <a:cxnLst>
                <a:cxn ang="T8">
                  <a:pos x="T0" y="T1"/>
                </a:cxn>
                <a:cxn ang="T9">
                  <a:pos x="T2" y="T3"/>
                </a:cxn>
                <a:cxn ang="T10">
                  <a:pos x="T4" y="T5"/>
                </a:cxn>
                <a:cxn ang="T11">
                  <a:pos x="T6" y="T7"/>
                </a:cxn>
              </a:cxnLst>
              <a:rect l="T12" t="T13" r="T14" b="T15"/>
              <a:pathLst>
                <a:path w="40" h="190">
                  <a:moveTo>
                    <a:pt x="40" y="190"/>
                  </a:moveTo>
                  <a:lnTo>
                    <a:pt x="0" y="19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70" name="Freeform 99"/>
            <p:cNvSpPr>
              <a:spLocks/>
            </p:cNvSpPr>
            <p:nvPr/>
          </p:nvSpPr>
          <p:spPr bwMode="auto">
            <a:xfrm>
              <a:off x="4303" y="867"/>
              <a:ext cx="37" cy="174"/>
            </a:xfrm>
            <a:custGeom>
              <a:avLst/>
              <a:gdLst>
                <a:gd name="T0" fmla="*/ 0 w 40"/>
                <a:gd name="T1" fmla="*/ 0 h 190"/>
                <a:gd name="T2" fmla="*/ 6 w 40"/>
                <a:gd name="T3" fmla="*/ 0 h 190"/>
                <a:gd name="T4" fmla="*/ 6 w 40"/>
                <a:gd name="T5" fmla="*/ 5 h 190"/>
                <a:gd name="T6" fmla="*/ 0 w 40"/>
                <a:gd name="T7" fmla="*/ 5 h 190"/>
                <a:gd name="T8" fmla="*/ 0 60000 65536"/>
                <a:gd name="T9" fmla="*/ 0 60000 65536"/>
                <a:gd name="T10" fmla="*/ 0 60000 65536"/>
                <a:gd name="T11" fmla="*/ 0 60000 65536"/>
                <a:gd name="T12" fmla="*/ 0 w 40"/>
                <a:gd name="T13" fmla="*/ 0 h 190"/>
                <a:gd name="T14" fmla="*/ 40 w 40"/>
                <a:gd name="T15" fmla="*/ 190 h 190"/>
              </a:gdLst>
              <a:ahLst/>
              <a:cxnLst>
                <a:cxn ang="T8">
                  <a:pos x="T0" y="T1"/>
                </a:cxn>
                <a:cxn ang="T9">
                  <a:pos x="T2" y="T3"/>
                </a:cxn>
                <a:cxn ang="T10">
                  <a:pos x="T4" y="T5"/>
                </a:cxn>
                <a:cxn ang="T11">
                  <a:pos x="T6" y="T7"/>
                </a:cxn>
              </a:cxnLst>
              <a:rect l="T12" t="T13" r="T14" b="T15"/>
              <a:pathLst>
                <a:path w="40" h="190">
                  <a:moveTo>
                    <a:pt x="0" y="0"/>
                  </a:moveTo>
                  <a:lnTo>
                    <a:pt x="40" y="0"/>
                  </a:lnTo>
                  <a:lnTo>
                    <a:pt x="40" y="190"/>
                  </a:lnTo>
                  <a:lnTo>
                    <a:pt x="0" y="19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71" name="Rectangle 100"/>
            <p:cNvSpPr>
              <a:spLocks noChangeArrowheads="1"/>
            </p:cNvSpPr>
            <p:nvPr/>
          </p:nvSpPr>
          <p:spPr bwMode="auto">
            <a:xfrm>
              <a:off x="3219" y="1417"/>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72" name="Rectangle 101"/>
            <p:cNvSpPr>
              <a:spLocks noChangeArrowheads="1"/>
            </p:cNvSpPr>
            <p:nvPr/>
          </p:nvSpPr>
          <p:spPr bwMode="auto">
            <a:xfrm>
              <a:off x="3563" y="1295"/>
              <a:ext cx="6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endParaRPr lang="zh-CN" altLang="zh-CN" sz="1800" i="1">
                <a:latin typeface="Century Schoolbook" panose="02040604050505020304" pitchFamily="18" charset="0"/>
                <a:ea typeface="宋体" panose="02010600030101010101" pitchFamily="2" charset="-122"/>
              </a:endParaRPr>
            </a:p>
          </p:txBody>
        </p:sp>
        <p:sp>
          <p:nvSpPr>
            <p:cNvPr id="54373" name="Rectangle 102"/>
            <p:cNvSpPr>
              <a:spLocks noChangeArrowheads="1"/>
            </p:cNvSpPr>
            <p:nvPr/>
          </p:nvSpPr>
          <p:spPr bwMode="auto">
            <a:xfrm>
              <a:off x="3650" y="1345"/>
              <a:ext cx="1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12</a:t>
              </a:r>
              <a:endParaRPr lang="zh-CN" altLang="zh-CN" sz="1400">
                <a:latin typeface="Century Schoolbook" panose="02040604050505020304" pitchFamily="18" charset="0"/>
                <a:ea typeface="宋体" panose="02010600030101010101" pitchFamily="2" charset="-122"/>
              </a:endParaRPr>
            </a:p>
          </p:txBody>
        </p:sp>
        <p:sp>
          <p:nvSpPr>
            <p:cNvPr id="54374" name="Oval 103"/>
            <p:cNvSpPr>
              <a:spLocks noChangeArrowheads="1"/>
            </p:cNvSpPr>
            <p:nvPr/>
          </p:nvSpPr>
          <p:spPr bwMode="auto">
            <a:xfrm>
              <a:off x="4021" y="1378"/>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75" name="Rectangle 104"/>
            <p:cNvSpPr>
              <a:spLocks noChangeArrowheads="1"/>
            </p:cNvSpPr>
            <p:nvPr/>
          </p:nvSpPr>
          <p:spPr bwMode="auto">
            <a:xfrm>
              <a:off x="3839" y="1316"/>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76" name="Rectangle 105"/>
            <p:cNvSpPr>
              <a:spLocks noChangeArrowheads="1"/>
            </p:cNvSpPr>
            <p:nvPr/>
          </p:nvSpPr>
          <p:spPr bwMode="auto">
            <a:xfrm>
              <a:off x="3967" y="1377"/>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77" name="Freeform 106"/>
            <p:cNvSpPr>
              <a:spLocks/>
            </p:cNvSpPr>
            <p:nvPr/>
          </p:nvSpPr>
          <p:spPr bwMode="auto">
            <a:xfrm>
              <a:off x="3802" y="1314"/>
              <a:ext cx="37" cy="164"/>
            </a:xfrm>
            <a:custGeom>
              <a:avLst/>
              <a:gdLst>
                <a:gd name="T0" fmla="*/ 6 w 40"/>
                <a:gd name="T1" fmla="*/ 5 h 180"/>
                <a:gd name="T2" fmla="*/ 0 w 40"/>
                <a:gd name="T3" fmla="*/ 5 h 180"/>
                <a:gd name="T4" fmla="*/ 0 w 40"/>
                <a:gd name="T5" fmla="*/ 0 h 180"/>
                <a:gd name="T6" fmla="*/ 6 w 40"/>
                <a:gd name="T7" fmla="*/ 0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40" y="180"/>
                  </a:moveTo>
                  <a:lnTo>
                    <a:pt x="0" y="18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78" name="Freeform 107"/>
            <p:cNvSpPr>
              <a:spLocks/>
            </p:cNvSpPr>
            <p:nvPr/>
          </p:nvSpPr>
          <p:spPr bwMode="auto">
            <a:xfrm>
              <a:off x="4021" y="1314"/>
              <a:ext cx="36" cy="164"/>
            </a:xfrm>
            <a:custGeom>
              <a:avLst/>
              <a:gdLst>
                <a:gd name="T0" fmla="*/ 0 w 40"/>
                <a:gd name="T1" fmla="*/ 0 h 180"/>
                <a:gd name="T2" fmla="*/ 5 w 40"/>
                <a:gd name="T3" fmla="*/ 0 h 180"/>
                <a:gd name="T4" fmla="*/ 5 w 40"/>
                <a:gd name="T5" fmla="*/ 5 h 180"/>
                <a:gd name="T6" fmla="*/ 0 w 40"/>
                <a:gd name="T7" fmla="*/ 5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0" y="0"/>
                  </a:moveTo>
                  <a:lnTo>
                    <a:pt x="40" y="0"/>
                  </a:lnTo>
                  <a:lnTo>
                    <a:pt x="40" y="180"/>
                  </a:lnTo>
                  <a:lnTo>
                    <a:pt x="0" y="18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79" name="Rectangle 108"/>
            <p:cNvSpPr>
              <a:spLocks noChangeArrowheads="1"/>
            </p:cNvSpPr>
            <p:nvPr/>
          </p:nvSpPr>
          <p:spPr bwMode="auto">
            <a:xfrm>
              <a:off x="4152" y="1325"/>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80" name="Rectangle 109"/>
            <p:cNvSpPr>
              <a:spLocks noChangeArrowheads="1"/>
            </p:cNvSpPr>
            <p:nvPr/>
          </p:nvSpPr>
          <p:spPr bwMode="auto">
            <a:xfrm>
              <a:off x="4280" y="1386"/>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381" name="Freeform 110"/>
            <p:cNvSpPr>
              <a:spLocks/>
            </p:cNvSpPr>
            <p:nvPr/>
          </p:nvSpPr>
          <p:spPr bwMode="auto">
            <a:xfrm>
              <a:off x="4103" y="1305"/>
              <a:ext cx="36" cy="192"/>
            </a:xfrm>
            <a:custGeom>
              <a:avLst/>
              <a:gdLst>
                <a:gd name="T0" fmla="*/ 5 w 40"/>
                <a:gd name="T1" fmla="*/ 5 h 210"/>
                <a:gd name="T2" fmla="*/ 0 w 40"/>
                <a:gd name="T3" fmla="*/ 5 h 210"/>
                <a:gd name="T4" fmla="*/ 0 w 40"/>
                <a:gd name="T5" fmla="*/ 0 h 210"/>
                <a:gd name="T6" fmla="*/ 5 w 40"/>
                <a:gd name="T7" fmla="*/ 0 h 210"/>
                <a:gd name="T8" fmla="*/ 0 60000 65536"/>
                <a:gd name="T9" fmla="*/ 0 60000 65536"/>
                <a:gd name="T10" fmla="*/ 0 60000 65536"/>
                <a:gd name="T11" fmla="*/ 0 60000 65536"/>
                <a:gd name="T12" fmla="*/ 0 w 40"/>
                <a:gd name="T13" fmla="*/ 0 h 210"/>
                <a:gd name="T14" fmla="*/ 40 w 40"/>
                <a:gd name="T15" fmla="*/ 210 h 210"/>
              </a:gdLst>
              <a:ahLst/>
              <a:cxnLst>
                <a:cxn ang="T8">
                  <a:pos x="T0" y="T1"/>
                </a:cxn>
                <a:cxn ang="T9">
                  <a:pos x="T2" y="T3"/>
                </a:cxn>
                <a:cxn ang="T10">
                  <a:pos x="T4" y="T5"/>
                </a:cxn>
                <a:cxn ang="T11">
                  <a:pos x="T6" y="T7"/>
                </a:cxn>
              </a:cxnLst>
              <a:rect l="T12" t="T13" r="T14" b="T15"/>
              <a:pathLst>
                <a:path w="40" h="210">
                  <a:moveTo>
                    <a:pt x="40" y="210"/>
                  </a:moveTo>
                  <a:lnTo>
                    <a:pt x="0" y="21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82" name="Freeform 111"/>
            <p:cNvSpPr>
              <a:spLocks/>
            </p:cNvSpPr>
            <p:nvPr/>
          </p:nvSpPr>
          <p:spPr bwMode="auto">
            <a:xfrm>
              <a:off x="4322" y="1305"/>
              <a:ext cx="36" cy="192"/>
            </a:xfrm>
            <a:custGeom>
              <a:avLst/>
              <a:gdLst>
                <a:gd name="T0" fmla="*/ 0 w 40"/>
                <a:gd name="T1" fmla="*/ 0 h 210"/>
                <a:gd name="T2" fmla="*/ 5 w 40"/>
                <a:gd name="T3" fmla="*/ 0 h 210"/>
                <a:gd name="T4" fmla="*/ 5 w 40"/>
                <a:gd name="T5" fmla="*/ 5 h 210"/>
                <a:gd name="T6" fmla="*/ 0 w 40"/>
                <a:gd name="T7" fmla="*/ 5 h 210"/>
                <a:gd name="T8" fmla="*/ 0 60000 65536"/>
                <a:gd name="T9" fmla="*/ 0 60000 65536"/>
                <a:gd name="T10" fmla="*/ 0 60000 65536"/>
                <a:gd name="T11" fmla="*/ 0 60000 65536"/>
                <a:gd name="T12" fmla="*/ 0 w 40"/>
                <a:gd name="T13" fmla="*/ 0 h 210"/>
                <a:gd name="T14" fmla="*/ 40 w 40"/>
                <a:gd name="T15" fmla="*/ 210 h 210"/>
              </a:gdLst>
              <a:ahLst/>
              <a:cxnLst>
                <a:cxn ang="T8">
                  <a:pos x="T0" y="T1"/>
                </a:cxn>
                <a:cxn ang="T9">
                  <a:pos x="T2" y="T3"/>
                </a:cxn>
                <a:cxn ang="T10">
                  <a:pos x="T4" y="T5"/>
                </a:cxn>
                <a:cxn ang="T11">
                  <a:pos x="T6" y="T7"/>
                </a:cxn>
              </a:cxnLst>
              <a:rect l="T12" t="T13" r="T14" b="T15"/>
              <a:pathLst>
                <a:path w="40" h="210">
                  <a:moveTo>
                    <a:pt x="0" y="0"/>
                  </a:moveTo>
                  <a:lnTo>
                    <a:pt x="40" y="0"/>
                  </a:lnTo>
                  <a:lnTo>
                    <a:pt x="40" y="210"/>
                  </a:lnTo>
                  <a:lnTo>
                    <a:pt x="0" y="21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83" name="Rectangle 112"/>
            <p:cNvSpPr>
              <a:spLocks noChangeArrowheads="1"/>
            </p:cNvSpPr>
            <p:nvPr/>
          </p:nvSpPr>
          <p:spPr bwMode="auto">
            <a:xfrm>
              <a:off x="3228" y="1900"/>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84" name="Rectangle 113"/>
            <p:cNvSpPr>
              <a:spLocks noChangeArrowheads="1"/>
            </p:cNvSpPr>
            <p:nvPr/>
          </p:nvSpPr>
          <p:spPr bwMode="auto">
            <a:xfrm>
              <a:off x="3629" y="1779"/>
              <a:ext cx="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zh-CN" sz="1800">
                <a:latin typeface="Century Schoolbook" panose="02040604050505020304" pitchFamily="18" charset="0"/>
                <a:ea typeface="宋体" panose="02010600030101010101" pitchFamily="2" charset="-122"/>
              </a:endParaRPr>
            </a:p>
          </p:txBody>
        </p:sp>
        <p:sp>
          <p:nvSpPr>
            <p:cNvPr id="54385" name="Rectangle 114"/>
            <p:cNvSpPr>
              <a:spLocks noChangeArrowheads="1"/>
            </p:cNvSpPr>
            <p:nvPr/>
          </p:nvSpPr>
          <p:spPr bwMode="auto">
            <a:xfrm>
              <a:off x="3600" y="1804"/>
              <a:ext cx="217"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r>
                <a:rPr lang="zh-CN" altLang="zh-CN" sz="1800" baseline="-25000">
                  <a:solidFill>
                    <a:srgbClr val="000000"/>
                  </a:solidFill>
                  <a:latin typeface="Century Schoolbook" panose="02040604050505020304" pitchFamily="18" charset="0"/>
                  <a:ea typeface="宋体" panose="02010600030101010101" pitchFamily="2" charset="-122"/>
                </a:rPr>
                <a:t>21</a:t>
              </a:r>
              <a:endParaRPr lang="zh-CN" altLang="zh-CN" sz="1800" baseline="-25000">
                <a:latin typeface="Century Schoolbook" panose="02040604050505020304" pitchFamily="18" charset="0"/>
                <a:ea typeface="宋体" panose="02010600030101010101" pitchFamily="2" charset="-122"/>
              </a:endParaRPr>
            </a:p>
          </p:txBody>
        </p:sp>
        <p:sp>
          <p:nvSpPr>
            <p:cNvPr id="54386" name="Oval 115"/>
            <p:cNvSpPr>
              <a:spLocks noChangeArrowheads="1"/>
            </p:cNvSpPr>
            <p:nvPr/>
          </p:nvSpPr>
          <p:spPr bwMode="auto">
            <a:xfrm>
              <a:off x="4030" y="1861"/>
              <a:ext cx="9" cy="9"/>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87" name="Rectangle 116"/>
            <p:cNvSpPr>
              <a:spLocks noChangeArrowheads="1"/>
            </p:cNvSpPr>
            <p:nvPr/>
          </p:nvSpPr>
          <p:spPr bwMode="auto">
            <a:xfrm>
              <a:off x="3849" y="1800"/>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88" name="Rectangle 117"/>
            <p:cNvSpPr>
              <a:spLocks noChangeArrowheads="1"/>
            </p:cNvSpPr>
            <p:nvPr/>
          </p:nvSpPr>
          <p:spPr bwMode="auto">
            <a:xfrm>
              <a:off x="3976" y="1860"/>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389" name="Freeform 118"/>
            <p:cNvSpPr>
              <a:spLocks/>
            </p:cNvSpPr>
            <p:nvPr/>
          </p:nvSpPr>
          <p:spPr bwMode="auto">
            <a:xfrm>
              <a:off x="3811" y="1797"/>
              <a:ext cx="37" cy="165"/>
            </a:xfrm>
            <a:custGeom>
              <a:avLst/>
              <a:gdLst>
                <a:gd name="T0" fmla="*/ 6 w 40"/>
                <a:gd name="T1" fmla="*/ 6 h 180"/>
                <a:gd name="T2" fmla="*/ 0 w 40"/>
                <a:gd name="T3" fmla="*/ 6 h 180"/>
                <a:gd name="T4" fmla="*/ 0 w 40"/>
                <a:gd name="T5" fmla="*/ 0 h 180"/>
                <a:gd name="T6" fmla="*/ 6 w 40"/>
                <a:gd name="T7" fmla="*/ 0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40" y="180"/>
                  </a:moveTo>
                  <a:lnTo>
                    <a:pt x="0" y="18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90" name="Freeform 119"/>
            <p:cNvSpPr>
              <a:spLocks/>
            </p:cNvSpPr>
            <p:nvPr/>
          </p:nvSpPr>
          <p:spPr bwMode="auto">
            <a:xfrm>
              <a:off x="4030" y="1797"/>
              <a:ext cx="36" cy="165"/>
            </a:xfrm>
            <a:custGeom>
              <a:avLst/>
              <a:gdLst>
                <a:gd name="T0" fmla="*/ 0 w 40"/>
                <a:gd name="T1" fmla="*/ 0 h 180"/>
                <a:gd name="T2" fmla="*/ 5 w 40"/>
                <a:gd name="T3" fmla="*/ 0 h 180"/>
                <a:gd name="T4" fmla="*/ 5 w 40"/>
                <a:gd name="T5" fmla="*/ 6 h 180"/>
                <a:gd name="T6" fmla="*/ 0 w 40"/>
                <a:gd name="T7" fmla="*/ 6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0" y="0"/>
                  </a:moveTo>
                  <a:lnTo>
                    <a:pt x="40" y="0"/>
                  </a:lnTo>
                  <a:lnTo>
                    <a:pt x="40" y="180"/>
                  </a:lnTo>
                  <a:lnTo>
                    <a:pt x="0" y="18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91" name="Rectangle 120"/>
            <p:cNvSpPr>
              <a:spLocks noChangeArrowheads="1"/>
            </p:cNvSpPr>
            <p:nvPr/>
          </p:nvSpPr>
          <p:spPr bwMode="auto">
            <a:xfrm>
              <a:off x="4155" y="1818"/>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392" name="Rectangle 121"/>
            <p:cNvSpPr>
              <a:spLocks noChangeArrowheads="1"/>
            </p:cNvSpPr>
            <p:nvPr/>
          </p:nvSpPr>
          <p:spPr bwMode="auto">
            <a:xfrm>
              <a:off x="4282" y="1878"/>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1</a:t>
              </a:r>
              <a:endParaRPr lang="zh-CN" altLang="zh-CN" sz="1800">
                <a:latin typeface="Century Schoolbook" panose="02040604050505020304" pitchFamily="18" charset="0"/>
                <a:ea typeface="宋体" panose="02010600030101010101" pitchFamily="2" charset="-122"/>
              </a:endParaRPr>
            </a:p>
          </p:txBody>
        </p:sp>
        <p:sp>
          <p:nvSpPr>
            <p:cNvPr id="54393" name="Freeform 122"/>
            <p:cNvSpPr>
              <a:spLocks/>
            </p:cNvSpPr>
            <p:nvPr/>
          </p:nvSpPr>
          <p:spPr bwMode="auto">
            <a:xfrm>
              <a:off x="4121" y="1797"/>
              <a:ext cx="37" cy="183"/>
            </a:xfrm>
            <a:custGeom>
              <a:avLst/>
              <a:gdLst>
                <a:gd name="T0" fmla="*/ 6 w 40"/>
                <a:gd name="T1" fmla="*/ 5 h 200"/>
                <a:gd name="T2" fmla="*/ 0 w 40"/>
                <a:gd name="T3" fmla="*/ 5 h 200"/>
                <a:gd name="T4" fmla="*/ 0 w 40"/>
                <a:gd name="T5" fmla="*/ 0 h 200"/>
                <a:gd name="T6" fmla="*/ 6 w 40"/>
                <a:gd name="T7" fmla="*/ 0 h 200"/>
                <a:gd name="T8" fmla="*/ 0 60000 65536"/>
                <a:gd name="T9" fmla="*/ 0 60000 65536"/>
                <a:gd name="T10" fmla="*/ 0 60000 65536"/>
                <a:gd name="T11" fmla="*/ 0 60000 65536"/>
                <a:gd name="T12" fmla="*/ 0 w 40"/>
                <a:gd name="T13" fmla="*/ 0 h 200"/>
                <a:gd name="T14" fmla="*/ 40 w 40"/>
                <a:gd name="T15" fmla="*/ 200 h 200"/>
              </a:gdLst>
              <a:ahLst/>
              <a:cxnLst>
                <a:cxn ang="T8">
                  <a:pos x="T0" y="T1"/>
                </a:cxn>
                <a:cxn ang="T9">
                  <a:pos x="T2" y="T3"/>
                </a:cxn>
                <a:cxn ang="T10">
                  <a:pos x="T4" y="T5"/>
                </a:cxn>
                <a:cxn ang="T11">
                  <a:pos x="T6" y="T7"/>
                </a:cxn>
              </a:cxnLst>
              <a:rect l="T12" t="T13" r="T14" b="T15"/>
              <a:pathLst>
                <a:path w="40" h="200">
                  <a:moveTo>
                    <a:pt x="40" y="200"/>
                  </a:moveTo>
                  <a:lnTo>
                    <a:pt x="0" y="20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94" name="Freeform 123"/>
            <p:cNvSpPr>
              <a:spLocks/>
            </p:cNvSpPr>
            <p:nvPr/>
          </p:nvSpPr>
          <p:spPr bwMode="auto">
            <a:xfrm>
              <a:off x="4313" y="1797"/>
              <a:ext cx="36" cy="183"/>
            </a:xfrm>
            <a:custGeom>
              <a:avLst/>
              <a:gdLst>
                <a:gd name="T0" fmla="*/ 0 w 40"/>
                <a:gd name="T1" fmla="*/ 0 h 200"/>
                <a:gd name="T2" fmla="*/ 5 w 40"/>
                <a:gd name="T3" fmla="*/ 0 h 200"/>
                <a:gd name="T4" fmla="*/ 5 w 40"/>
                <a:gd name="T5" fmla="*/ 5 h 200"/>
                <a:gd name="T6" fmla="*/ 0 w 40"/>
                <a:gd name="T7" fmla="*/ 5 h 200"/>
                <a:gd name="T8" fmla="*/ 0 60000 65536"/>
                <a:gd name="T9" fmla="*/ 0 60000 65536"/>
                <a:gd name="T10" fmla="*/ 0 60000 65536"/>
                <a:gd name="T11" fmla="*/ 0 60000 65536"/>
                <a:gd name="T12" fmla="*/ 0 w 40"/>
                <a:gd name="T13" fmla="*/ 0 h 200"/>
                <a:gd name="T14" fmla="*/ 40 w 40"/>
                <a:gd name="T15" fmla="*/ 200 h 200"/>
              </a:gdLst>
              <a:ahLst/>
              <a:cxnLst>
                <a:cxn ang="T8">
                  <a:pos x="T0" y="T1"/>
                </a:cxn>
                <a:cxn ang="T9">
                  <a:pos x="T2" y="T3"/>
                </a:cxn>
                <a:cxn ang="T10">
                  <a:pos x="T4" y="T5"/>
                </a:cxn>
                <a:cxn ang="T11">
                  <a:pos x="T6" y="T7"/>
                </a:cxn>
              </a:cxnLst>
              <a:rect l="T12" t="T13" r="T14" b="T15"/>
              <a:pathLst>
                <a:path w="40" h="200">
                  <a:moveTo>
                    <a:pt x="0" y="0"/>
                  </a:moveTo>
                  <a:lnTo>
                    <a:pt x="40" y="0"/>
                  </a:lnTo>
                  <a:lnTo>
                    <a:pt x="40" y="200"/>
                  </a:lnTo>
                  <a:lnTo>
                    <a:pt x="0" y="20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395" name="Rectangle 124"/>
            <p:cNvSpPr>
              <a:spLocks noChangeArrowheads="1"/>
            </p:cNvSpPr>
            <p:nvPr/>
          </p:nvSpPr>
          <p:spPr bwMode="auto">
            <a:xfrm>
              <a:off x="3219" y="2374"/>
              <a:ext cx="13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  </a:t>
              </a:r>
              <a:endParaRPr lang="zh-CN" altLang="zh-CN" sz="1800">
                <a:latin typeface="Century Schoolbook" panose="02040604050505020304" pitchFamily="18" charset="0"/>
                <a:ea typeface="宋体" panose="02010600030101010101" pitchFamily="2" charset="-122"/>
              </a:endParaRPr>
            </a:p>
          </p:txBody>
        </p:sp>
        <p:sp>
          <p:nvSpPr>
            <p:cNvPr id="54396" name="Rectangle 125"/>
            <p:cNvSpPr>
              <a:spLocks noChangeArrowheads="1"/>
            </p:cNvSpPr>
            <p:nvPr/>
          </p:nvSpPr>
          <p:spPr bwMode="auto">
            <a:xfrm>
              <a:off x="3563" y="2253"/>
              <a:ext cx="65"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i="1">
                  <a:solidFill>
                    <a:srgbClr val="000000"/>
                  </a:solidFill>
                  <a:latin typeface="Century Schoolbook" panose="02040604050505020304" pitchFamily="18" charset="0"/>
                  <a:ea typeface="宋体" panose="02010600030101010101" pitchFamily="2" charset="-122"/>
                </a:rPr>
                <a:t>k</a:t>
              </a:r>
              <a:endParaRPr lang="zh-CN" altLang="zh-CN" sz="1800" i="1">
                <a:latin typeface="Century Schoolbook" panose="02040604050505020304" pitchFamily="18" charset="0"/>
                <a:ea typeface="宋体" panose="02010600030101010101" pitchFamily="2" charset="-122"/>
              </a:endParaRPr>
            </a:p>
          </p:txBody>
        </p:sp>
        <p:sp>
          <p:nvSpPr>
            <p:cNvPr id="54397" name="Rectangle 126"/>
            <p:cNvSpPr>
              <a:spLocks noChangeArrowheads="1"/>
            </p:cNvSpPr>
            <p:nvPr/>
          </p:nvSpPr>
          <p:spPr bwMode="auto">
            <a:xfrm>
              <a:off x="3636" y="2341"/>
              <a:ext cx="1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22</a:t>
              </a:r>
              <a:endParaRPr lang="zh-CN" altLang="zh-CN" sz="1400">
                <a:latin typeface="Century Schoolbook" panose="02040604050505020304" pitchFamily="18" charset="0"/>
                <a:ea typeface="宋体" panose="02010600030101010101" pitchFamily="2" charset="-122"/>
              </a:endParaRPr>
            </a:p>
          </p:txBody>
        </p:sp>
        <p:sp>
          <p:nvSpPr>
            <p:cNvPr id="54398" name="Oval 127"/>
            <p:cNvSpPr>
              <a:spLocks noChangeArrowheads="1"/>
            </p:cNvSpPr>
            <p:nvPr/>
          </p:nvSpPr>
          <p:spPr bwMode="auto">
            <a:xfrm>
              <a:off x="4021" y="2335"/>
              <a:ext cx="9" cy="10"/>
            </a:xfrm>
            <a:prstGeom prst="ellipse">
              <a:avLst/>
            </a:prstGeom>
            <a:blipFill dpi="0" rotWithShape="0">
              <a:blip r:embed="rId3"/>
              <a:srcRect/>
              <a:tile tx="0" ty="0" sx="100000" sy="100000" flip="none" algn="tl"/>
            </a:blipFill>
            <a:ln w="9">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p:txBody>
        </p:sp>
        <p:sp>
          <p:nvSpPr>
            <p:cNvPr id="54399" name="Rectangle 128"/>
            <p:cNvSpPr>
              <a:spLocks noChangeArrowheads="1"/>
            </p:cNvSpPr>
            <p:nvPr/>
          </p:nvSpPr>
          <p:spPr bwMode="auto">
            <a:xfrm>
              <a:off x="3839" y="2274"/>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400" name="Rectangle 129"/>
            <p:cNvSpPr>
              <a:spLocks noChangeArrowheads="1"/>
            </p:cNvSpPr>
            <p:nvPr/>
          </p:nvSpPr>
          <p:spPr bwMode="auto">
            <a:xfrm>
              <a:off x="3967" y="2334"/>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401" name="Freeform 130"/>
            <p:cNvSpPr>
              <a:spLocks/>
            </p:cNvSpPr>
            <p:nvPr/>
          </p:nvSpPr>
          <p:spPr bwMode="auto">
            <a:xfrm>
              <a:off x="3802" y="2272"/>
              <a:ext cx="37" cy="164"/>
            </a:xfrm>
            <a:custGeom>
              <a:avLst/>
              <a:gdLst>
                <a:gd name="T0" fmla="*/ 6 w 40"/>
                <a:gd name="T1" fmla="*/ 5 h 180"/>
                <a:gd name="T2" fmla="*/ 0 w 40"/>
                <a:gd name="T3" fmla="*/ 5 h 180"/>
                <a:gd name="T4" fmla="*/ 0 w 40"/>
                <a:gd name="T5" fmla="*/ 0 h 180"/>
                <a:gd name="T6" fmla="*/ 6 w 40"/>
                <a:gd name="T7" fmla="*/ 0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40" y="180"/>
                  </a:moveTo>
                  <a:lnTo>
                    <a:pt x="0" y="18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402" name="Freeform 131"/>
            <p:cNvSpPr>
              <a:spLocks/>
            </p:cNvSpPr>
            <p:nvPr/>
          </p:nvSpPr>
          <p:spPr bwMode="auto">
            <a:xfrm>
              <a:off x="4021" y="2272"/>
              <a:ext cx="36" cy="164"/>
            </a:xfrm>
            <a:custGeom>
              <a:avLst/>
              <a:gdLst>
                <a:gd name="T0" fmla="*/ 0 w 40"/>
                <a:gd name="T1" fmla="*/ 0 h 180"/>
                <a:gd name="T2" fmla="*/ 5 w 40"/>
                <a:gd name="T3" fmla="*/ 0 h 180"/>
                <a:gd name="T4" fmla="*/ 5 w 40"/>
                <a:gd name="T5" fmla="*/ 5 h 180"/>
                <a:gd name="T6" fmla="*/ 0 w 40"/>
                <a:gd name="T7" fmla="*/ 5 h 180"/>
                <a:gd name="T8" fmla="*/ 0 60000 65536"/>
                <a:gd name="T9" fmla="*/ 0 60000 65536"/>
                <a:gd name="T10" fmla="*/ 0 60000 65536"/>
                <a:gd name="T11" fmla="*/ 0 60000 65536"/>
                <a:gd name="T12" fmla="*/ 0 w 40"/>
                <a:gd name="T13" fmla="*/ 0 h 180"/>
                <a:gd name="T14" fmla="*/ 40 w 40"/>
                <a:gd name="T15" fmla="*/ 180 h 180"/>
              </a:gdLst>
              <a:ahLst/>
              <a:cxnLst>
                <a:cxn ang="T8">
                  <a:pos x="T0" y="T1"/>
                </a:cxn>
                <a:cxn ang="T9">
                  <a:pos x="T2" y="T3"/>
                </a:cxn>
                <a:cxn ang="T10">
                  <a:pos x="T4" y="T5"/>
                </a:cxn>
                <a:cxn ang="T11">
                  <a:pos x="T6" y="T7"/>
                </a:cxn>
              </a:cxnLst>
              <a:rect l="T12" t="T13" r="T14" b="T15"/>
              <a:pathLst>
                <a:path w="40" h="180">
                  <a:moveTo>
                    <a:pt x="0" y="0"/>
                  </a:moveTo>
                  <a:lnTo>
                    <a:pt x="40" y="0"/>
                  </a:lnTo>
                  <a:lnTo>
                    <a:pt x="40" y="180"/>
                  </a:lnTo>
                  <a:lnTo>
                    <a:pt x="0" y="18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403" name="Rectangle 132"/>
            <p:cNvSpPr>
              <a:spLocks noChangeArrowheads="1"/>
            </p:cNvSpPr>
            <p:nvPr/>
          </p:nvSpPr>
          <p:spPr bwMode="auto">
            <a:xfrm>
              <a:off x="4137" y="2283"/>
              <a:ext cx="1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800">
                  <a:solidFill>
                    <a:srgbClr val="000000"/>
                  </a:solidFill>
                  <a:latin typeface="Century Schoolbook" panose="02040604050505020304" pitchFamily="18" charset="0"/>
                  <a:ea typeface="宋体" panose="02010600030101010101" pitchFamily="2" charset="-122"/>
                </a:rPr>
                <a:t>M</a:t>
              </a:r>
              <a:endParaRPr lang="zh-CN" altLang="zh-CN" sz="1800">
                <a:latin typeface="Century Schoolbook" panose="02040604050505020304" pitchFamily="18" charset="0"/>
                <a:ea typeface="宋体" panose="02010600030101010101" pitchFamily="2" charset="-122"/>
              </a:endParaRPr>
            </a:p>
          </p:txBody>
        </p:sp>
        <p:sp>
          <p:nvSpPr>
            <p:cNvPr id="54404" name="Rectangle 133"/>
            <p:cNvSpPr>
              <a:spLocks noChangeArrowheads="1"/>
            </p:cNvSpPr>
            <p:nvPr/>
          </p:nvSpPr>
          <p:spPr bwMode="auto">
            <a:xfrm>
              <a:off x="4264" y="2343"/>
              <a:ext cx="100"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400">
                  <a:solidFill>
                    <a:srgbClr val="000000"/>
                  </a:solidFill>
                  <a:latin typeface="Century Schoolbook" panose="02040604050505020304" pitchFamily="18" charset="0"/>
                  <a:ea typeface="宋体" panose="02010600030101010101" pitchFamily="2" charset="-122"/>
                </a:rPr>
                <a:t>2</a:t>
              </a:r>
              <a:endParaRPr lang="zh-CN" altLang="zh-CN" sz="1800">
                <a:latin typeface="Century Schoolbook" panose="02040604050505020304" pitchFamily="18" charset="0"/>
                <a:ea typeface="宋体" panose="02010600030101010101" pitchFamily="2" charset="-122"/>
              </a:endParaRPr>
            </a:p>
          </p:txBody>
        </p:sp>
        <p:sp>
          <p:nvSpPr>
            <p:cNvPr id="54405" name="Freeform 134"/>
            <p:cNvSpPr>
              <a:spLocks/>
            </p:cNvSpPr>
            <p:nvPr/>
          </p:nvSpPr>
          <p:spPr bwMode="auto">
            <a:xfrm>
              <a:off x="4103" y="2272"/>
              <a:ext cx="36" cy="155"/>
            </a:xfrm>
            <a:custGeom>
              <a:avLst/>
              <a:gdLst>
                <a:gd name="T0" fmla="*/ 5 w 40"/>
                <a:gd name="T1" fmla="*/ 5 h 170"/>
                <a:gd name="T2" fmla="*/ 0 w 40"/>
                <a:gd name="T3" fmla="*/ 5 h 170"/>
                <a:gd name="T4" fmla="*/ 0 w 40"/>
                <a:gd name="T5" fmla="*/ 0 h 170"/>
                <a:gd name="T6" fmla="*/ 5 w 40"/>
                <a:gd name="T7" fmla="*/ 0 h 170"/>
                <a:gd name="T8" fmla="*/ 0 60000 65536"/>
                <a:gd name="T9" fmla="*/ 0 60000 65536"/>
                <a:gd name="T10" fmla="*/ 0 60000 65536"/>
                <a:gd name="T11" fmla="*/ 0 60000 65536"/>
                <a:gd name="T12" fmla="*/ 0 w 40"/>
                <a:gd name="T13" fmla="*/ 0 h 170"/>
                <a:gd name="T14" fmla="*/ 40 w 40"/>
                <a:gd name="T15" fmla="*/ 170 h 170"/>
              </a:gdLst>
              <a:ahLst/>
              <a:cxnLst>
                <a:cxn ang="T8">
                  <a:pos x="T0" y="T1"/>
                </a:cxn>
                <a:cxn ang="T9">
                  <a:pos x="T2" y="T3"/>
                </a:cxn>
                <a:cxn ang="T10">
                  <a:pos x="T4" y="T5"/>
                </a:cxn>
                <a:cxn ang="T11">
                  <a:pos x="T6" y="T7"/>
                </a:cxn>
              </a:cxnLst>
              <a:rect l="T12" t="T13" r="T14" b="T15"/>
              <a:pathLst>
                <a:path w="40" h="170">
                  <a:moveTo>
                    <a:pt x="40" y="170"/>
                  </a:moveTo>
                  <a:lnTo>
                    <a:pt x="0" y="170"/>
                  </a:lnTo>
                  <a:lnTo>
                    <a:pt x="0" y="0"/>
                  </a:lnTo>
                  <a:lnTo>
                    <a:pt x="40" y="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406" name="Freeform 135"/>
            <p:cNvSpPr>
              <a:spLocks/>
            </p:cNvSpPr>
            <p:nvPr/>
          </p:nvSpPr>
          <p:spPr bwMode="auto">
            <a:xfrm>
              <a:off x="4322" y="2272"/>
              <a:ext cx="36" cy="155"/>
            </a:xfrm>
            <a:custGeom>
              <a:avLst/>
              <a:gdLst>
                <a:gd name="T0" fmla="*/ 0 w 40"/>
                <a:gd name="T1" fmla="*/ 0 h 170"/>
                <a:gd name="T2" fmla="*/ 5 w 40"/>
                <a:gd name="T3" fmla="*/ 0 h 170"/>
                <a:gd name="T4" fmla="*/ 5 w 40"/>
                <a:gd name="T5" fmla="*/ 5 h 170"/>
                <a:gd name="T6" fmla="*/ 0 w 40"/>
                <a:gd name="T7" fmla="*/ 5 h 170"/>
                <a:gd name="T8" fmla="*/ 0 60000 65536"/>
                <a:gd name="T9" fmla="*/ 0 60000 65536"/>
                <a:gd name="T10" fmla="*/ 0 60000 65536"/>
                <a:gd name="T11" fmla="*/ 0 60000 65536"/>
                <a:gd name="T12" fmla="*/ 0 w 40"/>
                <a:gd name="T13" fmla="*/ 0 h 170"/>
                <a:gd name="T14" fmla="*/ 40 w 40"/>
                <a:gd name="T15" fmla="*/ 170 h 170"/>
              </a:gdLst>
              <a:ahLst/>
              <a:cxnLst>
                <a:cxn ang="T8">
                  <a:pos x="T0" y="T1"/>
                </a:cxn>
                <a:cxn ang="T9">
                  <a:pos x="T2" y="T3"/>
                </a:cxn>
                <a:cxn ang="T10">
                  <a:pos x="T4" y="T5"/>
                </a:cxn>
                <a:cxn ang="T11">
                  <a:pos x="T6" y="T7"/>
                </a:cxn>
              </a:cxnLst>
              <a:rect l="T12" t="T13" r="T14" b="T15"/>
              <a:pathLst>
                <a:path w="40" h="170">
                  <a:moveTo>
                    <a:pt x="0" y="0"/>
                  </a:moveTo>
                  <a:lnTo>
                    <a:pt x="40" y="0"/>
                  </a:lnTo>
                  <a:lnTo>
                    <a:pt x="40" y="170"/>
                  </a:lnTo>
                  <a:lnTo>
                    <a:pt x="0" y="170"/>
                  </a:lnTo>
                </a:path>
              </a:pathLst>
            </a:custGeom>
            <a:noFill/>
            <a:ln w="9">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4407" name="Rectangle 136"/>
            <p:cNvSpPr>
              <a:spLocks noChangeArrowheads="1"/>
            </p:cNvSpPr>
            <p:nvPr/>
          </p:nvSpPr>
          <p:spPr bwMode="auto">
            <a:xfrm>
              <a:off x="3839" y="477"/>
              <a:ext cx="25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400" i="1">
                  <a:solidFill>
                    <a:srgbClr val="000000"/>
                  </a:solidFill>
                  <a:latin typeface="Century Schoolbook" panose="02040604050505020304" pitchFamily="18" charset="0"/>
                  <a:ea typeface="宋体" panose="02010600030101010101" pitchFamily="2" charset="-122"/>
                </a:rPr>
                <a:t>R</a:t>
              </a:r>
              <a:endParaRPr lang="zh-CN" altLang="zh-CN" sz="2400" i="1">
                <a:latin typeface="Century Schoolbook" panose="02040604050505020304" pitchFamily="18" charset="0"/>
                <a:ea typeface="宋体" panose="02010600030101010101" pitchFamily="2" charset="-122"/>
              </a:endParaRPr>
            </a:p>
          </p:txBody>
        </p:sp>
        <p:sp>
          <p:nvSpPr>
            <p:cNvPr id="54408" name="Rectangle 137"/>
            <p:cNvSpPr>
              <a:spLocks noChangeArrowheads="1"/>
            </p:cNvSpPr>
            <p:nvPr/>
          </p:nvSpPr>
          <p:spPr bwMode="auto">
            <a:xfrm>
              <a:off x="3994" y="553"/>
              <a:ext cx="65"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400" baseline="-25000">
                  <a:solidFill>
                    <a:srgbClr val="000000"/>
                  </a:solidFill>
                  <a:latin typeface="Century Schoolbook" panose="02040604050505020304" pitchFamily="18" charset="0"/>
                  <a:ea typeface="宋体" panose="02010600030101010101" pitchFamily="2" charset="-122"/>
                </a:rPr>
                <a:t>p</a:t>
              </a:r>
              <a:endParaRPr lang="zh-CN" altLang="zh-CN" sz="2400" baseline="-25000">
                <a:latin typeface="Century Schoolbook" panose="02040604050505020304" pitchFamily="18" charset="0"/>
                <a:ea typeface="宋体" panose="02010600030101010101" pitchFamily="2" charset="-122"/>
              </a:endParaRPr>
            </a:p>
          </p:txBody>
        </p:sp>
      </p:grpSp>
      <p:sp>
        <p:nvSpPr>
          <p:cNvPr id="54287" name="Text Box 22"/>
          <p:cNvSpPr txBox="1">
            <a:spLocks noChangeArrowheads="1"/>
          </p:cNvSpPr>
          <p:nvPr/>
        </p:nvSpPr>
        <p:spPr bwMode="auto">
          <a:xfrm>
            <a:off x="330200" y="5519738"/>
            <a:ext cx="43910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1077913" indent="-1077913">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solidFill>
                  <a:srgbClr val="FF0000"/>
                </a:solidFill>
                <a:latin typeface="楷体" panose="02010609060101010101" pitchFamily="49" charset="-122"/>
                <a:ea typeface="楷体" panose="02010609060101010101" pitchFamily="49" charset="-122"/>
              </a:rPr>
              <a:t>假定</a:t>
            </a:r>
            <a:r>
              <a:rPr lang="en-US" altLang="zh-CN" sz="2400" b="1">
                <a:solidFill>
                  <a:srgbClr val="FF0000"/>
                </a:solidFill>
                <a:latin typeface="楷体" panose="02010609060101010101" pitchFamily="49" charset="-122"/>
                <a:ea typeface="楷体" panose="02010609060101010101" pitchFamily="49" charset="-122"/>
              </a:rPr>
              <a:t>2</a:t>
            </a:r>
            <a:r>
              <a:rPr lang="zh-CN" altLang="en-US" sz="2400" b="1">
                <a:solidFill>
                  <a:srgbClr val="FF0000"/>
                </a:solidFill>
                <a:latin typeface="楷体" panose="02010609060101010101" pitchFamily="49" charset="-122"/>
                <a:ea typeface="楷体" panose="02010609060101010101" pitchFamily="49" charset="-122"/>
              </a:rPr>
              <a:t>：链增长反应不可逆。</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34"/>
                                        </p:tgtEl>
                                        <p:attrNameLst>
                                          <p:attrName>style.visibility</p:attrName>
                                        </p:attrNameLst>
                                      </p:cBhvr>
                                      <p:to>
                                        <p:strVal val="visible"/>
                                      </p:to>
                                    </p:set>
                                    <p:anim calcmode="lin" valueType="num">
                                      <p:cBhvr additive="base">
                                        <p:cTn id="7" dur="500" fill="hold"/>
                                        <p:tgtEl>
                                          <p:spTgt spid="52234"/>
                                        </p:tgtEl>
                                        <p:attrNameLst>
                                          <p:attrName>ppt_x</p:attrName>
                                        </p:attrNameLst>
                                      </p:cBhvr>
                                      <p:tavLst>
                                        <p:tav tm="0">
                                          <p:val>
                                            <p:strVal val="#ppt_x"/>
                                          </p:val>
                                        </p:tav>
                                        <p:tav tm="100000">
                                          <p:val>
                                            <p:strVal val="#ppt_x"/>
                                          </p:val>
                                        </p:tav>
                                      </p:tavLst>
                                    </p:anim>
                                    <p:anim calcmode="lin" valueType="num">
                                      <p:cBhvr additive="base">
                                        <p:cTn id="8" dur="500" fill="hold"/>
                                        <p:tgtEl>
                                          <p:spTgt spid="5223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2235"/>
                                        </p:tgtEl>
                                        <p:attrNameLst>
                                          <p:attrName>style.visibility</p:attrName>
                                        </p:attrNameLst>
                                      </p:cBhvr>
                                      <p:to>
                                        <p:strVal val="visible"/>
                                      </p:to>
                                    </p:set>
                                    <p:anim calcmode="lin" valueType="num">
                                      <p:cBhvr additive="base">
                                        <p:cTn id="11" dur="500" fill="hold"/>
                                        <p:tgtEl>
                                          <p:spTgt spid="52235"/>
                                        </p:tgtEl>
                                        <p:attrNameLst>
                                          <p:attrName>ppt_x</p:attrName>
                                        </p:attrNameLst>
                                      </p:cBhvr>
                                      <p:tavLst>
                                        <p:tav tm="0">
                                          <p:val>
                                            <p:strVal val="#ppt_x"/>
                                          </p:val>
                                        </p:tav>
                                        <p:tav tm="100000">
                                          <p:val>
                                            <p:strVal val="#ppt_x"/>
                                          </p:val>
                                        </p:tav>
                                      </p:tavLst>
                                    </p:anim>
                                    <p:anim calcmode="lin" valueType="num">
                                      <p:cBhvr additive="base">
                                        <p:cTn id="12" dur="500" fill="hold"/>
                                        <p:tgtEl>
                                          <p:spTgt spid="5223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2232"/>
                                        </p:tgtEl>
                                        <p:attrNameLst>
                                          <p:attrName>style.visibility</p:attrName>
                                        </p:attrNameLst>
                                      </p:cBhvr>
                                      <p:to>
                                        <p:strVal val="visible"/>
                                      </p:to>
                                    </p:set>
                                    <p:anim calcmode="lin" valueType="num">
                                      <p:cBhvr additive="base">
                                        <p:cTn id="15" dur="500" fill="hold"/>
                                        <p:tgtEl>
                                          <p:spTgt spid="52232"/>
                                        </p:tgtEl>
                                        <p:attrNameLst>
                                          <p:attrName>ppt_x</p:attrName>
                                        </p:attrNameLst>
                                      </p:cBhvr>
                                      <p:tavLst>
                                        <p:tav tm="0">
                                          <p:val>
                                            <p:strVal val="#ppt_x"/>
                                          </p:val>
                                        </p:tav>
                                        <p:tav tm="100000">
                                          <p:val>
                                            <p:strVal val="#ppt_x"/>
                                          </p:val>
                                        </p:tav>
                                      </p:tavLst>
                                    </p:anim>
                                    <p:anim calcmode="lin" valueType="num">
                                      <p:cBhvr additive="base">
                                        <p:cTn id="16" dur="500" fill="hold"/>
                                        <p:tgtEl>
                                          <p:spTgt spid="52232"/>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52237"/>
                                        </p:tgtEl>
                                        <p:attrNameLst>
                                          <p:attrName>style.visibility</p:attrName>
                                        </p:attrNameLst>
                                      </p:cBhvr>
                                      <p:to>
                                        <p:strVal val="visible"/>
                                      </p:to>
                                    </p:set>
                                    <p:anim calcmode="lin" valueType="num">
                                      <p:cBhvr additive="base">
                                        <p:cTn id="21" dur="500" fill="hold"/>
                                        <p:tgtEl>
                                          <p:spTgt spid="52237"/>
                                        </p:tgtEl>
                                        <p:attrNameLst>
                                          <p:attrName>ppt_x</p:attrName>
                                        </p:attrNameLst>
                                      </p:cBhvr>
                                      <p:tavLst>
                                        <p:tav tm="0">
                                          <p:val>
                                            <p:strVal val="#ppt_x"/>
                                          </p:val>
                                        </p:tav>
                                        <p:tav tm="100000">
                                          <p:val>
                                            <p:strVal val="#ppt_x"/>
                                          </p:val>
                                        </p:tav>
                                      </p:tavLst>
                                    </p:anim>
                                    <p:anim calcmode="lin" valueType="num">
                                      <p:cBhvr additive="base">
                                        <p:cTn id="22" dur="500" fill="hold"/>
                                        <p:tgtEl>
                                          <p:spTgt spid="5223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52236"/>
                                        </p:tgtEl>
                                        <p:attrNameLst>
                                          <p:attrName>style.visibility</p:attrName>
                                        </p:attrNameLst>
                                      </p:cBhvr>
                                      <p:to>
                                        <p:strVal val="visible"/>
                                      </p:to>
                                    </p:set>
                                    <p:anim calcmode="lin" valueType="num">
                                      <p:cBhvr additive="base">
                                        <p:cTn id="25" dur="500" fill="hold"/>
                                        <p:tgtEl>
                                          <p:spTgt spid="52236"/>
                                        </p:tgtEl>
                                        <p:attrNameLst>
                                          <p:attrName>ppt_x</p:attrName>
                                        </p:attrNameLst>
                                      </p:cBhvr>
                                      <p:tavLst>
                                        <p:tav tm="0">
                                          <p:val>
                                            <p:strVal val="#ppt_x"/>
                                          </p:val>
                                        </p:tav>
                                        <p:tav tm="100000">
                                          <p:val>
                                            <p:strVal val="#ppt_x"/>
                                          </p:val>
                                        </p:tav>
                                      </p:tavLst>
                                    </p:anim>
                                    <p:anim calcmode="lin" valueType="num">
                                      <p:cBhvr additive="base">
                                        <p:cTn id="26" dur="500" fill="hold"/>
                                        <p:tgtEl>
                                          <p:spTgt spid="5223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2233"/>
                                        </p:tgtEl>
                                        <p:attrNameLst>
                                          <p:attrName>style.visibility</p:attrName>
                                        </p:attrNameLst>
                                      </p:cBhvr>
                                      <p:to>
                                        <p:strVal val="visible"/>
                                      </p:to>
                                    </p:set>
                                    <p:anim calcmode="lin" valueType="num">
                                      <p:cBhvr additive="base">
                                        <p:cTn id="29" dur="500" fill="hold"/>
                                        <p:tgtEl>
                                          <p:spTgt spid="52233"/>
                                        </p:tgtEl>
                                        <p:attrNameLst>
                                          <p:attrName>ppt_x</p:attrName>
                                        </p:attrNameLst>
                                      </p:cBhvr>
                                      <p:tavLst>
                                        <p:tav tm="0">
                                          <p:val>
                                            <p:strVal val="#ppt_x"/>
                                          </p:val>
                                        </p:tav>
                                        <p:tav tm="100000">
                                          <p:val>
                                            <p:strVal val="#ppt_x"/>
                                          </p:val>
                                        </p:tav>
                                      </p:tavLst>
                                    </p:anim>
                                    <p:anim calcmode="lin" valueType="num">
                                      <p:cBhvr additive="base">
                                        <p:cTn id="30" dur="500" fill="hold"/>
                                        <p:tgtEl>
                                          <p:spTgt spid="522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2" grpId="0" animBg="1"/>
      <p:bldP spid="52233"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928DA57C-AAED-4BAB-A699-BF778427D84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5299" name="Rectangle 2"/>
          <p:cNvSpPr>
            <a:spLocks noGrp="1"/>
          </p:cNvSpPr>
          <p:nvPr>
            <p:ph type="title"/>
          </p:nvPr>
        </p:nvSpPr>
        <p:spPr>
          <a:xfrm>
            <a:off x="395288" y="457200"/>
            <a:ext cx="3384550" cy="500063"/>
          </a:xfrm>
        </p:spPr>
        <p:txBody>
          <a:bodyPr/>
          <a:lstStyle/>
          <a:p>
            <a:pPr eaLnBrk="1" hangingPunct="1"/>
            <a:r>
              <a:rPr lang="zh-CN" altLang="en-US" sz="2400" b="1">
                <a:solidFill>
                  <a:srgbClr val="FF0000"/>
                </a:solidFill>
                <a:latin typeface="楷体" panose="02010609060101010101" pitchFamily="49" charset="-122"/>
                <a:ea typeface="楷体" panose="02010609060101010101" pitchFamily="49" charset="-122"/>
              </a:rPr>
              <a:t>链终止</a:t>
            </a:r>
            <a:r>
              <a:rPr lang="en-US" altLang="zh-CN" sz="2400" b="1">
                <a:solidFill>
                  <a:srgbClr val="FF0000"/>
                </a:solidFill>
                <a:latin typeface="楷体" panose="02010609060101010101" pitchFamily="49" charset="-122"/>
                <a:ea typeface="楷体" panose="02010609060101010101" pitchFamily="49" charset="-122"/>
              </a:rPr>
              <a:t>(</a:t>
            </a:r>
            <a:r>
              <a:rPr lang="zh-CN" altLang="en-US" sz="2400" b="1">
                <a:solidFill>
                  <a:srgbClr val="FF0000"/>
                </a:solidFill>
                <a:latin typeface="楷体" panose="02010609060101010101" pitchFamily="49" charset="-122"/>
                <a:ea typeface="楷体" panose="02010609060101010101" pitchFamily="49" charset="-122"/>
              </a:rPr>
              <a:t>双基终止</a:t>
            </a:r>
            <a:r>
              <a:rPr lang="en-US" altLang="zh-CN" sz="2400" b="1">
                <a:solidFill>
                  <a:srgbClr val="FF0000"/>
                </a:solidFill>
                <a:latin typeface="楷体" panose="02010609060101010101" pitchFamily="49" charset="-122"/>
                <a:ea typeface="楷体" panose="02010609060101010101" pitchFamily="49" charset="-122"/>
              </a:rPr>
              <a:t>)</a:t>
            </a:r>
            <a:endParaRPr lang="zh-CN" altLang="en-US" sz="2400" b="1">
              <a:solidFill>
                <a:srgbClr val="FF0000"/>
              </a:solidFill>
              <a:latin typeface="楷体" panose="02010609060101010101" pitchFamily="49" charset="-122"/>
              <a:ea typeface="楷体" panose="02010609060101010101" pitchFamily="49" charset="-122"/>
            </a:endParaRPr>
          </a:p>
        </p:txBody>
      </p:sp>
      <p:sp>
        <p:nvSpPr>
          <p:cNvPr id="55300" name="Rectangle 10"/>
          <p:cNvSpPr>
            <a:spLocks noGrp="1"/>
          </p:cNvSpPr>
          <p:nvPr>
            <p:ph sz="quarter" idx="1"/>
          </p:nvPr>
        </p:nvSpPr>
        <p:spPr>
          <a:xfrm>
            <a:off x="733425" y="3667125"/>
            <a:ext cx="7772400" cy="801688"/>
          </a:xfrm>
        </p:spPr>
        <p:txBody>
          <a:bodyPr/>
          <a:lstStyle/>
          <a:p>
            <a:pPr marL="0" indent="0" eaLnBrk="1" hangingPunct="1">
              <a:buFontTx/>
              <a:buNone/>
            </a:pPr>
            <a:r>
              <a:rPr lang="zh-CN" altLang="en-US" sz="2400" b="1">
                <a:latin typeface="楷体" panose="02010609060101010101" pitchFamily="49" charset="-122"/>
                <a:ea typeface="楷体" panose="02010609060101010101" pitchFamily="49" charset="-122"/>
              </a:rPr>
              <a:t>在整个反应过程中，还有链转移</a:t>
            </a:r>
            <a:r>
              <a:rPr lang="en-US" altLang="zh-CN" sz="2400" b="1">
                <a:latin typeface="楷体" panose="02010609060101010101" pitchFamily="49" charset="-122"/>
                <a:ea typeface="楷体" panose="02010609060101010101" pitchFamily="49" charset="-122"/>
              </a:rPr>
              <a:t>(</a:t>
            </a:r>
            <a:r>
              <a:rPr lang="zh-CN" altLang="en-US" sz="2400" b="1">
                <a:latin typeface="楷体" panose="02010609060101010101" pitchFamily="49" charset="-122"/>
                <a:ea typeface="楷体" panose="02010609060101010101" pitchFamily="49" charset="-122"/>
              </a:rPr>
              <a:t>向单体，溶剂，引发剂，大分子链转移等</a:t>
            </a:r>
            <a:r>
              <a:rPr lang="en-US" altLang="zh-CN" sz="2400" b="1">
                <a:latin typeface="楷体" panose="02010609060101010101" pitchFamily="49" charset="-122"/>
                <a:ea typeface="楷体" panose="02010609060101010101" pitchFamily="49" charset="-122"/>
              </a:rPr>
              <a:t>)</a:t>
            </a:r>
            <a:r>
              <a:rPr lang="zh-CN" altLang="en-US" sz="2400" b="1">
                <a:latin typeface="楷体" panose="02010609060101010101" pitchFamily="49" charset="-122"/>
                <a:ea typeface="楷体" panose="02010609060101010101" pitchFamily="49" charset="-122"/>
              </a:rPr>
              <a:t>。</a:t>
            </a:r>
          </a:p>
        </p:txBody>
      </p:sp>
      <p:sp>
        <p:nvSpPr>
          <p:cNvPr id="55301"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099E26D4-0B1D-4CEE-93BF-808E9263E53F}"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30</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55302" name="Text Box 14"/>
          <p:cNvSpPr txBox="1">
            <a:spLocks noChangeArrowheads="1"/>
          </p:cNvSpPr>
          <p:nvPr/>
        </p:nvSpPr>
        <p:spPr bwMode="auto">
          <a:xfrm>
            <a:off x="914400" y="4810125"/>
            <a:ext cx="8054975" cy="123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40000"/>
              </a:lnSpc>
              <a:spcBef>
                <a:spcPct val="20000"/>
              </a:spcBef>
              <a:buFontTx/>
              <a:buNone/>
            </a:pPr>
            <a:r>
              <a:rPr lang="zh-CN" altLang="en-US" sz="2400" b="1">
                <a:solidFill>
                  <a:srgbClr val="FF0000"/>
                </a:solidFill>
                <a:latin typeface="楷体" panose="02010609060101010101" pitchFamily="49" charset="-122"/>
                <a:ea typeface="楷体" panose="02010609060101010101" pitchFamily="49" charset="-122"/>
              </a:rPr>
              <a:t>假定3</a:t>
            </a:r>
            <a:r>
              <a:rPr lang="en-US" altLang="zh-CN" sz="2400" b="1">
                <a:solidFill>
                  <a:srgbClr val="FF0000"/>
                </a:solidFill>
                <a:latin typeface="楷体" panose="02010609060101010101" pitchFamily="49" charset="-122"/>
                <a:ea typeface="楷体" panose="02010609060101010101" pitchFamily="49" charset="-122"/>
              </a:rPr>
              <a:t>:</a:t>
            </a:r>
            <a:r>
              <a:rPr lang="zh-CN" altLang="en-US" sz="2400" b="1">
                <a:solidFill>
                  <a:srgbClr val="FF0000"/>
                </a:solidFill>
                <a:latin typeface="楷体" panose="02010609060101010101" pitchFamily="49" charset="-122"/>
                <a:ea typeface="楷体" panose="02010609060101010101" pitchFamily="49" charset="-122"/>
              </a:rPr>
              <a:t> 共聚物的化学组成主要决定于各种增长反应</a:t>
            </a:r>
            <a:r>
              <a:rPr lang="en-US" altLang="zh-CN" sz="2400" b="1">
                <a:solidFill>
                  <a:srgbClr val="FF0000"/>
                </a:solidFill>
                <a:latin typeface="楷体" panose="02010609060101010101" pitchFamily="49" charset="-122"/>
                <a:ea typeface="楷体" panose="02010609060101010101" pitchFamily="49" charset="-122"/>
              </a:rPr>
              <a:t>,</a:t>
            </a:r>
          </a:p>
          <a:p>
            <a:pPr eaLnBrk="1" hangingPunct="1">
              <a:lnSpc>
                <a:spcPct val="140000"/>
              </a:lnSpc>
              <a:spcBef>
                <a:spcPct val="20000"/>
              </a:spcBef>
              <a:buFontTx/>
              <a:buNone/>
            </a:pPr>
            <a:r>
              <a:rPr lang="en-US" altLang="zh-CN" sz="2400" b="1">
                <a:solidFill>
                  <a:srgbClr val="FF0000"/>
                </a:solidFill>
                <a:latin typeface="楷体" panose="02010609060101010101" pitchFamily="49" charset="-122"/>
                <a:ea typeface="楷体" panose="02010609060101010101" pitchFamily="49" charset="-122"/>
              </a:rPr>
              <a:t>       </a:t>
            </a:r>
            <a:r>
              <a:rPr lang="zh-CN" altLang="en-US" sz="2400" b="1">
                <a:solidFill>
                  <a:srgbClr val="FF0000"/>
                </a:solidFill>
                <a:latin typeface="楷体" panose="02010609060101010101" pitchFamily="49" charset="-122"/>
                <a:ea typeface="楷体" panose="02010609060101010101" pitchFamily="49" charset="-122"/>
              </a:rPr>
              <a:t>忽略链引发、链转移和链终止对组成的影响。</a:t>
            </a:r>
          </a:p>
        </p:txBody>
      </p:sp>
      <p:grpSp>
        <p:nvGrpSpPr>
          <p:cNvPr id="55303" name="Group 10"/>
          <p:cNvGrpSpPr>
            <a:grpSpLocks noChangeAspect="1"/>
          </p:cNvGrpSpPr>
          <p:nvPr/>
        </p:nvGrpSpPr>
        <p:grpSpPr bwMode="auto">
          <a:xfrm>
            <a:off x="827088" y="1039813"/>
            <a:ext cx="5578475" cy="2286000"/>
            <a:chOff x="720" y="810"/>
            <a:chExt cx="3514" cy="1440"/>
          </a:xfrm>
        </p:grpSpPr>
        <p:sp>
          <p:nvSpPr>
            <p:cNvPr id="55305" name="AutoShape 9"/>
            <p:cNvSpPr>
              <a:spLocks noChangeAspect="1" noChangeArrowheads="1" noTextEdit="1"/>
            </p:cNvSpPr>
            <p:nvPr/>
          </p:nvSpPr>
          <p:spPr bwMode="auto">
            <a:xfrm>
              <a:off x="720" y="810"/>
              <a:ext cx="3514" cy="1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5306" name="Rectangle 11"/>
            <p:cNvSpPr>
              <a:spLocks noChangeArrowheads="1"/>
            </p:cNvSpPr>
            <p:nvPr/>
          </p:nvSpPr>
          <p:spPr bwMode="auto">
            <a:xfrm>
              <a:off x="1423" y="988"/>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07" name="Rectangle 12"/>
            <p:cNvSpPr>
              <a:spLocks noChangeArrowheads="1"/>
            </p:cNvSpPr>
            <p:nvPr/>
          </p:nvSpPr>
          <p:spPr bwMode="auto">
            <a:xfrm>
              <a:off x="1576" y="1058"/>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600">
                  <a:solidFill>
                    <a:srgbClr val="000000"/>
                  </a:solidFill>
                  <a:latin typeface="Times New Roman" panose="02020603050405020304" pitchFamily="18" charset="0"/>
                  <a:ea typeface="宋体" panose="02010600030101010101" pitchFamily="2" charset="-122"/>
                </a:rPr>
                <a:t>1</a:t>
              </a:r>
              <a:endParaRPr lang="zh-CN" altLang="zh-CN" sz="1800">
                <a:latin typeface="Arial" panose="020B0604020202020204" pitchFamily="34" charset="0"/>
                <a:ea typeface="宋体" panose="02010600030101010101" pitchFamily="2" charset="-122"/>
              </a:endParaRPr>
            </a:p>
          </p:txBody>
        </p:sp>
        <p:sp>
          <p:nvSpPr>
            <p:cNvPr id="55308" name="Freeform 13"/>
            <p:cNvSpPr>
              <a:spLocks/>
            </p:cNvSpPr>
            <p:nvPr/>
          </p:nvSpPr>
          <p:spPr bwMode="auto">
            <a:xfrm>
              <a:off x="960" y="1061"/>
              <a:ext cx="441" cy="44"/>
            </a:xfrm>
            <a:custGeom>
              <a:avLst/>
              <a:gdLst>
                <a:gd name="T0" fmla="*/ 0 w 404"/>
                <a:gd name="T1" fmla="*/ 422 h 40"/>
                <a:gd name="T2" fmla="*/ 153 w 404"/>
                <a:gd name="T3" fmla="*/ 831 h 40"/>
                <a:gd name="T4" fmla="*/ 500 w 404"/>
                <a:gd name="T5" fmla="*/ 0 h 40"/>
                <a:gd name="T6" fmla="*/ 827 w 404"/>
                <a:gd name="T7" fmla="*/ 831 h 40"/>
                <a:gd name="T8" fmla="*/ 1175 w 404"/>
                <a:gd name="T9" fmla="*/ 0 h 40"/>
                <a:gd name="T10" fmla="*/ 1497 w 404"/>
                <a:gd name="T11" fmla="*/ 831 h 40"/>
                <a:gd name="T12" fmla="*/ 1822 w 404"/>
                <a:gd name="T13" fmla="*/ 0 h 40"/>
                <a:gd name="T14" fmla="*/ 2157 w 404"/>
                <a:gd name="T15" fmla="*/ 831 h 40"/>
                <a:gd name="T16" fmla="*/ 2482 w 404"/>
                <a:gd name="T17" fmla="*/ 0 h 40"/>
                <a:gd name="T18" fmla="*/ 2840 w 404"/>
                <a:gd name="T19" fmla="*/ 831 h 40"/>
                <a:gd name="T20" fmla="*/ 3178 w 404"/>
                <a:gd name="T21" fmla="*/ 0 h 40"/>
                <a:gd name="T22" fmla="*/ 3500 w 404"/>
                <a:gd name="T23" fmla="*/ 831 h 40"/>
                <a:gd name="T24" fmla="*/ 3826 w 404"/>
                <a:gd name="T25" fmla="*/ 0 h 40"/>
                <a:gd name="T26" fmla="*/ 4171 w 404"/>
                <a:gd name="T27" fmla="*/ 831 h 40"/>
                <a:gd name="T28" fmla="*/ 4491 w 404"/>
                <a:gd name="T29" fmla="*/ 0 h 40"/>
                <a:gd name="T30" fmla="*/ 4838 w 404"/>
                <a:gd name="T31" fmla="*/ 831 h 40"/>
                <a:gd name="T32" fmla="*/ 5164 w 404"/>
                <a:gd name="T33" fmla="*/ 0 h 40"/>
                <a:gd name="T34" fmla="*/ 5483 w 404"/>
                <a:gd name="T35" fmla="*/ 831 h 40"/>
                <a:gd name="T36" fmla="*/ 5820 w 404"/>
                <a:gd name="T37" fmla="*/ 0 h 40"/>
                <a:gd name="T38" fmla="*/ 6153 w 404"/>
                <a:gd name="T39" fmla="*/ 831 h 40"/>
                <a:gd name="T40" fmla="*/ 6508 w 404"/>
                <a:gd name="T41" fmla="*/ 0 h 40"/>
                <a:gd name="T42" fmla="*/ 6652 w 404"/>
                <a:gd name="T43" fmla="*/ 422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4"/>
                <a:gd name="T67" fmla="*/ 0 h 40"/>
                <a:gd name="T68" fmla="*/ 404 w 404"/>
                <a:gd name="T69" fmla="*/ 40 h 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4" h="40">
                  <a:moveTo>
                    <a:pt x="0" y="20"/>
                  </a:moveTo>
                  <a:lnTo>
                    <a:pt x="10" y="40"/>
                  </a:lnTo>
                  <a:lnTo>
                    <a:pt x="30" y="0"/>
                  </a:lnTo>
                  <a:lnTo>
                    <a:pt x="50" y="40"/>
                  </a:lnTo>
                  <a:lnTo>
                    <a:pt x="71" y="0"/>
                  </a:lnTo>
                  <a:lnTo>
                    <a:pt x="91" y="40"/>
                  </a:lnTo>
                  <a:lnTo>
                    <a:pt x="111" y="0"/>
                  </a:lnTo>
                  <a:lnTo>
                    <a:pt x="131" y="40"/>
                  </a:lnTo>
                  <a:lnTo>
                    <a:pt x="151" y="0"/>
                  </a:lnTo>
                  <a:lnTo>
                    <a:pt x="172" y="40"/>
                  </a:lnTo>
                  <a:lnTo>
                    <a:pt x="192" y="0"/>
                  </a:lnTo>
                  <a:lnTo>
                    <a:pt x="212" y="40"/>
                  </a:lnTo>
                  <a:lnTo>
                    <a:pt x="232" y="0"/>
                  </a:lnTo>
                  <a:lnTo>
                    <a:pt x="252" y="40"/>
                  </a:lnTo>
                  <a:lnTo>
                    <a:pt x="272" y="0"/>
                  </a:lnTo>
                  <a:lnTo>
                    <a:pt x="293" y="40"/>
                  </a:lnTo>
                  <a:lnTo>
                    <a:pt x="313" y="0"/>
                  </a:lnTo>
                  <a:lnTo>
                    <a:pt x="333" y="40"/>
                  </a:lnTo>
                  <a:lnTo>
                    <a:pt x="353" y="0"/>
                  </a:lnTo>
                  <a:lnTo>
                    <a:pt x="373" y="40"/>
                  </a:lnTo>
                  <a:lnTo>
                    <a:pt x="394" y="0"/>
                  </a:lnTo>
                  <a:lnTo>
                    <a:pt x="404" y="2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09" name="Oval 14"/>
            <p:cNvSpPr>
              <a:spLocks noChangeArrowheads="1"/>
            </p:cNvSpPr>
            <p:nvPr/>
          </p:nvSpPr>
          <p:spPr bwMode="auto">
            <a:xfrm>
              <a:off x="1645" y="1070"/>
              <a:ext cx="27" cy="26"/>
            </a:xfrm>
            <a:prstGeom prst="ellipse">
              <a:avLst/>
            </a:prstGeom>
            <a:blipFill dpi="0" rotWithShape="0">
              <a:blip r:embed="rId2"/>
              <a:srcRect/>
              <a:tile tx="0" ty="0" sx="100000" sy="100000" flip="none" algn="tl"/>
            </a:bli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55310" name="Oval 15"/>
            <p:cNvSpPr>
              <a:spLocks noChangeArrowheads="1"/>
            </p:cNvSpPr>
            <p:nvPr/>
          </p:nvSpPr>
          <p:spPr bwMode="auto">
            <a:xfrm>
              <a:off x="1896" y="1081"/>
              <a:ext cx="27" cy="26"/>
            </a:xfrm>
            <a:prstGeom prst="ellipse">
              <a:avLst/>
            </a:prstGeom>
            <a:blipFill dpi="0" rotWithShape="0">
              <a:blip r:embed="rId2"/>
              <a:srcRect/>
              <a:tile tx="0" ty="0" sx="100000" sy="100000" flip="none" algn="tl"/>
            </a:bli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55311" name="Rectangle 16"/>
            <p:cNvSpPr>
              <a:spLocks noChangeArrowheads="1"/>
            </p:cNvSpPr>
            <p:nvPr/>
          </p:nvSpPr>
          <p:spPr bwMode="auto">
            <a:xfrm>
              <a:off x="3841" y="999"/>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12" name="Rectangle 17"/>
            <p:cNvSpPr>
              <a:spLocks noChangeArrowheads="1"/>
            </p:cNvSpPr>
            <p:nvPr/>
          </p:nvSpPr>
          <p:spPr bwMode="auto">
            <a:xfrm>
              <a:off x="3994" y="999"/>
              <a:ext cx="15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x</a:t>
              </a:r>
              <a:endParaRPr lang="zh-CN" altLang="zh-CN" sz="1800">
                <a:latin typeface="Arial" panose="020B0604020202020204" pitchFamily="34" charset="0"/>
                <a:ea typeface="宋体" panose="02010600030101010101" pitchFamily="2" charset="-122"/>
              </a:endParaRPr>
            </a:p>
          </p:txBody>
        </p:sp>
        <p:sp>
          <p:nvSpPr>
            <p:cNvPr id="55313" name="Rectangle 18"/>
            <p:cNvSpPr>
              <a:spLocks noChangeArrowheads="1"/>
            </p:cNvSpPr>
            <p:nvPr/>
          </p:nvSpPr>
          <p:spPr bwMode="auto">
            <a:xfrm>
              <a:off x="1702" y="999"/>
              <a:ext cx="34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 +   </a:t>
              </a:r>
              <a:endParaRPr lang="zh-CN" altLang="zh-CN" sz="1800">
                <a:latin typeface="Arial" panose="020B0604020202020204" pitchFamily="34" charset="0"/>
                <a:ea typeface="宋体" panose="02010600030101010101" pitchFamily="2" charset="-122"/>
              </a:endParaRPr>
            </a:p>
          </p:txBody>
        </p:sp>
        <p:sp>
          <p:nvSpPr>
            <p:cNvPr id="55314" name="Rectangle 19"/>
            <p:cNvSpPr>
              <a:spLocks noChangeArrowheads="1"/>
            </p:cNvSpPr>
            <p:nvPr/>
          </p:nvSpPr>
          <p:spPr bwMode="auto">
            <a:xfrm>
              <a:off x="2128" y="1053"/>
              <a:ext cx="15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  </a:t>
              </a:r>
              <a:endParaRPr lang="zh-CN" altLang="zh-CN" sz="1800">
                <a:latin typeface="Arial" panose="020B0604020202020204" pitchFamily="34" charset="0"/>
                <a:ea typeface="宋体" panose="02010600030101010101" pitchFamily="2" charset="-122"/>
              </a:endParaRPr>
            </a:p>
          </p:txBody>
        </p:sp>
        <p:sp>
          <p:nvSpPr>
            <p:cNvPr id="55315" name="Line 20"/>
            <p:cNvSpPr>
              <a:spLocks noChangeShapeType="1"/>
            </p:cNvSpPr>
            <p:nvPr/>
          </p:nvSpPr>
          <p:spPr bwMode="auto">
            <a:xfrm>
              <a:off x="2837" y="1083"/>
              <a:ext cx="92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16" name="Freeform 21"/>
            <p:cNvSpPr>
              <a:spLocks/>
            </p:cNvSpPr>
            <p:nvPr/>
          </p:nvSpPr>
          <p:spPr bwMode="auto">
            <a:xfrm>
              <a:off x="3656" y="1050"/>
              <a:ext cx="109" cy="65"/>
            </a:xfrm>
            <a:custGeom>
              <a:avLst/>
              <a:gdLst>
                <a:gd name="T0" fmla="*/ 109 w 109"/>
                <a:gd name="T1" fmla="*/ 33 h 65"/>
                <a:gd name="T2" fmla="*/ 0 w 109"/>
                <a:gd name="T3" fmla="*/ 65 h 65"/>
                <a:gd name="T4" fmla="*/ 21 w 109"/>
                <a:gd name="T5" fmla="*/ 33 h 65"/>
                <a:gd name="T6" fmla="*/ 0 w 109"/>
                <a:gd name="T7" fmla="*/ 0 h 65"/>
                <a:gd name="T8" fmla="*/ 109 w 109"/>
                <a:gd name="T9" fmla="*/ 33 h 65"/>
                <a:gd name="T10" fmla="*/ 0 60000 65536"/>
                <a:gd name="T11" fmla="*/ 0 60000 65536"/>
                <a:gd name="T12" fmla="*/ 0 60000 65536"/>
                <a:gd name="T13" fmla="*/ 0 60000 65536"/>
                <a:gd name="T14" fmla="*/ 0 60000 65536"/>
                <a:gd name="T15" fmla="*/ 0 w 109"/>
                <a:gd name="T16" fmla="*/ 0 h 65"/>
                <a:gd name="T17" fmla="*/ 109 w 109"/>
                <a:gd name="T18" fmla="*/ 65 h 65"/>
              </a:gdLst>
              <a:ahLst/>
              <a:cxnLst>
                <a:cxn ang="T10">
                  <a:pos x="T0" y="T1"/>
                </a:cxn>
                <a:cxn ang="T11">
                  <a:pos x="T2" y="T3"/>
                </a:cxn>
                <a:cxn ang="T12">
                  <a:pos x="T4" y="T5"/>
                </a:cxn>
                <a:cxn ang="T13">
                  <a:pos x="T6" y="T7"/>
                </a:cxn>
                <a:cxn ang="T14">
                  <a:pos x="T8" y="T9"/>
                </a:cxn>
              </a:cxnLst>
              <a:rect l="T15" t="T16" r="T17" b="T18"/>
              <a:pathLst>
                <a:path w="109" h="65">
                  <a:moveTo>
                    <a:pt x="109" y="33"/>
                  </a:moveTo>
                  <a:lnTo>
                    <a:pt x="0" y="65"/>
                  </a:lnTo>
                  <a:lnTo>
                    <a:pt x="21" y="33"/>
                  </a:lnTo>
                  <a:lnTo>
                    <a:pt x="0" y="0"/>
                  </a:lnTo>
                  <a:lnTo>
                    <a:pt x="109" y="33"/>
                  </a:lnTo>
                  <a:close/>
                </a:path>
              </a:pathLst>
            </a:custGeom>
            <a:blipFill dpi="0" rotWithShape="0">
              <a:blip r:embed="rId2"/>
              <a:srcRect/>
              <a:tile tx="0" ty="0" sx="100000" sy="100000" flip="none" algn="tl"/>
            </a:blipFill>
            <a:ln w="17463">
              <a:solidFill>
                <a:srgbClr val="000000"/>
              </a:solidFill>
              <a:prstDash val="solid"/>
              <a:round/>
              <a:headEnd/>
              <a:tailEnd/>
            </a:ln>
          </p:spPr>
          <p:txBody>
            <a:bodyPr/>
            <a:lstStyle/>
            <a:p>
              <a:endParaRPr lang="zh-CN" altLang="en-US"/>
            </a:p>
          </p:txBody>
        </p:sp>
        <p:sp>
          <p:nvSpPr>
            <p:cNvPr id="55317" name="Rectangle 22"/>
            <p:cNvSpPr>
              <a:spLocks noChangeArrowheads="1"/>
            </p:cNvSpPr>
            <p:nvPr/>
          </p:nvSpPr>
          <p:spPr bwMode="auto">
            <a:xfrm>
              <a:off x="3165" y="843"/>
              <a:ext cx="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i="1">
                  <a:solidFill>
                    <a:srgbClr val="000000"/>
                  </a:solidFill>
                  <a:latin typeface="Times New Roman" panose="02020603050405020304" pitchFamily="18" charset="0"/>
                  <a:ea typeface="宋体" panose="02010600030101010101" pitchFamily="2" charset="-122"/>
                </a:rPr>
                <a:t>k</a:t>
              </a:r>
              <a:endParaRPr lang="zh-CN" altLang="zh-CN" sz="1800" i="1">
                <a:latin typeface="Arial" panose="020B0604020202020204" pitchFamily="34" charset="0"/>
                <a:ea typeface="宋体" panose="02010600030101010101" pitchFamily="2" charset="-122"/>
              </a:endParaRPr>
            </a:p>
          </p:txBody>
        </p:sp>
        <p:sp>
          <p:nvSpPr>
            <p:cNvPr id="55318" name="Rectangle 23"/>
            <p:cNvSpPr>
              <a:spLocks noChangeArrowheads="1"/>
            </p:cNvSpPr>
            <p:nvPr/>
          </p:nvSpPr>
          <p:spPr bwMode="auto">
            <a:xfrm>
              <a:off x="3252" y="875"/>
              <a:ext cx="12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t</a:t>
              </a:r>
              <a:endParaRPr lang="zh-CN" altLang="zh-CN" sz="1800">
                <a:latin typeface="Arial" panose="020B0604020202020204" pitchFamily="34" charset="0"/>
                <a:ea typeface="宋体" panose="02010600030101010101" pitchFamily="2" charset="-122"/>
              </a:endParaRPr>
            </a:p>
          </p:txBody>
        </p:sp>
        <p:sp>
          <p:nvSpPr>
            <p:cNvPr id="55319" name="Rectangle 24"/>
            <p:cNvSpPr>
              <a:spLocks noChangeArrowheads="1"/>
            </p:cNvSpPr>
            <p:nvPr/>
          </p:nvSpPr>
          <p:spPr bwMode="auto">
            <a:xfrm>
              <a:off x="1964" y="999"/>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20" name="Rectangle 25"/>
            <p:cNvSpPr>
              <a:spLocks noChangeArrowheads="1"/>
            </p:cNvSpPr>
            <p:nvPr/>
          </p:nvSpPr>
          <p:spPr bwMode="auto">
            <a:xfrm>
              <a:off x="2117" y="1069"/>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600">
                  <a:solidFill>
                    <a:srgbClr val="000000"/>
                  </a:solidFill>
                  <a:latin typeface="Times New Roman" panose="02020603050405020304" pitchFamily="18" charset="0"/>
                  <a:ea typeface="宋体" panose="02010600030101010101" pitchFamily="2" charset="-122"/>
                </a:rPr>
                <a:t>1</a:t>
              </a:r>
              <a:endParaRPr lang="zh-CN" altLang="zh-CN" sz="1800">
                <a:latin typeface="Arial" panose="020B0604020202020204" pitchFamily="34" charset="0"/>
                <a:ea typeface="宋体" panose="02010600030101010101" pitchFamily="2" charset="-122"/>
              </a:endParaRPr>
            </a:p>
          </p:txBody>
        </p:sp>
        <p:sp>
          <p:nvSpPr>
            <p:cNvPr id="55321" name="Freeform 26"/>
            <p:cNvSpPr>
              <a:spLocks/>
            </p:cNvSpPr>
            <p:nvPr/>
          </p:nvSpPr>
          <p:spPr bwMode="auto">
            <a:xfrm>
              <a:off x="2215" y="1050"/>
              <a:ext cx="439" cy="44"/>
            </a:xfrm>
            <a:custGeom>
              <a:avLst/>
              <a:gdLst>
                <a:gd name="T0" fmla="*/ 0 w 402"/>
                <a:gd name="T1" fmla="*/ 422 h 40"/>
                <a:gd name="T2" fmla="*/ 154 w 402"/>
                <a:gd name="T3" fmla="*/ 831 h 40"/>
                <a:gd name="T4" fmla="*/ 506 w 402"/>
                <a:gd name="T5" fmla="*/ 0 h 40"/>
                <a:gd name="T6" fmla="*/ 845 w 402"/>
                <a:gd name="T7" fmla="*/ 831 h 40"/>
                <a:gd name="T8" fmla="*/ 1162 w 402"/>
                <a:gd name="T9" fmla="*/ 0 h 40"/>
                <a:gd name="T10" fmla="*/ 1504 w 402"/>
                <a:gd name="T11" fmla="*/ 831 h 40"/>
                <a:gd name="T12" fmla="*/ 1850 w 402"/>
                <a:gd name="T13" fmla="*/ 0 h 40"/>
                <a:gd name="T14" fmla="*/ 2188 w 402"/>
                <a:gd name="T15" fmla="*/ 831 h 40"/>
                <a:gd name="T16" fmla="*/ 2538 w 402"/>
                <a:gd name="T17" fmla="*/ 0 h 40"/>
                <a:gd name="T18" fmla="*/ 2873 w 402"/>
                <a:gd name="T19" fmla="*/ 831 h 40"/>
                <a:gd name="T20" fmla="*/ 3205 w 402"/>
                <a:gd name="T21" fmla="*/ 0 h 40"/>
                <a:gd name="T22" fmla="*/ 3528 w 402"/>
                <a:gd name="T23" fmla="*/ 831 h 40"/>
                <a:gd name="T24" fmla="*/ 3864 w 402"/>
                <a:gd name="T25" fmla="*/ 0 h 40"/>
                <a:gd name="T26" fmla="*/ 4208 w 402"/>
                <a:gd name="T27" fmla="*/ 831 h 40"/>
                <a:gd name="T28" fmla="*/ 4527 w 402"/>
                <a:gd name="T29" fmla="*/ 0 h 40"/>
                <a:gd name="T30" fmla="*/ 4876 w 402"/>
                <a:gd name="T31" fmla="*/ 831 h 40"/>
                <a:gd name="T32" fmla="*/ 5217 w 402"/>
                <a:gd name="T33" fmla="*/ 0 h 40"/>
                <a:gd name="T34" fmla="*/ 5551 w 402"/>
                <a:gd name="T35" fmla="*/ 831 h 40"/>
                <a:gd name="T36" fmla="*/ 5874 w 402"/>
                <a:gd name="T37" fmla="*/ 0 h 40"/>
                <a:gd name="T38" fmla="*/ 6221 w 402"/>
                <a:gd name="T39" fmla="*/ 831 h 40"/>
                <a:gd name="T40" fmla="*/ 6557 w 402"/>
                <a:gd name="T41" fmla="*/ 0 h 40"/>
                <a:gd name="T42" fmla="*/ 6719 w 402"/>
                <a:gd name="T43" fmla="*/ 422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2"/>
                <a:gd name="T67" fmla="*/ 0 h 40"/>
                <a:gd name="T68" fmla="*/ 402 w 402"/>
                <a:gd name="T69" fmla="*/ 40 h 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2" h="40">
                  <a:moveTo>
                    <a:pt x="0" y="20"/>
                  </a:moveTo>
                  <a:lnTo>
                    <a:pt x="10" y="40"/>
                  </a:lnTo>
                  <a:lnTo>
                    <a:pt x="30" y="0"/>
                  </a:lnTo>
                  <a:lnTo>
                    <a:pt x="50" y="40"/>
                  </a:lnTo>
                  <a:lnTo>
                    <a:pt x="70" y="0"/>
                  </a:lnTo>
                  <a:lnTo>
                    <a:pt x="90" y="40"/>
                  </a:lnTo>
                  <a:lnTo>
                    <a:pt x="111" y="0"/>
                  </a:lnTo>
                  <a:lnTo>
                    <a:pt x="131" y="40"/>
                  </a:lnTo>
                  <a:lnTo>
                    <a:pt x="151" y="0"/>
                  </a:lnTo>
                  <a:lnTo>
                    <a:pt x="171" y="40"/>
                  </a:lnTo>
                  <a:lnTo>
                    <a:pt x="191" y="0"/>
                  </a:lnTo>
                  <a:lnTo>
                    <a:pt x="211" y="40"/>
                  </a:lnTo>
                  <a:lnTo>
                    <a:pt x="231" y="0"/>
                  </a:lnTo>
                  <a:lnTo>
                    <a:pt x="251" y="40"/>
                  </a:lnTo>
                  <a:lnTo>
                    <a:pt x="271" y="0"/>
                  </a:lnTo>
                  <a:lnTo>
                    <a:pt x="291" y="40"/>
                  </a:lnTo>
                  <a:lnTo>
                    <a:pt x="312" y="0"/>
                  </a:lnTo>
                  <a:lnTo>
                    <a:pt x="332" y="40"/>
                  </a:lnTo>
                  <a:lnTo>
                    <a:pt x="352" y="0"/>
                  </a:lnTo>
                  <a:lnTo>
                    <a:pt x="372" y="40"/>
                  </a:lnTo>
                  <a:lnTo>
                    <a:pt x="392" y="0"/>
                  </a:lnTo>
                  <a:lnTo>
                    <a:pt x="402" y="2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2" name="Rectangle 27"/>
            <p:cNvSpPr>
              <a:spLocks noChangeArrowheads="1"/>
            </p:cNvSpPr>
            <p:nvPr/>
          </p:nvSpPr>
          <p:spPr bwMode="auto">
            <a:xfrm>
              <a:off x="1434" y="1446"/>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23" name="Rectangle 28"/>
            <p:cNvSpPr>
              <a:spLocks noChangeArrowheads="1"/>
            </p:cNvSpPr>
            <p:nvPr/>
          </p:nvSpPr>
          <p:spPr bwMode="auto">
            <a:xfrm>
              <a:off x="1586" y="1517"/>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600">
                  <a:solidFill>
                    <a:srgbClr val="000000"/>
                  </a:solidFill>
                  <a:latin typeface="Times New Roman" panose="02020603050405020304" pitchFamily="18" charset="0"/>
                  <a:ea typeface="宋体" panose="02010600030101010101" pitchFamily="2" charset="-122"/>
                </a:rPr>
                <a:t>1</a:t>
              </a:r>
              <a:endParaRPr lang="zh-CN" altLang="zh-CN" sz="1800">
                <a:latin typeface="Arial" panose="020B0604020202020204" pitchFamily="34" charset="0"/>
                <a:ea typeface="宋体" panose="02010600030101010101" pitchFamily="2" charset="-122"/>
              </a:endParaRPr>
            </a:p>
          </p:txBody>
        </p:sp>
        <p:sp>
          <p:nvSpPr>
            <p:cNvPr id="55324" name="Freeform 29"/>
            <p:cNvSpPr>
              <a:spLocks/>
            </p:cNvSpPr>
            <p:nvPr/>
          </p:nvSpPr>
          <p:spPr bwMode="auto">
            <a:xfrm>
              <a:off x="971" y="1519"/>
              <a:ext cx="441" cy="44"/>
            </a:xfrm>
            <a:custGeom>
              <a:avLst/>
              <a:gdLst>
                <a:gd name="T0" fmla="*/ 0 w 404"/>
                <a:gd name="T1" fmla="*/ 422 h 40"/>
                <a:gd name="T2" fmla="*/ 153 w 404"/>
                <a:gd name="T3" fmla="*/ 831 h 40"/>
                <a:gd name="T4" fmla="*/ 500 w 404"/>
                <a:gd name="T5" fmla="*/ 0 h 40"/>
                <a:gd name="T6" fmla="*/ 827 w 404"/>
                <a:gd name="T7" fmla="*/ 831 h 40"/>
                <a:gd name="T8" fmla="*/ 1175 w 404"/>
                <a:gd name="T9" fmla="*/ 0 h 40"/>
                <a:gd name="T10" fmla="*/ 1497 w 404"/>
                <a:gd name="T11" fmla="*/ 831 h 40"/>
                <a:gd name="T12" fmla="*/ 1822 w 404"/>
                <a:gd name="T13" fmla="*/ 0 h 40"/>
                <a:gd name="T14" fmla="*/ 2157 w 404"/>
                <a:gd name="T15" fmla="*/ 831 h 40"/>
                <a:gd name="T16" fmla="*/ 2482 w 404"/>
                <a:gd name="T17" fmla="*/ 0 h 40"/>
                <a:gd name="T18" fmla="*/ 2840 w 404"/>
                <a:gd name="T19" fmla="*/ 831 h 40"/>
                <a:gd name="T20" fmla="*/ 3178 w 404"/>
                <a:gd name="T21" fmla="*/ 0 h 40"/>
                <a:gd name="T22" fmla="*/ 3500 w 404"/>
                <a:gd name="T23" fmla="*/ 831 h 40"/>
                <a:gd name="T24" fmla="*/ 3826 w 404"/>
                <a:gd name="T25" fmla="*/ 0 h 40"/>
                <a:gd name="T26" fmla="*/ 4171 w 404"/>
                <a:gd name="T27" fmla="*/ 831 h 40"/>
                <a:gd name="T28" fmla="*/ 4491 w 404"/>
                <a:gd name="T29" fmla="*/ 0 h 40"/>
                <a:gd name="T30" fmla="*/ 4838 w 404"/>
                <a:gd name="T31" fmla="*/ 831 h 40"/>
                <a:gd name="T32" fmla="*/ 5164 w 404"/>
                <a:gd name="T33" fmla="*/ 0 h 40"/>
                <a:gd name="T34" fmla="*/ 5483 w 404"/>
                <a:gd name="T35" fmla="*/ 831 h 40"/>
                <a:gd name="T36" fmla="*/ 5820 w 404"/>
                <a:gd name="T37" fmla="*/ 0 h 40"/>
                <a:gd name="T38" fmla="*/ 6153 w 404"/>
                <a:gd name="T39" fmla="*/ 831 h 40"/>
                <a:gd name="T40" fmla="*/ 6508 w 404"/>
                <a:gd name="T41" fmla="*/ 0 h 40"/>
                <a:gd name="T42" fmla="*/ 6652 w 404"/>
                <a:gd name="T43" fmla="*/ 422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4"/>
                <a:gd name="T67" fmla="*/ 0 h 40"/>
                <a:gd name="T68" fmla="*/ 404 w 404"/>
                <a:gd name="T69" fmla="*/ 40 h 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4" h="40">
                  <a:moveTo>
                    <a:pt x="0" y="20"/>
                  </a:moveTo>
                  <a:lnTo>
                    <a:pt x="10" y="40"/>
                  </a:lnTo>
                  <a:lnTo>
                    <a:pt x="30" y="0"/>
                  </a:lnTo>
                  <a:lnTo>
                    <a:pt x="50" y="40"/>
                  </a:lnTo>
                  <a:lnTo>
                    <a:pt x="71" y="0"/>
                  </a:lnTo>
                  <a:lnTo>
                    <a:pt x="91" y="40"/>
                  </a:lnTo>
                  <a:lnTo>
                    <a:pt x="111" y="0"/>
                  </a:lnTo>
                  <a:lnTo>
                    <a:pt x="131" y="40"/>
                  </a:lnTo>
                  <a:lnTo>
                    <a:pt x="151" y="0"/>
                  </a:lnTo>
                  <a:lnTo>
                    <a:pt x="172" y="40"/>
                  </a:lnTo>
                  <a:lnTo>
                    <a:pt x="192" y="0"/>
                  </a:lnTo>
                  <a:lnTo>
                    <a:pt x="212" y="40"/>
                  </a:lnTo>
                  <a:lnTo>
                    <a:pt x="232" y="0"/>
                  </a:lnTo>
                  <a:lnTo>
                    <a:pt x="252" y="40"/>
                  </a:lnTo>
                  <a:lnTo>
                    <a:pt x="272" y="0"/>
                  </a:lnTo>
                  <a:lnTo>
                    <a:pt x="293" y="40"/>
                  </a:lnTo>
                  <a:lnTo>
                    <a:pt x="313" y="0"/>
                  </a:lnTo>
                  <a:lnTo>
                    <a:pt x="333" y="40"/>
                  </a:lnTo>
                  <a:lnTo>
                    <a:pt x="353" y="0"/>
                  </a:lnTo>
                  <a:lnTo>
                    <a:pt x="373" y="40"/>
                  </a:lnTo>
                  <a:lnTo>
                    <a:pt x="394" y="0"/>
                  </a:lnTo>
                  <a:lnTo>
                    <a:pt x="404" y="2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25" name="Oval 30"/>
            <p:cNvSpPr>
              <a:spLocks noChangeArrowheads="1"/>
            </p:cNvSpPr>
            <p:nvPr/>
          </p:nvSpPr>
          <p:spPr bwMode="auto">
            <a:xfrm>
              <a:off x="1656" y="1528"/>
              <a:ext cx="27" cy="26"/>
            </a:xfrm>
            <a:prstGeom prst="ellipse">
              <a:avLst/>
            </a:prstGeom>
            <a:blipFill dpi="0" rotWithShape="0">
              <a:blip r:embed="rId2"/>
              <a:srcRect/>
              <a:tile tx="0" ty="0" sx="100000" sy="100000" flip="none" algn="tl"/>
            </a:bli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55326" name="Oval 31"/>
            <p:cNvSpPr>
              <a:spLocks noChangeArrowheads="1"/>
            </p:cNvSpPr>
            <p:nvPr/>
          </p:nvSpPr>
          <p:spPr bwMode="auto">
            <a:xfrm>
              <a:off x="1907" y="1539"/>
              <a:ext cx="27" cy="26"/>
            </a:xfrm>
            <a:prstGeom prst="ellipse">
              <a:avLst/>
            </a:prstGeom>
            <a:blipFill dpi="0" rotWithShape="0">
              <a:blip r:embed="rId2"/>
              <a:srcRect/>
              <a:tile tx="0" ty="0" sx="100000" sy="100000" flip="none" algn="tl"/>
            </a:bli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55327" name="Rectangle 32"/>
            <p:cNvSpPr>
              <a:spLocks noChangeArrowheads="1"/>
            </p:cNvSpPr>
            <p:nvPr/>
          </p:nvSpPr>
          <p:spPr bwMode="auto">
            <a:xfrm>
              <a:off x="3852" y="1457"/>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28" name="Rectangle 33"/>
            <p:cNvSpPr>
              <a:spLocks noChangeArrowheads="1"/>
            </p:cNvSpPr>
            <p:nvPr/>
          </p:nvSpPr>
          <p:spPr bwMode="auto">
            <a:xfrm>
              <a:off x="4005" y="1457"/>
              <a:ext cx="15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x</a:t>
              </a:r>
              <a:endParaRPr lang="zh-CN" altLang="zh-CN" sz="1800">
                <a:latin typeface="Arial" panose="020B0604020202020204" pitchFamily="34" charset="0"/>
                <a:ea typeface="宋体" panose="02010600030101010101" pitchFamily="2" charset="-122"/>
              </a:endParaRPr>
            </a:p>
          </p:txBody>
        </p:sp>
        <p:sp>
          <p:nvSpPr>
            <p:cNvPr id="55329" name="Rectangle 34"/>
            <p:cNvSpPr>
              <a:spLocks noChangeArrowheads="1"/>
            </p:cNvSpPr>
            <p:nvPr/>
          </p:nvSpPr>
          <p:spPr bwMode="auto">
            <a:xfrm>
              <a:off x="1713" y="1457"/>
              <a:ext cx="345"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 +   </a:t>
              </a:r>
              <a:endParaRPr lang="zh-CN" altLang="zh-CN" sz="1800">
                <a:latin typeface="Arial" panose="020B0604020202020204" pitchFamily="34" charset="0"/>
                <a:ea typeface="宋体" panose="02010600030101010101" pitchFamily="2" charset="-122"/>
              </a:endParaRPr>
            </a:p>
          </p:txBody>
        </p:sp>
        <p:sp>
          <p:nvSpPr>
            <p:cNvPr id="55330" name="Rectangle 35"/>
            <p:cNvSpPr>
              <a:spLocks noChangeArrowheads="1"/>
            </p:cNvSpPr>
            <p:nvPr/>
          </p:nvSpPr>
          <p:spPr bwMode="auto">
            <a:xfrm>
              <a:off x="2139" y="1511"/>
              <a:ext cx="15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  </a:t>
              </a:r>
              <a:endParaRPr lang="zh-CN" altLang="zh-CN" sz="1800">
                <a:latin typeface="Arial" panose="020B0604020202020204" pitchFamily="34" charset="0"/>
                <a:ea typeface="宋体" panose="02010600030101010101" pitchFamily="2" charset="-122"/>
              </a:endParaRPr>
            </a:p>
          </p:txBody>
        </p:sp>
        <p:sp>
          <p:nvSpPr>
            <p:cNvPr id="55331" name="Line 36"/>
            <p:cNvSpPr>
              <a:spLocks noChangeShapeType="1"/>
            </p:cNvSpPr>
            <p:nvPr/>
          </p:nvSpPr>
          <p:spPr bwMode="auto">
            <a:xfrm>
              <a:off x="2848" y="1541"/>
              <a:ext cx="92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32" name="Freeform 37"/>
            <p:cNvSpPr>
              <a:spLocks/>
            </p:cNvSpPr>
            <p:nvPr/>
          </p:nvSpPr>
          <p:spPr bwMode="auto">
            <a:xfrm>
              <a:off x="3667" y="1508"/>
              <a:ext cx="109" cy="66"/>
            </a:xfrm>
            <a:custGeom>
              <a:avLst/>
              <a:gdLst>
                <a:gd name="T0" fmla="*/ 109 w 109"/>
                <a:gd name="T1" fmla="*/ 33 h 66"/>
                <a:gd name="T2" fmla="*/ 0 w 109"/>
                <a:gd name="T3" fmla="*/ 66 h 66"/>
                <a:gd name="T4" fmla="*/ 21 w 109"/>
                <a:gd name="T5" fmla="*/ 33 h 66"/>
                <a:gd name="T6" fmla="*/ 0 w 109"/>
                <a:gd name="T7" fmla="*/ 0 h 66"/>
                <a:gd name="T8" fmla="*/ 109 w 109"/>
                <a:gd name="T9" fmla="*/ 33 h 66"/>
                <a:gd name="T10" fmla="*/ 0 60000 65536"/>
                <a:gd name="T11" fmla="*/ 0 60000 65536"/>
                <a:gd name="T12" fmla="*/ 0 60000 65536"/>
                <a:gd name="T13" fmla="*/ 0 60000 65536"/>
                <a:gd name="T14" fmla="*/ 0 60000 65536"/>
                <a:gd name="T15" fmla="*/ 0 w 109"/>
                <a:gd name="T16" fmla="*/ 0 h 66"/>
                <a:gd name="T17" fmla="*/ 109 w 109"/>
                <a:gd name="T18" fmla="*/ 66 h 66"/>
              </a:gdLst>
              <a:ahLst/>
              <a:cxnLst>
                <a:cxn ang="T10">
                  <a:pos x="T0" y="T1"/>
                </a:cxn>
                <a:cxn ang="T11">
                  <a:pos x="T2" y="T3"/>
                </a:cxn>
                <a:cxn ang="T12">
                  <a:pos x="T4" y="T5"/>
                </a:cxn>
                <a:cxn ang="T13">
                  <a:pos x="T6" y="T7"/>
                </a:cxn>
                <a:cxn ang="T14">
                  <a:pos x="T8" y="T9"/>
                </a:cxn>
              </a:cxnLst>
              <a:rect l="T15" t="T16" r="T17" b="T18"/>
              <a:pathLst>
                <a:path w="109" h="66">
                  <a:moveTo>
                    <a:pt x="109" y="33"/>
                  </a:moveTo>
                  <a:lnTo>
                    <a:pt x="0" y="66"/>
                  </a:lnTo>
                  <a:lnTo>
                    <a:pt x="21" y="33"/>
                  </a:lnTo>
                  <a:lnTo>
                    <a:pt x="0" y="0"/>
                  </a:lnTo>
                  <a:lnTo>
                    <a:pt x="109" y="33"/>
                  </a:lnTo>
                  <a:close/>
                </a:path>
              </a:pathLst>
            </a:custGeom>
            <a:blipFill dpi="0" rotWithShape="0">
              <a:blip r:embed="rId2"/>
              <a:srcRect/>
              <a:tile tx="0" ty="0" sx="100000" sy="100000" flip="none" algn="tl"/>
            </a:blipFill>
            <a:ln w="17463">
              <a:solidFill>
                <a:srgbClr val="000000"/>
              </a:solidFill>
              <a:prstDash val="solid"/>
              <a:round/>
              <a:headEnd/>
              <a:tailEnd/>
            </a:ln>
          </p:spPr>
          <p:txBody>
            <a:bodyPr/>
            <a:lstStyle/>
            <a:p>
              <a:endParaRPr lang="zh-CN" altLang="en-US"/>
            </a:p>
          </p:txBody>
        </p:sp>
        <p:sp>
          <p:nvSpPr>
            <p:cNvPr id="55333" name="Rectangle 38"/>
            <p:cNvSpPr>
              <a:spLocks noChangeArrowheads="1"/>
            </p:cNvSpPr>
            <p:nvPr/>
          </p:nvSpPr>
          <p:spPr bwMode="auto">
            <a:xfrm>
              <a:off x="3175" y="1301"/>
              <a:ext cx="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i="1">
                  <a:solidFill>
                    <a:srgbClr val="000000"/>
                  </a:solidFill>
                  <a:latin typeface="Times New Roman" panose="02020603050405020304" pitchFamily="18" charset="0"/>
                  <a:ea typeface="宋体" panose="02010600030101010101" pitchFamily="2" charset="-122"/>
                </a:rPr>
                <a:t>k</a:t>
              </a:r>
              <a:endParaRPr lang="zh-CN" altLang="zh-CN" sz="1800" i="1">
                <a:latin typeface="Arial" panose="020B0604020202020204" pitchFamily="34" charset="0"/>
                <a:ea typeface="宋体" panose="02010600030101010101" pitchFamily="2" charset="-122"/>
              </a:endParaRPr>
            </a:p>
          </p:txBody>
        </p:sp>
        <p:sp>
          <p:nvSpPr>
            <p:cNvPr id="55334" name="Rectangle 39"/>
            <p:cNvSpPr>
              <a:spLocks noChangeArrowheads="1"/>
            </p:cNvSpPr>
            <p:nvPr/>
          </p:nvSpPr>
          <p:spPr bwMode="auto">
            <a:xfrm>
              <a:off x="3263" y="1334"/>
              <a:ext cx="12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t</a:t>
              </a:r>
              <a:endParaRPr lang="zh-CN" altLang="zh-CN" sz="1800">
                <a:latin typeface="Arial" panose="020B0604020202020204" pitchFamily="34" charset="0"/>
                <a:ea typeface="宋体" panose="02010600030101010101" pitchFamily="2" charset="-122"/>
              </a:endParaRPr>
            </a:p>
          </p:txBody>
        </p:sp>
        <p:sp>
          <p:nvSpPr>
            <p:cNvPr id="55335" name="Rectangle 40"/>
            <p:cNvSpPr>
              <a:spLocks noChangeArrowheads="1"/>
            </p:cNvSpPr>
            <p:nvPr/>
          </p:nvSpPr>
          <p:spPr bwMode="auto">
            <a:xfrm>
              <a:off x="1975" y="1457"/>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36" name="Rectangle 41"/>
            <p:cNvSpPr>
              <a:spLocks noChangeArrowheads="1"/>
            </p:cNvSpPr>
            <p:nvPr/>
          </p:nvSpPr>
          <p:spPr bwMode="auto">
            <a:xfrm>
              <a:off x="2128" y="1528"/>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600">
                  <a:solidFill>
                    <a:srgbClr val="000000"/>
                  </a:solidFill>
                  <a:latin typeface="Times New Roman" panose="02020603050405020304" pitchFamily="18" charset="0"/>
                  <a:ea typeface="宋体" panose="02010600030101010101" pitchFamily="2" charset="-122"/>
                </a:rPr>
                <a:t>2</a:t>
              </a:r>
              <a:endParaRPr lang="zh-CN" altLang="zh-CN" sz="1800">
                <a:latin typeface="Arial" panose="020B0604020202020204" pitchFamily="34" charset="0"/>
                <a:ea typeface="宋体" panose="02010600030101010101" pitchFamily="2" charset="-122"/>
              </a:endParaRPr>
            </a:p>
          </p:txBody>
        </p:sp>
        <p:sp>
          <p:nvSpPr>
            <p:cNvPr id="55337" name="Freeform 42"/>
            <p:cNvSpPr>
              <a:spLocks/>
            </p:cNvSpPr>
            <p:nvPr/>
          </p:nvSpPr>
          <p:spPr bwMode="auto">
            <a:xfrm>
              <a:off x="2226" y="1508"/>
              <a:ext cx="439" cy="44"/>
            </a:xfrm>
            <a:custGeom>
              <a:avLst/>
              <a:gdLst>
                <a:gd name="T0" fmla="*/ 0 w 402"/>
                <a:gd name="T1" fmla="*/ 422 h 40"/>
                <a:gd name="T2" fmla="*/ 154 w 402"/>
                <a:gd name="T3" fmla="*/ 831 h 40"/>
                <a:gd name="T4" fmla="*/ 506 w 402"/>
                <a:gd name="T5" fmla="*/ 0 h 40"/>
                <a:gd name="T6" fmla="*/ 845 w 402"/>
                <a:gd name="T7" fmla="*/ 831 h 40"/>
                <a:gd name="T8" fmla="*/ 1162 w 402"/>
                <a:gd name="T9" fmla="*/ 0 h 40"/>
                <a:gd name="T10" fmla="*/ 1504 w 402"/>
                <a:gd name="T11" fmla="*/ 831 h 40"/>
                <a:gd name="T12" fmla="*/ 1850 w 402"/>
                <a:gd name="T13" fmla="*/ 0 h 40"/>
                <a:gd name="T14" fmla="*/ 2188 w 402"/>
                <a:gd name="T15" fmla="*/ 831 h 40"/>
                <a:gd name="T16" fmla="*/ 2538 w 402"/>
                <a:gd name="T17" fmla="*/ 0 h 40"/>
                <a:gd name="T18" fmla="*/ 2873 w 402"/>
                <a:gd name="T19" fmla="*/ 831 h 40"/>
                <a:gd name="T20" fmla="*/ 3205 w 402"/>
                <a:gd name="T21" fmla="*/ 0 h 40"/>
                <a:gd name="T22" fmla="*/ 3528 w 402"/>
                <a:gd name="T23" fmla="*/ 831 h 40"/>
                <a:gd name="T24" fmla="*/ 3864 w 402"/>
                <a:gd name="T25" fmla="*/ 0 h 40"/>
                <a:gd name="T26" fmla="*/ 4208 w 402"/>
                <a:gd name="T27" fmla="*/ 831 h 40"/>
                <a:gd name="T28" fmla="*/ 4527 w 402"/>
                <a:gd name="T29" fmla="*/ 0 h 40"/>
                <a:gd name="T30" fmla="*/ 4876 w 402"/>
                <a:gd name="T31" fmla="*/ 831 h 40"/>
                <a:gd name="T32" fmla="*/ 5217 w 402"/>
                <a:gd name="T33" fmla="*/ 0 h 40"/>
                <a:gd name="T34" fmla="*/ 5551 w 402"/>
                <a:gd name="T35" fmla="*/ 831 h 40"/>
                <a:gd name="T36" fmla="*/ 5874 w 402"/>
                <a:gd name="T37" fmla="*/ 0 h 40"/>
                <a:gd name="T38" fmla="*/ 6221 w 402"/>
                <a:gd name="T39" fmla="*/ 831 h 40"/>
                <a:gd name="T40" fmla="*/ 6557 w 402"/>
                <a:gd name="T41" fmla="*/ 0 h 40"/>
                <a:gd name="T42" fmla="*/ 6719 w 402"/>
                <a:gd name="T43" fmla="*/ 422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2"/>
                <a:gd name="T67" fmla="*/ 0 h 40"/>
                <a:gd name="T68" fmla="*/ 402 w 402"/>
                <a:gd name="T69" fmla="*/ 40 h 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2" h="40">
                  <a:moveTo>
                    <a:pt x="0" y="20"/>
                  </a:moveTo>
                  <a:lnTo>
                    <a:pt x="10" y="40"/>
                  </a:lnTo>
                  <a:lnTo>
                    <a:pt x="30" y="0"/>
                  </a:lnTo>
                  <a:lnTo>
                    <a:pt x="50" y="40"/>
                  </a:lnTo>
                  <a:lnTo>
                    <a:pt x="70" y="0"/>
                  </a:lnTo>
                  <a:lnTo>
                    <a:pt x="90" y="40"/>
                  </a:lnTo>
                  <a:lnTo>
                    <a:pt x="111" y="0"/>
                  </a:lnTo>
                  <a:lnTo>
                    <a:pt x="131" y="40"/>
                  </a:lnTo>
                  <a:lnTo>
                    <a:pt x="151" y="0"/>
                  </a:lnTo>
                  <a:lnTo>
                    <a:pt x="171" y="40"/>
                  </a:lnTo>
                  <a:lnTo>
                    <a:pt x="191" y="0"/>
                  </a:lnTo>
                  <a:lnTo>
                    <a:pt x="211" y="40"/>
                  </a:lnTo>
                  <a:lnTo>
                    <a:pt x="231" y="0"/>
                  </a:lnTo>
                  <a:lnTo>
                    <a:pt x="251" y="40"/>
                  </a:lnTo>
                  <a:lnTo>
                    <a:pt x="271" y="0"/>
                  </a:lnTo>
                  <a:lnTo>
                    <a:pt x="291" y="40"/>
                  </a:lnTo>
                  <a:lnTo>
                    <a:pt x="312" y="0"/>
                  </a:lnTo>
                  <a:lnTo>
                    <a:pt x="332" y="40"/>
                  </a:lnTo>
                  <a:lnTo>
                    <a:pt x="352" y="0"/>
                  </a:lnTo>
                  <a:lnTo>
                    <a:pt x="372" y="40"/>
                  </a:lnTo>
                  <a:lnTo>
                    <a:pt x="392" y="0"/>
                  </a:lnTo>
                  <a:lnTo>
                    <a:pt x="402" y="2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38" name="Oval 43"/>
            <p:cNvSpPr>
              <a:spLocks noChangeArrowheads="1"/>
            </p:cNvSpPr>
            <p:nvPr/>
          </p:nvSpPr>
          <p:spPr bwMode="auto">
            <a:xfrm>
              <a:off x="1896" y="1986"/>
              <a:ext cx="27" cy="26"/>
            </a:xfrm>
            <a:prstGeom prst="ellipse">
              <a:avLst/>
            </a:prstGeom>
            <a:blipFill dpi="0" rotWithShape="0">
              <a:blip r:embed="rId2"/>
              <a:srcRect/>
              <a:tile tx="0" ty="0" sx="100000" sy="100000" flip="none" algn="tl"/>
            </a:bli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55339" name="Rectangle 44"/>
            <p:cNvSpPr>
              <a:spLocks noChangeArrowheads="1"/>
            </p:cNvSpPr>
            <p:nvPr/>
          </p:nvSpPr>
          <p:spPr bwMode="auto">
            <a:xfrm>
              <a:off x="3841" y="1904"/>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40" name="Rectangle 45"/>
            <p:cNvSpPr>
              <a:spLocks noChangeArrowheads="1"/>
            </p:cNvSpPr>
            <p:nvPr/>
          </p:nvSpPr>
          <p:spPr bwMode="auto">
            <a:xfrm>
              <a:off x="3994" y="1904"/>
              <a:ext cx="159"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x</a:t>
              </a:r>
              <a:endParaRPr lang="zh-CN" altLang="zh-CN" sz="1800">
                <a:latin typeface="Arial" panose="020B0604020202020204" pitchFamily="34" charset="0"/>
                <a:ea typeface="宋体" panose="02010600030101010101" pitchFamily="2" charset="-122"/>
              </a:endParaRPr>
            </a:p>
          </p:txBody>
        </p:sp>
        <p:sp>
          <p:nvSpPr>
            <p:cNvPr id="55341" name="Rectangle 46"/>
            <p:cNvSpPr>
              <a:spLocks noChangeArrowheads="1"/>
            </p:cNvSpPr>
            <p:nvPr/>
          </p:nvSpPr>
          <p:spPr bwMode="auto">
            <a:xfrm>
              <a:off x="2128" y="1959"/>
              <a:ext cx="158"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  </a:t>
              </a:r>
              <a:endParaRPr lang="zh-CN" altLang="zh-CN" sz="1800">
                <a:latin typeface="Arial" panose="020B0604020202020204" pitchFamily="34" charset="0"/>
                <a:ea typeface="宋体" panose="02010600030101010101" pitchFamily="2" charset="-122"/>
              </a:endParaRPr>
            </a:p>
          </p:txBody>
        </p:sp>
        <p:sp>
          <p:nvSpPr>
            <p:cNvPr id="55342" name="Line 47"/>
            <p:cNvSpPr>
              <a:spLocks noChangeShapeType="1"/>
            </p:cNvSpPr>
            <p:nvPr/>
          </p:nvSpPr>
          <p:spPr bwMode="auto">
            <a:xfrm>
              <a:off x="2837" y="1988"/>
              <a:ext cx="92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43" name="Freeform 48"/>
            <p:cNvSpPr>
              <a:spLocks/>
            </p:cNvSpPr>
            <p:nvPr/>
          </p:nvSpPr>
          <p:spPr bwMode="auto">
            <a:xfrm>
              <a:off x="3656" y="1955"/>
              <a:ext cx="109" cy="66"/>
            </a:xfrm>
            <a:custGeom>
              <a:avLst/>
              <a:gdLst>
                <a:gd name="T0" fmla="*/ 109 w 109"/>
                <a:gd name="T1" fmla="*/ 33 h 66"/>
                <a:gd name="T2" fmla="*/ 0 w 109"/>
                <a:gd name="T3" fmla="*/ 66 h 66"/>
                <a:gd name="T4" fmla="*/ 21 w 109"/>
                <a:gd name="T5" fmla="*/ 33 h 66"/>
                <a:gd name="T6" fmla="*/ 0 w 109"/>
                <a:gd name="T7" fmla="*/ 0 h 66"/>
                <a:gd name="T8" fmla="*/ 109 w 109"/>
                <a:gd name="T9" fmla="*/ 33 h 66"/>
                <a:gd name="T10" fmla="*/ 0 60000 65536"/>
                <a:gd name="T11" fmla="*/ 0 60000 65536"/>
                <a:gd name="T12" fmla="*/ 0 60000 65536"/>
                <a:gd name="T13" fmla="*/ 0 60000 65536"/>
                <a:gd name="T14" fmla="*/ 0 60000 65536"/>
                <a:gd name="T15" fmla="*/ 0 w 109"/>
                <a:gd name="T16" fmla="*/ 0 h 66"/>
                <a:gd name="T17" fmla="*/ 109 w 109"/>
                <a:gd name="T18" fmla="*/ 66 h 66"/>
              </a:gdLst>
              <a:ahLst/>
              <a:cxnLst>
                <a:cxn ang="T10">
                  <a:pos x="T0" y="T1"/>
                </a:cxn>
                <a:cxn ang="T11">
                  <a:pos x="T2" y="T3"/>
                </a:cxn>
                <a:cxn ang="T12">
                  <a:pos x="T4" y="T5"/>
                </a:cxn>
                <a:cxn ang="T13">
                  <a:pos x="T6" y="T7"/>
                </a:cxn>
                <a:cxn ang="T14">
                  <a:pos x="T8" y="T9"/>
                </a:cxn>
              </a:cxnLst>
              <a:rect l="T15" t="T16" r="T17" b="T18"/>
              <a:pathLst>
                <a:path w="109" h="66">
                  <a:moveTo>
                    <a:pt x="109" y="33"/>
                  </a:moveTo>
                  <a:lnTo>
                    <a:pt x="0" y="66"/>
                  </a:lnTo>
                  <a:lnTo>
                    <a:pt x="21" y="33"/>
                  </a:lnTo>
                  <a:lnTo>
                    <a:pt x="0" y="0"/>
                  </a:lnTo>
                  <a:lnTo>
                    <a:pt x="109" y="33"/>
                  </a:lnTo>
                  <a:close/>
                </a:path>
              </a:pathLst>
            </a:custGeom>
            <a:blipFill dpi="0" rotWithShape="0">
              <a:blip r:embed="rId2"/>
              <a:srcRect/>
              <a:tile tx="0" ty="0" sx="100000" sy="100000" flip="none" algn="tl"/>
            </a:blipFill>
            <a:ln w="17463">
              <a:solidFill>
                <a:srgbClr val="000000"/>
              </a:solidFill>
              <a:prstDash val="solid"/>
              <a:round/>
              <a:headEnd/>
              <a:tailEnd/>
            </a:ln>
          </p:spPr>
          <p:txBody>
            <a:bodyPr/>
            <a:lstStyle/>
            <a:p>
              <a:endParaRPr lang="zh-CN" altLang="en-US"/>
            </a:p>
          </p:txBody>
        </p:sp>
        <p:sp>
          <p:nvSpPr>
            <p:cNvPr id="55344" name="Rectangle 49"/>
            <p:cNvSpPr>
              <a:spLocks noChangeArrowheads="1"/>
            </p:cNvSpPr>
            <p:nvPr/>
          </p:nvSpPr>
          <p:spPr bwMode="auto">
            <a:xfrm>
              <a:off x="3165" y="1748"/>
              <a:ext cx="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i="1">
                  <a:solidFill>
                    <a:srgbClr val="000000"/>
                  </a:solidFill>
                  <a:latin typeface="Times New Roman" panose="02020603050405020304" pitchFamily="18" charset="0"/>
                  <a:ea typeface="宋体" panose="02010600030101010101" pitchFamily="2" charset="-122"/>
                </a:rPr>
                <a:t>k</a:t>
              </a:r>
              <a:endParaRPr lang="zh-CN" altLang="zh-CN" sz="1800" i="1">
                <a:latin typeface="Arial" panose="020B0604020202020204" pitchFamily="34" charset="0"/>
                <a:ea typeface="宋体" panose="02010600030101010101" pitchFamily="2" charset="-122"/>
              </a:endParaRPr>
            </a:p>
          </p:txBody>
        </p:sp>
        <p:sp>
          <p:nvSpPr>
            <p:cNvPr id="55345" name="Rectangle 50"/>
            <p:cNvSpPr>
              <a:spLocks noChangeArrowheads="1"/>
            </p:cNvSpPr>
            <p:nvPr/>
          </p:nvSpPr>
          <p:spPr bwMode="auto">
            <a:xfrm>
              <a:off x="3252" y="1781"/>
              <a:ext cx="120"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t</a:t>
              </a:r>
              <a:endParaRPr lang="zh-CN" altLang="zh-CN" sz="1800">
                <a:latin typeface="Arial" panose="020B0604020202020204" pitchFamily="34" charset="0"/>
                <a:ea typeface="宋体" panose="02010600030101010101" pitchFamily="2" charset="-122"/>
              </a:endParaRPr>
            </a:p>
          </p:txBody>
        </p:sp>
        <p:sp>
          <p:nvSpPr>
            <p:cNvPr id="55346" name="Rectangle 51"/>
            <p:cNvSpPr>
              <a:spLocks noChangeArrowheads="1"/>
            </p:cNvSpPr>
            <p:nvPr/>
          </p:nvSpPr>
          <p:spPr bwMode="auto">
            <a:xfrm>
              <a:off x="1964" y="1904"/>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47" name="Rectangle 52"/>
            <p:cNvSpPr>
              <a:spLocks noChangeArrowheads="1"/>
            </p:cNvSpPr>
            <p:nvPr/>
          </p:nvSpPr>
          <p:spPr bwMode="auto">
            <a:xfrm>
              <a:off x="2117" y="1975"/>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600">
                  <a:solidFill>
                    <a:srgbClr val="000000"/>
                  </a:solidFill>
                  <a:latin typeface="Times New Roman" panose="02020603050405020304" pitchFamily="18" charset="0"/>
                  <a:ea typeface="宋体" panose="02010600030101010101" pitchFamily="2" charset="-122"/>
                </a:rPr>
                <a:t>2</a:t>
              </a:r>
              <a:endParaRPr lang="zh-CN" altLang="zh-CN" sz="1800">
                <a:latin typeface="Arial" panose="020B0604020202020204" pitchFamily="34" charset="0"/>
                <a:ea typeface="宋体" panose="02010600030101010101" pitchFamily="2" charset="-122"/>
              </a:endParaRPr>
            </a:p>
          </p:txBody>
        </p:sp>
        <p:sp>
          <p:nvSpPr>
            <p:cNvPr id="55348" name="Freeform 53"/>
            <p:cNvSpPr>
              <a:spLocks/>
            </p:cNvSpPr>
            <p:nvPr/>
          </p:nvSpPr>
          <p:spPr bwMode="auto">
            <a:xfrm>
              <a:off x="2215" y="1955"/>
              <a:ext cx="439" cy="44"/>
            </a:xfrm>
            <a:custGeom>
              <a:avLst/>
              <a:gdLst>
                <a:gd name="T0" fmla="*/ 0 w 402"/>
                <a:gd name="T1" fmla="*/ 422 h 40"/>
                <a:gd name="T2" fmla="*/ 154 w 402"/>
                <a:gd name="T3" fmla="*/ 831 h 40"/>
                <a:gd name="T4" fmla="*/ 506 w 402"/>
                <a:gd name="T5" fmla="*/ 0 h 40"/>
                <a:gd name="T6" fmla="*/ 845 w 402"/>
                <a:gd name="T7" fmla="*/ 831 h 40"/>
                <a:gd name="T8" fmla="*/ 1162 w 402"/>
                <a:gd name="T9" fmla="*/ 0 h 40"/>
                <a:gd name="T10" fmla="*/ 1504 w 402"/>
                <a:gd name="T11" fmla="*/ 831 h 40"/>
                <a:gd name="T12" fmla="*/ 1850 w 402"/>
                <a:gd name="T13" fmla="*/ 0 h 40"/>
                <a:gd name="T14" fmla="*/ 2188 w 402"/>
                <a:gd name="T15" fmla="*/ 831 h 40"/>
                <a:gd name="T16" fmla="*/ 2538 w 402"/>
                <a:gd name="T17" fmla="*/ 0 h 40"/>
                <a:gd name="T18" fmla="*/ 2873 w 402"/>
                <a:gd name="T19" fmla="*/ 831 h 40"/>
                <a:gd name="T20" fmla="*/ 3205 w 402"/>
                <a:gd name="T21" fmla="*/ 0 h 40"/>
                <a:gd name="T22" fmla="*/ 3528 w 402"/>
                <a:gd name="T23" fmla="*/ 831 h 40"/>
                <a:gd name="T24" fmla="*/ 3864 w 402"/>
                <a:gd name="T25" fmla="*/ 0 h 40"/>
                <a:gd name="T26" fmla="*/ 4208 w 402"/>
                <a:gd name="T27" fmla="*/ 831 h 40"/>
                <a:gd name="T28" fmla="*/ 4527 w 402"/>
                <a:gd name="T29" fmla="*/ 0 h 40"/>
                <a:gd name="T30" fmla="*/ 4876 w 402"/>
                <a:gd name="T31" fmla="*/ 831 h 40"/>
                <a:gd name="T32" fmla="*/ 5217 w 402"/>
                <a:gd name="T33" fmla="*/ 0 h 40"/>
                <a:gd name="T34" fmla="*/ 5551 w 402"/>
                <a:gd name="T35" fmla="*/ 831 h 40"/>
                <a:gd name="T36" fmla="*/ 5874 w 402"/>
                <a:gd name="T37" fmla="*/ 0 h 40"/>
                <a:gd name="T38" fmla="*/ 6221 w 402"/>
                <a:gd name="T39" fmla="*/ 831 h 40"/>
                <a:gd name="T40" fmla="*/ 6557 w 402"/>
                <a:gd name="T41" fmla="*/ 0 h 40"/>
                <a:gd name="T42" fmla="*/ 6719 w 402"/>
                <a:gd name="T43" fmla="*/ 422 h 4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2"/>
                <a:gd name="T67" fmla="*/ 0 h 40"/>
                <a:gd name="T68" fmla="*/ 402 w 402"/>
                <a:gd name="T69" fmla="*/ 40 h 4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2" h="40">
                  <a:moveTo>
                    <a:pt x="0" y="20"/>
                  </a:moveTo>
                  <a:lnTo>
                    <a:pt x="10" y="40"/>
                  </a:lnTo>
                  <a:lnTo>
                    <a:pt x="30" y="0"/>
                  </a:lnTo>
                  <a:lnTo>
                    <a:pt x="50" y="40"/>
                  </a:lnTo>
                  <a:lnTo>
                    <a:pt x="70" y="0"/>
                  </a:lnTo>
                  <a:lnTo>
                    <a:pt x="90" y="40"/>
                  </a:lnTo>
                  <a:lnTo>
                    <a:pt x="111" y="0"/>
                  </a:lnTo>
                  <a:lnTo>
                    <a:pt x="131" y="40"/>
                  </a:lnTo>
                  <a:lnTo>
                    <a:pt x="151" y="0"/>
                  </a:lnTo>
                  <a:lnTo>
                    <a:pt x="171" y="40"/>
                  </a:lnTo>
                  <a:lnTo>
                    <a:pt x="191" y="0"/>
                  </a:lnTo>
                  <a:lnTo>
                    <a:pt x="211" y="40"/>
                  </a:lnTo>
                  <a:lnTo>
                    <a:pt x="231" y="0"/>
                  </a:lnTo>
                  <a:lnTo>
                    <a:pt x="251" y="40"/>
                  </a:lnTo>
                  <a:lnTo>
                    <a:pt x="271" y="0"/>
                  </a:lnTo>
                  <a:lnTo>
                    <a:pt x="291" y="40"/>
                  </a:lnTo>
                  <a:lnTo>
                    <a:pt x="312" y="0"/>
                  </a:lnTo>
                  <a:lnTo>
                    <a:pt x="332" y="40"/>
                  </a:lnTo>
                  <a:lnTo>
                    <a:pt x="352" y="0"/>
                  </a:lnTo>
                  <a:lnTo>
                    <a:pt x="372" y="40"/>
                  </a:lnTo>
                  <a:lnTo>
                    <a:pt x="392" y="0"/>
                  </a:lnTo>
                  <a:lnTo>
                    <a:pt x="402" y="2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49" name="Rectangle 54"/>
            <p:cNvSpPr>
              <a:spLocks noChangeArrowheads="1"/>
            </p:cNvSpPr>
            <p:nvPr/>
          </p:nvSpPr>
          <p:spPr bwMode="auto">
            <a:xfrm>
              <a:off x="3312" y="1288"/>
              <a:ext cx="10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a:t>
              </a:r>
              <a:endParaRPr lang="zh-CN" altLang="zh-CN" sz="1800">
                <a:latin typeface="Arial" panose="020B0604020202020204" pitchFamily="34" charset="0"/>
                <a:ea typeface="宋体" panose="02010600030101010101" pitchFamily="2" charset="-122"/>
              </a:endParaRPr>
            </a:p>
          </p:txBody>
        </p:sp>
        <p:sp>
          <p:nvSpPr>
            <p:cNvPr id="55350" name="Rectangle 55"/>
            <p:cNvSpPr>
              <a:spLocks noChangeArrowheads="1"/>
            </p:cNvSpPr>
            <p:nvPr/>
          </p:nvSpPr>
          <p:spPr bwMode="auto">
            <a:xfrm>
              <a:off x="3290" y="1724"/>
              <a:ext cx="14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a:t>
              </a:r>
              <a:endParaRPr lang="zh-CN" altLang="zh-CN" sz="1800">
                <a:latin typeface="Arial" panose="020B0604020202020204" pitchFamily="34" charset="0"/>
                <a:ea typeface="宋体" panose="02010600030101010101" pitchFamily="2" charset="-122"/>
              </a:endParaRPr>
            </a:p>
          </p:txBody>
        </p:sp>
        <p:sp>
          <p:nvSpPr>
            <p:cNvPr id="55351" name="Rectangle 56"/>
            <p:cNvSpPr>
              <a:spLocks noChangeArrowheads="1"/>
            </p:cNvSpPr>
            <p:nvPr/>
          </p:nvSpPr>
          <p:spPr bwMode="auto">
            <a:xfrm>
              <a:off x="1440" y="1904"/>
              <a:ext cx="227"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M</a:t>
              </a:r>
              <a:endParaRPr lang="zh-CN" altLang="zh-CN" sz="1800">
                <a:latin typeface="Arial" panose="020B0604020202020204" pitchFamily="34" charset="0"/>
                <a:ea typeface="宋体" panose="02010600030101010101" pitchFamily="2" charset="-122"/>
              </a:endParaRPr>
            </a:p>
          </p:txBody>
        </p:sp>
        <p:sp>
          <p:nvSpPr>
            <p:cNvPr id="55352" name="Rectangle 57"/>
            <p:cNvSpPr>
              <a:spLocks noChangeArrowheads="1"/>
            </p:cNvSpPr>
            <p:nvPr/>
          </p:nvSpPr>
          <p:spPr bwMode="auto">
            <a:xfrm>
              <a:off x="1593" y="1975"/>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1600">
                  <a:solidFill>
                    <a:srgbClr val="000000"/>
                  </a:solidFill>
                  <a:latin typeface="Times New Roman" panose="02020603050405020304" pitchFamily="18" charset="0"/>
                  <a:ea typeface="宋体" panose="02010600030101010101" pitchFamily="2" charset="-122"/>
                </a:rPr>
                <a:t>2</a:t>
              </a:r>
              <a:endParaRPr lang="zh-CN" altLang="zh-CN" sz="1800">
                <a:latin typeface="Arial" panose="020B0604020202020204" pitchFamily="34" charset="0"/>
                <a:ea typeface="宋体" panose="02010600030101010101" pitchFamily="2" charset="-122"/>
              </a:endParaRPr>
            </a:p>
          </p:txBody>
        </p:sp>
        <p:sp>
          <p:nvSpPr>
            <p:cNvPr id="55353" name="Freeform 58"/>
            <p:cNvSpPr>
              <a:spLocks/>
            </p:cNvSpPr>
            <p:nvPr/>
          </p:nvSpPr>
          <p:spPr bwMode="auto">
            <a:xfrm>
              <a:off x="873" y="1977"/>
              <a:ext cx="545" cy="44"/>
            </a:xfrm>
            <a:custGeom>
              <a:avLst/>
              <a:gdLst>
                <a:gd name="T0" fmla="*/ 0 w 500"/>
                <a:gd name="T1" fmla="*/ 422 h 40"/>
                <a:gd name="T2" fmla="*/ 149 w 500"/>
                <a:gd name="T3" fmla="*/ 831 h 40"/>
                <a:gd name="T4" fmla="*/ 459 w 500"/>
                <a:gd name="T5" fmla="*/ 0 h 40"/>
                <a:gd name="T6" fmla="*/ 752 w 500"/>
                <a:gd name="T7" fmla="*/ 831 h 40"/>
                <a:gd name="T8" fmla="*/ 1061 w 500"/>
                <a:gd name="T9" fmla="*/ 0 h 40"/>
                <a:gd name="T10" fmla="*/ 1373 w 500"/>
                <a:gd name="T11" fmla="*/ 831 h 40"/>
                <a:gd name="T12" fmla="*/ 1666 w 500"/>
                <a:gd name="T13" fmla="*/ 0 h 40"/>
                <a:gd name="T14" fmla="*/ 1946 w 500"/>
                <a:gd name="T15" fmla="*/ 831 h 40"/>
                <a:gd name="T16" fmla="*/ 2269 w 500"/>
                <a:gd name="T17" fmla="*/ 0 h 40"/>
                <a:gd name="T18" fmla="*/ 2576 w 500"/>
                <a:gd name="T19" fmla="*/ 831 h 40"/>
                <a:gd name="T20" fmla="*/ 2873 w 500"/>
                <a:gd name="T21" fmla="*/ 0 h 40"/>
                <a:gd name="T22" fmla="*/ 3190 w 500"/>
                <a:gd name="T23" fmla="*/ 831 h 40"/>
                <a:gd name="T24" fmla="*/ 3492 w 500"/>
                <a:gd name="T25" fmla="*/ 0 h 40"/>
                <a:gd name="T26" fmla="*/ 3790 w 500"/>
                <a:gd name="T27" fmla="*/ 831 h 40"/>
                <a:gd name="T28" fmla="*/ 4096 w 500"/>
                <a:gd name="T29" fmla="*/ 0 h 40"/>
                <a:gd name="T30" fmla="*/ 4386 w 500"/>
                <a:gd name="T31" fmla="*/ 831 h 40"/>
                <a:gd name="T32" fmla="*/ 4686 w 500"/>
                <a:gd name="T33" fmla="*/ 0 h 40"/>
                <a:gd name="T34" fmla="*/ 5003 w 500"/>
                <a:gd name="T35" fmla="*/ 831 h 40"/>
                <a:gd name="T36" fmla="*/ 5306 w 500"/>
                <a:gd name="T37" fmla="*/ 0 h 40"/>
                <a:gd name="T38" fmla="*/ 5614 w 500"/>
                <a:gd name="T39" fmla="*/ 831 h 40"/>
                <a:gd name="T40" fmla="*/ 5914 w 500"/>
                <a:gd name="T41" fmla="*/ 0 h 40"/>
                <a:gd name="T42" fmla="*/ 6220 w 500"/>
                <a:gd name="T43" fmla="*/ 831 h 40"/>
                <a:gd name="T44" fmla="*/ 6519 w 500"/>
                <a:gd name="T45" fmla="*/ 0 h 40"/>
                <a:gd name="T46" fmla="*/ 6803 w 500"/>
                <a:gd name="T47" fmla="*/ 831 h 40"/>
                <a:gd name="T48" fmla="*/ 7121 w 500"/>
                <a:gd name="T49" fmla="*/ 0 h 40"/>
                <a:gd name="T50" fmla="*/ 7413 w 500"/>
                <a:gd name="T51" fmla="*/ 831 h 40"/>
                <a:gd name="T52" fmla="*/ 7723 w 500"/>
                <a:gd name="T53" fmla="*/ 0 h 40"/>
                <a:gd name="T54" fmla="*/ 7859 w 500"/>
                <a:gd name="T55" fmla="*/ 422 h 4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500"/>
                <a:gd name="T85" fmla="*/ 0 h 40"/>
                <a:gd name="T86" fmla="*/ 500 w 500"/>
                <a:gd name="T87" fmla="*/ 40 h 4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500" h="40">
                  <a:moveTo>
                    <a:pt x="0" y="20"/>
                  </a:moveTo>
                  <a:lnTo>
                    <a:pt x="10" y="40"/>
                  </a:lnTo>
                  <a:lnTo>
                    <a:pt x="29" y="0"/>
                  </a:lnTo>
                  <a:lnTo>
                    <a:pt x="48" y="40"/>
                  </a:lnTo>
                  <a:lnTo>
                    <a:pt x="67" y="0"/>
                  </a:lnTo>
                  <a:lnTo>
                    <a:pt x="87" y="40"/>
                  </a:lnTo>
                  <a:lnTo>
                    <a:pt x="106" y="0"/>
                  </a:lnTo>
                  <a:lnTo>
                    <a:pt x="125" y="40"/>
                  </a:lnTo>
                  <a:lnTo>
                    <a:pt x="144" y="0"/>
                  </a:lnTo>
                  <a:lnTo>
                    <a:pt x="163" y="40"/>
                  </a:lnTo>
                  <a:lnTo>
                    <a:pt x="183" y="0"/>
                  </a:lnTo>
                  <a:lnTo>
                    <a:pt x="202" y="40"/>
                  </a:lnTo>
                  <a:lnTo>
                    <a:pt x="221" y="0"/>
                  </a:lnTo>
                  <a:lnTo>
                    <a:pt x="240" y="40"/>
                  </a:lnTo>
                  <a:lnTo>
                    <a:pt x="260" y="0"/>
                  </a:lnTo>
                  <a:lnTo>
                    <a:pt x="279" y="40"/>
                  </a:lnTo>
                  <a:lnTo>
                    <a:pt x="298" y="0"/>
                  </a:lnTo>
                  <a:lnTo>
                    <a:pt x="317" y="40"/>
                  </a:lnTo>
                  <a:lnTo>
                    <a:pt x="337" y="0"/>
                  </a:lnTo>
                  <a:lnTo>
                    <a:pt x="356" y="40"/>
                  </a:lnTo>
                  <a:lnTo>
                    <a:pt x="375" y="0"/>
                  </a:lnTo>
                  <a:lnTo>
                    <a:pt x="394" y="40"/>
                  </a:lnTo>
                  <a:lnTo>
                    <a:pt x="414" y="0"/>
                  </a:lnTo>
                  <a:lnTo>
                    <a:pt x="433" y="40"/>
                  </a:lnTo>
                  <a:lnTo>
                    <a:pt x="452" y="0"/>
                  </a:lnTo>
                  <a:lnTo>
                    <a:pt x="471" y="40"/>
                  </a:lnTo>
                  <a:lnTo>
                    <a:pt x="490" y="0"/>
                  </a:lnTo>
                  <a:lnTo>
                    <a:pt x="500" y="20"/>
                  </a:lnTo>
                </a:path>
              </a:pathLst>
            </a:custGeom>
            <a:noFill/>
            <a:ln w="1746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5354" name="Oval 59"/>
            <p:cNvSpPr>
              <a:spLocks noChangeArrowheads="1"/>
            </p:cNvSpPr>
            <p:nvPr/>
          </p:nvSpPr>
          <p:spPr bwMode="auto">
            <a:xfrm>
              <a:off x="1667" y="1986"/>
              <a:ext cx="26" cy="26"/>
            </a:xfrm>
            <a:prstGeom prst="ellipse">
              <a:avLst/>
            </a:prstGeom>
            <a:blipFill dpi="0" rotWithShape="0">
              <a:blip r:embed="rId2"/>
              <a:srcRect/>
              <a:tile tx="0" ty="0" sx="100000" sy="100000" flip="none" algn="tl"/>
            </a:blipFill>
            <a:ln w="17463">
              <a:solidFill>
                <a:srgbClr val="000000"/>
              </a:solidFill>
              <a:round/>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55355" name="Rectangle 60"/>
            <p:cNvSpPr>
              <a:spLocks noChangeArrowheads="1"/>
            </p:cNvSpPr>
            <p:nvPr/>
          </p:nvSpPr>
          <p:spPr bwMode="auto">
            <a:xfrm>
              <a:off x="1757" y="1894"/>
              <a:ext cx="192"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500">
                  <a:solidFill>
                    <a:srgbClr val="000000"/>
                  </a:solidFill>
                  <a:latin typeface="Times New Roman" panose="02020603050405020304" pitchFamily="18" charset="0"/>
                  <a:ea typeface="宋体" panose="02010600030101010101" pitchFamily="2" charset="-122"/>
                </a:rPr>
                <a:t>+</a:t>
              </a:r>
              <a:endParaRPr lang="zh-CN" altLang="zh-CN" sz="1800">
                <a:latin typeface="Arial" panose="020B0604020202020204" pitchFamily="34" charset="0"/>
                <a:ea typeface="宋体" panose="02010600030101010101" pitchFamily="2" charset="-122"/>
              </a:endParaRPr>
            </a:p>
          </p:txBody>
        </p:sp>
        <p:sp>
          <p:nvSpPr>
            <p:cNvPr id="55356" name="Rectangle 61"/>
            <p:cNvSpPr>
              <a:spLocks noChangeArrowheads="1"/>
            </p:cNvSpPr>
            <p:nvPr/>
          </p:nvSpPr>
          <p:spPr bwMode="auto">
            <a:xfrm>
              <a:off x="4098" y="1397"/>
              <a:ext cx="10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a:t>
              </a:r>
              <a:endParaRPr lang="zh-CN" altLang="zh-CN" sz="1800">
                <a:latin typeface="Arial" panose="020B0604020202020204" pitchFamily="34" charset="0"/>
                <a:ea typeface="宋体" panose="02010600030101010101" pitchFamily="2" charset="-122"/>
              </a:endParaRPr>
            </a:p>
          </p:txBody>
        </p:sp>
        <p:sp>
          <p:nvSpPr>
            <p:cNvPr id="55357" name="Rectangle 62"/>
            <p:cNvSpPr>
              <a:spLocks noChangeArrowheads="1"/>
            </p:cNvSpPr>
            <p:nvPr/>
          </p:nvSpPr>
          <p:spPr bwMode="auto">
            <a:xfrm>
              <a:off x="4087" y="1855"/>
              <a:ext cx="143" cy="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zh-CN" sz="2200">
                  <a:solidFill>
                    <a:srgbClr val="000000"/>
                  </a:solidFill>
                  <a:latin typeface="Times New Roman" panose="02020603050405020304" pitchFamily="18" charset="0"/>
                  <a:ea typeface="宋体" panose="02010600030101010101" pitchFamily="2" charset="-122"/>
                </a:rPr>
                <a:t>"</a:t>
              </a:r>
              <a:endParaRPr lang="zh-CN" altLang="zh-CN" sz="1800">
                <a:latin typeface="Arial" panose="020B0604020202020204" pitchFamily="34" charset="0"/>
                <a:ea typeface="宋体" panose="02010600030101010101" pitchFamily="2" charset="-122"/>
              </a:endParaRPr>
            </a:p>
          </p:txBody>
        </p:sp>
      </p:grpSp>
      <p:sp>
        <p:nvSpPr>
          <p:cNvPr id="55304" name="Rectangle 2"/>
          <p:cNvSpPr txBox="1">
            <a:spLocks noChangeArrowheads="1"/>
          </p:cNvSpPr>
          <p:nvPr/>
        </p:nvSpPr>
        <p:spPr bwMode="auto">
          <a:xfrm>
            <a:off x="6394450" y="1978025"/>
            <a:ext cx="2185988"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914400" eaLnBrk="1" hangingPunct="1">
              <a:spcBef>
                <a:spcPct val="0"/>
              </a:spcBef>
              <a:buFontTx/>
              <a:buNone/>
            </a:pPr>
            <a:r>
              <a:rPr lang="zh-CN" altLang="en-US" sz="2400" b="1">
                <a:solidFill>
                  <a:srgbClr val="FF0000"/>
                </a:solidFill>
                <a:latin typeface="楷体" panose="02010609060101010101" pitchFamily="49" charset="-122"/>
                <a:ea typeface="楷体" panose="02010609060101010101" pitchFamily="49" charset="-122"/>
              </a:rPr>
              <a:t>交叉双基终止</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9E615885-0B45-4829-B51C-87987FEEEF5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632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1FDF1C9-67BD-47A5-9B8F-0A9A60AB7FAD}"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31</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56324" name="Rectangle 4"/>
          <p:cNvSpPr>
            <a:spLocks noChangeArrowheads="1"/>
          </p:cNvSpPr>
          <p:nvPr/>
        </p:nvSpPr>
        <p:spPr bwMode="auto">
          <a:xfrm>
            <a:off x="323850" y="109538"/>
            <a:ext cx="4173538"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zh-CN" altLang="en-US" sz="2400" b="1">
                <a:solidFill>
                  <a:srgbClr val="FF0000"/>
                </a:solidFill>
                <a:latin typeface="楷体" panose="02010609060101010101" pitchFamily="49" charset="-122"/>
                <a:ea typeface="楷体" panose="02010609060101010101" pitchFamily="49" charset="-122"/>
              </a:rPr>
              <a:t>共聚体系的主要基元反应</a:t>
            </a:r>
            <a:endParaRPr lang="en-US" altLang="zh-CN" sz="2400" b="1">
              <a:solidFill>
                <a:srgbClr val="FF0000"/>
              </a:solidFill>
              <a:latin typeface="楷体" panose="02010609060101010101" pitchFamily="49" charset="-122"/>
              <a:ea typeface="楷体" panose="02010609060101010101" pitchFamily="49" charset="-122"/>
            </a:endParaRPr>
          </a:p>
        </p:txBody>
      </p:sp>
      <p:graphicFrame>
        <p:nvGraphicFramePr>
          <p:cNvPr id="56325" name="Object 5"/>
          <p:cNvGraphicFramePr>
            <a:graphicFrameLocks noChangeAspect="1"/>
          </p:cNvGraphicFramePr>
          <p:nvPr/>
        </p:nvGraphicFramePr>
        <p:xfrm>
          <a:off x="457200" y="4587875"/>
          <a:ext cx="5589588" cy="1792288"/>
        </p:xfrm>
        <a:graphic>
          <a:graphicData uri="http://schemas.openxmlformats.org/presentationml/2006/ole">
            <mc:AlternateContent xmlns:mc="http://schemas.openxmlformats.org/markup-compatibility/2006">
              <mc:Choice xmlns:v="urn:schemas-microsoft-com:vml" Requires="v">
                <p:oleObj spid="_x0000_s56369" name="CS ChemDraw Drawing" r:id="rId3" imgW="3718560" imgH="1193800" progId="ChemDraw.Document.6.0">
                  <p:embed/>
                </p:oleObj>
              </mc:Choice>
              <mc:Fallback>
                <p:oleObj name="CS ChemDraw Drawing" r:id="rId3" imgW="3718560" imgH="1193800" progId="ChemDraw.Document.6.0">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587875"/>
                        <a:ext cx="5589588" cy="17922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26" name="Object 6"/>
          <p:cNvGraphicFramePr>
            <a:graphicFrameLocks noChangeAspect="1"/>
          </p:cNvGraphicFramePr>
          <p:nvPr/>
        </p:nvGraphicFramePr>
        <p:xfrm>
          <a:off x="457200" y="795338"/>
          <a:ext cx="3411538" cy="1312862"/>
        </p:xfrm>
        <a:graphic>
          <a:graphicData uri="http://schemas.openxmlformats.org/presentationml/2006/ole">
            <mc:AlternateContent xmlns:mc="http://schemas.openxmlformats.org/markup-compatibility/2006">
              <mc:Choice xmlns:v="urn:schemas-microsoft-com:vml" Requires="v">
                <p:oleObj spid="_x0000_s56370" name="CS ChemDraw Drawing" r:id="rId5" imgW="2270760" imgH="873760" progId="ChemDraw.Document.6.0">
                  <p:embed/>
                </p:oleObj>
              </mc:Choice>
              <mc:Fallback>
                <p:oleObj name="CS ChemDraw Drawing" r:id="rId5" imgW="2270760" imgH="873760" progId="ChemDraw.Document.6.0">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795338"/>
                        <a:ext cx="3411538" cy="13128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327" name="Object 7"/>
          <p:cNvGraphicFramePr>
            <a:graphicFrameLocks noChangeAspect="1"/>
          </p:cNvGraphicFramePr>
          <p:nvPr/>
        </p:nvGraphicFramePr>
        <p:xfrm>
          <a:off x="4267200" y="1981200"/>
          <a:ext cx="4714875" cy="2503488"/>
        </p:xfrm>
        <a:graphic>
          <a:graphicData uri="http://schemas.openxmlformats.org/presentationml/2006/ole">
            <mc:AlternateContent xmlns:mc="http://schemas.openxmlformats.org/markup-compatibility/2006">
              <mc:Choice xmlns:v="urn:schemas-microsoft-com:vml" Requires="v">
                <p:oleObj spid="_x0000_s56371" name="CS ChemDraw Drawing" r:id="rId7" imgW="3144520" imgH="1666240" progId="ChemDraw.Document.6.0">
                  <p:embed/>
                </p:oleObj>
              </mc:Choice>
              <mc:Fallback>
                <p:oleObj name="CS ChemDraw Drawing" r:id="rId7" imgW="3144520" imgH="1666240" progId="ChemDraw.Document.6.0">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67200" y="1981200"/>
                        <a:ext cx="4714875" cy="25034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6328" name="AutoShape 8"/>
          <p:cNvCxnSpPr>
            <a:cxnSpLocks noChangeShapeType="1"/>
          </p:cNvCxnSpPr>
          <p:nvPr/>
        </p:nvCxnSpPr>
        <p:spPr bwMode="auto">
          <a:xfrm>
            <a:off x="3868738" y="1452563"/>
            <a:ext cx="2755900" cy="528637"/>
          </a:xfrm>
          <a:prstGeom prst="curvedConnector2">
            <a:avLst/>
          </a:prstGeom>
          <a:noFill/>
          <a:ln w="3810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13" name="连接符: 曲线 12">
            <a:extLst>
              <a:ext uri="{FF2B5EF4-FFF2-40B4-BE49-F238E27FC236}">
                <a16:creationId xmlns:a16="http://schemas.microsoft.com/office/drawing/2014/main" id="{8FB0D8C0-0BC6-485E-BD77-928D448E28A7}"/>
              </a:ext>
            </a:extLst>
          </p:cNvPr>
          <p:cNvCxnSpPr>
            <a:cxnSpLocks/>
          </p:cNvCxnSpPr>
          <p:nvPr/>
        </p:nvCxnSpPr>
        <p:spPr>
          <a:xfrm rot="5400000">
            <a:off x="5837238" y="4694238"/>
            <a:ext cx="1176337" cy="757237"/>
          </a:xfrm>
          <a:prstGeom prst="curvedConnector3">
            <a:avLst>
              <a:gd name="adj1" fmla="val 107266"/>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5E276C4A-24E9-4E0C-8929-029F1B29862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73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61C425A-6136-45B3-9BBB-67C9A335D6EF}"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32</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57348" name="Rectangle 2050"/>
          <p:cNvSpPr>
            <a:spLocks noChangeArrowheads="1"/>
          </p:cNvSpPr>
          <p:nvPr/>
        </p:nvSpPr>
        <p:spPr bwMode="auto">
          <a:xfrm>
            <a:off x="477838" y="458788"/>
            <a:ext cx="8278812" cy="586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dirty="0">
                <a:latin typeface="Arial" panose="020B0604020202020204" pitchFamily="34" charset="0"/>
                <a:ea typeface="楷体" panose="02010609060101010101" pitchFamily="49" charset="-122"/>
                <a:cs typeface="Arial" panose="020B0604020202020204" pitchFamily="34" charset="0"/>
              </a:rPr>
              <a:t>引发反应的速率会影响共聚反应的速率</a:t>
            </a:r>
          </a:p>
          <a:p>
            <a:pPr>
              <a:lnSpc>
                <a:spcPct val="100000"/>
              </a:lnSpc>
              <a:spcBef>
                <a:spcPct val="0"/>
              </a:spcBef>
              <a:buFontTx/>
              <a:buNone/>
            </a:pPr>
            <a:endParaRPr lang="zh-CN" altLang="en-US" sz="2400" b="1" dirty="0">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zh-CN" altLang="en-US" sz="2400" b="1" dirty="0">
                <a:latin typeface="Arial" panose="020B0604020202020204" pitchFamily="34" charset="0"/>
                <a:ea typeface="楷体" panose="02010609060101010101" pitchFamily="49" charset="-122"/>
                <a:cs typeface="Arial" panose="020B0604020202020204" pitchFamily="34" charset="0"/>
              </a:rPr>
              <a:t>引发过程：</a:t>
            </a:r>
            <a:r>
              <a:rPr lang="en-US" altLang="zh-CN" sz="2400" dirty="0">
                <a:latin typeface="Arial" panose="020B0604020202020204" pitchFamily="34" charset="0"/>
                <a:ea typeface="楷体" panose="02010609060101010101" pitchFamily="49" charset="-122"/>
                <a:cs typeface="Arial" panose="020B0604020202020204" pitchFamily="34" charset="0"/>
              </a:rPr>
              <a:t>R</a:t>
            </a:r>
            <a:r>
              <a:rPr lang="en-US" altLang="zh-CN" sz="2400" baseline="30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4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400" dirty="0">
                <a:latin typeface="Arial" panose="020B0604020202020204" pitchFamily="34" charset="0"/>
                <a:ea typeface="楷体" panose="02010609060101010101" pitchFamily="49" charset="-122"/>
                <a:cs typeface="Arial" panose="020B0604020202020204" pitchFamily="34" charset="0"/>
              </a:rPr>
              <a:t> M</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400" baseline="30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 </a:t>
            </a:r>
            <a:r>
              <a:rPr lang="en-US" altLang="zh-CN" sz="2400" dirty="0">
                <a:latin typeface="Arial" panose="020B0604020202020204" pitchFamily="34" charset="0"/>
                <a:ea typeface="楷体" panose="02010609060101010101" pitchFamily="49" charset="-122"/>
                <a:cs typeface="Arial" panose="020B0604020202020204" pitchFamily="34" charset="0"/>
              </a:rPr>
              <a:t>(M</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2 </a:t>
            </a:r>
            <a:r>
              <a:rPr lang="en-US" altLang="zh-CN" sz="2400" baseline="30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400" dirty="0">
                <a:latin typeface="Arial" panose="020B0604020202020204" pitchFamily="34" charset="0"/>
                <a:ea typeface="楷体" panose="02010609060101010101" pitchFamily="49" charset="-122"/>
                <a:cs typeface="Arial" panose="020B0604020202020204" pitchFamily="34" charset="0"/>
              </a:rPr>
              <a:t>)  </a:t>
            </a:r>
          </a:p>
          <a:p>
            <a:pPr>
              <a:lnSpc>
                <a:spcPct val="100000"/>
              </a:lnSpc>
              <a:spcBef>
                <a:spcPts val="600"/>
              </a:spcBef>
              <a:buFontTx/>
              <a:buNone/>
            </a:pPr>
            <a:r>
              <a:rPr lang="zh-CN" altLang="en-US" sz="2400" b="1" dirty="0">
                <a:solidFill>
                  <a:srgbClr val="FF0000"/>
                </a:solidFill>
                <a:latin typeface="楷体" panose="02010609060101010101" pitchFamily="49" charset="-122"/>
                <a:ea typeface="楷体" panose="02010609060101010101" pitchFamily="49" charset="-122"/>
                <a:cs typeface="Arial" panose="020B0604020202020204" pitchFamily="34" charset="0"/>
              </a:rPr>
              <a:t>两种单体的引发难易差别对共聚物组成有一定影响，但很小</a:t>
            </a:r>
            <a:endParaRPr lang="en-US" altLang="zh-CN" sz="2400" b="1" dirty="0">
              <a:solidFill>
                <a:srgbClr val="FF0000"/>
              </a:solidFill>
              <a:latin typeface="楷体" panose="02010609060101010101" pitchFamily="49" charset="-122"/>
              <a:ea typeface="楷体" panose="02010609060101010101" pitchFamily="49" charset="-122"/>
              <a:cs typeface="Arial" panose="020B0604020202020204" pitchFamily="34" charset="0"/>
            </a:endParaRPr>
          </a:p>
          <a:p>
            <a:pPr>
              <a:lnSpc>
                <a:spcPct val="100000"/>
              </a:lnSpc>
              <a:spcBef>
                <a:spcPts val="600"/>
              </a:spcBef>
              <a:buFontTx/>
              <a:buNone/>
            </a:pPr>
            <a:endParaRPr lang="en-US" altLang="zh-CN" sz="2400" b="1" dirty="0">
              <a:latin typeface="Arial" panose="020B0604020202020204" pitchFamily="34" charset="0"/>
              <a:ea typeface="楷体" panose="02010609060101010101" pitchFamily="49" charset="-122"/>
              <a:cs typeface="Arial" panose="020B0604020202020204" pitchFamily="34" charset="0"/>
            </a:endParaRPr>
          </a:p>
          <a:p>
            <a:pPr>
              <a:lnSpc>
                <a:spcPct val="100000"/>
              </a:lnSpc>
              <a:spcBef>
                <a:spcPts val="600"/>
              </a:spcBef>
              <a:buFont typeface="Arial" panose="020B0604020202020204" pitchFamily="34" charset="0"/>
              <a:buNone/>
            </a:pPr>
            <a:r>
              <a:rPr lang="zh-CN" altLang="en-US" sz="2400" b="1" dirty="0">
                <a:latin typeface="Arial" panose="020B0604020202020204" pitchFamily="34" charset="0"/>
                <a:ea typeface="楷体" panose="02010609060101010101" pitchFamily="49" charset="-122"/>
                <a:cs typeface="Arial" panose="020B0604020202020204" pitchFamily="34" charset="0"/>
              </a:rPr>
              <a:t>引发阶段单体进入共聚物的数目 </a:t>
            </a:r>
            <a:r>
              <a:rPr lang="zh-CN" altLang="en-US" b="1" dirty="0">
                <a:solidFill>
                  <a:srgbClr val="FF0000"/>
                </a:solidFill>
                <a:latin typeface="Arial" panose="020B0604020202020204" pitchFamily="34" charset="0"/>
                <a:ea typeface="楷体" panose="02010609060101010101" pitchFamily="49" charset="-122"/>
                <a:cs typeface="Arial" panose="020B0604020202020204" pitchFamily="34" charset="0"/>
              </a:rPr>
              <a:t>&lt;&lt; </a:t>
            </a:r>
            <a:endParaRPr lang="en-US" altLang="zh-CN" b="1" dirty="0">
              <a:solidFill>
                <a:srgbClr val="FF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ts val="600"/>
              </a:spcBef>
              <a:buFont typeface="Arial" panose="020B0604020202020204" pitchFamily="34" charset="0"/>
              <a:buNone/>
            </a:pPr>
            <a:r>
              <a:rPr lang="en-US" altLang="zh-CN" sz="2400" b="1" dirty="0">
                <a:latin typeface="Arial" panose="020B0604020202020204" pitchFamily="34" charset="0"/>
                <a:ea typeface="楷体" panose="02010609060101010101" pitchFamily="49" charset="-122"/>
                <a:cs typeface="Arial" panose="020B0604020202020204" pitchFamily="34" charset="0"/>
              </a:rPr>
              <a:t>                                           </a:t>
            </a:r>
            <a:r>
              <a:rPr lang="zh-CN" altLang="en-US" sz="2400" b="1" dirty="0">
                <a:latin typeface="Arial" panose="020B0604020202020204" pitchFamily="34" charset="0"/>
                <a:ea typeface="楷体" panose="02010609060101010101" pitchFamily="49" charset="-122"/>
                <a:cs typeface="Arial" panose="020B0604020202020204" pitchFamily="34" charset="0"/>
              </a:rPr>
              <a:t>链增长阶段单体进入共聚物数目</a:t>
            </a:r>
            <a:endParaRPr lang="en-US" altLang="zh-CN" sz="2400" b="1" dirty="0">
              <a:latin typeface="Arial" panose="020B0604020202020204" pitchFamily="34" charset="0"/>
              <a:ea typeface="楷体" panose="02010609060101010101" pitchFamily="49" charset="-122"/>
              <a:cs typeface="Arial" panose="020B0604020202020204" pitchFamily="34" charset="0"/>
            </a:endParaRPr>
          </a:p>
          <a:p>
            <a:pPr>
              <a:lnSpc>
                <a:spcPct val="100000"/>
              </a:lnSpc>
              <a:spcBef>
                <a:spcPts val="600"/>
              </a:spcBef>
              <a:buFont typeface="Arial" panose="020B0604020202020204" pitchFamily="34" charset="0"/>
              <a:buNone/>
            </a:pPr>
            <a:endParaRPr lang="en-US" altLang="zh-CN" sz="2400" b="1" dirty="0">
              <a:latin typeface="Arial" panose="020B0604020202020204" pitchFamily="34" charset="0"/>
              <a:ea typeface="楷体" panose="02010609060101010101" pitchFamily="49" charset="-122"/>
              <a:cs typeface="Arial" panose="020B0604020202020204" pitchFamily="34" charset="0"/>
            </a:endParaRPr>
          </a:p>
          <a:p>
            <a:pPr>
              <a:lnSpc>
                <a:spcPct val="100000"/>
              </a:lnSpc>
              <a:spcBef>
                <a:spcPts val="600"/>
              </a:spcBef>
              <a:buFont typeface="Arial" panose="020B0604020202020204" pitchFamily="34" charset="0"/>
              <a:buNone/>
            </a:pPr>
            <a:r>
              <a:rPr lang="zh-CN" altLang="en-US" sz="2400" b="1" dirty="0">
                <a:latin typeface="Arial" panose="020B0604020202020204" pitchFamily="34" charset="0"/>
                <a:ea typeface="楷体" panose="02010609060101010101" pitchFamily="49" charset="-122"/>
                <a:cs typeface="Arial" panose="020B0604020202020204" pitchFamily="34" charset="0"/>
              </a:rPr>
              <a:t>链引发阶段只会影响共聚反应的速率，不影响共聚物的组成</a:t>
            </a:r>
          </a:p>
          <a:p>
            <a:pPr>
              <a:lnSpc>
                <a:spcPct val="100000"/>
              </a:lnSpc>
              <a:spcBef>
                <a:spcPts val="600"/>
              </a:spcBef>
              <a:buFont typeface="Arial" panose="020B0604020202020204" pitchFamily="34" charset="0"/>
              <a:buNone/>
            </a:pPr>
            <a:endParaRPr lang="zh-CN" altLang="en-US" sz="2400" b="1" dirty="0">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 typeface="Arial" panose="020B0604020202020204" pitchFamily="34" charset="0"/>
              <a:buNone/>
            </a:pPr>
            <a:r>
              <a:rPr lang="zh-CN" altLang="en-US" sz="2400" b="1" dirty="0">
                <a:latin typeface="Arial" panose="020B0604020202020204" pitchFamily="34" charset="0"/>
                <a:ea typeface="楷体" panose="02010609060101010101" pitchFamily="49" charset="-122"/>
                <a:cs typeface="Arial" panose="020B0604020202020204" pitchFamily="34" charset="0"/>
              </a:rPr>
              <a:t>链终止反应仅仅是终止链自由基的活性，与两种单体进入大分子链中的数目无关，因此</a:t>
            </a:r>
            <a:r>
              <a:rPr lang="en-US" altLang="zh-CN" sz="2400" b="1" dirty="0">
                <a:latin typeface="Arial" panose="020B0604020202020204" pitchFamily="34" charset="0"/>
                <a:ea typeface="楷体" panose="02010609060101010101" pitchFamily="49" charset="-122"/>
                <a:cs typeface="Arial" panose="020B0604020202020204" pitchFamily="34" charset="0"/>
              </a:rPr>
              <a:t>: </a:t>
            </a:r>
          </a:p>
          <a:p>
            <a:pPr>
              <a:lnSpc>
                <a:spcPct val="100000"/>
              </a:lnSpc>
              <a:spcBef>
                <a:spcPct val="0"/>
              </a:spcBef>
              <a:buFontTx/>
              <a:buNone/>
            </a:pPr>
            <a:endParaRPr lang="zh-CN" altLang="en-US" sz="2400" b="1" dirty="0">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zh-CN" altLang="en-US" sz="2400" b="1" dirty="0">
                <a:solidFill>
                  <a:srgbClr val="FF0000"/>
                </a:solidFill>
                <a:latin typeface="Arial" panose="020B0604020202020204" pitchFamily="34" charset="0"/>
                <a:ea typeface="楷体" panose="02010609060101010101" pitchFamily="49" charset="-122"/>
                <a:cs typeface="Arial" panose="020B0604020202020204" pitchFamily="34" charset="0"/>
              </a:rPr>
              <a:t>链终止反应也不影响共聚物的组成</a:t>
            </a:r>
          </a:p>
        </p:txBody>
      </p:sp>
      <p:sp>
        <p:nvSpPr>
          <p:cNvPr id="2" name="文本框 1"/>
          <p:cNvSpPr txBox="1"/>
          <p:nvPr/>
        </p:nvSpPr>
        <p:spPr>
          <a:xfrm>
            <a:off x="4788024" y="6323013"/>
            <a:ext cx="4108817" cy="369332"/>
          </a:xfrm>
          <a:prstGeom prst="rect">
            <a:avLst/>
          </a:prstGeom>
          <a:noFill/>
        </p:spPr>
        <p:txBody>
          <a:bodyPr wrap="none" rtlCol="0">
            <a:spAutoFit/>
          </a:bodyPr>
          <a:lstStyle/>
          <a:p>
            <a:r>
              <a:rPr lang="zh-CN" altLang="en-US" b="1" dirty="0">
                <a:solidFill>
                  <a:srgbClr val="FF0000"/>
                </a:solidFill>
              </a:rPr>
              <a:t>链增长过程是共聚物组成的决定环节。</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34CBDA70-1FAB-4AD4-A53B-D5139687ABB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583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07F56C7-8FCF-4830-A9A3-1F3E869A5A73}"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33</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58372" name="Text Box 1026"/>
          <p:cNvSpPr txBox="1">
            <a:spLocks noChangeArrowheads="1"/>
          </p:cNvSpPr>
          <p:nvPr/>
        </p:nvSpPr>
        <p:spPr bwMode="auto">
          <a:xfrm>
            <a:off x="457200" y="331788"/>
            <a:ext cx="7772400" cy="447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50000"/>
              </a:lnSpc>
              <a:spcBef>
                <a:spcPct val="0"/>
              </a:spcBef>
              <a:buFontTx/>
              <a:buNone/>
            </a:pPr>
            <a:r>
              <a:rPr lang="en-US" altLang="zh-CN" sz="1800" b="1">
                <a:latin typeface="Arial" panose="020B0604020202020204" pitchFamily="34" charset="0"/>
                <a:ea typeface="楷体" panose="02010609060101010101" pitchFamily="49" charset="-122"/>
                <a:cs typeface="Arial" panose="020B0604020202020204" pitchFamily="34" charset="0"/>
              </a:rPr>
              <a:t>M</a:t>
            </a:r>
            <a:r>
              <a:rPr lang="en-US" altLang="zh-CN" sz="1800" b="1" baseline="-25000">
                <a:latin typeface="Arial" panose="020B0604020202020204" pitchFamily="34" charset="0"/>
                <a:ea typeface="楷体" panose="02010609060101010101" pitchFamily="49" charset="-122"/>
                <a:cs typeface="Arial" panose="020B0604020202020204" pitchFamily="34" charset="0"/>
              </a:rPr>
              <a:t>1</a:t>
            </a:r>
            <a:r>
              <a:rPr lang="zh-CN" altLang="en-US" sz="1800" b="1">
                <a:latin typeface="Arial" panose="020B0604020202020204" pitchFamily="34" charset="0"/>
                <a:ea typeface="楷体" panose="02010609060101010101" pitchFamily="49" charset="-122"/>
                <a:cs typeface="Arial" panose="020B0604020202020204" pitchFamily="34" charset="0"/>
              </a:rPr>
              <a:t>和</a:t>
            </a:r>
            <a:r>
              <a:rPr lang="en-US" altLang="zh-CN" sz="1800" b="1">
                <a:latin typeface="Arial" panose="020B0604020202020204" pitchFamily="34" charset="0"/>
                <a:ea typeface="楷体" panose="02010609060101010101" pitchFamily="49" charset="-122"/>
                <a:cs typeface="Arial" panose="020B0604020202020204" pitchFamily="34" charset="0"/>
              </a:rPr>
              <a:t>M</a:t>
            </a:r>
            <a:r>
              <a:rPr lang="en-US" altLang="zh-CN" sz="1800" b="1" baseline="-25000">
                <a:latin typeface="Arial" panose="020B0604020202020204" pitchFamily="34" charset="0"/>
                <a:ea typeface="楷体" panose="02010609060101010101" pitchFamily="49" charset="-122"/>
                <a:cs typeface="Arial" panose="020B0604020202020204" pitchFamily="34" charset="0"/>
              </a:rPr>
              <a:t>2</a:t>
            </a:r>
            <a:r>
              <a:rPr lang="zh-CN" altLang="en-US" sz="1800" b="1">
                <a:latin typeface="Arial" panose="020B0604020202020204" pitchFamily="34" charset="0"/>
                <a:ea typeface="楷体" panose="02010609060101010101" pitchFamily="49" charset="-122"/>
                <a:cs typeface="Arial" panose="020B0604020202020204" pitchFamily="34" charset="0"/>
              </a:rPr>
              <a:t>的消耗速率分别为</a:t>
            </a:r>
            <a:r>
              <a:rPr lang="zh-CN" altLang="en-US" sz="2100" b="1">
                <a:latin typeface="Arial" panose="020B0604020202020204" pitchFamily="34" charset="0"/>
                <a:ea typeface="楷体" panose="02010609060101010101" pitchFamily="49" charset="-122"/>
                <a:cs typeface="Arial" panose="020B0604020202020204" pitchFamily="34" charset="0"/>
              </a:rPr>
              <a:t>：</a:t>
            </a:r>
          </a:p>
          <a:p>
            <a:pPr>
              <a:lnSpc>
                <a:spcPct val="150000"/>
              </a:lnSpc>
              <a:spcBef>
                <a:spcPct val="0"/>
              </a:spcBef>
              <a:buFontTx/>
              <a:buNone/>
            </a:pPr>
            <a:endParaRPr lang="zh-CN" altLang="en-US" sz="2100">
              <a:latin typeface="Arial" panose="020B0604020202020204" pitchFamily="34" charset="0"/>
              <a:ea typeface="楷体" panose="02010609060101010101" pitchFamily="49" charset="-122"/>
              <a:cs typeface="Arial" panose="020B0604020202020204" pitchFamily="34" charset="0"/>
            </a:endParaRPr>
          </a:p>
          <a:p>
            <a:pPr>
              <a:lnSpc>
                <a:spcPct val="150000"/>
              </a:lnSpc>
              <a:spcBef>
                <a:spcPct val="0"/>
              </a:spcBef>
              <a:buFontTx/>
              <a:buNone/>
            </a:pPr>
            <a:endParaRPr lang="zh-CN" altLang="en-US" sz="2100">
              <a:latin typeface="Arial" panose="020B0604020202020204" pitchFamily="34" charset="0"/>
              <a:ea typeface="楷体" panose="02010609060101010101" pitchFamily="49" charset="-122"/>
              <a:cs typeface="Arial" panose="020B0604020202020204" pitchFamily="34" charset="0"/>
            </a:endParaRPr>
          </a:p>
          <a:p>
            <a:pPr>
              <a:lnSpc>
                <a:spcPct val="150000"/>
              </a:lnSpc>
              <a:spcBef>
                <a:spcPct val="0"/>
              </a:spcBef>
              <a:buFontTx/>
              <a:buNone/>
            </a:pPr>
            <a:endParaRPr lang="zh-CN" altLang="en-US" sz="2100">
              <a:latin typeface="Arial" panose="020B0604020202020204" pitchFamily="34" charset="0"/>
              <a:ea typeface="楷体" panose="02010609060101010101" pitchFamily="49" charset="-122"/>
              <a:cs typeface="Arial" panose="020B0604020202020204" pitchFamily="34" charset="0"/>
            </a:endParaRPr>
          </a:p>
          <a:p>
            <a:pPr>
              <a:lnSpc>
                <a:spcPct val="150000"/>
              </a:lnSpc>
              <a:spcBef>
                <a:spcPct val="0"/>
              </a:spcBef>
              <a:buFontTx/>
              <a:buNone/>
            </a:pPr>
            <a:endParaRPr lang="zh-CN" altLang="en-US" sz="2300">
              <a:latin typeface="Arial" panose="020B0604020202020204" pitchFamily="34" charset="0"/>
              <a:ea typeface="楷体" panose="02010609060101010101" pitchFamily="49" charset="-122"/>
              <a:cs typeface="Arial" panose="020B0604020202020204" pitchFamily="34" charset="0"/>
            </a:endParaRPr>
          </a:p>
          <a:p>
            <a:pPr>
              <a:lnSpc>
                <a:spcPct val="150000"/>
              </a:lnSpc>
              <a:spcBef>
                <a:spcPct val="0"/>
              </a:spcBef>
              <a:buFontTx/>
              <a:buNone/>
            </a:pPr>
            <a:r>
              <a:rPr lang="zh-CN" altLang="en-US" sz="2300" b="1">
                <a:latin typeface="Arial" panose="020B0604020202020204" pitchFamily="34" charset="0"/>
                <a:ea typeface="楷体" panose="02010609060101010101" pitchFamily="49" charset="-122"/>
                <a:cs typeface="Arial" panose="020B0604020202020204" pitchFamily="34" charset="0"/>
              </a:rPr>
              <a:t>在共聚反应的</a:t>
            </a:r>
            <a:r>
              <a:rPr lang="zh-CN" altLang="en-US" sz="2300" b="1">
                <a:solidFill>
                  <a:srgbClr val="FF0000"/>
                </a:solidFill>
                <a:latin typeface="Arial" panose="020B0604020202020204" pitchFamily="34" charset="0"/>
                <a:ea typeface="楷体" panose="02010609060101010101" pitchFamily="49" charset="-122"/>
                <a:cs typeface="Arial" panose="020B0604020202020204" pitchFamily="34" charset="0"/>
              </a:rPr>
              <a:t>某一瞬间生成的共聚物：</a:t>
            </a:r>
          </a:p>
          <a:p>
            <a:pPr>
              <a:lnSpc>
                <a:spcPct val="150000"/>
              </a:lnSpc>
              <a:spcBef>
                <a:spcPct val="0"/>
              </a:spcBef>
              <a:buFontTx/>
              <a:buNone/>
            </a:pPr>
            <a:r>
              <a:rPr lang="zh-CN" altLang="en-US" sz="2300" b="1">
                <a:latin typeface="Arial" panose="020B0604020202020204" pitchFamily="34" charset="0"/>
                <a:ea typeface="楷体" panose="02010609060101010101" pitchFamily="49" charset="-122"/>
                <a:cs typeface="Arial" panose="020B0604020202020204" pitchFamily="34" charset="0"/>
              </a:rPr>
              <a:t>            </a:t>
            </a:r>
            <a:r>
              <a:rPr lang="zh-CN" altLang="en-US" sz="2300" b="1">
                <a:solidFill>
                  <a:srgbClr val="FF0000"/>
                </a:solidFill>
                <a:latin typeface="Arial" panose="020B0604020202020204" pitchFamily="34" charset="0"/>
                <a:ea typeface="楷体" panose="02010609060101010101" pitchFamily="49" charset="-122"/>
                <a:cs typeface="Arial" panose="020B0604020202020204" pitchFamily="34" charset="0"/>
              </a:rPr>
              <a:t>共聚物的瞬时组成  </a:t>
            </a:r>
            <a:r>
              <a:rPr lang="en-US" altLang="zh-CN" sz="2300" b="1">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300" b="1">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300" b="1">
                <a:solidFill>
                  <a:srgbClr val="FF0000"/>
                </a:solidFill>
                <a:latin typeface="Arial" panose="020B0604020202020204" pitchFamily="34" charset="0"/>
                <a:ea typeface="楷体" panose="02010609060101010101" pitchFamily="49" charset="-122"/>
                <a:cs typeface="Arial" panose="020B0604020202020204" pitchFamily="34" charset="0"/>
              </a:rPr>
              <a:t> 两种单体消耗速率之比</a:t>
            </a:r>
          </a:p>
          <a:p>
            <a:pPr>
              <a:lnSpc>
                <a:spcPct val="120000"/>
              </a:lnSpc>
              <a:spcBef>
                <a:spcPct val="30000"/>
              </a:spcBef>
              <a:buFontTx/>
              <a:buNone/>
            </a:pPr>
            <a:r>
              <a:rPr lang="zh-CN" altLang="en-US" sz="2300" b="1">
                <a:latin typeface="Arial" panose="020B0604020202020204" pitchFamily="34" charset="0"/>
                <a:ea typeface="楷体" panose="02010609060101010101" pitchFamily="49" charset="-122"/>
                <a:cs typeface="Arial" panose="020B0604020202020204" pitchFamily="34" charset="0"/>
              </a:rPr>
              <a:t>共聚物的瞬时组成为</a:t>
            </a:r>
            <a:r>
              <a:rPr lang="zh-CN" altLang="en-US" sz="1700" b="1">
                <a:latin typeface="Arial" panose="020B0604020202020204" pitchFamily="34" charset="0"/>
                <a:ea typeface="楷体" panose="02010609060101010101" pitchFamily="49" charset="-122"/>
                <a:cs typeface="Arial" panose="020B0604020202020204" pitchFamily="34" charset="0"/>
              </a:rPr>
              <a:t>:</a:t>
            </a:r>
          </a:p>
          <a:p>
            <a:pPr>
              <a:lnSpc>
                <a:spcPct val="120000"/>
              </a:lnSpc>
              <a:spcBef>
                <a:spcPct val="0"/>
              </a:spcBef>
              <a:buFontTx/>
              <a:buNone/>
            </a:pPr>
            <a:endParaRPr lang="zh-CN" altLang="en-US" sz="1900" b="1">
              <a:latin typeface="Century Schoolbook" panose="02040604050505020304" pitchFamily="18" charset="0"/>
              <a:ea typeface="宋体" panose="02010600030101010101" pitchFamily="2" charset="-122"/>
              <a:cs typeface="Arial" panose="020B0604020202020204" pitchFamily="34" charset="0"/>
            </a:endParaRPr>
          </a:p>
        </p:txBody>
      </p:sp>
      <p:graphicFrame>
        <p:nvGraphicFramePr>
          <p:cNvPr id="58373" name="Object 1024"/>
          <p:cNvGraphicFramePr>
            <a:graphicFrameLocks noChangeAspect="1"/>
          </p:cNvGraphicFramePr>
          <p:nvPr/>
        </p:nvGraphicFramePr>
        <p:xfrm>
          <a:off x="676275" y="4675188"/>
          <a:ext cx="7858125" cy="1428750"/>
        </p:xfrm>
        <a:graphic>
          <a:graphicData uri="http://schemas.openxmlformats.org/presentationml/2006/ole">
            <mc:AlternateContent xmlns:mc="http://schemas.openxmlformats.org/markup-compatibility/2006">
              <mc:Choice xmlns:v="urn:schemas-microsoft-com:vml" Requires="v">
                <p:oleObj spid="_x0000_s58417" name="公式" r:id="rId4" imgW="4330700" imgH="787400" progId="Equation.3">
                  <p:embed/>
                </p:oleObj>
              </mc:Choice>
              <mc:Fallback>
                <p:oleObj name="公式" r:id="rId4" imgW="4330700" imgH="787400" progId="Equation.3">
                  <p:embed/>
                  <p:pic>
                    <p:nvPicPr>
                      <p:cNvPr id="0" name="Object 10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275" y="4675188"/>
                        <a:ext cx="7858125"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8374" name="Object 1025"/>
          <p:cNvGraphicFramePr>
            <a:graphicFrameLocks noChangeAspect="1"/>
          </p:cNvGraphicFramePr>
          <p:nvPr/>
        </p:nvGraphicFramePr>
        <p:xfrm>
          <a:off x="1055688" y="992188"/>
          <a:ext cx="5051425" cy="1649412"/>
        </p:xfrm>
        <a:graphic>
          <a:graphicData uri="http://schemas.openxmlformats.org/presentationml/2006/ole">
            <mc:AlternateContent xmlns:mc="http://schemas.openxmlformats.org/markup-compatibility/2006">
              <mc:Choice xmlns:v="urn:schemas-microsoft-com:vml" Requires="v">
                <p:oleObj spid="_x0000_s58418" name="公式" r:id="rId6" imgW="2565400" imgH="838200" progId="Equation.3">
                  <p:embed/>
                </p:oleObj>
              </mc:Choice>
              <mc:Fallback>
                <p:oleObj name="公式" r:id="rId6" imgW="2565400" imgH="838200" progId="Equation.3">
                  <p:embed/>
                  <p:pic>
                    <p:nvPicPr>
                      <p:cNvPr id="0" name="Object 1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5688" y="992188"/>
                        <a:ext cx="5051425" cy="1649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330207725"/>
              </p:ext>
            </p:extLst>
          </p:nvPr>
        </p:nvGraphicFramePr>
        <p:xfrm>
          <a:off x="6168671" y="58914"/>
          <a:ext cx="2956601" cy="1569886"/>
        </p:xfrm>
        <a:graphic>
          <a:graphicData uri="http://schemas.openxmlformats.org/presentationml/2006/ole">
            <mc:AlternateContent xmlns:mc="http://schemas.openxmlformats.org/markup-compatibility/2006">
              <mc:Choice xmlns:v="urn:schemas-microsoft-com:vml" Requires="v">
                <p:oleObj spid="_x0000_s58419" name="CS ChemDraw Drawing" r:id="rId8" imgW="3144520" imgH="1666240" progId="ChemDraw.Document.6.0">
                  <p:embed/>
                </p:oleObj>
              </mc:Choice>
              <mc:Fallback>
                <p:oleObj name="CS ChemDraw Drawing" r:id="rId8" imgW="3144520" imgH="1666240" progId="ChemDraw.Document.6.0">
                  <p:embed/>
                  <p:pic>
                    <p:nvPicPr>
                      <p:cNvPr id="56327"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68671" y="58914"/>
                        <a:ext cx="2956601" cy="1569886"/>
                      </a:xfrm>
                      <a:prstGeom prst="rect">
                        <a:avLst/>
                      </a:prstGeom>
                      <a:solidFill>
                        <a:srgbClr val="FFFFFF"/>
                      </a:solidFill>
                      <a:ln w="12700">
                        <a:solidFill>
                          <a:schemeClr val="tx1"/>
                        </a:solidFill>
                      </a:ln>
                      <a:effectLst/>
                    </p:spPr>
                  </p:pic>
                </p:oleObj>
              </mc:Fallback>
            </mc:AlternateContent>
          </a:graphicData>
        </a:graphic>
      </p:graphicFrame>
      <p:cxnSp>
        <p:nvCxnSpPr>
          <p:cNvPr id="3" name="直接连接符 2"/>
          <p:cNvCxnSpPr/>
          <p:nvPr/>
        </p:nvCxnSpPr>
        <p:spPr>
          <a:xfrm>
            <a:off x="6444208" y="476672"/>
            <a:ext cx="238388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0" name="直接连接符 9"/>
          <p:cNvCxnSpPr/>
          <p:nvPr/>
        </p:nvCxnSpPr>
        <p:spPr>
          <a:xfrm>
            <a:off x="6444208" y="1124744"/>
            <a:ext cx="238388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1" name="直接连接符 10"/>
          <p:cNvCxnSpPr/>
          <p:nvPr/>
        </p:nvCxnSpPr>
        <p:spPr>
          <a:xfrm>
            <a:off x="6444208" y="764704"/>
            <a:ext cx="238388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p:cNvCxnSpPr/>
          <p:nvPr/>
        </p:nvCxnSpPr>
        <p:spPr>
          <a:xfrm>
            <a:off x="6444208" y="1412776"/>
            <a:ext cx="2383880"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p:cNvCxnSpPr/>
          <p:nvPr/>
        </p:nvCxnSpPr>
        <p:spPr>
          <a:xfrm>
            <a:off x="3059832" y="1700808"/>
            <a:ext cx="2383880" cy="0"/>
          </a:xfrm>
          <a:prstGeom prst="line">
            <a:avLst/>
          </a:prstGeom>
        </p:spPr>
        <p:style>
          <a:lnRef idx="3">
            <a:schemeClr val="accent1"/>
          </a:lnRef>
          <a:fillRef idx="0">
            <a:schemeClr val="accent1"/>
          </a:fillRef>
          <a:effectRef idx="2">
            <a:schemeClr val="accent1"/>
          </a:effectRef>
          <a:fontRef idx="minor">
            <a:schemeClr val="tx1"/>
          </a:fontRef>
        </p:style>
      </p:cxnSp>
      <p:cxnSp>
        <p:nvCxnSpPr>
          <p:cNvPr id="14" name="直接连接符 13"/>
          <p:cNvCxnSpPr/>
          <p:nvPr/>
        </p:nvCxnSpPr>
        <p:spPr>
          <a:xfrm>
            <a:off x="2987824" y="2492896"/>
            <a:ext cx="2383880" cy="0"/>
          </a:xfrm>
          <a:prstGeom prst="line">
            <a:avLst/>
          </a:prstGeom>
        </p:spPr>
        <p:style>
          <a:lnRef idx="3">
            <a:schemeClr val="accent2"/>
          </a:lnRef>
          <a:fillRef idx="0">
            <a:schemeClr val="accent2"/>
          </a:fillRef>
          <a:effectRef idx="2">
            <a:schemeClr val="accent2"/>
          </a:effectRef>
          <a:fontRef idx="minor">
            <a:schemeClr val="tx1"/>
          </a:fontRef>
        </p:style>
      </p:cxn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64FA8E4A-DA4C-4DA1-862F-76163A32856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0419" name="Rectangle 2"/>
          <p:cNvSpPr>
            <a:spLocks noGrp="1"/>
          </p:cNvSpPr>
          <p:nvPr>
            <p:ph type="title"/>
          </p:nvPr>
        </p:nvSpPr>
        <p:spPr>
          <a:xfrm>
            <a:off x="412750" y="330200"/>
            <a:ext cx="8335963" cy="1000125"/>
          </a:xfrm>
        </p:spPr>
        <p:txBody>
          <a:bodyPr/>
          <a:lstStyle/>
          <a:p>
            <a:pPr marL="981075" indent="-981075" eaLnBrk="1" hangingPunct="1"/>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假定4</a:t>
            </a:r>
            <a:r>
              <a:rPr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反应处于稳态，体系中</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和</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浓度分别保持不变, 自由基总浓度也保持不变。</a:t>
            </a:r>
          </a:p>
        </p:txBody>
      </p:sp>
      <p:sp>
        <p:nvSpPr>
          <p:cNvPr id="60420" name="Rectangle 6"/>
          <p:cNvSpPr>
            <a:spLocks noGrp="1"/>
          </p:cNvSpPr>
          <p:nvPr>
            <p:ph sz="quarter" idx="1"/>
          </p:nvPr>
        </p:nvSpPr>
        <p:spPr>
          <a:xfrm>
            <a:off x="611188" y="2492375"/>
            <a:ext cx="7772400" cy="3352800"/>
          </a:xfrm>
        </p:spPr>
        <p:txBody>
          <a:bodyPr/>
          <a:lstStyle/>
          <a:p>
            <a:pPr algn="just" eaLnBrk="1" hangingPunct="1">
              <a:buFontTx/>
              <a:buNone/>
            </a:pPr>
            <a:r>
              <a:rPr lang="zh-CN" altLang="en-US" sz="2100"/>
              <a:t>       </a:t>
            </a:r>
            <a:r>
              <a:rPr lang="zh-CN" altLang="en-US" sz="2100" b="1">
                <a:solidFill>
                  <a:srgbClr val="FF0000"/>
                </a:solidFill>
                <a:latin typeface="Arial" panose="020B0604020202020204" pitchFamily="34" charset="0"/>
                <a:ea typeface="楷体" panose="02010609060101010101" pitchFamily="49" charset="-122"/>
                <a:cs typeface="Arial" panose="020B0604020202020204" pitchFamily="34" charset="0"/>
              </a:rPr>
              <a:t>则   </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1"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b="1"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1"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100" b="1"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100" b="1">
                <a:solidFill>
                  <a:srgbClr val="FF0000"/>
                </a:solidFill>
                <a:latin typeface="Arial" panose="020B0604020202020204" pitchFamily="34" charset="0"/>
                <a:ea typeface="楷体" panose="02010609060101010101" pitchFamily="49" charset="-122"/>
                <a:cs typeface="Arial" panose="020B0604020202020204" pitchFamily="34" charset="0"/>
              </a:rPr>
              <a:t>的速率   </a:t>
            </a:r>
            <a:r>
              <a:rPr lang="zh-CN" altLang="en-US" b="1">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1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1"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100" b="1"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 M</a:t>
            </a:r>
            <a:r>
              <a:rPr lang="en-US" altLang="zh-CN" sz="2100" b="1"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b="1" baseline="30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1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100" b="1">
                <a:solidFill>
                  <a:srgbClr val="FF0000"/>
                </a:solidFill>
                <a:latin typeface="Arial" panose="020B0604020202020204" pitchFamily="34" charset="0"/>
                <a:ea typeface="楷体" panose="02010609060101010101" pitchFamily="49" charset="-122"/>
                <a:cs typeface="Arial" panose="020B0604020202020204" pitchFamily="34" charset="0"/>
              </a:rPr>
              <a:t>的速率</a:t>
            </a:r>
          </a:p>
          <a:p>
            <a:pPr eaLnBrk="1" hangingPunct="1"/>
            <a:endParaRPr lang="zh-CN" altLang="en-US" sz="2100"/>
          </a:p>
        </p:txBody>
      </p:sp>
      <p:sp>
        <p:nvSpPr>
          <p:cNvPr id="60421"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B253D9B0-B5B1-436F-A277-40DBD29AD758}"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34</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60422" name="Object 7"/>
          <p:cNvGraphicFramePr>
            <a:graphicFrameLocks noChangeAspect="1"/>
          </p:cNvGraphicFramePr>
          <p:nvPr/>
        </p:nvGraphicFramePr>
        <p:xfrm>
          <a:off x="2555875" y="1562100"/>
          <a:ext cx="3282950" cy="688975"/>
        </p:xfrm>
        <a:graphic>
          <a:graphicData uri="http://schemas.openxmlformats.org/presentationml/2006/ole">
            <mc:AlternateContent xmlns:mc="http://schemas.openxmlformats.org/markup-compatibility/2006">
              <mc:Choice xmlns:v="urn:schemas-microsoft-com:vml" Requires="v">
                <p:oleObj spid="_x0000_s60470" name="公式" r:id="rId4" imgW="1866090" imgH="393529" progId="Equation.3">
                  <p:embed/>
                </p:oleObj>
              </mc:Choice>
              <mc:Fallback>
                <p:oleObj name="公式" r:id="rId4" imgW="1866090" imgH="393529"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1562100"/>
                        <a:ext cx="3282950" cy="688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0423" name="Rectangle 9"/>
          <p:cNvSpPr>
            <a:spLocks noChangeArrowheads="1"/>
          </p:cNvSpPr>
          <p:nvPr/>
        </p:nvSpPr>
        <p:spPr bwMode="auto">
          <a:xfrm>
            <a:off x="990600" y="3502025"/>
            <a:ext cx="2413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1800">
                <a:latin typeface="Century Schoolbook" panose="02040604050505020304" pitchFamily="18" charset="0"/>
                <a:ea typeface="宋体" panose="02010600030101010101" pitchFamily="2" charset="-122"/>
              </a:rPr>
              <a:t> </a:t>
            </a:r>
            <a:endParaRPr lang="zh-CN" altLang="en-US" sz="2400">
              <a:latin typeface="Century Schoolbook" panose="02040604050505020304" pitchFamily="18" charset="0"/>
              <a:ea typeface="宋体" panose="02010600030101010101" pitchFamily="2" charset="-122"/>
            </a:endParaRPr>
          </a:p>
        </p:txBody>
      </p:sp>
      <p:graphicFrame>
        <p:nvGraphicFramePr>
          <p:cNvPr id="60424" name="Object 11"/>
          <p:cNvGraphicFramePr>
            <a:graphicFrameLocks noChangeAspect="1"/>
          </p:cNvGraphicFramePr>
          <p:nvPr/>
        </p:nvGraphicFramePr>
        <p:xfrm>
          <a:off x="1968500" y="5307013"/>
          <a:ext cx="2779713" cy="900112"/>
        </p:xfrm>
        <a:graphic>
          <a:graphicData uri="http://schemas.openxmlformats.org/presentationml/2006/ole">
            <mc:AlternateContent xmlns:mc="http://schemas.openxmlformats.org/markup-compatibility/2006">
              <mc:Choice xmlns:v="urn:schemas-microsoft-com:vml" Requires="v">
                <p:oleObj spid="_x0000_s60471" name="公式" r:id="rId6" imgW="1371600" imgH="444500" progId="Equation.3">
                  <p:embed/>
                </p:oleObj>
              </mc:Choice>
              <mc:Fallback>
                <p:oleObj name="公式" r:id="rId6" imgW="1371600" imgH="44450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68500" y="5307013"/>
                        <a:ext cx="2779713"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425" name="Rectangle 12"/>
          <p:cNvSpPr>
            <a:spLocks noChangeArrowheads="1"/>
          </p:cNvSpPr>
          <p:nvPr/>
        </p:nvSpPr>
        <p:spPr bwMode="auto">
          <a:xfrm>
            <a:off x="1020763" y="4678363"/>
            <a:ext cx="746601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20000"/>
              </a:spcBef>
              <a:buFontTx/>
              <a:buNone/>
            </a:pPr>
            <a:r>
              <a:rPr lang="zh-CN" altLang="en-US" sz="1800">
                <a:latin typeface="Century Schoolbook" panose="02040604050505020304" pitchFamily="18" charset="0"/>
                <a:ea typeface="宋体" panose="02010600030101010101" pitchFamily="2" charset="-122"/>
              </a:rPr>
              <a:t>  </a:t>
            </a:r>
            <a:r>
              <a:rPr lang="zh-CN" altLang="en-US" sz="2400">
                <a:latin typeface="Arial" panose="020B0604020202020204" pitchFamily="34" charset="0"/>
                <a:ea typeface="宋体" panose="02010600030101010101" pitchFamily="2" charset="-122"/>
                <a:cs typeface="Arial" panose="020B0604020202020204" pitchFamily="34" charset="0"/>
              </a:rPr>
              <a:t>即：  </a:t>
            </a:r>
            <a:r>
              <a:rPr lang="en-US" altLang="zh-CN" sz="2400" i="1">
                <a:latin typeface="Arial" panose="020B0604020202020204" pitchFamily="34" charset="0"/>
                <a:ea typeface="宋体" panose="02010600030101010101" pitchFamily="2" charset="-122"/>
                <a:cs typeface="Arial" panose="020B0604020202020204" pitchFamily="34" charset="0"/>
              </a:rPr>
              <a:t>k</a:t>
            </a:r>
            <a:r>
              <a:rPr lang="en-US" altLang="zh-CN" sz="2400" baseline="-25000">
                <a:latin typeface="Arial" panose="020B0604020202020204" pitchFamily="34" charset="0"/>
                <a:ea typeface="宋体" panose="02010600030101010101" pitchFamily="2" charset="-122"/>
                <a:cs typeface="Arial" panose="020B0604020202020204" pitchFamily="34" charset="0"/>
              </a:rPr>
              <a:t>12</a:t>
            </a:r>
            <a:r>
              <a:rPr lang="en-US" altLang="zh-CN" sz="2400">
                <a:latin typeface="Arial" panose="020B0604020202020204" pitchFamily="34" charset="0"/>
                <a:ea typeface="宋体" panose="02010600030101010101" pitchFamily="2" charset="-122"/>
                <a:cs typeface="Arial" panose="020B0604020202020204" pitchFamily="34" charset="0"/>
              </a:rPr>
              <a:t>[M</a:t>
            </a:r>
            <a:r>
              <a:rPr lang="en-US" altLang="zh-CN" sz="2400" baseline="-25000">
                <a:latin typeface="Arial" panose="020B0604020202020204" pitchFamily="34" charset="0"/>
                <a:ea typeface="宋体" panose="02010600030101010101" pitchFamily="2" charset="-122"/>
                <a:cs typeface="Arial" panose="020B0604020202020204" pitchFamily="34" charset="0"/>
              </a:rPr>
              <a:t>1</a:t>
            </a:r>
            <a:r>
              <a:rPr lang="en-US" altLang="zh-CN" sz="2400" baseline="30000">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a:t>
            </a:r>
            <a:r>
              <a:rPr lang="en-US" altLang="zh-CN" sz="2400">
                <a:latin typeface="Arial" panose="020B0604020202020204" pitchFamily="34" charset="0"/>
                <a:ea typeface="宋体" panose="02010600030101010101" pitchFamily="2" charset="-122"/>
                <a:cs typeface="Arial" panose="020B0604020202020204" pitchFamily="34" charset="0"/>
              </a:rPr>
              <a:t>][M</a:t>
            </a:r>
            <a:r>
              <a:rPr lang="en-US" altLang="zh-CN" sz="2400" baseline="-25000">
                <a:latin typeface="Arial" panose="020B0604020202020204" pitchFamily="34" charset="0"/>
                <a:ea typeface="宋体" panose="02010600030101010101" pitchFamily="2" charset="-122"/>
                <a:cs typeface="Arial" panose="020B0604020202020204" pitchFamily="34" charset="0"/>
              </a:rPr>
              <a:t>2</a:t>
            </a:r>
            <a:r>
              <a:rPr lang="en-US" altLang="zh-CN" sz="2400">
                <a:latin typeface="Arial" panose="020B0604020202020204" pitchFamily="34" charset="0"/>
                <a:ea typeface="宋体" panose="02010600030101010101" pitchFamily="2" charset="-122"/>
                <a:cs typeface="Arial" panose="020B0604020202020204" pitchFamily="34" charset="0"/>
              </a:rPr>
              <a:t>]  =  </a:t>
            </a:r>
            <a:r>
              <a:rPr lang="en-US" altLang="zh-CN" sz="2400" i="1">
                <a:latin typeface="Arial" panose="020B0604020202020204" pitchFamily="34" charset="0"/>
                <a:ea typeface="宋体" panose="02010600030101010101" pitchFamily="2" charset="-122"/>
                <a:cs typeface="Arial" panose="020B0604020202020204" pitchFamily="34" charset="0"/>
              </a:rPr>
              <a:t>k</a:t>
            </a:r>
            <a:r>
              <a:rPr lang="en-US" altLang="zh-CN" sz="2400" baseline="-25000">
                <a:latin typeface="Arial" panose="020B0604020202020204" pitchFamily="34" charset="0"/>
                <a:ea typeface="宋体" panose="02010600030101010101" pitchFamily="2" charset="-122"/>
                <a:cs typeface="Arial" panose="020B0604020202020204" pitchFamily="34" charset="0"/>
              </a:rPr>
              <a:t>21</a:t>
            </a:r>
            <a:r>
              <a:rPr lang="en-US" altLang="zh-CN" sz="2400">
                <a:latin typeface="Arial" panose="020B0604020202020204" pitchFamily="34" charset="0"/>
                <a:ea typeface="宋体" panose="02010600030101010101" pitchFamily="2" charset="-122"/>
                <a:cs typeface="Arial" panose="020B0604020202020204" pitchFamily="34" charset="0"/>
              </a:rPr>
              <a:t>[M</a:t>
            </a:r>
            <a:r>
              <a:rPr lang="en-US" altLang="zh-CN" sz="2400" baseline="-25000">
                <a:latin typeface="Arial" panose="020B0604020202020204" pitchFamily="34" charset="0"/>
                <a:ea typeface="宋体" panose="02010600030101010101" pitchFamily="2" charset="-122"/>
                <a:cs typeface="Arial" panose="020B0604020202020204" pitchFamily="34" charset="0"/>
              </a:rPr>
              <a:t>2</a:t>
            </a:r>
            <a:r>
              <a:rPr lang="en-US" altLang="zh-CN" sz="2400" baseline="30000">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a:t>
            </a:r>
            <a:r>
              <a:rPr lang="en-US" altLang="zh-CN" sz="2400">
                <a:latin typeface="Arial" panose="020B0604020202020204" pitchFamily="34" charset="0"/>
                <a:ea typeface="宋体" panose="02010600030101010101" pitchFamily="2" charset="-122"/>
                <a:cs typeface="Arial" panose="020B0604020202020204" pitchFamily="34" charset="0"/>
              </a:rPr>
              <a:t>][M</a:t>
            </a:r>
            <a:r>
              <a:rPr lang="en-US" altLang="zh-CN" sz="2400" baseline="-25000">
                <a:latin typeface="Arial" panose="020B0604020202020204" pitchFamily="34" charset="0"/>
                <a:ea typeface="宋体" panose="02010600030101010101" pitchFamily="2" charset="-122"/>
                <a:cs typeface="Arial" panose="020B0604020202020204" pitchFamily="34" charset="0"/>
              </a:rPr>
              <a:t>1</a:t>
            </a:r>
            <a:r>
              <a:rPr lang="en-US" altLang="zh-CN" sz="2400">
                <a:latin typeface="Arial" panose="020B0604020202020204" pitchFamily="34" charset="0"/>
                <a:ea typeface="宋体" panose="02010600030101010101" pitchFamily="2" charset="-122"/>
                <a:cs typeface="Arial" panose="020B0604020202020204" pitchFamily="34" charset="0"/>
              </a:rPr>
              <a:t>] </a:t>
            </a:r>
          </a:p>
        </p:txBody>
      </p:sp>
      <p:sp>
        <p:nvSpPr>
          <p:cNvPr id="60426" name="Rectangle 14"/>
          <p:cNvSpPr>
            <a:spLocks noChangeArrowheads="1"/>
          </p:cNvSpPr>
          <p:nvPr/>
        </p:nvSpPr>
        <p:spPr bwMode="auto">
          <a:xfrm>
            <a:off x="914400" y="5018088"/>
            <a:ext cx="246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20000"/>
              </a:spcBef>
              <a:buFontTx/>
              <a:buChar char="•"/>
            </a:pPr>
            <a:endParaRPr lang="zh-CN" altLang="en-US" sz="1400">
              <a:latin typeface="Century Schoolbook" panose="02040604050505020304" pitchFamily="18" charset="0"/>
              <a:ea typeface="宋体" panose="02010600030101010101" pitchFamily="2" charset="-122"/>
            </a:endParaRPr>
          </a:p>
        </p:txBody>
      </p:sp>
      <p:sp>
        <p:nvSpPr>
          <p:cNvPr id="60427" name="Rectangle 15"/>
          <p:cNvSpPr>
            <a:spLocks noChangeArrowheads="1"/>
          </p:cNvSpPr>
          <p:nvPr/>
        </p:nvSpPr>
        <p:spPr bwMode="auto">
          <a:xfrm>
            <a:off x="5872163" y="5541963"/>
            <a:ext cx="1862137"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20000"/>
              </a:spcBef>
              <a:buFontTx/>
              <a:buNone/>
            </a:pPr>
            <a:r>
              <a:rPr lang="zh-CN" altLang="en-US" sz="2100" b="1">
                <a:latin typeface="Century Schoolbook" panose="02040604050505020304" pitchFamily="18" charset="0"/>
                <a:ea typeface="宋体" panose="02010600030101010101" pitchFamily="2" charset="-122"/>
              </a:rPr>
              <a:t>代入 </a:t>
            </a:r>
            <a:r>
              <a:rPr lang="en-US" altLang="zh-CN" sz="2100" b="1">
                <a:latin typeface="Century Schoolbook" panose="02040604050505020304" pitchFamily="18" charset="0"/>
                <a:ea typeface="宋体" panose="02010600030101010101" pitchFamily="2" charset="-122"/>
              </a:rPr>
              <a:t>(4</a:t>
            </a:r>
            <a:r>
              <a:rPr lang="zh-CN" altLang="en-US" sz="2100" b="1">
                <a:latin typeface="Century Schoolbook" panose="02040604050505020304" pitchFamily="18" charset="0"/>
                <a:ea typeface="宋体" panose="02010600030101010101" pitchFamily="2" charset="-122"/>
              </a:rPr>
              <a:t>－1</a:t>
            </a:r>
            <a:r>
              <a:rPr lang="en-US" altLang="zh-CN" sz="2100" b="1">
                <a:latin typeface="Century Schoolbook" panose="02040604050505020304" pitchFamily="18" charset="0"/>
                <a:ea typeface="宋体" panose="02010600030101010101" pitchFamily="2" charset="-122"/>
              </a:rPr>
              <a:t>)</a:t>
            </a:r>
            <a:r>
              <a:rPr lang="zh-CN" altLang="en-US" sz="2100" b="1">
                <a:latin typeface="Century Schoolbook" panose="02040604050505020304" pitchFamily="18" charset="0"/>
                <a:ea typeface="宋体" panose="02010600030101010101" pitchFamily="2" charset="-122"/>
              </a:rPr>
              <a:t>式</a:t>
            </a:r>
            <a:endParaRPr lang="zh-CN" altLang="en-US" sz="1800" b="1">
              <a:latin typeface="Century Schoolbook" panose="02040604050505020304" pitchFamily="18" charset="0"/>
              <a:ea typeface="宋体" panose="02010600030101010101" pitchFamily="2" charset="-122"/>
            </a:endParaRPr>
          </a:p>
        </p:txBody>
      </p:sp>
      <p:pic>
        <p:nvPicPr>
          <p:cNvPr id="60428" name="Picture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6013" y="2997200"/>
            <a:ext cx="6788150"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Object 1024"/>
          <p:cNvGraphicFramePr>
            <a:graphicFrameLocks noChangeAspect="1"/>
          </p:cNvGraphicFramePr>
          <p:nvPr>
            <p:extLst>
              <p:ext uri="{D42A27DB-BD31-4B8C-83A1-F6EECF244321}">
                <p14:modId xmlns:p14="http://schemas.microsoft.com/office/powerpoint/2010/main" val="414119231"/>
              </p:ext>
            </p:extLst>
          </p:nvPr>
        </p:nvGraphicFramePr>
        <p:xfrm>
          <a:off x="5004048" y="6001395"/>
          <a:ext cx="3960440" cy="720080"/>
        </p:xfrm>
        <a:graphic>
          <a:graphicData uri="http://schemas.openxmlformats.org/presentationml/2006/ole">
            <mc:AlternateContent xmlns:mc="http://schemas.openxmlformats.org/markup-compatibility/2006">
              <mc:Choice xmlns:v="urn:schemas-microsoft-com:vml" Requires="v">
                <p:oleObj spid="_x0000_s60472" name="公式" r:id="rId9" imgW="4330700" imgH="787400" progId="Equation.3">
                  <p:embed/>
                </p:oleObj>
              </mc:Choice>
              <mc:Fallback>
                <p:oleObj name="公式" r:id="rId9" imgW="4330700" imgH="787400" progId="Equation.3">
                  <p:embed/>
                  <p:pic>
                    <p:nvPicPr>
                      <p:cNvPr id="58373" name="Object 10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4048" y="6001395"/>
                        <a:ext cx="3960440" cy="720080"/>
                      </a:xfrm>
                      <a:prstGeom prst="rect">
                        <a:avLst/>
                      </a:prstGeom>
                      <a:noFill/>
                      <a:ln>
                        <a:noFill/>
                      </a:ln>
                    </p:spPr>
                  </p:pic>
                </p:oleObj>
              </mc:Fallback>
            </mc:AlternateContent>
          </a:graphicData>
        </a:graphic>
      </p:graphicFrame>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B06FD70D-BBDE-4CD5-BAEF-B410102FEFB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aphicFrame>
        <p:nvGraphicFramePr>
          <p:cNvPr id="62467" name="Object 4"/>
          <p:cNvGraphicFramePr>
            <a:graphicFrameLocks noGrp="1" noChangeAspect="1"/>
          </p:cNvGraphicFramePr>
          <p:nvPr>
            <p:ph sz="quarter" idx="1"/>
          </p:nvPr>
        </p:nvGraphicFramePr>
        <p:xfrm>
          <a:off x="1743075" y="5014913"/>
          <a:ext cx="3097213" cy="796925"/>
        </p:xfrm>
        <a:graphic>
          <a:graphicData uri="http://schemas.openxmlformats.org/presentationml/2006/ole">
            <mc:AlternateContent xmlns:mc="http://schemas.openxmlformats.org/markup-compatibility/2006">
              <mc:Choice xmlns:v="urn:schemas-microsoft-com:vml" Requires="v">
                <p:oleObj spid="_x0000_s62503" name="公式" r:id="rId3" imgW="1726451" imgH="444307" progId="Equation.3">
                  <p:embed/>
                </p:oleObj>
              </mc:Choice>
              <mc:Fallback>
                <p:oleObj name="公式" r:id="rId3" imgW="1726451" imgH="444307"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3075" y="5014913"/>
                        <a:ext cx="3097213"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68"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2A6ACDAC-C5ED-43E4-8089-1D0DA8C0AB07}"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35</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62469" name="Object 5"/>
          <p:cNvGraphicFramePr>
            <a:graphicFrameLocks noChangeAspect="1"/>
          </p:cNvGraphicFramePr>
          <p:nvPr/>
        </p:nvGraphicFramePr>
        <p:xfrm>
          <a:off x="771525" y="363538"/>
          <a:ext cx="7508875" cy="4211637"/>
        </p:xfrm>
        <a:graphic>
          <a:graphicData uri="http://schemas.openxmlformats.org/presentationml/2006/ole">
            <mc:AlternateContent xmlns:mc="http://schemas.openxmlformats.org/markup-compatibility/2006">
              <mc:Choice xmlns:v="urn:schemas-microsoft-com:vml" Requires="v">
                <p:oleObj spid="_x0000_s62504" name="公式" r:id="rId5" imgW="3962400" imgH="2222500" progId="Equation.3">
                  <p:embed/>
                </p:oleObj>
              </mc:Choice>
              <mc:Fallback>
                <p:oleObj name="公式" r:id="rId5" imgW="3962400" imgH="2222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1525" y="363538"/>
                        <a:ext cx="7508875"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2470" name="Text Box 6"/>
          <p:cNvSpPr txBox="1">
            <a:spLocks noChangeArrowheads="1"/>
          </p:cNvSpPr>
          <p:nvPr/>
        </p:nvSpPr>
        <p:spPr bwMode="auto">
          <a:xfrm>
            <a:off x="2286000" y="4038600"/>
            <a:ext cx="381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Char char="•"/>
            </a:pPr>
            <a:endParaRPr lang="zh-CN" altLang="en-US" sz="1900" b="1">
              <a:latin typeface="Century Schoolbook" panose="02040604050505020304" pitchFamily="18" charset="0"/>
              <a:ea typeface="宋体" panose="02010600030101010101" pitchFamily="2" charset="-122"/>
            </a:endParaRPr>
          </a:p>
        </p:txBody>
      </p:sp>
      <p:sp>
        <p:nvSpPr>
          <p:cNvPr id="62471" name="Rectangle 7"/>
          <p:cNvSpPr>
            <a:spLocks noChangeArrowheads="1"/>
          </p:cNvSpPr>
          <p:nvPr/>
        </p:nvSpPr>
        <p:spPr bwMode="auto">
          <a:xfrm>
            <a:off x="771525" y="5126038"/>
            <a:ext cx="6477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20000"/>
              </a:spcBef>
              <a:buFontTx/>
              <a:buNone/>
            </a:pPr>
            <a:r>
              <a:rPr lang="zh-CN" altLang="en-US" sz="2400">
                <a:latin typeface="楷体" panose="02010609060101010101" pitchFamily="49" charset="-122"/>
                <a:ea typeface="楷体" panose="02010609060101010101" pitchFamily="49" charset="-122"/>
              </a:rPr>
              <a:t>令</a:t>
            </a:r>
            <a:r>
              <a:rPr lang="en-US" altLang="zh-CN" sz="2400">
                <a:latin typeface="楷体" panose="02010609060101010101" pitchFamily="49" charset="-122"/>
                <a:ea typeface="楷体" panose="02010609060101010101" pitchFamily="49" charset="-122"/>
              </a:rPr>
              <a:t>:</a:t>
            </a:r>
            <a:endParaRPr lang="zh-CN" altLang="en-US" sz="2400">
              <a:latin typeface="楷体" panose="02010609060101010101" pitchFamily="49" charset="-122"/>
              <a:ea typeface="楷体" panose="02010609060101010101" pitchFamily="49" charset="-122"/>
            </a:endParaRPr>
          </a:p>
        </p:txBody>
      </p:sp>
      <p:sp>
        <p:nvSpPr>
          <p:cNvPr id="62472" name="Text Box 9"/>
          <p:cNvSpPr txBox="1">
            <a:spLocks noChangeArrowheads="1"/>
          </p:cNvSpPr>
          <p:nvPr/>
        </p:nvSpPr>
        <p:spPr bwMode="auto">
          <a:xfrm>
            <a:off x="2133600" y="5638800"/>
            <a:ext cx="33528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endParaRPr lang="zh-CN" altLang="en-US" sz="1800">
              <a:latin typeface="Century Schoolbook" panose="02040604050505020304" pitchFamily="18" charset="0"/>
              <a:ea typeface="宋体" panose="02010600030101010101" pitchFamily="2" charset="-122"/>
            </a:endParaRPr>
          </a:p>
          <a:p>
            <a:pPr algn="just" eaLnBrk="1" hangingPunct="1">
              <a:lnSpc>
                <a:spcPct val="100000"/>
              </a:lnSpc>
              <a:spcBef>
                <a:spcPct val="50000"/>
              </a:spcBef>
              <a:buFontTx/>
              <a:buChar char="•"/>
            </a:pPr>
            <a:endParaRPr lang="zh-CN" altLang="en-US" sz="1900" b="1">
              <a:latin typeface="Century Schoolbook" panose="02040604050505020304" pitchFamily="18" charset="0"/>
              <a:ea typeface="宋体" panose="02010600030101010101" pitchFamily="2" charset="-122"/>
            </a:endParaRPr>
          </a:p>
        </p:txBody>
      </p:sp>
      <p:sp>
        <p:nvSpPr>
          <p:cNvPr id="62473" name="Text Box 12"/>
          <p:cNvSpPr txBox="1">
            <a:spLocks noChangeArrowheads="1"/>
          </p:cNvSpPr>
          <p:nvPr/>
        </p:nvSpPr>
        <p:spPr bwMode="auto">
          <a:xfrm>
            <a:off x="1743075" y="5864225"/>
            <a:ext cx="3352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40000"/>
              </a:lnSpc>
              <a:spcBef>
                <a:spcPct val="20000"/>
              </a:spcBef>
              <a:buFontTx/>
              <a:buNone/>
            </a:pPr>
            <a:r>
              <a:rPr lang="zh-CN" altLang="en-US" sz="2000" b="1">
                <a:latin typeface="楷体" panose="02010609060101010101" pitchFamily="49" charset="-122"/>
                <a:ea typeface="楷体" panose="02010609060101010101" pitchFamily="49" charset="-122"/>
              </a:rPr>
              <a:t>竞聚率1        竞聚率2</a:t>
            </a:r>
          </a:p>
        </p:txBody>
      </p:sp>
      <p:sp>
        <p:nvSpPr>
          <p:cNvPr id="62474" name="Rectangle 20"/>
          <p:cNvSpPr>
            <a:spLocks noChangeArrowheads="1"/>
          </p:cNvSpPr>
          <p:nvPr/>
        </p:nvSpPr>
        <p:spPr bwMode="auto">
          <a:xfrm>
            <a:off x="5292725" y="5243513"/>
            <a:ext cx="3311525"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10000"/>
              </a:spcBef>
              <a:buFontTx/>
              <a:buNone/>
            </a:pPr>
            <a:r>
              <a:rPr kumimoji="1" lang="zh-CN" altLang="en-US" b="1">
                <a:solidFill>
                  <a:srgbClr val="FF0000"/>
                </a:solidFill>
                <a:latin typeface="Arial" panose="020B0604020202020204" pitchFamily="34" charset="0"/>
                <a:ea typeface="楷体" panose="02010609060101010101" pitchFamily="49" charset="-122"/>
                <a:cs typeface="Arial" panose="020B0604020202020204" pitchFamily="34" charset="0"/>
              </a:rPr>
              <a:t>竞聚率</a:t>
            </a:r>
          </a:p>
          <a:p>
            <a:pPr algn="ctr" eaLnBrk="1" hangingPunct="1">
              <a:lnSpc>
                <a:spcPct val="100000"/>
              </a:lnSpc>
              <a:spcBef>
                <a:spcPct val="10000"/>
              </a:spcBef>
              <a:buFontTx/>
              <a:buNone/>
            </a:pPr>
            <a:r>
              <a:rPr kumimoji="1" lang="en-US" altLang="zh-CN">
                <a:solidFill>
                  <a:srgbClr val="FF0000"/>
                </a:solidFill>
                <a:latin typeface="Arial" panose="020B0604020202020204" pitchFamily="34" charset="0"/>
                <a:ea typeface="楷体" panose="02010609060101010101" pitchFamily="49" charset="-122"/>
                <a:cs typeface="Arial" panose="020B0604020202020204" pitchFamily="34" charset="0"/>
              </a:rPr>
              <a:t>(Reactivity Ratios)</a:t>
            </a:r>
          </a:p>
        </p:txBody>
      </p:sp>
      <p:sp>
        <p:nvSpPr>
          <p:cNvPr id="2" name="矩形: 圆角 1">
            <a:extLst>
              <a:ext uri="{FF2B5EF4-FFF2-40B4-BE49-F238E27FC236}">
                <a16:creationId xmlns:a16="http://schemas.microsoft.com/office/drawing/2014/main" id="{A37F79CA-268E-4627-9352-A4787A659935}"/>
              </a:ext>
            </a:extLst>
          </p:cNvPr>
          <p:cNvSpPr/>
          <p:nvPr/>
        </p:nvSpPr>
        <p:spPr>
          <a:xfrm>
            <a:off x="3749675" y="3717925"/>
            <a:ext cx="431800" cy="935038"/>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矩形: 圆角 11">
            <a:extLst>
              <a:ext uri="{FF2B5EF4-FFF2-40B4-BE49-F238E27FC236}">
                <a16:creationId xmlns:a16="http://schemas.microsoft.com/office/drawing/2014/main" id="{25FFFBC7-8DC1-4425-8F91-A52911E2DC09}"/>
              </a:ext>
            </a:extLst>
          </p:cNvPr>
          <p:cNvSpPr/>
          <p:nvPr/>
        </p:nvSpPr>
        <p:spPr>
          <a:xfrm>
            <a:off x="3360738" y="2852738"/>
            <a:ext cx="431800" cy="936625"/>
          </a:xfrm>
          <a:prstGeom prst="roundRect">
            <a:avLst/>
          </a:prstGeom>
          <a:noFill/>
          <a:ln>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8" name="直接连接符 17">
            <a:extLst>
              <a:ext uri="{FF2B5EF4-FFF2-40B4-BE49-F238E27FC236}">
                <a16:creationId xmlns:a16="http://schemas.microsoft.com/office/drawing/2014/main" id="{AC3B1B94-48CC-4397-A11E-5BFC165BFEF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491" name="Object 4"/>
              <p:cNvSpPr txBox="1">
                <a:spLocks noGrp="1"/>
              </p:cNvSpPr>
              <p:nvPr>
                <p:ph type="title"/>
              </p:nvPr>
            </p:nvSpPr>
            <p:spPr bwMode="auto">
              <a:xfrm>
                <a:off x="-108520" y="1100535"/>
                <a:ext cx="9093447" cy="742156"/>
              </a:xfrm>
              <a:prstGeom prst="rect">
                <a:avLst/>
              </a:prstGeom>
              <a:noFill/>
              <a:ln>
                <a:noFill/>
              </a:ln>
              <a:extLst/>
            </p:spPr>
            <p:txBody>
              <a:bodyPr>
                <a:normAutofit fontScale="90000"/>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𝑑</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num>
                        <m:den>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𝑀</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den>
                      </m:f>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4−2</m:t>
                      </m:r>
                      <m:r>
                        <a:rPr lang="zh-CN" altLang="en-US" i="1">
                          <a:solidFill>
                            <a:srgbClr val="000000"/>
                          </a:solidFill>
                          <a:latin typeface="Cambria Math" panose="02040503050406030204" pitchFamily="18" charset="0"/>
                        </a:rPr>
                        <m:t>)</m:t>
                      </m:r>
                    </m:oMath>
                  </m:oMathPara>
                </a14:m>
                <a:endParaRPr lang="zh-CN" altLang="en-US" dirty="0"/>
              </a:p>
            </p:txBody>
          </p:sp>
        </mc:Choice>
        <mc:Fallback xmlns="">
          <p:sp>
            <p:nvSpPr>
              <p:cNvPr id="63491" name="Object 4"/>
              <p:cNvSpPr txBox="1">
                <a:spLocks noGrp="1" noRot="1" noChangeAspect="1" noMove="1" noResize="1" noEditPoints="1" noAdjustHandles="1" noChangeArrowheads="1" noChangeShapeType="1" noTextEdit="1"/>
              </p:cNvSpPr>
              <p:nvPr>
                <p:ph type="title"/>
              </p:nvPr>
            </p:nvSpPr>
            <p:spPr bwMode="auto">
              <a:xfrm>
                <a:off x="-108520" y="1100535"/>
                <a:ext cx="9093447" cy="742156"/>
              </a:xfrm>
              <a:prstGeom prst="rect">
                <a:avLst/>
              </a:prstGeom>
              <a:blipFill>
                <a:blip r:embed="rId3"/>
                <a:stretch>
                  <a:fillRect t="-30579" b="-33058"/>
                </a:stretch>
              </a:blipFill>
              <a:ln>
                <a:noFill/>
              </a:ln>
              <a:extLst/>
            </p:spPr>
            <p:txBody>
              <a:bodyPr/>
              <a:lstStyle/>
              <a:p>
                <a:r>
                  <a:rPr lang="zh-CN" altLang="en-US">
                    <a:noFill/>
                  </a:rPr>
                  <a:t> </a:t>
                </a:r>
              </a:p>
            </p:txBody>
          </p:sp>
        </mc:Fallback>
      </mc:AlternateContent>
      <p:sp>
        <p:nvSpPr>
          <p:cNvPr id="63492" name="Rectangle 3"/>
          <p:cNvSpPr>
            <a:spLocks noGrp="1"/>
          </p:cNvSpPr>
          <p:nvPr>
            <p:ph sz="quarter" idx="1"/>
          </p:nvPr>
        </p:nvSpPr>
        <p:spPr>
          <a:xfrm>
            <a:off x="725488" y="1790700"/>
            <a:ext cx="7772400" cy="4495800"/>
          </a:xfrm>
        </p:spPr>
        <p:txBody>
          <a:bodyPr/>
          <a:lstStyle/>
          <a:p>
            <a:pPr algn="just" eaLnBrk="1" hangingPunct="1"/>
            <a:endParaRPr lang="zh-CN" altLang="en-US" sz="2200" b="1" dirty="0"/>
          </a:p>
          <a:p>
            <a:pPr algn="just" eaLnBrk="1" hangingPunct="1">
              <a:buFontTx/>
              <a:buNone/>
            </a:pPr>
            <a:r>
              <a:rPr lang="zh-CN" altLang="en-US" sz="2200" b="1" dirty="0">
                <a:latin typeface="楷体" panose="02010609060101010101" pitchFamily="49" charset="-122"/>
                <a:ea typeface="楷体" panose="02010609060101010101" pitchFamily="49" charset="-122"/>
              </a:rPr>
              <a:t>式中</a:t>
            </a:r>
            <a:r>
              <a:rPr lang="zh-CN" altLang="en-US" sz="2200" dirty="0">
                <a:latin typeface="楷体" panose="02010609060101010101" pitchFamily="49" charset="-122"/>
                <a:ea typeface="楷体" panose="02010609060101010101" pitchFamily="49" charset="-122"/>
              </a:rPr>
              <a:t>：      </a:t>
            </a:r>
            <a:r>
              <a:rPr lang="zh-CN" altLang="en-US" sz="2200" b="1" dirty="0">
                <a:latin typeface="楷体" panose="02010609060101010101" pitchFamily="49" charset="-122"/>
                <a:ea typeface="楷体" panose="02010609060101010101" pitchFamily="49" charset="-122"/>
              </a:rPr>
              <a:t>为瞬时生成的共聚物中两种单体链节的组成比</a:t>
            </a:r>
            <a:r>
              <a:rPr lang="zh-CN" altLang="en-US" sz="2200" dirty="0">
                <a:latin typeface="楷体" panose="02010609060101010101" pitchFamily="49" charset="-122"/>
                <a:ea typeface="楷体" panose="02010609060101010101" pitchFamily="49" charset="-122"/>
              </a:rPr>
              <a:t>，</a:t>
            </a:r>
          </a:p>
          <a:p>
            <a:pPr algn="just" eaLnBrk="1" hangingPunct="1">
              <a:lnSpc>
                <a:spcPct val="150000"/>
              </a:lnSpc>
              <a:buFontTx/>
              <a:buNone/>
            </a:pPr>
            <a:r>
              <a:rPr lang="zh-CN" altLang="en-US" sz="2200" b="1" dirty="0">
                <a:latin typeface="楷体" panose="02010609060101010101" pitchFamily="49" charset="-122"/>
                <a:ea typeface="楷体" panose="02010609060101010101" pitchFamily="49" charset="-122"/>
              </a:rPr>
              <a:t>            即两种单体进入共聚物的摩尔数比</a:t>
            </a:r>
            <a:r>
              <a:rPr lang="en-US" altLang="zh-CN" sz="2200" b="1" dirty="0">
                <a:latin typeface="楷体" panose="02010609060101010101" pitchFamily="49" charset="-122"/>
                <a:ea typeface="楷体" panose="02010609060101010101" pitchFamily="49" charset="-122"/>
              </a:rPr>
              <a:t>n</a:t>
            </a:r>
            <a:r>
              <a:rPr lang="en-US" altLang="zh-CN" sz="2200" b="1" baseline="-25000" dirty="0">
                <a:latin typeface="楷体" panose="02010609060101010101" pitchFamily="49" charset="-122"/>
                <a:ea typeface="楷体" panose="02010609060101010101" pitchFamily="49" charset="-122"/>
              </a:rPr>
              <a:t>1</a:t>
            </a:r>
            <a:r>
              <a:rPr lang="en-US" altLang="zh-CN" sz="2200" b="1" dirty="0">
                <a:latin typeface="楷体" panose="02010609060101010101" pitchFamily="49" charset="-122"/>
                <a:ea typeface="楷体" panose="02010609060101010101" pitchFamily="49" charset="-122"/>
              </a:rPr>
              <a:t>/n</a:t>
            </a:r>
            <a:r>
              <a:rPr lang="en-US" altLang="zh-CN" sz="2200" b="1" baseline="-25000" dirty="0">
                <a:latin typeface="楷体" panose="02010609060101010101" pitchFamily="49" charset="-122"/>
                <a:ea typeface="楷体" panose="02010609060101010101" pitchFamily="49" charset="-122"/>
              </a:rPr>
              <a:t>2</a:t>
            </a:r>
            <a:endParaRPr lang="zh-CN" altLang="en-US" sz="2200" b="1" baseline="-25000" dirty="0">
              <a:latin typeface="楷体" panose="02010609060101010101" pitchFamily="49" charset="-122"/>
              <a:ea typeface="楷体" panose="02010609060101010101" pitchFamily="49" charset="-122"/>
            </a:endParaRPr>
          </a:p>
          <a:p>
            <a:pPr algn="just" eaLnBrk="1" hangingPunct="1"/>
            <a:endParaRPr lang="zh-CN" altLang="zh-CN" sz="1400" dirty="0"/>
          </a:p>
          <a:p>
            <a:pPr algn="just" eaLnBrk="1" hangingPunct="1">
              <a:buFontTx/>
              <a:buNone/>
            </a:pPr>
            <a:r>
              <a:rPr lang="en-US" altLang="zh-CN" sz="2200" b="1" i="1" dirty="0"/>
              <a:t>                  r</a:t>
            </a:r>
            <a:r>
              <a:rPr lang="en-US" altLang="zh-CN" sz="2200" b="1" i="1" baseline="-25000" dirty="0"/>
              <a:t>1</a:t>
            </a:r>
            <a:endParaRPr lang="zh-CN" altLang="en-US" sz="2200" dirty="0"/>
          </a:p>
          <a:p>
            <a:pPr algn="just" eaLnBrk="1" hangingPunct="1">
              <a:buFontTx/>
              <a:buNone/>
            </a:pPr>
            <a:endParaRPr lang="en-US" altLang="zh-CN" sz="2200" b="1" i="1" dirty="0"/>
          </a:p>
          <a:p>
            <a:pPr algn="just" eaLnBrk="1" hangingPunct="1">
              <a:buFontTx/>
              <a:buNone/>
            </a:pPr>
            <a:endParaRPr lang="en-US" altLang="zh-CN" sz="2200" b="1" i="1" dirty="0"/>
          </a:p>
          <a:p>
            <a:pPr algn="just" eaLnBrk="1" hangingPunct="1">
              <a:buFontTx/>
              <a:buNone/>
            </a:pPr>
            <a:r>
              <a:rPr lang="en-US" altLang="zh-CN" sz="2200" b="1" i="1" dirty="0"/>
              <a:t>                  r</a:t>
            </a:r>
            <a:r>
              <a:rPr lang="en-US" altLang="zh-CN" sz="2200" b="1" i="1" baseline="-25000" dirty="0"/>
              <a:t>2</a:t>
            </a:r>
            <a:endParaRPr lang="zh-CN" altLang="en-US" sz="2200" b="1" dirty="0">
              <a:solidFill>
                <a:srgbClr val="0033CC"/>
              </a:solidFill>
            </a:endParaRPr>
          </a:p>
        </p:txBody>
      </p:sp>
      <p:sp>
        <p:nvSpPr>
          <p:cNvPr id="63493" name="灯片编号占位符 5"/>
          <p:cNvSpPr>
            <a:spLocks noGrp="1"/>
          </p:cNvSpPr>
          <p:nvPr>
            <p:ph type="sldNum" sz="quarter" idx="12"/>
          </p:nvPr>
        </p:nvSpPr>
        <p:spPr bwMode="auto">
          <a:xfrm>
            <a:off x="3028950" y="6356350"/>
            <a:ext cx="30861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fontAlgn="base">
              <a:lnSpc>
                <a:spcPct val="100000"/>
              </a:lnSpc>
              <a:spcBef>
                <a:spcPct val="0"/>
              </a:spcBef>
              <a:spcAft>
                <a:spcPct val="0"/>
              </a:spcAft>
              <a:buFontTx/>
              <a:buNone/>
            </a:pPr>
            <a:fld id="{FC6303E4-6291-4FA4-9AD7-1DEE74F8B947}" type="slidenum">
              <a:rPr lang="zh-CN" altLang="en-US" sz="1200" smtClean="0">
                <a:solidFill>
                  <a:srgbClr val="FFFFFF"/>
                </a:solidFill>
                <a:latin typeface="Century Schoolbook" panose="02040604050505020304" pitchFamily="18" charset="0"/>
                <a:ea typeface="宋体" panose="02010600030101010101" pitchFamily="2" charset="-122"/>
              </a:rPr>
              <a:pPr algn="ctr" fontAlgn="base">
                <a:lnSpc>
                  <a:spcPct val="100000"/>
                </a:lnSpc>
                <a:spcBef>
                  <a:spcPct val="0"/>
                </a:spcBef>
                <a:spcAft>
                  <a:spcPct val="0"/>
                </a:spcAft>
                <a:buFontTx/>
                <a:buNone/>
              </a:pPr>
              <a:t>36</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63494" name="Object 5"/>
          <p:cNvGraphicFramePr>
            <a:graphicFrameLocks noChangeAspect="1"/>
          </p:cNvGraphicFramePr>
          <p:nvPr/>
        </p:nvGraphicFramePr>
        <p:xfrm>
          <a:off x="1752600" y="2057400"/>
          <a:ext cx="685800" cy="628650"/>
        </p:xfrm>
        <a:graphic>
          <a:graphicData uri="http://schemas.openxmlformats.org/presentationml/2006/ole">
            <mc:AlternateContent xmlns:mc="http://schemas.openxmlformats.org/markup-compatibility/2006">
              <mc:Choice xmlns:v="urn:schemas-microsoft-com:vml" Requires="v">
                <p:oleObj spid="_x0000_s63546" name="公式" r:id="rId4" imgW="469696" imgH="431613" progId="Equation.3">
                  <p:embed/>
                </p:oleObj>
              </mc:Choice>
              <mc:Fallback>
                <p:oleObj name="公式" r:id="rId4" imgW="469696" imgH="431613"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2057400"/>
                        <a:ext cx="6858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3495" name="Line 9"/>
          <p:cNvSpPr>
            <a:spLocks noChangeShapeType="1"/>
          </p:cNvSpPr>
          <p:nvPr/>
        </p:nvSpPr>
        <p:spPr bwMode="auto">
          <a:xfrm>
            <a:off x="2743200" y="4495800"/>
            <a:ext cx="1600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p>
            <a:endParaRPr lang="zh-CN" altLang="en-US"/>
          </a:p>
        </p:txBody>
      </p:sp>
      <p:sp>
        <p:nvSpPr>
          <p:cNvPr id="63496" name="Line 12"/>
          <p:cNvSpPr>
            <a:spLocks noChangeShapeType="1"/>
          </p:cNvSpPr>
          <p:nvPr/>
        </p:nvSpPr>
        <p:spPr bwMode="auto">
          <a:xfrm flipV="1">
            <a:off x="4648200" y="5181600"/>
            <a:ext cx="2667000" cy="76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wrap="none" lIns="92075" tIns="46038" rIns="92075" bIns="46038" anchor="ctr"/>
          <a:lstStyle/>
          <a:p>
            <a:endParaRPr lang="zh-CN" altLang="en-US"/>
          </a:p>
        </p:txBody>
      </p:sp>
      <p:sp>
        <p:nvSpPr>
          <p:cNvPr id="63497" name="Line 15"/>
          <p:cNvSpPr>
            <a:spLocks noChangeShapeType="1"/>
          </p:cNvSpPr>
          <p:nvPr/>
        </p:nvSpPr>
        <p:spPr bwMode="auto">
          <a:xfrm flipV="1">
            <a:off x="5943600" y="5105400"/>
            <a:ext cx="1981200" cy="990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p>
            <a:endParaRPr lang="zh-CN" altLang="en-US"/>
          </a:p>
        </p:txBody>
      </p:sp>
      <p:sp>
        <p:nvSpPr>
          <p:cNvPr id="63498" name="Text Box 28"/>
          <p:cNvSpPr txBox="1">
            <a:spLocks noChangeArrowheads="1"/>
          </p:cNvSpPr>
          <p:nvPr/>
        </p:nvSpPr>
        <p:spPr bwMode="auto">
          <a:xfrm>
            <a:off x="323850" y="381000"/>
            <a:ext cx="3505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latin typeface="楷体" panose="02010609060101010101" pitchFamily="49" charset="-122"/>
                <a:ea typeface="楷体" panose="02010609060101010101" pitchFamily="49" charset="-122"/>
              </a:rPr>
              <a:t>得共聚物组成微分方程</a:t>
            </a:r>
            <a:r>
              <a:rPr lang="en-US" altLang="zh-CN" sz="2400" b="1">
                <a:latin typeface="楷体" panose="02010609060101010101" pitchFamily="49" charset="-122"/>
                <a:ea typeface="楷体" panose="02010609060101010101" pitchFamily="49" charset="-122"/>
              </a:rPr>
              <a:t>:</a:t>
            </a:r>
            <a:endParaRPr lang="zh-CN" altLang="en-US" sz="2400" b="1">
              <a:latin typeface="楷体" panose="02010609060101010101" pitchFamily="49" charset="-122"/>
              <a:ea typeface="楷体" panose="02010609060101010101" pitchFamily="49" charset="-122"/>
            </a:endParaRPr>
          </a:p>
        </p:txBody>
      </p:sp>
      <p:sp>
        <p:nvSpPr>
          <p:cNvPr id="63499" name="AutoShape 29"/>
          <p:cNvSpPr>
            <a:spLocks/>
          </p:cNvSpPr>
          <p:nvPr/>
        </p:nvSpPr>
        <p:spPr bwMode="auto">
          <a:xfrm>
            <a:off x="8610600" y="4038600"/>
            <a:ext cx="152400" cy="914400"/>
          </a:xfrm>
          <a:prstGeom prst="leftBrace">
            <a:avLst>
              <a:gd name="adj1" fmla="val 50000"/>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graphicFrame>
        <p:nvGraphicFramePr>
          <p:cNvPr id="63500" name="Object 31"/>
          <p:cNvGraphicFramePr>
            <a:graphicFrameLocks noChangeAspect="1"/>
          </p:cNvGraphicFramePr>
          <p:nvPr/>
        </p:nvGraphicFramePr>
        <p:xfrm>
          <a:off x="5592763" y="5457825"/>
          <a:ext cx="2635250" cy="762000"/>
        </p:xfrm>
        <a:graphic>
          <a:graphicData uri="http://schemas.openxmlformats.org/presentationml/2006/ole">
            <mc:AlternateContent xmlns:mc="http://schemas.openxmlformats.org/markup-compatibility/2006">
              <mc:Choice xmlns:v="urn:schemas-microsoft-com:vml" Requires="v">
                <p:oleObj spid="_x0000_s63547" name="公式" r:id="rId6" imgW="1485900" imgH="431800" progId="Equation.3">
                  <p:embed/>
                </p:oleObj>
              </mc:Choice>
              <mc:Fallback>
                <p:oleObj name="公式" r:id="rId6" imgW="1485900" imgH="431800" progId="Equation.3">
                  <p:embed/>
                  <p:pic>
                    <p:nvPicPr>
                      <p:cNvPr id="0" name="Object 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2763" y="5457825"/>
                        <a:ext cx="2635250" cy="7620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63501" name="组合 1"/>
          <p:cNvGrpSpPr>
            <a:grpSpLocks/>
          </p:cNvGrpSpPr>
          <p:nvPr/>
        </p:nvGrpSpPr>
        <p:grpSpPr bwMode="auto">
          <a:xfrm>
            <a:off x="2243138" y="3819525"/>
            <a:ext cx="1971675" cy="1285875"/>
            <a:chOff x="1127125" y="3819525"/>
            <a:chExt cx="1971675" cy="1285875"/>
          </a:xfrm>
        </p:grpSpPr>
        <p:sp>
          <p:nvSpPr>
            <p:cNvPr id="63506" name="AutoShape 6"/>
            <p:cNvSpPr>
              <a:spLocks/>
            </p:cNvSpPr>
            <p:nvPr/>
          </p:nvSpPr>
          <p:spPr bwMode="auto">
            <a:xfrm>
              <a:off x="1127125" y="3886200"/>
              <a:ext cx="304800" cy="1219200"/>
            </a:xfrm>
            <a:prstGeom prst="rightBrace">
              <a:avLst>
                <a:gd name="adj1" fmla="val 33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63507" name="Text Box 10"/>
            <p:cNvSpPr txBox="1">
              <a:spLocks noChangeArrowheads="1"/>
            </p:cNvSpPr>
            <p:nvPr/>
          </p:nvSpPr>
          <p:spPr bwMode="auto">
            <a:xfrm>
              <a:off x="2574925" y="3819525"/>
              <a:ext cx="2682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20000"/>
                </a:spcBef>
                <a:buFontTx/>
                <a:buChar char="•"/>
              </a:pPr>
              <a:endParaRPr lang="zh-CN" altLang="en-US" sz="1900" b="1">
                <a:latin typeface="Century Schoolbook" panose="02040604050505020304" pitchFamily="18" charset="0"/>
                <a:ea typeface="宋体" panose="02010600030101010101" pitchFamily="2" charset="-122"/>
              </a:endParaRPr>
            </a:p>
          </p:txBody>
        </p:sp>
        <p:sp>
          <p:nvSpPr>
            <p:cNvPr id="63508" name="Line 21"/>
            <p:cNvSpPr>
              <a:spLocks noChangeShapeType="1"/>
            </p:cNvSpPr>
            <p:nvPr/>
          </p:nvSpPr>
          <p:spPr bwMode="auto">
            <a:xfrm flipV="1">
              <a:off x="2514600" y="3956050"/>
              <a:ext cx="533400" cy="381000"/>
            </a:xfrm>
            <a:prstGeom prst="line">
              <a:avLst/>
            </a:prstGeom>
            <a:noFill/>
            <a:ln w="38100">
              <a:solidFill>
                <a:srgbClr val="90109E"/>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63509" name="Line 22"/>
            <p:cNvSpPr>
              <a:spLocks noChangeShapeType="1"/>
            </p:cNvSpPr>
            <p:nvPr/>
          </p:nvSpPr>
          <p:spPr bwMode="auto">
            <a:xfrm>
              <a:off x="2489200" y="4614863"/>
              <a:ext cx="609600" cy="381000"/>
            </a:xfrm>
            <a:prstGeom prst="line">
              <a:avLst/>
            </a:prstGeom>
            <a:noFill/>
            <a:ln w="38100">
              <a:solidFill>
                <a:srgbClr val="90109E"/>
              </a:solidFill>
              <a:round/>
              <a:headEnd/>
              <a:tailEnd type="triangle" w="med" len="lg"/>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55314" name="矩形 2">
              <a:extLst>
                <a:ext uri="{FF2B5EF4-FFF2-40B4-BE49-F238E27FC236}">
                  <a16:creationId xmlns:a16="http://schemas.microsoft.com/office/drawing/2014/main" id="{BB2DD4EE-D2A2-471F-9CF9-459E4243ABA7}"/>
                </a:ext>
              </a:extLst>
            </p:cNvPr>
            <p:cNvSpPr>
              <a:spLocks noChangeArrowheads="1"/>
            </p:cNvSpPr>
            <p:nvPr/>
          </p:nvSpPr>
          <p:spPr bwMode="auto">
            <a:xfrm>
              <a:off x="1431925" y="4243388"/>
              <a:ext cx="1108075" cy="461962"/>
            </a:xfrm>
            <a:prstGeom prst="rect">
              <a:avLst/>
            </a:prstGeom>
            <a:solidFill>
              <a:schemeClr val="bg1">
                <a:lumMod val="95000"/>
              </a:schemeClr>
            </a:solidFill>
            <a:ln>
              <a:noFill/>
            </a:ln>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defRPr/>
              </a:pPr>
              <a:r>
                <a:rPr lang="zh-CN" altLang="en-US" sz="24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竟聚率</a:t>
              </a:r>
              <a:endParaRPr lang="zh-CN" altLang="en-US" sz="24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grpSp>
      <p:sp>
        <p:nvSpPr>
          <p:cNvPr id="63502" name="矩形 3"/>
          <p:cNvSpPr>
            <a:spLocks noChangeArrowheads="1"/>
          </p:cNvSpPr>
          <p:nvPr/>
        </p:nvSpPr>
        <p:spPr bwMode="auto">
          <a:xfrm>
            <a:off x="4202113" y="3540125"/>
            <a:ext cx="40608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2400" b="1">
                <a:solidFill>
                  <a:srgbClr val="FF0000"/>
                </a:solidFill>
                <a:latin typeface="楷体" panose="02010609060101010101" pitchFamily="49" charset="-122"/>
                <a:ea typeface="楷体" panose="02010609060101010101" pitchFamily="49" charset="-122"/>
              </a:rPr>
              <a:t>某一种自由基分别与两种单体反应的速率常数之比</a:t>
            </a:r>
            <a:endParaRPr lang="zh-CN" altLang="en-US" sz="2400">
              <a:solidFill>
                <a:srgbClr val="FF0000"/>
              </a:solidFill>
              <a:latin typeface="楷体" panose="02010609060101010101" pitchFamily="49" charset="-122"/>
              <a:ea typeface="楷体" panose="02010609060101010101" pitchFamily="49" charset="-122"/>
            </a:endParaRPr>
          </a:p>
        </p:txBody>
      </p:sp>
      <p:sp>
        <p:nvSpPr>
          <p:cNvPr id="63503" name="矩形 4"/>
          <p:cNvSpPr>
            <a:spLocks noChangeArrowheads="1"/>
          </p:cNvSpPr>
          <p:nvPr/>
        </p:nvSpPr>
        <p:spPr bwMode="auto">
          <a:xfrm>
            <a:off x="4184650" y="4537075"/>
            <a:ext cx="407193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lang="zh-CN" altLang="en-US" sz="2400" b="1">
                <a:solidFill>
                  <a:srgbClr val="FF0000"/>
                </a:solidFill>
                <a:latin typeface="楷体" panose="02010609060101010101" pitchFamily="49" charset="-122"/>
                <a:ea typeface="楷体" panose="02010609060101010101" pitchFamily="49" charset="-122"/>
              </a:rPr>
              <a:t>每种单体自聚与共聚反应的速率常数之比</a:t>
            </a:r>
          </a:p>
        </p:txBody>
      </p:sp>
      <p:sp>
        <p:nvSpPr>
          <p:cNvPr id="63504" name="矩形 2"/>
          <p:cNvSpPr>
            <a:spLocks noChangeArrowheads="1"/>
          </p:cNvSpPr>
          <p:nvPr/>
        </p:nvSpPr>
        <p:spPr bwMode="auto">
          <a:xfrm>
            <a:off x="4603750" y="19050"/>
            <a:ext cx="4540250" cy="460375"/>
          </a:xfrm>
          <a:prstGeom prst="rect">
            <a:avLst/>
          </a:prstGeom>
          <a:noFill/>
          <a:ln w="31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竞聚率</a:t>
            </a:r>
            <a:r>
              <a:rPr kumimoji="1" lang="en-US" altLang="zh-CN" sz="2400">
                <a:latin typeface="Arial" panose="020B0604020202020204" pitchFamily="34" charset="0"/>
                <a:ea typeface="楷体" panose="02010609060101010101" pitchFamily="49" charset="-122"/>
                <a:cs typeface="Arial" panose="020B0604020202020204" pitchFamily="34" charset="0"/>
              </a:rPr>
              <a:t>(Reactivity Ratios)</a:t>
            </a:r>
            <a:r>
              <a:rPr lang="zh-CN" altLang="en-US" sz="2400" b="1">
                <a:latin typeface="楷体" panose="02010609060101010101" pitchFamily="49" charset="-122"/>
                <a:ea typeface="楷体" panose="02010609060101010101" pitchFamily="49" charset="-122"/>
                <a:cs typeface="Arial" panose="020B0604020202020204" pitchFamily="34" charset="0"/>
              </a:rPr>
              <a:t>的概念</a:t>
            </a:r>
            <a:endParaRPr lang="zh-CN" altLang="en-US" sz="2400">
              <a:latin typeface="楷体" panose="02010609060101010101" pitchFamily="49" charset="-122"/>
              <a:ea typeface="楷体" panose="02010609060101010101" pitchFamily="49" charset="-122"/>
              <a:cs typeface="Arial" panose="020B0604020202020204" pitchFamily="34" charset="0"/>
            </a:endParaRPr>
          </a:p>
        </p:txBody>
      </p:sp>
      <p:sp>
        <p:nvSpPr>
          <p:cNvPr id="63505" name="Text Box 28"/>
          <p:cNvSpPr txBox="1">
            <a:spLocks noChangeArrowheads="1"/>
          </p:cNvSpPr>
          <p:nvPr/>
        </p:nvSpPr>
        <p:spPr bwMode="auto">
          <a:xfrm>
            <a:off x="7131050" y="1630363"/>
            <a:ext cx="1441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Mayo</a:t>
            </a:r>
            <a:r>
              <a:rPr lang="zh-CN" altLang="en-US" sz="2000">
                <a:latin typeface="Arial" panose="020B0604020202020204" pitchFamily="34" charset="0"/>
                <a:ea typeface="楷体" panose="02010609060101010101" pitchFamily="49" charset="-122"/>
                <a:cs typeface="Arial" panose="020B0604020202020204" pitchFamily="34" charset="0"/>
              </a:rPr>
              <a:t>等</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5F5025AA-EB73-49B0-9750-CFD3458B1D1C}"/>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451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37AEA07-72CB-40FB-BBD9-BB4F7ACF65C7}"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37</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64516" name="Text Box 1026"/>
          <p:cNvSpPr txBox="1">
            <a:spLocks noChangeArrowheads="1"/>
          </p:cNvSpPr>
          <p:nvPr/>
        </p:nvSpPr>
        <p:spPr bwMode="auto">
          <a:xfrm>
            <a:off x="611188" y="549275"/>
            <a:ext cx="7469187"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zh-CN" sz="1800">
                <a:latin typeface="Century Schoolbook" panose="02040604050505020304" pitchFamily="18" charset="0"/>
                <a:ea typeface="宋体" panose="02010600030101010101" pitchFamily="2" charset="-122"/>
              </a:rPr>
              <a:t>                    </a:t>
            </a:r>
            <a:r>
              <a:rPr lang="en-US" altLang="zh-CN" sz="1800" b="1">
                <a:latin typeface="Arial" panose="020B0604020202020204" pitchFamily="34" charset="0"/>
                <a:ea typeface="宋体" panose="02010600030101010101" pitchFamily="2" charset="-122"/>
                <a:cs typeface="Arial" panose="020B0604020202020204" pitchFamily="34" charset="0"/>
              </a:rPr>
              <a:t>M</a:t>
            </a:r>
            <a:r>
              <a:rPr lang="en-US" altLang="zh-CN" sz="1800" b="1" baseline="-25000">
                <a:latin typeface="Arial" panose="020B0604020202020204" pitchFamily="34" charset="0"/>
                <a:ea typeface="宋体" panose="02010600030101010101" pitchFamily="2" charset="-122"/>
                <a:cs typeface="Arial" panose="020B0604020202020204" pitchFamily="34" charset="0"/>
              </a:rPr>
              <a:t>1</a:t>
            </a:r>
            <a:r>
              <a:rPr lang="en-US" altLang="zh-CN" sz="1800" b="1">
                <a:latin typeface="Arial" panose="020B0604020202020204" pitchFamily="34" charset="0"/>
                <a:ea typeface="宋体" panose="02010600030101010101" pitchFamily="2" charset="-122"/>
                <a:cs typeface="Arial" panose="020B0604020202020204" pitchFamily="34" charset="0"/>
              </a:rPr>
              <a:t> </a:t>
            </a:r>
            <a:r>
              <a:rPr lang="en-US" altLang="zh-CN" sz="1800" b="1">
                <a:latin typeface="Century Schoolbook" panose="02040604050505020304" pitchFamily="18"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自聚                   </a:t>
            </a:r>
            <a:r>
              <a:rPr lang="en-US" altLang="zh-CN" sz="1800" b="1" i="1">
                <a:latin typeface="Arial" panose="020B0604020202020204" pitchFamily="34" charset="0"/>
                <a:ea typeface="宋体" panose="02010600030101010101" pitchFamily="2" charset="-122"/>
              </a:rPr>
              <a:t>r</a:t>
            </a:r>
            <a:r>
              <a:rPr lang="en-US" altLang="zh-CN" sz="1800" b="1" baseline="-25000">
                <a:latin typeface="Arial" panose="020B0604020202020204" pitchFamily="34" charset="0"/>
                <a:ea typeface="宋体" panose="02010600030101010101" pitchFamily="2" charset="-122"/>
              </a:rPr>
              <a:t>1</a:t>
            </a:r>
            <a:r>
              <a:rPr lang="en-US" altLang="zh-CN" sz="1800" b="1">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sym typeface="Symbol" panose="05050102010706020507" pitchFamily="18" charset="2"/>
              </a:rPr>
              <a:t></a:t>
            </a:r>
            <a:r>
              <a:rPr lang="en-US" altLang="zh-CN" sz="1800" b="1">
                <a:latin typeface="Arial" panose="020B0604020202020204" pitchFamily="34"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自聚倾向</a:t>
            </a:r>
            <a:r>
              <a:rPr lang="zh-CN" altLang="en-US" sz="1800" b="1">
                <a:latin typeface="Arial" panose="020B0604020202020204" pitchFamily="34" charset="0"/>
                <a:ea typeface="宋体" panose="02010600030101010101" pitchFamily="2" charset="-122"/>
                <a:sym typeface="Symbol" panose="05050102010706020507" pitchFamily="18" charset="2"/>
              </a:rPr>
              <a:t></a:t>
            </a:r>
            <a:endParaRPr lang="zh-CN" altLang="zh-CN" sz="1800" b="1">
              <a:latin typeface="Arial" panose="020B0604020202020204" pitchFamily="34" charset="0"/>
              <a:ea typeface="宋体" panose="02010600030101010101" pitchFamily="2" charset="-122"/>
            </a:endParaRPr>
          </a:p>
          <a:p>
            <a:pPr algn="just">
              <a:lnSpc>
                <a:spcPct val="100000"/>
              </a:lnSpc>
              <a:spcBef>
                <a:spcPct val="0"/>
              </a:spcBef>
              <a:buFontTx/>
              <a:buNone/>
            </a:pPr>
            <a:r>
              <a:rPr lang="en-US" altLang="zh-CN" sz="1800" b="1">
                <a:latin typeface="Arial" panose="020B0604020202020204" pitchFamily="34" charset="0"/>
                <a:ea typeface="宋体" panose="02010600030101010101" pitchFamily="2" charset="-122"/>
              </a:rPr>
              <a:t>M</a:t>
            </a:r>
            <a:r>
              <a:rPr lang="en-US" altLang="zh-CN" sz="1800" b="1" baseline="-25000">
                <a:latin typeface="Arial" panose="020B0604020202020204" pitchFamily="34" charset="0"/>
                <a:ea typeface="宋体" panose="02010600030101010101" pitchFamily="2" charset="-122"/>
              </a:rPr>
              <a:t>1</a:t>
            </a:r>
            <a:r>
              <a:rPr lang="en-US" altLang="zh-CN" sz="1800" b="1" baseline="30000">
                <a:latin typeface="Arial" panose="020B0604020202020204" pitchFamily="34" charset="0"/>
                <a:ea typeface="宋体" panose="02010600030101010101" pitchFamily="2" charset="-122"/>
                <a:sym typeface="Wingdings" panose="05000000000000000000" pitchFamily="2" charset="2"/>
              </a:rPr>
              <a:t></a:t>
            </a:r>
            <a:endParaRPr lang="zh-CN" altLang="en-US" sz="1800" b="1" baseline="30000">
              <a:latin typeface="Arial" panose="020B0604020202020204" pitchFamily="34" charset="0"/>
              <a:ea typeface="宋体" panose="02010600030101010101" pitchFamily="2" charset="-122"/>
            </a:endParaRPr>
          </a:p>
          <a:p>
            <a:pPr algn="just">
              <a:lnSpc>
                <a:spcPct val="100000"/>
              </a:lnSpc>
              <a:spcBef>
                <a:spcPct val="0"/>
              </a:spcBef>
              <a:buFontTx/>
              <a:buNone/>
            </a:pPr>
            <a:r>
              <a:rPr lang="zh-CN" altLang="en-US" sz="1800" b="1">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M</a:t>
            </a:r>
            <a:r>
              <a:rPr lang="en-US" altLang="zh-CN" sz="1800" b="1" baseline="-25000">
                <a:latin typeface="Arial" panose="020B0604020202020204" pitchFamily="34" charset="0"/>
                <a:ea typeface="宋体" panose="02010600030101010101" pitchFamily="2" charset="-122"/>
              </a:rPr>
              <a:t>2</a:t>
            </a:r>
            <a:r>
              <a:rPr lang="en-US" altLang="zh-CN" sz="1800" b="1">
                <a:latin typeface="Arial" panose="020B0604020202020204" pitchFamily="34"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共聚                   </a:t>
            </a:r>
            <a:r>
              <a:rPr lang="en-US" altLang="zh-CN" sz="1800" b="1" i="1">
                <a:latin typeface="Arial" panose="020B0604020202020204" pitchFamily="34" charset="0"/>
                <a:ea typeface="宋体" panose="02010600030101010101" pitchFamily="2" charset="-122"/>
              </a:rPr>
              <a:t>r</a:t>
            </a:r>
            <a:r>
              <a:rPr lang="en-US" altLang="zh-CN" sz="1800" b="1" baseline="-25000">
                <a:latin typeface="Arial" panose="020B0604020202020204" pitchFamily="34" charset="0"/>
                <a:ea typeface="宋体" panose="02010600030101010101" pitchFamily="2" charset="-122"/>
              </a:rPr>
              <a:t>1</a:t>
            </a:r>
            <a:r>
              <a:rPr lang="en-US" altLang="zh-CN" sz="1800" b="1">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sym typeface="Symbol" panose="05050102010706020507" pitchFamily="18" charset="2"/>
              </a:rPr>
              <a:t></a:t>
            </a:r>
            <a:r>
              <a:rPr lang="en-US" altLang="zh-CN" sz="1800" b="1">
                <a:latin typeface="Arial" panose="020B0604020202020204" pitchFamily="34"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共聚倾向</a:t>
            </a:r>
            <a:r>
              <a:rPr lang="zh-CN" altLang="en-US" sz="1800" b="1">
                <a:latin typeface="Arial" panose="020B0604020202020204" pitchFamily="34" charset="0"/>
                <a:ea typeface="宋体" panose="02010600030101010101" pitchFamily="2" charset="-122"/>
                <a:sym typeface="Symbol" panose="05050102010706020507" pitchFamily="18" charset="2"/>
              </a:rPr>
              <a:t></a:t>
            </a:r>
          </a:p>
          <a:p>
            <a:pPr algn="just">
              <a:lnSpc>
                <a:spcPct val="100000"/>
              </a:lnSpc>
              <a:spcBef>
                <a:spcPct val="0"/>
              </a:spcBef>
              <a:buFontTx/>
              <a:buNone/>
            </a:pPr>
            <a:endParaRPr lang="zh-CN" altLang="en-US" sz="1800" b="1">
              <a:latin typeface="Arial" panose="020B0604020202020204" pitchFamily="34" charset="0"/>
              <a:ea typeface="宋体" panose="02010600030101010101" pitchFamily="2" charset="-122"/>
              <a:sym typeface="Symbol" panose="05050102010706020507" pitchFamily="18" charset="2"/>
            </a:endParaRPr>
          </a:p>
          <a:p>
            <a:pPr>
              <a:lnSpc>
                <a:spcPct val="100000"/>
              </a:lnSpc>
              <a:spcBef>
                <a:spcPct val="0"/>
              </a:spcBef>
              <a:buFontTx/>
              <a:buNone/>
            </a:pPr>
            <a:r>
              <a:rPr lang="zh-CN" altLang="zh-CN" sz="1800" b="1">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M</a:t>
            </a:r>
            <a:r>
              <a:rPr lang="en-US" altLang="zh-CN" sz="1800" b="1" baseline="-25000">
                <a:latin typeface="Arial" panose="020B0604020202020204" pitchFamily="34" charset="0"/>
                <a:ea typeface="宋体" panose="02010600030101010101" pitchFamily="2" charset="-122"/>
              </a:rPr>
              <a:t>2</a:t>
            </a:r>
            <a:r>
              <a:rPr lang="en-US" altLang="zh-CN" sz="1800" b="1">
                <a:latin typeface="Arial" panose="020B0604020202020204" pitchFamily="34"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自聚                   </a:t>
            </a:r>
            <a:r>
              <a:rPr lang="en-US" altLang="zh-CN" sz="1800" b="1" i="1">
                <a:latin typeface="Arial" panose="020B0604020202020204" pitchFamily="34" charset="0"/>
                <a:ea typeface="宋体" panose="02010600030101010101" pitchFamily="2" charset="-122"/>
              </a:rPr>
              <a:t>r</a:t>
            </a:r>
            <a:r>
              <a:rPr lang="en-US" altLang="zh-CN" sz="1800" b="1" baseline="-25000">
                <a:latin typeface="Arial" panose="020B0604020202020204" pitchFamily="34" charset="0"/>
                <a:ea typeface="宋体" panose="02010600030101010101" pitchFamily="2" charset="-122"/>
              </a:rPr>
              <a:t>2</a:t>
            </a:r>
            <a:r>
              <a:rPr lang="en-US" altLang="zh-CN" sz="1800" b="1">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sym typeface="Symbol" panose="05050102010706020507" pitchFamily="18" charset="2"/>
              </a:rPr>
              <a:t></a:t>
            </a:r>
            <a:r>
              <a:rPr lang="en-US" altLang="zh-CN" sz="1800" b="1">
                <a:latin typeface="Arial" panose="020B0604020202020204" pitchFamily="34"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自聚倾向</a:t>
            </a:r>
            <a:r>
              <a:rPr lang="zh-CN" altLang="en-US" sz="1800" b="1">
                <a:latin typeface="Arial" panose="020B0604020202020204" pitchFamily="34" charset="0"/>
                <a:ea typeface="宋体" panose="02010600030101010101" pitchFamily="2" charset="-122"/>
                <a:sym typeface="Symbol" panose="05050102010706020507" pitchFamily="18" charset="2"/>
              </a:rPr>
              <a:t></a:t>
            </a:r>
            <a:endParaRPr lang="zh-CN" altLang="zh-CN" sz="1800" b="1">
              <a:latin typeface="Arial" panose="020B0604020202020204" pitchFamily="34" charset="0"/>
              <a:ea typeface="宋体" panose="02010600030101010101" pitchFamily="2" charset="-122"/>
            </a:endParaRPr>
          </a:p>
          <a:p>
            <a:pPr>
              <a:lnSpc>
                <a:spcPct val="100000"/>
              </a:lnSpc>
              <a:spcBef>
                <a:spcPct val="0"/>
              </a:spcBef>
              <a:buFontTx/>
              <a:buNone/>
            </a:pPr>
            <a:r>
              <a:rPr lang="en-US" altLang="zh-CN" sz="1800" b="1">
                <a:latin typeface="Arial" panose="020B0604020202020204" pitchFamily="34" charset="0"/>
                <a:ea typeface="宋体" panose="02010600030101010101" pitchFamily="2" charset="-122"/>
              </a:rPr>
              <a:t>M</a:t>
            </a:r>
            <a:r>
              <a:rPr lang="en-US" altLang="zh-CN" sz="1800" b="1" baseline="-25000">
                <a:latin typeface="Arial" panose="020B0604020202020204" pitchFamily="34" charset="0"/>
                <a:ea typeface="宋体" panose="02010600030101010101" pitchFamily="2" charset="-122"/>
              </a:rPr>
              <a:t>2</a:t>
            </a:r>
            <a:r>
              <a:rPr lang="en-US" altLang="zh-CN" sz="1800" b="1" baseline="30000">
                <a:latin typeface="Arial" panose="020B0604020202020204" pitchFamily="34" charset="0"/>
                <a:ea typeface="宋体" panose="02010600030101010101" pitchFamily="2" charset="-122"/>
                <a:sym typeface="Wingdings" panose="05000000000000000000" pitchFamily="2" charset="2"/>
              </a:rPr>
              <a:t></a:t>
            </a:r>
            <a:endParaRPr lang="zh-CN" altLang="en-US" sz="1800" b="1" baseline="30000">
              <a:latin typeface="Arial" panose="020B0604020202020204" pitchFamily="34" charset="0"/>
              <a:ea typeface="宋体" panose="02010600030101010101" pitchFamily="2" charset="-122"/>
            </a:endParaRPr>
          </a:p>
          <a:p>
            <a:pPr>
              <a:lnSpc>
                <a:spcPct val="100000"/>
              </a:lnSpc>
              <a:spcBef>
                <a:spcPct val="0"/>
              </a:spcBef>
              <a:buFontTx/>
              <a:buNone/>
            </a:pPr>
            <a:r>
              <a:rPr lang="zh-CN" altLang="en-US" sz="1800" b="1">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M</a:t>
            </a:r>
            <a:r>
              <a:rPr lang="en-US" altLang="zh-CN" sz="1800" b="1" baseline="-25000">
                <a:latin typeface="Arial" panose="020B0604020202020204" pitchFamily="34" charset="0"/>
                <a:ea typeface="宋体" panose="02010600030101010101" pitchFamily="2" charset="-122"/>
              </a:rPr>
              <a:t>1</a:t>
            </a:r>
            <a:r>
              <a:rPr lang="en-US" altLang="zh-CN" sz="1800" b="1">
                <a:latin typeface="Arial" panose="020B0604020202020204" pitchFamily="34"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共聚                   </a:t>
            </a:r>
            <a:r>
              <a:rPr lang="en-US" altLang="zh-CN" sz="1800" b="1" i="1">
                <a:latin typeface="Arial" panose="020B0604020202020204" pitchFamily="34" charset="0"/>
                <a:ea typeface="宋体" panose="02010600030101010101" pitchFamily="2" charset="-122"/>
              </a:rPr>
              <a:t>r</a:t>
            </a:r>
            <a:r>
              <a:rPr lang="en-US" altLang="zh-CN" sz="1800" b="1" baseline="-25000">
                <a:latin typeface="Arial" panose="020B0604020202020204" pitchFamily="34" charset="0"/>
                <a:ea typeface="宋体" panose="02010600030101010101" pitchFamily="2" charset="-122"/>
              </a:rPr>
              <a:t>2</a:t>
            </a:r>
            <a:r>
              <a:rPr lang="en-US" altLang="zh-CN" sz="1800" b="1">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sym typeface="Symbol" panose="05050102010706020507" pitchFamily="18" charset="2"/>
              </a:rPr>
              <a:t></a:t>
            </a:r>
            <a:r>
              <a:rPr lang="en-US" altLang="zh-CN" sz="1800" b="1">
                <a:latin typeface="Arial" panose="020B0604020202020204" pitchFamily="34" charset="0"/>
                <a:ea typeface="宋体" panose="02010600030101010101" pitchFamily="2" charset="-122"/>
              </a:rPr>
              <a:t>，     </a:t>
            </a:r>
            <a:r>
              <a:rPr lang="zh-CN" altLang="en-US" sz="1800" b="1">
                <a:latin typeface="Arial" panose="020B0604020202020204" pitchFamily="34" charset="0"/>
                <a:ea typeface="宋体" panose="02010600030101010101" pitchFamily="2" charset="-122"/>
              </a:rPr>
              <a:t>共聚倾向</a:t>
            </a:r>
            <a:r>
              <a:rPr lang="zh-CN" altLang="en-US" sz="1800" b="1">
                <a:latin typeface="Arial" panose="020B0604020202020204" pitchFamily="34" charset="0"/>
                <a:ea typeface="宋体" panose="02010600030101010101" pitchFamily="2" charset="-122"/>
                <a:sym typeface="Symbol" panose="05050102010706020507" pitchFamily="18" charset="2"/>
              </a:rPr>
              <a:t></a:t>
            </a:r>
            <a:endParaRPr lang="zh-CN" altLang="en-US" sz="1800" b="1">
              <a:latin typeface="Arial" panose="020B0604020202020204" pitchFamily="34" charset="0"/>
              <a:ea typeface="宋体" panose="02010600030101010101" pitchFamily="2" charset="-122"/>
            </a:endParaRPr>
          </a:p>
        </p:txBody>
      </p:sp>
      <p:graphicFrame>
        <p:nvGraphicFramePr>
          <p:cNvPr id="64517" name="Object 2048"/>
          <p:cNvGraphicFramePr>
            <a:graphicFrameLocks noChangeAspect="1"/>
          </p:cNvGraphicFramePr>
          <p:nvPr/>
        </p:nvGraphicFramePr>
        <p:xfrm>
          <a:off x="7408863" y="549275"/>
          <a:ext cx="1627187" cy="735013"/>
        </p:xfrm>
        <a:graphic>
          <a:graphicData uri="http://schemas.openxmlformats.org/presentationml/2006/ole">
            <mc:AlternateContent xmlns:mc="http://schemas.openxmlformats.org/markup-compatibility/2006">
              <mc:Choice xmlns:v="urn:schemas-microsoft-com:vml" Requires="v">
                <p:oleObj spid="_x0000_s64562" name="公式" r:id="rId3" imgW="952087" imgH="431613" progId="Equation.3">
                  <p:embed/>
                </p:oleObj>
              </mc:Choice>
              <mc:Fallback>
                <p:oleObj name="公式" r:id="rId3" imgW="952087" imgH="431613" progId="Equation.3">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8863" y="549275"/>
                        <a:ext cx="1627187" cy="735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4518" name="Object 2049"/>
          <p:cNvGraphicFramePr>
            <a:graphicFrameLocks noChangeAspect="1"/>
          </p:cNvGraphicFramePr>
          <p:nvPr/>
        </p:nvGraphicFramePr>
        <p:xfrm>
          <a:off x="7380288" y="1916113"/>
          <a:ext cx="996950" cy="771525"/>
        </p:xfrm>
        <a:graphic>
          <a:graphicData uri="http://schemas.openxmlformats.org/presentationml/2006/ole">
            <mc:AlternateContent xmlns:mc="http://schemas.openxmlformats.org/markup-compatibility/2006">
              <mc:Choice xmlns:v="urn:schemas-microsoft-com:vml" Requires="v">
                <p:oleObj spid="_x0000_s64563" name="公式" r:id="rId5" imgW="558558" imgH="431613" progId="Equation.3">
                  <p:embed/>
                </p:oleObj>
              </mc:Choice>
              <mc:Fallback>
                <p:oleObj name="公式" r:id="rId5" imgW="558558" imgH="431613" progId="Equation.3">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80288" y="1916113"/>
                        <a:ext cx="996950" cy="771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64519" name="Line 1030"/>
          <p:cNvSpPr>
            <a:spLocks noChangeShapeType="1"/>
          </p:cNvSpPr>
          <p:nvPr/>
        </p:nvSpPr>
        <p:spPr bwMode="auto">
          <a:xfrm flipV="1">
            <a:off x="1258888" y="1844675"/>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64520" name="Line 1031"/>
          <p:cNvSpPr>
            <a:spLocks noChangeShapeType="1"/>
          </p:cNvSpPr>
          <p:nvPr/>
        </p:nvSpPr>
        <p:spPr bwMode="auto">
          <a:xfrm>
            <a:off x="1258888" y="2133600"/>
            <a:ext cx="609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64521" name="Line 1032"/>
          <p:cNvSpPr>
            <a:spLocks noChangeShapeType="1"/>
          </p:cNvSpPr>
          <p:nvPr/>
        </p:nvSpPr>
        <p:spPr bwMode="auto">
          <a:xfrm flipV="1">
            <a:off x="1258888" y="692150"/>
            <a:ext cx="647700" cy="3095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64522" name="Line 1033"/>
          <p:cNvSpPr>
            <a:spLocks noChangeShapeType="1"/>
          </p:cNvSpPr>
          <p:nvPr/>
        </p:nvSpPr>
        <p:spPr bwMode="auto">
          <a:xfrm>
            <a:off x="1243013" y="1016000"/>
            <a:ext cx="663575" cy="287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64523" name="Line 1034"/>
          <p:cNvSpPr>
            <a:spLocks noChangeShapeType="1"/>
          </p:cNvSpPr>
          <p:nvPr/>
        </p:nvSpPr>
        <p:spPr bwMode="auto">
          <a:xfrm>
            <a:off x="1204913" y="5734050"/>
            <a:ext cx="6096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524" name="Line 1035"/>
          <p:cNvSpPr>
            <a:spLocks noChangeShapeType="1"/>
          </p:cNvSpPr>
          <p:nvPr/>
        </p:nvSpPr>
        <p:spPr bwMode="auto">
          <a:xfrm>
            <a:off x="2500313" y="5589588"/>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25" name="Line 1036"/>
          <p:cNvSpPr>
            <a:spLocks noChangeShapeType="1"/>
          </p:cNvSpPr>
          <p:nvPr/>
        </p:nvSpPr>
        <p:spPr bwMode="auto">
          <a:xfrm>
            <a:off x="4829175" y="5589588"/>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26" name="Text Box 1037"/>
          <p:cNvSpPr txBox="1">
            <a:spLocks noChangeArrowheads="1"/>
          </p:cNvSpPr>
          <p:nvPr/>
        </p:nvSpPr>
        <p:spPr bwMode="auto">
          <a:xfrm>
            <a:off x="2381250" y="57340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40000"/>
              </a:spcBef>
              <a:buFontTx/>
              <a:buNone/>
            </a:pPr>
            <a:r>
              <a:rPr lang="zh-CN" altLang="en-US" sz="1800">
                <a:latin typeface="Century Schoolbook" panose="02040604050505020304" pitchFamily="18" charset="0"/>
                <a:ea typeface="宋体" panose="02010600030101010101" pitchFamily="2" charset="-122"/>
              </a:rPr>
              <a:t>0</a:t>
            </a:r>
          </a:p>
        </p:txBody>
      </p:sp>
      <p:sp>
        <p:nvSpPr>
          <p:cNvPr id="64527" name="Text Box 1038"/>
          <p:cNvSpPr txBox="1">
            <a:spLocks noChangeArrowheads="1"/>
          </p:cNvSpPr>
          <p:nvPr/>
        </p:nvSpPr>
        <p:spPr bwMode="auto">
          <a:xfrm>
            <a:off x="4746625" y="5734050"/>
            <a:ext cx="298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40000"/>
              </a:spcBef>
              <a:buFontTx/>
              <a:buNone/>
            </a:pPr>
            <a:r>
              <a:rPr lang="zh-CN" altLang="en-US" sz="1800">
                <a:latin typeface="Century Schoolbook" panose="02040604050505020304" pitchFamily="18" charset="0"/>
                <a:ea typeface="宋体" panose="02010600030101010101" pitchFamily="2" charset="-122"/>
              </a:rPr>
              <a:t>1</a:t>
            </a:r>
          </a:p>
        </p:txBody>
      </p:sp>
      <p:sp>
        <p:nvSpPr>
          <p:cNvPr id="64528" name="Text Box 1039"/>
          <p:cNvSpPr txBox="1">
            <a:spLocks noChangeArrowheads="1"/>
          </p:cNvSpPr>
          <p:nvPr/>
        </p:nvSpPr>
        <p:spPr bwMode="auto">
          <a:xfrm>
            <a:off x="4933950" y="3644900"/>
            <a:ext cx="1725613" cy="1016000"/>
          </a:xfrm>
          <a:prstGeom prst="rect">
            <a:avLst/>
          </a:prstGeom>
          <a:solidFill>
            <a:srgbClr val="FFFFFF"/>
          </a:solidFill>
          <a:ln w="12700">
            <a:solidFill>
              <a:schemeClr val="tx1"/>
            </a:solidFill>
            <a:miter lim="800000"/>
            <a:headEnd/>
            <a:tailEnd/>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ct val="40000"/>
              </a:spcBef>
              <a:buFontTx/>
              <a:buNone/>
            </a:pP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a:t>
            </a:r>
            <a:r>
              <a:rPr lang="en-US" altLang="zh-CN" sz="1800" b="1">
                <a:latin typeface="Century Schoolbook" panose="02040604050505020304" pitchFamily="18" charset="0"/>
                <a:ea typeface="宋体" panose="02010600030101010101" pitchFamily="2" charset="-122"/>
              </a:rPr>
              <a:t>&gt;1   or</a:t>
            </a:r>
          </a:p>
          <a:p>
            <a:pPr algn="ctr" eaLnBrk="1" hangingPunct="1">
              <a:lnSpc>
                <a:spcPct val="80000"/>
              </a:lnSpc>
              <a:spcBef>
                <a:spcPct val="40000"/>
              </a:spcBef>
              <a:buFontTx/>
              <a:buNone/>
            </a:pPr>
            <a:r>
              <a:rPr lang="en-US" altLang="zh-CN" sz="1800" b="1">
                <a:latin typeface="Century Schoolbook" panose="02040604050505020304" pitchFamily="18" charset="0"/>
                <a:ea typeface="宋体" panose="02010600030101010101" pitchFamily="2" charset="-122"/>
              </a:rPr>
              <a: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&gt;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a:t>
            </a:r>
          </a:p>
          <a:p>
            <a:pPr algn="ctr" eaLnBrk="1" hangingPunct="1">
              <a:lnSpc>
                <a:spcPct val="80000"/>
              </a:lnSpc>
              <a:spcBef>
                <a:spcPct val="40000"/>
              </a:spcBef>
              <a:buFontTx/>
              <a:buNone/>
            </a:pPr>
            <a:r>
              <a:rPr lang="zh-CN" altLang="en-US" sz="2000" b="1">
                <a:solidFill>
                  <a:srgbClr val="FF0000"/>
                </a:solidFill>
                <a:latin typeface="楷体" panose="02010609060101010101" pitchFamily="49" charset="-122"/>
                <a:ea typeface="楷体" panose="02010609060101010101" pitchFamily="49" charset="-122"/>
              </a:rPr>
              <a:t>均聚大于共聚</a:t>
            </a:r>
          </a:p>
        </p:txBody>
      </p:sp>
      <p:sp>
        <p:nvSpPr>
          <p:cNvPr id="64529" name="Text Box 1040"/>
          <p:cNvSpPr txBox="1">
            <a:spLocks noChangeArrowheads="1"/>
          </p:cNvSpPr>
          <p:nvPr/>
        </p:nvSpPr>
        <p:spPr bwMode="auto">
          <a:xfrm>
            <a:off x="2720975" y="3644900"/>
            <a:ext cx="1922463" cy="1031875"/>
          </a:xfrm>
          <a:prstGeom prst="rect">
            <a:avLst/>
          </a:prstGeom>
          <a:solidFill>
            <a:srgbClr val="FFFFFF"/>
          </a:solidFill>
          <a:ln w="12700">
            <a:solidFill>
              <a:schemeClr val="tx1"/>
            </a:solidFill>
            <a:miter lim="800000"/>
            <a:headEnd/>
            <a:tailEnd/>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ts val="1200"/>
              </a:spcBef>
              <a:buFontTx/>
              <a:buNone/>
            </a:pPr>
            <a:r>
              <a:rPr lang="en-US" altLang="zh-CN" sz="2000" b="1" i="1">
                <a:latin typeface="Century Schoolbook" panose="02040604050505020304" pitchFamily="18" charset="0"/>
                <a:ea typeface="宋体" panose="02010600030101010101" pitchFamily="2" charset="-122"/>
              </a:rPr>
              <a:t>r</a:t>
            </a:r>
            <a:r>
              <a:rPr lang="en-US" altLang="zh-CN" sz="2000" b="1" baseline="-25000">
                <a:latin typeface="Century Schoolbook" panose="02040604050505020304" pitchFamily="18" charset="0"/>
                <a:ea typeface="宋体" panose="02010600030101010101" pitchFamily="2" charset="-122"/>
              </a:rPr>
              <a:t>1</a:t>
            </a:r>
            <a:r>
              <a:rPr lang="en-US" altLang="zh-CN" sz="2000" b="1">
                <a:latin typeface="Century Schoolbook" panose="02040604050505020304" pitchFamily="18" charset="0"/>
                <a:ea typeface="宋体" panose="02010600030101010101" pitchFamily="2" charset="-122"/>
              </a:rPr>
              <a:t>&lt;</a:t>
            </a:r>
            <a:r>
              <a:rPr lang="en-US" altLang="zh-CN" sz="1800" b="1">
                <a:latin typeface="Century Schoolbook" panose="02040604050505020304" pitchFamily="18" charset="0"/>
                <a:ea typeface="宋体" panose="02010600030101010101" pitchFamily="2" charset="-122"/>
              </a:rPr>
              <a:t>1</a:t>
            </a:r>
            <a:r>
              <a:rPr lang="en-US" altLang="zh-CN" sz="2000" b="1">
                <a:latin typeface="Century Schoolbook" panose="02040604050505020304" pitchFamily="18" charset="0"/>
                <a:ea typeface="宋体" panose="02010600030101010101" pitchFamily="2" charset="-122"/>
              </a:rPr>
              <a:t>   or</a:t>
            </a:r>
          </a:p>
          <a:p>
            <a:pPr algn="ctr" eaLnBrk="1" hangingPunct="1">
              <a:lnSpc>
                <a:spcPct val="80000"/>
              </a:lnSpc>
              <a:spcBef>
                <a:spcPts val="600"/>
              </a:spcBef>
              <a:buFontTx/>
              <a:buNone/>
            </a:pPr>
            <a:r>
              <a:rPr lang="en-US" altLang="zh-CN" sz="2000" b="1">
                <a:latin typeface="Century Schoolbook" panose="02040604050505020304" pitchFamily="18" charset="0"/>
                <a:ea typeface="宋体" panose="02010600030101010101" pitchFamily="2" charset="-122"/>
              </a:rPr>
              <a:t> </a:t>
            </a:r>
            <a:r>
              <a:rPr lang="en-US" altLang="zh-CN" sz="2000" b="1" i="1">
                <a:latin typeface="Century Schoolbook" panose="02040604050505020304" pitchFamily="18" charset="0"/>
                <a:ea typeface="宋体" panose="02010600030101010101" pitchFamily="2" charset="-122"/>
              </a:rPr>
              <a:t>k</a:t>
            </a:r>
            <a:r>
              <a:rPr lang="en-US" altLang="zh-CN" sz="2000" b="1" baseline="-25000">
                <a:latin typeface="Century Schoolbook" panose="02040604050505020304" pitchFamily="18" charset="0"/>
                <a:ea typeface="宋体" panose="02010600030101010101" pitchFamily="2" charset="-122"/>
              </a:rPr>
              <a:t>11 </a:t>
            </a:r>
            <a:r>
              <a:rPr lang="en-US" altLang="zh-CN" sz="2000" b="1">
                <a:latin typeface="Century Schoolbook" panose="02040604050505020304" pitchFamily="18" charset="0"/>
                <a:ea typeface="宋体" panose="02010600030101010101" pitchFamily="2" charset="-122"/>
              </a:rPr>
              <a:t>&lt; </a:t>
            </a:r>
            <a:r>
              <a:rPr lang="en-US" altLang="zh-CN" sz="2000" b="1" i="1">
                <a:latin typeface="Century Schoolbook" panose="02040604050505020304" pitchFamily="18" charset="0"/>
                <a:ea typeface="宋体" panose="02010600030101010101" pitchFamily="2" charset="-122"/>
              </a:rPr>
              <a:t>k</a:t>
            </a:r>
            <a:r>
              <a:rPr lang="en-US" altLang="zh-CN" sz="2000" b="1" baseline="-25000">
                <a:latin typeface="Century Schoolbook" panose="02040604050505020304" pitchFamily="18" charset="0"/>
                <a:ea typeface="宋体" panose="02010600030101010101" pitchFamily="2" charset="-122"/>
              </a:rPr>
              <a:t>12 </a:t>
            </a:r>
          </a:p>
          <a:p>
            <a:pPr algn="ctr" eaLnBrk="1" hangingPunct="1">
              <a:lnSpc>
                <a:spcPct val="80000"/>
              </a:lnSpc>
              <a:spcBef>
                <a:spcPct val="40000"/>
              </a:spcBef>
              <a:buFontTx/>
              <a:buNone/>
            </a:pPr>
            <a:r>
              <a:rPr lang="zh-CN" altLang="en-US" sz="2000" b="1">
                <a:solidFill>
                  <a:srgbClr val="FF0000"/>
                </a:solidFill>
                <a:latin typeface="楷体" panose="02010609060101010101" pitchFamily="49" charset="-122"/>
                <a:ea typeface="楷体" panose="02010609060101010101" pitchFamily="49" charset="-122"/>
              </a:rPr>
              <a:t>共聚大于均聚</a:t>
            </a:r>
          </a:p>
        </p:txBody>
      </p:sp>
      <p:sp>
        <p:nvSpPr>
          <p:cNvPr id="64530" name="AutoShape 1041"/>
          <p:cNvSpPr>
            <a:spLocks/>
          </p:cNvSpPr>
          <p:nvPr/>
        </p:nvSpPr>
        <p:spPr bwMode="auto">
          <a:xfrm>
            <a:off x="544513" y="3644900"/>
            <a:ext cx="1651000" cy="1008063"/>
          </a:xfrm>
          <a:prstGeom prst="borderCallout2">
            <a:avLst>
              <a:gd name="adj1" fmla="val 15222"/>
              <a:gd name="adj2" fmla="val 104000"/>
              <a:gd name="adj3" fmla="val 15222"/>
              <a:gd name="adj4" fmla="val 111750"/>
              <a:gd name="adj5" fmla="val 219875"/>
              <a:gd name="adj6" fmla="val 119667"/>
            </a:avLst>
          </a:prstGeom>
          <a:solidFill>
            <a:srgbClr val="FFFFFF"/>
          </a:solidFill>
          <a:ln w="12700">
            <a:solidFill>
              <a:schemeClr val="tx1"/>
            </a:solidFill>
            <a:miter lim="800000"/>
            <a:headEnd/>
            <a:tailEnd/>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80000"/>
              </a:lnSpc>
              <a:spcBef>
                <a:spcPct val="40000"/>
              </a:spcBef>
              <a:buFontTx/>
              <a:buNone/>
            </a:pP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a:t>
            </a:r>
            <a:r>
              <a:rPr lang="en-US" altLang="zh-CN" sz="1800" b="1">
                <a:latin typeface="Century Schoolbook" panose="02040604050505020304" pitchFamily="18" charset="0"/>
                <a:ea typeface="宋体" panose="02010600030101010101" pitchFamily="2" charset="-122"/>
              </a:rPr>
              <a:t>= 0   or</a:t>
            </a:r>
          </a:p>
          <a:p>
            <a:pPr algn="ctr" eaLnBrk="1" hangingPunct="1">
              <a:lnSpc>
                <a:spcPct val="80000"/>
              </a:lnSpc>
              <a:spcBef>
                <a:spcPct val="40000"/>
              </a:spcBef>
              <a:buFontTx/>
              <a:buNone/>
            </a:pPr>
            <a:r>
              <a:rPr lang="en-US" altLang="zh-CN" sz="1800" b="1">
                <a:latin typeface="Century Schoolbook" panose="02040604050505020304" pitchFamily="18" charset="0"/>
                <a:ea typeface="宋体" panose="02010600030101010101" pitchFamily="2" charset="-122"/>
              </a:rPr>
              <a: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a:t>
            </a:r>
            <a:r>
              <a:rPr lang="en-US" altLang="zh-CN" sz="1800" b="1">
                <a:latin typeface="Century Schoolbook" panose="02040604050505020304" pitchFamily="18" charset="0"/>
                <a:ea typeface="宋体" panose="02010600030101010101" pitchFamily="2" charset="-122"/>
              </a:rPr>
              <a:t>= 0</a:t>
            </a:r>
          </a:p>
          <a:p>
            <a:pPr algn="ctr" eaLnBrk="1" hangingPunct="1">
              <a:lnSpc>
                <a:spcPct val="80000"/>
              </a:lnSpc>
              <a:spcBef>
                <a:spcPct val="40000"/>
              </a:spcBef>
              <a:buFontTx/>
              <a:buNone/>
            </a:pPr>
            <a:r>
              <a:rPr lang="zh-CN" altLang="en-US" sz="2000" b="1">
                <a:solidFill>
                  <a:srgbClr val="FF0000"/>
                </a:solidFill>
                <a:latin typeface="楷体" panose="02010609060101010101" pitchFamily="49" charset="-122"/>
                <a:ea typeface="楷体" panose="02010609060101010101" pitchFamily="49" charset="-122"/>
              </a:rPr>
              <a:t>只能共聚</a:t>
            </a:r>
            <a:endParaRPr lang="en-US" altLang="zh-CN" sz="1800" b="1">
              <a:solidFill>
                <a:srgbClr val="FF0000"/>
              </a:solidFill>
              <a:latin typeface="楷体" panose="02010609060101010101" pitchFamily="49" charset="-122"/>
              <a:ea typeface="楷体" panose="02010609060101010101" pitchFamily="49" charset="-122"/>
            </a:endParaRPr>
          </a:p>
        </p:txBody>
      </p:sp>
      <p:sp>
        <p:nvSpPr>
          <p:cNvPr id="64531" name="Line 1042"/>
          <p:cNvSpPr>
            <a:spLocks noChangeShapeType="1"/>
          </p:cNvSpPr>
          <p:nvPr/>
        </p:nvSpPr>
        <p:spPr bwMode="auto">
          <a:xfrm flipH="1" flipV="1">
            <a:off x="2500313" y="3436938"/>
            <a:ext cx="23812" cy="229711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2" name="Line 1043"/>
          <p:cNvSpPr>
            <a:spLocks noChangeShapeType="1"/>
          </p:cNvSpPr>
          <p:nvPr/>
        </p:nvSpPr>
        <p:spPr bwMode="auto">
          <a:xfrm flipH="1" flipV="1">
            <a:off x="4786313" y="3513138"/>
            <a:ext cx="42862" cy="222091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3" name="Text Box 1044"/>
          <p:cNvSpPr txBox="1">
            <a:spLocks noChangeArrowheads="1"/>
          </p:cNvSpPr>
          <p:nvPr/>
        </p:nvSpPr>
        <p:spPr bwMode="auto">
          <a:xfrm>
            <a:off x="6929438" y="3698875"/>
            <a:ext cx="1746250" cy="954088"/>
          </a:xfrm>
          <a:prstGeom prst="rect">
            <a:avLst/>
          </a:prstGeom>
          <a:solidFill>
            <a:srgbClr val="FFFFFF"/>
          </a:solidFill>
          <a:ln w="12700">
            <a:solidFill>
              <a:schemeClr val="tx1"/>
            </a:solidFill>
            <a:miter lim="800000"/>
            <a:headEnd/>
            <a:tailEnd/>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60000"/>
              </a:spcBef>
              <a:buFontTx/>
              <a:buNone/>
            </a:pP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a:t>
            </a:r>
            <a:r>
              <a:rPr lang="en-US" altLang="zh-CN" sz="1800" b="1">
                <a:latin typeface="Century Schoolbook" panose="02040604050505020304" pitchFamily="18" charset="0"/>
                <a:ea typeface="宋体" panose="02010600030101010101" pitchFamily="2" charset="-122"/>
              </a:rPr>
              <a:t>=</a:t>
            </a:r>
            <a:r>
              <a:rPr lang="en-US" altLang="zh-CN" sz="1800" b="1">
                <a:latin typeface="Century Schoolbook" panose="02040604050505020304" pitchFamily="18" charset="0"/>
                <a:ea typeface="宋体" panose="02010600030101010101" pitchFamily="2" charset="-122"/>
                <a:sym typeface="Symbol" panose="05050102010706020507" pitchFamily="18" charset="2"/>
              </a:rPr>
              <a:t></a:t>
            </a:r>
            <a:r>
              <a:rPr lang="en-US" altLang="zh-CN" sz="1800" b="1">
                <a:latin typeface="Century Schoolbook" panose="02040604050505020304" pitchFamily="18" charset="0"/>
                <a:ea typeface="宋体" panose="02010600030101010101" pitchFamily="2" charset="-122"/>
              </a:rPr>
              <a:t>   or</a:t>
            </a:r>
          </a:p>
          <a:p>
            <a:pPr algn="ctr" eaLnBrk="1" hangingPunct="1">
              <a:lnSpc>
                <a:spcPct val="100000"/>
              </a:lnSpc>
              <a:spcBef>
                <a:spcPct val="0"/>
              </a:spcBef>
              <a:buFontTx/>
              <a:buNone/>
            </a:pPr>
            <a:r>
              <a:rPr lang="en-US" altLang="zh-CN" sz="1800" b="1">
                <a:latin typeface="Century Schoolbook" panose="02040604050505020304" pitchFamily="18" charset="0"/>
                <a:ea typeface="宋体" panose="02010600030101010101" pitchFamily="2" charset="-122"/>
              </a:rPr>
              <a: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&gt;&gt;</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   </a:t>
            </a:r>
          </a:p>
          <a:p>
            <a:pPr algn="ctr" eaLnBrk="1" hangingPunct="1">
              <a:lnSpc>
                <a:spcPct val="100000"/>
              </a:lnSpc>
              <a:spcBef>
                <a:spcPct val="0"/>
              </a:spcBef>
              <a:buFontTx/>
              <a:buNone/>
            </a:pPr>
            <a:r>
              <a:rPr lang="en-US" altLang="zh-CN" sz="1800" b="1" baseline="-25000">
                <a:latin typeface="Century Schoolbook" panose="02040604050505020304" pitchFamily="18" charset="0"/>
                <a:ea typeface="宋体" panose="02010600030101010101" pitchFamily="2" charset="-122"/>
              </a:rPr>
              <a:t> </a:t>
            </a:r>
            <a:r>
              <a:rPr lang="zh-CN" altLang="en-US" sz="2000" b="1">
                <a:solidFill>
                  <a:srgbClr val="FF0000"/>
                </a:solidFill>
                <a:latin typeface="楷体" panose="02010609060101010101" pitchFamily="49" charset="-122"/>
                <a:ea typeface="楷体" panose="02010609060101010101" pitchFamily="49" charset="-122"/>
              </a:rPr>
              <a:t>只能均聚</a:t>
            </a:r>
          </a:p>
        </p:txBody>
      </p:sp>
      <p:sp>
        <p:nvSpPr>
          <p:cNvPr id="64534" name="Line 1045"/>
          <p:cNvSpPr>
            <a:spLocks noChangeShapeType="1"/>
          </p:cNvSpPr>
          <p:nvPr/>
        </p:nvSpPr>
        <p:spPr bwMode="auto">
          <a:xfrm flipH="1" flipV="1">
            <a:off x="6815138" y="3513138"/>
            <a:ext cx="9525" cy="222091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535" name="Text Box 1046"/>
          <p:cNvSpPr txBox="1">
            <a:spLocks noChangeArrowheads="1"/>
          </p:cNvSpPr>
          <p:nvPr/>
        </p:nvSpPr>
        <p:spPr bwMode="auto">
          <a:xfrm>
            <a:off x="3932238" y="5734050"/>
            <a:ext cx="42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40000"/>
              </a:spcBef>
              <a:buFontTx/>
              <a:buNone/>
            </a:pPr>
            <a:r>
              <a:rPr lang="en-US" altLang="zh-CN" sz="2400" b="1">
                <a:latin typeface="Century Schoolbook" panose="02040604050505020304" pitchFamily="18" charset="0"/>
                <a:ea typeface="宋体" panose="02010600030101010101" pitchFamily="2" charset="-122"/>
              </a:rPr>
              <a:t>r</a:t>
            </a:r>
            <a:r>
              <a:rPr lang="en-US" altLang="zh-CN" sz="2400" b="1" baseline="-25000">
                <a:latin typeface="Century Schoolbook" panose="02040604050505020304" pitchFamily="18" charset="0"/>
                <a:ea typeface="宋体" panose="02010600030101010101" pitchFamily="2" charset="-122"/>
              </a:rPr>
              <a:t>1</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EB20B0C0-C410-4153-8509-A524F11A58B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553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1AD4A60-3E3C-4E77-B96E-620613C66E74}"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38</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65540" name="Text Box 1026"/>
          <p:cNvSpPr txBox="1">
            <a:spLocks noChangeArrowheads="1"/>
          </p:cNvSpPr>
          <p:nvPr/>
        </p:nvSpPr>
        <p:spPr bwMode="auto">
          <a:xfrm>
            <a:off x="609600" y="762000"/>
            <a:ext cx="828357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楷体" panose="02010609060101010101" pitchFamily="49" charset="-122"/>
                <a:ea typeface="楷体" panose="02010609060101010101" pitchFamily="49" charset="-122"/>
              </a:rPr>
              <a:t>共聚物组成微分方程</a:t>
            </a:r>
            <a:endParaRPr lang="zh-CN" altLang="en-US" sz="2400" b="1">
              <a:solidFill>
                <a:srgbClr val="0033CC"/>
              </a:solidFill>
              <a:latin typeface="楷体" panose="02010609060101010101" pitchFamily="49" charset="-122"/>
              <a:ea typeface="楷体" panose="02010609060101010101" pitchFamily="49" charset="-122"/>
            </a:endParaRPr>
          </a:p>
          <a:p>
            <a:pPr>
              <a:lnSpc>
                <a:spcPct val="140000"/>
              </a:lnSpc>
              <a:spcBef>
                <a:spcPct val="0"/>
              </a:spcBef>
              <a:buFontTx/>
              <a:buNone/>
            </a:pPr>
            <a:endParaRPr lang="zh-CN" altLang="en-US" sz="2400" b="1">
              <a:solidFill>
                <a:srgbClr val="0033CC"/>
              </a:solidFill>
              <a:latin typeface="Lucida Sans Unicode" panose="020B0602030504020204" pitchFamily="34" charset="0"/>
              <a:ea typeface="宋体" panose="02010600030101010101" pitchFamily="2" charset="-122"/>
            </a:endParaRPr>
          </a:p>
          <a:p>
            <a:pPr>
              <a:lnSpc>
                <a:spcPct val="140000"/>
              </a:lnSpc>
              <a:spcBef>
                <a:spcPct val="0"/>
              </a:spcBef>
              <a:buFontTx/>
              <a:buNone/>
            </a:pPr>
            <a:endParaRPr lang="zh-CN" altLang="en-US" sz="2400" b="1">
              <a:solidFill>
                <a:srgbClr val="0033CC"/>
              </a:solidFill>
              <a:latin typeface="Lucida Sans Unicode" panose="020B0602030504020204" pitchFamily="34" charset="0"/>
              <a:ea typeface="宋体" panose="02010600030101010101" pitchFamily="2" charset="-122"/>
            </a:endParaRPr>
          </a:p>
          <a:p>
            <a:pPr>
              <a:lnSpc>
                <a:spcPct val="140000"/>
              </a:lnSpc>
              <a:spcBef>
                <a:spcPct val="0"/>
              </a:spcBef>
              <a:buFontTx/>
              <a:buNone/>
            </a:pPr>
            <a:endParaRPr lang="zh-CN" altLang="en-US" sz="2400" b="1">
              <a:solidFill>
                <a:srgbClr val="0033CC"/>
              </a:solidFill>
              <a:latin typeface="Lucida Sans Unicode" panose="020B0602030504020204" pitchFamily="34" charset="0"/>
              <a:ea typeface="宋体" panose="02010600030101010101" pitchFamily="2" charset="-122"/>
            </a:endParaRPr>
          </a:p>
          <a:p>
            <a:pPr>
              <a:lnSpc>
                <a:spcPct val="140000"/>
              </a:lnSpc>
              <a:spcBef>
                <a:spcPct val="0"/>
              </a:spcBef>
              <a:buFontTx/>
              <a:buNone/>
            </a:pPr>
            <a:r>
              <a:rPr lang="zh-CN" altLang="en-US" sz="2400" b="1">
                <a:latin typeface="楷体" panose="02010609060101010101" pitchFamily="49" charset="-122"/>
                <a:ea typeface="楷体" panose="02010609060101010101" pitchFamily="49" charset="-122"/>
              </a:rPr>
              <a:t>表明：</a:t>
            </a:r>
          </a:p>
          <a:p>
            <a:pPr>
              <a:lnSpc>
                <a:spcPct val="140000"/>
              </a:lnSpc>
              <a:spcBef>
                <a:spcPct val="0"/>
              </a:spcBef>
              <a:buFontTx/>
              <a:buNone/>
            </a:pPr>
            <a:r>
              <a:rPr lang="zh-CN" altLang="en-US" sz="2400" b="1">
                <a:latin typeface="楷体" panose="02010609060101010101" pitchFamily="49" charset="-122"/>
                <a:ea typeface="楷体" panose="02010609060101010101" pitchFamily="49" charset="-122"/>
              </a:rPr>
              <a:t>共聚物的瞬时组成不仅依赖于</a:t>
            </a:r>
            <a:r>
              <a:rPr lang="zh-CN" altLang="en-US" sz="2400" b="1" u="sng">
                <a:latin typeface="楷体" panose="02010609060101010101" pitchFamily="49" charset="-122"/>
                <a:ea typeface="楷体" panose="02010609060101010101" pitchFamily="49" charset="-122"/>
              </a:rPr>
              <a:t>两种单体浓度之比</a:t>
            </a:r>
            <a:r>
              <a:rPr lang="zh-CN" altLang="en-US" sz="2400" b="1">
                <a:latin typeface="楷体" panose="02010609060101010101" pitchFamily="49" charset="-122"/>
                <a:ea typeface="楷体" panose="02010609060101010101" pitchFamily="49" charset="-122"/>
              </a:rPr>
              <a:t>，而且取决于</a:t>
            </a:r>
            <a:r>
              <a:rPr lang="zh-CN" altLang="en-US" sz="2400" b="1" u="sng">
                <a:latin typeface="楷体" panose="02010609060101010101" pitchFamily="49" charset="-122"/>
                <a:ea typeface="楷体" panose="02010609060101010101" pitchFamily="49" charset="-122"/>
              </a:rPr>
              <a:t>竞聚率的大小</a:t>
            </a:r>
            <a:r>
              <a:rPr lang="zh-CN" altLang="en-US" sz="2400">
                <a:latin typeface="楷体" panose="02010609060101010101" pitchFamily="49" charset="-122"/>
                <a:ea typeface="楷体" panose="02010609060101010101" pitchFamily="49" charset="-122"/>
              </a:rPr>
              <a:t>。</a:t>
            </a:r>
          </a:p>
          <a:p>
            <a:pPr>
              <a:lnSpc>
                <a:spcPct val="140000"/>
              </a:lnSpc>
              <a:spcBef>
                <a:spcPct val="0"/>
              </a:spcBef>
              <a:buFontTx/>
              <a:buNone/>
            </a:pPr>
            <a:endParaRPr lang="zh-CN" altLang="en-US" sz="2400">
              <a:solidFill>
                <a:srgbClr val="0033CC"/>
              </a:solidFill>
              <a:latin typeface="Lucida Sans Unicode" panose="020B0602030504020204" pitchFamily="34" charset="0"/>
              <a:ea typeface="宋体" panose="02010600030101010101" pitchFamily="2" charset="-122"/>
            </a:endParaRPr>
          </a:p>
          <a:p>
            <a:pPr>
              <a:lnSpc>
                <a:spcPct val="140000"/>
              </a:lnSpc>
              <a:spcBef>
                <a:spcPct val="0"/>
              </a:spcBef>
              <a:buFontTx/>
              <a:buNone/>
            </a:pPr>
            <a:r>
              <a:rPr lang="en-US" altLang="zh-CN" sz="2400" b="1">
                <a:solidFill>
                  <a:srgbClr val="FF0000"/>
                </a:solidFill>
                <a:latin typeface="Lucida Sans Unicode" panose="020B0602030504020204" pitchFamily="34" charset="0"/>
                <a:ea typeface="宋体" panose="02010600030101010101" pitchFamily="2" charset="-122"/>
              </a:rPr>
              <a:t>—</a:t>
            </a:r>
            <a:r>
              <a:rPr lang="zh-CN" altLang="en-US" sz="2400" b="1">
                <a:solidFill>
                  <a:srgbClr val="C00000"/>
                </a:solidFill>
                <a:latin typeface="Lucida Sans Unicode" panose="020B0602030504020204" pitchFamily="34" charset="0"/>
                <a:ea typeface="宋体" panose="02010600030101010101" pitchFamily="2" charset="-122"/>
              </a:rPr>
              <a:t> </a:t>
            </a:r>
            <a:r>
              <a:rPr lang="zh-CN" altLang="en-US" sz="2400" b="1">
                <a:solidFill>
                  <a:srgbClr val="FF0000"/>
                </a:solidFill>
                <a:latin typeface="楷体" panose="02010609060101010101" pitchFamily="49" charset="-122"/>
                <a:ea typeface="楷体" panose="02010609060101010101" pitchFamily="49" charset="-122"/>
              </a:rPr>
              <a:t>竞聚率是决定共聚物组成的重要参数</a:t>
            </a:r>
          </a:p>
          <a:p>
            <a:pPr>
              <a:lnSpc>
                <a:spcPct val="140000"/>
              </a:lnSpc>
              <a:spcBef>
                <a:spcPct val="0"/>
              </a:spcBef>
              <a:buFontTx/>
              <a:buNone/>
            </a:pPr>
            <a:endParaRPr lang="zh-CN" altLang="en-US" sz="2400">
              <a:latin typeface="Century Schoolbook" panose="02040604050505020304" pitchFamily="18" charset="0"/>
              <a:ea typeface="宋体" panose="02010600030101010101" pitchFamily="2" charset="-122"/>
            </a:endParaRPr>
          </a:p>
          <a:p>
            <a:pPr>
              <a:lnSpc>
                <a:spcPct val="140000"/>
              </a:lnSpc>
              <a:spcBef>
                <a:spcPct val="0"/>
              </a:spcBef>
              <a:buFontTx/>
              <a:buNone/>
            </a:pPr>
            <a:endParaRPr lang="zh-CN" altLang="en-US" sz="2400">
              <a:latin typeface="Lucida Sans Unicode" panose="020B0602030504020204" pitchFamily="34" charset="0"/>
              <a:ea typeface="宋体" panose="02010600030101010101" pitchFamily="2" charset="-122"/>
            </a:endParaRPr>
          </a:p>
        </p:txBody>
      </p:sp>
      <p:graphicFrame>
        <p:nvGraphicFramePr>
          <p:cNvPr id="65541" name="Object 4"/>
          <p:cNvGraphicFramePr>
            <a:graphicFrameLocks noChangeAspect="1"/>
          </p:cNvGraphicFramePr>
          <p:nvPr/>
        </p:nvGraphicFramePr>
        <p:xfrm>
          <a:off x="1116013" y="1412875"/>
          <a:ext cx="6183312" cy="841375"/>
        </p:xfrm>
        <a:graphic>
          <a:graphicData uri="http://schemas.openxmlformats.org/presentationml/2006/ole">
            <mc:AlternateContent xmlns:mc="http://schemas.openxmlformats.org/markup-compatibility/2006">
              <mc:Choice xmlns:v="urn:schemas-microsoft-com:vml" Requires="v">
                <p:oleObj spid="_x0000_s65555" name="公式" r:id="rId3" imgW="3263900" imgH="444500" progId="Equation.3">
                  <p:embed/>
                </p:oleObj>
              </mc:Choice>
              <mc:Fallback>
                <p:oleObj name="公式" r:id="rId3" imgW="32639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412875"/>
                        <a:ext cx="6183312"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3F2DE58E-2442-4C26-ADB5-7542773B627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656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3040055-6F80-4045-9E58-3589005E905A}"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39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66564" name="Text Box 2"/>
          <p:cNvSpPr txBox="1">
            <a:spLocks noChangeArrowheads="1"/>
          </p:cNvSpPr>
          <p:nvPr/>
        </p:nvSpPr>
        <p:spPr bwMode="auto">
          <a:xfrm>
            <a:off x="539750" y="620713"/>
            <a:ext cx="8280400" cy="486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ts val="60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对于大多数共聚体系，</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单体配比</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及</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共聚物组成</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会随反应的进行而不断变化</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a:t>
            </a:r>
          </a:p>
          <a:p>
            <a:pPr algn="just">
              <a:lnSpc>
                <a:spcPct val="100000"/>
              </a:lnSpc>
              <a:spcBef>
                <a:spcPts val="600"/>
              </a:spcBef>
              <a:buFontTx/>
              <a:buNone/>
            </a:pPr>
            <a:endPar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6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         </a:t>
            </a:r>
          </a:p>
          <a:p>
            <a:pPr algn="just">
              <a:lnSpc>
                <a:spcPct val="100000"/>
              </a:lnSpc>
              <a:spcBef>
                <a:spcPts val="6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 </a:t>
            </a:r>
            <a:r>
              <a:rPr lang="zh-CN" altLang="en-US" sz="2400">
                <a:latin typeface="楷体" panose="02010609060101010101" pitchFamily="49" charset="-122"/>
                <a:ea typeface="楷体" panose="02010609060101010101" pitchFamily="49" charset="-122"/>
                <a:cs typeface="Arial" panose="020B0604020202020204" pitchFamily="34" charset="0"/>
              </a:rPr>
              <a:t>因为：      代表</a:t>
            </a:r>
            <a:r>
              <a:rPr lang="zh-CN" altLang="en-US" sz="2400">
                <a:solidFill>
                  <a:srgbClr val="FF0000"/>
                </a:solidFill>
                <a:latin typeface="楷体" panose="02010609060101010101" pitchFamily="49" charset="-122"/>
                <a:ea typeface="楷体" panose="02010609060101010101" pitchFamily="49" charset="-122"/>
                <a:cs typeface="Arial" panose="020B0604020202020204" pitchFamily="34" charset="0"/>
              </a:rPr>
              <a:t>瞬时组成</a:t>
            </a:r>
            <a:endParaRPr lang="en-US" altLang="zh-CN" sz="2400">
              <a:solidFill>
                <a:srgbClr val="FF0000"/>
              </a:solidFill>
              <a:latin typeface="楷体" panose="02010609060101010101" pitchFamily="49" charset="-122"/>
              <a:ea typeface="楷体" panose="02010609060101010101" pitchFamily="49" charset="-122"/>
              <a:cs typeface="Arial" panose="020B0604020202020204" pitchFamily="34" charset="0"/>
            </a:endParaRPr>
          </a:p>
          <a:p>
            <a:pPr algn="just">
              <a:lnSpc>
                <a:spcPct val="100000"/>
              </a:lnSpc>
              <a:spcBef>
                <a:spcPts val="600"/>
              </a:spcBef>
              <a:buFontTx/>
              <a:buNone/>
            </a:pPr>
            <a:r>
              <a:rPr lang="en-US" altLang="zh-CN" sz="2400">
                <a:solidFill>
                  <a:srgbClr val="FF0000"/>
                </a:solidFill>
                <a:latin typeface="楷体" panose="02010609060101010101" pitchFamily="49" charset="-122"/>
                <a:ea typeface="楷体" panose="02010609060101010101" pitchFamily="49" charset="-122"/>
                <a:cs typeface="Arial" panose="020B0604020202020204" pitchFamily="34" charset="0"/>
              </a:rPr>
              <a:t>                (</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instantaneous copolymer composition)</a:t>
            </a:r>
            <a:endParaRPr lang="en-US" altLang="zh-CN" sz="18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zh-CN" altLang="en-US" sz="1800">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r>
              <a:rPr lang="zh-CN" altLang="en-US" sz="1800">
                <a:solidFill>
                  <a:srgbClr val="0033CC"/>
                </a:solidFill>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如要对已知竞聚率的共聚物组成微分方程进行实验验证，应设计一系列投料组成不同的共聚实验，这些共聚反应均应在低转化率下终止</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&lt; 10 %，最好 &lt; 5 %</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。这时可近似用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en-US" altLang="zh-CN" sz="2000" baseline="-25000">
                <a:latin typeface="Arial" panose="020B0604020202020204" pitchFamily="34" charset="0"/>
                <a:ea typeface="楷体" panose="02010609060101010101" pitchFamily="49" charset="-122"/>
                <a:cs typeface="Arial" panose="020B0604020202020204" pitchFamily="34" charset="0"/>
              </a:rPr>
              <a:t>0  </a:t>
            </a:r>
            <a:r>
              <a:rPr lang="zh-CN" altLang="en-US" sz="2000">
                <a:latin typeface="Arial" panose="020B0604020202020204" pitchFamily="34" charset="0"/>
                <a:ea typeface="楷体" panose="02010609060101010101" pitchFamily="49" charset="-122"/>
                <a:cs typeface="Arial" panose="020B0604020202020204" pitchFamily="34" charset="0"/>
              </a:rPr>
              <a:t> </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初始投料组成）代替微分方程中的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zh-CN" altLang="en-US" sz="2000">
                <a:latin typeface="Arial" panose="020B0604020202020204" pitchFamily="34" charset="0"/>
                <a:ea typeface="楷体" panose="02010609060101010101" pitchFamily="49" charset="-122"/>
                <a:cs typeface="Arial" panose="020B0604020202020204" pitchFamily="34" charset="0"/>
              </a:rPr>
              <a:t>, (实时值</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，用聚合开始至终止时累积的共聚物的组成来近似代替</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zh-CN" altLang="en-US" sz="2000">
                <a:latin typeface="Arial" panose="020B0604020202020204" pitchFamily="34" charset="0"/>
                <a:ea typeface="楷体" panose="02010609060101010101" pitchFamily="49" charset="-122"/>
                <a:cs typeface="Arial" panose="020B0604020202020204" pitchFamily="34" charset="0"/>
              </a:rPr>
              <a:t>值。     </a:t>
            </a:r>
          </a:p>
        </p:txBody>
      </p:sp>
      <p:graphicFrame>
        <p:nvGraphicFramePr>
          <p:cNvPr id="66565" name="Object 1024"/>
          <p:cNvGraphicFramePr>
            <a:graphicFrameLocks noChangeAspect="1"/>
          </p:cNvGraphicFramePr>
          <p:nvPr/>
        </p:nvGraphicFramePr>
        <p:xfrm>
          <a:off x="1528763" y="1911350"/>
          <a:ext cx="955675" cy="1012825"/>
        </p:xfrm>
        <a:graphic>
          <a:graphicData uri="http://schemas.openxmlformats.org/presentationml/2006/ole">
            <mc:AlternateContent xmlns:mc="http://schemas.openxmlformats.org/markup-compatibility/2006">
              <mc:Choice xmlns:v="urn:schemas-microsoft-com:vml" Requires="v">
                <p:oleObj spid="_x0000_s66579" name="公式" r:id="rId3" imgW="431613" imgH="444307" progId="Equation.3">
                  <p:embed/>
                </p:oleObj>
              </mc:Choice>
              <mc:Fallback>
                <p:oleObj name="公式" r:id="rId3" imgW="431613" imgH="444307"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8763" y="1911350"/>
                        <a:ext cx="955675"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33DCCF7F-149E-4148-A731-A45D7A9ADFA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758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DE6073E-7972-45D8-8925-09305A1227AB}"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40</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67588" name="Text Box 1026"/>
          <p:cNvSpPr txBox="1">
            <a:spLocks noChangeArrowheads="1"/>
          </p:cNvSpPr>
          <p:nvPr/>
        </p:nvSpPr>
        <p:spPr bwMode="auto">
          <a:xfrm>
            <a:off x="838200" y="381000"/>
            <a:ext cx="7620000" cy="562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单体的比例与共聚物的瞬时组成更常用摩尔分数表示</a:t>
            </a:r>
          </a:p>
          <a:p>
            <a:pPr algn="just">
              <a:lnSpc>
                <a:spcPct val="100000"/>
              </a:lnSpc>
              <a:spcBef>
                <a:spcPct val="0"/>
              </a:spcBef>
              <a:buFontTx/>
              <a:buNone/>
            </a:pPr>
            <a:endParaRPr lang="zh-CN" altLang="en-US" sz="1800" b="1">
              <a:solidFill>
                <a:srgbClr val="0033CC"/>
              </a:solidFill>
              <a:latin typeface="Arial" panose="020B0604020202020204" pitchFamily="34" charset="0"/>
              <a:ea typeface="楷体" panose="02010609060101010101" pitchFamily="49" charset="-122"/>
              <a:cs typeface="Arial" panose="020B0604020202020204" pitchFamily="34" charset="0"/>
            </a:endParaRPr>
          </a:p>
          <a:p>
            <a:pPr algn="ctr">
              <a:lnSpc>
                <a:spcPct val="100000"/>
              </a:lnSpc>
              <a:spcBef>
                <a:spcPct val="0"/>
              </a:spcBef>
              <a:buFontTx/>
              <a:buNone/>
            </a:pPr>
            <a:r>
              <a:rPr lang="zh-CN" altLang="en-US" sz="1800" b="1">
                <a:latin typeface="Arial" panose="020B0604020202020204" pitchFamily="34" charset="0"/>
                <a:ea typeface="楷体" panose="02010609060101010101" pitchFamily="49" charset="-122"/>
                <a:cs typeface="Arial" panose="020B0604020202020204" pitchFamily="34" charset="0"/>
              </a:rPr>
              <a:t>采用摩尔分数</a:t>
            </a:r>
            <a:r>
              <a:rPr lang="en-US" altLang="zh-CN" sz="1800" b="1">
                <a:latin typeface="Arial" panose="020B0604020202020204" pitchFamily="34" charset="0"/>
                <a:ea typeface="楷体" panose="02010609060101010101" pitchFamily="49" charset="-122"/>
                <a:cs typeface="Arial" panose="020B0604020202020204" pitchFamily="34" charset="0"/>
              </a:rPr>
              <a:t>(</a:t>
            </a:r>
            <a:r>
              <a:rPr lang="zh-CN" altLang="en-US" sz="1800" b="1">
                <a:latin typeface="Arial" panose="020B0604020202020204" pitchFamily="34" charset="0"/>
                <a:ea typeface="楷体" panose="02010609060101010101" pitchFamily="49" charset="-122"/>
                <a:cs typeface="Arial" panose="020B0604020202020204" pitchFamily="34" charset="0"/>
              </a:rPr>
              <a:t>分率</a:t>
            </a:r>
            <a:r>
              <a:rPr lang="en-US" altLang="zh-CN" sz="1800" b="1">
                <a:latin typeface="Arial" panose="020B0604020202020204" pitchFamily="34" charset="0"/>
                <a:ea typeface="楷体" panose="02010609060101010101" pitchFamily="49" charset="-122"/>
                <a:cs typeface="Arial" panose="020B0604020202020204" pitchFamily="34" charset="0"/>
              </a:rPr>
              <a:t>)</a:t>
            </a:r>
            <a:r>
              <a:rPr lang="zh-CN" altLang="en-US" sz="1800" b="1">
                <a:latin typeface="Arial" panose="020B0604020202020204" pitchFamily="34" charset="0"/>
                <a:ea typeface="楷体" panose="02010609060101010101" pitchFamily="49" charset="-122"/>
                <a:cs typeface="Arial" panose="020B0604020202020204" pitchFamily="34" charset="0"/>
              </a:rPr>
              <a:t>表达的共聚合组成方程</a:t>
            </a:r>
          </a:p>
          <a:p>
            <a:pPr algn="ctr">
              <a:lnSpc>
                <a:spcPct val="100000"/>
              </a:lnSpc>
              <a:spcBef>
                <a:spcPct val="0"/>
              </a:spcBef>
              <a:buFontTx/>
              <a:buNone/>
            </a:pPr>
            <a:r>
              <a:rPr lang="en-US" altLang="zh-CN" sz="1800" b="1">
                <a:latin typeface="Arial" panose="020B0604020202020204" pitchFamily="34" charset="0"/>
                <a:ea typeface="楷体" panose="02010609060101010101" pitchFamily="49" charset="-122"/>
                <a:cs typeface="Arial" panose="020B0604020202020204" pitchFamily="34" charset="0"/>
              </a:rPr>
              <a:t>Copolymer equation in terms of mole fraction</a:t>
            </a:r>
            <a:endParaRPr lang="zh-CN" altLang="en-US" sz="1800" b="1">
              <a:latin typeface="Arial" panose="020B0604020202020204" pitchFamily="34" charset="0"/>
              <a:ea typeface="楷体" panose="02010609060101010101" pitchFamily="49" charset="-122"/>
              <a:cs typeface="Arial" panose="020B0604020202020204" pitchFamily="34" charset="0"/>
            </a:endParaRPr>
          </a:p>
          <a:p>
            <a:pPr algn="ctr">
              <a:lnSpc>
                <a:spcPct val="120000"/>
              </a:lnSpc>
              <a:spcBef>
                <a:spcPct val="0"/>
              </a:spcBef>
              <a:buFontTx/>
              <a:buNone/>
            </a:pPr>
            <a:endParaRPr lang="zh-CN" altLang="en-US" sz="1800">
              <a:latin typeface="Arial" panose="020B0604020202020204" pitchFamily="34" charset="0"/>
              <a:ea typeface="楷体" panose="02010609060101010101" pitchFamily="49" charset="-122"/>
              <a:cs typeface="Arial" panose="020B0604020202020204" pitchFamily="34" charset="0"/>
            </a:endParaRPr>
          </a:p>
          <a:p>
            <a:pPr algn="ctr">
              <a:lnSpc>
                <a:spcPct val="120000"/>
              </a:lnSpc>
              <a:spcBef>
                <a:spcPct val="0"/>
              </a:spcBef>
              <a:buFontTx/>
              <a:buNone/>
            </a:pPr>
            <a:endParaRPr lang="zh-CN" altLang="en-US" sz="180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                            </a:t>
            </a:r>
            <a:endParaRPr lang="en-US" altLang="zh-CN" sz="180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r>
              <a:rPr lang="en-US" altLang="zh-CN" sz="1800">
                <a:latin typeface="Arial" panose="020B0604020202020204" pitchFamily="34" charset="0"/>
                <a:ea typeface="楷体" panose="02010609060101010101" pitchFamily="49" charset="-122"/>
                <a:cs typeface="Arial" panose="020B0604020202020204" pitchFamily="34" charset="0"/>
              </a:rPr>
              <a:t>                             </a:t>
            </a:r>
            <a:r>
              <a:rPr lang="zh-CN" altLang="en-US" sz="1800">
                <a:latin typeface="Arial" panose="020B0604020202020204" pitchFamily="34" charset="0"/>
                <a:ea typeface="楷体" panose="02010609060101010101" pitchFamily="49" charset="-122"/>
                <a:cs typeface="Arial" panose="020B0604020202020204" pitchFamily="34" charset="0"/>
              </a:rPr>
              <a:t>，</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瞬时系统配料中，单体1 的摩尔分数</a:t>
            </a:r>
            <a:endPar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600"/>
              </a:spcBef>
              <a:buFontTx/>
              <a:buNone/>
            </a:pPr>
            <a:endParaRPr lang="en-US" altLang="zh-CN" sz="180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600"/>
              </a:spcBef>
              <a:buFontTx/>
              <a:buNone/>
            </a:pPr>
            <a:endParaRPr lang="zh-CN" altLang="en-US" sz="90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6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瞬时系统配料中，单体2 的摩尔分数</a:t>
            </a:r>
            <a:endPar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1200"/>
              </a:spcBef>
              <a:buFontTx/>
              <a:buNone/>
            </a:pPr>
            <a:endParaRPr lang="zh-CN" altLang="en-US" sz="2000" baseline="3000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1200"/>
              </a:spcBef>
              <a:buFontTx/>
              <a:buNone/>
            </a:pPr>
            <a:endParaRPr lang="zh-CN" altLang="en-US" sz="1800" baseline="3000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1200"/>
              </a:spcBef>
              <a:buFontTx/>
              <a:buNone/>
            </a:pPr>
            <a:r>
              <a:rPr lang="zh-CN" altLang="en-US" sz="2000" baseline="30000">
                <a:latin typeface="Arial" panose="020B0604020202020204" pitchFamily="34" charset="0"/>
                <a:ea typeface="宋体" panose="02010600030101010101" pitchFamily="2" charset="-122"/>
                <a:cs typeface="Arial" panose="020B0604020202020204" pitchFamily="34" charset="0"/>
              </a:rPr>
              <a:t>           </a:t>
            </a:r>
            <a:r>
              <a:rPr lang="zh-CN" altLang="en-US" sz="2000">
                <a:latin typeface="Arial" panose="020B0604020202020204" pitchFamily="34" charset="0"/>
                <a:ea typeface="宋体" panose="02010600030101010101" pitchFamily="2" charset="-122"/>
                <a:cs typeface="Arial" panose="020B0604020202020204" pitchFamily="34" charset="0"/>
              </a:rPr>
              <a:t>[</a:t>
            </a:r>
            <a:r>
              <a:rPr lang="en-US" altLang="zh-CN" sz="2000" i="1">
                <a:latin typeface="Arial" panose="020B0604020202020204" pitchFamily="34" charset="0"/>
                <a:ea typeface="宋体" panose="02010600030101010101" pitchFamily="2" charset="-122"/>
                <a:cs typeface="Arial" panose="020B0604020202020204" pitchFamily="34" charset="0"/>
              </a:rPr>
              <a:t>M</a:t>
            </a:r>
            <a:r>
              <a:rPr lang="en-US" altLang="zh-CN" sz="2000">
                <a:latin typeface="Arial" panose="020B0604020202020204" pitchFamily="34" charset="0"/>
                <a:ea typeface="宋体" panose="02010600030101010101" pitchFamily="2" charset="-122"/>
                <a:cs typeface="Arial" panose="020B0604020202020204" pitchFamily="34" charset="0"/>
              </a:rPr>
              <a:t>] = [</a:t>
            </a:r>
            <a:r>
              <a:rPr lang="en-US" altLang="zh-CN" sz="2000" i="1">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1</a:t>
            </a:r>
            <a:r>
              <a:rPr lang="en-US" altLang="zh-CN" sz="2000">
                <a:latin typeface="Arial" panose="020B0604020202020204" pitchFamily="34" charset="0"/>
                <a:ea typeface="宋体" panose="02010600030101010101" pitchFamily="2" charset="-122"/>
                <a:cs typeface="Arial" panose="020B0604020202020204" pitchFamily="34" charset="0"/>
              </a:rPr>
              <a:t>] + [</a:t>
            </a:r>
            <a:r>
              <a:rPr lang="en-US" altLang="zh-CN" sz="2000" i="1">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r>
              <a:rPr lang="en-US" altLang="zh-CN" sz="2000">
                <a:latin typeface="Arial" panose="020B0604020202020204" pitchFamily="34" charset="0"/>
                <a:ea typeface="宋体" panose="02010600030101010101" pitchFamily="2" charset="-122"/>
                <a:cs typeface="Arial" panose="020B0604020202020204" pitchFamily="34" charset="0"/>
              </a:rPr>
              <a:t>]  (</a:t>
            </a:r>
            <a:r>
              <a:rPr lang="zh-CN" altLang="en-US" sz="2000">
                <a:latin typeface="Arial" panose="020B0604020202020204" pitchFamily="34" charset="0"/>
                <a:ea typeface="宋体" panose="02010600030101010101" pitchFamily="2" charset="-122"/>
                <a:cs typeface="Arial" panose="020B0604020202020204" pitchFamily="34" charset="0"/>
              </a:rPr>
              <a:t>单体总浓度)</a:t>
            </a:r>
          </a:p>
          <a:p>
            <a:pPr algn="just">
              <a:lnSpc>
                <a:spcPct val="100000"/>
              </a:lnSpc>
              <a:spcBef>
                <a:spcPct val="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    </a:t>
            </a:r>
          </a:p>
          <a:p>
            <a:pPr algn="just">
              <a:lnSpc>
                <a:spcPct val="100000"/>
              </a:lnSpc>
              <a:spcBef>
                <a:spcPct val="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        </a:t>
            </a:r>
            <a:r>
              <a:rPr lang="zh-CN" altLang="en-US" sz="2000" b="1">
                <a:latin typeface="Arial" panose="020B0604020202020204" pitchFamily="34" charset="0"/>
                <a:ea typeface="宋体" panose="02010600030101010101" pitchFamily="2" charset="-122"/>
                <a:cs typeface="Arial" panose="020B0604020202020204" pitchFamily="34" charset="0"/>
              </a:rPr>
              <a:t>则：</a:t>
            </a:r>
            <a:r>
              <a:rPr lang="zh-CN" altLang="en-US" sz="2000">
                <a:latin typeface="Arial" panose="020B0604020202020204" pitchFamily="34" charset="0"/>
                <a:ea typeface="宋体" panose="02010600030101010101" pitchFamily="2" charset="-122"/>
                <a:cs typeface="Arial" panose="020B0604020202020204" pitchFamily="34" charset="0"/>
              </a:rPr>
              <a:t>   [</a:t>
            </a:r>
            <a:r>
              <a:rPr lang="en-US" altLang="zh-CN" sz="2000" i="1">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1</a:t>
            </a:r>
            <a:r>
              <a:rPr lang="en-US" altLang="zh-CN" sz="2000">
                <a:latin typeface="Arial" panose="020B0604020202020204" pitchFamily="34" charset="0"/>
                <a:ea typeface="宋体" panose="02010600030101010101" pitchFamily="2" charset="-122"/>
                <a:cs typeface="Arial" panose="020B0604020202020204" pitchFamily="34" charset="0"/>
              </a:rPr>
              <a:t>] = </a:t>
            </a:r>
            <a:r>
              <a:rPr lang="en-US" altLang="zh-CN" sz="2000" i="1">
                <a:latin typeface="Arial" panose="020B0604020202020204" pitchFamily="34" charset="0"/>
                <a:ea typeface="宋体" panose="02010600030101010101" pitchFamily="2" charset="-122"/>
                <a:cs typeface="Arial" panose="020B0604020202020204" pitchFamily="34" charset="0"/>
              </a:rPr>
              <a:t>f</a:t>
            </a:r>
            <a:r>
              <a:rPr lang="en-US" altLang="zh-CN" sz="2000" baseline="-25000">
                <a:latin typeface="Arial" panose="020B0604020202020204" pitchFamily="34" charset="0"/>
                <a:ea typeface="宋体" panose="02010600030101010101" pitchFamily="2" charset="-122"/>
                <a:cs typeface="Arial" panose="020B0604020202020204" pitchFamily="34" charset="0"/>
              </a:rPr>
              <a:t>1</a:t>
            </a:r>
            <a:r>
              <a:rPr lang="en-US" altLang="zh-CN" sz="2000">
                <a:latin typeface="Arial" panose="020B0604020202020204" pitchFamily="34" charset="0"/>
                <a:ea typeface="宋体" panose="02010600030101010101" pitchFamily="2" charset="-122"/>
                <a:cs typeface="Arial" panose="020B0604020202020204" pitchFamily="34" charset="0"/>
              </a:rPr>
              <a:t> [</a:t>
            </a:r>
            <a:r>
              <a:rPr lang="en-US" altLang="zh-CN" sz="2000" i="1">
                <a:latin typeface="Arial" panose="020B0604020202020204" pitchFamily="34" charset="0"/>
                <a:ea typeface="宋体" panose="02010600030101010101" pitchFamily="2" charset="-122"/>
                <a:cs typeface="Arial" panose="020B0604020202020204" pitchFamily="34" charset="0"/>
              </a:rPr>
              <a:t>M</a:t>
            </a:r>
            <a:r>
              <a:rPr lang="en-US" altLang="zh-CN" sz="2000">
                <a:latin typeface="Arial" panose="020B0604020202020204" pitchFamily="34" charset="0"/>
                <a:ea typeface="宋体" panose="02010600030101010101" pitchFamily="2" charset="-122"/>
                <a:cs typeface="Arial" panose="020B0604020202020204" pitchFamily="34" charset="0"/>
              </a:rPr>
              <a:t>],      [</a:t>
            </a:r>
            <a:r>
              <a:rPr lang="en-US" altLang="zh-CN" sz="2000" i="1">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r>
              <a:rPr lang="en-US" altLang="zh-CN" sz="2000">
                <a:latin typeface="Arial" panose="020B0604020202020204" pitchFamily="34" charset="0"/>
                <a:ea typeface="宋体" panose="02010600030101010101" pitchFamily="2" charset="-122"/>
                <a:cs typeface="Arial" panose="020B0604020202020204" pitchFamily="34" charset="0"/>
              </a:rPr>
              <a:t>] = </a:t>
            </a:r>
            <a:r>
              <a:rPr lang="en-US" altLang="zh-CN" sz="2000" i="1">
                <a:latin typeface="Arial" panose="020B0604020202020204" pitchFamily="34" charset="0"/>
                <a:ea typeface="宋体" panose="02010600030101010101" pitchFamily="2" charset="-122"/>
                <a:cs typeface="Arial" panose="020B0604020202020204" pitchFamily="34" charset="0"/>
              </a:rPr>
              <a:t>f</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r>
              <a:rPr lang="en-US" altLang="zh-CN" sz="2000">
                <a:latin typeface="Arial" panose="020B0604020202020204" pitchFamily="34" charset="0"/>
                <a:ea typeface="宋体" panose="02010600030101010101" pitchFamily="2" charset="-122"/>
                <a:cs typeface="Arial" panose="020B0604020202020204" pitchFamily="34" charset="0"/>
              </a:rPr>
              <a:t> [</a:t>
            </a:r>
            <a:r>
              <a:rPr lang="en-US" altLang="zh-CN" sz="2000" i="1">
                <a:latin typeface="Arial" panose="020B0604020202020204" pitchFamily="34" charset="0"/>
                <a:ea typeface="宋体" panose="02010600030101010101" pitchFamily="2" charset="-122"/>
                <a:cs typeface="Arial" panose="020B0604020202020204" pitchFamily="34" charset="0"/>
              </a:rPr>
              <a:t>M</a:t>
            </a:r>
            <a:r>
              <a:rPr lang="en-US" altLang="zh-CN" sz="2000">
                <a:latin typeface="Arial" panose="020B0604020202020204" pitchFamily="34" charset="0"/>
                <a:ea typeface="宋体" panose="02010600030101010101" pitchFamily="2" charset="-122"/>
                <a:cs typeface="Arial" panose="020B0604020202020204" pitchFamily="34" charset="0"/>
              </a:rPr>
              <a:t>]</a:t>
            </a:r>
          </a:p>
          <a:p>
            <a:pPr algn="just">
              <a:lnSpc>
                <a:spcPct val="100000"/>
              </a:lnSpc>
              <a:spcBef>
                <a:spcPts val="600"/>
              </a:spcBef>
              <a:buFontTx/>
              <a:buNone/>
            </a:pPr>
            <a:r>
              <a:rPr lang="zh-CN" altLang="en-US" sz="1800">
                <a:latin typeface="Century Schoolbook" panose="02040604050505020304" pitchFamily="18" charset="0"/>
                <a:ea typeface="宋体" panose="02010600030101010101" pitchFamily="2" charset="-122"/>
              </a:rPr>
              <a:t>      </a:t>
            </a:r>
          </a:p>
        </p:txBody>
      </p:sp>
      <p:graphicFrame>
        <p:nvGraphicFramePr>
          <p:cNvPr id="67589" name="Object 2048"/>
          <p:cNvGraphicFramePr>
            <a:graphicFrameLocks noChangeAspect="1"/>
          </p:cNvGraphicFramePr>
          <p:nvPr/>
        </p:nvGraphicFramePr>
        <p:xfrm>
          <a:off x="900113" y="2276475"/>
          <a:ext cx="1800225" cy="715963"/>
        </p:xfrm>
        <a:graphic>
          <a:graphicData uri="http://schemas.openxmlformats.org/presentationml/2006/ole">
            <mc:AlternateContent xmlns:mc="http://schemas.openxmlformats.org/markup-compatibility/2006">
              <mc:Choice xmlns:v="urn:schemas-microsoft-com:vml" Requires="v">
                <p:oleObj spid="_x0000_s67619" name="公式" r:id="rId3" imgW="1091726" imgH="431613" progId="Equation.3">
                  <p:embed/>
                </p:oleObj>
              </mc:Choice>
              <mc:Fallback>
                <p:oleObj name="公式" r:id="rId3" imgW="1091726" imgH="431613" progId="Equation.3">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276475"/>
                        <a:ext cx="180022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0" name="Object 2049"/>
          <p:cNvGraphicFramePr>
            <a:graphicFrameLocks noChangeAspect="1"/>
          </p:cNvGraphicFramePr>
          <p:nvPr/>
        </p:nvGraphicFramePr>
        <p:xfrm>
          <a:off x="827088" y="3213100"/>
          <a:ext cx="1800225" cy="709613"/>
        </p:xfrm>
        <a:graphic>
          <a:graphicData uri="http://schemas.openxmlformats.org/presentationml/2006/ole">
            <mc:AlternateContent xmlns:mc="http://schemas.openxmlformats.org/markup-compatibility/2006">
              <mc:Choice xmlns:v="urn:schemas-microsoft-com:vml" Requires="v">
                <p:oleObj spid="_x0000_s67620" name="公式" r:id="rId5" imgW="1104900" imgH="431800" progId="Equation.3">
                  <p:embed/>
                </p:oleObj>
              </mc:Choice>
              <mc:Fallback>
                <p:oleObj name="公式" r:id="rId5" imgW="1104900" imgH="431800" progId="Equation.3">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3213100"/>
                        <a:ext cx="1800225"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91" name="Rectangle 1031"/>
          <p:cNvSpPr>
            <a:spLocks noChangeArrowheads="1"/>
          </p:cNvSpPr>
          <p:nvPr/>
        </p:nvSpPr>
        <p:spPr bwMode="auto">
          <a:xfrm>
            <a:off x="3048000" y="5105400"/>
            <a:ext cx="434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67592" name="Text Box 1038"/>
          <p:cNvSpPr txBox="1">
            <a:spLocks noChangeArrowheads="1"/>
          </p:cNvSpPr>
          <p:nvPr/>
        </p:nvSpPr>
        <p:spPr bwMode="auto">
          <a:xfrm>
            <a:off x="860425" y="1763713"/>
            <a:ext cx="10080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tabLst>
                <a:tab pos="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Lst>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9pPr>
          </a:lstStyle>
          <a:p>
            <a:pPr eaLnBrk="1" hangingPunct="1">
              <a:lnSpc>
                <a:spcPct val="120000"/>
              </a:lnSpc>
              <a:spcBef>
                <a:spcPct val="50000"/>
              </a:spcBef>
              <a:buFontTx/>
              <a:buNone/>
            </a:pPr>
            <a:r>
              <a:rPr lang="zh-CN" altLang="en-US" sz="2400" b="1">
                <a:solidFill>
                  <a:srgbClr val="FF0000"/>
                </a:solidFill>
                <a:latin typeface="楷体" panose="02010609060101010101" pitchFamily="49" charset="-122"/>
                <a:ea typeface="楷体" panose="02010609060101010101" pitchFamily="49" charset="-122"/>
              </a:rPr>
              <a:t>定义</a:t>
            </a:r>
            <a:r>
              <a:rPr lang="en-US" altLang="zh-CN" sz="2400" b="1">
                <a:solidFill>
                  <a:srgbClr val="FF0000"/>
                </a:solidFill>
                <a:latin typeface="楷体" panose="02010609060101010101" pitchFamily="49" charset="-122"/>
                <a:ea typeface="楷体" panose="02010609060101010101" pitchFamily="49" charset="-122"/>
              </a:rPr>
              <a:t>:</a:t>
            </a:r>
            <a:endParaRPr lang="zh-CN" altLang="en-US" sz="2400" b="1">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0B3D43FB-8142-4172-A6FD-333D0D9D30E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6861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74CDCFB-C155-476B-9E79-32222A90B736}"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41</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68612" name="Text Box 4"/>
          <p:cNvSpPr txBox="1">
            <a:spLocks noChangeArrowheads="1"/>
          </p:cNvSpPr>
          <p:nvPr/>
        </p:nvSpPr>
        <p:spPr bwMode="auto">
          <a:xfrm>
            <a:off x="3692525" y="3235325"/>
            <a:ext cx="3167063"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lang="en-US" altLang="zh-CN" sz="2100">
                <a:solidFill>
                  <a:srgbClr val="00B050"/>
                </a:solidFill>
                <a:latin typeface="楷体" panose="02010609060101010101" pitchFamily="49" charset="-122"/>
                <a:ea typeface="楷体" panose="02010609060101010101" pitchFamily="49" charset="-122"/>
              </a:rPr>
              <a:t>[</a:t>
            </a:r>
            <a:r>
              <a:rPr lang="zh-CN" altLang="en-US" sz="2100">
                <a:solidFill>
                  <a:srgbClr val="00B050"/>
                </a:solidFill>
                <a:latin typeface="楷体" panose="02010609060101010101" pitchFamily="49" charset="-122"/>
                <a:ea typeface="楷体" panose="02010609060101010101" pitchFamily="49" charset="-122"/>
              </a:rPr>
              <a:t>代入微分方程</a:t>
            </a:r>
            <a:r>
              <a:rPr lang="en-US" altLang="zh-CN" sz="2100">
                <a:solidFill>
                  <a:srgbClr val="00B050"/>
                </a:solidFill>
                <a:latin typeface="楷体" panose="02010609060101010101" pitchFamily="49" charset="-122"/>
                <a:ea typeface="楷体" panose="02010609060101010101" pitchFamily="49" charset="-122"/>
              </a:rPr>
              <a:t>(4-2)]</a:t>
            </a:r>
            <a:endParaRPr lang="zh-CN" altLang="en-US" sz="1800">
              <a:solidFill>
                <a:srgbClr val="00B050"/>
              </a:solidFill>
              <a:latin typeface="楷体" panose="02010609060101010101" pitchFamily="49" charset="-122"/>
              <a:ea typeface="楷体" panose="02010609060101010101" pitchFamily="49" charset="-122"/>
            </a:endParaRPr>
          </a:p>
        </p:txBody>
      </p:sp>
      <p:graphicFrame>
        <p:nvGraphicFramePr>
          <p:cNvPr id="68613" name="Object 1024"/>
          <p:cNvGraphicFramePr>
            <a:graphicFrameLocks noChangeAspect="1"/>
          </p:cNvGraphicFramePr>
          <p:nvPr/>
        </p:nvGraphicFramePr>
        <p:xfrm>
          <a:off x="385763" y="3081338"/>
          <a:ext cx="3060700" cy="1271587"/>
        </p:xfrm>
        <a:graphic>
          <a:graphicData uri="http://schemas.openxmlformats.org/presentationml/2006/ole">
            <mc:AlternateContent xmlns:mc="http://schemas.openxmlformats.org/markup-compatibility/2006">
              <mc:Choice xmlns:v="urn:schemas-microsoft-com:vml" Requires="v">
                <p:oleObj spid="_x0000_s68702" name="公式" r:id="rId4" imgW="2108200" imgH="850900" progId="Equation.3">
                  <p:embed/>
                </p:oleObj>
              </mc:Choice>
              <mc:Fallback>
                <p:oleObj name="公式" r:id="rId4" imgW="2108200" imgH="850900" progId="Equation.3">
                  <p:embed/>
                  <p:pic>
                    <p:nvPicPr>
                      <p:cNvPr id="0" name="Object 10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763" y="3081338"/>
                        <a:ext cx="3060700" cy="127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4" name="Object 1025"/>
          <p:cNvGraphicFramePr>
            <a:graphicFrameLocks noChangeAspect="1"/>
          </p:cNvGraphicFramePr>
          <p:nvPr/>
        </p:nvGraphicFramePr>
        <p:xfrm>
          <a:off x="700088" y="4308475"/>
          <a:ext cx="3810000" cy="952500"/>
        </p:xfrm>
        <a:graphic>
          <a:graphicData uri="http://schemas.openxmlformats.org/presentationml/2006/ole">
            <mc:AlternateContent xmlns:mc="http://schemas.openxmlformats.org/markup-compatibility/2006">
              <mc:Choice xmlns:v="urn:schemas-microsoft-com:vml" Requires="v">
                <p:oleObj spid="_x0000_s68703" name="公式" r:id="rId6" imgW="2476500" imgH="635000" progId="Equation.3">
                  <p:embed/>
                </p:oleObj>
              </mc:Choice>
              <mc:Fallback>
                <p:oleObj name="公式" r:id="rId6" imgW="2476500" imgH="635000" progId="Equation.3">
                  <p:embed/>
                  <p:pic>
                    <p:nvPicPr>
                      <p:cNvPr id="0" name="Object 10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0088" y="4308475"/>
                        <a:ext cx="38100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5" name="Text Box 10"/>
          <p:cNvSpPr txBox="1">
            <a:spLocks noChangeArrowheads="1"/>
          </p:cNvSpPr>
          <p:nvPr/>
        </p:nvSpPr>
        <p:spPr bwMode="auto">
          <a:xfrm>
            <a:off x="3703638" y="4667250"/>
            <a:ext cx="35972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lang="en-US" altLang="zh-CN" sz="2100">
                <a:latin typeface="Century Schoolbook" panose="02040604050505020304" pitchFamily="18" charset="0"/>
                <a:ea typeface="宋体" panose="02010600030101010101" pitchFamily="2" charset="-122"/>
              </a:rPr>
              <a:t> </a:t>
            </a:r>
            <a:r>
              <a:rPr lang="en-US" altLang="zh-CN" sz="2100">
                <a:solidFill>
                  <a:srgbClr val="00B050"/>
                </a:solidFill>
                <a:latin typeface="Arial" panose="020B0604020202020204" pitchFamily="34" charset="0"/>
                <a:ea typeface="宋体" panose="02010600030101010101" pitchFamily="2" charset="-122"/>
                <a:cs typeface="Arial" panose="020B0604020202020204" pitchFamily="34" charset="0"/>
              </a:rPr>
              <a:t>[</a:t>
            </a:r>
            <a:r>
              <a:rPr lang="zh-CN" altLang="en-US" sz="1800">
                <a:solidFill>
                  <a:srgbClr val="00B050"/>
                </a:solidFill>
                <a:latin typeface="Arial" panose="020B0604020202020204" pitchFamily="34" charset="0"/>
                <a:ea typeface="宋体" panose="02010600030101010101" pitchFamily="2" charset="-122"/>
                <a:cs typeface="Arial" panose="020B0604020202020204" pitchFamily="34" charset="0"/>
              </a:rPr>
              <a:t>代入[</a:t>
            </a:r>
            <a:r>
              <a:rPr lang="en-US" altLang="zh-CN" sz="1800">
                <a:solidFill>
                  <a:srgbClr val="00B050"/>
                </a:solidFill>
                <a:latin typeface="Arial" panose="020B0604020202020204" pitchFamily="34" charset="0"/>
                <a:ea typeface="宋体" panose="02010600030101010101" pitchFamily="2" charset="-122"/>
                <a:cs typeface="Arial" panose="020B0604020202020204" pitchFamily="34" charset="0"/>
              </a:rPr>
              <a:t>M</a:t>
            </a:r>
            <a:r>
              <a:rPr lang="en-US" altLang="zh-CN" sz="1800" baseline="-25000">
                <a:solidFill>
                  <a:srgbClr val="00B050"/>
                </a:solidFill>
                <a:latin typeface="Arial" panose="020B0604020202020204" pitchFamily="34" charset="0"/>
                <a:ea typeface="宋体" panose="02010600030101010101" pitchFamily="2" charset="-122"/>
                <a:cs typeface="Arial" panose="020B0604020202020204" pitchFamily="34" charset="0"/>
              </a:rPr>
              <a:t>1</a:t>
            </a:r>
            <a:r>
              <a:rPr lang="en-US" altLang="zh-CN" sz="1800">
                <a:solidFill>
                  <a:srgbClr val="00B050"/>
                </a:solidFill>
                <a:latin typeface="Arial" panose="020B0604020202020204" pitchFamily="34" charset="0"/>
                <a:ea typeface="宋体" panose="02010600030101010101" pitchFamily="2" charset="-122"/>
                <a:cs typeface="Arial" panose="020B0604020202020204" pitchFamily="34" charset="0"/>
              </a:rPr>
              <a:t>] = </a:t>
            </a:r>
            <a:r>
              <a:rPr lang="en-US" altLang="zh-CN" sz="1800" i="1">
                <a:solidFill>
                  <a:srgbClr val="00B050"/>
                </a:solidFill>
                <a:latin typeface="Arial" panose="020B0604020202020204" pitchFamily="34" charset="0"/>
                <a:ea typeface="宋体" panose="02010600030101010101" pitchFamily="2" charset="-122"/>
                <a:cs typeface="Arial" panose="020B0604020202020204" pitchFamily="34" charset="0"/>
              </a:rPr>
              <a:t>f</a:t>
            </a:r>
            <a:r>
              <a:rPr lang="en-US" altLang="zh-CN" sz="1800" baseline="-25000">
                <a:solidFill>
                  <a:srgbClr val="00B050"/>
                </a:solidFill>
                <a:latin typeface="Arial" panose="020B0604020202020204" pitchFamily="34" charset="0"/>
                <a:ea typeface="宋体" panose="02010600030101010101" pitchFamily="2" charset="-122"/>
                <a:cs typeface="Arial" panose="020B0604020202020204" pitchFamily="34" charset="0"/>
              </a:rPr>
              <a:t>1</a:t>
            </a:r>
            <a:r>
              <a:rPr lang="en-US" altLang="zh-CN" sz="1800">
                <a:solidFill>
                  <a:srgbClr val="00B050"/>
                </a:solidFill>
                <a:latin typeface="Arial" panose="020B0604020202020204" pitchFamily="34" charset="0"/>
                <a:ea typeface="宋体" panose="02010600030101010101" pitchFamily="2" charset="-122"/>
                <a:cs typeface="Arial" panose="020B0604020202020204" pitchFamily="34" charset="0"/>
              </a:rPr>
              <a:t>[M],  [M</a:t>
            </a:r>
            <a:r>
              <a:rPr lang="en-US" altLang="zh-CN" sz="1800" baseline="-25000">
                <a:solidFill>
                  <a:srgbClr val="00B050"/>
                </a:solidFill>
                <a:latin typeface="Arial" panose="020B0604020202020204" pitchFamily="34" charset="0"/>
                <a:ea typeface="宋体" panose="02010600030101010101" pitchFamily="2" charset="-122"/>
                <a:cs typeface="Arial" panose="020B0604020202020204" pitchFamily="34" charset="0"/>
              </a:rPr>
              <a:t>2</a:t>
            </a:r>
            <a:r>
              <a:rPr lang="en-US" altLang="zh-CN" sz="1800">
                <a:solidFill>
                  <a:srgbClr val="00B050"/>
                </a:solidFill>
                <a:latin typeface="Arial" panose="020B0604020202020204" pitchFamily="34" charset="0"/>
                <a:ea typeface="宋体" panose="02010600030101010101" pitchFamily="2" charset="-122"/>
                <a:cs typeface="Arial" panose="020B0604020202020204" pitchFamily="34" charset="0"/>
              </a:rPr>
              <a:t>] = </a:t>
            </a:r>
            <a:r>
              <a:rPr lang="en-US" altLang="zh-CN" sz="1800" i="1">
                <a:solidFill>
                  <a:srgbClr val="00B050"/>
                </a:solidFill>
                <a:latin typeface="Arial" panose="020B0604020202020204" pitchFamily="34" charset="0"/>
                <a:ea typeface="宋体" panose="02010600030101010101" pitchFamily="2" charset="-122"/>
                <a:cs typeface="Arial" panose="020B0604020202020204" pitchFamily="34" charset="0"/>
              </a:rPr>
              <a:t>f</a:t>
            </a:r>
            <a:r>
              <a:rPr lang="en-US" altLang="zh-CN" sz="1800" baseline="-25000">
                <a:solidFill>
                  <a:srgbClr val="00B050"/>
                </a:solidFill>
                <a:latin typeface="Arial" panose="020B0604020202020204" pitchFamily="34" charset="0"/>
                <a:ea typeface="宋体" panose="02010600030101010101" pitchFamily="2" charset="-122"/>
                <a:cs typeface="Arial" panose="020B0604020202020204" pitchFamily="34" charset="0"/>
              </a:rPr>
              <a:t>2</a:t>
            </a:r>
            <a:r>
              <a:rPr lang="en-US" altLang="zh-CN" sz="1800">
                <a:solidFill>
                  <a:srgbClr val="00B050"/>
                </a:solidFill>
                <a:latin typeface="Arial" panose="020B0604020202020204" pitchFamily="34" charset="0"/>
                <a:ea typeface="宋体" panose="02010600030101010101" pitchFamily="2" charset="-122"/>
                <a:cs typeface="Arial" panose="020B0604020202020204" pitchFamily="34" charset="0"/>
              </a:rPr>
              <a:t> [M]]</a:t>
            </a:r>
            <a:endParaRPr lang="en-US" altLang="zh-CN" sz="2100">
              <a:solidFill>
                <a:srgbClr val="00B050"/>
              </a:solidFill>
              <a:latin typeface="Arial" panose="020B0604020202020204" pitchFamily="34" charset="0"/>
              <a:ea typeface="宋体" panose="02010600030101010101" pitchFamily="2" charset="-122"/>
              <a:cs typeface="Arial" panose="020B0604020202020204" pitchFamily="34" charset="0"/>
            </a:endParaRPr>
          </a:p>
        </p:txBody>
      </p:sp>
      <p:graphicFrame>
        <p:nvGraphicFramePr>
          <p:cNvPr id="68616" name="Object 1026"/>
          <p:cNvGraphicFramePr>
            <a:graphicFrameLocks noChangeAspect="1"/>
          </p:cNvGraphicFramePr>
          <p:nvPr/>
        </p:nvGraphicFramePr>
        <p:xfrm>
          <a:off x="700088" y="5332413"/>
          <a:ext cx="2963862" cy="952500"/>
        </p:xfrm>
        <a:graphic>
          <a:graphicData uri="http://schemas.openxmlformats.org/presentationml/2006/ole">
            <mc:AlternateContent xmlns:mc="http://schemas.openxmlformats.org/markup-compatibility/2006">
              <mc:Choice xmlns:v="urn:schemas-microsoft-com:vml" Requires="v">
                <p:oleObj spid="_x0000_s68704" name="公式" r:id="rId8" imgW="1968500" imgH="635000" progId="Equation.3">
                  <p:embed/>
                </p:oleObj>
              </mc:Choice>
              <mc:Fallback>
                <p:oleObj name="公式" r:id="rId8" imgW="1968500" imgH="635000" progId="Equation.3">
                  <p:embed/>
                  <p:pic>
                    <p:nvPicPr>
                      <p:cNvPr id="0" name="Object 10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0088" y="5332413"/>
                        <a:ext cx="2963862"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7" name="Rectangle 22"/>
          <p:cNvSpPr>
            <a:spLocks noChangeArrowheads="1"/>
          </p:cNvSpPr>
          <p:nvPr/>
        </p:nvSpPr>
        <p:spPr bwMode="auto">
          <a:xfrm>
            <a:off x="3924300" y="5605463"/>
            <a:ext cx="1863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None/>
            </a:pPr>
            <a:r>
              <a:rPr lang="en-US" altLang="zh-CN" sz="1800" b="1">
                <a:solidFill>
                  <a:srgbClr val="00B050"/>
                </a:solidFill>
                <a:latin typeface="Century Schoolbook" panose="02040604050505020304" pitchFamily="18" charset="0"/>
                <a:ea typeface="宋体" panose="02010600030101010101" pitchFamily="2" charset="-122"/>
              </a:rPr>
              <a:t>(</a:t>
            </a:r>
            <a:r>
              <a:rPr lang="en-US" altLang="zh-CN" sz="1800" b="1" i="1">
                <a:solidFill>
                  <a:srgbClr val="00B050"/>
                </a:solidFill>
                <a:latin typeface="Century Schoolbook" panose="02040604050505020304" pitchFamily="18" charset="0"/>
                <a:ea typeface="宋体" panose="02010600030101010101" pitchFamily="2" charset="-122"/>
              </a:rPr>
              <a:t>f</a:t>
            </a:r>
            <a:r>
              <a:rPr lang="en-US" altLang="zh-CN" sz="1800" b="1" baseline="-25000">
                <a:solidFill>
                  <a:srgbClr val="00B050"/>
                </a:solidFill>
                <a:latin typeface="Century Schoolbook" panose="02040604050505020304" pitchFamily="18" charset="0"/>
                <a:ea typeface="宋体" panose="02010600030101010101" pitchFamily="2" charset="-122"/>
              </a:rPr>
              <a:t>1</a:t>
            </a:r>
            <a:r>
              <a:rPr lang="en-US" altLang="zh-CN" sz="1800" b="1">
                <a:solidFill>
                  <a:srgbClr val="00B050"/>
                </a:solidFill>
                <a:latin typeface="Century Schoolbook" panose="02040604050505020304" pitchFamily="18" charset="0"/>
                <a:ea typeface="宋体" panose="02010600030101010101" pitchFamily="2" charset="-122"/>
              </a:rPr>
              <a:t> =1-</a:t>
            </a:r>
            <a:r>
              <a:rPr lang="en-US" altLang="zh-CN" sz="1800" b="1" i="1">
                <a:solidFill>
                  <a:srgbClr val="00B050"/>
                </a:solidFill>
                <a:latin typeface="Century Schoolbook" panose="02040604050505020304" pitchFamily="18" charset="0"/>
                <a:ea typeface="宋体" panose="02010600030101010101" pitchFamily="2" charset="-122"/>
              </a:rPr>
              <a:t>f</a:t>
            </a:r>
            <a:r>
              <a:rPr lang="en-US" altLang="zh-CN" sz="1800" b="1" baseline="-25000">
                <a:solidFill>
                  <a:srgbClr val="00B050"/>
                </a:solidFill>
                <a:latin typeface="Century Schoolbook" panose="02040604050505020304" pitchFamily="18" charset="0"/>
                <a:ea typeface="宋体" panose="02010600030101010101" pitchFamily="2" charset="-122"/>
              </a:rPr>
              <a:t>2</a:t>
            </a:r>
            <a:r>
              <a:rPr lang="en-US" altLang="zh-CN" sz="1800" b="1">
                <a:solidFill>
                  <a:srgbClr val="00B050"/>
                </a:solidFill>
                <a:latin typeface="Century Schoolbook" panose="02040604050505020304" pitchFamily="18" charset="0"/>
                <a:ea typeface="宋体" panose="02010600030101010101" pitchFamily="2" charset="-122"/>
              </a:rPr>
              <a:t>)</a:t>
            </a:r>
            <a:endParaRPr lang="zh-CN" altLang="en-US" sz="1800" b="1">
              <a:solidFill>
                <a:srgbClr val="00B050"/>
              </a:solidFill>
              <a:latin typeface="Century Schoolbook" panose="02040604050505020304" pitchFamily="18" charset="0"/>
              <a:ea typeface="宋体" panose="02010600030101010101" pitchFamily="2" charset="-122"/>
            </a:endParaRPr>
          </a:p>
        </p:txBody>
      </p:sp>
      <p:graphicFrame>
        <p:nvGraphicFramePr>
          <p:cNvPr id="68618" name="Object 1027"/>
          <p:cNvGraphicFramePr>
            <a:graphicFrameLocks noChangeAspect="1"/>
          </p:cNvGraphicFramePr>
          <p:nvPr/>
        </p:nvGraphicFramePr>
        <p:xfrm>
          <a:off x="395288" y="954088"/>
          <a:ext cx="1955800" cy="676275"/>
        </p:xfrm>
        <a:graphic>
          <a:graphicData uri="http://schemas.openxmlformats.org/presentationml/2006/ole">
            <mc:AlternateContent xmlns:mc="http://schemas.openxmlformats.org/markup-compatibility/2006">
              <mc:Choice xmlns:v="urn:schemas-microsoft-com:vml" Requires="v">
                <p:oleObj spid="_x0000_s68705" name="公式" r:id="rId10" imgW="1282700" imgH="431800" progId="Equation.3">
                  <p:embed/>
                </p:oleObj>
              </mc:Choice>
              <mc:Fallback>
                <p:oleObj name="公式" r:id="rId10" imgW="1282700" imgH="431800" progId="Equation.3">
                  <p:embed/>
                  <p:pic>
                    <p:nvPicPr>
                      <p:cNvPr id="0" name="Object 102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288" y="954088"/>
                        <a:ext cx="19558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19" name="Text Box 24"/>
          <p:cNvSpPr txBox="1">
            <a:spLocks noChangeArrowheads="1"/>
          </p:cNvSpPr>
          <p:nvPr/>
        </p:nvSpPr>
        <p:spPr bwMode="auto">
          <a:xfrm>
            <a:off x="2482850" y="1074738"/>
            <a:ext cx="54673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lang="zh-CN" altLang="en-US" sz="2100" b="1">
                <a:latin typeface="楷体" panose="02010609060101010101" pitchFamily="49" charset="-122"/>
                <a:ea typeface="楷体" panose="02010609060101010101" pitchFamily="49" charset="-122"/>
              </a:rPr>
              <a:t>，瞬时共聚物中，单体1链节的摩尔分数</a:t>
            </a:r>
            <a:endParaRPr lang="zh-CN" altLang="en-US" sz="1800">
              <a:latin typeface="楷体" panose="02010609060101010101" pitchFamily="49" charset="-122"/>
              <a:ea typeface="楷体" panose="02010609060101010101" pitchFamily="49" charset="-122"/>
            </a:endParaRPr>
          </a:p>
        </p:txBody>
      </p:sp>
      <p:sp>
        <p:nvSpPr>
          <p:cNvPr id="68620" name="Text Box 25"/>
          <p:cNvSpPr txBox="1">
            <a:spLocks noChangeArrowheads="1"/>
          </p:cNvSpPr>
          <p:nvPr/>
        </p:nvSpPr>
        <p:spPr bwMode="auto">
          <a:xfrm>
            <a:off x="2482850" y="2011363"/>
            <a:ext cx="51816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lang="zh-CN" altLang="en-US" sz="2100" b="1">
                <a:latin typeface="楷体" panose="02010609060101010101" pitchFamily="49" charset="-122"/>
                <a:ea typeface="楷体" panose="02010609060101010101" pitchFamily="49" charset="-122"/>
              </a:rPr>
              <a:t>，瞬时共聚物中，单体2链节的摩尔分数</a:t>
            </a:r>
            <a:endParaRPr lang="zh-CN" altLang="en-US" sz="1800">
              <a:latin typeface="楷体" panose="02010609060101010101" pitchFamily="49" charset="-122"/>
              <a:ea typeface="楷体" panose="02010609060101010101" pitchFamily="49" charset="-122"/>
            </a:endParaRPr>
          </a:p>
        </p:txBody>
      </p:sp>
      <p:graphicFrame>
        <p:nvGraphicFramePr>
          <p:cNvPr id="68621" name="Object 1028"/>
          <p:cNvGraphicFramePr>
            <a:graphicFrameLocks noChangeAspect="1"/>
          </p:cNvGraphicFramePr>
          <p:nvPr/>
        </p:nvGraphicFramePr>
        <p:xfrm>
          <a:off x="368300" y="1871663"/>
          <a:ext cx="2009775" cy="690562"/>
        </p:xfrm>
        <a:graphic>
          <a:graphicData uri="http://schemas.openxmlformats.org/presentationml/2006/ole">
            <mc:AlternateContent xmlns:mc="http://schemas.openxmlformats.org/markup-compatibility/2006">
              <mc:Choice xmlns:v="urn:schemas-microsoft-com:vml" Requires="v">
                <p:oleObj spid="_x0000_s68706" name="公式" r:id="rId12" imgW="1295400" imgH="431800" progId="Equation.3">
                  <p:embed/>
                </p:oleObj>
              </mc:Choice>
              <mc:Fallback>
                <p:oleObj name="公式" r:id="rId12" imgW="1295400" imgH="431800" progId="Equation.3">
                  <p:embed/>
                  <p:pic>
                    <p:nvPicPr>
                      <p:cNvPr id="0" name="Object 10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8300" y="1871663"/>
                        <a:ext cx="2009775"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8622" name="Text Box 1038"/>
          <p:cNvSpPr txBox="1">
            <a:spLocks noChangeArrowheads="1"/>
          </p:cNvSpPr>
          <p:nvPr/>
        </p:nvSpPr>
        <p:spPr bwMode="auto">
          <a:xfrm>
            <a:off x="315913" y="436563"/>
            <a:ext cx="160020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tabLst>
                <a:tab pos="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Lst>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tabLst>
                <a:tab pos="0" algn="l"/>
              </a:tabLst>
              <a:defRPr>
                <a:solidFill>
                  <a:schemeClr val="tx1"/>
                </a:solidFill>
                <a:latin typeface="Calibri" panose="020F0502020204030204" pitchFamily="34" charset="0"/>
              </a:defRPr>
            </a:lvl9pPr>
          </a:lstStyle>
          <a:p>
            <a:pPr eaLnBrk="1" hangingPunct="1">
              <a:lnSpc>
                <a:spcPct val="120000"/>
              </a:lnSpc>
              <a:spcBef>
                <a:spcPct val="50000"/>
              </a:spcBef>
              <a:buFontTx/>
              <a:buNone/>
            </a:pPr>
            <a:r>
              <a:rPr lang="zh-CN" altLang="en-US" sz="2400" b="1">
                <a:solidFill>
                  <a:srgbClr val="FF0000"/>
                </a:solidFill>
                <a:latin typeface="楷体" panose="02010609060101010101" pitchFamily="49" charset="-122"/>
                <a:ea typeface="楷体" panose="02010609060101010101" pitchFamily="49" charset="-122"/>
              </a:rPr>
              <a:t>再定义</a:t>
            </a:r>
            <a:r>
              <a:rPr lang="en-US" altLang="zh-CN" sz="2400" b="1">
                <a:solidFill>
                  <a:srgbClr val="FF0000"/>
                </a:solidFill>
                <a:latin typeface="楷体" panose="02010609060101010101" pitchFamily="49" charset="-122"/>
                <a:ea typeface="楷体" panose="02010609060101010101" pitchFamily="49" charset="-122"/>
              </a:rPr>
              <a:t>:</a:t>
            </a:r>
            <a:endParaRPr lang="zh-CN" altLang="en-US" sz="2400" b="1">
              <a:solidFill>
                <a:srgbClr val="FF0000"/>
              </a:solidFill>
              <a:latin typeface="楷体" panose="02010609060101010101" pitchFamily="49" charset="-122"/>
              <a:ea typeface="楷体" panose="02010609060101010101" pitchFamily="49" charset="-122"/>
            </a:endParaRPr>
          </a:p>
        </p:txBody>
      </p:sp>
      <p:graphicFrame>
        <p:nvGraphicFramePr>
          <p:cNvPr id="68623" name="Object 4"/>
          <p:cNvGraphicFramePr>
            <a:graphicFrameLocks noChangeAspect="1"/>
          </p:cNvGraphicFramePr>
          <p:nvPr/>
        </p:nvGraphicFramePr>
        <p:xfrm>
          <a:off x="5364163" y="3722688"/>
          <a:ext cx="3524250" cy="787400"/>
        </p:xfrm>
        <a:graphic>
          <a:graphicData uri="http://schemas.openxmlformats.org/presentationml/2006/ole">
            <mc:AlternateContent xmlns:mc="http://schemas.openxmlformats.org/markup-compatibility/2006">
              <mc:Choice xmlns:v="urn:schemas-microsoft-com:vml" Requires="v">
                <p:oleObj spid="_x0000_s68707" name="公式" r:id="rId14" imgW="1993900" imgH="444500" progId="Equation.3">
                  <p:embed/>
                </p:oleObj>
              </mc:Choice>
              <mc:Fallback>
                <p:oleObj name="公式" r:id="rId14" imgW="1993900" imgH="444500" progId="Equation.3">
                  <p:embed/>
                  <p:pic>
                    <p:nvPicPr>
                      <p:cNvPr id="0" name="Object 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64163" y="3722688"/>
                        <a:ext cx="3524250" cy="7874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D4829A95-F9AF-4C65-A23B-70CF4A945D5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065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2619D18-74DA-4FA2-8B78-52133975A666}"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42</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70660" name="Object 1024"/>
          <p:cNvGraphicFramePr>
            <a:graphicFrameLocks noChangeAspect="1"/>
          </p:cNvGraphicFramePr>
          <p:nvPr/>
        </p:nvGraphicFramePr>
        <p:xfrm>
          <a:off x="827088" y="1728788"/>
          <a:ext cx="6443662" cy="1101725"/>
        </p:xfrm>
        <a:graphic>
          <a:graphicData uri="http://schemas.openxmlformats.org/presentationml/2006/ole">
            <mc:AlternateContent xmlns:mc="http://schemas.openxmlformats.org/markup-compatibility/2006">
              <mc:Choice xmlns:v="urn:schemas-microsoft-com:vml" Requires="v">
                <p:oleObj spid="_x0000_s70676" name="公式" r:id="rId3" imgW="2578100" imgH="457200" progId="Equation.3">
                  <p:embed/>
                </p:oleObj>
              </mc:Choice>
              <mc:Fallback>
                <p:oleObj name="公式" r:id="rId3" imgW="2578100" imgH="457200" progId="Equation.3">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728788"/>
                        <a:ext cx="6443662"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1" name="Text Box 3"/>
          <p:cNvSpPr txBox="1">
            <a:spLocks noChangeArrowheads="1"/>
          </p:cNvSpPr>
          <p:nvPr/>
        </p:nvSpPr>
        <p:spPr bwMode="auto">
          <a:xfrm>
            <a:off x="827088" y="3429000"/>
            <a:ext cx="7239000"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ts val="2400"/>
              </a:spcBef>
              <a:buFontTx/>
              <a:buNone/>
            </a:pPr>
            <a:r>
              <a:rPr lang="zh-CN" altLang="en-US" sz="2400" b="1">
                <a:solidFill>
                  <a:srgbClr val="0033CC"/>
                </a:solidFill>
                <a:latin typeface="Arial" panose="020B0604020202020204" pitchFamily="34" charset="0"/>
                <a:ea typeface="楷体" panose="02010609060101010101" pitchFamily="49" charset="-122"/>
                <a:cs typeface="Arial" panose="020B0604020202020204" pitchFamily="34" charset="0"/>
              </a:rPr>
              <a:t>以摩尔分数来表示的共聚物组成方程式</a:t>
            </a:r>
            <a:endParaRPr lang="en-US" altLang="zh-CN" sz="2400" b="1">
              <a:solidFill>
                <a:srgbClr val="0033CC"/>
              </a:solidFill>
              <a:latin typeface="Arial" panose="020B0604020202020204" pitchFamily="34" charset="0"/>
              <a:ea typeface="楷体" panose="02010609060101010101" pitchFamily="49" charset="-122"/>
              <a:cs typeface="Arial" panose="020B0604020202020204" pitchFamily="34" charset="0"/>
            </a:endParaRPr>
          </a:p>
          <a:p>
            <a:pPr algn="just">
              <a:lnSpc>
                <a:spcPct val="150000"/>
              </a:lnSpc>
              <a:spcBef>
                <a:spcPts val="240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若</a:t>
            </a:r>
            <a:r>
              <a:rPr lang="en-US" altLang="zh-CN" sz="2400" b="1" i="1">
                <a:latin typeface="Arial" panose="020B0604020202020204" pitchFamily="34" charset="0"/>
                <a:ea typeface="楷体" panose="02010609060101010101" pitchFamily="49" charset="-122"/>
                <a:cs typeface="Arial" panose="020B0604020202020204" pitchFamily="34" charset="0"/>
              </a:rPr>
              <a:t>r</a:t>
            </a:r>
            <a:r>
              <a:rPr lang="en-US" altLang="zh-CN" sz="2400" b="1" baseline="-25000">
                <a:latin typeface="Arial" panose="020B0604020202020204" pitchFamily="34" charset="0"/>
                <a:ea typeface="楷体" panose="02010609060101010101" pitchFamily="49" charset="-122"/>
                <a:cs typeface="Arial" panose="020B0604020202020204" pitchFamily="34" charset="0"/>
              </a:rPr>
              <a:t>1</a:t>
            </a:r>
            <a:r>
              <a:rPr lang="en-US" altLang="zh-CN" sz="2400" b="1">
                <a:latin typeface="Arial" panose="020B0604020202020204" pitchFamily="34" charset="0"/>
                <a:ea typeface="楷体" panose="02010609060101010101" pitchFamily="49" charset="-122"/>
                <a:cs typeface="Arial" panose="020B0604020202020204" pitchFamily="34" charset="0"/>
              </a:rPr>
              <a:t>, </a:t>
            </a:r>
            <a:r>
              <a:rPr lang="en-US" altLang="zh-CN" sz="2400" b="1" i="1">
                <a:latin typeface="Arial" panose="020B0604020202020204" pitchFamily="34" charset="0"/>
                <a:ea typeface="楷体" panose="02010609060101010101" pitchFamily="49" charset="-122"/>
                <a:cs typeface="Arial" panose="020B0604020202020204" pitchFamily="34" charset="0"/>
              </a:rPr>
              <a:t>r</a:t>
            </a:r>
            <a:r>
              <a:rPr lang="en-US" altLang="zh-CN" sz="2400" b="1" baseline="-25000">
                <a:latin typeface="Arial" panose="020B0604020202020204" pitchFamily="34" charset="0"/>
                <a:ea typeface="楷体" panose="02010609060101010101" pitchFamily="49" charset="-122"/>
                <a:cs typeface="Arial" panose="020B0604020202020204" pitchFamily="34" charset="0"/>
              </a:rPr>
              <a:t>2</a:t>
            </a:r>
            <a:r>
              <a:rPr lang="en-US" altLang="zh-CN" sz="2400" b="1">
                <a:latin typeface="Arial" panose="020B0604020202020204" pitchFamily="34" charset="0"/>
                <a:ea typeface="楷体" panose="02010609060101010101" pitchFamily="49" charset="-122"/>
                <a:cs typeface="Arial" panose="020B0604020202020204" pitchFamily="34" charset="0"/>
              </a:rPr>
              <a:t> </a:t>
            </a:r>
            <a:r>
              <a:rPr lang="zh-CN" altLang="en-US" sz="2400" b="1">
                <a:latin typeface="Arial" panose="020B0604020202020204" pitchFamily="34" charset="0"/>
                <a:ea typeface="楷体" panose="02010609060101010101" pitchFamily="49" charset="-122"/>
                <a:cs typeface="Arial" panose="020B0604020202020204" pitchFamily="34" charset="0"/>
              </a:rPr>
              <a:t>已知，则根据测得单体配料的瞬时组成 </a:t>
            </a:r>
            <a:r>
              <a:rPr lang="en-US" altLang="zh-CN" sz="2400" b="1" i="1">
                <a:latin typeface="Arial" panose="020B0604020202020204" pitchFamily="34" charset="0"/>
                <a:ea typeface="楷体" panose="02010609060101010101" pitchFamily="49" charset="-122"/>
                <a:cs typeface="Arial" panose="020B0604020202020204" pitchFamily="34" charset="0"/>
              </a:rPr>
              <a:t>f</a:t>
            </a:r>
            <a:r>
              <a:rPr lang="en-US" altLang="zh-CN" sz="2400" b="1">
                <a:latin typeface="Arial" panose="020B0604020202020204" pitchFamily="34" charset="0"/>
                <a:ea typeface="楷体" panose="02010609060101010101" pitchFamily="49" charset="-122"/>
                <a:cs typeface="Arial" panose="020B0604020202020204" pitchFamily="34" charset="0"/>
              </a:rPr>
              <a:t> </a:t>
            </a:r>
            <a:r>
              <a:rPr lang="zh-CN" altLang="en-US" sz="2400" b="1">
                <a:latin typeface="Arial" panose="020B0604020202020204" pitchFamily="34" charset="0"/>
                <a:ea typeface="楷体" panose="02010609060101010101" pitchFamily="49" charset="-122"/>
                <a:cs typeface="Arial" panose="020B0604020202020204" pitchFamily="34" charset="0"/>
              </a:rPr>
              <a:t>值计算该瞬间生成的共聚物的摩尔组成 </a:t>
            </a:r>
            <a:r>
              <a:rPr lang="en-US" altLang="zh-CN" sz="2400" b="1" i="1">
                <a:latin typeface="Arial" panose="020B0604020202020204" pitchFamily="34" charset="0"/>
                <a:ea typeface="楷体" panose="02010609060101010101" pitchFamily="49" charset="-122"/>
                <a:cs typeface="Arial" panose="020B0604020202020204" pitchFamily="34" charset="0"/>
              </a:rPr>
              <a:t>F</a:t>
            </a:r>
            <a:endParaRPr lang="zh-CN" altLang="en-US" sz="2400" b="1" i="1">
              <a:latin typeface="Arial" panose="020B0604020202020204" pitchFamily="34" charset="0"/>
              <a:ea typeface="楷体" panose="02010609060101010101" pitchFamily="49" charset="-122"/>
              <a:cs typeface="Arial" panose="020B0604020202020204" pitchFamily="34" charset="0"/>
            </a:endParaRPr>
          </a:p>
        </p:txBody>
      </p:sp>
      <p:sp>
        <p:nvSpPr>
          <p:cNvPr id="70662" name="Text Box 5"/>
          <p:cNvSpPr txBox="1">
            <a:spLocks noChangeArrowheads="1"/>
          </p:cNvSpPr>
          <p:nvPr/>
        </p:nvSpPr>
        <p:spPr bwMode="auto">
          <a:xfrm>
            <a:off x="685800" y="990600"/>
            <a:ext cx="7696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50000"/>
              </a:spcBef>
              <a:buFontTx/>
              <a:buNone/>
            </a:pPr>
            <a:r>
              <a:rPr lang="en-US" altLang="zh-CN" sz="2400">
                <a:latin typeface="Arial" panose="020B0604020202020204" pitchFamily="34" charset="0"/>
                <a:ea typeface="宋体" panose="02010600030101010101" pitchFamily="2" charset="-122"/>
                <a:cs typeface="Arial" panose="020B0604020202020204" pitchFamily="34" charset="0"/>
              </a:rPr>
              <a:t>Copolymer equation in terms of mole fraction:</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图片 8"/>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17475"/>
            <a:ext cx="9144000" cy="6386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a:extLst>
              <a:ext uri="{FF2B5EF4-FFF2-40B4-BE49-F238E27FC236}">
                <a16:creationId xmlns:a16="http://schemas.microsoft.com/office/drawing/2014/main" id="{CAEE879A-842E-46B9-8A96-5ADA4DD5A87E}"/>
              </a:ext>
            </a:extLst>
          </p:cNvPr>
          <p:cNvSpPr>
            <a:spLocks noGrp="1"/>
          </p:cNvSpPr>
          <p:nvPr>
            <p:ph type="sldNum" sz="quarter" idx="12"/>
          </p:nvPr>
        </p:nvSpPr>
        <p:spPr/>
        <p:txBody>
          <a:bodyPr/>
          <a:lstStyle/>
          <a:p>
            <a:pPr>
              <a:defRPr/>
            </a:pPr>
            <a:fld id="{02D19FF7-1D30-4E6E-BC33-95C5589CFF94}" type="slidenum">
              <a:rPr lang="zh-CN" altLang="en-US" smtClean="0"/>
              <a:pPr>
                <a:defRPr/>
              </a:pPr>
              <a:t>43</a:t>
            </a:fld>
            <a:endParaRPr lang="en-US" altLang="zh-CN"/>
          </a:p>
        </p:txBody>
      </p:sp>
      <p:sp>
        <p:nvSpPr>
          <p:cNvPr id="12" name="矩形 11">
            <a:extLst>
              <a:ext uri="{FF2B5EF4-FFF2-40B4-BE49-F238E27FC236}">
                <a16:creationId xmlns:a16="http://schemas.microsoft.com/office/drawing/2014/main" id="{33344AD0-DF4A-450F-A65D-24ABC998F95E}"/>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11FC548-2138-4624-896B-5136C20E1D6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44</a:t>
            </a:fld>
            <a:endParaRPr lang="en-US" altLang="zh-CN" sz="1400">
              <a:latin typeface="Times New Roman" panose="02020603050405020304" pitchFamily="18" charset="0"/>
              <a:ea typeface="宋体" panose="02010600030101010101" pitchFamily="2" charset="-122"/>
            </a:endParaRPr>
          </a:p>
        </p:txBody>
      </p:sp>
      <p:sp>
        <p:nvSpPr>
          <p:cNvPr id="72707" name="Text Box 4"/>
          <p:cNvSpPr txBox="1">
            <a:spLocks noChangeArrowheads="1"/>
          </p:cNvSpPr>
          <p:nvPr/>
        </p:nvSpPr>
        <p:spPr bwMode="auto">
          <a:xfrm>
            <a:off x="250825" y="534988"/>
            <a:ext cx="42497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注意：推导过程的四个假定</a:t>
            </a:r>
          </a:p>
        </p:txBody>
      </p:sp>
      <p:sp>
        <p:nvSpPr>
          <p:cNvPr id="72708" name="Rectangle 5"/>
          <p:cNvSpPr>
            <a:spLocks noChangeArrowheads="1"/>
          </p:cNvSpPr>
          <p:nvPr/>
        </p:nvSpPr>
        <p:spPr bwMode="auto">
          <a:xfrm>
            <a:off x="401638" y="1412875"/>
            <a:ext cx="3125787" cy="443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FF0000"/>
              </a:buClr>
              <a:buFont typeface="Wingdings" panose="05000000000000000000" pitchFamily="2" charset="2"/>
              <a:buChar char="Ø"/>
            </a:pPr>
            <a:r>
              <a:rPr kumimoji="1" lang="zh-CN" altLang="en-US" sz="2400" b="1">
                <a:solidFill>
                  <a:srgbClr val="FF0000"/>
                </a:solidFill>
                <a:latin typeface="楷体" panose="02010609060101010101" pitchFamily="49" charset="-122"/>
                <a:ea typeface="楷体" panose="02010609060101010101" pitchFamily="49" charset="-122"/>
              </a:rPr>
              <a:t>“等活性”假定：</a:t>
            </a:r>
            <a:endParaRPr kumimoji="1" lang="en-US" altLang="zh-CN" sz="2400" b="1">
              <a:solidFill>
                <a:srgbClr val="FF0000"/>
              </a:solidFill>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Font typeface="Wingdings" panose="05000000000000000000" pitchFamily="2" charset="2"/>
              <a:buChar char="Ø"/>
            </a:pPr>
            <a:endParaRPr kumimoji="1" lang="zh-CN" altLang="en-US" sz="2400" b="1">
              <a:solidFill>
                <a:srgbClr val="FF0000"/>
              </a:solidFill>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Font typeface="Wingdings" panose="05000000000000000000" pitchFamily="2" charset="2"/>
              <a:buChar char="Ø"/>
            </a:pPr>
            <a:r>
              <a:rPr kumimoji="1" lang="zh-CN" altLang="en-US" sz="2400" b="1">
                <a:solidFill>
                  <a:srgbClr val="FF0000"/>
                </a:solidFill>
                <a:latin typeface="楷体" panose="02010609060101010101" pitchFamily="49" charset="-122"/>
                <a:ea typeface="楷体" panose="02010609060101010101" pitchFamily="49" charset="-122"/>
              </a:rPr>
              <a:t>“长链”假定：</a:t>
            </a:r>
          </a:p>
          <a:p>
            <a:pPr eaLnBrk="1" hangingPunct="1">
              <a:lnSpc>
                <a:spcPct val="125000"/>
              </a:lnSpc>
              <a:spcBef>
                <a:spcPct val="50000"/>
              </a:spcBef>
              <a:buClr>
                <a:srgbClr val="FF0000"/>
              </a:buClr>
              <a:buFont typeface="Wingdings" panose="05000000000000000000" pitchFamily="2" charset="2"/>
              <a:buChar char="Ø"/>
            </a:pPr>
            <a:r>
              <a:rPr kumimoji="1" lang="zh-CN" altLang="en-US" sz="2400" b="1">
                <a:solidFill>
                  <a:srgbClr val="FF0000"/>
                </a:solidFill>
                <a:latin typeface="楷体" panose="02010609060101010101" pitchFamily="49" charset="-122"/>
                <a:ea typeface="楷体" panose="02010609060101010101" pitchFamily="49" charset="-122"/>
              </a:rPr>
              <a:t>“稳态”假定：</a:t>
            </a:r>
          </a:p>
          <a:p>
            <a:pPr eaLnBrk="1" hangingPunct="1">
              <a:lnSpc>
                <a:spcPct val="125000"/>
              </a:lnSpc>
              <a:spcBef>
                <a:spcPct val="50000"/>
              </a:spcBef>
              <a:buClr>
                <a:srgbClr val="FF0000"/>
              </a:buClr>
              <a:buFont typeface="Wingdings" panose="05000000000000000000" pitchFamily="2" charset="2"/>
              <a:buChar char="Ø"/>
            </a:pPr>
            <a:endParaRPr kumimoji="1" lang="zh-CN" altLang="en-US" sz="2400" b="1">
              <a:solidFill>
                <a:srgbClr val="FF0000"/>
              </a:solidFill>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Font typeface="Wingdings" panose="05000000000000000000" pitchFamily="2" charset="2"/>
              <a:buChar char="Ø"/>
            </a:pPr>
            <a:endParaRPr kumimoji="1" lang="zh-CN" altLang="en-US" sz="2400" b="1">
              <a:solidFill>
                <a:srgbClr val="FF0000"/>
              </a:solidFill>
              <a:latin typeface="楷体" panose="02010609060101010101" pitchFamily="49" charset="-122"/>
              <a:ea typeface="楷体" panose="02010609060101010101" pitchFamily="49" charset="-122"/>
            </a:endParaRPr>
          </a:p>
          <a:p>
            <a:pPr eaLnBrk="1" hangingPunct="1">
              <a:lnSpc>
                <a:spcPct val="125000"/>
              </a:lnSpc>
              <a:spcBef>
                <a:spcPct val="50000"/>
              </a:spcBef>
              <a:buClr>
                <a:srgbClr val="FF0000"/>
              </a:buClr>
              <a:buFont typeface="Wingdings" panose="05000000000000000000" pitchFamily="2" charset="2"/>
              <a:buChar char="Ø"/>
            </a:pPr>
            <a:r>
              <a:rPr kumimoji="1" lang="zh-CN" altLang="en-US" sz="2400" b="1">
                <a:solidFill>
                  <a:srgbClr val="FF0000"/>
                </a:solidFill>
                <a:latin typeface="楷体" panose="02010609060101010101" pitchFamily="49" charset="-122"/>
                <a:ea typeface="楷体" panose="02010609060101010101" pitchFamily="49" charset="-122"/>
              </a:rPr>
              <a:t>“不可逆”假定：</a:t>
            </a:r>
          </a:p>
        </p:txBody>
      </p:sp>
      <p:sp>
        <p:nvSpPr>
          <p:cNvPr id="63493" name="Rectangle 6">
            <a:extLst>
              <a:ext uri="{FF2B5EF4-FFF2-40B4-BE49-F238E27FC236}">
                <a16:creationId xmlns:a16="http://schemas.microsoft.com/office/drawing/2014/main" id="{6319C70B-9429-4E54-8E36-4A62E2B5CE40}"/>
              </a:ext>
            </a:extLst>
          </p:cNvPr>
          <p:cNvSpPr>
            <a:spLocks noChangeArrowheads="1"/>
          </p:cNvSpPr>
          <p:nvPr/>
        </p:nvSpPr>
        <p:spPr bwMode="auto">
          <a:xfrm>
            <a:off x="3078163" y="1500188"/>
            <a:ext cx="6096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defRPr/>
            </a:pPr>
            <a:r>
              <a:rPr kumimoji="1" lang="zh-CN" altLang="en-US" sz="2000" b="1" dirty="0">
                <a:latin typeface="楷体" panose="02010609060101010101" pitchFamily="49" charset="-122"/>
                <a:ea typeface="楷体" panose="02010609060101010101" pitchFamily="49" charset="-122"/>
              </a:rPr>
              <a:t>自由基活性与链长无关，仅取决于末端单元结构</a:t>
            </a:r>
            <a:endParaRPr kumimoji="1" lang="en-US" altLang="zh-CN" sz="2000" b="1" dirty="0">
              <a:latin typeface="楷体" panose="02010609060101010101" pitchFamily="49" charset="-122"/>
              <a:ea typeface="楷体" panose="02010609060101010101" pitchFamily="49" charset="-122"/>
            </a:endParaRPr>
          </a:p>
          <a:p>
            <a:pPr eaLnBrk="1" hangingPunct="1">
              <a:lnSpc>
                <a:spcPct val="100000"/>
              </a:lnSpc>
              <a:spcBef>
                <a:spcPct val="50000"/>
              </a:spcBef>
              <a:buFontTx/>
              <a:buNone/>
              <a:defRPr/>
            </a:pPr>
            <a:r>
              <a:rPr kumimoji="1" lang="zh-CN" altLang="en-US" sz="2400" b="1" dirty="0">
                <a:solidFill>
                  <a:srgbClr val="FF0000"/>
                </a:solidFill>
                <a:effectLst>
                  <a:outerShdw blurRad="38100" dist="38100" dir="2700000" algn="tl">
                    <a:srgbClr val="000000">
                      <a:alpha val="43137"/>
                    </a:srgbClr>
                  </a:outerShdw>
                </a:effectLst>
                <a:highlight>
                  <a:srgbClr val="C0C0C0"/>
                </a:highlight>
                <a:latin typeface="楷体" panose="02010609060101010101" pitchFamily="49" charset="-122"/>
                <a:ea typeface="楷体" panose="02010609060101010101" pitchFamily="49" charset="-122"/>
              </a:rPr>
              <a:t>无前末端效应</a:t>
            </a:r>
          </a:p>
        </p:txBody>
      </p:sp>
      <p:sp>
        <p:nvSpPr>
          <p:cNvPr id="72710" name="Rectangle 7"/>
          <p:cNvSpPr>
            <a:spLocks noChangeArrowheads="1"/>
          </p:cNvSpPr>
          <p:nvPr/>
        </p:nvSpPr>
        <p:spPr bwMode="auto">
          <a:xfrm>
            <a:off x="3032125" y="2762250"/>
            <a:ext cx="5551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000" b="1">
                <a:latin typeface="楷体" panose="02010609060101010101" pitchFamily="49" charset="-122"/>
                <a:ea typeface="楷体" panose="02010609060101010101" pitchFamily="49" charset="-122"/>
              </a:rPr>
              <a:t>共聚物聚合度很大，组成仅由链增长反应决定</a:t>
            </a:r>
          </a:p>
        </p:txBody>
      </p:sp>
      <p:sp>
        <p:nvSpPr>
          <p:cNvPr id="72711" name="Rectangle 8"/>
          <p:cNvSpPr>
            <a:spLocks noChangeArrowheads="1"/>
          </p:cNvSpPr>
          <p:nvPr/>
        </p:nvSpPr>
        <p:spPr bwMode="auto">
          <a:xfrm>
            <a:off x="2987675" y="3465513"/>
            <a:ext cx="58928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000" b="1">
                <a:latin typeface="Arial" panose="020B0604020202020204" pitchFamily="34" charset="0"/>
                <a:ea typeface="楷体" panose="02010609060101010101" pitchFamily="49" charset="-122"/>
                <a:cs typeface="Arial" panose="020B0604020202020204" pitchFamily="34" charset="0"/>
              </a:rPr>
              <a:t>自由基总浓度及两种链自由基浓度均不随时间而变</a:t>
            </a:r>
          </a:p>
          <a:p>
            <a:pPr eaLnBrk="1" hangingPunct="1">
              <a:lnSpc>
                <a:spcPct val="125000"/>
              </a:lnSpc>
              <a:spcBef>
                <a:spcPct val="50000"/>
              </a:spcBef>
              <a:buFontTx/>
              <a:buNone/>
            </a:pPr>
            <a:r>
              <a:rPr kumimoji="1" lang="en-US" altLang="zh-CN" sz="2000">
                <a:latin typeface="Arial" panose="020B0604020202020204" pitchFamily="34" charset="0"/>
                <a:ea typeface="楷体" panose="02010609060101010101" pitchFamily="49" charset="-122"/>
                <a:cs typeface="Arial" panose="020B0604020202020204" pitchFamily="34" charset="0"/>
              </a:rPr>
              <a:t>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i </a:t>
            </a:r>
            <a:r>
              <a:rPr kumimoji="1" lang="en-US" altLang="zh-CN" sz="2000">
                <a:latin typeface="Arial" panose="020B0604020202020204" pitchFamily="34" charset="0"/>
                <a:ea typeface="楷体" panose="02010609060101010101" pitchFamily="49" charset="-122"/>
                <a:cs typeface="Arial" panose="020B0604020202020204" pitchFamily="34" charset="0"/>
              </a:rPr>
              <a:t>= 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t</a:t>
            </a:r>
            <a:r>
              <a:rPr kumimoji="1" lang="en-US" altLang="zh-CN" sz="2000">
                <a:latin typeface="Arial" panose="020B0604020202020204" pitchFamily="34" charset="0"/>
                <a:ea typeface="楷体" panose="02010609060101010101" pitchFamily="49" charset="-122"/>
                <a:cs typeface="Arial" panose="020B0604020202020204" pitchFamily="34" charset="0"/>
              </a:rPr>
              <a:t>（</a:t>
            </a:r>
            <a:r>
              <a:rPr kumimoji="1" lang="zh-CN" altLang="en-US" sz="2000" b="1">
                <a:latin typeface="Arial" panose="020B0604020202020204" pitchFamily="34" charset="0"/>
                <a:ea typeface="楷体" panose="02010609060101010101" pitchFamily="49" charset="-122"/>
                <a:cs typeface="Arial" panose="020B0604020202020204" pitchFamily="34" charset="0"/>
              </a:rPr>
              <a:t>即均聚中的稳态假定）</a:t>
            </a:r>
          </a:p>
          <a:p>
            <a:pPr eaLnBrk="1" hangingPunct="1">
              <a:lnSpc>
                <a:spcPct val="125000"/>
              </a:lnSpc>
              <a:spcBef>
                <a:spcPct val="50000"/>
              </a:spcBef>
              <a:buFontTx/>
              <a:buNone/>
            </a:pPr>
            <a:r>
              <a:rPr kumimoji="1" lang="en-US" altLang="zh-CN" sz="2000">
                <a:latin typeface="Arial" panose="020B0604020202020204" pitchFamily="34" charset="0"/>
                <a:ea typeface="楷体" panose="02010609060101010101" pitchFamily="49" charset="-122"/>
                <a:cs typeface="Arial" panose="020B0604020202020204" pitchFamily="34" charset="0"/>
              </a:rPr>
              <a:t>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12 </a:t>
            </a:r>
            <a:r>
              <a:rPr kumimoji="1" lang="en-US" altLang="zh-CN" sz="2000">
                <a:latin typeface="Arial" panose="020B0604020202020204" pitchFamily="34" charset="0"/>
                <a:ea typeface="楷体" panose="02010609060101010101" pitchFamily="49" charset="-122"/>
                <a:cs typeface="Arial" panose="020B0604020202020204" pitchFamily="34" charset="0"/>
              </a:rPr>
              <a:t>= 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21</a:t>
            </a:r>
            <a:r>
              <a:rPr kumimoji="1" lang="en-US" altLang="zh-CN" sz="2000" b="1">
                <a:latin typeface="Arial" panose="020B0604020202020204" pitchFamily="34" charset="0"/>
                <a:ea typeface="楷体" panose="02010609060101010101" pitchFamily="49" charset="-122"/>
                <a:cs typeface="Arial" panose="020B0604020202020204" pitchFamily="34" charset="0"/>
              </a:rPr>
              <a:t>（</a:t>
            </a:r>
            <a:r>
              <a:rPr kumimoji="1" lang="zh-CN" altLang="en-US" sz="2000" b="1">
                <a:latin typeface="Arial" panose="020B0604020202020204" pitchFamily="34" charset="0"/>
                <a:ea typeface="楷体" panose="02010609060101010101" pitchFamily="49" charset="-122"/>
                <a:cs typeface="Arial" panose="020B0604020202020204" pitchFamily="34" charset="0"/>
              </a:rPr>
              <a:t>自由基互变速率相等）</a:t>
            </a:r>
          </a:p>
        </p:txBody>
      </p:sp>
      <p:sp>
        <p:nvSpPr>
          <p:cNvPr id="72712" name="Rectangle 9"/>
          <p:cNvSpPr>
            <a:spLocks noChangeArrowheads="1"/>
          </p:cNvSpPr>
          <p:nvPr/>
        </p:nvSpPr>
        <p:spPr bwMode="auto">
          <a:xfrm>
            <a:off x="3276600" y="5329238"/>
            <a:ext cx="2228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000" b="1">
                <a:latin typeface="楷体" panose="02010609060101010101" pitchFamily="49" charset="-122"/>
                <a:ea typeface="楷体" panose="02010609060101010101" pitchFamily="49" charset="-122"/>
              </a:rPr>
              <a:t>无解聚等副反应</a:t>
            </a: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1B987EC-BE96-4F96-984A-76EFBCC6517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475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86A4608-487F-4B6F-99EB-CA2FD67D7865}"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45</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74756" name="Text Box 2"/>
          <p:cNvSpPr txBox="1">
            <a:spLocks noChangeArrowheads="1"/>
          </p:cNvSpPr>
          <p:nvPr/>
        </p:nvSpPr>
        <p:spPr bwMode="auto">
          <a:xfrm>
            <a:off x="838200" y="762000"/>
            <a:ext cx="7162800" cy="508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若阳离子、阴离子或配位共聚反应历程与上述自由基共聚的历程相类似，该微分方程也适用。</a:t>
            </a:r>
            <a:r>
              <a:rPr lang="zh-CN" altLang="en-US" sz="1800" b="1">
                <a:latin typeface="Arial" panose="020B0604020202020204" pitchFamily="34" charset="0"/>
                <a:ea typeface="楷体" panose="02010609060101010101" pitchFamily="49" charset="-122"/>
                <a:cs typeface="Arial" panose="020B0604020202020204" pitchFamily="34" charset="0"/>
              </a:rPr>
              <a:t> </a:t>
            </a:r>
          </a:p>
          <a:p>
            <a:pPr algn="just">
              <a:lnSpc>
                <a:spcPct val="100000"/>
              </a:lnSpc>
              <a:spcBef>
                <a:spcPct val="0"/>
              </a:spcBef>
              <a:buFontTx/>
              <a:buNone/>
            </a:pPr>
            <a:endParaRPr lang="zh-CN" altLang="en-US" sz="1800" b="1">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endParaRPr lang="en-US" altLang="zh-CN" sz="2400" b="1">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单体相同，但聚合机理不同  </a:t>
            </a:r>
            <a:r>
              <a:rPr lang="zh-CN" altLang="en-US" sz="2400" b="1">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endParaRPr lang="zh-CN" altLang="en-US" sz="2400" b="1">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                       单体竟聚率</a:t>
            </a:r>
            <a:r>
              <a:rPr lang="en-US" altLang="zh-CN" sz="2400" b="1" i="1">
                <a:latin typeface="Arial" panose="020B0604020202020204" pitchFamily="34" charset="0"/>
                <a:ea typeface="楷体" panose="02010609060101010101" pitchFamily="49" charset="-122"/>
                <a:cs typeface="Arial" panose="020B0604020202020204" pitchFamily="34" charset="0"/>
              </a:rPr>
              <a:t>r</a:t>
            </a:r>
            <a:r>
              <a:rPr lang="en-US" altLang="zh-CN" sz="2400" b="1" baseline="-25000">
                <a:latin typeface="Arial" panose="020B0604020202020204" pitchFamily="34" charset="0"/>
                <a:ea typeface="楷体" panose="02010609060101010101" pitchFamily="49" charset="-122"/>
                <a:cs typeface="Arial" panose="020B0604020202020204" pitchFamily="34" charset="0"/>
              </a:rPr>
              <a:t>1</a:t>
            </a:r>
            <a:r>
              <a:rPr lang="en-US" altLang="zh-CN" sz="2400" b="1">
                <a:latin typeface="Arial" panose="020B0604020202020204" pitchFamily="34" charset="0"/>
                <a:ea typeface="楷体" panose="02010609060101010101" pitchFamily="49" charset="-122"/>
                <a:cs typeface="Arial" panose="020B0604020202020204" pitchFamily="34" charset="0"/>
              </a:rPr>
              <a:t>，</a:t>
            </a:r>
            <a:r>
              <a:rPr lang="en-US" altLang="zh-CN" sz="2400" b="1" i="1">
                <a:latin typeface="Arial" panose="020B0604020202020204" pitchFamily="34" charset="0"/>
                <a:ea typeface="楷体" panose="02010609060101010101" pitchFamily="49" charset="-122"/>
                <a:cs typeface="Arial" panose="020B0604020202020204" pitchFamily="34" charset="0"/>
              </a:rPr>
              <a:t>r</a:t>
            </a:r>
            <a:r>
              <a:rPr lang="en-US" altLang="zh-CN" sz="2400" b="1" baseline="-25000">
                <a:latin typeface="Arial" panose="020B0604020202020204" pitchFamily="34" charset="0"/>
                <a:ea typeface="楷体" panose="02010609060101010101" pitchFamily="49" charset="-122"/>
                <a:cs typeface="Arial" panose="020B0604020202020204" pitchFamily="34" charset="0"/>
              </a:rPr>
              <a:t>2   </a:t>
            </a:r>
            <a:r>
              <a:rPr lang="zh-CN" altLang="en-US" sz="2400" b="1">
                <a:latin typeface="Arial" panose="020B0604020202020204" pitchFamily="34" charset="0"/>
                <a:ea typeface="楷体" panose="02010609060101010101" pitchFamily="49" charset="-122"/>
                <a:cs typeface="Arial" panose="020B0604020202020204" pitchFamily="34" charset="0"/>
              </a:rPr>
              <a:t>将有不同的数值</a:t>
            </a:r>
          </a:p>
          <a:p>
            <a:pPr algn="just">
              <a:lnSpc>
                <a:spcPct val="140000"/>
              </a:lnSpc>
              <a:spcBef>
                <a:spcPct val="0"/>
              </a:spcBef>
              <a:buFontTx/>
              <a:buNone/>
            </a:pPr>
            <a:endParaRPr lang="zh-CN" altLang="en-US" sz="1800" b="1">
              <a:solidFill>
                <a:srgbClr val="CC3300"/>
              </a:solidFill>
              <a:latin typeface="Century Schoolbook" panose="02040604050505020304" pitchFamily="18" charset="0"/>
              <a:ea typeface="宋体" panose="02010600030101010101" pitchFamily="2" charset="-122"/>
              <a:cs typeface="Arial" panose="020B0604020202020204" pitchFamily="34" charset="0"/>
            </a:endParaRPr>
          </a:p>
          <a:p>
            <a:pPr algn="just">
              <a:lnSpc>
                <a:spcPct val="140000"/>
              </a:lnSpc>
              <a:spcBef>
                <a:spcPct val="0"/>
              </a:spcBef>
              <a:buFontTx/>
              <a:buNone/>
            </a:pPr>
            <a:r>
              <a:rPr lang="zh-CN" altLang="en-US" sz="2400" b="1">
                <a:solidFill>
                  <a:srgbClr val="FF0000"/>
                </a:solidFill>
                <a:latin typeface="楷体" panose="02010609060101010101" pitchFamily="49" charset="-122"/>
                <a:ea typeface="楷体" panose="02010609060101010101" pitchFamily="49" charset="-122"/>
                <a:cs typeface="Arial" panose="020B0604020202020204" pitchFamily="34" charset="0"/>
              </a:rPr>
              <a:t>例</a:t>
            </a:r>
            <a:r>
              <a:rPr lang="en-US" altLang="zh-CN" sz="2400" b="1">
                <a:solidFill>
                  <a:srgbClr val="FF0000"/>
                </a:solidFill>
                <a:latin typeface="楷体" panose="02010609060101010101" pitchFamily="49" charset="-122"/>
                <a:ea typeface="楷体" panose="02010609060101010101" pitchFamily="49" charset="-122"/>
                <a:cs typeface="Arial" panose="020B0604020202020204" pitchFamily="34" charset="0"/>
              </a:rPr>
              <a:t>:</a:t>
            </a:r>
          </a:p>
          <a:p>
            <a:pPr algn="just">
              <a:lnSpc>
                <a:spcPct val="140000"/>
              </a:lnSpc>
              <a:spcBef>
                <a:spcPct val="0"/>
              </a:spcBef>
              <a:buFontTx/>
              <a:buNone/>
            </a:pPr>
            <a:endParaRPr lang="zh-CN" altLang="en-US" sz="1800" b="1">
              <a:solidFill>
                <a:srgbClr val="0033CC"/>
              </a:solidFill>
              <a:latin typeface="Century Schoolbook" panose="02040604050505020304" pitchFamily="18" charset="0"/>
              <a:ea typeface="宋体" panose="02010600030101010101" pitchFamily="2" charset="-122"/>
              <a:cs typeface="Arial" panose="020B0604020202020204" pitchFamily="34" charset="0"/>
            </a:endParaRPr>
          </a:p>
          <a:p>
            <a:pPr algn="just">
              <a:lnSpc>
                <a:spcPct val="140000"/>
              </a:lnSpc>
              <a:spcBef>
                <a:spcPct val="0"/>
              </a:spcBef>
              <a:buFontTx/>
              <a:buNone/>
            </a:pPr>
            <a:endParaRPr lang="zh-CN" altLang="en-US" sz="1800" b="1">
              <a:solidFill>
                <a:srgbClr val="0033CC"/>
              </a:solidFill>
              <a:latin typeface="Century Schoolbook" panose="02040604050505020304" pitchFamily="18" charset="0"/>
              <a:ea typeface="宋体" panose="02010600030101010101" pitchFamily="2" charset="-122"/>
              <a:cs typeface="Arial" panose="020B0604020202020204" pitchFamily="34" charset="0"/>
            </a:endParaRPr>
          </a:p>
          <a:p>
            <a:pPr algn="just">
              <a:lnSpc>
                <a:spcPct val="140000"/>
              </a:lnSpc>
              <a:spcBef>
                <a:spcPct val="0"/>
              </a:spcBef>
              <a:buFontTx/>
              <a:buNone/>
            </a:pPr>
            <a:endParaRPr lang="zh-CN" altLang="en-US" sz="1800" b="1">
              <a:solidFill>
                <a:srgbClr val="0033CC"/>
              </a:solidFill>
              <a:latin typeface="Century Schoolbook" panose="02040604050505020304" pitchFamily="18" charset="0"/>
              <a:ea typeface="宋体" panose="02010600030101010101" pitchFamily="2" charset="-122"/>
              <a:cs typeface="Arial" panose="020B0604020202020204" pitchFamily="34" charset="0"/>
            </a:endParaRPr>
          </a:p>
          <a:p>
            <a:pPr algn="just">
              <a:lnSpc>
                <a:spcPct val="140000"/>
              </a:lnSpc>
              <a:spcBef>
                <a:spcPct val="0"/>
              </a:spcBef>
              <a:buFontTx/>
              <a:buNone/>
            </a:pPr>
            <a:endParaRPr lang="zh-CN" altLang="en-US" sz="1900" b="1">
              <a:latin typeface="Century Schoolbook" panose="02040604050505020304" pitchFamily="18" charset="0"/>
              <a:ea typeface="宋体" panose="02010600030101010101" pitchFamily="2" charset="-122"/>
              <a:cs typeface="Arial" panose="020B0604020202020204" pitchFamily="34" charset="0"/>
            </a:endParaRPr>
          </a:p>
        </p:txBody>
      </p:sp>
      <p:sp>
        <p:nvSpPr>
          <p:cNvPr id="74757" name="Text Box 9"/>
          <p:cNvSpPr txBox="1">
            <a:spLocks noChangeArrowheads="1"/>
          </p:cNvSpPr>
          <p:nvPr/>
        </p:nvSpPr>
        <p:spPr bwMode="auto">
          <a:xfrm>
            <a:off x="1636713" y="3860800"/>
            <a:ext cx="6021387"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5000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苯乙烯 </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St (M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和甲基丙烯酸甲酯 </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MMA (M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共聚</a:t>
            </a:r>
          </a:p>
          <a:p>
            <a:pPr>
              <a:lnSpc>
                <a:spcPct val="100000"/>
              </a:lnSpc>
              <a:spcBef>
                <a:spcPct val="50000"/>
              </a:spcBef>
              <a:buFontTx/>
              <a:buNone/>
            </a:pPr>
            <a:r>
              <a:rPr lang="zh-CN" altLang="en-US" sz="1800" b="1">
                <a:latin typeface="Arial" panose="020B0604020202020204" pitchFamily="34" charset="0"/>
                <a:ea typeface="楷体" panose="02010609060101010101" pitchFamily="49" charset="-122"/>
                <a:cs typeface="Arial" panose="020B0604020202020204" pitchFamily="34" charset="0"/>
              </a:rPr>
              <a:t>自由基共聚：   </a:t>
            </a:r>
            <a:r>
              <a:rPr lang="en-US" altLang="zh-CN" sz="1800" b="1" i="1">
                <a:latin typeface="Arial" panose="020B0604020202020204" pitchFamily="34" charset="0"/>
                <a:ea typeface="楷体" panose="02010609060101010101" pitchFamily="49" charset="-122"/>
                <a:cs typeface="Arial" panose="020B0604020202020204" pitchFamily="34" charset="0"/>
              </a:rPr>
              <a:t>r</a:t>
            </a:r>
            <a:r>
              <a:rPr lang="en-US" altLang="zh-CN" sz="1800" b="1" baseline="-25000">
                <a:latin typeface="Arial" panose="020B0604020202020204" pitchFamily="34" charset="0"/>
                <a:ea typeface="楷体" panose="02010609060101010101" pitchFamily="49" charset="-122"/>
                <a:cs typeface="Arial" panose="020B0604020202020204" pitchFamily="34" charset="0"/>
              </a:rPr>
              <a:t>1 </a:t>
            </a:r>
            <a:r>
              <a:rPr lang="en-US" altLang="zh-CN" sz="1800" b="1">
                <a:latin typeface="Arial" panose="020B0604020202020204" pitchFamily="34" charset="0"/>
                <a:ea typeface="楷体" panose="02010609060101010101" pitchFamily="49" charset="-122"/>
                <a:cs typeface="Arial" panose="020B0604020202020204" pitchFamily="34" charset="0"/>
              </a:rPr>
              <a:t>= 0.52,  </a:t>
            </a:r>
            <a:r>
              <a:rPr lang="en-US" altLang="zh-CN" sz="1800" b="1" i="1">
                <a:latin typeface="Arial" panose="020B0604020202020204" pitchFamily="34" charset="0"/>
                <a:ea typeface="楷体" panose="02010609060101010101" pitchFamily="49" charset="-122"/>
                <a:cs typeface="Arial" panose="020B0604020202020204" pitchFamily="34" charset="0"/>
              </a:rPr>
              <a:t>r</a:t>
            </a:r>
            <a:r>
              <a:rPr lang="en-US" altLang="zh-CN" sz="1800" b="1" baseline="-25000">
                <a:latin typeface="Arial" panose="020B0604020202020204" pitchFamily="34" charset="0"/>
                <a:ea typeface="楷体" panose="02010609060101010101" pitchFamily="49" charset="-122"/>
                <a:cs typeface="Arial" panose="020B0604020202020204" pitchFamily="34" charset="0"/>
              </a:rPr>
              <a:t>2 </a:t>
            </a:r>
            <a:r>
              <a:rPr lang="en-US" altLang="zh-CN" sz="1800" b="1">
                <a:latin typeface="Arial" panose="020B0604020202020204" pitchFamily="34" charset="0"/>
                <a:ea typeface="楷体" panose="02010609060101010101" pitchFamily="49" charset="-122"/>
                <a:cs typeface="Arial" panose="020B0604020202020204" pitchFamily="34" charset="0"/>
              </a:rPr>
              <a:t>= 0.46</a:t>
            </a:r>
          </a:p>
          <a:p>
            <a:pPr>
              <a:lnSpc>
                <a:spcPct val="100000"/>
              </a:lnSpc>
              <a:spcBef>
                <a:spcPct val="50000"/>
              </a:spcBef>
              <a:buFontTx/>
              <a:buNone/>
            </a:pPr>
            <a:r>
              <a:rPr lang="zh-CN" altLang="en-US" sz="1800" b="1">
                <a:latin typeface="Arial" panose="020B0604020202020204" pitchFamily="34" charset="0"/>
                <a:ea typeface="楷体" panose="02010609060101010101" pitchFamily="49" charset="-122"/>
                <a:cs typeface="Arial" panose="020B0604020202020204" pitchFamily="34" charset="0"/>
              </a:rPr>
              <a:t>阳离子共聚：   </a:t>
            </a:r>
            <a:r>
              <a:rPr lang="en-US" altLang="zh-CN" sz="1800" b="1" i="1">
                <a:latin typeface="Arial" panose="020B0604020202020204" pitchFamily="34" charset="0"/>
                <a:ea typeface="楷体" panose="02010609060101010101" pitchFamily="49" charset="-122"/>
                <a:cs typeface="Arial" panose="020B0604020202020204" pitchFamily="34" charset="0"/>
              </a:rPr>
              <a:t>r</a:t>
            </a:r>
            <a:r>
              <a:rPr lang="en-US" altLang="zh-CN" sz="1800" b="1" baseline="-25000">
                <a:latin typeface="Arial" panose="020B0604020202020204" pitchFamily="34" charset="0"/>
                <a:ea typeface="楷体" panose="02010609060101010101" pitchFamily="49" charset="-122"/>
                <a:cs typeface="Arial" panose="020B0604020202020204" pitchFamily="34" charset="0"/>
              </a:rPr>
              <a:t>1 </a:t>
            </a:r>
            <a:r>
              <a:rPr lang="en-US" altLang="zh-CN" sz="1800" b="1">
                <a:latin typeface="Arial" panose="020B0604020202020204" pitchFamily="34" charset="0"/>
                <a:ea typeface="楷体" panose="02010609060101010101" pitchFamily="49" charset="-122"/>
                <a:cs typeface="Arial" panose="020B0604020202020204" pitchFamily="34" charset="0"/>
              </a:rPr>
              <a:t>= 10,  </a:t>
            </a:r>
            <a:r>
              <a:rPr lang="en-US" altLang="zh-CN" sz="1800" b="1" i="1">
                <a:latin typeface="Arial" panose="020B0604020202020204" pitchFamily="34" charset="0"/>
                <a:ea typeface="楷体" panose="02010609060101010101" pitchFamily="49" charset="-122"/>
                <a:cs typeface="Arial" panose="020B0604020202020204" pitchFamily="34" charset="0"/>
              </a:rPr>
              <a:t>r</a:t>
            </a:r>
            <a:r>
              <a:rPr lang="en-US" altLang="zh-CN" sz="1800" b="1" baseline="-25000">
                <a:latin typeface="Arial" panose="020B0604020202020204" pitchFamily="34" charset="0"/>
                <a:ea typeface="楷体" panose="02010609060101010101" pitchFamily="49" charset="-122"/>
                <a:cs typeface="Arial" panose="020B0604020202020204" pitchFamily="34" charset="0"/>
              </a:rPr>
              <a:t>2 </a:t>
            </a:r>
            <a:r>
              <a:rPr lang="en-US" altLang="zh-CN" sz="1800" b="1">
                <a:latin typeface="Arial" panose="020B0604020202020204" pitchFamily="34" charset="0"/>
                <a:ea typeface="楷体" panose="02010609060101010101" pitchFamily="49" charset="-122"/>
                <a:cs typeface="Arial" panose="020B0604020202020204" pitchFamily="34" charset="0"/>
              </a:rPr>
              <a:t>= 0.1</a:t>
            </a:r>
          </a:p>
          <a:p>
            <a:pPr>
              <a:lnSpc>
                <a:spcPct val="100000"/>
              </a:lnSpc>
              <a:spcBef>
                <a:spcPct val="50000"/>
              </a:spcBef>
              <a:buFontTx/>
              <a:buNone/>
            </a:pPr>
            <a:r>
              <a:rPr lang="zh-CN" altLang="en-US" sz="1800" b="1">
                <a:latin typeface="Arial" panose="020B0604020202020204" pitchFamily="34" charset="0"/>
                <a:ea typeface="楷体" panose="02010609060101010101" pitchFamily="49" charset="-122"/>
                <a:cs typeface="Arial" panose="020B0604020202020204" pitchFamily="34" charset="0"/>
              </a:rPr>
              <a:t>阴离子共聚：   </a:t>
            </a:r>
            <a:r>
              <a:rPr lang="en-US" altLang="zh-CN" sz="1800" b="1" i="1">
                <a:latin typeface="Arial" panose="020B0604020202020204" pitchFamily="34" charset="0"/>
                <a:ea typeface="楷体" panose="02010609060101010101" pitchFamily="49" charset="-122"/>
                <a:cs typeface="Arial" panose="020B0604020202020204" pitchFamily="34" charset="0"/>
              </a:rPr>
              <a:t>r</a:t>
            </a:r>
            <a:r>
              <a:rPr lang="en-US" altLang="zh-CN" sz="1800" b="1" baseline="-25000">
                <a:latin typeface="Arial" panose="020B0604020202020204" pitchFamily="34" charset="0"/>
                <a:ea typeface="楷体" panose="02010609060101010101" pitchFamily="49" charset="-122"/>
                <a:cs typeface="Arial" panose="020B0604020202020204" pitchFamily="34" charset="0"/>
              </a:rPr>
              <a:t>1 </a:t>
            </a:r>
            <a:r>
              <a:rPr lang="en-US" altLang="zh-CN" sz="1800" b="1">
                <a:latin typeface="Arial" panose="020B0604020202020204" pitchFamily="34" charset="0"/>
                <a:ea typeface="楷体" panose="02010609060101010101" pitchFamily="49" charset="-122"/>
                <a:cs typeface="Arial" panose="020B0604020202020204" pitchFamily="34" charset="0"/>
              </a:rPr>
              <a:t>= 0.1,  </a:t>
            </a:r>
            <a:r>
              <a:rPr lang="en-US" altLang="zh-CN" sz="1800" b="1" i="1">
                <a:latin typeface="Arial" panose="020B0604020202020204" pitchFamily="34" charset="0"/>
                <a:ea typeface="楷体" panose="02010609060101010101" pitchFamily="49" charset="-122"/>
                <a:cs typeface="Arial" panose="020B0604020202020204" pitchFamily="34" charset="0"/>
              </a:rPr>
              <a:t>r</a:t>
            </a:r>
            <a:r>
              <a:rPr lang="en-US" altLang="zh-CN" sz="1800" b="1" baseline="-25000">
                <a:latin typeface="Arial" panose="020B0604020202020204" pitchFamily="34" charset="0"/>
                <a:ea typeface="楷体" panose="02010609060101010101" pitchFamily="49" charset="-122"/>
                <a:cs typeface="Arial" panose="020B0604020202020204" pitchFamily="34" charset="0"/>
              </a:rPr>
              <a:t>2 </a:t>
            </a:r>
            <a:r>
              <a:rPr lang="en-US" altLang="zh-CN" sz="1800" b="1">
                <a:latin typeface="Arial" panose="020B0604020202020204" pitchFamily="34" charset="0"/>
                <a:ea typeface="楷体" panose="02010609060101010101" pitchFamily="49" charset="-122"/>
                <a:cs typeface="Arial" panose="020B0604020202020204" pitchFamily="34" charset="0"/>
              </a:rPr>
              <a:t>= 6</a:t>
            </a:r>
            <a:endParaRPr lang="zh-CN" altLang="en-US" sz="1900" b="1">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C5CC043C-3388-47C4-B37D-6E0B215CD4A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577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65CB677-ABB0-490E-93FE-42343EDBD189}"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46</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70660" name="Text Box 2">
            <a:extLst>
              <a:ext uri="{FF2B5EF4-FFF2-40B4-BE49-F238E27FC236}">
                <a16:creationId xmlns:a16="http://schemas.microsoft.com/office/drawing/2014/main" id="{29FE99B9-810D-4C93-ABB8-3AA93B1F7D87}"/>
              </a:ext>
            </a:extLst>
          </p:cNvPr>
          <p:cNvSpPr txBox="1">
            <a:spLocks noRot="1" noChangeAspect="1" noMove="1" noResize="1" noEditPoints="1" noAdjustHandles="1" noChangeArrowheads="1" noChangeShapeType="1" noTextEdit="1"/>
          </p:cNvSpPr>
          <p:nvPr/>
        </p:nvSpPr>
        <p:spPr bwMode="auto">
          <a:xfrm>
            <a:off x="491079" y="260648"/>
            <a:ext cx="7766248" cy="5940000"/>
          </a:xfrm>
          <a:prstGeom prst="rect">
            <a:avLst/>
          </a:prstGeom>
          <a:blipFill>
            <a:blip r:embed="rId3"/>
            <a:srcRect/>
            <a:stretch>
              <a:fillRect l="-1256" t="17" r="-1177" b="-23647"/>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zh-CN" altLang="en-US">
                <a:noFill/>
              </a:rPr>
              <a:t> </a:t>
            </a:r>
          </a:p>
        </p:txBody>
      </p:sp>
      <p:graphicFrame>
        <p:nvGraphicFramePr>
          <p:cNvPr id="75781" name="Object 1024"/>
          <p:cNvGraphicFramePr>
            <a:graphicFrameLocks noChangeAspect="1"/>
          </p:cNvGraphicFramePr>
          <p:nvPr/>
        </p:nvGraphicFramePr>
        <p:xfrm>
          <a:off x="1116013" y="4887913"/>
          <a:ext cx="6092825" cy="1652587"/>
        </p:xfrm>
        <a:graphic>
          <a:graphicData uri="http://schemas.openxmlformats.org/presentationml/2006/ole">
            <mc:AlternateContent xmlns:mc="http://schemas.openxmlformats.org/markup-compatibility/2006">
              <mc:Choice xmlns:v="urn:schemas-microsoft-com:vml" Requires="v">
                <p:oleObj spid="_x0000_s75798" name="公式" r:id="rId4" imgW="2438400" imgH="685800" progId="Equation.3">
                  <p:embed/>
                </p:oleObj>
              </mc:Choice>
              <mc:Fallback>
                <p:oleObj name="公式" r:id="rId4" imgW="2438400" imgH="685800" progId="Equation.3">
                  <p:embed/>
                  <p:pic>
                    <p:nvPicPr>
                      <p:cNvPr id="0" name="Object 10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6013" y="4887913"/>
                        <a:ext cx="6092825"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82" name="矩形 1"/>
          <p:cNvSpPr>
            <a:spLocks noChangeArrowheads="1"/>
          </p:cNvSpPr>
          <p:nvPr/>
        </p:nvSpPr>
        <p:spPr bwMode="auto">
          <a:xfrm>
            <a:off x="4860032" y="3151188"/>
            <a:ext cx="181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b="1" dirty="0">
                <a:solidFill>
                  <a:srgbClr val="FF0000"/>
                </a:solidFill>
                <a:latin typeface="楷体" panose="02010609060101010101" pitchFamily="49" charset="-122"/>
                <a:ea typeface="楷体" panose="02010609060101010101" pitchFamily="49" charset="-122"/>
              </a:rPr>
              <a:t>共聚物组成方程</a:t>
            </a:r>
            <a:endParaRPr lang="zh-CN" altLang="en-US" sz="1800" dirty="0"/>
          </a:p>
        </p:txBody>
      </p:sp>
      <p:sp>
        <p:nvSpPr>
          <p:cNvPr id="75783" name="矩形 2"/>
          <p:cNvSpPr>
            <a:spLocks noChangeArrowheads="1"/>
          </p:cNvSpPr>
          <p:nvPr/>
        </p:nvSpPr>
        <p:spPr bwMode="auto">
          <a:xfrm>
            <a:off x="4860032" y="3151188"/>
            <a:ext cx="181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b="1" dirty="0">
                <a:solidFill>
                  <a:srgbClr val="FF0000"/>
                </a:solidFill>
                <a:latin typeface="楷体" panose="02010609060101010101" pitchFamily="49" charset="-122"/>
                <a:ea typeface="楷体" panose="02010609060101010101" pitchFamily="49" charset="-122"/>
              </a:rPr>
              <a:t>共聚物组成方程</a:t>
            </a:r>
            <a:endParaRPr lang="zh-CN" altLang="en-US" sz="1800"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3ED8456F-8873-4E88-B1CD-E990D22DDF4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808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9847CFF-D694-467C-868B-96FA8D46B292}"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47</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78851" name="Text Box 3">
            <a:extLst>
              <a:ext uri="{FF2B5EF4-FFF2-40B4-BE49-F238E27FC236}">
                <a16:creationId xmlns:a16="http://schemas.microsoft.com/office/drawing/2014/main" id="{D3BA7D7E-D44E-4055-A8FF-A67324D26D5F}"/>
              </a:ext>
            </a:extLst>
          </p:cNvPr>
          <p:cNvSpPr txBox="1">
            <a:spLocks noChangeArrowheads="1"/>
          </p:cNvSpPr>
          <p:nvPr/>
        </p:nvSpPr>
        <p:spPr bwMode="auto">
          <a:xfrm>
            <a:off x="255588" y="479425"/>
            <a:ext cx="8064500" cy="463550"/>
          </a:xfrm>
          <a:prstGeom prst="rect">
            <a:avLst/>
          </a:prstGeom>
          <a:noFill/>
          <a:ln w="9525">
            <a:noFill/>
            <a:miter lim="800000"/>
            <a:headEnd/>
            <a:tailEnd/>
          </a:ln>
        </p:spPr>
        <p:txBody>
          <a:bodyPr lIns="92075" tIns="46038" rIns="92075" bIns="46038">
            <a:spAutoFit/>
          </a:bodyPr>
          <a:lstStyle/>
          <a:p>
            <a:pPr algn="just" fontAlgn="auto">
              <a:spcBef>
                <a:spcPts val="0"/>
              </a:spcBef>
              <a:spcAft>
                <a:spcPts val="0"/>
              </a:spcAft>
              <a:defRPr/>
            </a:pPr>
            <a:r>
              <a:rPr lang="en-US" altLang="zh-CN" sz="2400" b="1" dirty="0">
                <a:solidFill>
                  <a:srgbClr val="FF0000"/>
                </a:solidFill>
                <a:latin typeface="Arial" panose="020B0604020202020204" pitchFamily="34" charset="0"/>
                <a:ea typeface="楷体" panose="02010609060101010101" pitchFamily="49" charset="-122"/>
                <a:cs typeface="Arial" panose="020B0604020202020204" pitchFamily="34" charset="0"/>
              </a:rPr>
              <a:t>§4.3 </a:t>
            </a:r>
            <a:r>
              <a:rPr lang="zh-CN" altLang="en-US" sz="2400" b="1" dirty="0">
                <a:solidFill>
                  <a:srgbClr val="FF0000"/>
                </a:solidFill>
                <a:latin typeface="Arial" panose="020B0604020202020204" pitchFamily="34" charset="0"/>
                <a:ea typeface="楷体" panose="02010609060101010101" pitchFamily="49" charset="-122"/>
                <a:cs typeface="Arial" panose="020B0604020202020204" pitchFamily="34" charset="0"/>
              </a:rPr>
              <a:t>共聚物组成曲线</a:t>
            </a:r>
            <a:r>
              <a:rPr lang="en-US" altLang="zh-CN" sz="2400" b="1" dirty="0">
                <a:solidFill>
                  <a:srgbClr val="FF0000"/>
                </a:solidFill>
                <a:latin typeface="Arial" panose="020B0604020202020204" pitchFamily="34" charset="0"/>
                <a:ea typeface="楷体" panose="02010609060101010101" pitchFamily="49" charset="-122"/>
                <a:cs typeface="Arial" panose="020B0604020202020204" pitchFamily="34" charset="0"/>
              </a:rPr>
              <a:t>(Copolymer composition curve)</a:t>
            </a:r>
            <a:r>
              <a:rPr lang="zh-CN" altLang="en-US" sz="2400" b="1"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zh-CN" sz="2400" b="1" dirty="0">
                <a:latin typeface="+mn-lt"/>
                <a:ea typeface="楷体_GB2312" pitchFamily="49" charset="-122"/>
              </a:rPr>
              <a:t>       </a:t>
            </a:r>
            <a:endParaRPr lang="en-US" altLang="zh-CN" sz="2400" b="1" dirty="0">
              <a:solidFill>
                <a:srgbClr val="006666"/>
              </a:solidFill>
              <a:latin typeface="楷体_GB2312" pitchFamily="49" charset="-122"/>
              <a:ea typeface="楷体_GB2312" pitchFamily="49" charset="-122"/>
            </a:endParaRPr>
          </a:p>
        </p:txBody>
      </p:sp>
      <p:sp>
        <p:nvSpPr>
          <p:cNvPr id="80901" name="Text Box 4"/>
          <p:cNvSpPr txBox="1">
            <a:spLocks noChangeArrowheads="1"/>
          </p:cNvSpPr>
          <p:nvPr/>
        </p:nvSpPr>
        <p:spPr bwMode="auto">
          <a:xfrm>
            <a:off x="287338" y="942975"/>
            <a:ext cx="7620000" cy="162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b="1">
                <a:latin typeface="楷体" panose="02010609060101010101" pitchFamily="49" charset="-122"/>
                <a:ea typeface="楷体" panose="02010609060101010101" pitchFamily="49" charset="-122"/>
              </a:rPr>
              <a:t>1 </a:t>
            </a:r>
            <a:r>
              <a:rPr lang="zh-CN" altLang="en-US" sz="2400" b="1">
                <a:latin typeface="楷体" panose="02010609060101010101" pitchFamily="49" charset="-122"/>
                <a:ea typeface="楷体" panose="02010609060101010101" pitchFamily="49" charset="-122"/>
              </a:rPr>
              <a:t>竟聚率的意义 </a:t>
            </a:r>
            <a:endParaRPr lang="zh-CN" altLang="zh-CN" sz="2400" b="1">
              <a:latin typeface="楷体" panose="02010609060101010101" pitchFamily="49" charset="-122"/>
              <a:ea typeface="楷体" panose="02010609060101010101" pitchFamily="49" charset="-122"/>
            </a:endParaRPr>
          </a:p>
          <a:p>
            <a:pPr algn="just">
              <a:lnSpc>
                <a:spcPct val="100000"/>
              </a:lnSpc>
              <a:spcBef>
                <a:spcPct val="0"/>
              </a:spcBef>
              <a:buFontTx/>
              <a:buNone/>
            </a:pPr>
            <a:endParaRPr lang="zh-CN" altLang="en-US" sz="2000" b="1" noProof="1">
              <a:latin typeface="楷体" panose="02010609060101010101" pitchFamily="49" charset="-122"/>
              <a:ea typeface="楷体" panose="02010609060101010101" pitchFamily="49" charset="-122"/>
            </a:endParaRPr>
          </a:p>
          <a:p>
            <a:pPr algn="just">
              <a:lnSpc>
                <a:spcPct val="150000"/>
              </a:lnSpc>
              <a:spcBef>
                <a:spcPct val="0"/>
              </a:spcBef>
              <a:buFontTx/>
              <a:buNone/>
            </a:pPr>
            <a:r>
              <a:rPr lang="zh-CN" altLang="en-US" sz="2000" b="1">
                <a:latin typeface="楷体" panose="02010609060101010101" pitchFamily="49" charset="-122"/>
                <a:ea typeface="楷体" panose="02010609060101010101" pitchFamily="49" charset="-122"/>
              </a:rPr>
              <a:t>竟聚率是反映共聚合反应特性的一个重要参数。 </a:t>
            </a:r>
          </a:p>
          <a:p>
            <a:pPr algn="just">
              <a:lnSpc>
                <a:spcPct val="150000"/>
              </a:lnSpc>
              <a:spcBef>
                <a:spcPct val="0"/>
              </a:spcBef>
              <a:buFontTx/>
              <a:buNone/>
            </a:pPr>
            <a:r>
              <a:rPr lang="zh-CN" altLang="en-US" sz="2000" b="1">
                <a:latin typeface="楷体" panose="02010609060101010101" pitchFamily="49" charset="-122"/>
                <a:ea typeface="楷体" panose="02010609060101010101" pitchFamily="49" charset="-122"/>
              </a:rPr>
              <a:t>它表征单体的相对活性以及单体自聚与共聚倾向的大小</a:t>
            </a:r>
          </a:p>
        </p:txBody>
      </p:sp>
      <p:sp>
        <p:nvSpPr>
          <p:cNvPr id="80902" name="Text Box 22"/>
          <p:cNvSpPr txBox="1">
            <a:spLocks noChangeArrowheads="1"/>
          </p:cNvSpPr>
          <p:nvPr/>
        </p:nvSpPr>
        <p:spPr bwMode="auto">
          <a:xfrm>
            <a:off x="261938" y="2735263"/>
            <a:ext cx="746760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000" b="1">
                <a:latin typeface="楷体" panose="02010609060101010101" pitchFamily="49" charset="-122"/>
                <a:ea typeface="楷体" panose="02010609060101010101" pitchFamily="49" charset="-122"/>
              </a:rPr>
              <a:t>竟聚率不同      </a:t>
            </a:r>
            <a:r>
              <a:rPr lang="zh-CN" altLang="zh-CN" sz="2000" b="1">
                <a:latin typeface="楷体" panose="02010609060101010101" pitchFamily="49" charset="-122"/>
                <a:ea typeface="楷体" panose="02010609060101010101" pitchFamily="49" charset="-122"/>
                <a:sym typeface="Symbol" panose="05050102010706020507" pitchFamily="18" charset="2"/>
              </a:rPr>
              <a:t></a:t>
            </a:r>
            <a:r>
              <a:rPr lang="zh-CN" altLang="en-US" sz="2000" b="1">
                <a:latin typeface="楷体" panose="02010609060101010101" pitchFamily="49" charset="-122"/>
                <a:ea typeface="楷体" panose="02010609060101010101" pitchFamily="49" charset="-122"/>
              </a:rPr>
              <a:t>     自聚与共聚倾向       不同       </a:t>
            </a:r>
          </a:p>
          <a:p>
            <a:pPr algn="just">
              <a:lnSpc>
                <a:spcPct val="150000"/>
              </a:lnSpc>
              <a:spcBef>
                <a:spcPct val="0"/>
              </a:spcBef>
              <a:buFontTx/>
              <a:buNone/>
            </a:pPr>
            <a:r>
              <a:rPr lang="zh-CN" altLang="en-US" sz="2000" b="1">
                <a:latin typeface="楷体" panose="02010609060101010101" pitchFamily="49" charset="-122"/>
                <a:ea typeface="楷体" panose="02010609060101010101" pitchFamily="49" charset="-122"/>
              </a:rPr>
              <a:t>                       单体相对活性</a:t>
            </a:r>
          </a:p>
          <a:p>
            <a:pPr algn="just">
              <a:lnSpc>
                <a:spcPct val="150000"/>
              </a:lnSpc>
              <a:spcBef>
                <a:spcPts val="600"/>
              </a:spcBef>
              <a:buFontTx/>
              <a:buNone/>
            </a:pPr>
            <a:r>
              <a:rPr lang="en-US" altLang="zh-CN" sz="2000" b="1">
                <a:latin typeface="楷体" panose="02010609060101010101" pitchFamily="49" charset="-122"/>
                <a:ea typeface="楷体" panose="02010609060101010101" pitchFamily="49" charset="-122"/>
                <a:sym typeface="Symbol" panose="05050102010706020507" pitchFamily="18" charset="2"/>
              </a:rPr>
              <a:t>                </a:t>
            </a:r>
            <a:r>
              <a:rPr lang="zh-CN" altLang="zh-CN" sz="2000" b="1">
                <a:latin typeface="楷体" panose="02010609060101010101" pitchFamily="49" charset="-122"/>
                <a:ea typeface="楷体" panose="02010609060101010101" pitchFamily="49" charset="-122"/>
                <a:sym typeface="Symbol" panose="05050102010706020507" pitchFamily="18" charset="2"/>
              </a:rPr>
              <a:t> </a:t>
            </a:r>
            <a:r>
              <a:rPr lang="en-US" altLang="zh-CN" sz="2000" b="1">
                <a:latin typeface="楷体" panose="02010609060101010101" pitchFamily="49" charset="-122"/>
                <a:ea typeface="楷体" panose="02010609060101010101" pitchFamily="49" charset="-122"/>
                <a:sym typeface="Symbol" panose="05050102010706020507" pitchFamily="18" charset="2"/>
              </a:rPr>
              <a:t>    </a:t>
            </a:r>
            <a:r>
              <a:rPr lang="zh-CN" altLang="en-US" sz="2000" b="1">
                <a:latin typeface="楷体" panose="02010609060101010101" pitchFamily="49" charset="-122"/>
                <a:ea typeface="楷体" panose="02010609060101010101" pitchFamily="49" charset="-122"/>
              </a:rPr>
              <a:t>共聚物组成           不同</a:t>
            </a:r>
          </a:p>
          <a:p>
            <a:pPr algn="just">
              <a:lnSpc>
                <a:spcPct val="120000"/>
              </a:lnSpc>
              <a:spcBef>
                <a:spcPct val="0"/>
              </a:spcBef>
              <a:buFontTx/>
              <a:buNone/>
            </a:pPr>
            <a:r>
              <a:rPr lang="zh-CN" altLang="en-US" sz="2000" b="1">
                <a:latin typeface="楷体" panose="02010609060101010101" pitchFamily="49" charset="-122"/>
                <a:ea typeface="楷体" panose="02010609060101010101" pitchFamily="49" charset="-122"/>
              </a:rPr>
              <a:t>                       两种单体链节排列方式</a:t>
            </a:r>
          </a:p>
          <a:p>
            <a:pPr algn="just">
              <a:lnSpc>
                <a:spcPct val="100000"/>
              </a:lnSpc>
              <a:spcBef>
                <a:spcPct val="0"/>
              </a:spcBef>
              <a:buFontTx/>
              <a:buNone/>
            </a:pPr>
            <a:endParaRPr lang="zh-CN" altLang="en-US" sz="2000" b="1">
              <a:latin typeface="楷体" panose="02010609060101010101" pitchFamily="49" charset="-122"/>
              <a:ea typeface="楷体" panose="02010609060101010101" pitchFamily="49" charset="-122"/>
            </a:endParaRPr>
          </a:p>
          <a:p>
            <a:pPr algn="just">
              <a:lnSpc>
                <a:spcPct val="100000"/>
              </a:lnSpc>
              <a:spcBef>
                <a:spcPct val="0"/>
              </a:spcBef>
              <a:buFontTx/>
              <a:buNone/>
            </a:pPr>
            <a:r>
              <a:rPr lang="zh-CN" altLang="en-US" sz="2000" b="1">
                <a:latin typeface="楷体" panose="02010609060101010101" pitchFamily="49" charset="-122"/>
                <a:ea typeface="楷体" panose="02010609060101010101" pitchFamily="49" charset="-122"/>
              </a:rPr>
              <a:t>                </a:t>
            </a:r>
            <a:r>
              <a:rPr lang="zh-CN" altLang="zh-CN" sz="2000" b="1">
                <a:latin typeface="楷体" panose="02010609060101010101" pitchFamily="49" charset="-122"/>
                <a:ea typeface="楷体" panose="02010609060101010101" pitchFamily="49" charset="-122"/>
                <a:sym typeface="Symbol" panose="05050102010706020507" pitchFamily="18" charset="2"/>
              </a:rPr>
              <a:t></a:t>
            </a:r>
            <a:r>
              <a:rPr lang="zh-CN" altLang="en-US" sz="2000" b="1">
                <a:latin typeface="楷体" panose="02010609060101010101" pitchFamily="49" charset="-122"/>
                <a:ea typeface="楷体" panose="02010609060101010101" pitchFamily="49" charset="-122"/>
              </a:rPr>
              <a:t>     共聚物组成曲线不同      </a:t>
            </a:r>
          </a:p>
          <a:p>
            <a:pPr algn="just">
              <a:lnSpc>
                <a:spcPct val="100000"/>
              </a:lnSpc>
              <a:spcBef>
                <a:spcPct val="0"/>
              </a:spcBef>
              <a:buFontTx/>
              <a:buNone/>
            </a:pPr>
            <a:r>
              <a:rPr lang="zh-CN" altLang="en-US" sz="1800">
                <a:latin typeface="楷体" panose="02010609060101010101" pitchFamily="49" charset="-122"/>
                <a:ea typeface="楷体" panose="02010609060101010101" pitchFamily="49" charset="-122"/>
              </a:rPr>
              <a:t>     </a:t>
            </a:r>
          </a:p>
        </p:txBody>
      </p:sp>
      <p:sp>
        <p:nvSpPr>
          <p:cNvPr id="80903" name="Text Box 22"/>
          <p:cNvSpPr txBox="1">
            <a:spLocks noChangeArrowheads="1"/>
          </p:cNvSpPr>
          <p:nvPr/>
        </p:nvSpPr>
        <p:spPr bwMode="auto">
          <a:xfrm>
            <a:off x="384175" y="5213350"/>
            <a:ext cx="8759825" cy="109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400">
                <a:latin typeface="楷体" panose="02010609060101010101" pitchFamily="49" charset="-122"/>
                <a:ea typeface="楷体" panose="02010609060101010101" pitchFamily="49" charset="-122"/>
              </a:rPr>
              <a:t>共聚物组成曲线：</a:t>
            </a:r>
            <a:endParaRPr lang="en-US" altLang="zh-CN" sz="2400">
              <a:latin typeface="楷体" panose="02010609060101010101" pitchFamily="49" charset="-122"/>
              <a:ea typeface="楷体" panose="02010609060101010101" pitchFamily="49" charset="-122"/>
            </a:endParaRPr>
          </a:p>
          <a:p>
            <a:pPr algn="just">
              <a:lnSpc>
                <a:spcPct val="150000"/>
              </a:lnSpc>
              <a:spcBef>
                <a:spcPct val="0"/>
              </a:spcBef>
              <a:buFontTx/>
              <a:buNone/>
            </a:pPr>
            <a:r>
              <a:rPr lang="zh-CN" altLang="en-US" sz="2400">
                <a:latin typeface="楷体" panose="02010609060101010101" pitchFamily="49" charset="-122"/>
                <a:ea typeface="楷体" panose="02010609060101010101" pitchFamily="49" charset="-122"/>
              </a:rPr>
              <a:t>共聚物瞬时组成</a:t>
            </a:r>
            <a:r>
              <a:rPr lang="en-US" altLang="zh-CN" sz="2400">
                <a:latin typeface="楷体" panose="02010609060101010101" pitchFamily="49" charset="-122"/>
                <a:ea typeface="楷体" panose="02010609060101010101" pitchFamily="49" charset="-122"/>
              </a:rPr>
              <a:t>(F</a:t>
            </a:r>
            <a:r>
              <a:rPr lang="en-US" altLang="zh-CN" sz="2400" baseline="-25000">
                <a:latin typeface="楷体" panose="02010609060101010101" pitchFamily="49" charset="-122"/>
                <a:ea typeface="楷体" panose="02010609060101010101" pitchFamily="49" charset="-122"/>
              </a:rPr>
              <a:t>1</a:t>
            </a: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随单体摩尔分数</a:t>
            </a:r>
            <a:r>
              <a:rPr lang="en-US" altLang="zh-CN" sz="2400">
                <a:latin typeface="楷体" panose="02010609060101010101" pitchFamily="49" charset="-122"/>
                <a:ea typeface="楷体" panose="02010609060101010101" pitchFamily="49" charset="-122"/>
              </a:rPr>
              <a:t>(f</a:t>
            </a:r>
            <a:r>
              <a:rPr lang="en-US" altLang="zh-CN" sz="2400" baseline="-25000">
                <a:latin typeface="楷体" panose="02010609060101010101" pitchFamily="49" charset="-122"/>
                <a:ea typeface="楷体" panose="02010609060101010101" pitchFamily="49" charset="-122"/>
              </a:rPr>
              <a:t>1</a:t>
            </a: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变化的曲线</a:t>
            </a:r>
            <a:r>
              <a:rPr lang="en-US" altLang="zh-CN" sz="2400">
                <a:solidFill>
                  <a:srgbClr val="FF0000"/>
                </a:solidFill>
                <a:latin typeface="楷体" panose="02010609060101010101" pitchFamily="49" charset="-122"/>
                <a:ea typeface="楷体" panose="02010609060101010101" pitchFamily="49" charset="-122"/>
              </a:rPr>
              <a:t>(F</a:t>
            </a:r>
            <a:r>
              <a:rPr lang="en-US" altLang="zh-CN" sz="2400" baseline="-25000">
                <a:solidFill>
                  <a:srgbClr val="FF0000"/>
                </a:solidFill>
                <a:latin typeface="楷体" panose="02010609060101010101" pitchFamily="49" charset="-122"/>
                <a:ea typeface="楷体" panose="02010609060101010101" pitchFamily="49" charset="-122"/>
              </a:rPr>
              <a:t>1</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a:t>
            </a:r>
            <a:r>
              <a:rPr lang="en-US" altLang="zh-CN" sz="2400">
                <a:solidFill>
                  <a:srgbClr val="FF0000"/>
                </a:solidFill>
                <a:latin typeface="楷体" panose="02010609060101010101" pitchFamily="49" charset="-122"/>
                <a:ea typeface="楷体" panose="02010609060101010101" pitchFamily="49" charset="-122"/>
              </a:rPr>
              <a:t>f</a:t>
            </a:r>
            <a:r>
              <a:rPr lang="en-US" altLang="zh-CN" sz="2400" baseline="-25000">
                <a:solidFill>
                  <a:srgbClr val="FF0000"/>
                </a:solidFill>
                <a:latin typeface="楷体" panose="02010609060101010101" pitchFamily="49" charset="-122"/>
                <a:ea typeface="楷体" panose="02010609060101010101" pitchFamily="49" charset="-122"/>
              </a:rPr>
              <a:t>1</a:t>
            </a:r>
            <a:r>
              <a:rPr lang="en-US" altLang="zh-CN" sz="2400">
                <a:solidFill>
                  <a:srgbClr val="FF0000"/>
                </a:solidFill>
                <a:latin typeface="楷体" panose="02010609060101010101" pitchFamily="49" charset="-122"/>
                <a:ea typeface="楷体" panose="02010609060101010101" pitchFamily="49" charset="-122"/>
              </a:rPr>
              <a:t>)</a:t>
            </a:r>
            <a:endParaRPr lang="zh-CN" altLang="en-US" sz="2400">
              <a:solidFill>
                <a:srgbClr val="FF0000"/>
              </a:solidFill>
              <a:latin typeface="楷体" panose="02010609060101010101" pitchFamily="49" charset="-122"/>
              <a:ea typeface="楷体" panose="02010609060101010101" pitchFamily="49" charset="-122"/>
            </a:endParaRPr>
          </a:p>
        </p:txBody>
      </p:sp>
      <p:graphicFrame>
        <p:nvGraphicFramePr>
          <p:cNvPr id="8" name="Object 31"/>
          <p:cNvGraphicFramePr>
            <a:graphicFrameLocks noChangeAspect="1"/>
          </p:cNvGraphicFramePr>
          <p:nvPr>
            <p:extLst>
              <p:ext uri="{D42A27DB-BD31-4B8C-83A1-F6EECF244321}">
                <p14:modId xmlns:p14="http://schemas.microsoft.com/office/powerpoint/2010/main" val="2142970040"/>
              </p:ext>
            </p:extLst>
          </p:nvPr>
        </p:nvGraphicFramePr>
        <p:xfrm>
          <a:off x="6156176" y="1124743"/>
          <a:ext cx="2635250" cy="762000"/>
        </p:xfrm>
        <a:graphic>
          <a:graphicData uri="http://schemas.openxmlformats.org/presentationml/2006/ole">
            <mc:AlternateContent xmlns:mc="http://schemas.openxmlformats.org/markup-compatibility/2006">
              <mc:Choice xmlns:v="urn:schemas-microsoft-com:vml" Requires="v">
                <p:oleObj spid="_x0000_s80916" name="公式" r:id="rId4" imgW="1485900" imgH="431800" progId="Equation.3">
                  <p:embed/>
                </p:oleObj>
              </mc:Choice>
              <mc:Fallback>
                <p:oleObj name="公式" r:id="rId4" imgW="1485900" imgH="431800" progId="Equation.3">
                  <p:embed/>
                  <p:pic>
                    <p:nvPicPr>
                      <p:cNvPr id="11"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6176" y="1124743"/>
                        <a:ext cx="2635250" cy="7620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0902">
                                            <p:txEl>
                                              <p:pRg st="2" end="2"/>
                                            </p:txEl>
                                          </p:spTgt>
                                        </p:tgtEl>
                                        <p:attrNameLst>
                                          <p:attrName>style.visibility</p:attrName>
                                        </p:attrNameLst>
                                      </p:cBhvr>
                                      <p:to>
                                        <p:strVal val="visible"/>
                                      </p:to>
                                    </p:set>
                                    <p:anim calcmode="lin" valueType="num">
                                      <p:cBhvr additive="base">
                                        <p:cTn id="7" dur="500" fill="hold"/>
                                        <p:tgtEl>
                                          <p:spTgt spid="8090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90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0902">
                                            <p:txEl>
                                              <p:pRg st="3" end="3"/>
                                            </p:txEl>
                                          </p:spTgt>
                                        </p:tgtEl>
                                        <p:attrNameLst>
                                          <p:attrName>style.visibility</p:attrName>
                                        </p:attrNameLst>
                                      </p:cBhvr>
                                      <p:to>
                                        <p:strVal val="visible"/>
                                      </p:to>
                                    </p:set>
                                    <p:anim calcmode="lin" valueType="num">
                                      <p:cBhvr additive="base">
                                        <p:cTn id="11" dur="500" fill="hold"/>
                                        <p:tgtEl>
                                          <p:spTgt spid="8090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090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80902">
                                            <p:txEl>
                                              <p:pRg st="5" end="5"/>
                                            </p:txEl>
                                          </p:spTgt>
                                        </p:tgtEl>
                                        <p:attrNameLst>
                                          <p:attrName>style.visibility</p:attrName>
                                        </p:attrNameLst>
                                      </p:cBhvr>
                                      <p:to>
                                        <p:strVal val="visible"/>
                                      </p:to>
                                    </p:set>
                                    <p:anim calcmode="lin" valueType="num">
                                      <p:cBhvr additive="base">
                                        <p:cTn id="17" dur="500" fill="hold"/>
                                        <p:tgtEl>
                                          <p:spTgt spid="80902">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090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80903">
                                            <p:txEl>
                                              <p:pRg st="0" end="0"/>
                                            </p:txEl>
                                          </p:spTgt>
                                        </p:tgtEl>
                                        <p:attrNameLst>
                                          <p:attrName>style.visibility</p:attrName>
                                        </p:attrNameLst>
                                      </p:cBhvr>
                                      <p:to>
                                        <p:strVal val="visible"/>
                                      </p:to>
                                    </p:set>
                                    <p:anim calcmode="lin" valueType="num">
                                      <p:cBhvr additive="base">
                                        <p:cTn id="23" dur="500" fill="hold"/>
                                        <p:tgtEl>
                                          <p:spTgt spid="80903">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0903">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0903">
                                            <p:txEl>
                                              <p:pRg st="1" end="1"/>
                                            </p:txEl>
                                          </p:spTgt>
                                        </p:tgtEl>
                                        <p:attrNameLst>
                                          <p:attrName>style.visibility</p:attrName>
                                        </p:attrNameLst>
                                      </p:cBhvr>
                                      <p:to>
                                        <p:strVal val="visible"/>
                                      </p:to>
                                    </p:set>
                                    <p:anim calcmode="lin" valueType="num">
                                      <p:cBhvr additive="base">
                                        <p:cTn id="27" dur="500" fill="hold"/>
                                        <p:tgtEl>
                                          <p:spTgt spid="80903">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0903">
                                            <p:txEl>
                                              <p:pRg st="1" end="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0" name="直接连接符 9">
            <a:extLst>
              <a:ext uri="{FF2B5EF4-FFF2-40B4-BE49-F238E27FC236}">
                <a16:creationId xmlns:a16="http://schemas.microsoft.com/office/drawing/2014/main" id="{A4DE6E8E-D68C-4FBE-9DD9-9540A31B1BB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829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346FA7D-E968-44E0-AA84-9C516C9C12A1}"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48</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82948" name="Text Box 3"/>
          <p:cNvSpPr txBox="1">
            <a:spLocks noChangeArrowheads="1"/>
          </p:cNvSpPr>
          <p:nvPr/>
        </p:nvSpPr>
        <p:spPr bwMode="auto">
          <a:xfrm>
            <a:off x="381000" y="214313"/>
            <a:ext cx="5703888"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80000"/>
              </a:lnSpc>
              <a:spcBef>
                <a:spcPct val="5000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2</a:t>
            </a:r>
            <a:r>
              <a:rPr lang="en-US" altLang="zh-CN" sz="2400">
                <a:latin typeface="Arial" panose="020B0604020202020204" pitchFamily="34" charset="0"/>
                <a:ea typeface="楷体" panose="02010609060101010101" pitchFamily="49" charset="-122"/>
                <a:cs typeface="Arial" panose="020B0604020202020204" pitchFamily="34" charset="0"/>
              </a:rPr>
              <a:t>.</a:t>
            </a:r>
            <a:r>
              <a:rPr lang="zh-CN" altLang="en-US" sz="2400">
                <a:latin typeface="Arial" panose="020B0604020202020204" pitchFamily="34" charset="0"/>
                <a:ea typeface="楷体" panose="02010609060101010101" pitchFamily="49" charset="-122"/>
                <a:cs typeface="Arial" panose="020B0604020202020204" pitchFamily="34" charset="0"/>
              </a:rPr>
              <a:t> 共聚组成曲线的类型  </a:t>
            </a:r>
          </a:p>
          <a:p>
            <a:pPr eaLnBrk="1" hangingPunct="1">
              <a:lnSpc>
                <a:spcPct val="80000"/>
              </a:lnSpc>
              <a:spcBef>
                <a:spcPct val="50000"/>
              </a:spcBef>
              <a:buFontTx/>
              <a:buNone/>
            </a:pPr>
            <a:r>
              <a:rPr lang="en-US" altLang="zh-CN" sz="1800">
                <a:latin typeface="Arial" panose="020B0604020202020204" pitchFamily="34" charset="0"/>
                <a:ea typeface="楷体" panose="02010609060101010101" pitchFamily="49" charset="-122"/>
                <a:cs typeface="Arial" panose="020B0604020202020204" pitchFamily="34" charset="0"/>
              </a:rPr>
              <a:t>Types of copolymer composition curve</a:t>
            </a:r>
            <a:r>
              <a:rPr lang="zh-CN" altLang="en-US" sz="1800">
                <a:latin typeface="Arial" panose="020B0604020202020204" pitchFamily="34" charset="0"/>
                <a:ea typeface="楷体" panose="02010609060101010101" pitchFamily="49" charset="-122"/>
                <a:cs typeface="Arial" panose="020B0604020202020204" pitchFamily="34" charset="0"/>
              </a:rPr>
              <a:t>    </a:t>
            </a:r>
          </a:p>
        </p:txBody>
      </p:sp>
      <p:graphicFrame>
        <p:nvGraphicFramePr>
          <p:cNvPr id="82949" name="Object 4"/>
          <p:cNvGraphicFramePr>
            <a:graphicFrameLocks noChangeAspect="1"/>
          </p:cNvGraphicFramePr>
          <p:nvPr/>
        </p:nvGraphicFramePr>
        <p:xfrm>
          <a:off x="1281113" y="1079500"/>
          <a:ext cx="1401762" cy="492125"/>
        </p:xfrm>
        <a:graphic>
          <a:graphicData uri="http://schemas.openxmlformats.org/presentationml/2006/ole">
            <mc:AlternateContent xmlns:mc="http://schemas.openxmlformats.org/markup-compatibility/2006">
              <mc:Choice xmlns:v="urn:schemas-microsoft-com:vml" Requires="v">
                <p:oleObj spid="_x0000_s82995" name="公式" r:id="rId4" imgW="609336" imgH="215806" progId="Equation.3">
                  <p:embed/>
                </p:oleObj>
              </mc:Choice>
              <mc:Fallback>
                <p:oleObj name="公式" r:id="rId4" imgW="609336" imgH="215806"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1113" y="1079500"/>
                        <a:ext cx="1401762" cy="49212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2950" name="Text Box 8"/>
          <p:cNvSpPr txBox="1">
            <a:spLocks noChangeArrowheads="1"/>
          </p:cNvSpPr>
          <p:nvPr/>
        </p:nvSpPr>
        <p:spPr bwMode="auto">
          <a:xfrm>
            <a:off x="449263" y="1108075"/>
            <a:ext cx="106838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latin typeface="Arial" panose="020B0604020202020204" pitchFamily="34" charset="0"/>
                <a:ea typeface="宋体" panose="02010600030101010101" pitchFamily="2" charset="-122"/>
                <a:cs typeface="Arial" panose="020B0604020202020204" pitchFamily="34" charset="0"/>
              </a:rPr>
              <a:t>&lt;</a:t>
            </a:r>
            <a:r>
              <a:rPr lang="zh-CN" altLang="en-US" sz="2400">
                <a:latin typeface="Arial" panose="020B0604020202020204" pitchFamily="34" charset="0"/>
                <a:ea typeface="宋体" panose="02010600030101010101" pitchFamily="2" charset="-122"/>
                <a:cs typeface="Arial" panose="020B0604020202020204" pitchFamily="34" charset="0"/>
              </a:rPr>
              <a:t>1</a:t>
            </a:r>
            <a:r>
              <a:rPr lang="en-US" altLang="zh-CN" sz="2400">
                <a:latin typeface="Arial" panose="020B0604020202020204" pitchFamily="34" charset="0"/>
                <a:ea typeface="宋体" panose="02010600030101010101" pitchFamily="2" charset="-122"/>
                <a:cs typeface="Arial" panose="020B0604020202020204" pitchFamily="34" charset="0"/>
              </a:rPr>
              <a:t>&gt;</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sp>
        <p:nvSpPr>
          <p:cNvPr id="82951" name="Text Box 36"/>
          <p:cNvSpPr txBox="1">
            <a:spLocks noChangeArrowheads="1"/>
          </p:cNvSpPr>
          <p:nvPr/>
        </p:nvSpPr>
        <p:spPr bwMode="auto">
          <a:xfrm>
            <a:off x="4427538" y="1165225"/>
            <a:ext cx="4267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50000"/>
              </a:spcBef>
              <a:buFontTx/>
              <a:buNone/>
            </a:pPr>
            <a:r>
              <a:rPr lang="en-US" altLang="zh-CN" sz="2000" b="1">
                <a:latin typeface="Century Schoolbook" panose="02040604050505020304" pitchFamily="18" charset="0"/>
                <a:ea typeface="宋体" panose="02010600030101010101" pitchFamily="2" charset="-122"/>
              </a:rPr>
              <a:t>Ideal copolymerization</a:t>
            </a:r>
          </a:p>
        </p:txBody>
      </p:sp>
      <p:sp>
        <p:nvSpPr>
          <p:cNvPr id="82952" name="Text Box 37"/>
          <p:cNvSpPr txBox="1">
            <a:spLocks noChangeArrowheads="1"/>
          </p:cNvSpPr>
          <p:nvPr/>
        </p:nvSpPr>
        <p:spPr bwMode="auto">
          <a:xfrm>
            <a:off x="2643188" y="1104900"/>
            <a:ext cx="1655762"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1800">
                <a:latin typeface="Century Schoolbook" panose="02040604050505020304" pitchFamily="18" charset="0"/>
                <a:ea typeface="宋体" panose="02010600030101010101" pitchFamily="2" charset="-122"/>
              </a:rPr>
              <a:t> </a:t>
            </a:r>
            <a:r>
              <a:rPr lang="zh-CN" altLang="en-US" sz="2400">
                <a:solidFill>
                  <a:srgbClr val="FF0000"/>
                </a:solidFill>
                <a:latin typeface="楷体" panose="02010609060101010101" pitchFamily="49" charset="-122"/>
                <a:ea typeface="楷体" panose="02010609060101010101" pitchFamily="49" charset="-122"/>
              </a:rPr>
              <a:t>理想共聚</a:t>
            </a:r>
          </a:p>
        </p:txBody>
      </p:sp>
      <p:graphicFrame>
        <p:nvGraphicFramePr>
          <p:cNvPr id="82953" name="Object 2"/>
          <p:cNvGraphicFramePr>
            <a:graphicFrameLocks noChangeAspect="1"/>
          </p:cNvGraphicFramePr>
          <p:nvPr/>
        </p:nvGraphicFramePr>
        <p:xfrm>
          <a:off x="212725" y="1687513"/>
          <a:ext cx="4189413" cy="4194175"/>
        </p:xfrm>
        <a:graphic>
          <a:graphicData uri="http://schemas.openxmlformats.org/presentationml/2006/ole">
            <mc:AlternateContent xmlns:mc="http://schemas.openxmlformats.org/markup-compatibility/2006">
              <mc:Choice xmlns:v="urn:schemas-microsoft-com:vml" Requires="v">
                <p:oleObj spid="_x0000_s82996" name="Graph" r:id="rId6" imgW="2924978" imgH="2930487" progId="Origin50.Graph">
                  <p:embed/>
                </p:oleObj>
              </mc:Choice>
              <mc:Fallback>
                <p:oleObj name="Graph" r:id="rId6" imgW="2924978" imgH="2930487" progId="Origin50.Graph">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2725" y="1687513"/>
                        <a:ext cx="4189413" cy="419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5546" name="Text Box 6">
            <a:extLst>
              <a:ext uri="{FF2B5EF4-FFF2-40B4-BE49-F238E27FC236}">
                <a16:creationId xmlns:a16="http://schemas.microsoft.com/office/drawing/2014/main" id="{FA4AD997-D699-4B43-955E-36EAFD1E4295}"/>
              </a:ext>
            </a:extLst>
          </p:cNvPr>
          <p:cNvSpPr txBox="1">
            <a:spLocks noChangeArrowheads="1"/>
          </p:cNvSpPr>
          <p:nvPr/>
        </p:nvSpPr>
        <p:spPr bwMode="auto">
          <a:xfrm>
            <a:off x="4527550" y="2122488"/>
            <a:ext cx="4176713"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defRPr/>
            </a:pPr>
            <a:r>
              <a:rPr lang="zh-CN" altLang="en-US" sz="20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特点：</a:t>
            </a:r>
            <a:endParaRPr lang="en-US" altLang="zh-CN" sz="20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a:p>
            <a:pPr marL="342900" indent="-342900" algn="just">
              <a:lnSpc>
                <a:spcPct val="15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曲线对称</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反对角线为对称轴</a:t>
            </a:r>
            <a:r>
              <a:rPr lang="en-US" altLang="zh-CN" sz="2000" dirty="0">
                <a:latin typeface="楷体" panose="02010609060101010101" pitchFamily="49" charset="-122"/>
                <a:ea typeface="楷体" panose="02010609060101010101" pitchFamily="49" charset="-122"/>
              </a:rPr>
              <a:t>)</a:t>
            </a:r>
          </a:p>
          <a:p>
            <a:pPr marL="342900" indent="-342900" algn="just">
              <a:lnSpc>
                <a:spcPct val="15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与对角线没有交点</a:t>
            </a:r>
            <a:endParaRPr lang="en-US" altLang="zh-CN" sz="2000" dirty="0">
              <a:latin typeface="楷体" panose="02010609060101010101" pitchFamily="49" charset="-122"/>
              <a:ea typeface="楷体" panose="02010609060101010101" pitchFamily="49" charset="-122"/>
            </a:endParaRPr>
          </a:p>
          <a:p>
            <a:pPr marL="342900" indent="-342900" algn="just">
              <a:lnSpc>
                <a:spcPct val="150000"/>
              </a:lnSpc>
              <a:spcBef>
                <a:spcPct val="0"/>
              </a:spcBef>
              <a:buFont typeface="Wingdings" panose="05000000000000000000" pitchFamily="2" charset="2"/>
              <a:buChar char="u"/>
              <a:defRPr/>
            </a:pPr>
            <a:r>
              <a:rPr lang="en-US" altLang="zh-CN" sz="2000" dirty="0">
                <a:latin typeface="楷体" panose="02010609060101010101" pitchFamily="49" charset="-122"/>
                <a:ea typeface="楷体" panose="02010609060101010101" pitchFamily="49" charset="-122"/>
              </a:rPr>
              <a:t> r</a:t>
            </a:r>
            <a:r>
              <a:rPr lang="en-US" altLang="zh-CN" sz="2000" baseline="-25000" dirty="0">
                <a:latin typeface="楷体" panose="02010609060101010101" pitchFamily="49" charset="-122"/>
                <a:ea typeface="楷体" panose="02010609060101010101" pitchFamily="49" charset="-122"/>
              </a:rPr>
              <a:t>1</a:t>
            </a:r>
            <a:r>
              <a:rPr lang="zh-CN" altLang="en-US" sz="2000" dirty="0">
                <a:latin typeface="楷体" panose="02010609060101010101" pitchFamily="49" charset="-122"/>
                <a:ea typeface="楷体" panose="02010609060101010101" pitchFamily="49" charset="-122"/>
              </a:rPr>
              <a:t>与</a:t>
            </a:r>
            <a:r>
              <a:rPr lang="en-US" altLang="zh-CN" sz="2000" dirty="0">
                <a:latin typeface="楷体" panose="02010609060101010101" pitchFamily="49" charset="-122"/>
                <a:ea typeface="楷体" panose="02010609060101010101" pitchFamily="49" charset="-122"/>
              </a:rPr>
              <a:t>r</a:t>
            </a:r>
            <a:r>
              <a:rPr lang="en-US" altLang="zh-CN" sz="2000" baseline="-25000" dirty="0">
                <a:latin typeface="楷体" panose="02010609060101010101" pitchFamily="49" charset="-122"/>
                <a:ea typeface="楷体" panose="02010609060101010101" pitchFamily="49" charset="-122"/>
              </a:rPr>
              <a:t>2</a:t>
            </a:r>
            <a:r>
              <a:rPr lang="en-US" altLang="zh-CN" sz="2000" dirty="0">
                <a:latin typeface="楷体" panose="02010609060101010101" pitchFamily="49" charset="-122"/>
                <a:ea typeface="楷体" panose="02010609060101010101" pitchFamily="49" charset="-122"/>
              </a:rPr>
              <a:t> </a:t>
            </a:r>
            <a:r>
              <a:rPr lang="zh-CN" altLang="en-US" sz="2000" dirty="0">
                <a:latin typeface="楷体" panose="02010609060101010101" pitchFamily="49" charset="-122"/>
                <a:ea typeface="楷体" panose="02010609060101010101" pitchFamily="49" charset="-122"/>
              </a:rPr>
              <a:t>相差越多，偏离对角线程度越大</a:t>
            </a:r>
            <a:endParaRPr lang="en-US" altLang="zh-CN" sz="2000" dirty="0">
              <a:latin typeface="楷体" panose="02010609060101010101" pitchFamily="49" charset="-122"/>
              <a:ea typeface="楷体" panose="02010609060101010101" pitchFamily="49" charset="-122"/>
            </a:endParaRPr>
          </a:p>
          <a:p>
            <a:pPr marL="342900" indent="-342900" algn="just">
              <a:lnSpc>
                <a:spcPct val="15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共聚物呈无规的序列分布</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得到无规共聚物</a:t>
            </a:r>
            <a:r>
              <a:rPr lang="en-US" altLang="zh-CN" sz="2000" dirty="0">
                <a:latin typeface="楷体" panose="02010609060101010101" pitchFamily="49" charset="-122"/>
                <a:ea typeface="楷体" panose="02010609060101010101" pitchFamily="49" charset="-122"/>
              </a:rPr>
              <a:t>)</a:t>
            </a:r>
            <a:endParaRPr lang="zh-CN" altLang="en-US" sz="2000" dirty="0">
              <a:latin typeface="楷体" panose="02010609060101010101" pitchFamily="49" charset="-122"/>
              <a:ea typeface="楷体" panose="02010609060101010101" pitchFamily="49" charset="-122"/>
            </a:endParaRPr>
          </a:p>
        </p:txBody>
      </p:sp>
      <p:graphicFrame>
        <p:nvGraphicFramePr>
          <p:cNvPr id="11" name="Object 31"/>
          <p:cNvGraphicFramePr>
            <a:graphicFrameLocks noChangeAspect="1"/>
          </p:cNvGraphicFramePr>
          <p:nvPr/>
        </p:nvGraphicFramePr>
        <p:xfrm>
          <a:off x="822325" y="5888038"/>
          <a:ext cx="2635250" cy="762000"/>
        </p:xfrm>
        <a:graphic>
          <a:graphicData uri="http://schemas.openxmlformats.org/presentationml/2006/ole">
            <mc:AlternateContent xmlns:mc="http://schemas.openxmlformats.org/markup-compatibility/2006">
              <mc:Choice xmlns:v="urn:schemas-microsoft-com:vml" Requires="v">
                <p:oleObj spid="_x0000_s82997" name="公式" r:id="rId8" imgW="1485900" imgH="431800" progId="Equation.3">
                  <p:embed/>
                </p:oleObj>
              </mc:Choice>
              <mc:Fallback>
                <p:oleObj name="公式" r:id="rId8" imgW="1485900" imgH="431800" progId="Equation.3">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2325" y="5888038"/>
                        <a:ext cx="2635250" cy="7620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6" name="直接连接符 15">
            <a:extLst>
              <a:ext uri="{FF2B5EF4-FFF2-40B4-BE49-F238E27FC236}">
                <a16:creationId xmlns:a16="http://schemas.microsoft.com/office/drawing/2014/main" id="{E35C67EC-3BF3-499E-A4F0-7F05138EEA9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8499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517F7CA-55DC-4B07-80BA-21711B1E93DB}"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49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84996" name="Text Box 3077"/>
          <p:cNvSpPr txBox="1">
            <a:spLocks noChangeArrowheads="1"/>
          </p:cNvSpPr>
          <p:nvPr/>
        </p:nvSpPr>
        <p:spPr bwMode="auto">
          <a:xfrm>
            <a:off x="285750" y="571500"/>
            <a:ext cx="2667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100">
                <a:latin typeface="Century Schoolbook" panose="02040604050505020304" pitchFamily="18" charset="0"/>
                <a:ea typeface="宋体" panose="02010600030101010101" pitchFamily="2" charset="-122"/>
              </a:rPr>
              <a:t> </a:t>
            </a:r>
            <a:r>
              <a:rPr lang="zh-CN" altLang="en-US" sz="2100">
                <a:solidFill>
                  <a:srgbClr val="FF0000"/>
                </a:solidFill>
                <a:latin typeface="楷体" panose="02010609060101010101" pitchFamily="49" charset="-122"/>
                <a:ea typeface="楷体" panose="02010609060101010101" pitchFamily="49" charset="-122"/>
              </a:rPr>
              <a:t>理想共聚的实质：</a:t>
            </a:r>
            <a:endParaRPr lang="zh-CN" altLang="en-US" sz="1900">
              <a:solidFill>
                <a:srgbClr val="FF0000"/>
              </a:solidFill>
              <a:latin typeface="楷体" panose="02010609060101010101" pitchFamily="49" charset="-122"/>
              <a:ea typeface="楷体" panose="02010609060101010101" pitchFamily="49" charset="-122"/>
            </a:endParaRPr>
          </a:p>
        </p:txBody>
      </p:sp>
      <p:graphicFrame>
        <p:nvGraphicFramePr>
          <p:cNvPr id="84997" name="Object 3072"/>
          <p:cNvGraphicFramePr>
            <a:graphicFrameLocks noChangeAspect="1"/>
          </p:cNvGraphicFramePr>
          <p:nvPr/>
        </p:nvGraphicFramePr>
        <p:xfrm>
          <a:off x="468313" y="1143000"/>
          <a:ext cx="866775" cy="866775"/>
        </p:xfrm>
        <a:graphic>
          <a:graphicData uri="http://schemas.openxmlformats.org/presentationml/2006/ole">
            <mc:AlternateContent xmlns:mc="http://schemas.openxmlformats.org/markup-compatibility/2006">
              <mc:Choice xmlns:v="urn:schemas-microsoft-com:vml" Requires="v">
                <p:oleObj spid="_x0000_s85087" name="公式" r:id="rId3" imgW="431613" imgH="431613" progId="Equation.3">
                  <p:embed/>
                </p:oleObj>
              </mc:Choice>
              <mc:Fallback>
                <p:oleObj name="公式" r:id="rId3" imgW="431613" imgH="431613" progId="Equation.3">
                  <p:embed/>
                  <p:pic>
                    <p:nvPicPr>
                      <p:cNvPr id="0" name="Object 30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143000"/>
                        <a:ext cx="866775"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84998" name="Object 3073"/>
          <p:cNvGraphicFramePr>
            <a:graphicFrameLocks noChangeAspect="1"/>
          </p:cNvGraphicFramePr>
          <p:nvPr/>
        </p:nvGraphicFramePr>
        <p:xfrm>
          <a:off x="2124075" y="1198563"/>
          <a:ext cx="1147763" cy="809625"/>
        </p:xfrm>
        <a:graphic>
          <a:graphicData uri="http://schemas.openxmlformats.org/presentationml/2006/ole">
            <mc:AlternateContent xmlns:mc="http://schemas.openxmlformats.org/markup-compatibility/2006">
              <mc:Choice xmlns:v="urn:schemas-microsoft-com:vml" Requires="v">
                <p:oleObj spid="_x0000_s85088" name="公式" r:id="rId5" imgW="609336" imgH="431613" progId="Equation.3">
                  <p:embed/>
                </p:oleObj>
              </mc:Choice>
              <mc:Fallback>
                <p:oleObj name="公式" r:id="rId5" imgW="609336" imgH="431613" progId="Equation.3">
                  <p:embed/>
                  <p:pic>
                    <p:nvPicPr>
                      <p:cNvPr id="0" name="Object 30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1198563"/>
                        <a:ext cx="1147763"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4999" name="Text Box 3083"/>
          <p:cNvSpPr txBox="1">
            <a:spLocks noChangeArrowheads="1"/>
          </p:cNvSpPr>
          <p:nvPr/>
        </p:nvSpPr>
        <p:spPr bwMode="auto">
          <a:xfrm>
            <a:off x="3986213" y="1249363"/>
            <a:ext cx="46894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两种自由基</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和</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sym typeface="Wingdings" panose="05000000000000000000" pitchFamily="2" charset="2"/>
              </a:rPr>
              <a:t></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各自与两种单体</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和</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反应的</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速率常数的比值</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相同</a:t>
            </a:r>
          </a:p>
        </p:txBody>
      </p:sp>
      <p:graphicFrame>
        <p:nvGraphicFramePr>
          <p:cNvPr id="85000" name="Object 3074"/>
          <p:cNvGraphicFramePr>
            <a:graphicFrameLocks noChangeAspect="1"/>
          </p:cNvGraphicFramePr>
          <p:nvPr/>
        </p:nvGraphicFramePr>
        <p:xfrm>
          <a:off x="361950" y="3090863"/>
          <a:ext cx="3663950" cy="768350"/>
        </p:xfrm>
        <a:graphic>
          <a:graphicData uri="http://schemas.openxmlformats.org/presentationml/2006/ole">
            <mc:AlternateContent xmlns:mc="http://schemas.openxmlformats.org/markup-compatibility/2006">
              <mc:Choice xmlns:v="urn:schemas-microsoft-com:vml" Requires="v">
                <p:oleObj spid="_x0000_s85089" name="公式" r:id="rId7" imgW="2070100" imgH="444500" progId="Equation.3">
                  <p:embed/>
                </p:oleObj>
              </mc:Choice>
              <mc:Fallback>
                <p:oleObj name="公式" r:id="rId7" imgW="2070100" imgH="444500" progId="Equation.3">
                  <p:embed/>
                  <p:pic>
                    <p:nvPicPr>
                      <p:cNvPr id="0" name="Object 30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950" y="3090863"/>
                        <a:ext cx="36639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1" name="Object 3075"/>
          <p:cNvGraphicFramePr>
            <a:graphicFrameLocks noChangeAspect="1"/>
          </p:cNvGraphicFramePr>
          <p:nvPr/>
        </p:nvGraphicFramePr>
        <p:xfrm>
          <a:off x="5046663" y="3140075"/>
          <a:ext cx="3514725" cy="801688"/>
        </p:xfrm>
        <a:graphic>
          <a:graphicData uri="http://schemas.openxmlformats.org/presentationml/2006/ole">
            <mc:AlternateContent xmlns:mc="http://schemas.openxmlformats.org/markup-compatibility/2006">
              <mc:Choice xmlns:v="urn:schemas-microsoft-com:vml" Requires="v">
                <p:oleObj spid="_x0000_s85090" name="公式" r:id="rId9" imgW="1905000" imgH="444500" progId="Equation.3">
                  <p:embed/>
                </p:oleObj>
              </mc:Choice>
              <mc:Fallback>
                <p:oleObj name="公式" r:id="rId9" imgW="1905000" imgH="444500" progId="Equation.3">
                  <p:embed/>
                  <p:pic>
                    <p:nvPicPr>
                      <p:cNvPr id="0" name="Object 307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46663" y="3140075"/>
                        <a:ext cx="3514725"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2" name="Object 3076"/>
          <p:cNvGraphicFramePr>
            <a:graphicFrameLocks noChangeAspect="1"/>
          </p:cNvGraphicFramePr>
          <p:nvPr/>
        </p:nvGraphicFramePr>
        <p:xfrm>
          <a:off x="317500" y="4384675"/>
          <a:ext cx="3959225" cy="862013"/>
        </p:xfrm>
        <a:graphic>
          <a:graphicData uri="http://schemas.openxmlformats.org/presentationml/2006/ole">
            <mc:AlternateContent xmlns:mc="http://schemas.openxmlformats.org/markup-compatibility/2006">
              <mc:Choice xmlns:v="urn:schemas-microsoft-com:vml" Requires="v">
                <p:oleObj spid="_x0000_s85091" name="公式" r:id="rId11" imgW="1930400" imgH="457200" progId="Equation.3">
                  <p:embed/>
                </p:oleObj>
              </mc:Choice>
              <mc:Fallback>
                <p:oleObj name="公式" r:id="rId11" imgW="1930400" imgH="457200" progId="Equation.3">
                  <p:embed/>
                  <p:pic>
                    <p:nvPicPr>
                      <p:cNvPr id="0" name="Object 307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7500" y="4384675"/>
                        <a:ext cx="3959225"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5003" name="Object 3077"/>
          <p:cNvGraphicFramePr>
            <a:graphicFrameLocks noChangeAspect="1"/>
          </p:cNvGraphicFramePr>
          <p:nvPr/>
        </p:nvGraphicFramePr>
        <p:xfrm>
          <a:off x="4995863" y="4376738"/>
          <a:ext cx="3790950" cy="920750"/>
        </p:xfrm>
        <a:graphic>
          <a:graphicData uri="http://schemas.openxmlformats.org/presentationml/2006/ole">
            <mc:AlternateContent xmlns:mc="http://schemas.openxmlformats.org/markup-compatibility/2006">
              <mc:Choice xmlns:v="urn:schemas-microsoft-com:vml" Requires="v">
                <p:oleObj spid="_x0000_s85092" name="公式" r:id="rId13" imgW="1765300" imgH="457200" progId="Equation.3">
                  <p:embed/>
                </p:oleObj>
              </mc:Choice>
              <mc:Fallback>
                <p:oleObj name="公式" r:id="rId13" imgW="1765300" imgH="457200" progId="Equation.3">
                  <p:embed/>
                  <p:pic>
                    <p:nvPicPr>
                      <p:cNvPr id="0" name="Object 307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95863" y="4376738"/>
                        <a:ext cx="3790950" cy="920750"/>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96" name="AutoShape 3088">
            <a:extLst>
              <a:ext uri="{FF2B5EF4-FFF2-40B4-BE49-F238E27FC236}">
                <a16:creationId xmlns:a16="http://schemas.microsoft.com/office/drawing/2014/main" id="{9873F0EF-DA96-4E10-85D8-EDB6D3F16794}"/>
              </a:ext>
            </a:extLst>
          </p:cNvPr>
          <p:cNvSpPr>
            <a:spLocks noChangeArrowheads="1"/>
          </p:cNvSpPr>
          <p:nvPr/>
        </p:nvSpPr>
        <p:spPr bwMode="auto">
          <a:xfrm>
            <a:off x="4000500" y="3406775"/>
            <a:ext cx="665163" cy="166688"/>
          </a:xfrm>
          <a:prstGeom prst="rightArrow">
            <a:avLst>
              <a:gd name="adj1" fmla="val 50000"/>
              <a:gd name="adj2" fmla="val 177542"/>
            </a:avLst>
          </a:prstGeom>
          <a:solidFill>
            <a:schemeClr val="bg1">
              <a:lumMod val="65000"/>
            </a:schemeClr>
          </a:solidFill>
          <a:ln w="9525">
            <a:solidFill>
              <a:schemeClr val="bg1">
                <a:lumMod val="65000"/>
              </a:schemeClr>
            </a:solidFill>
            <a:miter lim="800000"/>
            <a:headEnd/>
            <a:tailEnd/>
          </a:ln>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defRPr/>
            </a:pPr>
            <a:endParaRPr lang="zh-CN" altLang="en-US" sz="1800">
              <a:latin typeface="Century Schoolbook" panose="02040604050505020304" pitchFamily="18" charset="0"/>
              <a:ea typeface="宋体" panose="02010600030101010101" pitchFamily="2" charset="-122"/>
            </a:endParaRPr>
          </a:p>
        </p:txBody>
      </p:sp>
      <p:sp>
        <p:nvSpPr>
          <p:cNvPr id="85005" name="AutoShape 3091"/>
          <p:cNvSpPr>
            <a:spLocks noChangeArrowheads="1"/>
          </p:cNvSpPr>
          <p:nvPr/>
        </p:nvSpPr>
        <p:spPr bwMode="auto">
          <a:xfrm>
            <a:off x="1447800" y="1503363"/>
            <a:ext cx="533400" cy="152400"/>
          </a:xfrm>
          <a:prstGeom prst="rightArrow">
            <a:avLst>
              <a:gd name="adj1" fmla="val 50000"/>
              <a:gd name="adj2" fmla="val 8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85006" name="AutoShape 3092"/>
          <p:cNvSpPr>
            <a:spLocks noChangeArrowheads="1"/>
          </p:cNvSpPr>
          <p:nvPr/>
        </p:nvSpPr>
        <p:spPr bwMode="auto">
          <a:xfrm>
            <a:off x="3352800" y="1503363"/>
            <a:ext cx="479425" cy="136525"/>
          </a:xfrm>
          <a:prstGeom prst="rightArrow">
            <a:avLst>
              <a:gd name="adj1" fmla="val 50000"/>
              <a:gd name="adj2" fmla="val 8779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85007" name="TextBox 14"/>
          <p:cNvSpPr txBox="1">
            <a:spLocks noChangeArrowheads="1"/>
          </p:cNvSpPr>
          <p:nvPr/>
        </p:nvSpPr>
        <p:spPr bwMode="auto">
          <a:xfrm>
            <a:off x="361950" y="2435225"/>
            <a:ext cx="14160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400">
                <a:latin typeface="楷体" panose="02010609060101010101" pitchFamily="49" charset="-122"/>
                <a:ea typeface="楷体" panose="02010609060101010101" pitchFamily="49" charset="-122"/>
              </a:rPr>
              <a:t>组成方程</a:t>
            </a:r>
          </a:p>
        </p:txBody>
      </p:sp>
      <p:sp>
        <p:nvSpPr>
          <p:cNvPr id="18" name="AutoShape 3088">
            <a:extLst>
              <a:ext uri="{FF2B5EF4-FFF2-40B4-BE49-F238E27FC236}">
                <a16:creationId xmlns:a16="http://schemas.microsoft.com/office/drawing/2014/main" id="{010AE731-CC8B-4494-ACFC-6FB36D4787D2}"/>
              </a:ext>
            </a:extLst>
          </p:cNvPr>
          <p:cNvSpPr>
            <a:spLocks noChangeArrowheads="1"/>
          </p:cNvSpPr>
          <p:nvPr/>
        </p:nvSpPr>
        <p:spPr bwMode="auto">
          <a:xfrm>
            <a:off x="4044950" y="4754563"/>
            <a:ext cx="665163" cy="165100"/>
          </a:xfrm>
          <a:prstGeom prst="rightArrow">
            <a:avLst>
              <a:gd name="adj1" fmla="val 50000"/>
              <a:gd name="adj2" fmla="val 177542"/>
            </a:avLst>
          </a:prstGeom>
          <a:solidFill>
            <a:schemeClr val="bg1">
              <a:lumMod val="65000"/>
            </a:schemeClr>
          </a:solidFill>
          <a:ln w="9525">
            <a:solidFill>
              <a:schemeClr val="bg1">
                <a:lumMod val="65000"/>
              </a:schemeClr>
            </a:solidFill>
            <a:miter lim="800000"/>
            <a:headEnd/>
            <a:tailEnd/>
          </a:ln>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defRPr/>
            </a:pPr>
            <a:endParaRPr lang="zh-CN" altLang="en-US" sz="1800">
              <a:latin typeface="Century Schoolbook" panose="02040604050505020304" pitchFamily="18" charset="0"/>
              <a:ea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CABE1B9E-6726-41D6-B077-18AC2358AC7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860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74B1A5C-44FF-4550-BF9B-2AF15F6F9AEF}"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50</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86020" name="Text Box 2"/>
          <p:cNvSpPr txBox="1">
            <a:spLocks noChangeArrowheads="1"/>
          </p:cNvSpPr>
          <p:nvPr/>
        </p:nvSpPr>
        <p:spPr bwMode="auto">
          <a:xfrm>
            <a:off x="625475" y="781050"/>
            <a:ext cx="8153400"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                          </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恒份共聚  </a:t>
            </a:r>
            <a:r>
              <a:rPr lang="en-US" altLang="zh-CN" sz="2000">
                <a:latin typeface="Arial" panose="020B0604020202020204" pitchFamily="34" charset="0"/>
                <a:ea typeface="楷体" panose="02010609060101010101" pitchFamily="49" charset="-122"/>
                <a:cs typeface="Arial" panose="020B0604020202020204" pitchFamily="34" charset="0"/>
              </a:rPr>
              <a:t>azeotropic copolymerization)</a:t>
            </a:r>
          </a:p>
        </p:txBody>
      </p:sp>
      <p:graphicFrame>
        <p:nvGraphicFramePr>
          <p:cNvPr id="86021" name="Object 4096"/>
          <p:cNvGraphicFramePr>
            <a:graphicFrameLocks noChangeAspect="1"/>
          </p:cNvGraphicFramePr>
          <p:nvPr/>
        </p:nvGraphicFramePr>
        <p:xfrm>
          <a:off x="1066800" y="765175"/>
          <a:ext cx="1865313" cy="434975"/>
        </p:xfrm>
        <a:graphic>
          <a:graphicData uri="http://schemas.openxmlformats.org/presentationml/2006/ole">
            <mc:AlternateContent xmlns:mc="http://schemas.openxmlformats.org/markup-compatibility/2006">
              <mc:Choice xmlns:v="urn:schemas-microsoft-com:vml" Requires="v">
                <p:oleObj spid="_x0000_s86095" name="公式" r:id="rId4" imgW="977900" imgH="228600" progId="Equation.3">
                  <p:embed/>
                </p:oleObj>
              </mc:Choice>
              <mc:Fallback>
                <p:oleObj name="公式" r:id="rId4" imgW="977900" imgH="228600" progId="Equation.3">
                  <p:embed/>
                  <p:pic>
                    <p:nvPicPr>
                      <p:cNvPr id="0" name="Object 40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765175"/>
                        <a:ext cx="1865313"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2" name="Text Box 8"/>
          <p:cNvSpPr txBox="1">
            <a:spLocks noChangeArrowheads="1"/>
          </p:cNvSpPr>
          <p:nvPr/>
        </p:nvSpPr>
        <p:spPr bwMode="auto">
          <a:xfrm>
            <a:off x="642938" y="285750"/>
            <a:ext cx="419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理想共聚的三种具体情况</a:t>
            </a:r>
            <a:r>
              <a:rPr lang="en-US" altLang="zh-CN" sz="2400">
                <a:latin typeface="楷体" panose="02010609060101010101" pitchFamily="49" charset="-122"/>
                <a:ea typeface="楷体" panose="02010609060101010101" pitchFamily="49" charset="-122"/>
              </a:rPr>
              <a:t>:</a:t>
            </a:r>
            <a:endParaRPr lang="zh-CN" altLang="en-US" sz="2400">
              <a:latin typeface="楷体" panose="02010609060101010101" pitchFamily="49" charset="-122"/>
              <a:ea typeface="楷体" panose="02010609060101010101" pitchFamily="49" charset="-122"/>
            </a:endParaRPr>
          </a:p>
        </p:txBody>
      </p:sp>
      <p:graphicFrame>
        <p:nvGraphicFramePr>
          <p:cNvPr id="86023" name="Object 4098"/>
          <p:cNvGraphicFramePr>
            <a:graphicFrameLocks noChangeAspect="1"/>
          </p:cNvGraphicFramePr>
          <p:nvPr/>
        </p:nvGraphicFramePr>
        <p:xfrm>
          <a:off x="998538" y="1274763"/>
          <a:ext cx="2962275" cy="455612"/>
        </p:xfrm>
        <a:graphic>
          <a:graphicData uri="http://schemas.openxmlformats.org/presentationml/2006/ole">
            <mc:AlternateContent xmlns:mc="http://schemas.openxmlformats.org/markup-compatibility/2006">
              <mc:Choice xmlns:v="urn:schemas-microsoft-com:vml" Requires="v">
                <p:oleObj spid="_x0000_s86096" name="公式" r:id="rId6" imgW="1473200" imgH="228600" progId="Equation.3">
                  <p:embed/>
                </p:oleObj>
              </mc:Choice>
              <mc:Fallback>
                <p:oleObj name="公式" r:id="rId6" imgW="1473200" imgH="228600" progId="Equation.3">
                  <p:embed/>
                  <p:pic>
                    <p:nvPicPr>
                      <p:cNvPr id="0" name="Object 409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8538" y="1274763"/>
                        <a:ext cx="2962275" cy="455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6024" name="Text Box 11"/>
          <p:cNvSpPr txBox="1">
            <a:spLocks noChangeArrowheads="1"/>
          </p:cNvSpPr>
          <p:nvPr/>
        </p:nvSpPr>
        <p:spPr bwMode="auto">
          <a:xfrm>
            <a:off x="982663" y="1804988"/>
            <a:ext cx="7529512" cy="99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40000"/>
              </a:lnSpc>
              <a:spcBef>
                <a:spcPct val="0"/>
              </a:spcBef>
              <a:buFontTx/>
              <a:buNone/>
            </a:pPr>
            <a:r>
              <a:rPr lang="zh-CN" altLang="en-US" sz="2100">
                <a:latin typeface="楷体" panose="02010609060101010101" pitchFamily="49" charset="-122"/>
                <a:ea typeface="楷体" panose="02010609060101010101" pitchFamily="49" charset="-122"/>
              </a:rPr>
              <a:t>表明任一种自由基与两种单体的</a:t>
            </a:r>
            <a:r>
              <a:rPr lang="zh-CN" altLang="en-US" sz="2100" b="1">
                <a:solidFill>
                  <a:srgbClr val="FF0000"/>
                </a:solidFill>
                <a:latin typeface="楷体" panose="02010609060101010101" pitchFamily="49" charset="-122"/>
                <a:ea typeface="楷体" panose="02010609060101010101" pitchFamily="49" charset="-122"/>
              </a:rPr>
              <a:t>反应速率常数相等</a:t>
            </a:r>
            <a:r>
              <a:rPr lang="zh-CN" altLang="en-US" sz="2100">
                <a:latin typeface="楷体" panose="02010609060101010101" pitchFamily="49" charset="-122"/>
                <a:ea typeface="楷体" panose="02010609060101010101" pitchFamily="49" charset="-122"/>
              </a:rPr>
              <a:t>，但两种</a:t>
            </a:r>
          </a:p>
          <a:p>
            <a:pPr algn="just">
              <a:lnSpc>
                <a:spcPct val="140000"/>
              </a:lnSpc>
              <a:spcBef>
                <a:spcPct val="0"/>
              </a:spcBef>
              <a:buFontTx/>
              <a:buNone/>
            </a:pPr>
            <a:r>
              <a:rPr lang="zh-CN" altLang="en-US" sz="2100">
                <a:latin typeface="楷体" panose="02010609060101010101" pitchFamily="49" charset="-122"/>
                <a:ea typeface="楷体" panose="02010609060101010101" pitchFamily="49" charset="-122"/>
              </a:rPr>
              <a:t>自由基的反应能力不一定相等</a:t>
            </a:r>
            <a:r>
              <a:rPr lang="en-US" altLang="zh-CN" sz="2100">
                <a:latin typeface="楷体" panose="02010609060101010101" pitchFamily="49" charset="-122"/>
                <a:ea typeface="楷体" panose="02010609060101010101" pitchFamily="49" charset="-122"/>
              </a:rPr>
              <a:t>,</a:t>
            </a:r>
            <a:endParaRPr lang="zh-CN" altLang="en-US" sz="1800">
              <a:latin typeface="楷体" panose="02010609060101010101" pitchFamily="49" charset="-122"/>
              <a:ea typeface="楷体" panose="02010609060101010101" pitchFamily="49" charset="-122"/>
            </a:endParaRPr>
          </a:p>
        </p:txBody>
      </p:sp>
      <p:graphicFrame>
        <p:nvGraphicFramePr>
          <p:cNvPr id="86025" name="Object 4099"/>
          <p:cNvGraphicFramePr>
            <a:graphicFrameLocks noChangeAspect="1"/>
          </p:cNvGraphicFramePr>
          <p:nvPr/>
        </p:nvGraphicFramePr>
        <p:xfrm>
          <a:off x="4757738" y="2309813"/>
          <a:ext cx="1246187" cy="455612"/>
        </p:xfrm>
        <a:graphic>
          <a:graphicData uri="http://schemas.openxmlformats.org/presentationml/2006/ole">
            <mc:AlternateContent xmlns:mc="http://schemas.openxmlformats.org/markup-compatibility/2006">
              <mc:Choice xmlns:v="urn:schemas-microsoft-com:vml" Requires="v">
                <p:oleObj spid="_x0000_s86097" name="公式" r:id="rId8" imgW="622030" imgH="228501" progId="Equation.3">
                  <p:embed/>
                </p:oleObj>
              </mc:Choice>
              <mc:Fallback>
                <p:oleObj name="公式" r:id="rId8" imgW="622030" imgH="228501" progId="Equation.3">
                  <p:embed/>
                  <p:pic>
                    <p:nvPicPr>
                      <p:cNvPr id="0" name="Object 409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57738" y="2309813"/>
                        <a:ext cx="1246187" cy="4556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6026" name="Text Box 14"/>
          <p:cNvSpPr txBox="1">
            <a:spLocks noChangeArrowheads="1"/>
          </p:cNvSpPr>
          <p:nvPr/>
        </p:nvSpPr>
        <p:spPr bwMode="auto">
          <a:xfrm>
            <a:off x="985838" y="2825750"/>
            <a:ext cx="24971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共聚组成方程：</a:t>
            </a:r>
          </a:p>
        </p:txBody>
      </p:sp>
      <p:graphicFrame>
        <p:nvGraphicFramePr>
          <p:cNvPr id="86027" name="Object 4100"/>
          <p:cNvGraphicFramePr>
            <a:graphicFrameLocks noChangeAspect="1"/>
          </p:cNvGraphicFramePr>
          <p:nvPr/>
        </p:nvGraphicFramePr>
        <p:xfrm>
          <a:off x="1066800" y="3514725"/>
          <a:ext cx="6188075" cy="781050"/>
        </p:xfrm>
        <a:graphic>
          <a:graphicData uri="http://schemas.openxmlformats.org/presentationml/2006/ole">
            <mc:AlternateContent xmlns:mc="http://schemas.openxmlformats.org/markup-compatibility/2006">
              <mc:Choice xmlns:v="urn:schemas-microsoft-com:vml" Requires="v">
                <p:oleObj spid="_x0000_s86098" name="公式" r:id="rId10" imgW="3517900" imgH="444500" progId="Equation.3">
                  <p:embed/>
                </p:oleObj>
              </mc:Choice>
              <mc:Fallback>
                <p:oleObj name="公式" r:id="rId10" imgW="3517900" imgH="444500" progId="Equation.3">
                  <p:embed/>
                  <p:pic>
                    <p:nvPicPr>
                      <p:cNvPr id="0" name="Object 410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66800" y="3514725"/>
                        <a:ext cx="618807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8" name="Object 4101"/>
          <p:cNvGraphicFramePr>
            <a:graphicFrameLocks noChangeAspect="1"/>
          </p:cNvGraphicFramePr>
          <p:nvPr/>
        </p:nvGraphicFramePr>
        <p:xfrm>
          <a:off x="1054100" y="4418013"/>
          <a:ext cx="7458075" cy="869950"/>
        </p:xfrm>
        <a:graphic>
          <a:graphicData uri="http://schemas.openxmlformats.org/presentationml/2006/ole">
            <mc:AlternateContent xmlns:mc="http://schemas.openxmlformats.org/markup-compatibility/2006">
              <mc:Choice xmlns:v="urn:schemas-microsoft-com:vml" Requires="v">
                <p:oleObj spid="_x0000_s86099" name="公式" r:id="rId12" imgW="3708400" imgH="457200" progId="Equation.3">
                  <p:embed/>
                </p:oleObj>
              </mc:Choice>
              <mc:Fallback>
                <p:oleObj name="公式" r:id="rId12" imgW="3708400" imgH="457200" progId="Equation.3">
                  <p:embed/>
                  <p:pic>
                    <p:nvPicPr>
                      <p:cNvPr id="0" name="Object 410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4100" y="4418013"/>
                        <a:ext cx="7458075"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6029" name="Text Box 19"/>
          <p:cNvSpPr txBox="1">
            <a:spLocks noChangeArrowheads="1"/>
          </p:cNvSpPr>
          <p:nvPr/>
        </p:nvSpPr>
        <p:spPr bwMode="auto">
          <a:xfrm>
            <a:off x="914400" y="5483225"/>
            <a:ext cx="704691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pPr>
            <a:r>
              <a:rPr lang="zh-CN" altLang="en-US" sz="2000" b="1">
                <a:solidFill>
                  <a:srgbClr val="FF0000"/>
                </a:solidFill>
                <a:latin typeface="楷体" panose="02010609060101010101" pitchFamily="49" charset="-122"/>
                <a:ea typeface="楷体" panose="02010609060101010101" pitchFamily="49" charset="-122"/>
              </a:rPr>
              <a:t>共聚物的组成始终等于配料比，共聚物组成曲线 </a:t>
            </a:r>
            <a:r>
              <a:rPr lang="en-US" altLang="zh-CN" sz="2000" b="1">
                <a:solidFill>
                  <a:srgbClr val="FF0000"/>
                </a:solidFill>
                <a:latin typeface="楷体" panose="02010609060101010101" pitchFamily="49" charset="-122"/>
                <a:ea typeface="楷体" panose="02010609060101010101" pitchFamily="49" charset="-122"/>
              </a:rPr>
              <a:t>=</a:t>
            </a:r>
            <a:r>
              <a:rPr lang="zh-CN" altLang="en-US" sz="2000" b="1">
                <a:solidFill>
                  <a:srgbClr val="FF0000"/>
                </a:solidFill>
                <a:latin typeface="楷体" panose="02010609060101010101" pitchFamily="49" charset="-122"/>
                <a:ea typeface="楷体" panose="02010609060101010101" pitchFamily="49" charset="-122"/>
              </a:rPr>
              <a:t> 对角线</a:t>
            </a:r>
            <a:r>
              <a:rPr lang="zh-CN" altLang="en-US" sz="1800" b="1">
                <a:latin typeface="Century Schoolbook" panose="02040604050505020304" pitchFamily="18" charset="0"/>
                <a:ea typeface="宋体" panose="02010600030101010101" pitchFamily="2" charset="-122"/>
              </a:rPr>
              <a:t>   </a:t>
            </a:r>
            <a:endParaRPr lang="zh-CN" altLang="en-US" sz="1900" b="1">
              <a:latin typeface="Century Schoolbook" panose="02040604050505020304" pitchFamily="18" charset="0"/>
              <a:ea typeface="宋体" panose="0201060003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6E1C078C-10E4-463B-AF83-8E0CCDD70D6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8806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8ECB5EB-42DA-4FCD-9732-AAB4D2943C1C}"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51</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88068" name="Text Box 2"/>
          <p:cNvSpPr txBox="1">
            <a:spLocks noChangeArrowheads="1"/>
          </p:cNvSpPr>
          <p:nvPr/>
        </p:nvSpPr>
        <p:spPr bwMode="auto">
          <a:xfrm>
            <a:off x="611188" y="692150"/>
            <a:ext cx="7696200"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600" dirty="0">
                <a:solidFill>
                  <a:srgbClr val="FF0000"/>
                </a:solidFill>
                <a:latin typeface="Arial" panose="020B0604020202020204" pitchFamily="34" charset="0"/>
                <a:ea typeface="楷体" panose="02010609060101010101" pitchFamily="49" charset="-122"/>
                <a:cs typeface="Arial" panose="020B0604020202020204" pitchFamily="34" charset="0"/>
              </a:rPr>
              <a:t>仅有少数自由基共聚合接近恒份共聚（恒比共聚）</a:t>
            </a:r>
          </a:p>
          <a:p>
            <a:pPr algn="just">
              <a:lnSpc>
                <a:spcPct val="100000"/>
              </a:lnSpc>
              <a:spcBef>
                <a:spcPct val="0"/>
              </a:spcBef>
              <a:buFontTx/>
              <a:buNone/>
            </a:pPr>
            <a:endParaRPr lang="zh-CN" altLang="en-US" sz="2600" dirty="0">
              <a:solidFill>
                <a:srgbClr val="0033CC"/>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r>
              <a:rPr lang="en-US" altLang="zh-CN" sz="2400" dirty="0">
                <a:latin typeface="Arial" panose="020B0604020202020204" pitchFamily="34" charset="0"/>
                <a:ea typeface="楷体" panose="02010609060101010101" pitchFamily="49" charset="-122"/>
                <a:cs typeface="Arial" panose="020B0604020202020204" pitchFamily="34" charset="0"/>
              </a:rPr>
              <a:t>VDC (</a:t>
            </a:r>
            <a:r>
              <a:rPr lang="zh-CN" altLang="en-US" sz="2400" dirty="0">
                <a:latin typeface="Arial" panose="020B0604020202020204" pitchFamily="34" charset="0"/>
                <a:ea typeface="楷体" panose="02010609060101010101" pitchFamily="49" charset="-122"/>
                <a:cs typeface="Arial" panose="020B0604020202020204" pitchFamily="34" charset="0"/>
              </a:rPr>
              <a:t>偏氯乙烯</a:t>
            </a:r>
            <a:r>
              <a:rPr lang="en-US" altLang="zh-CN" sz="2400" dirty="0">
                <a:latin typeface="Arial" panose="020B0604020202020204" pitchFamily="34" charset="0"/>
                <a:ea typeface="楷体" panose="02010609060101010101" pitchFamily="49" charset="-122"/>
                <a:cs typeface="Arial" panose="020B0604020202020204" pitchFamily="34" charset="0"/>
              </a:rPr>
              <a:t>)</a:t>
            </a:r>
            <a:r>
              <a:rPr lang="zh-CN" altLang="en-US" sz="2400" dirty="0">
                <a:latin typeface="Arial" panose="020B0604020202020204" pitchFamily="34" charset="0"/>
                <a:ea typeface="楷体" panose="02010609060101010101" pitchFamily="49" charset="-122"/>
                <a:cs typeface="Arial" panose="020B0604020202020204" pitchFamily="34" charset="0"/>
              </a:rPr>
              <a:t>～ </a:t>
            </a:r>
            <a:r>
              <a:rPr lang="en-US" altLang="zh-CN" sz="2400" dirty="0">
                <a:latin typeface="Arial" panose="020B0604020202020204" pitchFamily="34" charset="0"/>
                <a:ea typeface="楷体" panose="02010609060101010101" pitchFamily="49" charset="-122"/>
                <a:cs typeface="Arial" panose="020B0604020202020204" pitchFamily="34" charset="0"/>
              </a:rPr>
              <a:t>MMA  60℃</a:t>
            </a:r>
            <a:r>
              <a:rPr lang="zh-CN" altLang="en-US" sz="2400" dirty="0">
                <a:latin typeface="Arial" panose="020B0604020202020204" pitchFamily="34" charset="0"/>
                <a:ea typeface="楷体" panose="02010609060101010101" pitchFamily="49" charset="-122"/>
                <a:cs typeface="Arial" panose="020B0604020202020204" pitchFamily="34" charset="0"/>
              </a:rPr>
              <a:t>共聚    </a:t>
            </a:r>
          </a:p>
          <a:p>
            <a:pPr algn="just">
              <a:lnSpc>
                <a:spcPct val="100000"/>
              </a:lnSpc>
              <a:spcBef>
                <a:spcPct val="0"/>
              </a:spcBef>
              <a:buFontTx/>
              <a:buNone/>
            </a:pPr>
            <a:r>
              <a:rPr lang="zh-CN" altLang="en-US" sz="2400" dirty="0">
                <a:latin typeface="Arial" panose="020B0604020202020204" pitchFamily="34" charset="0"/>
                <a:ea typeface="楷体" panose="02010609060101010101" pitchFamily="49" charset="-122"/>
                <a:cs typeface="Arial" panose="020B0604020202020204" pitchFamily="34" charset="0"/>
              </a:rPr>
              <a:t>          </a:t>
            </a:r>
            <a:r>
              <a:rPr lang="en-US" altLang="zh-CN" sz="2400" dirty="0">
                <a:latin typeface="Arial" panose="020B0604020202020204" pitchFamily="34" charset="0"/>
                <a:ea typeface="楷体" panose="02010609060101010101" pitchFamily="49" charset="-122"/>
                <a:cs typeface="Arial" panose="020B0604020202020204" pitchFamily="34" charset="0"/>
              </a:rPr>
              <a:t>(r</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1 </a:t>
            </a:r>
            <a:r>
              <a:rPr lang="en-US" altLang="zh-CN" sz="2400" dirty="0">
                <a:latin typeface="Arial" panose="020B0604020202020204" pitchFamily="34" charset="0"/>
                <a:ea typeface="楷体" panose="02010609060101010101" pitchFamily="49" charset="-122"/>
                <a:cs typeface="Arial" panose="020B0604020202020204" pitchFamily="34" charset="0"/>
              </a:rPr>
              <a:t>= 1.0, r</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400" dirty="0">
                <a:latin typeface="Arial" panose="020B0604020202020204" pitchFamily="34" charset="0"/>
                <a:ea typeface="楷体" panose="02010609060101010101" pitchFamily="49" charset="-122"/>
                <a:cs typeface="Arial" panose="020B0604020202020204" pitchFamily="34" charset="0"/>
              </a:rPr>
              <a:t> = 1.0)</a:t>
            </a:r>
          </a:p>
          <a:p>
            <a:pPr algn="just">
              <a:lnSpc>
                <a:spcPct val="100000"/>
              </a:lnSpc>
              <a:spcBef>
                <a:spcPct val="0"/>
              </a:spcBef>
              <a:buFontTx/>
              <a:buNone/>
            </a:pPr>
            <a:endParaRPr lang="en-US" altLang="zh-CN" sz="2400" dirty="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r>
              <a:rPr lang="en-US" altLang="zh-CN" sz="2400" dirty="0">
                <a:latin typeface="Arial" panose="020B0604020202020204" pitchFamily="34" charset="0"/>
                <a:ea typeface="楷体" panose="02010609060101010101" pitchFamily="49" charset="-122"/>
                <a:cs typeface="Arial" panose="020B0604020202020204" pitchFamily="34" charset="0"/>
              </a:rPr>
              <a:t>Acrylamide (</a:t>
            </a:r>
            <a:r>
              <a:rPr lang="zh-CN" altLang="en-US" sz="2400" dirty="0">
                <a:latin typeface="Arial" panose="020B0604020202020204" pitchFamily="34" charset="0"/>
                <a:ea typeface="楷体" panose="02010609060101010101" pitchFamily="49" charset="-122"/>
                <a:cs typeface="Arial" panose="020B0604020202020204" pitchFamily="34" charset="0"/>
              </a:rPr>
              <a:t>丙烯酰胺</a:t>
            </a:r>
            <a:r>
              <a:rPr lang="en-US" altLang="zh-CN" sz="2400" dirty="0">
                <a:latin typeface="Arial" panose="020B0604020202020204" pitchFamily="34" charset="0"/>
                <a:ea typeface="楷体" panose="02010609060101010101" pitchFamily="49" charset="-122"/>
                <a:cs typeface="Arial" panose="020B0604020202020204" pitchFamily="34" charset="0"/>
              </a:rPr>
              <a:t>)</a:t>
            </a:r>
            <a:r>
              <a:rPr lang="zh-CN" altLang="en-US" sz="2400" dirty="0">
                <a:latin typeface="Arial" panose="020B0604020202020204" pitchFamily="34" charset="0"/>
                <a:ea typeface="楷体" panose="02010609060101010101" pitchFamily="49" charset="-122"/>
                <a:cs typeface="Arial" panose="020B0604020202020204" pitchFamily="34" charset="0"/>
              </a:rPr>
              <a:t>～ 丙烯酸甘油酯        </a:t>
            </a:r>
          </a:p>
          <a:p>
            <a:pPr algn="just">
              <a:lnSpc>
                <a:spcPct val="100000"/>
              </a:lnSpc>
              <a:spcBef>
                <a:spcPct val="0"/>
              </a:spcBef>
              <a:buFontTx/>
              <a:buNone/>
            </a:pPr>
            <a:r>
              <a:rPr lang="zh-CN" altLang="en-US" sz="2400" dirty="0">
                <a:latin typeface="Arial" panose="020B0604020202020204" pitchFamily="34" charset="0"/>
                <a:ea typeface="楷体" panose="02010609060101010101" pitchFamily="49" charset="-122"/>
                <a:cs typeface="Arial" panose="020B0604020202020204" pitchFamily="34" charset="0"/>
              </a:rPr>
              <a:t>          </a:t>
            </a:r>
            <a:r>
              <a:rPr lang="en-US" altLang="zh-CN" sz="2400" dirty="0">
                <a:latin typeface="Arial" panose="020B0604020202020204" pitchFamily="34" charset="0"/>
                <a:ea typeface="楷体" panose="02010609060101010101" pitchFamily="49" charset="-122"/>
                <a:cs typeface="Arial" panose="020B0604020202020204" pitchFamily="34" charset="0"/>
              </a:rPr>
              <a:t>(r</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1 </a:t>
            </a:r>
            <a:r>
              <a:rPr lang="en-US" altLang="zh-CN" sz="2400" dirty="0">
                <a:latin typeface="Arial" panose="020B0604020202020204" pitchFamily="34" charset="0"/>
                <a:ea typeface="楷体" panose="02010609060101010101" pitchFamily="49" charset="-122"/>
                <a:cs typeface="Arial" panose="020B0604020202020204" pitchFamily="34" charset="0"/>
              </a:rPr>
              <a:t>= 1.0, r</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400" dirty="0">
                <a:latin typeface="Arial" panose="020B0604020202020204" pitchFamily="34" charset="0"/>
                <a:ea typeface="楷体" panose="02010609060101010101" pitchFamily="49" charset="-122"/>
                <a:cs typeface="Arial" panose="020B0604020202020204" pitchFamily="34" charset="0"/>
              </a:rPr>
              <a:t> = 1.0) </a:t>
            </a:r>
          </a:p>
          <a:p>
            <a:pPr algn="just">
              <a:lnSpc>
                <a:spcPct val="100000"/>
              </a:lnSpc>
              <a:spcBef>
                <a:spcPct val="0"/>
              </a:spcBef>
              <a:buFontTx/>
              <a:buNone/>
            </a:pPr>
            <a:endParaRPr lang="en-US" altLang="zh-CN" sz="2400" dirty="0">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r>
              <a:rPr lang="en-US" altLang="zh-CN" sz="2400" dirty="0">
                <a:latin typeface="Arial" panose="020B0604020202020204" pitchFamily="34" charset="0"/>
                <a:ea typeface="楷体" panose="02010609060101010101" pitchFamily="49" charset="-122"/>
                <a:cs typeface="Arial" panose="020B0604020202020204" pitchFamily="34" charset="0"/>
              </a:rPr>
              <a:t>E(</a:t>
            </a:r>
            <a:r>
              <a:rPr lang="zh-CN" altLang="en-US" sz="2400" dirty="0">
                <a:latin typeface="Arial" panose="020B0604020202020204" pitchFamily="34" charset="0"/>
                <a:ea typeface="楷体" panose="02010609060101010101" pitchFamily="49" charset="-122"/>
                <a:cs typeface="Arial" panose="020B0604020202020204" pitchFamily="34" charset="0"/>
              </a:rPr>
              <a:t>乙烯</a:t>
            </a:r>
            <a:r>
              <a:rPr lang="en-US" altLang="zh-CN" sz="2400" dirty="0">
                <a:latin typeface="Arial" panose="020B0604020202020204" pitchFamily="34" charset="0"/>
                <a:ea typeface="楷体" panose="02010609060101010101" pitchFamily="49" charset="-122"/>
                <a:cs typeface="Arial" panose="020B0604020202020204" pitchFamily="34" charset="0"/>
              </a:rPr>
              <a:t>) </a:t>
            </a:r>
            <a:r>
              <a:rPr lang="zh-CN" altLang="en-US" sz="2400" dirty="0">
                <a:latin typeface="Arial" panose="020B0604020202020204" pitchFamily="34" charset="0"/>
                <a:ea typeface="楷体" panose="02010609060101010101" pitchFamily="49" charset="-122"/>
                <a:cs typeface="Arial" panose="020B0604020202020204" pitchFamily="34" charset="0"/>
              </a:rPr>
              <a:t>～ </a:t>
            </a:r>
            <a:r>
              <a:rPr lang="en-US" altLang="zh-CN" sz="2400" dirty="0" err="1">
                <a:latin typeface="Arial" panose="020B0604020202020204" pitchFamily="34" charset="0"/>
                <a:ea typeface="楷体" panose="02010609060101010101" pitchFamily="49" charset="-122"/>
                <a:cs typeface="Arial" panose="020B0604020202020204" pitchFamily="34" charset="0"/>
              </a:rPr>
              <a:t>VAc</a:t>
            </a:r>
            <a:r>
              <a:rPr lang="en-US" altLang="zh-CN" sz="2400" dirty="0">
                <a:latin typeface="Arial" panose="020B0604020202020204" pitchFamily="34" charset="0"/>
                <a:ea typeface="楷体" panose="02010609060101010101" pitchFamily="49" charset="-122"/>
                <a:cs typeface="Arial" panose="020B0604020202020204" pitchFamily="34" charset="0"/>
              </a:rPr>
              <a:t> (</a:t>
            </a:r>
            <a:r>
              <a:rPr lang="zh-CN" altLang="en-US" sz="2400" dirty="0">
                <a:latin typeface="Arial" panose="020B0604020202020204" pitchFamily="34" charset="0"/>
                <a:ea typeface="楷体" panose="02010609060101010101" pitchFamily="49" charset="-122"/>
                <a:cs typeface="Arial" panose="020B0604020202020204" pitchFamily="34" charset="0"/>
              </a:rPr>
              <a:t>醋酸乙烯酯</a:t>
            </a:r>
            <a:r>
              <a:rPr lang="en-US" altLang="zh-CN" sz="2400" dirty="0">
                <a:latin typeface="Arial" panose="020B0604020202020204" pitchFamily="34" charset="0"/>
                <a:ea typeface="楷体" panose="02010609060101010101" pitchFamily="49" charset="-122"/>
                <a:cs typeface="Arial" panose="020B0604020202020204" pitchFamily="34" charset="0"/>
              </a:rPr>
              <a:t>)</a:t>
            </a:r>
            <a:r>
              <a:rPr lang="zh-CN" altLang="en-US" sz="2400" dirty="0">
                <a:latin typeface="Arial" panose="020B0604020202020204" pitchFamily="34" charset="0"/>
                <a:ea typeface="楷体" panose="02010609060101010101" pitchFamily="49" charset="-122"/>
                <a:cs typeface="Arial" panose="020B0604020202020204" pitchFamily="34" charset="0"/>
              </a:rPr>
              <a:t>        </a:t>
            </a:r>
          </a:p>
          <a:p>
            <a:pPr algn="just">
              <a:lnSpc>
                <a:spcPct val="100000"/>
              </a:lnSpc>
              <a:spcBef>
                <a:spcPct val="0"/>
              </a:spcBef>
              <a:buFontTx/>
              <a:buNone/>
            </a:pPr>
            <a:r>
              <a:rPr lang="zh-CN" altLang="en-US" sz="2400" dirty="0">
                <a:latin typeface="Arial" panose="020B0604020202020204" pitchFamily="34" charset="0"/>
                <a:ea typeface="楷体" panose="02010609060101010101" pitchFamily="49" charset="-122"/>
                <a:cs typeface="Arial" panose="020B0604020202020204" pitchFamily="34" charset="0"/>
              </a:rPr>
              <a:t>          </a:t>
            </a:r>
            <a:r>
              <a:rPr lang="en-US" altLang="zh-CN" sz="2400" dirty="0">
                <a:latin typeface="Arial" panose="020B0604020202020204" pitchFamily="34" charset="0"/>
                <a:ea typeface="楷体" panose="02010609060101010101" pitchFamily="49" charset="-122"/>
                <a:cs typeface="Arial" panose="020B0604020202020204" pitchFamily="34" charset="0"/>
              </a:rPr>
              <a:t>(r</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1 </a:t>
            </a:r>
            <a:r>
              <a:rPr lang="en-US" altLang="zh-CN" sz="2400" dirty="0">
                <a:latin typeface="Arial" panose="020B0604020202020204" pitchFamily="34" charset="0"/>
                <a:ea typeface="楷体" panose="02010609060101010101" pitchFamily="49" charset="-122"/>
                <a:cs typeface="Arial" panose="020B0604020202020204" pitchFamily="34" charset="0"/>
              </a:rPr>
              <a:t>= 1.07, r</a:t>
            </a:r>
            <a:r>
              <a:rPr lang="en-US" altLang="zh-CN" sz="24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400" dirty="0">
                <a:latin typeface="Arial" panose="020B0604020202020204" pitchFamily="34" charset="0"/>
                <a:ea typeface="楷体" panose="02010609060101010101" pitchFamily="49" charset="-122"/>
                <a:cs typeface="Arial" panose="020B0604020202020204" pitchFamily="34" charset="0"/>
              </a:rPr>
              <a:t> = 1.08)</a:t>
            </a:r>
          </a:p>
          <a:p>
            <a:pPr algn="just">
              <a:lnSpc>
                <a:spcPct val="100000"/>
              </a:lnSpc>
              <a:spcBef>
                <a:spcPct val="0"/>
              </a:spcBef>
              <a:buFontTx/>
              <a:buNone/>
            </a:pPr>
            <a:endParaRPr lang="en-US" altLang="zh-CN" sz="2400" b="1" dirty="0">
              <a:latin typeface="Century Schoolbook" panose="02040604050505020304" pitchFamily="18" charset="0"/>
              <a:ea typeface="宋体" panose="02010600030101010101" pitchFamily="2" charset="-122"/>
              <a:cs typeface="Arial" panose="020B0604020202020204" pitchFamily="34" charset="0"/>
            </a:endParaRPr>
          </a:p>
          <a:p>
            <a:pPr algn="just">
              <a:lnSpc>
                <a:spcPct val="100000"/>
              </a:lnSpc>
              <a:spcBef>
                <a:spcPct val="0"/>
              </a:spcBef>
              <a:buFontTx/>
              <a:buNone/>
            </a:pPr>
            <a:r>
              <a:rPr lang="zh-CN" altLang="en-US" sz="2400" b="1" dirty="0">
                <a:solidFill>
                  <a:srgbClr val="0033CC"/>
                </a:solidFill>
                <a:latin typeface="Century Schoolbook" panose="02040604050505020304" pitchFamily="18" charset="0"/>
                <a:ea typeface="宋体" panose="02010600030101010101" pitchFamily="2" charset="-122"/>
                <a:cs typeface="Arial" panose="020B0604020202020204" pitchFamily="34" charset="0"/>
              </a:rPr>
              <a:t>            </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3" name="直接连接符 12">
            <a:extLst>
              <a:ext uri="{FF2B5EF4-FFF2-40B4-BE49-F238E27FC236}">
                <a16:creationId xmlns:a16="http://schemas.microsoft.com/office/drawing/2014/main" id="{F0A0ECBF-0781-4062-909D-1EB296C2FD0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8909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A709D77-6D75-49AB-91F5-1B3D50748C43}"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52</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89092" name="Object 2"/>
          <p:cNvGraphicFramePr>
            <a:graphicFrameLocks noChangeAspect="1"/>
          </p:cNvGraphicFramePr>
          <p:nvPr/>
        </p:nvGraphicFramePr>
        <p:xfrm>
          <a:off x="1066800" y="685800"/>
          <a:ext cx="2184400" cy="411163"/>
        </p:xfrm>
        <a:graphic>
          <a:graphicData uri="http://schemas.openxmlformats.org/presentationml/2006/ole">
            <mc:AlternateContent xmlns:mc="http://schemas.openxmlformats.org/markup-compatibility/2006">
              <mc:Choice xmlns:v="urn:schemas-microsoft-com:vml" Requires="v">
                <p:oleObj spid="_x0000_s89172" name="公式" r:id="rId3" imgW="1206500" imgH="228600" progId="Equation.3">
                  <p:embed/>
                </p:oleObj>
              </mc:Choice>
              <mc:Fallback>
                <p:oleObj name="公式" r:id="rId3" imgW="12065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685800"/>
                        <a:ext cx="2184400" cy="411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9093" name="Text Box 3"/>
          <p:cNvSpPr txBox="1">
            <a:spLocks noChangeArrowheads="1"/>
          </p:cNvSpPr>
          <p:nvPr/>
        </p:nvSpPr>
        <p:spPr bwMode="auto">
          <a:xfrm>
            <a:off x="609600" y="685800"/>
            <a:ext cx="6096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100">
                <a:latin typeface="Arial" panose="020B0604020202020204" pitchFamily="34" charset="0"/>
                <a:ea typeface="宋体" panose="02010600030101010101" pitchFamily="2" charset="-122"/>
                <a:cs typeface="Arial" panose="020B0604020202020204" pitchFamily="34" charset="0"/>
              </a:rPr>
              <a:t>2</a:t>
            </a:r>
            <a:r>
              <a:rPr lang="en-US" altLang="zh-CN" sz="2100">
                <a:latin typeface="Arial" panose="020B0604020202020204" pitchFamily="34" charset="0"/>
                <a:ea typeface="宋体" panose="02010600030101010101" pitchFamily="2" charset="-122"/>
                <a:cs typeface="Arial" panose="020B0604020202020204" pitchFamily="34" charset="0"/>
              </a:rPr>
              <a:t>)</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graphicFrame>
        <p:nvGraphicFramePr>
          <p:cNvPr id="89094" name="Object 4"/>
          <p:cNvGraphicFramePr>
            <a:graphicFrameLocks noChangeAspect="1"/>
          </p:cNvGraphicFramePr>
          <p:nvPr/>
        </p:nvGraphicFramePr>
        <p:xfrm>
          <a:off x="1033463" y="1165225"/>
          <a:ext cx="2624137" cy="831850"/>
        </p:xfrm>
        <a:graphic>
          <a:graphicData uri="http://schemas.openxmlformats.org/presentationml/2006/ole">
            <mc:AlternateContent xmlns:mc="http://schemas.openxmlformats.org/markup-compatibility/2006">
              <mc:Choice xmlns:v="urn:schemas-microsoft-com:vml" Requires="v">
                <p:oleObj spid="_x0000_s89173" name="公式" r:id="rId5" imgW="1396394" imgH="444307" progId="Equation.3">
                  <p:embed/>
                </p:oleObj>
              </mc:Choice>
              <mc:Fallback>
                <p:oleObj name="公式" r:id="rId5" imgW="1396394" imgH="44430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3463" y="1165225"/>
                        <a:ext cx="262413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9095" name="Text Box 9"/>
          <p:cNvSpPr txBox="1">
            <a:spLocks noChangeArrowheads="1"/>
          </p:cNvSpPr>
          <p:nvPr/>
        </p:nvSpPr>
        <p:spPr bwMode="auto">
          <a:xfrm>
            <a:off x="914400" y="2071688"/>
            <a:ext cx="352901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100">
                <a:latin typeface="楷体" panose="02010609060101010101" pitchFamily="49" charset="-122"/>
                <a:ea typeface="楷体" panose="02010609060101010101" pitchFamily="49" charset="-122"/>
              </a:rPr>
              <a:t>共聚组成曲线在对角线下侧</a:t>
            </a:r>
            <a:endParaRPr lang="zh-CN" altLang="en-US" sz="2400">
              <a:latin typeface="楷体" panose="02010609060101010101" pitchFamily="49" charset="-122"/>
              <a:ea typeface="楷体" panose="02010609060101010101" pitchFamily="49" charset="-122"/>
            </a:endParaRPr>
          </a:p>
        </p:txBody>
      </p:sp>
      <p:sp>
        <p:nvSpPr>
          <p:cNvPr id="89096" name="Text Box 12"/>
          <p:cNvSpPr txBox="1">
            <a:spLocks noChangeArrowheads="1"/>
          </p:cNvSpPr>
          <p:nvPr/>
        </p:nvSpPr>
        <p:spPr bwMode="auto">
          <a:xfrm>
            <a:off x="944563" y="2711450"/>
            <a:ext cx="367665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40000"/>
              </a:lnSpc>
              <a:spcBef>
                <a:spcPct val="0"/>
              </a:spcBef>
              <a:buFontTx/>
              <a:buNone/>
            </a:pP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两种自由基都倾向于与</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反</a:t>
            </a:r>
            <a:endPar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应，单体2比单体1活性高。</a:t>
            </a:r>
          </a:p>
        </p:txBody>
      </p:sp>
      <p:graphicFrame>
        <p:nvGraphicFramePr>
          <p:cNvPr id="89097" name="Object 14"/>
          <p:cNvGraphicFramePr>
            <a:graphicFrameLocks noChangeAspect="1"/>
          </p:cNvGraphicFramePr>
          <p:nvPr/>
        </p:nvGraphicFramePr>
        <p:xfrm>
          <a:off x="4530725" y="1268413"/>
          <a:ext cx="4289425" cy="4221162"/>
        </p:xfrm>
        <a:graphic>
          <a:graphicData uri="http://schemas.openxmlformats.org/presentationml/2006/ole">
            <mc:AlternateContent xmlns:mc="http://schemas.openxmlformats.org/markup-compatibility/2006">
              <mc:Choice xmlns:v="urn:schemas-microsoft-com:vml" Requires="v">
                <p:oleObj spid="_x0000_s89174" name="Graph" r:id="rId7" imgW="2693624" imgH="2517354" progId="Origin50.Graph">
                  <p:embed/>
                </p:oleObj>
              </mc:Choice>
              <mc:Fallback>
                <p:oleObj name="Graph" r:id="rId7" imgW="2693624" imgH="2517354" progId="Origin50.Graph">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30725" y="1268413"/>
                        <a:ext cx="4289425" cy="422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9098" name="Object 1024"/>
          <p:cNvGraphicFramePr>
            <a:graphicFrameLocks noChangeAspect="1"/>
          </p:cNvGraphicFramePr>
          <p:nvPr/>
        </p:nvGraphicFramePr>
        <p:xfrm>
          <a:off x="1130300" y="4022725"/>
          <a:ext cx="2178050" cy="409575"/>
        </p:xfrm>
        <a:graphic>
          <a:graphicData uri="http://schemas.openxmlformats.org/presentationml/2006/ole">
            <mc:AlternateContent xmlns:mc="http://schemas.openxmlformats.org/markup-compatibility/2006">
              <mc:Choice xmlns:v="urn:schemas-microsoft-com:vml" Requires="v">
                <p:oleObj spid="_x0000_s89175" name="公式" r:id="rId9" imgW="1206500" imgH="228600" progId="Equation.3">
                  <p:embed/>
                </p:oleObj>
              </mc:Choice>
              <mc:Fallback>
                <p:oleObj name="公式" r:id="rId9" imgW="1206500" imgH="228600" progId="Equation.3">
                  <p:embed/>
                  <p:pic>
                    <p:nvPicPr>
                      <p:cNvPr id="0" name="Object 10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0300" y="4022725"/>
                        <a:ext cx="217805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9099" name="Text Box 3"/>
          <p:cNvSpPr txBox="1">
            <a:spLocks noChangeArrowheads="1"/>
          </p:cNvSpPr>
          <p:nvPr/>
        </p:nvSpPr>
        <p:spPr bwMode="auto">
          <a:xfrm>
            <a:off x="728663" y="4040188"/>
            <a:ext cx="6096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100">
                <a:latin typeface="楷体" panose="02010609060101010101" pitchFamily="49" charset="-122"/>
                <a:ea typeface="楷体" panose="02010609060101010101" pitchFamily="49" charset="-122"/>
              </a:rPr>
              <a:t>3)</a:t>
            </a:r>
          </a:p>
        </p:txBody>
      </p:sp>
      <p:sp>
        <p:nvSpPr>
          <p:cNvPr id="89100" name="Text Box 5"/>
          <p:cNvSpPr txBox="1">
            <a:spLocks noChangeArrowheads="1"/>
          </p:cNvSpPr>
          <p:nvPr/>
        </p:nvSpPr>
        <p:spPr bwMode="auto">
          <a:xfrm>
            <a:off x="944563" y="4586288"/>
            <a:ext cx="502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楷体" panose="02010609060101010101" pitchFamily="49" charset="-122"/>
                <a:ea typeface="楷体" panose="02010609060101010101" pitchFamily="49" charset="-122"/>
              </a:rPr>
              <a:t>共聚组成曲线在对角线上侧</a:t>
            </a:r>
          </a:p>
        </p:txBody>
      </p:sp>
      <p:sp>
        <p:nvSpPr>
          <p:cNvPr id="89101" name="Text Box 12"/>
          <p:cNvSpPr txBox="1">
            <a:spLocks noChangeArrowheads="1"/>
          </p:cNvSpPr>
          <p:nvPr/>
        </p:nvSpPr>
        <p:spPr bwMode="auto">
          <a:xfrm>
            <a:off x="950913" y="4937125"/>
            <a:ext cx="3605212"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40000"/>
              </a:lnSpc>
              <a:spcBef>
                <a:spcPct val="0"/>
              </a:spcBef>
              <a:buFontTx/>
              <a:buNone/>
            </a:pP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两种自由基都倾向于与</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反</a:t>
            </a:r>
            <a:endPar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应，单体</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比单体</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活性高。</a:t>
            </a:r>
          </a:p>
        </p:txBody>
      </p:sp>
      <p:cxnSp>
        <p:nvCxnSpPr>
          <p:cNvPr id="3" name="直接连接符 2">
            <a:extLst>
              <a:ext uri="{FF2B5EF4-FFF2-40B4-BE49-F238E27FC236}">
                <a16:creationId xmlns:a16="http://schemas.microsoft.com/office/drawing/2014/main" id="{9B1576BB-D6B6-4B8F-9847-B42295DBB945}"/>
              </a:ext>
            </a:extLst>
          </p:cNvPr>
          <p:cNvCxnSpPr>
            <a:cxnSpLocks/>
          </p:cNvCxnSpPr>
          <p:nvPr/>
        </p:nvCxnSpPr>
        <p:spPr>
          <a:xfrm flipV="1">
            <a:off x="6913563" y="3141663"/>
            <a:ext cx="0" cy="1792287"/>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5" name="直接箭头连接符 4">
            <a:extLst>
              <a:ext uri="{FF2B5EF4-FFF2-40B4-BE49-F238E27FC236}">
                <a16:creationId xmlns:a16="http://schemas.microsoft.com/office/drawing/2014/main" id="{6BD68BEB-2895-4B80-AB23-A1AFE82F36FF}"/>
              </a:ext>
            </a:extLst>
          </p:cNvPr>
          <p:cNvCxnSpPr/>
          <p:nvPr/>
        </p:nvCxnSpPr>
        <p:spPr>
          <a:xfrm flipH="1" flipV="1">
            <a:off x="7032625" y="4570413"/>
            <a:ext cx="398463" cy="215900"/>
          </a:xfrm>
          <a:prstGeom prst="straightConnector1">
            <a:avLst/>
          </a:prstGeom>
          <a:ln w="38100">
            <a:solidFill>
              <a:srgbClr val="90109E"/>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D7F68FA6-3D83-40FF-805D-447EB4161A9C}"/>
              </a:ext>
            </a:extLst>
          </p:cNvPr>
          <p:cNvCxnSpPr>
            <a:cxnSpLocks/>
          </p:cNvCxnSpPr>
          <p:nvPr/>
        </p:nvCxnSpPr>
        <p:spPr>
          <a:xfrm>
            <a:off x="6427788" y="1743075"/>
            <a:ext cx="465137" cy="168275"/>
          </a:xfrm>
          <a:prstGeom prst="straightConnector1">
            <a:avLst/>
          </a:prstGeom>
          <a:ln w="38100">
            <a:solidFill>
              <a:srgbClr val="7EF74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1C8CDCD-6B7E-4ADD-A0AF-0A42F43DFCD5}"/>
              </a:ext>
            </a:extLst>
          </p:cNvPr>
          <p:cNvCxnSpPr>
            <a:cxnSpLocks/>
          </p:cNvCxnSpPr>
          <p:nvPr/>
        </p:nvCxnSpPr>
        <p:spPr>
          <a:xfrm flipV="1">
            <a:off x="6902450" y="1257300"/>
            <a:ext cx="0" cy="1792288"/>
          </a:xfrm>
          <a:prstGeom prst="line">
            <a:avLst/>
          </a:prstGeom>
          <a:ln w="28575">
            <a:solidFill>
              <a:srgbClr val="7EF74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89106" name="Object 4"/>
          <p:cNvGraphicFramePr>
            <a:graphicFrameLocks noChangeAspect="1"/>
          </p:cNvGraphicFramePr>
          <p:nvPr/>
        </p:nvGraphicFramePr>
        <p:xfrm>
          <a:off x="6332538" y="728663"/>
          <a:ext cx="1401762" cy="492125"/>
        </p:xfrm>
        <a:graphic>
          <a:graphicData uri="http://schemas.openxmlformats.org/presentationml/2006/ole">
            <mc:AlternateContent xmlns:mc="http://schemas.openxmlformats.org/markup-compatibility/2006">
              <mc:Choice xmlns:v="urn:schemas-microsoft-com:vml" Requires="v">
                <p:oleObj spid="_x0000_s89176" name="公式" r:id="rId11" imgW="609336" imgH="215806" progId="Equation.3">
                  <p:embed/>
                </p:oleObj>
              </mc:Choice>
              <mc:Fallback>
                <p:oleObj name="公式" r:id="rId11" imgW="609336" imgH="215806" progId="Equation.3">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32538" y="728663"/>
                        <a:ext cx="1401762" cy="492125"/>
                      </a:xfrm>
                      <a:prstGeom prst="rect">
                        <a:avLst/>
                      </a:prstGeom>
                      <a:noFill/>
                      <a:ln>
                        <a:noFill/>
                      </a:ln>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7" name="直接连接符 16">
            <a:extLst>
              <a:ext uri="{FF2B5EF4-FFF2-40B4-BE49-F238E27FC236}">
                <a16:creationId xmlns:a16="http://schemas.microsoft.com/office/drawing/2014/main" id="{9E78AF94-5F6F-4C4C-A1B7-E2F056CA24F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011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D53C118-BD2F-4512-8D97-EF85BF6AEF27}"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53</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90116" name="Object 3072"/>
          <p:cNvGraphicFramePr>
            <a:graphicFrameLocks noChangeAspect="1"/>
          </p:cNvGraphicFramePr>
          <p:nvPr/>
        </p:nvGraphicFramePr>
        <p:xfrm>
          <a:off x="1050925" y="73025"/>
          <a:ext cx="1517650" cy="544513"/>
        </p:xfrm>
        <a:graphic>
          <a:graphicData uri="http://schemas.openxmlformats.org/presentationml/2006/ole">
            <mc:AlternateContent xmlns:mc="http://schemas.openxmlformats.org/markup-compatibility/2006">
              <mc:Choice xmlns:v="urn:schemas-microsoft-com:vml" Requires="v">
                <p:oleObj spid="_x0000_s90181" name="公式" r:id="rId3" imgW="596641" imgH="215806" progId="Equation.3">
                  <p:embed/>
                </p:oleObj>
              </mc:Choice>
              <mc:Fallback>
                <p:oleObj name="公式" r:id="rId3" imgW="596641" imgH="215806" progId="Equation.3">
                  <p:embed/>
                  <p:pic>
                    <p:nvPicPr>
                      <p:cNvPr id="0" name="Object 30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0925" y="73025"/>
                        <a:ext cx="1517650" cy="5445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0117" name="Text Box 4"/>
          <p:cNvSpPr txBox="1">
            <a:spLocks noChangeArrowheads="1"/>
          </p:cNvSpPr>
          <p:nvPr/>
        </p:nvSpPr>
        <p:spPr bwMode="auto">
          <a:xfrm>
            <a:off x="236538" y="147638"/>
            <a:ext cx="8382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latin typeface="Arial" panose="020B0604020202020204" pitchFamily="34" charset="0"/>
                <a:ea typeface="宋体" panose="02010600030101010101" pitchFamily="2" charset="-122"/>
                <a:cs typeface="Arial" panose="020B0604020202020204" pitchFamily="34" charset="0"/>
              </a:rPr>
              <a:t>&lt;</a:t>
            </a:r>
            <a:r>
              <a:rPr lang="zh-CN" altLang="en-US" sz="2400">
                <a:latin typeface="Arial" panose="020B0604020202020204" pitchFamily="34" charset="0"/>
                <a:ea typeface="宋体" panose="02010600030101010101" pitchFamily="2" charset="-122"/>
                <a:cs typeface="Arial" panose="020B0604020202020204" pitchFamily="34" charset="0"/>
              </a:rPr>
              <a:t>2</a:t>
            </a:r>
            <a:r>
              <a:rPr lang="en-US" altLang="zh-CN" sz="2400">
                <a:latin typeface="Arial" panose="020B0604020202020204" pitchFamily="34" charset="0"/>
                <a:ea typeface="宋体" panose="02010600030101010101" pitchFamily="2" charset="-122"/>
                <a:cs typeface="Arial" panose="020B0604020202020204" pitchFamily="34" charset="0"/>
              </a:rPr>
              <a:t>&gt;</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sp>
        <p:nvSpPr>
          <p:cNvPr id="90118" name="Text Box 6"/>
          <p:cNvSpPr txBox="1">
            <a:spLocks noChangeArrowheads="1"/>
          </p:cNvSpPr>
          <p:nvPr/>
        </p:nvSpPr>
        <p:spPr bwMode="auto">
          <a:xfrm>
            <a:off x="544513" y="695325"/>
            <a:ext cx="685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Arial" panose="020B0604020202020204" pitchFamily="34" charset="0"/>
                <a:ea typeface="宋体" panose="02010600030101010101" pitchFamily="2" charset="-122"/>
                <a:cs typeface="Arial" panose="020B0604020202020204" pitchFamily="34" charset="0"/>
              </a:rPr>
              <a:t>1) </a:t>
            </a:r>
          </a:p>
        </p:txBody>
      </p:sp>
      <p:sp>
        <p:nvSpPr>
          <p:cNvPr id="90119" name="Text Box 7"/>
          <p:cNvSpPr txBox="1">
            <a:spLocks noChangeArrowheads="1"/>
          </p:cNvSpPr>
          <p:nvPr/>
        </p:nvSpPr>
        <p:spPr bwMode="auto">
          <a:xfrm>
            <a:off x="2605088" y="685800"/>
            <a:ext cx="175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solidFill>
                  <a:srgbClr val="FF0000"/>
                </a:solidFill>
                <a:latin typeface="楷体" panose="02010609060101010101" pitchFamily="49" charset="-122"/>
                <a:ea typeface="楷体" panose="02010609060101010101" pitchFamily="49" charset="-122"/>
              </a:rPr>
              <a:t>交替共聚</a:t>
            </a:r>
          </a:p>
        </p:txBody>
      </p:sp>
      <p:sp>
        <p:nvSpPr>
          <p:cNvPr id="90120" name="Text Box 8"/>
          <p:cNvSpPr txBox="1">
            <a:spLocks noChangeArrowheads="1"/>
          </p:cNvSpPr>
          <p:nvPr/>
        </p:nvSpPr>
        <p:spPr bwMode="auto">
          <a:xfrm>
            <a:off x="561975" y="1358900"/>
            <a:ext cx="3962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solidFill>
                  <a:srgbClr val="00B050"/>
                </a:solidFill>
                <a:latin typeface="楷体" panose="02010609060101010101" pitchFamily="49" charset="-122"/>
                <a:ea typeface="楷体" panose="02010609060101010101" pitchFamily="49" charset="-122"/>
              </a:rPr>
              <a:t>两种单体不能自聚，只能共聚</a:t>
            </a:r>
          </a:p>
        </p:txBody>
      </p:sp>
      <p:graphicFrame>
        <p:nvGraphicFramePr>
          <p:cNvPr id="90121" name="Object 3073"/>
          <p:cNvGraphicFramePr>
            <a:graphicFrameLocks noChangeAspect="1"/>
          </p:cNvGraphicFramePr>
          <p:nvPr/>
        </p:nvGraphicFramePr>
        <p:xfrm>
          <a:off x="639763" y="2368550"/>
          <a:ext cx="4400550" cy="784225"/>
        </p:xfrm>
        <a:graphic>
          <a:graphicData uri="http://schemas.openxmlformats.org/presentationml/2006/ole">
            <mc:AlternateContent xmlns:mc="http://schemas.openxmlformats.org/markup-compatibility/2006">
              <mc:Choice xmlns:v="urn:schemas-microsoft-com:vml" Requires="v">
                <p:oleObj spid="_x0000_s90182" name="公式" r:id="rId5" imgW="2476500" imgH="444500" progId="Equation.3">
                  <p:embed/>
                </p:oleObj>
              </mc:Choice>
              <mc:Fallback>
                <p:oleObj name="公式" r:id="rId5" imgW="2476500" imgH="444500" progId="Equation.3">
                  <p:embed/>
                  <p:pic>
                    <p:nvPicPr>
                      <p:cNvPr id="0" name="Object 30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763" y="2368550"/>
                        <a:ext cx="440055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22" name="Object 3074"/>
          <p:cNvGraphicFramePr>
            <a:graphicFrameLocks noChangeAspect="1"/>
          </p:cNvGraphicFramePr>
          <p:nvPr/>
        </p:nvGraphicFramePr>
        <p:xfrm>
          <a:off x="593725" y="3175000"/>
          <a:ext cx="5295900" cy="862013"/>
        </p:xfrm>
        <a:graphic>
          <a:graphicData uri="http://schemas.openxmlformats.org/presentationml/2006/ole">
            <mc:AlternateContent xmlns:mc="http://schemas.openxmlformats.org/markup-compatibility/2006">
              <mc:Choice xmlns:v="urn:schemas-microsoft-com:vml" Requires="v">
                <p:oleObj spid="_x0000_s90183" name="公式" r:id="rId7" imgW="2641600" imgH="457200" progId="Equation.3">
                  <p:embed/>
                </p:oleObj>
              </mc:Choice>
              <mc:Fallback>
                <p:oleObj name="公式" r:id="rId7" imgW="2641600" imgH="457200" progId="Equation.3">
                  <p:embed/>
                  <p:pic>
                    <p:nvPicPr>
                      <p:cNvPr id="0" name="Object 30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3725" y="3175000"/>
                        <a:ext cx="52959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3" name="Text Box 11"/>
          <p:cNvSpPr txBox="1">
            <a:spLocks noChangeArrowheads="1"/>
          </p:cNvSpPr>
          <p:nvPr/>
        </p:nvSpPr>
        <p:spPr bwMode="auto">
          <a:xfrm>
            <a:off x="541338" y="1819275"/>
            <a:ext cx="1600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zh-CN" altLang="en-US" sz="2000">
                <a:latin typeface="楷体" panose="02010609060101010101" pitchFamily="49" charset="-122"/>
                <a:ea typeface="楷体" panose="02010609060101010101" pitchFamily="49" charset="-122"/>
              </a:rPr>
              <a:t>共聚方程为</a:t>
            </a:r>
            <a:r>
              <a:rPr lang="en-US" altLang="zh-CN" sz="2000">
                <a:latin typeface="楷体" panose="02010609060101010101" pitchFamily="49" charset="-122"/>
                <a:ea typeface="楷体" panose="02010609060101010101" pitchFamily="49" charset="-122"/>
              </a:rPr>
              <a:t>:</a:t>
            </a:r>
            <a:endParaRPr lang="zh-CN" altLang="en-US" sz="2000">
              <a:latin typeface="楷体" panose="02010609060101010101" pitchFamily="49" charset="-122"/>
              <a:ea typeface="楷体" panose="02010609060101010101" pitchFamily="49" charset="-122"/>
            </a:endParaRPr>
          </a:p>
        </p:txBody>
      </p:sp>
      <p:graphicFrame>
        <p:nvGraphicFramePr>
          <p:cNvPr id="90124" name="Object 3075"/>
          <p:cNvGraphicFramePr>
            <a:graphicFrameLocks noChangeAspect="1"/>
          </p:cNvGraphicFramePr>
          <p:nvPr/>
        </p:nvGraphicFramePr>
        <p:xfrm>
          <a:off x="5162550" y="1204913"/>
          <a:ext cx="3352800" cy="3140075"/>
        </p:xfrm>
        <a:graphic>
          <a:graphicData uri="http://schemas.openxmlformats.org/presentationml/2006/ole">
            <mc:AlternateContent xmlns:mc="http://schemas.openxmlformats.org/markup-compatibility/2006">
              <mc:Choice xmlns:v="urn:schemas-microsoft-com:vml" Requires="v">
                <p:oleObj spid="_x0000_s90184" name="Graph" r:id="rId9" imgW="3141878" imgH="2941930" progId="Origin50.Graph">
                  <p:embed/>
                </p:oleObj>
              </mc:Choice>
              <mc:Fallback>
                <p:oleObj name="Graph" r:id="rId9" imgW="3141878" imgH="2941930" progId="Origin50.Graph">
                  <p:embed/>
                  <p:pic>
                    <p:nvPicPr>
                      <p:cNvPr id="0" name="Object 307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2550" y="1204913"/>
                        <a:ext cx="3352800" cy="314007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0125" name="Text Box 17"/>
          <p:cNvSpPr txBox="1">
            <a:spLocks noChangeArrowheads="1"/>
          </p:cNvSpPr>
          <p:nvPr/>
        </p:nvSpPr>
        <p:spPr bwMode="auto">
          <a:xfrm>
            <a:off x="3938588" y="749300"/>
            <a:ext cx="3586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50000"/>
              </a:spcBef>
              <a:buFontTx/>
              <a:buNone/>
            </a:pPr>
            <a:r>
              <a:rPr lang="en-US" altLang="zh-CN" sz="2000">
                <a:solidFill>
                  <a:srgbClr val="FF0000"/>
                </a:solidFill>
                <a:latin typeface="Arial" panose="020B0604020202020204" pitchFamily="34" charset="0"/>
                <a:ea typeface="宋体" panose="02010600030101010101" pitchFamily="2" charset="-122"/>
                <a:cs typeface="Arial" panose="020B0604020202020204" pitchFamily="34" charset="0"/>
              </a:rPr>
              <a:t>Alternating copolymerization</a:t>
            </a:r>
          </a:p>
        </p:txBody>
      </p:sp>
      <p:sp>
        <p:nvSpPr>
          <p:cNvPr id="90126" name="Text Box 18"/>
          <p:cNvSpPr txBox="1">
            <a:spLocks noChangeArrowheads="1"/>
          </p:cNvSpPr>
          <p:nvPr/>
        </p:nvSpPr>
        <p:spPr bwMode="auto">
          <a:xfrm>
            <a:off x="555625" y="4403725"/>
            <a:ext cx="8304213"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 typeface="Wingdings" panose="05000000000000000000" pitchFamily="2" charset="2"/>
              <a:buChar char="Ø"/>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不论配料比如何，聚合物中组成比始终相等，两种单体各</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占一半，得到交替共聚物</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没有两个以上同种单体相连的序列</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p>
          <a:p>
            <a:pPr algn="just">
              <a:lnSpc>
                <a:spcPct val="120000"/>
              </a:lnSpc>
              <a:spcBef>
                <a:spcPct val="0"/>
              </a:spcBef>
              <a:buFont typeface="Wingdings" panose="05000000000000000000" pitchFamily="2" charset="2"/>
              <a:buChar char="Ø"/>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在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关系图中是一条水平线，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为50％</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endPar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 typeface="Wingdings" panose="05000000000000000000" pitchFamily="2" charset="2"/>
              <a:buChar char="Ø"/>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共聚物组成与单体的配料比无关</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p>
          <a:p>
            <a:pPr algn="just">
              <a:lnSpc>
                <a:spcPct val="120000"/>
              </a:lnSpc>
              <a:spcBef>
                <a:spcPct val="0"/>
              </a:spcBef>
              <a:buFont typeface="Arial" panose="020B0604020202020204" pitchFamily="34" charset="0"/>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例：</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St/MMA </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在</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BPO/AlR</a:t>
            </a:r>
            <a:r>
              <a:rPr lang="en-US" altLang="zh-CN" sz="1800" baseline="-25000">
                <a:solidFill>
                  <a:srgbClr val="000000"/>
                </a:solidFill>
                <a:latin typeface="Arial" panose="020B0604020202020204" pitchFamily="34" charset="0"/>
                <a:ea typeface="楷体" panose="02010609060101010101" pitchFamily="49" charset="-122"/>
                <a:cs typeface="Arial" panose="020B0604020202020204" pitchFamily="34" charset="0"/>
              </a:rPr>
              <a:t>3</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引发下的自由基共聚合</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a:t>
            </a:r>
            <a:endPar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endParaRPr>
          </a:p>
        </p:txBody>
      </p:sp>
      <p:sp>
        <p:nvSpPr>
          <p:cNvPr id="90127" name="Text Box 20"/>
          <p:cNvSpPr txBox="1">
            <a:spLocks noChangeArrowheads="1"/>
          </p:cNvSpPr>
          <p:nvPr/>
        </p:nvSpPr>
        <p:spPr bwMode="auto">
          <a:xfrm>
            <a:off x="2774950" y="169863"/>
            <a:ext cx="15827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20000"/>
              </a:spcBef>
              <a:buFontTx/>
              <a:buNone/>
            </a:pPr>
            <a:r>
              <a:rPr lang="zh-CN" altLang="en-US" sz="2400">
                <a:solidFill>
                  <a:srgbClr val="FF0000"/>
                </a:solidFill>
                <a:latin typeface="楷体" panose="02010609060101010101" pitchFamily="49" charset="-122"/>
                <a:ea typeface="楷体" panose="02010609060101010101" pitchFamily="49" charset="-122"/>
              </a:rPr>
              <a:t>非理想共聚</a:t>
            </a:r>
          </a:p>
        </p:txBody>
      </p:sp>
      <p:sp>
        <p:nvSpPr>
          <p:cNvPr id="90128" name="TextBox 17"/>
          <p:cNvSpPr txBox="1">
            <a:spLocks noChangeArrowheads="1"/>
          </p:cNvSpPr>
          <p:nvPr/>
        </p:nvSpPr>
        <p:spPr bwMode="auto">
          <a:xfrm>
            <a:off x="1039813" y="687388"/>
            <a:ext cx="15240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400" i="1">
                <a:latin typeface="Arial" panose="020B0604020202020204" pitchFamily="34" charset="0"/>
                <a:ea typeface="宋体" panose="02010600030101010101" pitchFamily="2" charset="-122"/>
              </a:rPr>
              <a:t>r</a:t>
            </a:r>
            <a:r>
              <a:rPr lang="en-US" altLang="zh-CN" sz="2400" baseline="-25000">
                <a:latin typeface="Arial" panose="020B0604020202020204" pitchFamily="34" charset="0"/>
                <a:ea typeface="宋体" panose="02010600030101010101" pitchFamily="2" charset="-122"/>
              </a:rPr>
              <a:t>1</a:t>
            </a:r>
            <a:r>
              <a:rPr lang="en-US" altLang="zh-CN" sz="2400">
                <a:latin typeface="Arial" panose="020B0604020202020204" pitchFamily="34" charset="0"/>
                <a:ea typeface="宋体" panose="02010600030101010101" pitchFamily="2" charset="-122"/>
              </a:rPr>
              <a:t> = </a:t>
            </a:r>
            <a:r>
              <a:rPr lang="en-US" altLang="zh-CN" sz="2400" i="1">
                <a:latin typeface="Arial" panose="020B0604020202020204" pitchFamily="34" charset="0"/>
                <a:ea typeface="宋体" panose="02010600030101010101" pitchFamily="2" charset="-122"/>
              </a:rPr>
              <a:t>r</a:t>
            </a:r>
            <a:r>
              <a:rPr lang="en-US" altLang="zh-CN" sz="2400" baseline="-25000">
                <a:latin typeface="Arial" panose="020B0604020202020204" pitchFamily="34" charset="0"/>
                <a:ea typeface="宋体" panose="02010600030101010101" pitchFamily="2" charset="-122"/>
              </a:rPr>
              <a:t>2</a:t>
            </a:r>
            <a:r>
              <a:rPr lang="en-US" altLang="zh-CN" sz="2400">
                <a:latin typeface="Arial" panose="020B0604020202020204" pitchFamily="34" charset="0"/>
                <a:ea typeface="宋体" panose="02010600030101010101" pitchFamily="2" charset="-122"/>
              </a:rPr>
              <a:t> = 0</a:t>
            </a:r>
            <a:endParaRPr lang="zh-CN" altLang="en-US" sz="2400">
              <a:latin typeface="Arial" panose="020B0604020202020204" pitchFamily="34" charset="0"/>
              <a:ea typeface="宋体" panose="0201060003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2" name="直接连接符 11">
            <a:extLst>
              <a:ext uri="{FF2B5EF4-FFF2-40B4-BE49-F238E27FC236}">
                <a16:creationId xmlns:a16="http://schemas.microsoft.com/office/drawing/2014/main" id="{D7252FED-94B0-4D14-9A43-FB9A3676BA7F}"/>
              </a:ext>
            </a:extLst>
          </p:cNvPr>
          <p:cNvCxnSpPr/>
          <p:nvPr/>
        </p:nvCxnSpPr>
        <p:spPr>
          <a:xfrm>
            <a:off x="-11113" y="1890713"/>
            <a:ext cx="914401"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113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5CD50A6-E138-42E1-9E1B-E4EC26D831F5}"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54</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91140" name="Text Box 4"/>
          <p:cNvSpPr txBox="1">
            <a:spLocks noChangeArrowheads="1"/>
          </p:cNvSpPr>
          <p:nvPr/>
        </p:nvSpPr>
        <p:spPr bwMode="auto">
          <a:xfrm>
            <a:off x="287338" y="366713"/>
            <a:ext cx="990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latin typeface="Arial" panose="020B0604020202020204" pitchFamily="34" charset="0"/>
                <a:ea typeface="宋体" panose="02010600030101010101" pitchFamily="2" charset="-122"/>
                <a:cs typeface="Arial" panose="020B0604020202020204" pitchFamily="34" charset="0"/>
              </a:rPr>
              <a:t>2</a:t>
            </a:r>
            <a:r>
              <a:rPr lang="zh-CN" altLang="en-US" sz="2400">
                <a:latin typeface="Arial" panose="020B0604020202020204" pitchFamily="34" charset="0"/>
                <a:ea typeface="宋体" panose="02010600030101010101" pitchFamily="2" charset="-122"/>
                <a:cs typeface="Arial" panose="020B0604020202020204" pitchFamily="34" charset="0"/>
              </a:rPr>
              <a:t>)</a:t>
            </a:r>
          </a:p>
        </p:txBody>
      </p:sp>
      <p:sp>
        <p:nvSpPr>
          <p:cNvPr id="91141" name="Text Box 5"/>
          <p:cNvSpPr txBox="1">
            <a:spLocks noChangeArrowheads="1"/>
          </p:cNvSpPr>
          <p:nvPr/>
        </p:nvSpPr>
        <p:spPr bwMode="auto">
          <a:xfrm>
            <a:off x="738188" y="1924050"/>
            <a:ext cx="42672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例：</a:t>
            </a:r>
            <a:r>
              <a:rPr lang="en-US" altLang="zh-CN" sz="2000">
                <a:latin typeface="Arial" panose="020B0604020202020204" pitchFamily="34" charset="0"/>
                <a:ea typeface="宋体" panose="02010600030101010101" pitchFamily="2" charset="-122"/>
                <a:cs typeface="Arial" panose="020B0604020202020204" pitchFamily="34" charset="0"/>
              </a:rPr>
              <a:t>VC</a:t>
            </a:r>
            <a:r>
              <a:rPr lang="zh-CN" altLang="en-US" sz="2000">
                <a:latin typeface="Arial" panose="020B0604020202020204" pitchFamily="34" charset="0"/>
                <a:ea typeface="宋体" panose="02010600030101010101" pitchFamily="2" charset="-122"/>
                <a:cs typeface="Arial" panose="020B0604020202020204" pitchFamily="34" charset="0"/>
              </a:rPr>
              <a:t>与顺丁烯二酸乙二酯共聚   </a:t>
            </a:r>
          </a:p>
          <a:p>
            <a:pPr eaLnBrk="1" hangingPunct="1">
              <a:lnSpc>
                <a:spcPct val="100000"/>
              </a:lnSpc>
              <a:spcBef>
                <a:spcPct val="5000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         </a:t>
            </a:r>
            <a:r>
              <a:rPr lang="en-US" altLang="zh-CN" sz="2000">
                <a:latin typeface="Arial" panose="020B0604020202020204" pitchFamily="34" charset="0"/>
                <a:ea typeface="宋体" panose="02010600030101010101" pitchFamily="2" charset="-122"/>
                <a:cs typeface="Arial" panose="020B0604020202020204" pitchFamily="34" charset="0"/>
              </a:rPr>
              <a:t>r</a:t>
            </a:r>
            <a:r>
              <a:rPr lang="en-US" altLang="zh-CN" sz="2000" baseline="-25000">
                <a:latin typeface="Arial" panose="020B0604020202020204" pitchFamily="34" charset="0"/>
                <a:ea typeface="宋体" panose="02010600030101010101" pitchFamily="2" charset="-122"/>
                <a:cs typeface="Arial" panose="020B0604020202020204" pitchFamily="34" charset="0"/>
              </a:rPr>
              <a:t>1 </a:t>
            </a:r>
            <a:r>
              <a:rPr lang="en-US" altLang="zh-CN" sz="2000">
                <a:latin typeface="Arial" panose="020B0604020202020204" pitchFamily="34" charset="0"/>
                <a:ea typeface="宋体" panose="02010600030101010101" pitchFamily="2" charset="-122"/>
                <a:cs typeface="Arial" panose="020B0604020202020204" pitchFamily="34" charset="0"/>
              </a:rPr>
              <a:t>= 0.8,  r</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r>
              <a:rPr lang="en-US" altLang="zh-CN" sz="2000">
                <a:latin typeface="Arial" panose="020B0604020202020204" pitchFamily="34" charset="0"/>
                <a:ea typeface="宋体" panose="02010600030101010101" pitchFamily="2" charset="-122"/>
                <a:cs typeface="Arial" panose="020B0604020202020204" pitchFamily="34" charset="0"/>
              </a:rPr>
              <a:t> = 0</a:t>
            </a:r>
            <a:endParaRPr lang="zh-CN" altLang="en-US" sz="2000">
              <a:latin typeface="Arial" panose="020B0604020202020204" pitchFamily="34" charset="0"/>
              <a:ea typeface="宋体" panose="02010600030101010101" pitchFamily="2" charset="-122"/>
              <a:cs typeface="Arial" panose="020B0604020202020204" pitchFamily="34" charset="0"/>
            </a:endParaRPr>
          </a:p>
        </p:txBody>
      </p:sp>
      <p:graphicFrame>
        <p:nvGraphicFramePr>
          <p:cNvPr id="91142" name="Object 6"/>
          <p:cNvGraphicFramePr>
            <a:graphicFrameLocks noChangeAspect="1"/>
          </p:cNvGraphicFramePr>
          <p:nvPr/>
        </p:nvGraphicFramePr>
        <p:xfrm>
          <a:off x="838200" y="4883150"/>
          <a:ext cx="2863850" cy="868363"/>
        </p:xfrm>
        <a:graphic>
          <a:graphicData uri="http://schemas.openxmlformats.org/presentationml/2006/ole">
            <mc:AlternateContent xmlns:mc="http://schemas.openxmlformats.org/markup-compatibility/2006">
              <mc:Choice xmlns:v="urn:schemas-microsoft-com:vml" Requires="v">
                <p:oleObj spid="_x0000_s91216" name="公式" r:id="rId3" imgW="1459866" imgH="444307" progId="Equation.3">
                  <p:embed/>
                </p:oleObj>
              </mc:Choice>
              <mc:Fallback>
                <p:oleObj name="公式" r:id="rId3" imgW="1459866" imgH="444307"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883150"/>
                        <a:ext cx="286385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3" name="Text Box 7"/>
          <p:cNvSpPr txBox="1">
            <a:spLocks noChangeArrowheads="1"/>
          </p:cNvSpPr>
          <p:nvPr/>
        </p:nvSpPr>
        <p:spPr bwMode="auto">
          <a:xfrm>
            <a:off x="771525" y="2982913"/>
            <a:ext cx="3429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不能自聚，只能共聚</a:t>
            </a:r>
          </a:p>
        </p:txBody>
      </p:sp>
      <p:graphicFrame>
        <p:nvGraphicFramePr>
          <p:cNvPr id="91144" name="Object 9"/>
          <p:cNvGraphicFramePr>
            <a:graphicFrameLocks noChangeAspect="1"/>
          </p:cNvGraphicFramePr>
          <p:nvPr/>
        </p:nvGraphicFramePr>
        <p:xfrm>
          <a:off x="838200" y="3771900"/>
          <a:ext cx="6761163" cy="893763"/>
        </p:xfrm>
        <a:graphic>
          <a:graphicData uri="http://schemas.openxmlformats.org/presentationml/2006/ole">
            <mc:AlternateContent xmlns:mc="http://schemas.openxmlformats.org/markup-compatibility/2006">
              <mc:Choice xmlns:v="urn:schemas-microsoft-com:vml" Requires="v">
                <p:oleObj spid="_x0000_s91217" name="公式" r:id="rId5" imgW="3200400" imgH="457200" progId="Equation.3">
                  <p:embed/>
                </p:oleObj>
              </mc:Choice>
              <mc:Fallback>
                <p:oleObj name="公式" r:id="rId5" imgW="3200400" imgH="4572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3771900"/>
                        <a:ext cx="6761163"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5" name="Text Box 15"/>
          <p:cNvSpPr txBox="1">
            <a:spLocks noChangeArrowheads="1"/>
          </p:cNvSpPr>
          <p:nvPr/>
        </p:nvSpPr>
        <p:spPr bwMode="auto">
          <a:xfrm>
            <a:off x="782638" y="5876925"/>
            <a:ext cx="8077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当</a:t>
            </a:r>
            <a:r>
              <a:rPr lang="en-US" altLang="zh-CN" sz="2100">
                <a:latin typeface="Arial" panose="020B0604020202020204" pitchFamily="34" charset="0"/>
                <a:ea typeface="楷体" panose="02010609060101010101" pitchFamily="49" charset="-122"/>
                <a:cs typeface="Arial" panose="020B0604020202020204" pitchFamily="34" charset="0"/>
              </a:rPr>
              <a:t>f</a:t>
            </a:r>
            <a:r>
              <a:rPr lang="en-US" altLang="zh-CN" sz="2100" baseline="-25000">
                <a:latin typeface="Arial" panose="020B0604020202020204" pitchFamily="34" charset="0"/>
                <a:ea typeface="楷体" panose="02010609060101010101" pitchFamily="49" charset="-122"/>
                <a:cs typeface="Arial" panose="020B0604020202020204" pitchFamily="34" charset="0"/>
              </a:rPr>
              <a:t>1  </a:t>
            </a:r>
            <a:r>
              <a:rPr lang="zh-CN" altLang="en-US" sz="2100">
                <a:latin typeface="Arial" panose="020B0604020202020204" pitchFamily="34" charset="0"/>
                <a:ea typeface="楷体" panose="02010609060101010101" pitchFamily="49" charset="-122"/>
                <a:cs typeface="Arial" panose="020B0604020202020204" pitchFamily="34" charset="0"/>
              </a:rPr>
              <a:t>值小时， </a:t>
            </a:r>
            <a:r>
              <a:rPr lang="en-US" altLang="zh-CN" sz="2100">
                <a:latin typeface="Arial" panose="020B0604020202020204" pitchFamily="34" charset="0"/>
                <a:ea typeface="楷体" panose="02010609060101010101" pitchFamily="49" charset="-122"/>
                <a:cs typeface="Arial" panose="020B0604020202020204" pitchFamily="34" charset="0"/>
              </a:rPr>
              <a:t>r</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rPr>
              <a:t>f</a:t>
            </a:r>
            <a:r>
              <a:rPr lang="en-US" altLang="zh-CN" sz="2100" baseline="-25000">
                <a:latin typeface="Arial" panose="020B0604020202020204" pitchFamily="34" charset="0"/>
                <a:ea typeface="楷体" panose="02010609060101010101" pitchFamily="49" charset="-122"/>
                <a:cs typeface="Arial" panose="020B0604020202020204" pitchFamily="34" charset="0"/>
              </a:rPr>
              <a:t>1  </a:t>
            </a:r>
            <a:r>
              <a:rPr lang="zh-CN" altLang="en-US" sz="2100">
                <a:latin typeface="Arial" panose="020B0604020202020204" pitchFamily="34" charset="0"/>
                <a:ea typeface="楷体" panose="02010609060101010101" pitchFamily="49" charset="-122"/>
                <a:cs typeface="Arial" panose="020B0604020202020204" pitchFamily="34" charset="0"/>
              </a:rPr>
              <a:t>可忽略，导致</a:t>
            </a:r>
            <a:endParaRPr lang="zh-CN" altLang="en-US" sz="180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91146" name="Object 18"/>
          <p:cNvGraphicFramePr>
            <a:graphicFrameLocks noChangeAspect="1"/>
          </p:cNvGraphicFramePr>
          <p:nvPr/>
        </p:nvGraphicFramePr>
        <p:xfrm>
          <a:off x="4643438" y="5764213"/>
          <a:ext cx="968375" cy="688975"/>
        </p:xfrm>
        <a:graphic>
          <a:graphicData uri="http://schemas.openxmlformats.org/presentationml/2006/ole">
            <mc:AlternateContent xmlns:mc="http://schemas.openxmlformats.org/markup-compatibility/2006">
              <mc:Choice xmlns:v="urn:schemas-microsoft-com:vml" Requires="v">
                <p:oleObj spid="_x0000_s91218" name="公式" r:id="rId7" imgW="571252" imgH="406224" progId="Equation.3">
                  <p:embed/>
                </p:oleObj>
              </mc:Choice>
              <mc:Fallback>
                <p:oleObj name="公式" r:id="rId7" imgW="571252" imgH="406224"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3438" y="5764213"/>
                        <a:ext cx="968375" cy="688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91147" name="Object 12"/>
          <p:cNvGraphicFramePr>
            <a:graphicFrameLocks noChangeAspect="1"/>
          </p:cNvGraphicFramePr>
          <p:nvPr/>
        </p:nvGraphicFramePr>
        <p:xfrm>
          <a:off x="4643438" y="-115888"/>
          <a:ext cx="4637087" cy="4413251"/>
        </p:xfrm>
        <a:graphic>
          <a:graphicData uri="http://schemas.openxmlformats.org/presentationml/2006/ole">
            <mc:AlternateContent xmlns:mc="http://schemas.openxmlformats.org/markup-compatibility/2006">
              <mc:Choice xmlns:v="urn:schemas-microsoft-com:vml" Requires="v">
                <p:oleObj spid="_x0000_s91219" name="Graph" r:id="rId9" imgW="3162605" imgH="3107741" progId="Origin50.Graph">
                  <p:embed/>
                </p:oleObj>
              </mc:Choice>
              <mc:Fallback>
                <p:oleObj name="Graph" r:id="rId9" imgW="3162605" imgH="3107741" progId="Origin50.Graph">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3438" y="-115888"/>
                        <a:ext cx="4637087" cy="4413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8" name="TextBox 12"/>
          <p:cNvSpPr txBox="1">
            <a:spLocks noChangeArrowheads="1"/>
          </p:cNvSpPr>
          <p:nvPr/>
        </p:nvSpPr>
        <p:spPr bwMode="auto">
          <a:xfrm>
            <a:off x="838200" y="384175"/>
            <a:ext cx="18653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400" b="1" i="1">
                <a:latin typeface="Arial" panose="020B0604020202020204" pitchFamily="34" charset="0"/>
                <a:ea typeface="宋体" panose="02010600030101010101" pitchFamily="2" charset="-122"/>
              </a:rPr>
              <a:t>r</a:t>
            </a:r>
            <a:r>
              <a:rPr lang="en-US" altLang="zh-CN" sz="2400" b="1" baseline="-25000">
                <a:latin typeface="Arial" panose="020B0604020202020204" pitchFamily="34" charset="0"/>
                <a:ea typeface="宋体" panose="02010600030101010101" pitchFamily="2" charset="-122"/>
              </a:rPr>
              <a:t>1</a:t>
            </a:r>
            <a:r>
              <a:rPr lang="en-US" altLang="zh-CN" sz="2400" b="1">
                <a:latin typeface="Arial" panose="020B0604020202020204" pitchFamily="34" charset="0"/>
                <a:ea typeface="宋体" panose="02010600030101010101" pitchFamily="2" charset="-122"/>
              </a:rPr>
              <a:t> &lt; 1, </a:t>
            </a:r>
            <a:r>
              <a:rPr lang="en-US" altLang="zh-CN" sz="2400" b="1" i="1">
                <a:latin typeface="Arial" panose="020B0604020202020204" pitchFamily="34" charset="0"/>
                <a:ea typeface="宋体" panose="02010600030101010101" pitchFamily="2" charset="-122"/>
              </a:rPr>
              <a:t>r</a:t>
            </a:r>
            <a:r>
              <a:rPr lang="en-US" altLang="zh-CN" sz="2400" b="1" baseline="-25000">
                <a:latin typeface="Arial" panose="020B0604020202020204" pitchFamily="34" charset="0"/>
                <a:ea typeface="宋体" panose="02010600030101010101" pitchFamily="2" charset="-122"/>
              </a:rPr>
              <a:t>2</a:t>
            </a:r>
            <a:r>
              <a:rPr lang="en-US" altLang="zh-CN" sz="2400" b="1">
                <a:latin typeface="Arial" panose="020B0604020202020204" pitchFamily="34" charset="0"/>
                <a:ea typeface="宋体" panose="02010600030101010101" pitchFamily="2" charset="-122"/>
              </a:rPr>
              <a:t> = 0</a:t>
            </a:r>
            <a:endParaRPr lang="zh-CN" altLang="en-US" sz="2400" b="1">
              <a:latin typeface="Arial" panose="020B0604020202020204" pitchFamily="34" charset="0"/>
              <a:ea typeface="宋体" panose="02010600030101010101" pitchFamily="2" charset="-122"/>
            </a:endParaRPr>
          </a:p>
        </p:txBody>
      </p:sp>
      <p:graphicFrame>
        <p:nvGraphicFramePr>
          <p:cNvPr id="13" name="Object 31"/>
          <p:cNvGraphicFramePr>
            <a:graphicFrameLocks noChangeAspect="1"/>
          </p:cNvGraphicFramePr>
          <p:nvPr/>
        </p:nvGraphicFramePr>
        <p:xfrm>
          <a:off x="903288" y="968375"/>
          <a:ext cx="2927350" cy="784225"/>
        </p:xfrm>
        <a:graphic>
          <a:graphicData uri="http://schemas.openxmlformats.org/presentationml/2006/ole">
            <mc:AlternateContent xmlns:mc="http://schemas.openxmlformats.org/markup-compatibility/2006">
              <mc:Choice xmlns:v="urn:schemas-microsoft-com:vml" Requires="v">
                <p:oleObj spid="_x0000_s91220" name="公式" r:id="rId11" imgW="1651000" imgH="444500" progId="Equation.3">
                  <p:embed/>
                </p:oleObj>
              </mc:Choice>
              <mc:Fallback>
                <p:oleObj name="公式" r:id="rId11" imgW="1651000" imgH="444500" progId="Equation.3">
                  <p:embed/>
                  <p:pic>
                    <p:nvPicPr>
                      <p:cNvPr id="0" name="Object 3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3288" y="968375"/>
                        <a:ext cx="2927350" cy="7842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50" name="矩形 13"/>
          <p:cNvSpPr>
            <a:spLocks noChangeArrowheads="1"/>
          </p:cNvSpPr>
          <p:nvPr/>
        </p:nvSpPr>
        <p:spPr bwMode="auto">
          <a:xfrm>
            <a:off x="2787650" y="420688"/>
            <a:ext cx="23399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a:solidFill>
                  <a:srgbClr val="00B050"/>
                </a:solidFill>
                <a:latin typeface="Arial" panose="020B0604020202020204" pitchFamily="34" charset="0"/>
                <a:ea typeface="楷体" panose="02010609060101010101" pitchFamily="49" charset="-122"/>
                <a:cs typeface="Arial" panose="020B0604020202020204" pitchFamily="34" charset="0"/>
              </a:rPr>
              <a:t>M1</a:t>
            </a:r>
            <a:r>
              <a:rPr lang="zh-CN" altLang="en-US" sz="2400">
                <a:solidFill>
                  <a:srgbClr val="00B050"/>
                </a:solidFill>
                <a:latin typeface="楷体" panose="02010609060101010101" pitchFamily="49" charset="-122"/>
                <a:ea typeface="楷体" panose="02010609060101010101" pitchFamily="49" charset="-122"/>
                <a:cs typeface="Arial" panose="020B0604020202020204" pitchFamily="34" charset="0"/>
              </a:rPr>
              <a:t>共聚倾向大</a:t>
            </a:r>
            <a:endParaRPr lang="en-US" altLang="zh-CN" sz="2400">
              <a:solidFill>
                <a:srgbClr val="00B050"/>
              </a:solidFill>
              <a:latin typeface="楷体" panose="02010609060101010101" pitchFamily="49" charset="-122"/>
              <a:ea typeface="楷体" panose="02010609060101010101" pitchFamily="49" charset="-122"/>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10" fill="hold"/>
                                        <p:tgtEl>
                                          <p:spTgt spid="13"/>
                                        </p:tgtEl>
                                        <p:attrNameLst>
                                          <p:attrName>ppt_x</p:attrName>
                                        </p:attrNameLst>
                                      </p:cBhvr>
                                      <p:tavLst>
                                        <p:tav tm="0">
                                          <p:val>
                                            <p:strVal val="#ppt_x"/>
                                          </p:val>
                                        </p:tav>
                                        <p:tav tm="100000">
                                          <p:val>
                                            <p:strVal val="#ppt_x"/>
                                          </p:val>
                                        </p:tav>
                                      </p:tavLst>
                                    </p:anim>
                                    <p:anim calcmode="lin" valueType="num">
                                      <p:cBhvr additive="base">
                                        <p:cTn id="8" dur="1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8" name="直接连接符 7">
            <a:extLst>
              <a:ext uri="{FF2B5EF4-FFF2-40B4-BE49-F238E27FC236}">
                <a16:creationId xmlns:a16="http://schemas.microsoft.com/office/drawing/2014/main" id="{E44461D3-C742-4D08-B191-4B1FA22CBC2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216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43E857B4-2446-4939-B8F5-8DBD2BAD3888}"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55</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92164" name="Text Box 2"/>
          <p:cNvSpPr txBox="1">
            <a:spLocks noChangeArrowheads="1"/>
          </p:cNvSpPr>
          <p:nvPr/>
        </p:nvSpPr>
        <p:spPr bwMode="auto">
          <a:xfrm>
            <a:off x="395288" y="381000"/>
            <a:ext cx="4191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400">
                <a:latin typeface="Arial" panose="020B0604020202020204" pitchFamily="34" charset="0"/>
                <a:ea typeface="宋体" panose="02010600030101010101" pitchFamily="2" charset="-122"/>
                <a:cs typeface="Arial" panose="020B0604020202020204" pitchFamily="34" charset="0"/>
              </a:rPr>
              <a:t>3</a:t>
            </a:r>
            <a:r>
              <a:rPr lang="en-US" altLang="zh-CN" sz="2400">
                <a:latin typeface="Arial" panose="020B0604020202020204" pitchFamily="34" charset="0"/>
                <a:ea typeface="宋体" panose="02010600030101010101" pitchFamily="2" charset="-122"/>
                <a:cs typeface="Arial" panose="020B0604020202020204" pitchFamily="34" charset="0"/>
              </a:rPr>
              <a:t>)</a:t>
            </a:r>
            <a:r>
              <a:rPr lang="zh-CN" altLang="en-US" sz="2400">
                <a:latin typeface="Arial" panose="020B0604020202020204" pitchFamily="34" charset="0"/>
                <a:ea typeface="宋体" panose="02010600030101010101" pitchFamily="2" charset="-122"/>
                <a:cs typeface="Arial" panose="020B0604020202020204" pitchFamily="34" charset="0"/>
              </a:rPr>
              <a:t>                      </a:t>
            </a:r>
            <a:r>
              <a:rPr lang="zh-CN" altLang="en-US" sz="2400">
                <a:latin typeface="楷体" panose="02010609060101010101" pitchFamily="49" charset="-122"/>
                <a:ea typeface="楷体" panose="02010609060101010101" pitchFamily="49" charset="-122"/>
                <a:cs typeface="Arial" panose="020B0604020202020204" pitchFamily="34" charset="0"/>
              </a:rPr>
              <a:t>(</a:t>
            </a:r>
            <a:r>
              <a:rPr lang="en-US" altLang="zh-CN" sz="2400">
                <a:latin typeface="楷体" panose="02010609060101010101" pitchFamily="49" charset="-122"/>
                <a:ea typeface="楷体" panose="02010609060101010101" pitchFamily="49" charset="-122"/>
                <a:cs typeface="Arial" panose="020B0604020202020204" pitchFamily="34" charset="0"/>
              </a:rPr>
              <a:t>r</a:t>
            </a:r>
            <a:r>
              <a:rPr lang="zh-CN" altLang="en-US" sz="2400">
                <a:latin typeface="楷体" panose="02010609060101010101" pitchFamily="49" charset="-122"/>
                <a:ea typeface="楷体" panose="02010609060101010101" pitchFamily="49" charset="-122"/>
                <a:cs typeface="Arial" panose="020B0604020202020204" pitchFamily="34" charset="0"/>
              </a:rPr>
              <a:t>值不太小)</a:t>
            </a:r>
          </a:p>
        </p:txBody>
      </p:sp>
      <p:graphicFrame>
        <p:nvGraphicFramePr>
          <p:cNvPr id="92165" name="Object 3"/>
          <p:cNvGraphicFramePr>
            <a:graphicFrameLocks noChangeAspect="1"/>
          </p:cNvGraphicFramePr>
          <p:nvPr/>
        </p:nvGraphicFramePr>
        <p:xfrm>
          <a:off x="911225" y="373063"/>
          <a:ext cx="1689100" cy="481012"/>
        </p:xfrm>
        <a:graphic>
          <a:graphicData uri="http://schemas.openxmlformats.org/presentationml/2006/ole">
            <mc:AlternateContent xmlns:mc="http://schemas.openxmlformats.org/markup-compatibility/2006">
              <mc:Choice xmlns:v="urn:schemas-microsoft-com:vml" Requires="v">
                <p:oleObj spid="_x0000_s92212" name="公式" r:id="rId3" imgW="748975" imgH="215806" progId="Equation.3">
                  <p:embed/>
                </p:oleObj>
              </mc:Choice>
              <mc:Fallback>
                <p:oleObj name="公式" r:id="rId3" imgW="748975" imgH="215806"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1225" y="373063"/>
                        <a:ext cx="1689100" cy="481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2166" name="Text Box 4"/>
          <p:cNvSpPr txBox="1">
            <a:spLocks noChangeArrowheads="1"/>
          </p:cNvSpPr>
          <p:nvPr/>
        </p:nvSpPr>
        <p:spPr bwMode="auto">
          <a:xfrm>
            <a:off x="457200" y="1666875"/>
            <a:ext cx="655320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30000"/>
              </a:lnSpc>
              <a:spcBef>
                <a:spcPct val="0"/>
              </a:spcBef>
              <a:buFontTx/>
              <a:buNone/>
            </a:pPr>
            <a:endParaRPr lang="zh-CN" altLang="en-US" sz="1800">
              <a:solidFill>
                <a:srgbClr val="000000"/>
              </a:solidFill>
              <a:latin typeface="Century Schoolbook" panose="02040604050505020304" pitchFamily="18" charset="0"/>
              <a:ea typeface="宋体" panose="02010600030101010101" pitchFamily="2" charset="-122"/>
            </a:endParaRPr>
          </a:p>
          <a:p>
            <a:pPr algn="just">
              <a:lnSpc>
                <a:spcPct val="130000"/>
              </a:lnSpc>
              <a:spcBef>
                <a:spcPct val="0"/>
              </a:spcBef>
              <a:buFontTx/>
              <a:buNone/>
            </a:pPr>
            <a:r>
              <a:rPr lang="zh-CN" altLang="en-US" sz="2400">
                <a:solidFill>
                  <a:srgbClr val="000000"/>
                </a:solidFill>
                <a:latin typeface="楷体" panose="02010609060101010101" pitchFamily="49" charset="-122"/>
                <a:ea typeface="楷体" panose="02010609060101010101" pitchFamily="49" charset="-122"/>
              </a:rPr>
              <a:t>组成曲线接近于对角线，几乎没有</a:t>
            </a:r>
          </a:p>
          <a:p>
            <a:pPr algn="just">
              <a:lnSpc>
                <a:spcPct val="130000"/>
              </a:lnSpc>
              <a:spcBef>
                <a:spcPct val="0"/>
              </a:spcBef>
              <a:buFontTx/>
              <a:buNone/>
            </a:pPr>
            <a:r>
              <a:rPr lang="zh-CN" altLang="en-US" sz="2400">
                <a:solidFill>
                  <a:srgbClr val="000000"/>
                </a:solidFill>
                <a:latin typeface="楷体" panose="02010609060101010101" pitchFamily="49" charset="-122"/>
                <a:ea typeface="楷体" panose="02010609060101010101" pitchFamily="49" charset="-122"/>
              </a:rPr>
              <a:t>水平部分</a:t>
            </a:r>
          </a:p>
          <a:p>
            <a:pPr algn="just">
              <a:lnSpc>
                <a:spcPct val="130000"/>
              </a:lnSpc>
              <a:spcBef>
                <a:spcPct val="0"/>
              </a:spcBef>
              <a:buFontTx/>
              <a:buNone/>
            </a:pPr>
            <a:r>
              <a:rPr lang="zh-CN" altLang="en-US" sz="2400">
                <a:solidFill>
                  <a:srgbClr val="FF0000"/>
                </a:solidFill>
                <a:latin typeface="楷体" panose="02010609060101010101" pitchFamily="49" charset="-122"/>
                <a:ea typeface="楷体" panose="02010609060101010101" pitchFamily="49" charset="-122"/>
              </a:rPr>
              <a:t>组成曲线与对角线有一个交叉点</a:t>
            </a:r>
          </a:p>
          <a:p>
            <a:pPr algn="just">
              <a:lnSpc>
                <a:spcPct val="130000"/>
              </a:lnSpc>
              <a:spcBef>
                <a:spcPct val="0"/>
              </a:spcBef>
              <a:buFontTx/>
              <a:buNone/>
            </a:pPr>
            <a:r>
              <a:rPr lang="zh-CN" altLang="en-US" sz="2400">
                <a:solidFill>
                  <a:srgbClr val="FF0000"/>
                </a:solidFill>
                <a:latin typeface="楷体" panose="02010609060101010101" pitchFamily="49" charset="-122"/>
                <a:ea typeface="楷体" panose="02010609060101010101" pitchFamily="49" charset="-122"/>
              </a:rPr>
              <a:t>得到无规共聚物        </a:t>
            </a:r>
          </a:p>
          <a:p>
            <a:pPr algn="just">
              <a:lnSpc>
                <a:spcPct val="130000"/>
              </a:lnSpc>
              <a:spcBef>
                <a:spcPct val="0"/>
              </a:spcBef>
              <a:buFontTx/>
              <a:buNone/>
            </a:pPr>
            <a:endParaRPr lang="zh-CN" altLang="en-US" sz="1800" b="1">
              <a:solidFill>
                <a:srgbClr val="000000"/>
              </a:solidFill>
              <a:latin typeface="Century Schoolbook" panose="02040604050505020304" pitchFamily="18" charset="0"/>
              <a:ea typeface="宋体" panose="02010600030101010101" pitchFamily="2" charset="-122"/>
            </a:endParaRPr>
          </a:p>
          <a:p>
            <a:pPr algn="just">
              <a:lnSpc>
                <a:spcPct val="130000"/>
              </a:lnSpc>
              <a:spcBef>
                <a:spcPct val="0"/>
              </a:spcBef>
              <a:buFontTx/>
              <a:buNone/>
            </a:pPr>
            <a:endParaRPr lang="zh-CN" altLang="en-US" sz="2400">
              <a:solidFill>
                <a:srgbClr val="000000"/>
              </a:solidFill>
              <a:latin typeface="楷体" panose="02010609060101010101" pitchFamily="49" charset="-122"/>
              <a:ea typeface="楷体" panose="02010609060101010101" pitchFamily="49" charset="-122"/>
            </a:endParaRPr>
          </a:p>
          <a:p>
            <a:pPr algn="just">
              <a:lnSpc>
                <a:spcPct val="130000"/>
              </a:lnSpc>
              <a:spcBef>
                <a:spcPct val="0"/>
              </a:spcBef>
              <a:buFontTx/>
              <a:buNone/>
            </a:pPr>
            <a:r>
              <a:rPr lang="zh-CN" altLang="en-US" sz="2400">
                <a:solidFill>
                  <a:srgbClr val="000000"/>
                </a:solidFill>
                <a:latin typeface="楷体" panose="02010609060101010101" pitchFamily="49" charset="-122"/>
                <a:ea typeface="楷体" panose="02010609060101010101" pitchFamily="49" charset="-122"/>
              </a:rPr>
              <a:t>例： 醋酸乙烯－醋酸丙烯的共聚</a:t>
            </a:r>
            <a:r>
              <a:rPr lang="en-US" altLang="zh-CN" sz="2400">
                <a:solidFill>
                  <a:srgbClr val="000000"/>
                </a:solidFill>
                <a:latin typeface="楷体" panose="02010609060101010101" pitchFamily="49" charset="-122"/>
                <a:ea typeface="楷体" panose="02010609060101010101" pitchFamily="49" charset="-122"/>
              </a:rPr>
              <a:t>(</a:t>
            </a:r>
            <a:r>
              <a:rPr lang="zh-CN" altLang="en-US" sz="2400">
                <a:solidFill>
                  <a:srgbClr val="000000"/>
                </a:solidFill>
                <a:latin typeface="楷体" panose="02010609060101010101" pitchFamily="49" charset="-122"/>
                <a:ea typeface="楷体" panose="02010609060101010101" pitchFamily="49" charset="-122"/>
              </a:rPr>
              <a:t>60℃</a:t>
            </a:r>
            <a:r>
              <a:rPr lang="en-US" altLang="zh-CN" sz="2400">
                <a:solidFill>
                  <a:srgbClr val="000000"/>
                </a:solidFill>
                <a:latin typeface="楷体" panose="02010609060101010101" pitchFamily="49" charset="-122"/>
                <a:ea typeface="楷体" panose="02010609060101010101" pitchFamily="49" charset="-122"/>
              </a:rPr>
              <a:t>)</a:t>
            </a:r>
            <a:endParaRPr lang="zh-CN" altLang="en-US" sz="1800" b="1">
              <a:latin typeface="Century Schoolbook" panose="02040604050505020304" pitchFamily="18" charset="0"/>
              <a:ea typeface="宋体" panose="02010600030101010101" pitchFamily="2" charset="-122"/>
            </a:endParaRPr>
          </a:p>
        </p:txBody>
      </p:sp>
      <p:pic>
        <p:nvPicPr>
          <p:cNvPr id="9216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9850" y="5614988"/>
            <a:ext cx="6094413"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2168" name="Object 8"/>
          <p:cNvGraphicFramePr>
            <a:graphicFrameLocks noChangeAspect="1"/>
          </p:cNvGraphicFramePr>
          <p:nvPr/>
        </p:nvGraphicFramePr>
        <p:xfrm>
          <a:off x="5416550" y="1143000"/>
          <a:ext cx="3062288" cy="2852738"/>
        </p:xfrm>
        <a:graphic>
          <a:graphicData uri="http://schemas.openxmlformats.org/presentationml/2006/ole">
            <mc:AlternateContent xmlns:mc="http://schemas.openxmlformats.org/markup-compatibility/2006">
              <mc:Choice xmlns:v="urn:schemas-microsoft-com:vml" Requires="v">
                <p:oleObj spid="_x0000_s92213" name="Graph" r:id="rId6" imgW="2693624" imgH="2517354" progId="Origin50.Graph">
                  <p:embed/>
                </p:oleObj>
              </mc:Choice>
              <mc:Fallback>
                <p:oleObj name="Graph" r:id="rId6" imgW="2693624" imgH="2517354" progId="Origin50.Graph">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6550" y="1143000"/>
                        <a:ext cx="3062288"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1"/>
          <p:cNvGraphicFramePr>
            <a:graphicFrameLocks noChangeAspect="1"/>
          </p:cNvGraphicFramePr>
          <p:nvPr/>
        </p:nvGraphicFramePr>
        <p:xfrm>
          <a:off x="903288" y="968375"/>
          <a:ext cx="2927350" cy="784225"/>
        </p:xfrm>
        <a:graphic>
          <a:graphicData uri="http://schemas.openxmlformats.org/presentationml/2006/ole">
            <mc:AlternateContent xmlns:mc="http://schemas.openxmlformats.org/markup-compatibility/2006">
              <mc:Choice xmlns:v="urn:schemas-microsoft-com:vml" Requires="v">
                <p:oleObj spid="_x0000_s92214" name="公式" r:id="rId8" imgW="1651000" imgH="444500" progId="Equation.3">
                  <p:embed/>
                </p:oleObj>
              </mc:Choice>
              <mc:Fallback>
                <p:oleObj name="公式" r:id="rId8" imgW="1651000" imgH="444500" progId="Equation.3">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3288" y="968375"/>
                        <a:ext cx="2927350" cy="7842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170" name="矩形 9"/>
          <p:cNvSpPr>
            <a:spLocks noChangeArrowheads="1"/>
          </p:cNvSpPr>
          <p:nvPr/>
        </p:nvSpPr>
        <p:spPr bwMode="auto">
          <a:xfrm>
            <a:off x="5224463" y="711200"/>
            <a:ext cx="4421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a:solidFill>
                  <a:srgbClr val="00B050"/>
                </a:solidFill>
                <a:latin typeface="Arial" panose="020B0604020202020204" pitchFamily="34" charset="0"/>
                <a:ea typeface="楷体" panose="02010609060101010101" pitchFamily="49" charset="-122"/>
                <a:cs typeface="Arial" panose="020B0604020202020204" pitchFamily="34" charset="0"/>
              </a:rPr>
              <a:t>M1</a:t>
            </a:r>
            <a:r>
              <a:rPr lang="zh-CN" altLang="en-US" sz="2400">
                <a:solidFill>
                  <a:srgbClr val="00B050"/>
                </a:solidFill>
                <a:latin typeface="Arial" panose="020B0604020202020204" pitchFamily="34" charset="0"/>
                <a:ea typeface="楷体" panose="02010609060101010101" pitchFamily="49" charset="-122"/>
                <a:cs typeface="Arial" panose="020B0604020202020204" pitchFamily="34" charset="0"/>
              </a:rPr>
              <a:t>和</a:t>
            </a:r>
            <a:r>
              <a:rPr lang="en-US" altLang="zh-CN" sz="2400">
                <a:solidFill>
                  <a:srgbClr val="00B050"/>
                </a:solidFill>
                <a:latin typeface="Arial" panose="020B0604020202020204" pitchFamily="34" charset="0"/>
                <a:ea typeface="楷体" panose="02010609060101010101" pitchFamily="49" charset="-122"/>
                <a:cs typeface="Arial" panose="020B0604020202020204" pitchFamily="34" charset="0"/>
              </a:rPr>
              <a:t>M2</a:t>
            </a:r>
            <a:r>
              <a:rPr lang="zh-CN" altLang="en-US" sz="2400">
                <a:solidFill>
                  <a:srgbClr val="00B050"/>
                </a:solidFill>
                <a:latin typeface="楷体" panose="02010609060101010101" pitchFamily="49" charset="-122"/>
                <a:ea typeface="楷体" panose="02010609060101010101" pitchFamily="49" charset="-122"/>
                <a:cs typeface="Arial" panose="020B0604020202020204" pitchFamily="34" charset="0"/>
              </a:rPr>
              <a:t>的共聚倾向均大</a:t>
            </a:r>
            <a:endParaRPr lang="en-US" altLang="zh-CN" sz="2400">
              <a:solidFill>
                <a:srgbClr val="00B050"/>
              </a:solidFill>
              <a:latin typeface="楷体" panose="02010609060101010101" pitchFamily="49" charset="-122"/>
              <a:ea typeface="楷体" panose="02010609060101010101" pitchFamily="49" charset="-122"/>
              <a:cs typeface="Arial" panose="020B0604020202020204" pitchFamily="34" charset="0"/>
            </a:endParaRPr>
          </a:p>
        </p:txBody>
      </p:sp>
      <p:sp>
        <p:nvSpPr>
          <p:cNvPr id="11" name="椭圆 10">
            <a:extLst>
              <a:ext uri="{FF2B5EF4-FFF2-40B4-BE49-F238E27FC236}">
                <a16:creationId xmlns:a16="http://schemas.microsoft.com/office/drawing/2014/main" id="{71526474-5BA1-4A2A-9D6A-B05DE61BD019}"/>
              </a:ext>
            </a:extLst>
          </p:cNvPr>
          <p:cNvSpPr/>
          <p:nvPr/>
        </p:nvSpPr>
        <p:spPr>
          <a:xfrm>
            <a:off x="7164388" y="2205038"/>
            <a:ext cx="144462" cy="14446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2172" name="TextBox 12"/>
          <p:cNvSpPr txBox="1">
            <a:spLocks noChangeArrowheads="1"/>
          </p:cNvSpPr>
          <p:nvPr/>
        </p:nvSpPr>
        <p:spPr bwMode="auto">
          <a:xfrm>
            <a:off x="4322763" y="323850"/>
            <a:ext cx="16573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400" b="1">
                <a:latin typeface="Arial" panose="020B0604020202020204" pitchFamily="34" charset="0"/>
                <a:ea typeface="宋体" panose="02010600030101010101" pitchFamily="2" charset="-122"/>
              </a:rPr>
              <a:t>(</a:t>
            </a:r>
            <a:r>
              <a:rPr lang="en-US" altLang="zh-CN" sz="2400" b="1" i="1">
                <a:latin typeface="Arial" panose="020B0604020202020204" pitchFamily="34" charset="0"/>
                <a:ea typeface="宋体" panose="02010600030101010101" pitchFamily="2" charset="-122"/>
              </a:rPr>
              <a:t>r</a:t>
            </a:r>
            <a:r>
              <a:rPr lang="en-US" altLang="zh-CN" sz="2400" b="1" baseline="-25000">
                <a:latin typeface="Arial" panose="020B0604020202020204" pitchFamily="34" charset="0"/>
                <a:ea typeface="宋体" panose="02010600030101010101" pitchFamily="2" charset="-122"/>
              </a:rPr>
              <a:t>1</a:t>
            </a:r>
            <a:r>
              <a:rPr lang="en-US" altLang="zh-CN" sz="2400" b="1">
                <a:latin typeface="Arial" panose="020B0604020202020204" pitchFamily="34" charset="0"/>
                <a:ea typeface="宋体" panose="02010600030101010101" pitchFamily="2" charset="-122"/>
              </a:rPr>
              <a:t> • </a:t>
            </a:r>
            <a:r>
              <a:rPr lang="en-US" altLang="zh-CN" sz="2400" b="1" i="1">
                <a:latin typeface="Arial" panose="020B0604020202020204" pitchFamily="34" charset="0"/>
                <a:ea typeface="宋体" panose="02010600030101010101" pitchFamily="2" charset="-122"/>
              </a:rPr>
              <a:t>r</a:t>
            </a:r>
            <a:r>
              <a:rPr lang="en-US" altLang="zh-CN" sz="2400" b="1" baseline="-25000">
                <a:latin typeface="Arial" panose="020B0604020202020204" pitchFamily="34" charset="0"/>
                <a:ea typeface="宋体" panose="02010600030101010101" pitchFamily="2" charset="-122"/>
              </a:rPr>
              <a:t>2</a:t>
            </a:r>
            <a:r>
              <a:rPr lang="en-US" altLang="zh-CN" sz="2400" b="1">
                <a:latin typeface="Arial" panose="020B0604020202020204" pitchFamily="34" charset="0"/>
                <a:ea typeface="宋体" panose="02010600030101010101" pitchFamily="2" charset="-122"/>
              </a:rPr>
              <a:t> &lt; 1)</a:t>
            </a:r>
            <a:endParaRPr lang="zh-CN" altLang="en-US" sz="2400" b="1">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 fill="hold"/>
                                        <p:tgtEl>
                                          <p:spTgt spid="9"/>
                                        </p:tgtEl>
                                        <p:attrNameLst>
                                          <p:attrName>ppt_x</p:attrName>
                                        </p:attrNameLst>
                                      </p:cBhvr>
                                      <p:tavLst>
                                        <p:tav tm="0">
                                          <p:val>
                                            <p:strVal val="#ppt_x"/>
                                          </p:val>
                                        </p:tav>
                                        <p:tav tm="100000">
                                          <p:val>
                                            <p:strVal val="#ppt_x"/>
                                          </p:val>
                                        </p:tav>
                                      </p:tavLst>
                                    </p:anim>
                                    <p:anim calcmode="lin" valueType="num">
                                      <p:cBhvr additive="base">
                                        <p:cTn id="8" dur="1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B1229721-F6C5-45BA-B22E-D924D2F160B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318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A065947-886C-449F-BC95-74DCF05F92CC}"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56</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93188" name="Object 4096"/>
          <p:cNvGraphicFramePr>
            <a:graphicFrameLocks noChangeAspect="1"/>
          </p:cNvGraphicFramePr>
          <p:nvPr/>
        </p:nvGraphicFramePr>
        <p:xfrm>
          <a:off x="1079500" y="409575"/>
          <a:ext cx="1606550" cy="482600"/>
        </p:xfrm>
        <a:graphic>
          <a:graphicData uri="http://schemas.openxmlformats.org/presentationml/2006/ole">
            <mc:AlternateContent xmlns:mc="http://schemas.openxmlformats.org/markup-compatibility/2006">
              <mc:Choice xmlns:v="urn:schemas-microsoft-com:vml" Requires="v">
                <p:oleObj spid="_x0000_s93224" name="公式" r:id="rId4" imgW="710891" imgH="215806" progId="Equation.3">
                  <p:embed/>
                </p:oleObj>
              </mc:Choice>
              <mc:Fallback>
                <p:oleObj name="公式" r:id="rId4" imgW="710891" imgH="215806" progId="Equation.3">
                  <p:embed/>
                  <p:pic>
                    <p:nvPicPr>
                      <p:cNvPr id="0" name="Object 409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9500" y="409575"/>
                        <a:ext cx="1606550" cy="48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3189" name="Text Box 3"/>
          <p:cNvSpPr txBox="1">
            <a:spLocks noChangeArrowheads="1"/>
          </p:cNvSpPr>
          <p:nvPr/>
        </p:nvSpPr>
        <p:spPr bwMode="auto">
          <a:xfrm>
            <a:off x="457200" y="409575"/>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Arial" panose="020B0604020202020204" pitchFamily="34" charset="0"/>
                <a:ea typeface="宋体" panose="02010600030101010101" pitchFamily="2" charset="-122"/>
                <a:cs typeface="Arial" panose="020B0604020202020204" pitchFamily="34" charset="0"/>
              </a:rPr>
              <a:t>4</a:t>
            </a:r>
            <a:r>
              <a:rPr lang="en-US" altLang="zh-CN" sz="2400">
                <a:latin typeface="Arial" panose="020B0604020202020204" pitchFamily="34" charset="0"/>
                <a:ea typeface="宋体" panose="02010600030101010101" pitchFamily="2" charset="-122"/>
                <a:cs typeface="Arial" panose="020B0604020202020204" pitchFamily="34" charset="0"/>
              </a:rPr>
              <a:t>)</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sp>
        <p:nvSpPr>
          <p:cNvPr id="93190" name="Text Box 10"/>
          <p:cNvSpPr txBox="1">
            <a:spLocks noChangeArrowheads="1"/>
          </p:cNvSpPr>
          <p:nvPr/>
        </p:nvSpPr>
        <p:spPr bwMode="auto">
          <a:xfrm>
            <a:off x="947738" y="1028700"/>
            <a:ext cx="472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序列分布特点： </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的序列长于</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p>
        </p:txBody>
      </p:sp>
      <p:pic>
        <p:nvPicPr>
          <p:cNvPr id="93191"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850" y="1843088"/>
            <a:ext cx="4724400"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60" name="Text Box 12">
            <a:extLst>
              <a:ext uri="{FF2B5EF4-FFF2-40B4-BE49-F238E27FC236}">
                <a16:creationId xmlns:a16="http://schemas.microsoft.com/office/drawing/2014/main" id="{F30335EB-35AC-4124-979E-C6FF05C091DB}"/>
              </a:ext>
            </a:extLst>
          </p:cNvPr>
          <p:cNvSpPr txBox="1">
            <a:spLocks noChangeArrowheads="1"/>
          </p:cNvSpPr>
          <p:nvPr/>
        </p:nvSpPr>
        <p:spPr bwMode="auto">
          <a:xfrm>
            <a:off x="628650" y="2781300"/>
            <a:ext cx="8047038"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10000"/>
              </a:lnSpc>
              <a:spcBef>
                <a:spcPct val="0"/>
              </a:spcBef>
              <a:buFontTx/>
              <a:buNone/>
              <a:defRPr/>
            </a:pPr>
            <a:r>
              <a:rPr lang="zh-CN" altLang="en-US" sz="2000" dirty="0">
                <a:solidFill>
                  <a:srgbClr val="000000"/>
                </a:solidFill>
                <a:latin typeface="Arial" panose="020B0604020202020204" pitchFamily="34" charset="0"/>
                <a:ea typeface="楷体" panose="02010609060101010101" pitchFamily="49" charset="-122"/>
                <a:cs typeface="Arial" panose="020B0604020202020204" pitchFamily="34" charset="0"/>
              </a:rPr>
              <a:t>共聚曲线在对角线上方，</a:t>
            </a:r>
          </a:p>
          <a:p>
            <a:pPr algn="just">
              <a:lnSpc>
                <a:spcPct val="110000"/>
              </a:lnSpc>
              <a:spcBef>
                <a:spcPct val="0"/>
              </a:spcBef>
              <a:buFontTx/>
              <a:buNone/>
              <a:defRPr/>
            </a:pPr>
            <a:r>
              <a:rPr lang="zh-CN" altLang="en-US" sz="2000" dirty="0">
                <a:solidFill>
                  <a:srgbClr val="000000"/>
                </a:solidFill>
                <a:latin typeface="Arial" panose="020B0604020202020204" pitchFamily="34" charset="0"/>
                <a:ea typeface="楷体" panose="02010609060101010101" pitchFamily="49" charset="-122"/>
                <a:cs typeface="Arial" panose="020B0604020202020204" pitchFamily="34" charset="0"/>
              </a:rPr>
              <a:t>但与理想共聚不同，曲线不对称。</a:t>
            </a:r>
          </a:p>
          <a:p>
            <a:pPr algn="just">
              <a:lnSpc>
                <a:spcPct val="110000"/>
              </a:lnSpc>
              <a:spcBef>
                <a:spcPct val="0"/>
              </a:spcBef>
              <a:buFontTx/>
              <a:buNone/>
              <a:defRPr/>
            </a:pPr>
            <a:r>
              <a:rPr lang="en-US" altLang="zh-CN" sz="2000" dirty="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dirty="0">
                <a:solidFill>
                  <a:srgbClr val="000000"/>
                </a:solidFill>
                <a:latin typeface="Arial" panose="020B0604020202020204" pitchFamily="34" charset="0"/>
                <a:ea typeface="楷体" panose="02010609060101010101" pitchFamily="49" charset="-122"/>
                <a:cs typeface="Arial" panose="020B0604020202020204" pitchFamily="34" charset="0"/>
              </a:rPr>
              <a:t>, r</a:t>
            </a:r>
            <a:r>
              <a:rPr lang="en-US" altLang="zh-CN" sz="2000" baseline="-25000" dirty="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000" dirty="0">
                <a:solidFill>
                  <a:srgbClr val="000000"/>
                </a:solidFill>
                <a:latin typeface="Arial" panose="020B0604020202020204" pitchFamily="34" charset="0"/>
                <a:ea typeface="楷体" panose="02010609060101010101" pitchFamily="49" charset="-122"/>
                <a:cs typeface="Arial" panose="020B0604020202020204" pitchFamily="34" charset="0"/>
              </a:rPr>
              <a:t> </a:t>
            </a:r>
            <a:r>
              <a:rPr lang="zh-CN" altLang="en-US" sz="2000" dirty="0">
                <a:solidFill>
                  <a:srgbClr val="000000"/>
                </a:solidFill>
                <a:latin typeface="Arial" panose="020B0604020202020204" pitchFamily="34" charset="0"/>
                <a:ea typeface="楷体" panose="02010609060101010101" pitchFamily="49" charset="-122"/>
                <a:cs typeface="Arial" panose="020B0604020202020204" pitchFamily="34" charset="0"/>
              </a:rPr>
              <a:t>相差越大，偏离对角线越远。</a:t>
            </a:r>
          </a:p>
          <a:p>
            <a:pPr algn="just">
              <a:lnSpc>
                <a:spcPct val="110000"/>
              </a:lnSpc>
              <a:spcBef>
                <a:spcPct val="0"/>
              </a:spcBef>
              <a:buFontTx/>
              <a:buNone/>
              <a:defRPr/>
            </a:pPr>
            <a:endParaRPr lang="zh-CN" altLang="en-US" sz="1800" dirty="0">
              <a:solidFill>
                <a:srgbClr val="000000"/>
              </a:solidFill>
              <a:latin typeface="Arial" panose="020B0604020202020204" pitchFamily="34" charset="0"/>
              <a:ea typeface="楷体" panose="02010609060101010101" pitchFamily="49" charset="-122"/>
              <a:cs typeface="Arial" panose="020B0604020202020204" pitchFamily="34" charset="0"/>
            </a:endParaRPr>
          </a:p>
          <a:p>
            <a:pPr algn="just">
              <a:lnSpc>
                <a:spcPct val="110000"/>
              </a:lnSpc>
              <a:spcBef>
                <a:spcPct val="0"/>
              </a:spcBef>
              <a:buFontTx/>
              <a:buNone/>
              <a:defRPr/>
            </a:pPr>
            <a:r>
              <a:rPr lang="zh-CN" altLang="en-US" sz="1800" dirty="0">
                <a:solidFill>
                  <a:srgbClr val="000000"/>
                </a:solidFill>
                <a:latin typeface="Arial" panose="020B0604020202020204" pitchFamily="34" charset="0"/>
                <a:ea typeface="楷体" panose="02010609060101010101" pitchFamily="49" charset="-122"/>
                <a:cs typeface="Arial" panose="020B0604020202020204" pitchFamily="34" charset="0"/>
              </a:rPr>
              <a:t>例： </a:t>
            </a: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rPr>
              <a:t>VC</a:t>
            </a:r>
            <a:r>
              <a:rPr lang="zh-CN" altLang="en-US" sz="1800" dirty="0">
                <a:solidFill>
                  <a:srgbClr val="000000"/>
                </a:solidFill>
                <a:latin typeface="Arial" panose="020B0604020202020204" pitchFamily="34" charset="0"/>
                <a:ea typeface="楷体" panose="02010609060101010101" pitchFamily="49" charset="-122"/>
                <a:cs typeface="Arial" panose="020B0604020202020204" pitchFamily="34" charset="0"/>
              </a:rPr>
              <a:t>与</a:t>
            </a: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rPr>
              <a:t>VAc</a:t>
            </a:r>
            <a:r>
              <a:rPr lang="zh-CN" altLang="en-US" sz="1800" dirty="0">
                <a:solidFill>
                  <a:srgbClr val="000000"/>
                </a:solidFill>
                <a:latin typeface="Arial" panose="020B0604020202020204" pitchFamily="34" charset="0"/>
                <a:ea typeface="楷体" panose="02010609060101010101" pitchFamily="49" charset="-122"/>
                <a:cs typeface="Arial" panose="020B0604020202020204" pitchFamily="34" charset="0"/>
              </a:rPr>
              <a:t>共聚</a:t>
            </a:r>
          </a:p>
          <a:p>
            <a:pPr algn="just">
              <a:lnSpc>
                <a:spcPct val="110000"/>
              </a:lnSpc>
              <a:spcBef>
                <a:spcPct val="0"/>
              </a:spcBef>
              <a:buFontTx/>
              <a:buNone/>
              <a:defRPr/>
            </a:pP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1800" baseline="-25000" dirty="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rPr>
              <a:t>= 1.68,  r</a:t>
            </a:r>
            <a:r>
              <a:rPr lang="en-US" altLang="zh-CN" sz="1800" baseline="-25000" dirty="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rPr>
              <a:t>= 0.23    r</a:t>
            </a:r>
            <a:r>
              <a:rPr lang="en-US" altLang="zh-CN" sz="1800" baseline="-25000" dirty="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1800" baseline="-25000" dirty="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en-US" altLang="zh-CN" sz="1800" dirty="0">
                <a:solidFill>
                  <a:srgbClr val="000000"/>
                </a:solidFill>
                <a:latin typeface="Arial" panose="020B0604020202020204" pitchFamily="34" charset="0"/>
                <a:ea typeface="楷体" panose="02010609060101010101" pitchFamily="49" charset="-122"/>
                <a:cs typeface="Arial" panose="020B0604020202020204" pitchFamily="34" charset="0"/>
              </a:rPr>
              <a:t>= 0.39 &lt;1</a:t>
            </a:r>
          </a:p>
          <a:p>
            <a:pPr algn="just">
              <a:lnSpc>
                <a:spcPct val="110000"/>
              </a:lnSpc>
              <a:spcBef>
                <a:spcPct val="40000"/>
              </a:spcBef>
              <a:buFontTx/>
              <a:buNone/>
              <a:defRPr/>
            </a:pPr>
            <a:endParaRPr lang="en-US" altLang="zh-CN" sz="1900" dirty="0">
              <a:solidFill>
                <a:srgbClr val="CC3300"/>
              </a:solidFill>
              <a:latin typeface="Arial" panose="020B0604020202020204" pitchFamily="34" charset="0"/>
              <a:ea typeface="楷体" panose="02010609060101010101" pitchFamily="49" charset="-122"/>
              <a:cs typeface="Arial" panose="020B0604020202020204" pitchFamily="34" charset="0"/>
            </a:endParaRPr>
          </a:p>
          <a:p>
            <a:pPr algn="just">
              <a:lnSpc>
                <a:spcPct val="110000"/>
              </a:lnSpc>
              <a:spcBef>
                <a:spcPct val="40000"/>
              </a:spcBef>
              <a:buFontTx/>
              <a:buNone/>
              <a:defRPr/>
            </a:pPr>
            <a:r>
              <a:rPr lang="zh-CN" altLang="en-US" sz="1900" dirty="0">
                <a:solidFill>
                  <a:srgbClr val="FF0000"/>
                </a:solidFill>
                <a:latin typeface="Arial" panose="020B0604020202020204" pitchFamily="34" charset="0"/>
                <a:ea typeface="楷体" panose="02010609060101010101" pitchFamily="49" charset="-122"/>
                <a:cs typeface="Arial" panose="020B0604020202020204" pitchFamily="34" charset="0"/>
              </a:rPr>
              <a:t>总体特点：不是很好的共聚体系，</a:t>
            </a:r>
            <a:r>
              <a:rPr lang="en-US" altLang="zh-CN" sz="1800" dirty="0">
                <a:solidFill>
                  <a:srgbClr val="FF0000"/>
                </a:solidFill>
                <a:latin typeface="Arial" panose="020B0604020202020204" pitchFamily="34" charset="0"/>
                <a:ea typeface="楷体" panose="02010609060101010101" pitchFamily="49" charset="-122"/>
                <a:cs typeface="Arial" panose="020B0604020202020204" pitchFamily="34" charset="0"/>
              </a:rPr>
              <a:t>r</a:t>
            </a:r>
            <a:r>
              <a:rPr lang="en-US" altLang="zh-CN" sz="1800" baseline="-25000" dirty="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1800" dirty="0">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1800" dirty="0">
                <a:solidFill>
                  <a:srgbClr val="FF0000"/>
                </a:solidFill>
                <a:latin typeface="Arial" panose="020B0604020202020204" pitchFamily="34" charset="0"/>
                <a:ea typeface="楷体" panose="02010609060101010101" pitchFamily="49" charset="-122"/>
                <a:cs typeface="Arial" panose="020B0604020202020204" pitchFamily="34" charset="0"/>
              </a:rPr>
              <a:t>r</a:t>
            </a:r>
            <a:r>
              <a:rPr lang="en-US" altLang="zh-CN" sz="1800" baseline="-25000" dirty="0">
                <a:solidFill>
                  <a:srgbClr val="FF0000"/>
                </a:solidFill>
                <a:latin typeface="Arial" panose="020B0604020202020204" pitchFamily="34" charset="0"/>
                <a:ea typeface="楷体" panose="02010609060101010101" pitchFamily="49" charset="-122"/>
                <a:cs typeface="Arial" panose="020B0604020202020204" pitchFamily="34" charset="0"/>
              </a:rPr>
              <a:t>2   </a:t>
            </a:r>
            <a:r>
              <a:rPr lang="zh-CN" altLang="en-US" sz="1800" dirty="0">
                <a:solidFill>
                  <a:srgbClr val="FF0000"/>
                </a:solidFill>
                <a:latin typeface="Arial" panose="020B0604020202020204" pitchFamily="34" charset="0"/>
                <a:ea typeface="楷体" panose="02010609060101010101" pitchFamily="49" charset="-122"/>
                <a:cs typeface="Arial" panose="020B0604020202020204" pitchFamily="34" charset="0"/>
              </a:rPr>
              <a:t>差别太大时，</a:t>
            </a:r>
            <a:r>
              <a:rPr lang="zh-CN" altLang="en-US" sz="1900" dirty="0">
                <a:solidFill>
                  <a:srgbClr val="FF0000"/>
                </a:solidFill>
                <a:latin typeface="Arial" panose="020B0604020202020204" pitchFamily="34" charset="0"/>
                <a:ea typeface="楷体" panose="02010609060101010101" pitchFamily="49" charset="-122"/>
                <a:cs typeface="Arial" panose="020B0604020202020204" pitchFamily="34" charset="0"/>
              </a:rPr>
              <a:t>生成</a:t>
            </a:r>
            <a:r>
              <a:rPr lang="zh-CN" altLang="en-US" sz="2000" b="1" dirty="0">
                <a:solidFill>
                  <a:srgbClr val="3366FF"/>
                </a:solidFill>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rPr>
              <a:t>嵌均共聚物</a:t>
            </a:r>
            <a:endParaRPr lang="zh-CN" altLang="en-US" sz="1900" b="1" dirty="0">
              <a:solidFill>
                <a:srgbClr val="CC3300"/>
              </a:solidFill>
              <a:effectLst>
                <a:outerShdw blurRad="38100" dist="38100" dir="2700000" algn="tl">
                  <a:srgbClr val="000000">
                    <a:alpha val="43137"/>
                  </a:srgbClr>
                </a:outerShdw>
              </a:effectLst>
              <a:latin typeface="Arial" panose="020B0604020202020204" pitchFamily="34" charset="0"/>
              <a:ea typeface="楷体" panose="02010609060101010101" pitchFamily="49" charset="-122"/>
              <a:cs typeface="Arial" panose="020B0604020202020204" pitchFamily="34" charset="0"/>
            </a:endParaRPr>
          </a:p>
        </p:txBody>
      </p:sp>
      <p:graphicFrame>
        <p:nvGraphicFramePr>
          <p:cNvPr id="93193" name="Object 4097"/>
          <p:cNvGraphicFramePr>
            <a:graphicFrameLocks noChangeAspect="1"/>
          </p:cNvGraphicFramePr>
          <p:nvPr/>
        </p:nvGraphicFramePr>
        <p:xfrm>
          <a:off x="4949825" y="993775"/>
          <a:ext cx="3849688" cy="3886200"/>
        </p:xfrm>
        <a:graphic>
          <a:graphicData uri="http://schemas.openxmlformats.org/presentationml/2006/ole">
            <mc:AlternateContent xmlns:mc="http://schemas.openxmlformats.org/markup-compatibility/2006">
              <mc:Choice xmlns:v="urn:schemas-microsoft-com:vml" Requires="v">
                <p:oleObj spid="_x0000_s93225" name="Graph" r:id="rId7" imgW="2693624" imgH="2495320" progId="Origin50.Graph">
                  <p:embed/>
                </p:oleObj>
              </mc:Choice>
              <mc:Fallback>
                <p:oleObj name="Graph" r:id="rId7" imgW="2693624" imgH="2495320" progId="Origin50.Graph">
                  <p:embed/>
                  <p:pic>
                    <p:nvPicPr>
                      <p:cNvPr id="0" name="Object 409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49825" y="993775"/>
                        <a:ext cx="3849688"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3" name="直接连接符 2">
            <a:extLst>
              <a:ext uri="{FF2B5EF4-FFF2-40B4-BE49-F238E27FC236}">
                <a16:creationId xmlns:a16="http://schemas.microsoft.com/office/drawing/2014/main" id="{7FB92C23-7C5B-4CF1-957F-83AE356D97B2}"/>
              </a:ext>
            </a:extLst>
          </p:cNvPr>
          <p:cNvCxnSpPr>
            <a:cxnSpLocks/>
          </p:cNvCxnSpPr>
          <p:nvPr/>
        </p:nvCxnSpPr>
        <p:spPr>
          <a:xfrm flipV="1">
            <a:off x="6156325" y="2400300"/>
            <a:ext cx="0" cy="1892300"/>
          </a:xfrm>
          <a:prstGeom prst="line">
            <a:avLst/>
          </a:prstGeom>
          <a:ln w="28575">
            <a:solidFill>
              <a:srgbClr val="7EF741"/>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BC46132D-E9B2-41B4-B229-881E823E1EEE}"/>
              </a:ext>
            </a:extLst>
          </p:cNvPr>
          <p:cNvCxnSpPr>
            <a:cxnSpLocks/>
          </p:cNvCxnSpPr>
          <p:nvPr/>
        </p:nvCxnSpPr>
        <p:spPr>
          <a:xfrm>
            <a:off x="5672138" y="2781300"/>
            <a:ext cx="412750" cy="287338"/>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93196" name="矩形 7"/>
          <p:cNvSpPr>
            <a:spLocks noChangeArrowheads="1"/>
          </p:cNvSpPr>
          <p:nvPr/>
        </p:nvSpPr>
        <p:spPr bwMode="auto">
          <a:xfrm>
            <a:off x="4381500" y="406400"/>
            <a:ext cx="53292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a:solidFill>
                  <a:srgbClr val="00B050"/>
                </a:solidFill>
                <a:latin typeface="Arial" panose="020B0604020202020204" pitchFamily="34" charset="0"/>
                <a:ea typeface="楷体" panose="02010609060101010101" pitchFamily="49" charset="-122"/>
                <a:cs typeface="Arial" panose="020B0604020202020204" pitchFamily="34" charset="0"/>
              </a:rPr>
              <a:t>M1</a:t>
            </a:r>
            <a:r>
              <a:rPr lang="zh-CN" altLang="en-US" sz="2400">
                <a:solidFill>
                  <a:srgbClr val="00B050"/>
                </a:solidFill>
                <a:latin typeface="Arial" panose="020B0604020202020204" pitchFamily="34" charset="0"/>
                <a:ea typeface="楷体" panose="02010609060101010101" pitchFamily="49" charset="-122"/>
                <a:cs typeface="Arial" panose="020B0604020202020204" pitchFamily="34" charset="0"/>
              </a:rPr>
              <a:t>的自聚倾向大，</a:t>
            </a:r>
            <a:r>
              <a:rPr lang="en-US" altLang="zh-CN" sz="2400">
                <a:solidFill>
                  <a:srgbClr val="00B050"/>
                </a:solidFill>
                <a:latin typeface="Arial" panose="020B0604020202020204" pitchFamily="34" charset="0"/>
                <a:ea typeface="楷体" panose="02010609060101010101" pitchFamily="49" charset="-122"/>
                <a:cs typeface="Arial" panose="020B0604020202020204" pitchFamily="34" charset="0"/>
              </a:rPr>
              <a:t>M2</a:t>
            </a:r>
            <a:r>
              <a:rPr lang="zh-CN" altLang="en-US" sz="2400">
                <a:solidFill>
                  <a:srgbClr val="00B050"/>
                </a:solidFill>
                <a:latin typeface="楷体" panose="02010609060101010101" pitchFamily="49" charset="-122"/>
                <a:ea typeface="楷体" panose="02010609060101010101" pitchFamily="49" charset="-122"/>
                <a:cs typeface="Arial" panose="020B0604020202020204" pitchFamily="34" charset="0"/>
              </a:rPr>
              <a:t>共聚倾向大。</a:t>
            </a:r>
            <a:endParaRPr lang="en-US" altLang="zh-CN" sz="2400">
              <a:solidFill>
                <a:srgbClr val="00B050"/>
              </a:solidFill>
              <a:latin typeface="楷体" panose="02010609060101010101" pitchFamily="49" charset="-122"/>
              <a:ea typeface="楷体" panose="02010609060101010101" pitchFamily="49" charset="-122"/>
              <a:cs typeface="Arial" panose="020B0604020202020204" pitchFamily="34" charset="0"/>
            </a:endParaRPr>
          </a:p>
        </p:txBody>
      </p:sp>
      <p:sp>
        <p:nvSpPr>
          <p:cNvPr id="93197" name="TextBox 12"/>
          <p:cNvSpPr txBox="1">
            <a:spLocks noChangeArrowheads="1"/>
          </p:cNvSpPr>
          <p:nvPr/>
        </p:nvSpPr>
        <p:spPr bwMode="auto">
          <a:xfrm>
            <a:off x="2657475" y="398463"/>
            <a:ext cx="16557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400" b="1">
                <a:latin typeface="Arial" panose="020B0604020202020204" pitchFamily="34" charset="0"/>
                <a:ea typeface="宋体" panose="02010600030101010101" pitchFamily="2" charset="-122"/>
              </a:rPr>
              <a:t>(</a:t>
            </a:r>
            <a:r>
              <a:rPr lang="en-US" altLang="zh-CN" sz="2400" b="1" i="1">
                <a:latin typeface="Arial" panose="020B0604020202020204" pitchFamily="34" charset="0"/>
                <a:ea typeface="宋体" panose="02010600030101010101" pitchFamily="2" charset="-122"/>
              </a:rPr>
              <a:t>r</a:t>
            </a:r>
            <a:r>
              <a:rPr lang="en-US" altLang="zh-CN" sz="2400" b="1" baseline="-25000">
                <a:latin typeface="Arial" panose="020B0604020202020204" pitchFamily="34" charset="0"/>
                <a:ea typeface="宋体" panose="02010600030101010101" pitchFamily="2" charset="-122"/>
              </a:rPr>
              <a:t>1</a:t>
            </a:r>
            <a:r>
              <a:rPr lang="en-US" altLang="zh-CN" sz="2400" b="1">
                <a:latin typeface="Arial" panose="020B0604020202020204" pitchFamily="34" charset="0"/>
                <a:ea typeface="宋体" panose="02010600030101010101" pitchFamily="2" charset="-122"/>
              </a:rPr>
              <a:t> • </a:t>
            </a:r>
            <a:r>
              <a:rPr lang="en-US" altLang="zh-CN" sz="2400" b="1" i="1">
                <a:latin typeface="Arial" panose="020B0604020202020204" pitchFamily="34" charset="0"/>
                <a:ea typeface="宋体" panose="02010600030101010101" pitchFamily="2" charset="-122"/>
              </a:rPr>
              <a:t>r</a:t>
            </a:r>
            <a:r>
              <a:rPr lang="en-US" altLang="zh-CN" sz="2400" b="1" baseline="-25000">
                <a:latin typeface="Arial" panose="020B0604020202020204" pitchFamily="34" charset="0"/>
                <a:ea typeface="宋体" panose="02010600030101010101" pitchFamily="2" charset="-122"/>
              </a:rPr>
              <a:t>2</a:t>
            </a:r>
            <a:r>
              <a:rPr lang="en-US" altLang="zh-CN" sz="2400" b="1">
                <a:latin typeface="Arial" panose="020B0604020202020204" pitchFamily="34" charset="0"/>
                <a:ea typeface="宋体" panose="02010600030101010101" pitchFamily="2" charset="-122"/>
              </a:rPr>
              <a:t> &lt; 1)</a:t>
            </a:r>
            <a:endParaRPr lang="zh-CN" altLang="en-US" sz="2400" b="1">
              <a:latin typeface="Arial" panose="020B060402020202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D05148BB-3DB8-4674-BBB7-2239007B885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523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996951E-EC21-4577-8168-7FB8896BF9C4}"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57</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95236" name="Text Box 2"/>
          <p:cNvSpPr txBox="1">
            <a:spLocks noChangeArrowheads="1"/>
          </p:cNvSpPr>
          <p:nvPr/>
        </p:nvSpPr>
        <p:spPr bwMode="auto">
          <a:xfrm>
            <a:off x="285750" y="400050"/>
            <a:ext cx="5334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Arial" panose="020B0604020202020204" pitchFamily="34" charset="0"/>
                <a:ea typeface="宋体" panose="02010600030101010101" pitchFamily="2" charset="-122"/>
                <a:cs typeface="Arial" panose="020B0604020202020204" pitchFamily="34" charset="0"/>
              </a:rPr>
              <a:t>5)</a:t>
            </a:r>
          </a:p>
        </p:txBody>
      </p:sp>
      <p:sp>
        <p:nvSpPr>
          <p:cNvPr id="95237" name="Text Box 7"/>
          <p:cNvSpPr txBox="1">
            <a:spLocks noChangeArrowheads="1"/>
          </p:cNvSpPr>
          <p:nvPr/>
        </p:nvSpPr>
        <p:spPr bwMode="auto">
          <a:xfrm>
            <a:off x="363538" y="1096963"/>
            <a:ext cx="4895850" cy="298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400">
                <a:solidFill>
                  <a:srgbClr val="00B050"/>
                </a:solidFill>
                <a:latin typeface="楷体" panose="02010609060101010101" pitchFamily="49" charset="-122"/>
                <a:ea typeface="楷体" panose="02010609060101010101" pitchFamily="49" charset="-122"/>
                <a:cs typeface="Arial" panose="020B0604020202020204" pitchFamily="34" charset="0"/>
              </a:rPr>
              <a:t>两种单体的自聚倾向均大于共聚倾向</a:t>
            </a:r>
            <a:endParaRPr lang="en-US" altLang="zh-CN" sz="2400">
              <a:solidFill>
                <a:srgbClr val="00B050"/>
              </a:solidFill>
              <a:latin typeface="楷体" panose="02010609060101010101" pitchFamily="49" charset="-122"/>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楷体" panose="02010609060101010101" pitchFamily="49" charset="-122"/>
              <a:ea typeface="楷体" panose="02010609060101010101" pitchFamily="49" charset="-122"/>
              <a:cs typeface="Arial" panose="020B0604020202020204" pitchFamily="34" charset="0"/>
            </a:endParaRPr>
          </a:p>
          <a:p>
            <a:pPr algn="just">
              <a:lnSpc>
                <a:spcPct val="100000"/>
              </a:lnSpc>
              <a:spcBef>
                <a:spcPct val="0"/>
              </a:spcBef>
              <a:buFontTx/>
              <a:buNone/>
            </a:pPr>
            <a:r>
              <a:rPr lang="zh-CN" altLang="en-US" sz="2000">
                <a:solidFill>
                  <a:srgbClr val="FF0000"/>
                </a:solidFill>
                <a:latin typeface="楷体" panose="02010609060101010101" pitchFamily="49" charset="-122"/>
                <a:ea typeface="楷体" panose="02010609060101010101" pitchFamily="49" charset="-122"/>
                <a:cs typeface="Arial" panose="020B0604020202020204" pitchFamily="34" charset="0"/>
              </a:rPr>
              <a:t>共聚比均聚难；</a:t>
            </a:r>
          </a:p>
          <a:p>
            <a:pPr algn="just">
              <a:lnSpc>
                <a:spcPct val="100000"/>
              </a:lnSpc>
              <a:spcBef>
                <a:spcPct val="0"/>
              </a:spcBef>
              <a:buFontTx/>
              <a:buNone/>
            </a:pPr>
            <a:endParaRPr lang="zh-CN" altLang="en-US" sz="2000">
              <a:solidFill>
                <a:srgbClr val="000000"/>
              </a:solidFill>
              <a:latin typeface="楷体" panose="02010609060101010101" pitchFamily="49" charset="-122"/>
              <a:ea typeface="楷体" panose="02010609060101010101" pitchFamily="49" charset="-122"/>
              <a:cs typeface="Arial" panose="020B0604020202020204" pitchFamily="34" charset="0"/>
            </a:endParaRPr>
          </a:p>
          <a:p>
            <a:pPr algn="just">
              <a:lnSpc>
                <a:spcPct val="100000"/>
              </a:lnSpc>
              <a:spcBef>
                <a:spcPct val="0"/>
              </a:spcBef>
              <a:buFontTx/>
              <a:buNone/>
            </a:pPr>
            <a:r>
              <a:rPr lang="zh-CN" altLang="en-US" sz="2000" b="1">
                <a:solidFill>
                  <a:srgbClr val="FF0000"/>
                </a:solidFill>
                <a:latin typeface="楷体" panose="02010609060101010101" pitchFamily="49" charset="-122"/>
                <a:ea typeface="楷体" panose="02010609060101010101" pitchFamily="49" charset="-122"/>
                <a:cs typeface="Arial" panose="020B0604020202020204" pitchFamily="34" charset="0"/>
              </a:rPr>
              <a:t>产物为多嵌段共聚物或均聚物的混合物。</a:t>
            </a:r>
            <a:endParaRPr lang="en-US" altLang="zh-CN" sz="2000" b="1">
              <a:solidFill>
                <a:srgbClr val="FF0000"/>
              </a:solidFill>
              <a:latin typeface="楷体" panose="02010609060101010101" pitchFamily="49" charset="-122"/>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b="1">
              <a:solidFill>
                <a:srgbClr val="FF0000"/>
              </a:solidFill>
              <a:latin typeface="楷体" panose="02010609060101010101" pitchFamily="49" charset="-122"/>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组成曲线与</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&lt;1,r</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&lt;1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相反，具有恒份点。</a:t>
            </a:r>
          </a:p>
        </p:txBody>
      </p:sp>
      <p:graphicFrame>
        <p:nvGraphicFramePr>
          <p:cNvPr id="95238" name="Object 8"/>
          <p:cNvGraphicFramePr>
            <a:graphicFrameLocks noChangeAspect="1"/>
          </p:cNvGraphicFramePr>
          <p:nvPr/>
        </p:nvGraphicFramePr>
        <p:xfrm>
          <a:off x="804863" y="349250"/>
          <a:ext cx="2733675" cy="514350"/>
        </p:xfrm>
        <a:graphic>
          <a:graphicData uri="http://schemas.openxmlformats.org/presentationml/2006/ole">
            <mc:AlternateContent xmlns:mc="http://schemas.openxmlformats.org/markup-compatibility/2006">
              <mc:Choice xmlns:v="urn:schemas-microsoft-com:vml" Requires="v">
                <p:oleObj spid="_x0000_s95274" name="公式" r:id="rId3" imgW="1206500" imgH="228600" progId="Equation.3">
                  <p:embed/>
                </p:oleObj>
              </mc:Choice>
              <mc:Fallback>
                <p:oleObj name="公式" r:id="rId3" imgW="1206500" imgH="228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863" y="349250"/>
                        <a:ext cx="2733675" cy="51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pic>
        <p:nvPicPr>
          <p:cNvPr id="95239"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650" y="5318125"/>
            <a:ext cx="639603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5240" name="Object 12"/>
          <p:cNvGraphicFramePr>
            <a:graphicFrameLocks noChangeAspect="1"/>
          </p:cNvGraphicFramePr>
          <p:nvPr/>
        </p:nvGraphicFramePr>
        <p:xfrm>
          <a:off x="5048250" y="784225"/>
          <a:ext cx="4321175" cy="4591050"/>
        </p:xfrm>
        <a:graphic>
          <a:graphicData uri="http://schemas.openxmlformats.org/presentationml/2006/ole">
            <mc:AlternateContent xmlns:mc="http://schemas.openxmlformats.org/markup-compatibility/2006">
              <mc:Choice xmlns:v="urn:schemas-microsoft-com:vml" Requires="v">
                <p:oleObj spid="_x0000_s95275" name="Graph" r:id="rId6" imgW="2924978" imgH="2930487" progId="Origin50.Graph">
                  <p:embed/>
                </p:oleObj>
              </mc:Choice>
              <mc:Fallback>
                <p:oleObj name="Graph" r:id="rId6" imgW="2924978" imgH="2930487" progId="Origin50.Graph">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48250" y="784225"/>
                        <a:ext cx="4321175"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5241" name="Text Box 15"/>
          <p:cNvSpPr txBox="1">
            <a:spLocks noChangeArrowheads="1"/>
          </p:cNvSpPr>
          <p:nvPr/>
        </p:nvSpPr>
        <p:spPr bwMode="auto">
          <a:xfrm>
            <a:off x="735013" y="5903913"/>
            <a:ext cx="3325812"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20000"/>
              </a:spcBef>
              <a:buFontTx/>
              <a:buNone/>
            </a:pPr>
            <a:r>
              <a:rPr lang="en-US" altLang="zh-CN" sz="2400" b="1">
                <a:solidFill>
                  <a:srgbClr val="FF0000"/>
                </a:solidFill>
                <a:latin typeface="Arial" panose="020B0604020202020204" pitchFamily="34" charset="0"/>
                <a:ea typeface="宋体" panose="02010600030101010101" pitchFamily="2" charset="-122"/>
                <a:cs typeface="Arial" panose="020B0604020202020204" pitchFamily="34" charset="0"/>
              </a:rPr>
              <a:t>Segmental copolymer </a:t>
            </a:r>
          </a:p>
        </p:txBody>
      </p:sp>
      <p:sp>
        <p:nvSpPr>
          <p:cNvPr id="95242" name="Text Box 7"/>
          <p:cNvSpPr txBox="1">
            <a:spLocks noChangeArrowheads="1"/>
          </p:cNvSpPr>
          <p:nvPr/>
        </p:nvSpPr>
        <p:spPr bwMode="auto">
          <a:xfrm>
            <a:off x="285750" y="4376738"/>
            <a:ext cx="4051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b="1">
                <a:latin typeface="楷体" panose="02010609060101010101" pitchFamily="49" charset="-122"/>
                <a:ea typeface="楷体" panose="02010609060101010101" pitchFamily="49" charset="-122"/>
                <a:cs typeface="Arial" panose="020B0604020202020204" pitchFamily="34" charset="0"/>
              </a:rPr>
              <a:t>自由基聚合中较少见，而配位和离子聚合中多见。</a:t>
            </a:r>
          </a:p>
        </p:txBody>
      </p:sp>
      <p:cxnSp>
        <p:nvCxnSpPr>
          <p:cNvPr id="3" name="直接连接符 2">
            <a:extLst>
              <a:ext uri="{FF2B5EF4-FFF2-40B4-BE49-F238E27FC236}">
                <a16:creationId xmlns:a16="http://schemas.microsoft.com/office/drawing/2014/main" id="{BBD63A2C-E80D-426C-BA7D-817FFA15D5FE}"/>
              </a:ext>
            </a:extLst>
          </p:cNvPr>
          <p:cNvCxnSpPr/>
          <p:nvPr/>
        </p:nvCxnSpPr>
        <p:spPr>
          <a:xfrm flipV="1">
            <a:off x="6934200" y="3806825"/>
            <a:ext cx="0" cy="865188"/>
          </a:xfrm>
          <a:prstGeom prst="line">
            <a:avLst/>
          </a:prstGeom>
          <a:ln w="19050">
            <a:solidFill>
              <a:srgbClr val="7EF74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EEF20226-ACFB-41D3-9409-197694C0BF63}"/>
              </a:ext>
            </a:extLst>
          </p:cNvPr>
          <p:cNvCxnSpPr>
            <a:cxnSpLocks/>
          </p:cNvCxnSpPr>
          <p:nvPr/>
        </p:nvCxnSpPr>
        <p:spPr>
          <a:xfrm flipV="1">
            <a:off x="8289925" y="1574800"/>
            <a:ext cx="0" cy="3173413"/>
          </a:xfrm>
          <a:prstGeom prst="line">
            <a:avLst/>
          </a:prstGeom>
          <a:ln w="19050">
            <a:solidFill>
              <a:srgbClr val="7EF741"/>
            </a:solidFill>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95747FE4-6608-48B5-BBB0-A3DAE879CD98}"/>
              </a:ext>
            </a:extLst>
          </p:cNvPr>
          <p:cNvCxnSpPr/>
          <p:nvPr/>
        </p:nvCxnSpPr>
        <p:spPr>
          <a:xfrm>
            <a:off x="7675563" y="1719263"/>
            <a:ext cx="576262" cy="142875"/>
          </a:xfrm>
          <a:prstGeom prst="straightConnector1">
            <a:avLst/>
          </a:prstGeom>
          <a:ln w="38100">
            <a:solidFill>
              <a:srgbClr val="7EF74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94D8113B-1F69-4B3C-9F24-E9EF06112AEF}"/>
              </a:ext>
            </a:extLst>
          </p:cNvPr>
          <p:cNvCxnSpPr/>
          <p:nvPr/>
        </p:nvCxnSpPr>
        <p:spPr>
          <a:xfrm>
            <a:off x="6340475" y="3841750"/>
            <a:ext cx="576263" cy="144463"/>
          </a:xfrm>
          <a:prstGeom prst="straightConnector1">
            <a:avLst/>
          </a:prstGeom>
          <a:ln w="38100">
            <a:solidFill>
              <a:srgbClr val="7EF741"/>
            </a:solidFill>
            <a:tailEnd type="triangle"/>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8207B86D-2F93-486D-A148-D548CBD09912}"/>
              </a:ext>
            </a:extLst>
          </p:cNvPr>
          <p:cNvSpPr/>
          <p:nvPr/>
        </p:nvSpPr>
        <p:spPr>
          <a:xfrm>
            <a:off x="7885113" y="2339975"/>
            <a:ext cx="142875" cy="14446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ppt_x"/>
                                          </p:val>
                                        </p:tav>
                                        <p:tav tm="100000">
                                          <p:val>
                                            <p:strVal val="#ppt_x"/>
                                          </p:val>
                                        </p:tav>
                                      </p:tavLst>
                                    </p:anim>
                                    <p:anim calcmode="lin" valueType="num">
                                      <p:cBhvr additive="base">
                                        <p:cTn id="2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4" name="直接连接符 13">
            <a:extLst>
              <a:ext uri="{FF2B5EF4-FFF2-40B4-BE49-F238E27FC236}">
                <a16:creationId xmlns:a16="http://schemas.microsoft.com/office/drawing/2014/main" id="{8C6DF4C8-0E5F-443D-B66C-C919931B372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625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1F3B4B2-BE10-4043-86E0-A5A0FFB69FFD}"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58</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96260" name="Text Box 2"/>
          <p:cNvSpPr txBox="1">
            <a:spLocks noChangeArrowheads="1"/>
          </p:cNvSpPr>
          <p:nvPr/>
        </p:nvSpPr>
        <p:spPr bwMode="auto">
          <a:xfrm>
            <a:off x="371475" y="444500"/>
            <a:ext cx="463257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dirty="0">
                <a:latin typeface="Arial" panose="020B0604020202020204" pitchFamily="34" charset="0"/>
                <a:ea typeface="楷体" panose="02010609060101010101" pitchFamily="49" charset="-122"/>
                <a:cs typeface="Arial" panose="020B0604020202020204" pitchFamily="34" charset="0"/>
              </a:rPr>
              <a:t>&lt;</a:t>
            </a:r>
            <a:r>
              <a:rPr lang="zh-CN" altLang="en-US" sz="2400" dirty="0">
                <a:latin typeface="Arial" panose="020B0604020202020204" pitchFamily="34" charset="0"/>
                <a:ea typeface="楷体" panose="02010609060101010101" pitchFamily="49" charset="-122"/>
                <a:cs typeface="Arial" panose="020B0604020202020204" pitchFamily="34" charset="0"/>
              </a:rPr>
              <a:t>3</a:t>
            </a:r>
            <a:r>
              <a:rPr lang="en-US" altLang="zh-CN" sz="2400" dirty="0">
                <a:latin typeface="Arial" panose="020B0604020202020204" pitchFamily="34" charset="0"/>
                <a:ea typeface="楷体" panose="02010609060101010101" pitchFamily="49" charset="-122"/>
                <a:cs typeface="Arial" panose="020B0604020202020204" pitchFamily="34" charset="0"/>
              </a:rPr>
              <a:t>&gt;</a:t>
            </a:r>
            <a:r>
              <a:rPr lang="zh-CN" altLang="en-US" sz="2400" dirty="0">
                <a:latin typeface="Arial" panose="020B0604020202020204" pitchFamily="34" charset="0"/>
                <a:ea typeface="楷体" panose="02010609060101010101" pitchFamily="49" charset="-122"/>
                <a:cs typeface="Arial" panose="020B0604020202020204" pitchFamily="34" charset="0"/>
              </a:rPr>
              <a:t> 恒份（恒比）共聚点</a:t>
            </a:r>
          </a:p>
        </p:txBody>
      </p:sp>
      <p:sp>
        <p:nvSpPr>
          <p:cNvPr id="96261" name="Text Box 3"/>
          <p:cNvSpPr txBox="1">
            <a:spLocks noChangeArrowheads="1"/>
          </p:cNvSpPr>
          <p:nvPr/>
        </p:nvSpPr>
        <p:spPr bwMode="auto">
          <a:xfrm>
            <a:off x="533400" y="1008063"/>
            <a:ext cx="861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400">
                <a:solidFill>
                  <a:srgbClr val="FF0000"/>
                </a:solidFill>
                <a:latin typeface="楷体" panose="02010609060101010101" pitchFamily="49" charset="-122"/>
                <a:ea typeface="楷体" panose="02010609060101010101" pitchFamily="49" charset="-122"/>
              </a:rPr>
              <a:t>共聚物组成曲线与恒份共聚线的相交点—— 恒份共聚点</a:t>
            </a:r>
          </a:p>
          <a:p>
            <a:pPr algn="just">
              <a:lnSpc>
                <a:spcPct val="100000"/>
              </a:lnSpc>
              <a:spcBef>
                <a:spcPct val="0"/>
              </a:spcBef>
              <a:buFontTx/>
              <a:buNone/>
            </a:pPr>
            <a:endParaRPr lang="zh-CN" altLang="en-US" sz="2400">
              <a:solidFill>
                <a:srgbClr val="FF0000"/>
              </a:solidFill>
              <a:latin typeface="楷体" panose="02010609060101010101" pitchFamily="49" charset="-122"/>
              <a:ea typeface="楷体" panose="02010609060101010101" pitchFamily="49" charset="-122"/>
            </a:endParaRPr>
          </a:p>
          <a:p>
            <a:pPr algn="just">
              <a:lnSpc>
                <a:spcPct val="100000"/>
              </a:lnSpc>
              <a:spcBef>
                <a:spcPct val="0"/>
              </a:spcBef>
              <a:buFontTx/>
              <a:buNone/>
            </a:pPr>
            <a:r>
              <a:rPr lang="zh-CN" altLang="en-US" sz="2400">
                <a:latin typeface="楷体" panose="02010609060101010101" pitchFamily="49" charset="-122"/>
                <a:ea typeface="楷体" panose="02010609060101010101" pitchFamily="49" charset="-122"/>
              </a:rPr>
              <a:t>产生恒份共聚点的条件</a:t>
            </a:r>
          </a:p>
        </p:txBody>
      </p:sp>
      <p:graphicFrame>
        <p:nvGraphicFramePr>
          <p:cNvPr id="96262" name="Object 0"/>
          <p:cNvGraphicFramePr>
            <a:graphicFrameLocks noChangeAspect="1"/>
          </p:cNvGraphicFramePr>
          <p:nvPr/>
        </p:nvGraphicFramePr>
        <p:xfrm>
          <a:off x="2973388" y="2511425"/>
          <a:ext cx="1749425" cy="744538"/>
        </p:xfrm>
        <a:graphic>
          <a:graphicData uri="http://schemas.openxmlformats.org/presentationml/2006/ole">
            <mc:AlternateContent xmlns:mc="http://schemas.openxmlformats.org/markup-compatibility/2006">
              <mc:Choice xmlns:v="urn:schemas-microsoft-com:vml" Requires="v">
                <p:oleObj spid="_x0000_s96323" name="公式" r:id="rId3" imgW="1028254" imgH="444307" progId="Equation.3">
                  <p:embed/>
                </p:oleObj>
              </mc:Choice>
              <mc:Fallback>
                <p:oleObj name="公式" r:id="rId3" imgW="1028254" imgH="444307" progId="Equation.3">
                  <p:embed/>
                  <p:pic>
                    <p:nvPicPr>
                      <p:cNvPr id="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3388" y="2511425"/>
                        <a:ext cx="1749425"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6263" name="Object 1"/>
          <p:cNvGraphicFramePr>
            <a:graphicFrameLocks noChangeAspect="1"/>
          </p:cNvGraphicFramePr>
          <p:nvPr/>
        </p:nvGraphicFramePr>
        <p:xfrm>
          <a:off x="5675313" y="2738438"/>
          <a:ext cx="1298575" cy="411162"/>
        </p:xfrm>
        <a:graphic>
          <a:graphicData uri="http://schemas.openxmlformats.org/presentationml/2006/ole">
            <mc:AlternateContent xmlns:mc="http://schemas.openxmlformats.org/markup-compatibility/2006">
              <mc:Choice xmlns:v="urn:schemas-microsoft-com:vml" Requires="v">
                <p:oleObj spid="_x0000_s96324" name="公式" r:id="rId5" imgW="672808" imgH="228501" progId="Equation.3">
                  <p:embed/>
                </p:oleObj>
              </mc:Choice>
              <mc:Fallback>
                <p:oleObj name="公式" r:id="rId5" imgW="672808" imgH="228501" progId="Equation.3">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5313" y="2738438"/>
                        <a:ext cx="129857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64" name="Text Box 6"/>
          <p:cNvSpPr txBox="1">
            <a:spLocks noChangeArrowheads="1"/>
          </p:cNvSpPr>
          <p:nvPr/>
        </p:nvSpPr>
        <p:spPr bwMode="auto">
          <a:xfrm>
            <a:off x="533400" y="2644775"/>
            <a:ext cx="2439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恒份共聚点处：</a:t>
            </a:r>
          </a:p>
        </p:txBody>
      </p:sp>
      <p:sp>
        <p:nvSpPr>
          <p:cNvPr id="96265" name="Text Box 7"/>
          <p:cNvSpPr txBox="1">
            <a:spLocks noChangeArrowheads="1"/>
          </p:cNvSpPr>
          <p:nvPr/>
        </p:nvSpPr>
        <p:spPr bwMode="auto">
          <a:xfrm>
            <a:off x="4856163" y="2705100"/>
            <a:ext cx="685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或</a:t>
            </a:r>
          </a:p>
        </p:txBody>
      </p:sp>
      <p:sp>
        <p:nvSpPr>
          <p:cNvPr id="96266" name="Text Box 8"/>
          <p:cNvSpPr txBox="1">
            <a:spLocks noChangeArrowheads="1"/>
          </p:cNvSpPr>
          <p:nvPr/>
        </p:nvSpPr>
        <p:spPr bwMode="auto">
          <a:xfrm>
            <a:off x="6677025" y="2767013"/>
            <a:ext cx="161925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楷体" panose="02010609060101010101" pitchFamily="49" charset="-122"/>
                <a:ea typeface="楷体" panose="02010609060101010101" pitchFamily="49" charset="-122"/>
              </a:rPr>
              <a:t>(对角线上) </a:t>
            </a:r>
          </a:p>
        </p:txBody>
      </p:sp>
      <p:graphicFrame>
        <p:nvGraphicFramePr>
          <p:cNvPr id="96267" name="Object 2"/>
          <p:cNvGraphicFramePr>
            <a:graphicFrameLocks noChangeAspect="1"/>
          </p:cNvGraphicFramePr>
          <p:nvPr/>
        </p:nvGraphicFramePr>
        <p:xfrm>
          <a:off x="2981325" y="3784600"/>
          <a:ext cx="3482975" cy="787400"/>
        </p:xfrm>
        <a:graphic>
          <a:graphicData uri="http://schemas.openxmlformats.org/presentationml/2006/ole">
            <mc:AlternateContent xmlns:mc="http://schemas.openxmlformats.org/markup-compatibility/2006">
              <mc:Choice xmlns:v="urn:schemas-microsoft-com:vml" Requires="v">
                <p:oleObj spid="_x0000_s96325" name="公式" r:id="rId7" imgW="1954951" imgH="444307" progId="Equation.3">
                  <p:embed/>
                </p:oleObj>
              </mc:Choice>
              <mc:Fallback>
                <p:oleObj name="公式" r:id="rId7" imgW="1954951" imgH="444307"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1325" y="3784600"/>
                        <a:ext cx="348297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68" name="Text Box 10"/>
          <p:cNvSpPr txBox="1">
            <a:spLocks noChangeArrowheads="1"/>
          </p:cNvSpPr>
          <p:nvPr/>
        </p:nvSpPr>
        <p:spPr bwMode="auto">
          <a:xfrm>
            <a:off x="608013" y="3868738"/>
            <a:ext cx="25908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由共聚组成方程</a:t>
            </a:r>
          </a:p>
        </p:txBody>
      </p:sp>
      <p:graphicFrame>
        <p:nvGraphicFramePr>
          <p:cNvPr id="96269" name="Object 3"/>
          <p:cNvGraphicFramePr>
            <a:graphicFrameLocks noChangeAspect="1"/>
          </p:cNvGraphicFramePr>
          <p:nvPr/>
        </p:nvGraphicFramePr>
        <p:xfrm>
          <a:off x="3940175" y="5032375"/>
          <a:ext cx="2366963" cy="862013"/>
        </p:xfrm>
        <a:graphic>
          <a:graphicData uri="http://schemas.openxmlformats.org/presentationml/2006/ole">
            <mc:AlternateContent xmlns:mc="http://schemas.openxmlformats.org/markup-compatibility/2006">
              <mc:Choice xmlns:v="urn:schemas-microsoft-com:vml" Requires="v">
                <p:oleObj spid="_x0000_s96326" name="公式" r:id="rId9" imgW="1205977" imgH="444307" progId="Equation.3">
                  <p:embed/>
                </p:oleObj>
              </mc:Choice>
              <mc:Fallback>
                <p:oleObj name="公式" r:id="rId9" imgW="1205977" imgH="444307"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0175" y="5032375"/>
                        <a:ext cx="2366963" cy="86201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6270" name="Text Box 12"/>
          <p:cNvSpPr txBox="1">
            <a:spLocks noChangeArrowheads="1"/>
          </p:cNvSpPr>
          <p:nvPr/>
        </p:nvSpPr>
        <p:spPr bwMode="auto">
          <a:xfrm>
            <a:off x="628650" y="5100638"/>
            <a:ext cx="3352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可见恒份共聚点符合：</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D0B08485-CF8D-4271-A9C2-5BADEBCB08E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728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14DE012-5CDE-41D9-8A91-58BDDE21FC37}"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59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97284" name="Text Box 1026"/>
          <p:cNvSpPr txBox="1">
            <a:spLocks noChangeArrowheads="1"/>
          </p:cNvSpPr>
          <p:nvPr/>
        </p:nvSpPr>
        <p:spPr bwMode="auto">
          <a:xfrm>
            <a:off x="179388" y="407988"/>
            <a:ext cx="356235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整理得</a:t>
            </a:r>
            <a:r>
              <a:rPr lang="en-US" altLang="zh-CN" sz="2400">
                <a:latin typeface="楷体" panose="02010609060101010101" pitchFamily="49" charset="-122"/>
                <a:ea typeface="楷体" panose="02010609060101010101" pitchFamily="49" charset="-122"/>
              </a:rPr>
              <a:t>,</a:t>
            </a:r>
            <a:r>
              <a:rPr lang="zh-CN" altLang="en-US" sz="2400">
                <a:latin typeface="楷体" panose="02010609060101010101" pitchFamily="49" charset="-122"/>
                <a:ea typeface="楷体" panose="02010609060101010101" pitchFamily="49" charset="-122"/>
              </a:rPr>
              <a:t>恒份共聚点处</a:t>
            </a:r>
          </a:p>
        </p:txBody>
      </p:sp>
      <p:graphicFrame>
        <p:nvGraphicFramePr>
          <p:cNvPr id="97285" name="Object 1027"/>
          <p:cNvGraphicFramePr>
            <a:graphicFrameLocks noChangeAspect="1"/>
          </p:cNvGraphicFramePr>
          <p:nvPr/>
        </p:nvGraphicFramePr>
        <p:xfrm>
          <a:off x="608013" y="1031875"/>
          <a:ext cx="1954212" cy="822325"/>
        </p:xfrm>
        <a:graphic>
          <a:graphicData uri="http://schemas.openxmlformats.org/presentationml/2006/ole">
            <mc:AlternateContent xmlns:mc="http://schemas.openxmlformats.org/markup-compatibility/2006">
              <mc:Choice xmlns:v="urn:schemas-microsoft-com:vml" Requires="v">
                <p:oleObj spid="_x0000_s97347" name="公式" r:id="rId4" imgW="1040948" imgH="444307" progId="Equation.3">
                  <p:embed/>
                </p:oleObj>
              </mc:Choice>
              <mc:Fallback>
                <p:oleObj name="公式" r:id="rId4" imgW="1040948" imgH="444307" progId="Equation.3">
                  <p:embed/>
                  <p:pic>
                    <p:nvPicPr>
                      <p:cNvPr id="0" name="Object 10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8013" y="1031875"/>
                        <a:ext cx="19542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6" name="Text Box 1028"/>
          <p:cNvSpPr txBox="1">
            <a:spLocks noChangeArrowheads="1"/>
          </p:cNvSpPr>
          <p:nvPr/>
        </p:nvSpPr>
        <p:spPr bwMode="auto">
          <a:xfrm>
            <a:off x="173038" y="2382838"/>
            <a:ext cx="3733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产生恒份共聚点的条件：</a:t>
            </a:r>
          </a:p>
        </p:txBody>
      </p:sp>
      <p:pic>
        <p:nvPicPr>
          <p:cNvPr id="96263" name="Picture 1029">
            <a:extLst>
              <a:ext uri="{FF2B5EF4-FFF2-40B4-BE49-F238E27FC236}">
                <a16:creationId xmlns:a16="http://schemas.microsoft.com/office/drawing/2014/main" id="{A0EB2BC0-0DC0-4A98-BEAF-66A774A183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1700" y="1990725"/>
            <a:ext cx="1924050" cy="1247775"/>
          </a:xfrm>
          <a:prstGeom prst="rect">
            <a:avLst/>
          </a:prstGeom>
          <a:solidFill>
            <a:schemeClr val="bg1">
              <a:lumMod val="95000"/>
            </a:schemeClr>
          </a:solidFill>
          <a:ln>
            <a:noFill/>
          </a:ln>
        </p:spPr>
      </p:pic>
      <p:graphicFrame>
        <p:nvGraphicFramePr>
          <p:cNvPr id="97288" name="Object 2"/>
          <p:cNvGraphicFramePr>
            <a:graphicFrameLocks noChangeAspect="1"/>
          </p:cNvGraphicFramePr>
          <p:nvPr/>
        </p:nvGraphicFramePr>
        <p:xfrm>
          <a:off x="5495925" y="68263"/>
          <a:ext cx="3529013" cy="3284537"/>
        </p:xfrm>
        <a:graphic>
          <a:graphicData uri="http://schemas.openxmlformats.org/presentationml/2006/ole">
            <mc:AlternateContent xmlns:mc="http://schemas.openxmlformats.org/markup-compatibility/2006">
              <mc:Choice xmlns:v="urn:schemas-microsoft-com:vml" Requires="v">
                <p:oleObj spid="_x0000_s97348" name="Graph" r:id="rId7" imgW="2699133" imgH="2511846" progId="Origin50.Graph">
                  <p:embed/>
                </p:oleObj>
              </mc:Choice>
              <mc:Fallback>
                <p:oleObj name="Graph" r:id="rId7" imgW="2699133" imgH="2511846" progId="Origin50.Graph">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95925" y="68263"/>
                        <a:ext cx="3529013" cy="328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9" name="Text Box 6"/>
          <p:cNvSpPr txBox="1">
            <a:spLocks noChangeArrowheads="1"/>
          </p:cNvSpPr>
          <p:nvPr/>
        </p:nvSpPr>
        <p:spPr bwMode="auto">
          <a:xfrm>
            <a:off x="212725" y="3516313"/>
            <a:ext cx="4992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同样，产生恒份共聚点的(</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en-US" altLang="zh-CN" sz="2000" baseline="-25000">
                <a:latin typeface="Arial" panose="020B0604020202020204" pitchFamily="34" charset="0"/>
                <a:ea typeface="楷体" panose="02010609060101010101" pitchFamily="49" charset="-122"/>
                <a:cs typeface="Arial" panose="020B0604020202020204" pitchFamily="34" charset="0"/>
              </a:rPr>
              <a:t>c</a:t>
            </a:r>
            <a:r>
              <a:rPr lang="en-US" altLang="zh-CN" sz="2000">
                <a:latin typeface="Arial" panose="020B0604020202020204" pitchFamily="34" charset="0"/>
                <a:ea typeface="楷体" panose="02010609060101010101" pitchFamily="49" charset="-122"/>
                <a:cs typeface="Arial" panose="020B0604020202020204" pitchFamily="34" charset="0"/>
              </a:rPr>
              <a:t> ~ (f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en-US" altLang="zh-CN" sz="2000" baseline="-25000">
                <a:latin typeface="Arial" panose="020B0604020202020204" pitchFamily="34" charset="0"/>
                <a:ea typeface="楷体" panose="02010609060101010101" pitchFamily="49" charset="-122"/>
                <a:cs typeface="Arial" panose="020B0604020202020204" pitchFamily="34" charset="0"/>
              </a:rPr>
              <a:t>c </a:t>
            </a:r>
            <a:r>
              <a:rPr lang="zh-CN" altLang="en-US" sz="2000">
                <a:latin typeface="Arial" panose="020B0604020202020204" pitchFamily="34" charset="0"/>
                <a:ea typeface="楷体" panose="02010609060101010101" pitchFamily="49" charset="-122"/>
                <a:cs typeface="Arial" panose="020B0604020202020204" pitchFamily="34" charset="0"/>
              </a:rPr>
              <a:t>的关系</a:t>
            </a:r>
          </a:p>
        </p:txBody>
      </p:sp>
      <p:graphicFrame>
        <p:nvGraphicFramePr>
          <p:cNvPr id="97290" name="Object 0"/>
          <p:cNvGraphicFramePr>
            <a:graphicFrameLocks noChangeAspect="1"/>
          </p:cNvGraphicFramePr>
          <p:nvPr/>
        </p:nvGraphicFramePr>
        <p:xfrm>
          <a:off x="338138" y="4122738"/>
          <a:ext cx="5819775" cy="1011237"/>
        </p:xfrm>
        <a:graphic>
          <a:graphicData uri="http://schemas.openxmlformats.org/presentationml/2006/ole">
            <mc:AlternateContent xmlns:mc="http://schemas.openxmlformats.org/markup-compatibility/2006">
              <mc:Choice xmlns:v="urn:schemas-microsoft-com:vml" Requires="v">
                <p:oleObj spid="_x0000_s97349" name="公式" r:id="rId9" imgW="3746500" imgH="647700" progId="Equation.3">
                  <p:embed/>
                </p:oleObj>
              </mc:Choice>
              <mc:Fallback>
                <p:oleObj name="公式" r:id="rId9" imgW="3746500" imgH="647700" progId="Equation.3">
                  <p:embed/>
                  <p:pic>
                    <p:nvPicPr>
                      <p:cNvPr id="0" name="Object 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138" y="4122738"/>
                        <a:ext cx="5819775"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7291" name="Object 1"/>
          <p:cNvGraphicFramePr>
            <a:graphicFrameLocks noChangeAspect="1"/>
          </p:cNvGraphicFramePr>
          <p:nvPr/>
        </p:nvGraphicFramePr>
        <p:xfrm>
          <a:off x="6300788" y="4076700"/>
          <a:ext cx="1954212" cy="865188"/>
        </p:xfrm>
        <a:graphic>
          <a:graphicData uri="http://schemas.openxmlformats.org/presentationml/2006/ole">
            <mc:AlternateContent xmlns:mc="http://schemas.openxmlformats.org/markup-compatibility/2006">
              <mc:Choice xmlns:v="urn:schemas-microsoft-com:vml" Requires="v">
                <p:oleObj spid="_x0000_s97350" name="公式" r:id="rId11" imgW="952087" imgH="444307" progId="Equation.3">
                  <p:embed/>
                </p:oleObj>
              </mc:Choice>
              <mc:Fallback>
                <p:oleObj name="公式" r:id="rId11" imgW="952087" imgH="444307" progId="Equation.3">
                  <p:embed/>
                  <p:pic>
                    <p:nvPicPr>
                      <p:cNvPr id="0" name="Object 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00788" y="4076700"/>
                        <a:ext cx="1954212"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1148" name="Text Box 10"/>
          <p:cNvSpPr txBox="1">
            <a:spLocks noChangeArrowheads="1"/>
          </p:cNvSpPr>
          <p:nvPr/>
        </p:nvSpPr>
        <p:spPr bwMode="auto">
          <a:xfrm>
            <a:off x="179388" y="5189538"/>
            <a:ext cx="7696200"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恒份点的应用：(</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c</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 (f</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c</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说明共聚物瞬时组成不随</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C%</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改变，因此，按恒份点的</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投料可获得组成均一的共聚物</a:t>
            </a:r>
          </a:p>
        </p:txBody>
      </p:sp>
      <p:sp>
        <p:nvSpPr>
          <p:cNvPr id="13" name="椭圆 12">
            <a:extLst>
              <a:ext uri="{FF2B5EF4-FFF2-40B4-BE49-F238E27FC236}">
                <a16:creationId xmlns:a16="http://schemas.microsoft.com/office/drawing/2014/main" id="{3F404CE5-779F-4D96-8D7E-F3D2EBD7070E}"/>
              </a:ext>
            </a:extLst>
          </p:cNvPr>
          <p:cNvSpPr/>
          <p:nvPr/>
        </p:nvSpPr>
        <p:spPr>
          <a:xfrm>
            <a:off x="7477125" y="1298575"/>
            <a:ext cx="144463" cy="144463"/>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椭圆 13">
            <a:extLst>
              <a:ext uri="{FF2B5EF4-FFF2-40B4-BE49-F238E27FC236}">
                <a16:creationId xmlns:a16="http://schemas.microsoft.com/office/drawing/2014/main" id="{B6470A83-CBDE-4A23-B4E3-296ED864E83A}"/>
              </a:ext>
            </a:extLst>
          </p:cNvPr>
          <p:cNvSpPr/>
          <p:nvPr/>
        </p:nvSpPr>
        <p:spPr>
          <a:xfrm>
            <a:off x="7956550" y="887413"/>
            <a:ext cx="144463" cy="14446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1148"/>
                                        </p:tgtEl>
                                        <p:attrNameLst>
                                          <p:attrName>style.visibility</p:attrName>
                                        </p:attrNameLst>
                                      </p:cBhvr>
                                      <p:to>
                                        <p:strVal val="visible"/>
                                      </p:to>
                                    </p:set>
                                    <p:anim calcmode="lin" valueType="num">
                                      <p:cBhvr additive="base">
                                        <p:cTn id="17" dur="500" fill="hold"/>
                                        <p:tgtEl>
                                          <p:spTgt spid="91148"/>
                                        </p:tgtEl>
                                        <p:attrNameLst>
                                          <p:attrName>ppt_x</p:attrName>
                                        </p:attrNameLst>
                                      </p:cBhvr>
                                      <p:tavLst>
                                        <p:tav tm="0">
                                          <p:val>
                                            <p:strVal val="#ppt_x"/>
                                          </p:val>
                                        </p:tav>
                                        <p:tav tm="100000">
                                          <p:val>
                                            <p:strVal val="#ppt_x"/>
                                          </p:val>
                                        </p:tav>
                                      </p:tavLst>
                                    </p:anim>
                                    <p:anim calcmode="lin" valueType="num">
                                      <p:cBhvr additive="base">
                                        <p:cTn id="18" dur="500" fill="hold"/>
                                        <p:tgtEl>
                                          <p:spTgt spid="91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8" grpId="0"/>
      <p:bldP spid="13"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AE5D508-0F10-452D-A177-FB22129E074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60</a:t>
            </a:fld>
            <a:endParaRPr lang="en-US" altLang="zh-CN" sz="1400">
              <a:latin typeface="Times New Roman" panose="02020603050405020304" pitchFamily="18" charset="0"/>
              <a:ea typeface="宋体" panose="02010600030101010101" pitchFamily="2" charset="-122"/>
            </a:endParaRPr>
          </a:p>
        </p:txBody>
      </p:sp>
      <p:sp>
        <p:nvSpPr>
          <p:cNvPr id="99331" name="Text Box 2"/>
          <p:cNvSpPr txBox="1">
            <a:spLocks noChangeArrowheads="1"/>
          </p:cNvSpPr>
          <p:nvPr/>
        </p:nvSpPr>
        <p:spPr bwMode="auto">
          <a:xfrm>
            <a:off x="228600" y="990600"/>
            <a:ext cx="8174038" cy="484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35000"/>
              </a:spcBef>
              <a:buClr>
                <a:srgbClr val="FF0000"/>
              </a:buClr>
              <a:buFont typeface="Wingdings" panose="05000000000000000000" pitchFamily="2" charset="2"/>
              <a:buChar char="p"/>
            </a:pP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理想共聚</a:t>
            </a:r>
            <a:r>
              <a:rPr kumimoji="1" lang="en-US" altLang="zh-CN"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组成曲线为一对称的曲线</a:t>
            </a:r>
            <a:r>
              <a:rPr kumimoji="1" lang="en-US" altLang="zh-CN"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 </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=1，r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=1：</a:t>
            </a:r>
            <a:r>
              <a:rPr kumimoji="1" lang="zh-CN" altLang="en-US" sz="2200">
                <a:latin typeface="Arial" panose="020B0604020202020204" pitchFamily="34" charset="0"/>
                <a:ea typeface="楷体" panose="02010609060101010101" pitchFamily="49" charset="-122"/>
                <a:cs typeface="Arial" panose="020B0604020202020204" pitchFamily="34" charset="0"/>
              </a:rPr>
              <a:t>理想恒比共聚，恒比对角线     </a:t>
            </a:r>
          </a:p>
          <a:p>
            <a:pPr eaLnBrk="1" hangingPunct="1">
              <a:lnSpc>
                <a:spcPct val="125000"/>
              </a:lnSpc>
              <a:spcBef>
                <a:spcPct val="35000"/>
              </a:spcBef>
              <a:buFontTx/>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&gt;1：</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组成曲线在恒比对角线的上方</a:t>
            </a:r>
          </a:p>
          <a:p>
            <a:pPr eaLnBrk="1" hangingPunct="1">
              <a:lnSpc>
                <a:spcPct val="125000"/>
              </a:lnSpc>
              <a:spcBef>
                <a:spcPct val="35000"/>
              </a:spcBef>
              <a:buFontTx/>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&lt;1：</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组成曲线在恒比对角线的下方</a:t>
            </a:r>
            <a:endParaRPr kumimoji="1" lang="en-US" altLang="zh-CN"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FontTx/>
              <a:buNone/>
            </a:pPr>
            <a:endParaRPr kumimoji="1" lang="zh-CN" altLang="en-US"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=0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交替共聚</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：严格交替共聚，组成曲线是水平线</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：组成曲线近似于水平线</a:t>
            </a:r>
            <a:r>
              <a:rPr kumimoji="1" lang="en-US" altLang="zh-CN" sz="2200">
                <a:latin typeface="Arial" panose="020B0604020202020204" pitchFamily="34" charset="0"/>
                <a:ea typeface="楷体" panose="02010609060101010101" pitchFamily="49" charset="-122"/>
                <a:cs typeface="Arial" panose="020B0604020202020204" pitchFamily="34" charset="0"/>
              </a:rPr>
              <a:t>F</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=0.5</a:t>
            </a:r>
          </a:p>
          <a:p>
            <a:pPr eaLnBrk="1" hangingPunct="1">
              <a:lnSpc>
                <a:spcPct val="125000"/>
              </a:lnSpc>
              <a:spcBef>
                <a:spcPct val="35000"/>
              </a:spcBef>
              <a:buFont typeface="Wingdings" panose="05000000000000000000" pitchFamily="2" charset="2"/>
              <a:buNone/>
            </a:pPr>
            <a:r>
              <a:rPr kumimoji="1" lang="en-US" altLang="zh-CN" sz="2200">
                <a:latin typeface="Arial" panose="020B0604020202020204" pitchFamily="34" charset="0"/>
                <a:ea typeface="楷体" panose="02010609060101010101" pitchFamily="49" charset="-122"/>
                <a:cs typeface="Arial" panose="020B0604020202020204" pitchFamily="34" charset="0"/>
              </a:rPr>
              <a:t>     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&gt;0，r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：接近交替共聚，曲线与水平线</a:t>
            </a:r>
            <a:r>
              <a:rPr kumimoji="1" lang="en-US" altLang="zh-CN" sz="2200">
                <a:latin typeface="Arial" panose="020B0604020202020204" pitchFamily="34" charset="0"/>
                <a:ea typeface="楷体" panose="02010609060101010101" pitchFamily="49" charset="-122"/>
                <a:cs typeface="Arial" panose="020B0604020202020204" pitchFamily="34" charset="0"/>
              </a:rPr>
              <a:t>F</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=0.5 </a:t>
            </a:r>
            <a:r>
              <a:rPr kumimoji="1" lang="zh-CN" altLang="en-US" sz="2200">
                <a:latin typeface="Arial" panose="020B0604020202020204" pitchFamily="34" charset="0"/>
                <a:ea typeface="楷体" panose="02010609060101010101" pitchFamily="49" charset="-122"/>
                <a:cs typeface="Arial" panose="020B0604020202020204" pitchFamily="34" charset="0"/>
              </a:rPr>
              <a:t>有交点</a:t>
            </a:r>
          </a:p>
        </p:txBody>
      </p:sp>
      <p:sp>
        <p:nvSpPr>
          <p:cNvPr id="99332" name="Rectangle 3"/>
          <p:cNvSpPr>
            <a:spLocks noChangeArrowheads="1"/>
          </p:cNvSpPr>
          <p:nvPr/>
        </p:nvSpPr>
        <p:spPr bwMode="auto">
          <a:xfrm>
            <a:off x="3276600" y="333375"/>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a:solidFill>
                  <a:srgbClr val="FF0000"/>
                </a:solidFill>
                <a:latin typeface="黑体" panose="02010609060101010101" pitchFamily="49" charset="-122"/>
                <a:ea typeface="黑体" panose="02010609060101010101" pitchFamily="49" charset="-122"/>
              </a:rPr>
              <a:t>小  结</a:t>
            </a:r>
          </a:p>
        </p:txBody>
      </p:sp>
      <p:sp>
        <p:nvSpPr>
          <p:cNvPr id="99333" name="Rectangle 4"/>
          <p:cNvSpPr>
            <a:spLocks noChangeArrowheads="1"/>
          </p:cNvSpPr>
          <p:nvPr/>
        </p:nvSpPr>
        <p:spPr bwMode="auto">
          <a:xfrm>
            <a:off x="539750" y="5935663"/>
            <a:ext cx="83518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 typeface="Wingdings" panose="05000000000000000000" pitchFamily="2" charset="2"/>
              <a:buNone/>
            </a:pP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000" b="1"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愈接近于 </a:t>
            </a: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0</a:t>
            </a: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，交替程度愈大；愈接近于1，愈接近于理想共聚</a:t>
            </a:r>
          </a:p>
        </p:txBody>
      </p:sp>
      <p:pic>
        <p:nvPicPr>
          <p:cNvPr id="9933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9525" y="1081088"/>
            <a:ext cx="1944688" cy="17526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9525" y="3349625"/>
            <a:ext cx="1944688"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0DE4E4F-BB36-4AC9-9D4F-B1200492C141}"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61</a:t>
            </a:fld>
            <a:endParaRPr lang="en-US" altLang="zh-CN" sz="1400">
              <a:latin typeface="Times New Roman" panose="02020603050405020304" pitchFamily="18" charset="0"/>
              <a:ea typeface="宋体" panose="02010600030101010101" pitchFamily="2" charset="-122"/>
            </a:endParaRPr>
          </a:p>
        </p:txBody>
      </p:sp>
      <p:sp>
        <p:nvSpPr>
          <p:cNvPr id="100355" name="Rectangle 2"/>
          <p:cNvSpPr>
            <a:spLocks noChangeArrowheads="1"/>
          </p:cNvSpPr>
          <p:nvPr/>
        </p:nvSpPr>
        <p:spPr bwMode="auto">
          <a:xfrm>
            <a:off x="315913" y="188913"/>
            <a:ext cx="5770562" cy="542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有恒比点的非理想共聚</a:t>
            </a:r>
          </a:p>
          <a:p>
            <a:pPr eaLnBrk="1" hangingPunct="1">
              <a:lnSpc>
                <a:spcPct val="125000"/>
              </a:lnSpc>
              <a:spcBef>
                <a:spcPct val="50000"/>
              </a:spcBef>
              <a:buFont typeface="Arial" panose="020B0604020202020204" pitchFamily="34" charset="0"/>
              <a:buNone/>
            </a:pPr>
            <a:r>
              <a:rPr kumimoji="1" lang="zh-CN" altLang="en-US" sz="2000">
                <a:latin typeface="Arial" panose="020B0604020202020204" pitchFamily="34" charset="0"/>
                <a:ea typeface="楷体" panose="02010609060101010101" pitchFamily="49" charset="-122"/>
                <a:cs typeface="Arial" panose="020B0604020202020204" pitchFamily="34" charset="0"/>
              </a:rPr>
              <a:t>       有恒比点</a:t>
            </a:r>
            <a:r>
              <a:rPr kumimoji="1" lang="zh-CN" altLang="en-GB"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曲线具有反</a:t>
            </a:r>
            <a:r>
              <a:rPr kumimoji="1" lang="en-US" altLang="zh-CN" sz="2000">
                <a:latin typeface="Arial" panose="020B0604020202020204" pitchFamily="34" charset="0"/>
                <a:ea typeface="楷体" panose="02010609060101010101" pitchFamily="49" charset="-122"/>
                <a:cs typeface="Arial" panose="020B0604020202020204" pitchFamily="34" charset="0"/>
              </a:rPr>
              <a:t>S</a:t>
            </a:r>
            <a:r>
              <a:rPr kumimoji="1" lang="zh-CN" altLang="en-US" sz="2000">
                <a:latin typeface="Arial" panose="020B0604020202020204" pitchFamily="34" charset="0"/>
                <a:ea typeface="楷体" panose="02010609060101010101" pitchFamily="49" charset="-122"/>
                <a:cs typeface="Arial" panose="020B0604020202020204" pitchFamily="34" charset="0"/>
              </a:rPr>
              <a:t>的形态特征</a:t>
            </a:r>
          </a:p>
          <a:p>
            <a:pPr eaLnBrk="1" hangingPunct="1">
              <a:lnSpc>
                <a:spcPct val="125000"/>
              </a:lnSpc>
              <a:spcBef>
                <a:spcPct val="50000"/>
              </a:spcBef>
              <a:buFont typeface="Wingdings" panose="05000000000000000000" pitchFamily="2" charset="2"/>
              <a:buChar char="p"/>
            </a:pPr>
            <a:endParaRPr kumimoji="1"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或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a:t>
            </a:r>
          </a:p>
          <a:p>
            <a:pPr eaLnBrk="1" hangingPunct="1">
              <a:lnSpc>
                <a:spcPct val="125000"/>
              </a:lnSpc>
              <a:spcBef>
                <a:spcPct val="0"/>
              </a:spcBef>
              <a:buClr>
                <a:srgbClr val="A50021"/>
              </a:buClr>
              <a:buSzPct val="90000"/>
              <a:buFont typeface="Arial" panose="020B0604020202020204" pitchFamily="34" charset="0"/>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非理想非恒比共聚</a:t>
            </a:r>
            <a:endPar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0"/>
              </a:spcBef>
              <a:buClr>
                <a:srgbClr val="A50021"/>
              </a:buClr>
              <a:buSzPct val="90000"/>
              <a:buFont typeface="Arial" panose="020B0604020202020204" pitchFamily="34" charset="0"/>
              <a:buNone/>
            </a:pPr>
            <a:r>
              <a:rPr kumimoji="1" lang="en-US" altLang="zh-CN"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000">
                <a:latin typeface="Arial" panose="020B0604020202020204" pitchFamily="34" charset="0"/>
                <a:ea typeface="楷体" panose="02010609060101010101" pitchFamily="49" charset="-122"/>
                <a:cs typeface="Arial" panose="020B0604020202020204" pitchFamily="34" charset="0"/>
              </a:rPr>
              <a:t> </a:t>
            </a:r>
            <a:r>
              <a:rPr kumimoji="1" lang="en-US" altLang="zh-CN" sz="2000">
                <a:latin typeface="Arial" panose="020B0604020202020204" pitchFamily="34" charset="0"/>
                <a:ea typeface="楷体" panose="02010609060101010101" pitchFamily="49" charset="-122"/>
                <a:cs typeface="Arial" panose="020B0604020202020204" pitchFamily="34" charset="0"/>
              </a:rPr>
              <a:t>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000">
                <a:latin typeface="Arial" panose="020B0604020202020204" pitchFamily="34" charset="0"/>
                <a:ea typeface="楷体" panose="02010609060101010101" pitchFamily="49" charset="-122"/>
                <a:cs typeface="Arial" panose="020B0604020202020204" pitchFamily="34" charset="0"/>
              </a:rPr>
              <a:t>&gt;1，r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000">
                <a:latin typeface="Arial" panose="020B0604020202020204" pitchFamily="34" charset="0"/>
                <a:ea typeface="楷体" panose="02010609060101010101" pitchFamily="49" charset="-122"/>
                <a:cs typeface="Arial" panose="020B0604020202020204" pitchFamily="34" charset="0"/>
              </a:rPr>
              <a:t>&lt;1</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：组成曲线位于对角线上方</a:t>
            </a:r>
          </a:p>
          <a:p>
            <a:pPr eaLnBrk="1" hangingPunct="1">
              <a:lnSpc>
                <a:spcPct val="125000"/>
              </a:lnSpc>
              <a:spcBef>
                <a:spcPct val="50000"/>
              </a:spcBef>
              <a:buFont typeface="Arial" panose="020B0604020202020204" pitchFamily="34" charset="0"/>
              <a:buNone/>
            </a:pPr>
            <a:r>
              <a:rPr kumimoji="1" lang="en-US" altLang="zh-CN" sz="2000">
                <a:latin typeface="Arial" panose="020B0604020202020204" pitchFamily="34" charset="0"/>
                <a:ea typeface="楷体" panose="02010609060101010101" pitchFamily="49" charset="-122"/>
                <a:cs typeface="Arial" panose="020B0604020202020204" pitchFamily="34" charset="0"/>
              </a:rPr>
              <a:t>       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000">
                <a:latin typeface="Arial" panose="020B0604020202020204" pitchFamily="34" charset="0"/>
                <a:ea typeface="楷体" panose="02010609060101010101" pitchFamily="49" charset="-122"/>
                <a:cs typeface="Arial" panose="020B0604020202020204" pitchFamily="34" charset="0"/>
              </a:rPr>
              <a:t>&lt;1，r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000">
                <a:latin typeface="Arial" panose="020B0604020202020204" pitchFamily="34" charset="0"/>
                <a:ea typeface="楷体" panose="02010609060101010101" pitchFamily="49" charset="-122"/>
                <a:cs typeface="Arial" panose="020B0604020202020204" pitchFamily="34" charset="0"/>
              </a:rPr>
              <a:t>&gt;1</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：组成曲线位于对角线下方</a:t>
            </a:r>
          </a:p>
          <a:p>
            <a:pPr eaLnBrk="1" hangingPunct="1">
              <a:lnSpc>
                <a:spcPct val="125000"/>
              </a:lnSpc>
              <a:spcBef>
                <a:spcPct val="50000"/>
              </a:spcBef>
              <a:buFont typeface="Wingdings" panose="05000000000000000000" pitchFamily="2" charset="2"/>
              <a:buChar char="p"/>
            </a:pPr>
            <a:endParaRPr kumimoji="1"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 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嵌段共聚</a:t>
            </a:r>
          </a:p>
          <a:p>
            <a:pPr eaLnBrk="1" hangingPunct="1">
              <a:lnSpc>
                <a:spcPct val="125000"/>
              </a:lnSpc>
              <a:spcBef>
                <a:spcPct val="50000"/>
              </a:spcBef>
              <a:buFont typeface="Arial" panose="020B0604020202020204" pitchFamily="34" charset="0"/>
              <a:buNone/>
            </a:pPr>
            <a:r>
              <a:rPr kumimoji="1" lang="zh-CN" altLang="en-US" sz="2000">
                <a:latin typeface="Arial" panose="020B0604020202020204" pitchFamily="34" charset="0"/>
                <a:ea typeface="楷体" panose="02010609060101010101" pitchFamily="49" charset="-122"/>
                <a:cs typeface="Arial" panose="020B0604020202020204" pitchFamily="34" charset="0"/>
              </a:rPr>
              <a:t>       曲线具有正</a:t>
            </a:r>
            <a:r>
              <a:rPr kumimoji="1" lang="en-US" altLang="zh-CN" sz="2000">
                <a:latin typeface="Arial" panose="020B0604020202020204" pitchFamily="34" charset="0"/>
                <a:ea typeface="楷体" panose="02010609060101010101" pitchFamily="49" charset="-122"/>
                <a:cs typeface="Arial" panose="020B0604020202020204" pitchFamily="34" charset="0"/>
              </a:rPr>
              <a:t>S</a:t>
            </a:r>
            <a:r>
              <a:rPr kumimoji="1" lang="zh-CN" altLang="en-US" sz="2000">
                <a:latin typeface="Arial" panose="020B0604020202020204" pitchFamily="34" charset="0"/>
                <a:ea typeface="楷体" panose="02010609060101010101" pitchFamily="49" charset="-122"/>
                <a:cs typeface="Arial" panose="020B0604020202020204" pitchFamily="34" charset="0"/>
              </a:rPr>
              <a:t>的形态特征，同样也具有恒比点</a:t>
            </a:r>
          </a:p>
        </p:txBody>
      </p:sp>
      <p:pic>
        <p:nvPicPr>
          <p:cNvPr id="10035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7150" y="188913"/>
            <a:ext cx="1793875" cy="16764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7" name="Picture 4" descr="tu517-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113" y="4197350"/>
            <a:ext cx="2008187"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8" name="Picture 5" descr="tu517-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8088" y="2205038"/>
            <a:ext cx="1898650"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AD75031-D902-4F1D-ACB9-EA906E0B6207}"/>
              </a:ext>
            </a:extLst>
          </p:cNvPr>
          <p:cNvSpPr/>
          <p:nvPr/>
        </p:nvSpPr>
        <p:spPr>
          <a:xfrm>
            <a:off x="317500" y="5705475"/>
            <a:ext cx="6450013" cy="1016000"/>
          </a:xfrm>
          <a:prstGeom prst="rect">
            <a:avLst/>
          </a:prstGeom>
          <a:solidFill>
            <a:schemeClr val="bg1">
              <a:lumMod val="95000"/>
            </a:schemeClr>
          </a:solidFill>
        </p:spPr>
        <p:txBody>
          <a:bodyPr wrap="none">
            <a:spAutoFit/>
          </a:bodyPr>
          <a:lstStyle/>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 共聚物瞬时组成变化的口诀：</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en-US" altLang="zh-CN" sz="2000" b="1" dirty="0">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&gt; 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，对角线上；</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&lt;1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，对角线下；</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            由右向左：对角线上往下走，对角线下往上走。</a:t>
            </a:r>
            <a:endParaRPr lang="zh-CN" altLang="en-US" sz="2000" b="1"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4953047-2F3D-4F5B-9F88-B6AABD0EBB5C}"/>
              </a:ext>
            </a:extLst>
          </p:cNvPr>
          <p:cNvSpPr>
            <a:spLocks noGrp="1"/>
          </p:cNvSpPr>
          <p:nvPr>
            <p:ph type="sldNum" sz="quarter" idx="12"/>
          </p:nvPr>
        </p:nvSpPr>
        <p:spPr/>
        <p:txBody>
          <a:bodyPr/>
          <a:lstStyle/>
          <a:p>
            <a:pPr>
              <a:defRPr/>
            </a:pPr>
            <a:fld id="{162BF809-D625-4934-AAF6-E6A33EB35175}" type="slidenum">
              <a:rPr lang="zh-CN" altLang="en-US" smtClean="0"/>
              <a:pPr>
                <a:defRPr/>
              </a:pPr>
              <a:t>62</a:t>
            </a:fld>
            <a:endParaRPr lang="en-US" altLang="zh-CN"/>
          </a:p>
        </p:txBody>
      </p:sp>
      <p:sp>
        <p:nvSpPr>
          <p:cNvPr id="101379" name="Text Box 2"/>
          <p:cNvSpPr txBox="1">
            <a:spLocks noChangeArrowheads="1"/>
          </p:cNvSpPr>
          <p:nvPr/>
        </p:nvSpPr>
        <p:spPr bwMode="auto">
          <a:xfrm>
            <a:off x="1047750" y="2522538"/>
            <a:ext cx="4176713"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35000"/>
              </a:spcBef>
              <a:buClr>
                <a:srgbClr val="FF0000"/>
              </a:buClr>
              <a:buFont typeface="Wingdings" panose="05000000000000000000" pitchFamily="2" charset="2"/>
              <a:buChar char="p"/>
            </a:pP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理想</a:t>
            </a:r>
            <a:endParaRPr kumimoji="1" lang="zh-CN" altLang="en-US"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=0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交替共聚</a:t>
            </a:r>
            <a:endPar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在恒比点处投料的共聚</a:t>
            </a:r>
          </a:p>
        </p:txBody>
      </p:sp>
      <p:sp>
        <p:nvSpPr>
          <p:cNvPr id="101380" name="矩形 4"/>
          <p:cNvSpPr>
            <a:spLocks noChangeArrowheads="1"/>
          </p:cNvSpPr>
          <p:nvPr/>
        </p:nvSpPr>
        <p:spPr bwMode="auto">
          <a:xfrm>
            <a:off x="920750" y="2060575"/>
            <a:ext cx="7572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下列情形，共聚物组成是固定的，不需要特别的控制：</a:t>
            </a:r>
            <a:endParaRPr lang="zh-CN" altLang="en-US" sz="2400">
              <a:cs typeface="Arial" panose="020B0604020202020204" pitchFamily="34"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标题 1"/>
          <p:cNvSpPr>
            <a:spLocks noGrp="1"/>
          </p:cNvSpPr>
          <p:nvPr>
            <p:ph type="title"/>
          </p:nvPr>
        </p:nvSpPr>
        <p:spPr>
          <a:xfrm>
            <a:off x="2411413" y="260350"/>
            <a:ext cx="4248150" cy="792163"/>
          </a:xfrm>
        </p:spPr>
        <p:txBody>
          <a:bodyPr/>
          <a:lstStyle/>
          <a:p>
            <a:pPr eaLnBrk="1" hangingPunct="1"/>
            <a:r>
              <a:rPr lang="zh-CN" altLang="en-US" sz="3600" b="1">
                <a:latin typeface="楷体" panose="02010609060101010101" pitchFamily="49" charset="-122"/>
                <a:ea typeface="楷体" panose="02010609060101010101" pitchFamily="49" charset="-122"/>
              </a:rPr>
              <a:t>本章提纲和关键词</a:t>
            </a:r>
          </a:p>
        </p:txBody>
      </p:sp>
      <p:sp>
        <p:nvSpPr>
          <p:cNvPr id="76803" name="内容占位符 2"/>
          <p:cNvSpPr>
            <a:spLocks noGrp="1"/>
          </p:cNvSpPr>
          <p:nvPr>
            <p:ph sz="half" idx="1"/>
          </p:nvPr>
        </p:nvSpPr>
        <p:spPr>
          <a:xfrm>
            <a:off x="1657350" y="1255713"/>
            <a:ext cx="5956300" cy="4897437"/>
          </a:xfrm>
        </p:spPr>
        <p:txBody>
          <a:bodyPr/>
          <a:lstStyle/>
          <a:p>
            <a:pPr marL="0" indent="0" eaLnBrk="1" hangingPunct="1">
              <a:buFont typeface="Arial" panose="020B0604020202020204" pitchFamily="34" charset="0"/>
              <a:buNone/>
            </a:pPr>
            <a:r>
              <a:rPr lang="zh-CN" altLang="en-US">
                <a:solidFill>
                  <a:srgbClr val="FF0000"/>
                </a:solidFill>
                <a:latin typeface="Arial" panose="020B0604020202020204" pitchFamily="34" charset="0"/>
                <a:ea typeface="楷体" panose="02010609060101010101" pitchFamily="49" charset="-122"/>
                <a:cs typeface="Arial" panose="020B0604020202020204" pitchFamily="34" charset="0"/>
              </a:rPr>
              <a:t>4.1   共聚的概念</a:t>
            </a:r>
            <a:endParaRPr lang="en-US" altLang="zh-CN">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kumimoji="1" lang="zh-CN" altLang="en-US">
                <a:solidFill>
                  <a:srgbClr val="FF0000"/>
                </a:solidFill>
                <a:latin typeface="Arial" panose="020B0604020202020204" pitchFamily="34" charset="0"/>
                <a:ea typeface="楷体" panose="02010609060101010101" pitchFamily="49" charset="-122"/>
                <a:cs typeface="Arial" panose="020B0604020202020204" pitchFamily="34" charset="0"/>
              </a:rPr>
              <a:t>4.2   二元共聚物组成</a:t>
            </a:r>
            <a:endParaRPr kumimoji="1" lang="en-US" altLang="zh-CN">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4.3   </a:t>
            </a:r>
            <a:r>
              <a:rPr lang="zh-CN" altLang="en-US">
                <a:latin typeface="Arial" panose="020B0604020202020204" pitchFamily="34" charset="0"/>
                <a:ea typeface="楷体" panose="02010609060101010101" pitchFamily="49" charset="-122"/>
                <a:cs typeface="Arial" panose="020B0604020202020204" pitchFamily="34" charset="0"/>
              </a:rPr>
              <a:t>共聚物组成曲线</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4.4   </a:t>
            </a:r>
            <a:r>
              <a:rPr lang="zh-CN" altLang="en-US">
                <a:latin typeface="Arial" panose="020B0604020202020204" pitchFamily="34" charset="0"/>
                <a:ea typeface="楷体" panose="02010609060101010101" pitchFamily="49" charset="-122"/>
                <a:cs typeface="Arial" panose="020B0604020202020204" pitchFamily="34" charset="0"/>
              </a:rPr>
              <a:t>共聚物组成分布控制</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4.5</a:t>
            </a:r>
            <a:r>
              <a:rPr lang="zh-CN" altLang="en-US">
                <a:latin typeface="Arial" panose="020B0604020202020204" pitchFamily="34" charset="0"/>
                <a:ea typeface="楷体" panose="02010609060101010101" pitchFamily="49" charset="-122"/>
                <a:cs typeface="Arial" panose="020B0604020202020204" pitchFamily="34" charset="0"/>
              </a:rPr>
              <a:t>   共聚物微结构和链段分布</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4.6</a:t>
            </a:r>
            <a:r>
              <a:rPr lang="zh-CN" altLang="en-US">
                <a:latin typeface="Arial" panose="020B0604020202020204" pitchFamily="34" charset="0"/>
                <a:ea typeface="楷体" panose="02010609060101010101" pitchFamily="49" charset="-122"/>
                <a:cs typeface="Arial" panose="020B0604020202020204" pitchFamily="34" charset="0"/>
              </a:rPr>
              <a:t>   多元共聚</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4.7</a:t>
            </a:r>
            <a:r>
              <a:rPr lang="zh-CN" altLang="en-US">
                <a:latin typeface="Arial" panose="020B0604020202020204" pitchFamily="34" charset="0"/>
                <a:ea typeface="楷体" panose="02010609060101010101" pitchFamily="49" charset="-122"/>
                <a:cs typeface="Arial" panose="020B0604020202020204" pitchFamily="34" charset="0"/>
              </a:rPr>
              <a:t>   竞聚率</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4.8   </a:t>
            </a:r>
            <a:r>
              <a:rPr lang="zh-CN" altLang="en-US">
                <a:latin typeface="Arial" panose="020B0604020202020204" pitchFamily="34" charset="0"/>
                <a:ea typeface="楷体" panose="02010609060101010101" pitchFamily="49" charset="-122"/>
                <a:cs typeface="Arial" panose="020B0604020202020204" pitchFamily="34" charset="0"/>
              </a:rPr>
              <a:t>单体和自由基的共聚活性</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4.9</a:t>
            </a:r>
            <a:r>
              <a:rPr lang="zh-CN" altLang="en-US">
                <a:latin typeface="Arial" panose="020B0604020202020204" pitchFamily="34" charset="0"/>
                <a:ea typeface="楷体" panose="02010609060101010101" pitchFamily="49" charset="-122"/>
                <a:cs typeface="Arial" panose="020B0604020202020204" pitchFamily="34" charset="0"/>
              </a:rPr>
              <a:t>   </a:t>
            </a:r>
            <a:r>
              <a:rPr lang="en-US" altLang="zh-CN">
                <a:latin typeface="Arial" panose="020B0604020202020204" pitchFamily="34" charset="0"/>
                <a:ea typeface="楷体" panose="02010609060101010101" pitchFamily="49" charset="-122"/>
                <a:cs typeface="Arial" panose="020B0604020202020204" pitchFamily="34" charset="0"/>
              </a:rPr>
              <a:t>Q-e </a:t>
            </a:r>
            <a:r>
              <a:rPr lang="zh-CN" altLang="en-US">
                <a:latin typeface="Arial" panose="020B0604020202020204" pitchFamily="34" charset="0"/>
                <a:ea typeface="楷体" panose="02010609060101010101" pitchFamily="49" charset="-122"/>
                <a:cs typeface="Arial" panose="020B0604020202020204" pitchFamily="34" charset="0"/>
              </a:rPr>
              <a:t>概念</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r>
              <a:rPr lang="en-US" altLang="zh-CN">
                <a:latin typeface="Arial" panose="020B0604020202020204" pitchFamily="34" charset="0"/>
                <a:ea typeface="楷体" panose="02010609060101010101" pitchFamily="49" charset="-122"/>
                <a:cs typeface="Arial" panose="020B0604020202020204" pitchFamily="34" charset="0"/>
              </a:rPr>
              <a:t>4.10 </a:t>
            </a:r>
            <a:r>
              <a:rPr lang="zh-CN" altLang="en-US">
                <a:latin typeface="Arial" panose="020B0604020202020204" pitchFamily="34" charset="0"/>
                <a:ea typeface="楷体" panose="02010609060101010101" pitchFamily="49" charset="-122"/>
                <a:cs typeface="Arial" panose="020B0604020202020204" pitchFamily="34" charset="0"/>
              </a:rPr>
              <a:t>共聚速率</a:t>
            </a:r>
            <a:endParaRPr lang="en-US" altLang="zh-CN">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endParaRPr lang="en-US" altLang="zh-CN" b="1">
              <a:solidFill>
                <a:srgbClr val="FF0000"/>
              </a:solidFill>
              <a:latin typeface="Arial" panose="020B0604020202020204" pitchFamily="34" charset="0"/>
              <a:ea typeface="楷体" panose="02010609060101010101" pitchFamily="49" charset="-122"/>
              <a:cs typeface="Arial" panose="020B0604020202020204" pitchFamily="34" charset="0"/>
            </a:endParaRPr>
          </a:p>
          <a:p>
            <a:pPr marL="0" indent="0" eaLnBrk="1" hangingPunct="1">
              <a:buFont typeface="Arial" panose="020B0604020202020204" pitchFamily="34" charset="0"/>
              <a:buNone/>
            </a:pPr>
            <a:endParaRPr lang="zh-CN" altLang="en-US" b="1">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
        <p:nvSpPr>
          <p:cNvPr id="6" name="灯片编号占位符 5">
            <a:extLst>
              <a:ext uri="{FF2B5EF4-FFF2-40B4-BE49-F238E27FC236}">
                <a16:creationId xmlns:a16="http://schemas.microsoft.com/office/drawing/2014/main" id="{E3B10311-808B-40DB-97AE-23C4576AA944}"/>
              </a:ext>
            </a:extLst>
          </p:cNvPr>
          <p:cNvSpPr>
            <a:spLocks noGrp="1"/>
          </p:cNvSpPr>
          <p:nvPr>
            <p:ph type="sldNum" sz="quarter" idx="12"/>
          </p:nvPr>
        </p:nvSpPr>
        <p:spPr/>
        <p:txBody>
          <a:bodyPr/>
          <a:lstStyle/>
          <a:p>
            <a:pPr>
              <a:defRPr/>
            </a:pPr>
            <a:fld id="{994AAED6-7C1F-4CBC-9C05-563F657F0B93}" type="slidenum">
              <a:rPr lang="zh-CN" altLang="en-US" smtClean="0"/>
              <a:pPr>
                <a:defRPr/>
              </a:pPr>
              <a:t>63</a:t>
            </a:fld>
            <a:endParaRPr lang="en-US" altLang="zh-CN"/>
          </a:p>
        </p:txBody>
      </p:sp>
      <p:sp>
        <p:nvSpPr>
          <p:cNvPr id="3" name="箭头: 下 2">
            <a:extLst>
              <a:ext uri="{FF2B5EF4-FFF2-40B4-BE49-F238E27FC236}">
                <a16:creationId xmlns:a16="http://schemas.microsoft.com/office/drawing/2014/main" id="{A0588F51-99EB-4FE6-B59D-E8DC7B178CD3}"/>
              </a:ext>
            </a:extLst>
          </p:cNvPr>
          <p:cNvSpPr/>
          <p:nvPr/>
        </p:nvSpPr>
        <p:spPr>
          <a:xfrm>
            <a:off x="1366838" y="2276475"/>
            <a:ext cx="1296987" cy="2160588"/>
          </a:xfrm>
          <a:prstGeom prst="downArrow">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39183785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2C92222-D602-494C-B635-1558E11821B3}"/>
              </a:ext>
            </a:extLst>
          </p:cNvPr>
          <p:cNvSpPr>
            <a:spLocks noGrp="1"/>
          </p:cNvSpPr>
          <p:nvPr>
            <p:ph type="sldNum" sz="quarter" idx="12"/>
          </p:nvPr>
        </p:nvSpPr>
        <p:spPr/>
        <p:txBody>
          <a:bodyPr/>
          <a:lstStyle/>
          <a:p>
            <a:pPr>
              <a:defRPr/>
            </a:pPr>
            <a:fld id="{BE85F125-D50B-42BC-9CCB-A221AC3C340E}" type="slidenum">
              <a:rPr lang="zh-CN" altLang="en-US" smtClean="0"/>
              <a:pPr>
                <a:defRPr/>
              </a:pPr>
              <a:t>64</a:t>
            </a:fld>
            <a:endParaRPr lang="en-US" altLang="zh-CN"/>
          </a:p>
        </p:txBody>
      </p:sp>
      <p:sp>
        <p:nvSpPr>
          <p:cNvPr id="77827" name="矩形 2"/>
          <p:cNvSpPr>
            <a:spLocks noChangeArrowheads="1"/>
          </p:cNvSpPr>
          <p:nvPr/>
        </p:nvSpPr>
        <p:spPr bwMode="auto">
          <a:xfrm>
            <a:off x="539750" y="476250"/>
            <a:ext cx="2709863"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b="1">
                <a:solidFill>
                  <a:srgbClr val="FF0000"/>
                </a:solidFill>
                <a:latin typeface="楷体" panose="02010609060101010101" pitchFamily="49" charset="-122"/>
                <a:ea typeface="楷体" panose="02010609060101010101" pitchFamily="49" charset="-122"/>
              </a:rPr>
              <a:t>共聚合的概念</a:t>
            </a:r>
            <a:endParaRPr kumimoji="1" lang="en-US" altLang="zh-CN" b="1">
              <a:solidFill>
                <a:srgbClr val="FF0000"/>
              </a:solidFill>
              <a:latin typeface="楷体" panose="02010609060101010101" pitchFamily="49" charset="-122"/>
              <a:ea typeface="楷体" panose="02010609060101010101" pitchFamily="49" charset="-122"/>
            </a:endParaRPr>
          </a:p>
          <a:p>
            <a:pPr>
              <a:lnSpc>
                <a:spcPct val="100000"/>
              </a:lnSpc>
              <a:spcBef>
                <a:spcPct val="0"/>
              </a:spcBef>
              <a:buFontTx/>
              <a:buNone/>
            </a:pPr>
            <a:r>
              <a:rPr kumimoji="1" lang="zh-CN" altLang="en-US" b="1">
                <a:solidFill>
                  <a:srgbClr val="FF0000"/>
                </a:solidFill>
                <a:latin typeface="楷体" panose="02010609060101010101" pitchFamily="49" charset="-122"/>
                <a:ea typeface="楷体" panose="02010609060101010101" pitchFamily="49" charset="-122"/>
              </a:rPr>
              <a:t>共聚物类型</a:t>
            </a:r>
            <a:endParaRPr lang="en-US" altLang="zh-CN" b="1">
              <a:solidFill>
                <a:srgbClr val="FF0000"/>
              </a:solidFill>
              <a:latin typeface="楷体" panose="02010609060101010101" pitchFamily="49" charset="-122"/>
              <a:ea typeface="楷体" panose="02010609060101010101" pitchFamily="49" charset="-122"/>
            </a:endParaRPr>
          </a:p>
          <a:p>
            <a:pPr>
              <a:lnSpc>
                <a:spcPct val="100000"/>
              </a:lnSpc>
              <a:spcBef>
                <a:spcPct val="0"/>
              </a:spcBef>
              <a:buFontTx/>
              <a:buNone/>
            </a:pPr>
            <a:r>
              <a:rPr kumimoji="1" lang="zh-CN" altLang="en-US" b="1">
                <a:solidFill>
                  <a:srgbClr val="FF0000"/>
                </a:solidFill>
                <a:latin typeface="Arial" panose="020B0604020202020204" pitchFamily="34" charset="0"/>
                <a:ea typeface="楷体" panose="02010609060101010101" pitchFamily="49" charset="-122"/>
                <a:cs typeface="Arial" panose="020B0604020202020204" pitchFamily="34" charset="0"/>
              </a:rPr>
              <a:t>二元共聚物组成</a:t>
            </a:r>
            <a:endParaRPr lang="zh-CN" altLang="en-US"/>
          </a:p>
        </p:txBody>
      </p:sp>
      <p:graphicFrame>
        <p:nvGraphicFramePr>
          <p:cNvPr id="4" name="Object 4"/>
          <p:cNvGraphicFramePr>
            <a:graphicFrameLocks noChangeAspect="1"/>
          </p:cNvGraphicFramePr>
          <p:nvPr/>
        </p:nvGraphicFramePr>
        <p:xfrm>
          <a:off x="577850" y="2101850"/>
          <a:ext cx="4697413" cy="1008063"/>
        </p:xfrm>
        <a:graphic>
          <a:graphicData uri="http://schemas.openxmlformats.org/presentationml/2006/ole">
            <mc:AlternateContent xmlns:mc="http://schemas.openxmlformats.org/markup-compatibility/2006">
              <mc:Choice xmlns:v="urn:schemas-microsoft-com:vml" Requires="v">
                <p:oleObj spid="_x0000_s187427" name="公式" r:id="rId4" imgW="2070100" imgH="444500" progId="Equation.3">
                  <p:embed/>
                </p:oleObj>
              </mc:Choice>
              <mc:Fallback>
                <p:oleObj name="公式" r:id="rId4" imgW="2070100" imgH="444500" progId="Equation.3">
                  <p:embed/>
                  <p:pic>
                    <p:nvPicPr>
                      <p:cNvPr id="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7850" y="2101850"/>
                        <a:ext cx="469741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1024"/>
          <p:cNvGraphicFramePr>
            <a:graphicFrameLocks noChangeAspect="1"/>
          </p:cNvGraphicFramePr>
          <p:nvPr/>
        </p:nvGraphicFramePr>
        <p:xfrm>
          <a:off x="625475" y="3378200"/>
          <a:ext cx="4443413" cy="1101725"/>
        </p:xfrm>
        <a:graphic>
          <a:graphicData uri="http://schemas.openxmlformats.org/presentationml/2006/ole">
            <mc:AlternateContent xmlns:mc="http://schemas.openxmlformats.org/markup-compatibility/2006">
              <mc:Choice xmlns:v="urn:schemas-microsoft-com:vml" Requires="v">
                <p:oleObj spid="_x0000_s187428" name="公式" r:id="rId6" imgW="1778000" imgH="457200" progId="Equation.3">
                  <p:embed/>
                </p:oleObj>
              </mc:Choice>
              <mc:Fallback>
                <p:oleObj name="公式" r:id="rId6" imgW="1778000" imgH="457200" progId="Equation.3">
                  <p:embed/>
                  <p:pic>
                    <p:nvPicPr>
                      <p:cNvPr id="5" name="Object 10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5475" y="3378200"/>
                        <a:ext cx="444341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a:extLst>
              <a:ext uri="{FF2B5EF4-FFF2-40B4-BE49-F238E27FC236}">
                <a16:creationId xmlns:a16="http://schemas.microsoft.com/office/drawing/2014/main" id="{EB05F4C0-A333-4AD1-AF92-D8EEA38F4AD9}"/>
              </a:ext>
            </a:extLst>
          </p:cNvPr>
          <p:cNvSpPr>
            <a:spLocks noChangeArrowheads="1"/>
          </p:cNvSpPr>
          <p:nvPr/>
        </p:nvSpPr>
        <p:spPr bwMode="auto">
          <a:xfrm>
            <a:off x="5651500" y="1985963"/>
            <a:ext cx="1944688" cy="2493962"/>
          </a:xfrm>
          <a:prstGeom prst="rect">
            <a:avLst/>
          </a:prstGeom>
          <a:solidFill>
            <a:schemeClr val="bg1">
              <a:lumMod val="95000"/>
            </a:schemeClr>
          </a:solidFill>
          <a:ln>
            <a:noFill/>
          </a:ln>
          <a:effec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等活性假定</a:t>
            </a:r>
          </a:p>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长链假定</a:t>
            </a:r>
          </a:p>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稳态假定</a:t>
            </a:r>
          </a:p>
          <a:p>
            <a:pPr marL="0" indent="0" eaLnBrk="1" hangingPunct="1">
              <a:lnSpc>
                <a:spcPct val="125000"/>
              </a:lnSpc>
              <a:spcBef>
                <a:spcPct val="50000"/>
              </a:spcBef>
              <a:buClr>
                <a:srgbClr val="FF0000"/>
              </a:buClr>
              <a:buFont typeface="Arial" panose="020B0604020202020204" pitchFamily="34" charset="0"/>
              <a:buNone/>
              <a:defRPr/>
            </a:pPr>
            <a:r>
              <a:rPr kumimoji="1" lang="zh-CN" altLang="en-US" sz="2400" b="1" dirty="0">
                <a:latin typeface="楷体" panose="02010609060101010101" pitchFamily="49" charset="-122"/>
                <a:ea typeface="楷体" panose="02010609060101010101" pitchFamily="49" charset="-122"/>
              </a:rPr>
              <a:t>不可逆假定</a:t>
            </a:r>
          </a:p>
        </p:txBody>
      </p:sp>
      <p:sp>
        <p:nvSpPr>
          <p:cNvPr id="77831" name="灯片编号占位符 5"/>
          <p:cNvSpPr txBox="1">
            <a:spLocks/>
          </p:cNvSpPr>
          <p:nvPr/>
        </p:nvSpPr>
        <p:spPr bwMode="auto">
          <a:xfrm>
            <a:off x="3028950" y="6356350"/>
            <a:ext cx="30861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fld id="{6D0E6E8F-CD1B-4A49-94BF-EAAF61188FF2}" type="slidenum">
              <a:rPr lang="zh-CN" altLang="en-US" sz="1200">
                <a:solidFill>
                  <a:srgbClr val="FFFFFF"/>
                </a:solidFill>
                <a:latin typeface="Century Schoolbook" panose="02040604050505020304" pitchFamily="18" charset="0"/>
                <a:ea typeface="宋体" panose="02010600030101010101" pitchFamily="2" charset="-122"/>
              </a:rPr>
              <a:pPr algn="ctr" eaLnBrk="1" hangingPunct="1">
                <a:lnSpc>
                  <a:spcPct val="100000"/>
                </a:lnSpc>
                <a:spcBef>
                  <a:spcPct val="0"/>
                </a:spcBef>
                <a:buFontTx/>
                <a:buNone/>
              </a:pPr>
              <a:t>64</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77832" name="Line 9"/>
          <p:cNvSpPr>
            <a:spLocks noChangeShapeType="1"/>
          </p:cNvSpPr>
          <p:nvPr/>
        </p:nvSpPr>
        <p:spPr bwMode="auto">
          <a:xfrm>
            <a:off x="2743200" y="4495800"/>
            <a:ext cx="16002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p>
            <a:endParaRPr lang="zh-CN" altLang="en-US"/>
          </a:p>
        </p:txBody>
      </p:sp>
      <p:sp>
        <p:nvSpPr>
          <p:cNvPr id="77833" name="Line 12"/>
          <p:cNvSpPr>
            <a:spLocks noChangeShapeType="1"/>
          </p:cNvSpPr>
          <p:nvPr/>
        </p:nvSpPr>
        <p:spPr bwMode="auto">
          <a:xfrm flipV="1">
            <a:off x="4648200" y="5181600"/>
            <a:ext cx="2667000" cy="76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wrap="none" lIns="92075" tIns="46038" rIns="92075" bIns="46038" anchor="ctr"/>
          <a:lstStyle/>
          <a:p>
            <a:endParaRPr lang="zh-CN" altLang="en-US"/>
          </a:p>
        </p:txBody>
      </p:sp>
      <p:sp>
        <p:nvSpPr>
          <p:cNvPr id="77834" name="AutoShape 29"/>
          <p:cNvSpPr>
            <a:spLocks/>
          </p:cNvSpPr>
          <p:nvPr/>
        </p:nvSpPr>
        <p:spPr bwMode="auto">
          <a:xfrm>
            <a:off x="8610600" y="4038600"/>
            <a:ext cx="152400" cy="914400"/>
          </a:xfrm>
          <a:prstGeom prst="leftBrace">
            <a:avLst>
              <a:gd name="adj1" fmla="val 50000"/>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graphicFrame>
        <p:nvGraphicFramePr>
          <p:cNvPr id="12" name="Object 31"/>
          <p:cNvGraphicFramePr>
            <a:graphicFrameLocks noChangeAspect="1"/>
          </p:cNvGraphicFramePr>
          <p:nvPr/>
        </p:nvGraphicFramePr>
        <p:xfrm>
          <a:off x="2025650" y="5468938"/>
          <a:ext cx="2635250" cy="762000"/>
        </p:xfrm>
        <a:graphic>
          <a:graphicData uri="http://schemas.openxmlformats.org/presentationml/2006/ole">
            <mc:AlternateContent xmlns:mc="http://schemas.openxmlformats.org/markup-compatibility/2006">
              <mc:Choice xmlns:v="urn:schemas-microsoft-com:vml" Requires="v">
                <p:oleObj spid="_x0000_s187429" name="公式" r:id="rId8" imgW="1485900" imgH="431800" progId="Equation.3">
                  <p:embed/>
                </p:oleObj>
              </mc:Choice>
              <mc:Fallback>
                <p:oleObj name="公式" r:id="rId8" imgW="1485900" imgH="431800" progId="Equation.3">
                  <p:embed/>
                  <p:pic>
                    <p:nvPicPr>
                      <p:cNvPr id="12"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25650" y="5468938"/>
                        <a:ext cx="2635250" cy="76200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矩形 20">
            <a:extLst>
              <a:ext uri="{FF2B5EF4-FFF2-40B4-BE49-F238E27FC236}">
                <a16:creationId xmlns:a16="http://schemas.microsoft.com/office/drawing/2014/main" id="{5FBE7B6E-17D7-449F-9DEC-5D99FEF1DE22}"/>
              </a:ext>
            </a:extLst>
          </p:cNvPr>
          <p:cNvSpPr/>
          <p:nvPr/>
        </p:nvSpPr>
        <p:spPr>
          <a:xfrm>
            <a:off x="538163" y="5489575"/>
            <a:ext cx="1266825" cy="522288"/>
          </a:xfrm>
          <a:prstGeom prst="rect">
            <a:avLst/>
          </a:prstGeom>
        </p:spPr>
        <p:txBody>
          <a:bodyPr wrap="none">
            <a:spAutoFit/>
          </a:bodyPr>
          <a:lstStyle/>
          <a:p>
            <a:pPr>
              <a:defRPr/>
            </a:pPr>
            <a:r>
              <a:rPr lang="zh-CN" altLang="en-US" sz="2800" b="1"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竟聚率</a:t>
            </a:r>
            <a:endParaRPr lang="zh-CN" altLang="en-US" sz="2800" dirty="0">
              <a:solidFill>
                <a:srgbClr val="FF0000"/>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endParaRPr>
          </a:p>
        </p:txBody>
      </p:sp>
      <p:sp>
        <p:nvSpPr>
          <p:cNvPr id="22" name="矩形 21">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37225406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anim calcmode="lin" valueType="num">
                                      <p:cBhvr additive="base">
                                        <p:cTn id="23" dur="500" fill="hold"/>
                                        <p:tgtEl>
                                          <p:spTgt spid="21"/>
                                        </p:tgtEl>
                                        <p:attrNameLst>
                                          <p:attrName>ppt_x</p:attrName>
                                        </p:attrNameLst>
                                      </p:cBhvr>
                                      <p:tavLst>
                                        <p:tav tm="0">
                                          <p:val>
                                            <p:strVal val="#ppt_x"/>
                                          </p:val>
                                        </p:tav>
                                        <p:tav tm="100000">
                                          <p:val>
                                            <p:strVal val="#ppt_x"/>
                                          </p:val>
                                        </p:tav>
                                      </p:tavLst>
                                    </p:anim>
                                    <p:anim calcmode="lin" valueType="num">
                                      <p:cBhvr additive="base">
                                        <p:cTn id="24" dur="500" fill="hold"/>
                                        <p:tgtEl>
                                          <p:spTgt spid="2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33798E50-85CF-4E47-A0DF-ACFC7DFA466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98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9E5BC71-5B50-4B7E-97E0-014D06E8B68C}"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65</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79876" name="Text Box 10"/>
          <p:cNvSpPr txBox="1">
            <a:spLocks noChangeArrowheads="1"/>
          </p:cNvSpPr>
          <p:nvPr/>
        </p:nvSpPr>
        <p:spPr bwMode="auto">
          <a:xfrm>
            <a:off x="631825" y="4414838"/>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(4)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a:t>
            </a:r>
            <a:r>
              <a:rPr lang="en-US" altLang="zh-CN" sz="1800" b="1">
                <a:latin typeface="Century Schoolbook" panose="02040604050505020304" pitchFamily="18" charset="0"/>
                <a:ea typeface="宋体" panose="02010600030101010101" pitchFamily="2" charset="-122"/>
              </a:rPr>
              <a:t>＝1,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    </a:t>
            </a:r>
            <a:r>
              <a:rPr lang="en-US" altLang="zh-CN" sz="1800" b="1">
                <a:latin typeface="Century Schoolbook" panose="02040604050505020304" pitchFamily="18" charset="0"/>
                <a:ea typeface="宋体" panose="02010600030101010101" pitchFamily="2" charset="-122"/>
                <a:sym typeface="Symbol" panose="05050102010706020507" pitchFamily="18" charset="2"/>
              </a:rPr>
              <a:t></a:t>
            </a:r>
            <a:r>
              <a:rPr lang="en-US" altLang="zh-CN" sz="1800">
                <a:latin typeface="Century Schoolbook" panose="02040604050505020304" pitchFamily="18" charset="0"/>
                <a:ea typeface="宋体" panose="02010600030101010101" pitchFamily="2" charset="-122"/>
              </a:rPr>
              <a:t> </a:t>
            </a:r>
            <a:endParaRPr lang="zh-CN" altLang="en-US" sz="1800">
              <a:latin typeface="Century Schoolbook" panose="02040604050505020304" pitchFamily="18" charset="0"/>
              <a:ea typeface="宋体" panose="02010600030101010101" pitchFamily="2" charset="-122"/>
            </a:endParaRPr>
          </a:p>
        </p:txBody>
      </p:sp>
      <p:sp>
        <p:nvSpPr>
          <p:cNvPr id="79877" name="Text Box 11"/>
          <p:cNvSpPr txBox="1">
            <a:spLocks noChangeArrowheads="1"/>
          </p:cNvSpPr>
          <p:nvPr/>
        </p:nvSpPr>
        <p:spPr bwMode="auto">
          <a:xfrm>
            <a:off x="631825" y="1196975"/>
            <a:ext cx="7848600" cy="277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(1)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 </a:t>
            </a:r>
            <a:r>
              <a:rPr lang="en-US" altLang="zh-CN" sz="1800" b="1">
                <a:latin typeface="Century Schoolbook" panose="02040604050505020304" pitchFamily="18" charset="0"/>
                <a:ea typeface="宋体" panose="02010600030101010101" pitchFamily="2" charset="-122"/>
              </a:rPr>
              <a:t>&gt;1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&gt;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a:t>
            </a:r>
            <a:r>
              <a:rPr lang="en-US" altLang="zh-CN" sz="1800" b="1">
                <a:latin typeface="Century Schoolbook" panose="02040604050505020304" pitchFamily="18" charset="0"/>
                <a:ea typeface="宋体" panose="02010600030101010101" pitchFamily="2" charset="-122"/>
              </a:rPr>
              <a:t>         </a:t>
            </a:r>
            <a:r>
              <a:rPr lang="en-US" altLang="zh-CN" sz="1800" b="1">
                <a:latin typeface="Century Schoolbook" panose="02040604050505020304" pitchFamily="18" charset="0"/>
                <a:ea typeface="宋体" panose="02010600030101010101" pitchFamily="2" charset="-122"/>
                <a:sym typeface="Symbol" panose="05050102010706020507" pitchFamily="18" charset="2"/>
              </a:rPr>
              <a:t></a:t>
            </a:r>
            <a:r>
              <a:rPr lang="en-US" altLang="zh-CN" sz="1800" b="1">
                <a:latin typeface="Century Schoolbook" panose="02040604050505020304" pitchFamily="18" charset="0"/>
                <a:ea typeface="宋体" panose="02010600030101010101" pitchFamily="2" charset="-122"/>
              </a:rPr>
              <a:t>         </a:t>
            </a:r>
            <a:r>
              <a:rPr lang="zh-CN" altLang="en-US" sz="2100">
                <a:latin typeface="楷体" panose="02010609060101010101" pitchFamily="49" charset="-122"/>
                <a:ea typeface="楷体" panose="02010609060101010101" pitchFamily="49" charset="-122"/>
              </a:rPr>
              <a:t>单体1比单体2活泼</a:t>
            </a:r>
          </a:p>
          <a:p>
            <a:pPr algn="just">
              <a:lnSpc>
                <a:spcPct val="130000"/>
              </a:lnSpc>
              <a:spcBef>
                <a:spcPct val="0"/>
              </a:spcBef>
              <a:buFontTx/>
              <a:buNone/>
            </a:pPr>
            <a:r>
              <a:rPr lang="zh-CN" altLang="en-US" sz="2100">
                <a:latin typeface="楷体" panose="02010609060101010101" pitchFamily="49" charset="-122"/>
                <a:ea typeface="楷体" panose="02010609060101010101" pitchFamily="49" charset="-122"/>
              </a:rPr>
              <a:t>                           自聚倾向 &gt; 共聚倾向</a:t>
            </a:r>
            <a:r>
              <a:rPr lang="en-US" altLang="zh-CN" sz="2100">
                <a:latin typeface="楷体" panose="02010609060101010101" pitchFamily="49" charset="-122"/>
                <a:ea typeface="楷体" panose="02010609060101010101" pitchFamily="49" charset="-122"/>
              </a:rPr>
              <a:t>(</a:t>
            </a:r>
            <a:r>
              <a:rPr lang="zh-CN" altLang="en-US" sz="2100">
                <a:latin typeface="楷体" panose="02010609060101010101" pitchFamily="49" charset="-122"/>
                <a:ea typeface="楷体" panose="02010609060101010101" pitchFamily="49" charset="-122"/>
              </a:rPr>
              <a:t>单体1</a:t>
            </a:r>
            <a:r>
              <a:rPr lang="en-US" altLang="zh-CN" sz="2100">
                <a:latin typeface="楷体" panose="02010609060101010101" pitchFamily="49" charset="-122"/>
                <a:ea typeface="楷体" panose="02010609060101010101" pitchFamily="49" charset="-122"/>
              </a:rPr>
              <a:t>)</a:t>
            </a:r>
            <a:endParaRPr lang="zh-CN" altLang="en-US" sz="2100">
              <a:latin typeface="楷体" panose="02010609060101010101" pitchFamily="49" charset="-122"/>
              <a:ea typeface="楷体" panose="02010609060101010101" pitchFamily="49" charset="-122"/>
            </a:endParaRPr>
          </a:p>
          <a:p>
            <a:pPr algn="just">
              <a:lnSpc>
                <a:spcPct val="130000"/>
              </a:lnSpc>
              <a:spcBef>
                <a:spcPct val="0"/>
              </a:spcBef>
              <a:buFontTx/>
              <a:buNone/>
            </a:pPr>
            <a:endParaRPr lang="zh-CN" altLang="en-US" sz="800" b="1">
              <a:latin typeface="Century Schoolbook" panose="02040604050505020304" pitchFamily="18" charset="0"/>
              <a:ea typeface="宋体" panose="02010600030101010101" pitchFamily="2" charset="-122"/>
            </a:endParaRPr>
          </a:p>
          <a:p>
            <a:pPr algn="just">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(2)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 </a:t>
            </a:r>
            <a:r>
              <a:rPr lang="en-US" altLang="zh-CN" sz="1800" b="1">
                <a:latin typeface="Century Schoolbook" panose="02040604050505020304" pitchFamily="18" charset="0"/>
                <a:ea typeface="宋体" panose="02010600030101010101" pitchFamily="2" charset="-122"/>
              </a:rPr>
              <a:t>&lt;1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&lt;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            </a:t>
            </a:r>
            <a:r>
              <a:rPr lang="en-US" altLang="zh-CN" sz="1800" b="1">
                <a:latin typeface="Century Schoolbook" panose="02040604050505020304" pitchFamily="18" charset="0"/>
                <a:ea typeface="宋体" panose="02010600030101010101" pitchFamily="2" charset="-122"/>
              </a:rPr>
              <a:t> </a:t>
            </a:r>
            <a:r>
              <a:rPr lang="en-US" altLang="zh-CN" sz="2000">
                <a:latin typeface="楷体" panose="02010609060101010101" pitchFamily="49" charset="-122"/>
                <a:ea typeface="楷体" panose="02010609060101010101" pitchFamily="49" charset="-122"/>
                <a:sym typeface="Symbol" panose="05050102010706020507" pitchFamily="18" charset="2"/>
              </a:rPr>
              <a:t></a:t>
            </a:r>
            <a:r>
              <a:rPr lang="en-US" altLang="zh-CN" sz="2000">
                <a:latin typeface="楷体" panose="02010609060101010101" pitchFamily="49" charset="-122"/>
                <a:ea typeface="楷体" panose="02010609060101010101" pitchFamily="49" charset="-122"/>
              </a:rPr>
              <a:t>     </a:t>
            </a:r>
            <a:r>
              <a:rPr lang="zh-CN" altLang="en-US" sz="2000">
                <a:latin typeface="楷体" panose="02010609060101010101" pitchFamily="49" charset="-122"/>
                <a:ea typeface="楷体" panose="02010609060101010101" pitchFamily="49" charset="-122"/>
              </a:rPr>
              <a:t>单体1比单体2活性小</a:t>
            </a:r>
          </a:p>
          <a:p>
            <a:pPr algn="just">
              <a:lnSpc>
                <a:spcPct val="130000"/>
              </a:lnSpc>
              <a:spcBef>
                <a:spcPct val="0"/>
              </a:spcBef>
              <a:buFontTx/>
              <a:buNone/>
            </a:pPr>
            <a:r>
              <a:rPr lang="zh-CN" altLang="en-US" sz="2000">
                <a:latin typeface="楷体" panose="02010609060101010101" pitchFamily="49" charset="-122"/>
                <a:ea typeface="楷体" panose="02010609060101010101" pitchFamily="49" charset="-122"/>
              </a:rPr>
              <a:t>                             自聚倾向 &lt; 共聚倾向</a:t>
            </a:r>
          </a:p>
          <a:p>
            <a:pPr algn="just">
              <a:lnSpc>
                <a:spcPct val="130000"/>
              </a:lnSpc>
              <a:spcBef>
                <a:spcPct val="0"/>
              </a:spcBef>
              <a:buFontTx/>
              <a:buNone/>
            </a:pPr>
            <a:endParaRPr lang="zh-CN" altLang="en-US" sz="800" b="1">
              <a:latin typeface="Century Schoolbook" panose="02040604050505020304" pitchFamily="18" charset="0"/>
              <a:ea typeface="宋体" panose="02010600030101010101" pitchFamily="2" charset="-122"/>
            </a:endParaRPr>
          </a:p>
          <a:p>
            <a:pPr algn="just">
              <a:lnSpc>
                <a:spcPct val="130000"/>
              </a:lnSpc>
              <a:spcBef>
                <a:spcPct val="0"/>
              </a:spcBef>
              <a:buFontTx/>
              <a:buNone/>
            </a:pPr>
            <a:r>
              <a:rPr lang="zh-CN" altLang="zh-CN" sz="1800" b="1">
                <a:latin typeface="Century Schoolbook" panose="02040604050505020304" pitchFamily="18" charset="0"/>
                <a:ea typeface="宋体" panose="02010600030101010101" pitchFamily="2" charset="-122"/>
              </a:rPr>
              <a:t>(3) </a:t>
            </a:r>
            <a:r>
              <a:rPr lang="en-US" altLang="zh-CN" sz="1800" b="1" i="1">
                <a:latin typeface="Century Schoolbook" panose="02040604050505020304" pitchFamily="18" charset="0"/>
                <a:ea typeface="宋体" panose="02010600030101010101" pitchFamily="2" charset="-122"/>
              </a:rPr>
              <a:t>r</a:t>
            </a:r>
            <a:r>
              <a:rPr lang="en-US" altLang="zh-CN" sz="1800" b="1" baseline="-25000">
                <a:latin typeface="Century Schoolbook" panose="02040604050505020304" pitchFamily="18" charset="0"/>
                <a:ea typeface="宋体" panose="02010600030101010101" pitchFamily="2" charset="-122"/>
              </a:rPr>
              <a:t>1 </a:t>
            </a:r>
            <a:r>
              <a:rPr lang="en-US" altLang="zh-CN" sz="1800" b="1">
                <a:latin typeface="Century Schoolbook" panose="02040604050505020304" pitchFamily="18" charset="0"/>
                <a:ea typeface="宋体" panose="02010600030101010101" pitchFamily="2" charset="-122"/>
              </a:rPr>
              <a:t>= 0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11 </a:t>
            </a:r>
            <a:r>
              <a:rPr lang="en-US" altLang="zh-CN" sz="1800" b="1">
                <a:latin typeface="Century Schoolbook" panose="02040604050505020304" pitchFamily="18" charset="0"/>
                <a:ea typeface="宋体" panose="02010600030101010101" pitchFamily="2" charset="-122"/>
              </a:rPr>
              <a:t>= 0, </a:t>
            </a:r>
            <a:r>
              <a:rPr lang="en-US" altLang="zh-CN" sz="1800" b="1" i="1">
                <a:latin typeface="Century Schoolbook" panose="02040604050505020304" pitchFamily="18" charset="0"/>
                <a:ea typeface="宋体" panose="02010600030101010101" pitchFamily="2" charset="-122"/>
              </a:rPr>
              <a:t>k</a:t>
            </a:r>
            <a:r>
              <a:rPr lang="en-US" altLang="zh-CN" sz="1800" b="1" baseline="-25000">
                <a:latin typeface="Century Schoolbook" panose="02040604050505020304" pitchFamily="18" charset="0"/>
                <a:ea typeface="宋体" panose="02010600030101010101" pitchFamily="2" charset="-122"/>
              </a:rPr>
              <a:t>12</a:t>
            </a:r>
            <a:r>
              <a:rPr lang="en-US" altLang="zh-CN" sz="1800" b="1">
                <a:latin typeface="Century Schoolbook" panose="02040604050505020304" pitchFamily="18" charset="0"/>
                <a:ea typeface="宋体" panose="02010600030101010101" pitchFamily="2" charset="-122"/>
              </a:rPr>
              <a:t> </a:t>
            </a:r>
            <a:r>
              <a:rPr lang="en-US" altLang="zh-CN" sz="1800" b="1">
                <a:latin typeface="Century Schoolbook" panose="02040604050505020304" pitchFamily="18" charset="0"/>
                <a:ea typeface="宋体" panose="02010600030101010101" pitchFamily="2" charset="-122"/>
                <a:sym typeface="Symbol" panose="05050102010706020507" pitchFamily="18" charset="2"/>
              </a:rPr>
              <a:t> </a:t>
            </a:r>
            <a:r>
              <a:rPr lang="en-US" altLang="zh-CN" sz="1800" b="1">
                <a:latin typeface="Century Schoolbook" panose="02040604050505020304" pitchFamily="18" charset="0"/>
                <a:ea typeface="宋体" panose="02010600030101010101" pitchFamily="2" charset="-122"/>
              </a:rPr>
              <a:t>0    </a:t>
            </a:r>
            <a:r>
              <a:rPr lang="en-US" altLang="zh-CN" sz="18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1800">
                <a:latin typeface="Arial" panose="020B0604020202020204" pitchFamily="34" charset="0"/>
                <a:ea typeface="楷体" panose="02010609060101010101" pitchFamily="49" charset="-122"/>
                <a:cs typeface="Arial" panose="020B0604020202020204" pitchFamily="34" charset="0"/>
              </a:rPr>
              <a:t>       M</a:t>
            </a:r>
            <a:r>
              <a:rPr lang="en-US" altLang="zh-CN" sz="1800" baseline="-25000">
                <a:latin typeface="Arial" panose="020B0604020202020204" pitchFamily="34" charset="0"/>
                <a:ea typeface="楷体" panose="02010609060101010101" pitchFamily="49" charset="-122"/>
                <a:cs typeface="Arial" panose="020B0604020202020204" pitchFamily="34" charset="0"/>
              </a:rPr>
              <a:t>1</a:t>
            </a:r>
            <a:r>
              <a:rPr lang="zh-CN" altLang="en-US" sz="1800">
                <a:latin typeface="Arial" panose="020B0604020202020204" pitchFamily="34" charset="0"/>
                <a:ea typeface="楷体" panose="02010609060101010101" pitchFamily="49" charset="-122"/>
                <a:cs typeface="Arial" panose="020B0604020202020204" pitchFamily="34" charset="0"/>
              </a:rPr>
              <a:t>只能与</a:t>
            </a:r>
            <a:r>
              <a:rPr lang="en-US" altLang="zh-CN" sz="1800">
                <a:latin typeface="Arial" panose="020B0604020202020204" pitchFamily="34" charset="0"/>
                <a:ea typeface="楷体" panose="02010609060101010101" pitchFamily="49" charset="-122"/>
                <a:cs typeface="Arial" panose="020B0604020202020204" pitchFamily="34" charset="0"/>
              </a:rPr>
              <a:t>M</a:t>
            </a:r>
            <a:r>
              <a:rPr lang="en-US" altLang="zh-CN" sz="1800" baseline="-25000">
                <a:latin typeface="Arial" panose="020B0604020202020204" pitchFamily="34" charset="0"/>
                <a:ea typeface="楷体" panose="02010609060101010101" pitchFamily="49" charset="-122"/>
                <a:cs typeface="Arial" panose="020B0604020202020204" pitchFamily="34" charset="0"/>
              </a:rPr>
              <a:t>2</a:t>
            </a:r>
            <a:r>
              <a:rPr lang="zh-CN" altLang="en-US" sz="1800">
                <a:latin typeface="Arial" panose="020B0604020202020204" pitchFamily="34" charset="0"/>
                <a:ea typeface="楷体" panose="02010609060101010101" pitchFamily="49" charset="-122"/>
                <a:cs typeface="Arial" panose="020B0604020202020204" pitchFamily="34" charset="0"/>
              </a:rPr>
              <a:t>共聚，</a:t>
            </a:r>
          </a:p>
          <a:p>
            <a:pPr algn="just">
              <a:lnSpc>
                <a:spcPct val="130000"/>
              </a:lnSpc>
              <a:spcBef>
                <a:spcPct val="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                                                            不能自聚</a:t>
            </a:r>
          </a:p>
        </p:txBody>
      </p:sp>
      <p:sp>
        <p:nvSpPr>
          <p:cNvPr id="79878" name="AutoShape 12"/>
          <p:cNvSpPr>
            <a:spLocks/>
          </p:cNvSpPr>
          <p:nvPr/>
        </p:nvSpPr>
        <p:spPr bwMode="auto">
          <a:xfrm>
            <a:off x="4032250" y="1323975"/>
            <a:ext cx="215900" cy="709613"/>
          </a:xfrm>
          <a:prstGeom prst="leftBrace">
            <a:avLst>
              <a:gd name="adj1" fmla="val 2739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79879" name="AutoShape 14"/>
          <p:cNvSpPr>
            <a:spLocks/>
          </p:cNvSpPr>
          <p:nvPr/>
        </p:nvSpPr>
        <p:spPr bwMode="auto">
          <a:xfrm>
            <a:off x="4054475" y="2259013"/>
            <a:ext cx="195263" cy="720725"/>
          </a:xfrm>
          <a:prstGeom prst="leftBrace">
            <a:avLst>
              <a:gd name="adj1" fmla="val 307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graphicFrame>
        <p:nvGraphicFramePr>
          <p:cNvPr id="79880" name="Object 0"/>
          <p:cNvGraphicFramePr>
            <a:graphicFrameLocks noChangeAspect="1"/>
          </p:cNvGraphicFramePr>
          <p:nvPr/>
        </p:nvGraphicFramePr>
        <p:xfrm>
          <a:off x="3497263" y="4195763"/>
          <a:ext cx="4999037" cy="955675"/>
        </p:xfrm>
        <a:graphic>
          <a:graphicData uri="http://schemas.openxmlformats.org/presentationml/2006/ole">
            <mc:AlternateContent xmlns:mc="http://schemas.openxmlformats.org/markup-compatibility/2006">
              <mc:Choice xmlns:v="urn:schemas-microsoft-com:vml" Requires="v">
                <p:oleObj spid="_x0000_s188429" name="Document" r:id="rId3" imgW="2943225" imgH="561975" progId="">
                  <p:embed/>
                </p:oleObj>
              </mc:Choice>
              <mc:Fallback>
                <p:oleObj name="Document" r:id="rId3" imgW="2943225" imgH="561975" progId="">
                  <p:embed/>
                  <p:pic>
                    <p:nvPicPr>
                      <p:cNvPr id="79880" name="Object 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7263" y="4195763"/>
                        <a:ext cx="4999037" cy="955675"/>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79881" name="AutoShape 14"/>
          <p:cNvSpPr>
            <a:spLocks/>
          </p:cNvSpPr>
          <p:nvPr/>
        </p:nvSpPr>
        <p:spPr bwMode="auto">
          <a:xfrm>
            <a:off x="4187825" y="3187700"/>
            <a:ext cx="195263" cy="720725"/>
          </a:xfrm>
          <a:prstGeom prst="leftBrace">
            <a:avLst>
              <a:gd name="adj1" fmla="val 307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79882" name="AutoShape 14"/>
          <p:cNvSpPr>
            <a:spLocks/>
          </p:cNvSpPr>
          <p:nvPr/>
        </p:nvSpPr>
        <p:spPr bwMode="auto">
          <a:xfrm>
            <a:off x="3302000" y="4365625"/>
            <a:ext cx="195263" cy="720725"/>
          </a:xfrm>
          <a:prstGeom prst="leftBrace">
            <a:avLst>
              <a:gd name="adj1" fmla="val 30759"/>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2" name="矩形 11">
            <a:extLst>
              <a:ext uri="{FF2B5EF4-FFF2-40B4-BE49-F238E27FC236}">
                <a16:creationId xmlns:a16="http://schemas.microsoft.com/office/drawing/2014/main" id="{A023CFF0-6C13-4F7F-A408-F8DC4DC18444}"/>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971474653"/>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AE5D508-0F10-452D-A177-FB22129E074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66</a:t>
            </a:fld>
            <a:endParaRPr lang="en-US" altLang="zh-CN" sz="1400">
              <a:latin typeface="Times New Roman" panose="02020603050405020304" pitchFamily="18" charset="0"/>
              <a:ea typeface="宋体" panose="02010600030101010101" pitchFamily="2" charset="-122"/>
            </a:endParaRPr>
          </a:p>
        </p:txBody>
      </p:sp>
      <p:sp>
        <p:nvSpPr>
          <p:cNvPr id="99331" name="Text Box 2"/>
          <p:cNvSpPr txBox="1">
            <a:spLocks noChangeArrowheads="1"/>
          </p:cNvSpPr>
          <p:nvPr/>
        </p:nvSpPr>
        <p:spPr bwMode="auto">
          <a:xfrm>
            <a:off x="228600" y="990600"/>
            <a:ext cx="8174038" cy="484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35000"/>
              </a:spcBef>
              <a:buClr>
                <a:srgbClr val="FF0000"/>
              </a:buClr>
              <a:buFont typeface="Wingdings" panose="05000000000000000000" pitchFamily="2" charset="2"/>
              <a:buChar char="p"/>
            </a:pP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理想共聚</a:t>
            </a:r>
            <a:r>
              <a:rPr kumimoji="1" lang="en-US" altLang="zh-CN"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组成曲线为一对称的曲线</a:t>
            </a:r>
            <a:r>
              <a:rPr kumimoji="1" lang="en-US" altLang="zh-CN"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 </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=1，r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=1：</a:t>
            </a:r>
            <a:r>
              <a:rPr kumimoji="1" lang="zh-CN" altLang="en-US" sz="2200">
                <a:latin typeface="Arial" panose="020B0604020202020204" pitchFamily="34" charset="0"/>
                <a:ea typeface="楷体" panose="02010609060101010101" pitchFamily="49" charset="-122"/>
                <a:cs typeface="Arial" panose="020B0604020202020204" pitchFamily="34" charset="0"/>
              </a:rPr>
              <a:t>理想恒比共聚，恒比对角线     </a:t>
            </a:r>
          </a:p>
          <a:p>
            <a:pPr eaLnBrk="1" hangingPunct="1">
              <a:lnSpc>
                <a:spcPct val="125000"/>
              </a:lnSpc>
              <a:spcBef>
                <a:spcPct val="35000"/>
              </a:spcBef>
              <a:buFontTx/>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&gt;1：</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组成曲线在恒比对角线的上方</a:t>
            </a:r>
          </a:p>
          <a:p>
            <a:pPr eaLnBrk="1" hangingPunct="1">
              <a:lnSpc>
                <a:spcPct val="125000"/>
              </a:lnSpc>
              <a:spcBef>
                <a:spcPct val="35000"/>
              </a:spcBef>
              <a:buFontTx/>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&lt;1：</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组成曲线在恒比对角线的下方</a:t>
            </a:r>
            <a:endParaRPr kumimoji="1" lang="en-US" altLang="zh-CN"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FontTx/>
              <a:buNone/>
            </a:pPr>
            <a:endParaRPr kumimoji="1" lang="zh-CN" altLang="en-US"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=0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交替共聚</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：严格交替共聚，组成曲线是水平线</a:t>
            </a:r>
          </a:p>
          <a:p>
            <a:pPr eaLnBrk="1" hangingPunct="1">
              <a:lnSpc>
                <a:spcPct val="125000"/>
              </a:lnSpc>
              <a:spcBef>
                <a:spcPct val="35000"/>
              </a:spcBef>
              <a:buFont typeface="Wingdings" panose="05000000000000000000" pitchFamily="2" charset="2"/>
              <a:buNone/>
            </a:pPr>
            <a:r>
              <a:rPr kumimoji="1" lang="zh-CN" altLang="en-US" sz="2200">
                <a:latin typeface="Arial" panose="020B0604020202020204" pitchFamily="34" charset="0"/>
                <a:ea typeface="楷体" panose="02010609060101010101" pitchFamily="49" charset="-122"/>
                <a:cs typeface="Arial" panose="020B0604020202020204" pitchFamily="34" charset="0"/>
              </a:rPr>
              <a:t>     </a:t>
            </a:r>
            <a:r>
              <a:rPr kumimoji="1" lang="en-US" altLang="zh-CN" sz="2200">
                <a:latin typeface="Arial" panose="020B0604020202020204" pitchFamily="34" charset="0"/>
                <a:ea typeface="楷体" panose="02010609060101010101" pitchFamily="49" charset="-122"/>
                <a:cs typeface="Arial" panose="020B0604020202020204" pitchFamily="34" charset="0"/>
              </a:rPr>
              <a:t>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：组成曲线近似于水平线</a:t>
            </a:r>
            <a:r>
              <a:rPr kumimoji="1" lang="en-US" altLang="zh-CN" sz="2200">
                <a:latin typeface="Arial" panose="020B0604020202020204" pitchFamily="34" charset="0"/>
                <a:ea typeface="楷体" panose="02010609060101010101" pitchFamily="49" charset="-122"/>
                <a:cs typeface="Arial" panose="020B0604020202020204" pitchFamily="34" charset="0"/>
              </a:rPr>
              <a:t>F</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=0.5</a:t>
            </a:r>
          </a:p>
          <a:p>
            <a:pPr eaLnBrk="1" hangingPunct="1">
              <a:lnSpc>
                <a:spcPct val="125000"/>
              </a:lnSpc>
              <a:spcBef>
                <a:spcPct val="35000"/>
              </a:spcBef>
              <a:buFont typeface="Wingdings" panose="05000000000000000000" pitchFamily="2" charset="2"/>
              <a:buNone/>
            </a:pPr>
            <a:r>
              <a:rPr kumimoji="1" lang="en-US" altLang="zh-CN" sz="2200">
                <a:latin typeface="Arial" panose="020B0604020202020204" pitchFamily="34" charset="0"/>
                <a:ea typeface="楷体" panose="02010609060101010101" pitchFamily="49" charset="-122"/>
                <a:cs typeface="Arial" panose="020B0604020202020204" pitchFamily="34" charset="0"/>
              </a:rPr>
              <a:t>     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&gt;0，r</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=0</a:t>
            </a:r>
            <a:r>
              <a:rPr kumimoji="1" lang="zh-CN" altLang="en-US" sz="2200">
                <a:latin typeface="Arial" panose="020B0604020202020204" pitchFamily="34" charset="0"/>
                <a:ea typeface="楷体" panose="02010609060101010101" pitchFamily="49" charset="-122"/>
                <a:cs typeface="Arial" panose="020B0604020202020204" pitchFamily="34" charset="0"/>
              </a:rPr>
              <a:t>：接近交替共聚，曲线与水平线</a:t>
            </a:r>
            <a:r>
              <a:rPr kumimoji="1" lang="en-US" altLang="zh-CN" sz="2200">
                <a:latin typeface="Arial" panose="020B0604020202020204" pitchFamily="34" charset="0"/>
                <a:ea typeface="楷体" panose="02010609060101010101" pitchFamily="49" charset="-122"/>
                <a:cs typeface="Arial" panose="020B0604020202020204" pitchFamily="34" charset="0"/>
              </a:rPr>
              <a:t>F</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=0.5 </a:t>
            </a:r>
            <a:r>
              <a:rPr kumimoji="1" lang="zh-CN" altLang="en-US" sz="2200">
                <a:latin typeface="Arial" panose="020B0604020202020204" pitchFamily="34" charset="0"/>
                <a:ea typeface="楷体" panose="02010609060101010101" pitchFamily="49" charset="-122"/>
                <a:cs typeface="Arial" panose="020B0604020202020204" pitchFamily="34" charset="0"/>
              </a:rPr>
              <a:t>有交点</a:t>
            </a:r>
          </a:p>
        </p:txBody>
      </p:sp>
      <p:sp>
        <p:nvSpPr>
          <p:cNvPr id="99332" name="Rectangle 3"/>
          <p:cNvSpPr>
            <a:spLocks noChangeArrowheads="1"/>
          </p:cNvSpPr>
          <p:nvPr/>
        </p:nvSpPr>
        <p:spPr bwMode="auto">
          <a:xfrm>
            <a:off x="3276600" y="333375"/>
            <a:ext cx="1752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1" lang="zh-CN" altLang="en-US">
                <a:solidFill>
                  <a:srgbClr val="FF0000"/>
                </a:solidFill>
                <a:latin typeface="黑体" panose="02010609060101010101" pitchFamily="49" charset="-122"/>
                <a:ea typeface="黑体" panose="02010609060101010101" pitchFamily="49" charset="-122"/>
              </a:rPr>
              <a:t>小  结</a:t>
            </a:r>
          </a:p>
        </p:txBody>
      </p:sp>
      <p:sp>
        <p:nvSpPr>
          <p:cNvPr id="99333" name="Rectangle 4"/>
          <p:cNvSpPr>
            <a:spLocks noChangeArrowheads="1"/>
          </p:cNvSpPr>
          <p:nvPr/>
        </p:nvSpPr>
        <p:spPr bwMode="auto">
          <a:xfrm>
            <a:off x="539750" y="5935663"/>
            <a:ext cx="83518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 typeface="Wingdings" panose="05000000000000000000" pitchFamily="2" charset="2"/>
              <a:buNone/>
            </a:pP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000" b="1"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愈接近于 </a:t>
            </a:r>
            <a:r>
              <a:rPr kumimoji="1"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0</a:t>
            </a:r>
            <a:r>
              <a:rPr kumimoji="1"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，交替程度愈大；愈接近于1，愈接近于理想共聚</a:t>
            </a:r>
          </a:p>
        </p:txBody>
      </p:sp>
      <p:pic>
        <p:nvPicPr>
          <p:cNvPr id="99334"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59525" y="1081088"/>
            <a:ext cx="1944688" cy="17526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335"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9525" y="3349625"/>
            <a:ext cx="1944688"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1887845373"/>
      </p:ext>
    </p:extLst>
  </p:cSld>
  <p:clrMapOvr>
    <a:masterClrMapping/>
  </p:clrMapOvr>
  <p:transition spd="slow"/>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0DE4E4F-BB36-4AC9-9D4F-B1200492C141}"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67</a:t>
            </a:fld>
            <a:endParaRPr lang="en-US" altLang="zh-CN" sz="1400">
              <a:latin typeface="Times New Roman" panose="02020603050405020304" pitchFamily="18" charset="0"/>
              <a:ea typeface="宋体" panose="02010600030101010101" pitchFamily="2" charset="-122"/>
            </a:endParaRPr>
          </a:p>
        </p:txBody>
      </p:sp>
      <p:sp>
        <p:nvSpPr>
          <p:cNvPr id="100355" name="Rectangle 2"/>
          <p:cNvSpPr>
            <a:spLocks noChangeArrowheads="1"/>
          </p:cNvSpPr>
          <p:nvPr/>
        </p:nvSpPr>
        <p:spPr bwMode="auto">
          <a:xfrm>
            <a:off x="315913" y="188913"/>
            <a:ext cx="5770562" cy="542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有恒比点的非理想共聚</a:t>
            </a:r>
          </a:p>
          <a:p>
            <a:pPr eaLnBrk="1" hangingPunct="1">
              <a:lnSpc>
                <a:spcPct val="125000"/>
              </a:lnSpc>
              <a:spcBef>
                <a:spcPct val="50000"/>
              </a:spcBef>
              <a:buFont typeface="Arial" panose="020B0604020202020204" pitchFamily="34" charset="0"/>
              <a:buNone/>
            </a:pPr>
            <a:r>
              <a:rPr kumimoji="1" lang="zh-CN" altLang="en-US" sz="2000">
                <a:latin typeface="Arial" panose="020B0604020202020204" pitchFamily="34" charset="0"/>
                <a:ea typeface="楷体" panose="02010609060101010101" pitchFamily="49" charset="-122"/>
                <a:cs typeface="Arial" panose="020B0604020202020204" pitchFamily="34" charset="0"/>
              </a:rPr>
              <a:t>       有恒比点</a:t>
            </a:r>
            <a:r>
              <a:rPr kumimoji="1" lang="zh-CN" altLang="en-GB" sz="2000">
                <a:latin typeface="Arial" panose="020B0604020202020204" pitchFamily="34" charset="0"/>
                <a:ea typeface="楷体" panose="02010609060101010101" pitchFamily="49" charset="-122"/>
                <a:cs typeface="Arial" panose="020B0604020202020204" pitchFamily="34" charset="0"/>
              </a:rPr>
              <a:t>，</a:t>
            </a:r>
            <a:r>
              <a:rPr kumimoji="1" lang="zh-CN" altLang="en-US" sz="2000">
                <a:latin typeface="Arial" panose="020B0604020202020204" pitchFamily="34" charset="0"/>
                <a:ea typeface="楷体" panose="02010609060101010101" pitchFamily="49" charset="-122"/>
                <a:cs typeface="Arial" panose="020B0604020202020204" pitchFamily="34" charset="0"/>
              </a:rPr>
              <a:t>曲线具有反</a:t>
            </a:r>
            <a:r>
              <a:rPr kumimoji="1" lang="en-US" altLang="zh-CN" sz="2000">
                <a:latin typeface="Arial" panose="020B0604020202020204" pitchFamily="34" charset="0"/>
                <a:ea typeface="楷体" panose="02010609060101010101" pitchFamily="49" charset="-122"/>
                <a:cs typeface="Arial" panose="020B0604020202020204" pitchFamily="34" charset="0"/>
              </a:rPr>
              <a:t>S</a:t>
            </a:r>
            <a:r>
              <a:rPr kumimoji="1" lang="zh-CN" altLang="en-US" sz="2000">
                <a:latin typeface="Arial" panose="020B0604020202020204" pitchFamily="34" charset="0"/>
                <a:ea typeface="楷体" panose="02010609060101010101" pitchFamily="49" charset="-122"/>
                <a:cs typeface="Arial" panose="020B0604020202020204" pitchFamily="34" charset="0"/>
              </a:rPr>
              <a:t>的形态特征</a:t>
            </a:r>
          </a:p>
          <a:p>
            <a:pPr eaLnBrk="1" hangingPunct="1">
              <a:lnSpc>
                <a:spcPct val="125000"/>
              </a:lnSpc>
              <a:spcBef>
                <a:spcPct val="50000"/>
              </a:spcBef>
              <a:buFont typeface="Wingdings" panose="05000000000000000000" pitchFamily="2" charset="2"/>
              <a:buChar char="p"/>
            </a:pPr>
            <a:endParaRPr kumimoji="1"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或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&lt;1</a:t>
            </a:r>
          </a:p>
          <a:p>
            <a:pPr eaLnBrk="1" hangingPunct="1">
              <a:lnSpc>
                <a:spcPct val="125000"/>
              </a:lnSpc>
              <a:spcBef>
                <a:spcPct val="0"/>
              </a:spcBef>
              <a:buClr>
                <a:srgbClr val="A50021"/>
              </a:buClr>
              <a:buSzPct val="90000"/>
              <a:buFont typeface="Arial" panose="020B0604020202020204" pitchFamily="34" charset="0"/>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非理想非恒比共聚</a:t>
            </a:r>
            <a:endPar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0"/>
              </a:spcBef>
              <a:buClr>
                <a:srgbClr val="A50021"/>
              </a:buClr>
              <a:buSzPct val="90000"/>
              <a:buFont typeface="Arial" panose="020B0604020202020204" pitchFamily="34" charset="0"/>
              <a:buNone/>
            </a:pPr>
            <a:r>
              <a:rPr kumimoji="1" lang="en-US" altLang="zh-CN"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000">
                <a:latin typeface="Arial" panose="020B0604020202020204" pitchFamily="34" charset="0"/>
                <a:ea typeface="楷体" panose="02010609060101010101" pitchFamily="49" charset="-122"/>
                <a:cs typeface="Arial" panose="020B0604020202020204" pitchFamily="34" charset="0"/>
              </a:rPr>
              <a:t> </a:t>
            </a:r>
            <a:r>
              <a:rPr kumimoji="1" lang="en-US" altLang="zh-CN" sz="2000">
                <a:latin typeface="Arial" panose="020B0604020202020204" pitchFamily="34" charset="0"/>
                <a:ea typeface="楷体" panose="02010609060101010101" pitchFamily="49" charset="-122"/>
                <a:cs typeface="Arial" panose="020B0604020202020204" pitchFamily="34" charset="0"/>
              </a:rPr>
              <a:t>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000">
                <a:latin typeface="Arial" panose="020B0604020202020204" pitchFamily="34" charset="0"/>
                <a:ea typeface="楷体" panose="02010609060101010101" pitchFamily="49" charset="-122"/>
                <a:cs typeface="Arial" panose="020B0604020202020204" pitchFamily="34" charset="0"/>
              </a:rPr>
              <a:t>&gt;1，r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000">
                <a:latin typeface="Arial" panose="020B0604020202020204" pitchFamily="34" charset="0"/>
                <a:ea typeface="楷体" panose="02010609060101010101" pitchFamily="49" charset="-122"/>
                <a:cs typeface="Arial" panose="020B0604020202020204" pitchFamily="34" charset="0"/>
              </a:rPr>
              <a:t>&lt;1</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：组成曲线位于对角线上方</a:t>
            </a:r>
          </a:p>
          <a:p>
            <a:pPr eaLnBrk="1" hangingPunct="1">
              <a:lnSpc>
                <a:spcPct val="125000"/>
              </a:lnSpc>
              <a:spcBef>
                <a:spcPct val="50000"/>
              </a:spcBef>
              <a:buFont typeface="Arial" panose="020B0604020202020204" pitchFamily="34" charset="0"/>
              <a:buNone/>
            </a:pPr>
            <a:r>
              <a:rPr kumimoji="1" lang="en-US" altLang="zh-CN" sz="2000">
                <a:latin typeface="Arial" panose="020B0604020202020204" pitchFamily="34" charset="0"/>
                <a:ea typeface="楷体" panose="02010609060101010101" pitchFamily="49" charset="-122"/>
                <a:cs typeface="Arial" panose="020B0604020202020204" pitchFamily="34" charset="0"/>
              </a:rPr>
              <a:t>       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000">
                <a:latin typeface="Arial" panose="020B0604020202020204" pitchFamily="34" charset="0"/>
                <a:ea typeface="楷体" panose="02010609060101010101" pitchFamily="49" charset="-122"/>
                <a:cs typeface="Arial" panose="020B0604020202020204" pitchFamily="34" charset="0"/>
              </a:rPr>
              <a:t>&lt;1，r</a:t>
            </a:r>
            <a:r>
              <a:rPr kumimoji="1" lang="en-US" altLang="zh-CN" sz="20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000">
                <a:latin typeface="Arial" panose="020B0604020202020204" pitchFamily="34" charset="0"/>
                <a:ea typeface="楷体" panose="02010609060101010101" pitchFamily="49" charset="-122"/>
                <a:cs typeface="Arial" panose="020B0604020202020204" pitchFamily="34" charset="0"/>
              </a:rPr>
              <a:t>&gt;1</a:t>
            </a:r>
            <a:r>
              <a:rPr kumimoji="1" lang="zh-CN" altLang="en-US" sz="2000">
                <a:latin typeface="Arial" panose="020B0604020202020204" pitchFamily="34" charset="0"/>
                <a:ea typeface="楷体" panose="02010609060101010101" pitchFamily="49" charset="-122"/>
                <a:cs typeface="Arial" panose="020B0604020202020204" pitchFamily="34" charset="0"/>
              </a:rPr>
              <a:t>：组成曲线位于对角线下方</a:t>
            </a:r>
          </a:p>
          <a:p>
            <a:pPr eaLnBrk="1" hangingPunct="1">
              <a:lnSpc>
                <a:spcPct val="125000"/>
              </a:lnSpc>
              <a:spcBef>
                <a:spcPct val="50000"/>
              </a:spcBef>
              <a:buFont typeface="Wingdings" panose="05000000000000000000" pitchFamily="2" charset="2"/>
              <a:buChar char="p"/>
            </a:pPr>
            <a:endParaRPr kumimoji="1" lang="zh-CN" altLang="en-US" sz="20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 1，r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&gt;1，</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嵌段共聚</a:t>
            </a:r>
          </a:p>
          <a:p>
            <a:pPr eaLnBrk="1" hangingPunct="1">
              <a:lnSpc>
                <a:spcPct val="125000"/>
              </a:lnSpc>
              <a:spcBef>
                <a:spcPct val="50000"/>
              </a:spcBef>
              <a:buFont typeface="Arial" panose="020B0604020202020204" pitchFamily="34" charset="0"/>
              <a:buNone/>
            </a:pPr>
            <a:r>
              <a:rPr kumimoji="1" lang="zh-CN" altLang="en-US" sz="2000">
                <a:latin typeface="Arial" panose="020B0604020202020204" pitchFamily="34" charset="0"/>
                <a:ea typeface="楷体" panose="02010609060101010101" pitchFamily="49" charset="-122"/>
                <a:cs typeface="Arial" panose="020B0604020202020204" pitchFamily="34" charset="0"/>
              </a:rPr>
              <a:t>       曲线具有正</a:t>
            </a:r>
            <a:r>
              <a:rPr kumimoji="1" lang="en-US" altLang="zh-CN" sz="2000">
                <a:latin typeface="Arial" panose="020B0604020202020204" pitchFamily="34" charset="0"/>
                <a:ea typeface="楷体" panose="02010609060101010101" pitchFamily="49" charset="-122"/>
                <a:cs typeface="Arial" panose="020B0604020202020204" pitchFamily="34" charset="0"/>
              </a:rPr>
              <a:t>S</a:t>
            </a:r>
            <a:r>
              <a:rPr kumimoji="1" lang="zh-CN" altLang="en-US" sz="2000">
                <a:latin typeface="Arial" panose="020B0604020202020204" pitchFamily="34" charset="0"/>
                <a:ea typeface="楷体" panose="02010609060101010101" pitchFamily="49" charset="-122"/>
                <a:cs typeface="Arial" panose="020B0604020202020204" pitchFamily="34" charset="0"/>
              </a:rPr>
              <a:t>的形态特征，同样也具有恒比点</a:t>
            </a:r>
          </a:p>
        </p:txBody>
      </p:sp>
      <p:pic>
        <p:nvPicPr>
          <p:cNvPr id="100356"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7150" y="188913"/>
            <a:ext cx="1793875" cy="16764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7" name="Picture 4" descr="tu517-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4113" y="4197350"/>
            <a:ext cx="2008187"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8" name="Picture 5" descr="tu517-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8088" y="2205038"/>
            <a:ext cx="1898650" cy="180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CAD75031-D902-4F1D-ACB9-EA906E0B6207}"/>
              </a:ext>
            </a:extLst>
          </p:cNvPr>
          <p:cNvSpPr/>
          <p:nvPr/>
        </p:nvSpPr>
        <p:spPr>
          <a:xfrm>
            <a:off x="317500" y="5705475"/>
            <a:ext cx="6450013" cy="1016000"/>
          </a:xfrm>
          <a:prstGeom prst="rect">
            <a:avLst/>
          </a:prstGeom>
          <a:solidFill>
            <a:schemeClr val="bg1">
              <a:lumMod val="95000"/>
            </a:schemeClr>
          </a:solidFill>
        </p:spPr>
        <p:txBody>
          <a:bodyPr wrap="none">
            <a:spAutoFit/>
          </a:bodyPr>
          <a:lstStyle/>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 共聚物瞬时组成变化的口诀：</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en-US" altLang="zh-CN" sz="2000" b="1" dirty="0">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&gt; 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，对角线上；</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&lt;1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，对角线下；</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            由右向左：对角线上往下走，对角线下往上走。</a:t>
            </a:r>
            <a:endParaRPr lang="zh-CN" altLang="en-US" sz="2000" b="1" dirty="0"/>
          </a:p>
        </p:txBody>
      </p:sp>
      <p:sp>
        <p:nvSpPr>
          <p:cNvPr id="8" name="矩形 7">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376206544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4953047-2F3D-4F5B-9F88-B6AABD0EBB5C}"/>
              </a:ext>
            </a:extLst>
          </p:cNvPr>
          <p:cNvSpPr>
            <a:spLocks noGrp="1"/>
          </p:cNvSpPr>
          <p:nvPr>
            <p:ph type="sldNum" sz="quarter" idx="12"/>
          </p:nvPr>
        </p:nvSpPr>
        <p:spPr/>
        <p:txBody>
          <a:bodyPr/>
          <a:lstStyle/>
          <a:p>
            <a:pPr>
              <a:defRPr/>
            </a:pPr>
            <a:fld id="{162BF809-D625-4934-AAF6-E6A33EB35175}" type="slidenum">
              <a:rPr lang="zh-CN" altLang="en-US" smtClean="0"/>
              <a:pPr>
                <a:defRPr/>
              </a:pPr>
              <a:t>68</a:t>
            </a:fld>
            <a:endParaRPr lang="en-US" altLang="zh-CN"/>
          </a:p>
        </p:txBody>
      </p:sp>
      <p:sp>
        <p:nvSpPr>
          <p:cNvPr id="101379" name="Text Box 2"/>
          <p:cNvSpPr txBox="1">
            <a:spLocks noChangeArrowheads="1"/>
          </p:cNvSpPr>
          <p:nvPr/>
        </p:nvSpPr>
        <p:spPr bwMode="auto">
          <a:xfrm>
            <a:off x="1047750" y="2522538"/>
            <a:ext cx="4176713" cy="163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35000"/>
              </a:spcBef>
              <a:buClr>
                <a:srgbClr val="FF0000"/>
              </a:buClr>
              <a:buFont typeface="Wingdings" panose="05000000000000000000" pitchFamily="2" charset="2"/>
              <a:buChar char="p"/>
            </a:pP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理想</a:t>
            </a:r>
            <a:endParaRPr kumimoji="1" lang="zh-CN" altLang="en-US" sz="22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=0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交替共聚</a:t>
            </a:r>
            <a:endPar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ts val="600"/>
              </a:spcBef>
              <a:buClr>
                <a:srgbClr val="FF0000"/>
              </a:buClr>
              <a:buFont typeface="Wingdings" panose="05000000000000000000" pitchFamily="2" charset="2"/>
              <a:buChar char="p"/>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 在恒比点处投料的共聚</a:t>
            </a:r>
          </a:p>
        </p:txBody>
      </p:sp>
      <p:sp>
        <p:nvSpPr>
          <p:cNvPr id="101380" name="矩形 4"/>
          <p:cNvSpPr>
            <a:spLocks noChangeArrowheads="1"/>
          </p:cNvSpPr>
          <p:nvPr/>
        </p:nvSpPr>
        <p:spPr bwMode="auto">
          <a:xfrm>
            <a:off x="920750" y="2060575"/>
            <a:ext cx="7572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下列情形，共聚物组成是固定的，不需要特别的控制：</a:t>
            </a:r>
            <a:endParaRPr lang="zh-CN" altLang="en-US" sz="2400">
              <a:cs typeface="Arial" panose="020B0604020202020204" pitchFamily="34" charset="0"/>
            </a:endParaRPr>
          </a:p>
        </p:txBody>
      </p:sp>
      <p:sp>
        <p:nvSpPr>
          <p:cNvPr id="5" name="矩形 4">
            <a:extLst>
              <a:ext uri="{FF2B5EF4-FFF2-40B4-BE49-F238E27FC236}">
                <a16:creationId xmlns:a16="http://schemas.microsoft.com/office/drawing/2014/main" id="{EB6210B5-49B8-4C33-89EF-2EBF77D82A16}"/>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spTree>
    <p:extLst>
      <p:ext uri="{BB962C8B-B14F-4D97-AF65-F5344CB8AC3E}">
        <p14:creationId xmlns:p14="http://schemas.microsoft.com/office/powerpoint/2010/main" val="186993377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22" name="直接连接符 21">
            <a:extLst>
              <a:ext uri="{FF2B5EF4-FFF2-40B4-BE49-F238E27FC236}">
                <a16:creationId xmlns:a16="http://schemas.microsoft.com/office/drawing/2014/main" id="{48926D08-808D-405E-BFB6-51CCD875CFA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240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88CCF0A-817C-46AB-83E9-1B0B3D1A289D}"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69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2404" name="Text Box 2"/>
          <p:cNvSpPr txBox="1">
            <a:spLocks noChangeArrowheads="1"/>
          </p:cNvSpPr>
          <p:nvPr/>
        </p:nvSpPr>
        <p:spPr bwMode="auto">
          <a:xfrm>
            <a:off x="288925" y="166688"/>
            <a:ext cx="7162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b="1">
                <a:solidFill>
                  <a:srgbClr val="FF0000"/>
                </a:solidFill>
                <a:latin typeface="楷体" panose="02010609060101010101" pitchFamily="49" charset="-122"/>
                <a:ea typeface="楷体" panose="02010609060101010101" pitchFamily="49" charset="-122"/>
              </a:rPr>
              <a:t>§4.4 </a:t>
            </a:r>
            <a:r>
              <a:rPr lang="zh-CN" altLang="en-US" sz="2400" b="1">
                <a:solidFill>
                  <a:srgbClr val="FF0000"/>
                </a:solidFill>
                <a:latin typeface="楷体" panose="02010609060101010101" pitchFamily="49" charset="-122"/>
                <a:ea typeface="楷体" panose="02010609060101010101" pitchFamily="49" charset="-122"/>
              </a:rPr>
              <a:t>共聚物组成分布的控制</a:t>
            </a:r>
            <a:endParaRPr lang="en-US" altLang="zh-CN" sz="2400" b="1">
              <a:solidFill>
                <a:srgbClr val="FF0000"/>
              </a:solidFill>
              <a:latin typeface="楷体" panose="02010609060101010101" pitchFamily="49" charset="-122"/>
              <a:ea typeface="楷体" panose="02010609060101010101" pitchFamily="49" charset="-122"/>
            </a:endParaRPr>
          </a:p>
        </p:txBody>
      </p:sp>
      <p:sp>
        <p:nvSpPr>
          <p:cNvPr id="102405" name="Text Box 3"/>
          <p:cNvSpPr txBox="1">
            <a:spLocks noChangeArrowheads="1"/>
          </p:cNvSpPr>
          <p:nvPr/>
        </p:nvSpPr>
        <p:spPr bwMode="auto">
          <a:xfrm>
            <a:off x="533400" y="803275"/>
            <a:ext cx="522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5000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1．共聚物组成与转化率的关系</a:t>
            </a:r>
          </a:p>
        </p:txBody>
      </p:sp>
      <p:sp>
        <p:nvSpPr>
          <p:cNvPr id="102406" name="Text Box 5"/>
          <p:cNvSpPr txBox="1">
            <a:spLocks noChangeArrowheads="1"/>
          </p:cNvSpPr>
          <p:nvPr/>
        </p:nvSpPr>
        <p:spPr bwMode="auto">
          <a:xfrm>
            <a:off x="884238" y="3328988"/>
            <a:ext cx="445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solidFill>
                  <a:srgbClr val="000000"/>
                </a:solidFill>
                <a:latin typeface="楷体" panose="02010609060101010101" pitchFamily="49" charset="-122"/>
                <a:ea typeface="楷体" panose="02010609060101010101" pitchFamily="49" charset="-122"/>
              </a:rPr>
              <a:t>研究目的：控制共聚物的组成分布</a:t>
            </a:r>
          </a:p>
        </p:txBody>
      </p:sp>
      <p:sp>
        <p:nvSpPr>
          <p:cNvPr id="102407" name="Text Box 6"/>
          <p:cNvSpPr txBox="1">
            <a:spLocks noChangeArrowheads="1"/>
          </p:cNvSpPr>
          <p:nvPr/>
        </p:nvSpPr>
        <p:spPr bwMode="auto">
          <a:xfrm>
            <a:off x="5872163" y="3048000"/>
            <a:ext cx="2667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1800" b="1">
                <a:solidFill>
                  <a:srgbClr val="FF0000"/>
                </a:solidFill>
                <a:latin typeface="楷体" panose="02010609060101010101" pitchFamily="49" charset="-122"/>
                <a:ea typeface="楷体" panose="02010609060101010101" pitchFamily="49" charset="-122"/>
              </a:rPr>
              <a:t>组成较均匀的产物</a:t>
            </a:r>
          </a:p>
          <a:p>
            <a:pPr algn="just">
              <a:lnSpc>
                <a:spcPct val="100000"/>
              </a:lnSpc>
              <a:spcBef>
                <a:spcPct val="0"/>
              </a:spcBef>
              <a:buFontTx/>
              <a:buNone/>
            </a:pPr>
            <a:endParaRPr lang="zh-CN" altLang="en-US" sz="1800" b="1">
              <a:solidFill>
                <a:srgbClr val="FF0000"/>
              </a:solidFill>
              <a:latin typeface="楷体" panose="02010609060101010101" pitchFamily="49" charset="-122"/>
              <a:ea typeface="楷体" panose="02010609060101010101" pitchFamily="49" charset="-122"/>
            </a:endParaRPr>
          </a:p>
          <a:p>
            <a:pPr algn="just">
              <a:lnSpc>
                <a:spcPct val="100000"/>
              </a:lnSpc>
              <a:spcBef>
                <a:spcPct val="0"/>
              </a:spcBef>
              <a:buFontTx/>
              <a:buNone/>
            </a:pPr>
            <a:r>
              <a:rPr lang="zh-CN" altLang="en-US" sz="1800" b="1">
                <a:solidFill>
                  <a:srgbClr val="FF0000"/>
                </a:solidFill>
                <a:latin typeface="楷体" panose="02010609060101010101" pitchFamily="49" charset="-122"/>
                <a:ea typeface="楷体" panose="02010609060101010101" pitchFamily="49" charset="-122"/>
              </a:rPr>
              <a:t>高性能的产品</a:t>
            </a:r>
          </a:p>
        </p:txBody>
      </p:sp>
      <p:sp>
        <p:nvSpPr>
          <p:cNvPr id="81928" name="Line 7">
            <a:extLst>
              <a:ext uri="{FF2B5EF4-FFF2-40B4-BE49-F238E27FC236}">
                <a16:creationId xmlns:a16="http://schemas.microsoft.com/office/drawing/2014/main" id="{FFB58919-9AFA-43D8-8A22-9B822F024D39}"/>
              </a:ext>
            </a:extLst>
          </p:cNvPr>
          <p:cNvSpPr>
            <a:spLocks noChangeShapeType="1"/>
          </p:cNvSpPr>
          <p:nvPr/>
        </p:nvSpPr>
        <p:spPr bwMode="auto">
          <a:xfrm flipV="1">
            <a:off x="4932363" y="3543300"/>
            <a:ext cx="703262" cy="0"/>
          </a:xfrm>
          <a:prstGeom prst="line">
            <a:avLst/>
          </a:prstGeom>
          <a:ln w="76200">
            <a:solidFill>
              <a:srgbClr val="FF0000"/>
            </a:solidFill>
            <a:headEnd/>
            <a:tailEnd type="triangle" w="med" len="med"/>
          </a:ln>
        </p:spPr>
        <p:style>
          <a:lnRef idx="1">
            <a:schemeClr val="dk1"/>
          </a:lnRef>
          <a:fillRef idx="0">
            <a:schemeClr val="dk1"/>
          </a:fillRef>
          <a:effectRef idx="0">
            <a:schemeClr val="dk1"/>
          </a:effectRef>
          <a:fontRef idx="minor">
            <a:schemeClr val="tx1"/>
          </a:fontRef>
        </p:style>
        <p:txBody>
          <a:bodyPr wrap="none" lIns="92075" tIns="46038" rIns="92075" bIns="46038" anchor="ctr"/>
          <a:lstStyle/>
          <a:p>
            <a:pPr algn="just" fontAlgn="auto">
              <a:lnSpc>
                <a:spcPct val="120000"/>
              </a:lnSpc>
              <a:spcBef>
                <a:spcPct val="50000"/>
              </a:spcBef>
              <a:spcAft>
                <a:spcPts val="0"/>
              </a:spcAft>
              <a:defRPr/>
            </a:pPr>
            <a:endParaRPr lang="zh-CN" altLang="en-US"/>
          </a:p>
        </p:txBody>
      </p:sp>
      <p:sp>
        <p:nvSpPr>
          <p:cNvPr id="81929" name="AutoShape 8">
            <a:extLst>
              <a:ext uri="{FF2B5EF4-FFF2-40B4-BE49-F238E27FC236}">
                <a16:creationId xmlns:a16="http://schemas.microsoft.com/office/drawing/2014/main" id="{E90AA05F-3571-4E0E-95EE-49C4AC1D1A52}"/>
              </a:ext>
            </a:extLst>
          </p:cNvPr>
          <p:cNvSpPr>
            <a:spLocks/>
          </p:cNvSpPr>
          <p:nvPr/>
        </p:nvSpPr>
        <p:spPr bwMode="auto">
          <a:xfrm>
            <a:off x="5741988" y="3133725"/>
            <a:ext cx="76200" cy="838200"/>
          </a:xfrm>
          <a:prstGeom prst="leftBrace">
            <a:avLst>
              <a:gd name="adj1" fmla="val 91667"/>
              <a:gd name="adj2" fmla="val 50000"/>
            </a:avLst>
          </a:prstGeom>
          <a:ln>
            <a:headEnd/>
            <a:tailEnd/>
          </a:ln>
        </p:spPr>
        <p:style>
          <a:lnRef idx="1">
            <a:schemeClr val="dk1"/>
          </a:lnRef>
          <a:fillRef idx="0">
            <a:schemeClr val="dk1"/>
          </a:fillRef>
          <a:effectRef idx="0">
            <a:schemeClr val="dk1"/>
          </a:effectRef>
          <a:fontRef idx="minor">
            <a:schemeClr val="tx1"/>
          </a:fontRef>
        </p:style>
        <p:txBody>
          <a:bodyPr wrap="none" lIns="92075" tIns="46038" rIns="92075" bIns="46038" anchor="ctr"/>
          <a:lstStyle/>
          <a:p>
            <a:pPr algn="just" fontAlgn="auto">
              <a:lnSpc>
                <a:spcPct val="120000"/>
              </a:lnSpc>
              <a:spcBef>
                <a:spcPct val="50000"/>
              </a:spcBef>
              <a:spcAft>
                <a:spcPts val="0"/>
              </a:spcAft>
              <a:defRPr/>
            </a:pPr>
            <a:endParaRPr lang="zh-CN" altLang="en-US"/>
          </a:p>
        </p:txBody>
      </p:sp>
      <p:sp>
        <p:nvSpPr>
          <p:cNvPr id="102410" name="Rectangle 12"/>
          <p:cNvSpPr>
            <a:spLocks noChangeArrowheads="1"/>
          </p:cNvSpPr>
          <p:nvPr/>
        </p:nvSpPr>
        <p:spPr bwMode="auto">
          <a:xfrm>
            <a:off x="914400" y="1571625"/>
            <a:ext cx="990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02411" name="AutoShape 16"/>
          <p:cNvSpPr>
            <a:spLocks noChangeArrowheads="1"/>
          </p:cNvSpPr>
          <p:nvPr/>
        </p:nvSpPr>
        <p:spPr bwMode="auto">
          <a:xfrm>
            <a:off x="1371600" y="1571625"/>
            <a:ext cx="1219200" cy="990600"/>
          </a:xfrm>
          <a:prstGeom prst="flowChartAlternateProcess">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21600" tIns="10800" rIns="21600" bIns="10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02412" name="Text Box 17"/>
          <p:cNvSpPr txBox="1">
            <a:spLocks noChangeArrowheads="1"/>
          </p:cNvSpPr>
          <p:nvPr/>
        </p:nvSpPr>
        <p:spPr bwMode="auto">
          <a:xfrm>
            <a:off x="1600200" y="1717675"/>
            <a:ext cx="70643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10000"/>
              </a:lnSpc>
              <a:spcBef>
                <a:spcPct val="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10 </a:t>
            </a:r>
            <a:r>
              <a:rPr lang="en-US" altLang="zh-CN" sz="2000">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1</a:t>
            </a:r>
          </a:p>
          <a:p>
            <a:pPr algn="just" eaLnBrk="1" hangingPunct="1">
              <a:lnSpc>
                <a:spcPct val="110000"/>
              </a:lnSpc>
              <a:spcBef>
                <a:spcPct val="0"/>
              </a:spcBef>
              <a:buFontTx/>
              <a:buNone/>
            </a:pPr>
            <a:r>
              <a:rPr lang="en-US" altLang="zh-CN" sz="2000">
                <a:latin typeface="Arial" panose="020B0604020202020204" pitchFamily="34" charset="0"/>
                <a:ea typeface="宋体" panose="02010600030101010101" pitchFamily="2" charset="-122"/>
                <a:cs typeface="Arial" panose="020B0604020202020204" pitchFamily="34" charset="0"/>
              </a:rPr>
              <a:t>10 M</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p>
        </p:txBody>
      </p:sp>
      <p:sp>
        <p:nvSpPr>
          <p:cNvPr id="102413" name="AutoShape 18"/>
          <p:cNvSpPr>
            <a:spLocks noChangeArrowheads="1"/>
          </p:cNvSpPr>
          <p:nvPr/>
        </p:nvSpPr>
        <p:spPr bwMode="auto">
          <a:xfrm>
            <a:off x="4267200" y="1571625"/>
            <a:ext cx="1219200" cy="990600"/>
          </a:xfrm>
          <a:prstGeom prst="flowChartAlternateProcess">
            <a:avLst/>
          </a:prstGeom>
          <a:noFill/>
          <a:ln w="9525">
            <a:solidFill>
              <a:srgbClr val="0033CC"/>
            </a:solidFill>
            <a:miter lim="800000"/>
            <a:headEnd/>
            <a:tailEnd/>
          </a:ln>
          <a:extLst>
            <a:ext uri="{909E8E84-426E-40DD-AFC4-6F175D3DCCD1}">
              <a14:hiddenFill xmlns:a14="http://schemas.microsoft.com/office/drawing/2010/main">
                <a:solidFill>
                  <a:srgbClr val="FFFFFF"/>
                </a:solidFill>
              </a14:hiddenFill>
            </a:ext>
          </a:extLst>
        </p:spPr>
        <p:txBody>
          <a:bodyPr lIns="21600" tIns="10800" rIns="21600" bIns="10800"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endParaRPr lang="zh-CN" altLang="en-US" sz="1800">
              <a:latin typeface="Century Schoolbook" panose="02040604050505020304" pitchFamily="18" charset="0"/>
              <a:ea typeface="宋体" panose="02010600030101010101" pitchFamily="2" charset="-122"/>
            </a:endParaRPr>
          </a:p>
        </p:txBody>
      </p:sp>
      <p:sp>
        <p:nvSpPr>
          <p:cNvPr id="102414" name="Text Box 20"/>
          <p:cNvSpPr txBox="1">
            <a:spLocks noChangeArrowheads="1"/>
          </p:cNvSpPr>
          <p:nvPr/>
        </p:nvSpPr>
        <p:spPr bwMode="auto">
          <a:xfrm>
            <a:off x="4576763" y="1727200"/>
            <a:ext cx="56515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10000"/>
              </a:lnSpc>
              <a:spcBef>
                <a:spcPct val="0"/>
              </a:spcBef>
              <a:buFontTx/>
              <a:buNone/>
            </a:pPr>
            <a:r>
              <a:rPr lang="zh-CN" altLang="en-US" sz="2000">
                <a:latin typeface="Arial" panose="020B0604020202020204" pitchFamily="34" charset="0"/>
                <a:ea typeface="宋体" panose="02010600030101010101" pitchFamily="2" charset="-122"/>
                <a:cs typeface="Arial" panose="020B0604020202020204" pitchFamily="34" charset="0"/>
              </a:rPr>
              <a:t>6 </a:t>
            </a:r>
            <a:r>
              <a:rPr lang="en-US" altLang="zh-CN" sz="2000">
                <a:latin typeface="Arial" panose="020B0604020202020204" pitchFamily="34" charset="0"/>
                <a:ea typeface="宋体" panose="02010600030101010101" pitchFamily="2" charset="-122"/>
                <a:cs typeface="Arial" panose="020B0604020202020204" pitchFamily="34" charset="0"/>
              </a:rPr>
              <a:t>M</a:t>
            </a:r>
            <a:r>
              <a:rPr lang="en-US" altLang="zh-CN" sz="2000" baseline="-25000">
                <a:latin typeface="Arial" panose="020B0604020202020204" pitchFamily="34" charset="0"/>
                <a:ea typeface="宋体" panose="02010600030101010101" pitchFamily="2" charset="-122"/>
                <a:cs typeface="Arial" panose="020B0604020202020204" pitchFamily="34" charset="0"/>
              </a:rPr>
              <a:t>1</a:t>
            </a:r>
          </a:p>
          <a:p>
            <a:pPr algn="just" eaLnBrk="1" hangingPunct="1">
              <a:lnSpc>
                <a:spcPct val="110000"/>
              </a:lnSpc>
              <a:spcBef>
                <a:spcPct val="0"/>
              </a:spcBef>
              <a:buFontTx/>
              <a:buNone/>
            </a:pPr>
            <a:r>
              <a:rPr lang="en-US" altLang="zh-CN" sz="2000">
                <a:latin typeface="Arial" panose="020B0604020202020204" pitchFamily="34" charset="0"/>
                <a:ea typeface="宋体" panose="02010600030101010101" pitchFamily="2" charset="-122"/>
                <a:cs typeface="Arial" panose="020B0604020202020204" pitchFamily="34" charset="0"/>
              </a:rPr>
              <a:t>8 M</a:t>
            </a:r>
            <a:r>
              <a:rPr lang="en-US" altLang="zh-CN" sz="2000" baseline="-25000">
                <a:latin typeface="Arial" panose="020B0604020202020204" pitchFamily="34" charset="0"/>
                <a:ea typeface="宋体" panose="02010600030101010101" pitchFamily="2" charset="-122"/>
                <a:cs typeface="Arial" panose="020B0604020202020204" pitchFamily="34" charset="0"/>
              </a:rPr>
              <a:t>2</a:t>
            </a:r>
          </a:p>
        </p:txBody>
      </p:sp>
      <p:sp>
        <p:nvSpPr>
          <p:cNvPr id="102415" name="Line 21"/>
          <p:cNvSpPr>
            <a:spLocks noChangeShapeType="1"/>
          </p:cNvSpPr>
          <p:nvPr/>
        </p:nvSpPr>
        <p:spPr bwMode="auto">
          <a:xfrm>
            <a:off x="2667000" y="2105025"/>
            <a:ext cx="1447800" cy="0"/>
          </a:xfrm>
          <a:prstGeom prst="line">
            <a:avLst/>
          </a:prstGeom>
          <a:noFill/>
          <a:ln w="44450">
            <a:solidFill>
              <a:srgbClr val="0033CC"/>
            </a:solidFill>
            <a:round/>
            <a:headEnd/>
            <a:tailEnd type="triangle" w="med" len="me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102416" name="Line 22"/>
          <p:cNvSpPr>
            <a:spLocks noChangeShapeType="1"/>
          </p:cNvSpPr>
          <p:nvPr/>
        </p:nvSpPr>
        <p:spPr bwMode="auto">
          <a:xfrm>
            <a:off x="5562600" y="2105025"/>
            <a:ext cx="1447800" cy="0"/>
          </a:xfrm>
          <a:prstGeom prst="line">
            <a:avLst/>
          </a:prstGeom>
          <a:noFill/>
          <a:ln w="44450">
            <a:solidFill>
              <a:srgbClr val="0033CC"/>
            </a:solidFill>
            <a:round/>
            <a:headEnd/>
            <a:tailEnd type="triangle" w="med" len="med"/>
          </a:ln>
          <a:extLst>
            <a:ext uri="{909E8E84-426E-40DD-AFC4-6F175D3DCCD1}">
              <a14:hiddenFill xmlns:a14="http://schemas.microsoft.com/office/drawing/2010/main">
                <a:noFill/>
              </a14:hiddenFill>
            </a:ext>
          </a:extLst>
        </p:spPr>
        <p:txBody>
          <a:bodyPr lIns="21600" tIns="10800" rIns="21600" bIns="10800">
            <a:spAutoFit/>
          </a:bodyPr>
          <a:lstStyle/>
          <a:p>
            <a:endParaRPr lang="zh-CN" altLang="en-US"/>
          </a:p>
        </p:txBody>
      </p:sp>
      <p:sp>
        <p:nvSpPr>
          <p:cNvPr id="102417" name="Text Box 23"/>
          <p:cNvSpPr txBox="1">
            <a:spLocks noChangeArrowheads="1"/>
          </p:cNvSpPr>
          <p:nvPr/>
        </p:nvSpPr>
        <p:spPr bwMode="auto">
          <a:xfrm>
            <a:off x="2746375" y="1647825"/>
            <a:ext cx="11239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1800">
                <a:latin typeface="Arial" panose="020B0604020202020204" pitchFamily="34" charset="0"/>
                <a:ea typeface="宋体" panose="02010600030101010101" pitchFamily="2" charset="-122"/>
                <a:cs typeface="Arial" panose="020B0604020202020204" pitchFamily="34" charset="0"/>
              </a:rPr>
              <a:t>- 4</a:t>
            </a:r>
            <a:r>
              <a:rPr lang="en-US" altLang="zh-CN" sz="1800">
                <a:latin typeface="Arial" panose="020B0604020202020204" pitchFamily="34" charset="0"/>
                <a:ea typeface="宋体" panose="02010600030101010101" pitchFamily="2" charset="-122"/>
                <a:cs typeface="Arial" panose="020B0604020202020204" pitchFamily="34" charset="0"/>
              </a:rPr>
              <a:t>M</a:t>
            </a:r>
            <a:r>
              <a:rPr lang="en-US" altLang="zh-CN" sz="1800" baseline="-25000">
                <a:latin typeface="Arial" panose="020B0604020202020204" pitchFamily="34" charset="0"/>
                <a:ea typeface="宋体" panose="02010600030101010101" pitchFamily="2" charset="-122"/>
                <a:cs typeface="Arial" panose="020B0604020202020204" pitchFamily="34" charset="0"/>
              </a:rPr>
              <a:t>1</a:t>
            </a:r>
            <a:r>
              <a:rPr lang="en-US" altLang="zh-CN" sz="1800">
                <a:latin typeface="Arial" panose="020B0604020202020204" pitchFamily="34" charset="0"/>
                <a:ea typeface="宋体" panose="02010600030101010101" pitchFamily="2" charset="-122"/>
                <a:cs typeface="Arial" panose="020B0604020202020204" pitchFamily="34" charset="0"/>
              </a:rPr>
              <a:t>, 2M</a:t>
            </a:r>
            <a:r>
              <a:rPr lang="en-US" altLang="zh-CN" sz="1800" baseline="-25000">
                <a:latin typeface="Arial" panose="020B0604020202020204" pitchFamily="34" charset="0"/>
                <a:ea typeface="宋体" panose="02010600030101010101" pitchFamily="2" charset="-122"/>
                <a:cs typeface="Arial" panose="020B0604020202020204" pitchFamily="34" charset="0"/>
              </a:rPr>
              <a:t>2</a:t>
            </a:r>
          </a:p>
        </p:txBody>
      </p:sp>
      <p:sp>
        <p:nvSpPr>
          <p:cNvPr id="102418" name="Text Box 24"/>
          <p:cNvSpPr txBox="1">
            <a:spLocks noChangeArrowheads="1"/>
          </p:cNvSpPr>
          <p:nvPr/>
        </p:nvSpPr>
        <p:spPr bwMode="auto">
          <a:xfrm>
            <a:off x="2798763" y="2138363"/>
            <a:ext cx="1227137"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2000" b="1">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2000" b="1"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2000" b="1">
                <a:solidFill>
                  <a:srgbClr val="FF0000"/>
                </a:solidFill>
                <a:latin typeface="Arial" panose="020B0604020202020204" pitchFamily="34" charset="0"/>
                <a:ea typeface="宋体" panose="02010600030101010101" pitchFamily="2" charset="-122"/>
                <a:cs typeface="Arial" panose="020B0604020202020204" pitchFamily="34" charset="0"/>
              </a:rPr>
              <a:t> = 0.667</a:t>
            </a:r>
          </a:p>
        </p:txBody>
      </p:sp>
      <p:sp>
        <p:nvSpPr>
          <p:cNvPr id="102419" name="Text Box 25"/>
          <p:cNvSpPr txBox="1">
            <a:spLocks noChangeArrowheads="1"/>
          </p:cNvSpPr>
          <p:nvPr/>
        </p:nvSpPr>
        <p:spPr bwMode="auto">
          <a:xfrm>
            <a:off x="7131050" y="1924050"/>
            <a:ext cx="122555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2000">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2000"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2000">
                <a:solidFill>
                  <a:srgbClr val="FF0000"/>
                </a:solidFill>
                <a:latin typeface="Arial" panose="020B0604020202020204" pitchFamily="34" charset="0"/>
                <a:ea typeface="宋体" panose="02010600030101010101" pitchFamily="2" charset="-122"/>
                <a:cs typeface="Arial" panose="020B0604020202020204" pitchFamily="34" charset="0"/>
              </a:rPr>
              <a:t> &lt; 0.667</a:t>
            </a:r>
          </a:p>
        </p:txBody>
      </p:sp>
      <p:sp>
        <p:nvSpPr>
          <p:cNvPr id="102420" name="Text Box 26"/>
          <p:cNvSpPr txBox="1">
            <a:spLocks noChangeArrowheads="1"/>
          </p:cNvSpPr>
          <p:nvPr/>
        </p:nvSpPr>
        <p:spPr bwMode="auto">
          <a:xfrm>
            <a:off x="1600200" y="2614613"/>
            <a:ext cx="78898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1800" b="1"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 = 0.5</a:t>
            </a:r>
          </a:p>
        </p:txBody>
      </p:sp>
      <p:sp>
        <p:nvSpPr>
          <p:cNvPr id="102421" name="Text Box 27"/>
          <p:cNvSpPr txBox="1">
            <a:spLocks noChangeArrowheads="1"/>
          </p:cNvSpPr>
          <p:nvPr/>
        </p:nvSpPr>
        <p:spPr bwMode="auto">
          <a:xfrm>
            <a:off x="4438650" y="2593975"/>
            <a:ext cx="9175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f</a:t>
            </a:r>
            <a:r>
              <a:rPr lang="en-US" altLang="zh-CN" sz="1800" b="1" baseline="-25000">
                <a:solidFill>
                  <a:srgbClr val="FF0000"/>
                </a:solidFill>
                <a:latin typeface="Arial" panose="020B0604020202020204" pitchFamily="34" charset="0"/>
                <a:ea typeface="宋体" panose="02010600030101010101" pitchFamily="2" charset="-122"/>
                <a:cs typeface="Arial" panose="020B0604020202020204" pitchFamily="34" charset="0"/>
              </a:rPr>
              <a:t>1</a:t>
            </a:r>
            <a:r>
              <a:rPr lang="en-US" altLang="zh-CN" sz="1800" b="1">
                <a:solidFill>
                  <a:srgbClr val="FF0000"/>
                </a:solidFill>
                <a:latin typeface="Arial" panose="020B0604020202020204" pitchFamily="34" charset="0"/>
                <a:ea typeface="宋体" panose="02010600030101010101" pitchFamily="2" charset="-122"/>
                <a:cs typeface="Arial" panose="020B0604020202020204" pitchFamily="34" charset="0"/>
              </a:rPr>
              <a:t> = 0.43</a:t>
            </a:r>
          </a:p>
        </p:txBody>
      </p:sp>
      <p:sp>
        <p:nvSpPr>
          <p:cNvPr id="81942" name="Text Box 28">
            <a:extLst>
              <a:ext uri="{FF2B5EF4-FFF2-40B4-BE49-F238E27FC236}">
                <a16:creationId xmlns:a16="http://schemas.microsoft.com/office/drawing/2014/main" id="{18B5ADBB-A31C-46E6-867E-E61CCFEBD986}"/>
              </a:ext>
            </a:extLst>
          </p:cNvPr>
          <p:cNvSpPr txBox="1">
            <a:spLocks noChangeArrowheads="1"/>
          </p:cNvSpPr>
          <p:nvPr/>
        </p:nvSpPr>
        <p:spPr bwMode="auto">
          <a:xfrm>
            <a:off x="788988" y="4157663"/>
            <a:ext cx="7772400" cy="217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30000"/>
              </a:lnSpc>
              <a:spcBef>
                <a:spcPts val="1200"/>
              </a:spcBef>
              <a:buFontTx/>
              <a:buNone/>
              <a:defRPr/>
            </a:pPr>
            <a:r>
              <a:rPr lang="zh-CN" altLang="en-US" sz="2000" dirty="0">
                <a:solidFill>
                  <a:srgbClr val="FF0000"/>
                </a:solidFill>
                <a:latin typeface="楷体" panose="02010609060101010101" pitchFamily="49" charset="-122"/>
                <a:ea typeface="楷体" panose="02010609060101010101" pitchFamily="49" charset="-122"/>
              </a:rPr>
              <a:t>共聚物组成的</a:t>
            </a:r>
            <a:r>
              <a:rPr lang="zh-CN" altLang="en-US" sz="2000" b="1" dirty="0">
                <a:solidFill>
                  <a:srgbClr val="90109E"/>
                </a:solidFill>
                <a:latin typeface="楷体" panose="02010609060101010101" pitchFamily="49" charset="-122"/>
                <a:ea typeface="楷体" panose="02010609060101010101" pitchFamily="49" charset="-122"/>
              </a:rPr>
              <a:t>多分散性</a:t>
            </a:r>
            <a:r>
              <a:rPr lang="zh-CN" altLang="en-US" sz="2000" dirty="0">
                <a:solidFill>
                  <a:srgbClr val="FF0000"/>
                </a:solidFill>
                <a:latin typeface="楷体" panose="02010609060101010101" pitchFamily="49" charset="-122"/>
                <a:ea typeface="楷体" panose="02010609060101010101" pitchFamily="49" charset="-122"/>
              </a:rPr>
              <a:t> </a:t>
            </a:r>
            <a:r>
              <a:rPr lang="zh-CN" altLang="en-US" sz="2000" dirty="0">
                <a:solidFill>
                  <a:srgbClr val="FF0000"/>
                </a:solidFill>
                <a:latin typeface="楷体" panose="02010609060101010101" pitchFamily="49" charset="-122"/>
                <a:ea typeface="楷体" panose="02010609060101010101" pitchFamily="49" charset="-122"/>
                <a:sym typeface="Symbol" panose="05050102010706020507" pitchFamily="18" charset="2"/>
              </a:rPr>
              <a:t></a:t>
            </a:r>
            <a:r>
              <a:rPr lang="zh-CN" altLang="en-US" sz="2000" dirty="0">
                <a:solidFill>
                  <a:srgbClr val="FF0000"/>
                </a:solidFill>
                <a:latin typeface="楷体" panose="02010609060101010101" pitchFamily="49" charset="-122"/>
                <a:ea typeface="楷体" panose="02010609060101010101" pitchFamily="49" charset="-122"/>
              </a:rPr>
              <a:t> 不同共聚物链的组成有差别</a:t>
            </a:r>
            <a:endParaRPr lang="en-US" altLang="zh-CN" sz="2000" dirty="0">
              <a:solidFill>
                <a:srgbClr val="FF0000"/>
              </a:solidFill>
              <a:latin typeface="楷体" panose="02010609060101010101" pitchFamily="49" charset="-122"/>
              <a:ea typeface="楷体" panose="02010609060101010101" pitchFamily="49" charset="-122"/>
            </a:endParaRPr>
          </a:p>
          <a:p>
            <a:pPr algn="just">
              <a:lnSpc>
                <a:spcPct val="130000"/>
              </a:lnSpc>
              <a:spcBef>
                <a:spcPts val="600"/>
              </a:spcBef>
              <a:buFontTx/>
              <a:buNone/>
              <a:defRPr/>
            </a:pPr>
            <a:r>
              <a:rPr lang="zh-CN" altLang="en-US" sz="2000" dirty="0">
                <a:latin typeface="楷体" panose="02010609060101010101" pitchFamily="49" charset="-122"/>
                <a:ea typeface="楷体" panose="02010609060101010101" pitchFamily="49" charset="-122"/>
              </a:rPr>
              <a:t>组成分布变宽的主要原因：</a:t>
            </a:r>
            <a:endParaRPr lang="en-US" altLang="zh-CN" sz="2000" dirty="0">
              <a:latin typeface="楷体" panose="02010609060101010101" pitchFamily="49" charset="-122"/>
              <a:ea typeface="楷体" panose="02010609060101010101" pitchFamily="49" charset="-122"/>
            </a:endParaRPr>
          </a:p>
          <a:p>
            <a:pPr marL="342900" indent="-342900" algn="just">
              <a:lnSpc>
                <a:spcPct val="13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概率因素</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仅造成轻微的组成分布增宽</a:t>
            </a:r>
            <a:r>
              <a:rPr lang="en-US" altLang="zh-CN" sz="2000" dirty="0">
                <a:latin typeface="楷体" panose="02010609060101010101" pitchFamily="49" charset="-122"/>
                <a:ea typeface="楷体" panose="02010609060101010101" pitchFamily="49" charset="-122"/>
              </a:rPr>
              <a:t>)</a:t>
            </a:r>
          </a:p>
          <a:p>
            <a:pPr marL="342900" indent="-342900" algn="just">
              <a:lnSpc>
                <a:spcPct val="13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共聚物组成随转化率提高而变</a:t>
            </a:r>
            <a:r>
              <a:rPr lang="en-US" altLang="zh-CN" sz="2000" dirty="0">
                <a:latin typeface="楷体" panose="02010609060101010101" pitchFamily="49" charset="-122"/>
                <a:ea typeface="楷体" panose="02010609060101010101" pitchFamily="49" charset="-122"/>
              </a:rPr>
              <a:t>(</a:t>
            </a:r>
            <a:r>
              <a:rPr lang="zh-CN" altLang="en-US" sz="2000" dirty="0">
                <a:latin typeface="楷体" panose="02010609060101010101" pitchFamily="49" charset="-122"/>
                <a:ea typeface="楷体" panose="02010609060101010101" pitchFamily="49" charset="-122"/>
              </a:rPr>
              <a:t>仅投料一次的间歇式聚合体系</a:t>
            </a:r>
            <a:r>
              <a:rPr lang="en-US" altLang="zh-CN" sz="2000" dirty="0">
                <a:latin typeface="楷体" panose="02010609060101010101" pitchFamily="49" charset="-122"/>
                <a:ea typeface="楷体" panose="02010609060101010101" pitchFamily="49" charset="-122"/>
              </a:rPr>
              <a:t>)</a:t>
            </a:r>
          </a:p>
          <a:p>
            <a:pPr marL="342900" indent="-342900" algn="just">
              <a:lnSpc>
                <a:spcPct val="130000"/>
              </a:lnSpc>
              <a:spcBef>
                <a:spcPct val="0"/>
              </a:spcBef>
              <a:buFont typeface="Wingdings" panose="05000000000000000000" pitchFamily="2" charset="2"/>
              <a:buChar char="u"/>
              <a:defRPr/>
            </a:pPr>
            <a:r>
              <a:rPr lang="zh-CN" altLang="en-US" sz="2000" dirty="0">
                <a:latin typeface="楷体" panose="02010609060101010101" pitchFamily="49" charset="-122"/>
                <a:ea typeface="楷体" panose="02010609060101010101" pitchFamily="49" charset="-122"/>
              </a:rPr>
              <a:t>体系中同时存在几种共聚特性不同的增长活性中心</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2" name="直接连接符 11">
            <a:extLst>
              <a:ext uri="{FF2B5EF4-FFF2-40B4-BE49-F238E27FC236}">
                <a16:creationId xmlns:a16="http://schemas.microsoft.com/office/drawing/2014/main" id="{D192EFDF-9A25-4C14-B4F3-EEC85E973F1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445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851FB92-AC3B-4B5D-9635-E806DB4FF8D9}"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70</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4452" name="Text Box 11"/>
          <p:cNvSpPr txBox="1">
            <a:spLocks noChangeArrowheads="1"/>
          </p:cNvSpPr>
          <p:nvPr/>
        </p:nvSpPr>
        <p:spPr bwMode="auto">
          <a:xfrm>
            <a:off x="463550" y="931863"/>
            <a:ext cx="79343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0000"/>
              </a:lnSpc>
              <a:spcBef>
                <a:spcPct val="5000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1) 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&lt; 1，r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&gt;</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1： C%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消耗快，体系中</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a:t>
            </a:r>
          </a:p>
          <a:p>
            <a:pPr eaLnBrk="1" hangingPunct="1">
              <a:lnSpc>
                <a:spcPct val="100000"/>
              </a:lnSpc>
              <a:spcBef>
                <a:spcPct val="5000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随聚合反应进行</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朝增加方向变化。</a:t>
            </a:r>
          </a:p>
        </p:txBody>
      </p:sp>
      <p:graphicFrame>
        <p:nvGraphicFramePr>
          <p:cNvPr id="104453" name="Object 14"/>
          <p:cNvGraphicFramePr>
            <a:graphicFrameLocks noChangeAspect="1"/>
          </p:cNvGraphicFramePr>
          <p:nvPr/>
        </p:nvGraphicFramePr>
        <p:xfrm>
          <a:off x="1009650" y="1663700"/>
          <a:ext cx="3421063" cy="3424238"/>
        </p:xfrm>
        <a:graphic>
          <a:graphicData uri="http://schemas.openxmlformats.org/presentationml/2006/ole">
            <mc:AlternateContent xmlns:mc="http://schemas.openxmlformats.org/markup-compatibility/2006">
              <mc:Choice xmlns:v="urn:schemas-microsoft-com:vml" Requires="v">
                <p:oleObj spid="_x0000_s104488" name="Graph" r:id="rId3" imgW="2924978" imgH="2930487" progId="Origin50.Graph">
                  <p:embed/>
                </p:oleObj>
              </mc:Choice>
              <mc:Fallback>
                <p:oleObj name="Graph" r:id="rId3" imgW="2924978" imgH="2930487" progId="Origin50.Graph">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650" y="1663700"/>
                        <a:ext cx="3421063" cy="342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4454" name="Object 15"/>
          <p:cNvGraphicFramePr>
            <a:graphicFrameLocks noChangeAspect="1"/>
          </p:cNvGraphicFramePr>
          <p:nvPr/>
        </p:nvGraphicFramePr>
        <p:xfrm>
          <a:off x="4511675" y="1663700"/>
          <a:ext cx="3527425" cy="3527425"/>
        </p:xfrm>
        <a:graphic>
          <a:graphicData uri="http://schemas.openxmlformats.org/presentationml/2006/ole">
            <mc:AlternateContent xmlns:mc="http://schemas.openxmlformats.org/markup-compatibility/2006">
              <mc:Choice xmlns:v="urn:schemas-microsoft-com:vml" Requires="v">
                <p:oleObj spid="_x0000_s104489" name="Graph" r:id="rId5" imgW="2924978" imgH="2930487" progId="Origin50.Graph">
                  <p:embed/>
                </p:oleObj>
              </mc:Choice>
              <mc:Fallback>
                <p:oleObj name="Graph" r:id="rId5" imgW="2924978" imgH="2930487" progId="Origin50.Graph">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11675" y="1663700"/>
                        <a:ext cx="3527425"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4455" name="Text Box 20"/>
          <p:cNvSpPr txBox="1">
            <a:spLocks noChangeArrowheads="1"/>
          </p:cNvSpPr>
          <p:nvPr/>
        </p:nvSpPr>
        <p:spPr bwMode="auto">
          <a:xfrm>
            <a:off x="1368425" y="5016500"/>
            <a:ext cx="336708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共聚组成曲线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p>
        </p:txBody>
      </p:sp>
      <p:sp>
        <p:nvSpPr>
          <p:cNvPr id="104456" name="Text Box 21"/>
          <p:cNvSpPr txBox="1">
            <a:spLocks noChangeArrowheads="1"/>
          </p:cNvSpPr>
          <p:nvPr/>
        </p:nvSpPr>
        <p:spPr bwMode="auto">
          <a:xfrm>
            <a:off x="4789488" y="5057775"/>
            <a:ext cx="35052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latin typeface="楷体" panose="02010609060101010101" pitchFamily="49" charset="-122"/>
                <a:ea typeface="楷体" panose="02010609060101010101" pitchFamily="49" charset="-122"/>
              </a:rPr>
              <a:t>共聚物动力学组成分布曲线</a:t>
            </a:r>
          </a:p>
        </p:txBody>
      </p:sp>
      <p:sp>
        <p:nvSpPr>
          <p:cNvPr id="104457" name="Text Box 22"/>
          <p:cNvSpPr txBox="1">
            <a:spLocks noChangeArrowheads="1"/>
          </p:cNvSpPr>
          <p:nvPr/>
        </p:nvSpPr>
        <p:spPr bwMode="auto">
          <a:xfrm>
            <a:off x="1468438" y="5584825"/>
            <a:ext cx="5924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以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0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值为起点。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endPar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p:txBody>
      </p:sp>
      <p:sp>
        <p:nvSpPr>
          <p:cNvPr id="104458" name="Text Box 23"/>
          <p:cNvSpPr txBox="1">
            <a:spLocks noChangeArrowheads="1"/>
          </p:cNvSpPr>
          <p:nvPr/>
        </p:nvSpPr>
        <p:spPr bwMode="auto">
          <a:xfrm>
            <a:off x="452438" y="373063"/>
            <a:ext cx="6118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solidFill>
                  <a:srgbClr val="FF0000"/>
                </a:solidFill>
                <a:latin typeface="楷体" panose="02010609060101010101" pitchFamily="49" charset="-122"/>
                <a:ea typeface="楷体" panose="02010609060101010101" pitchFamily="49" charset="-122"/>
              </a:rPr>
              <a:t>共聚物动力学组成分布曲线的类型</a:t>
            </a:r>
            <a:r>
              <a:rPr lang="en-US" altLang="zh-CN" sz="2400">
                <a:solidFill>
                  <a:srgbClr val="FF0000"/>
                </a:solidFill>
                <a:latin typeface="楷体" panose="02010609060101010101" pitchFamily="49" charset="-122"/>
                <a:ea typeface="楷体" panose="02010609060101010101" pitchFamily="49" charset="-122"/>
              </a:rPr>
              <a:t>(</a:t>
            </a:r>
            <a:r>
              <a:rPr lang="zh-CN" altLang="en-US" sz="2400">
                <a:solidFill>
                  <a:srgbClr val="FF0000"/>
                </a:solidFill>
                <a:latin typeface="楷体" panose="02010609060101010101" pitchFamily="49" charset="-122"/>
                <a:ea typeface="楷体" panose="02010609060101010101" pitchFamily="49" charset="-122"/>
              </a:rPr>
              <a:t>三种</a:t>
            </a:r>
            <a:r>
              <a:rPr lang="en-US" altLang="zh-CN" sz="2400">
                <a:solidFill>
                  <a:srgbClr val="FF0000"/>
                </a:solidFill>
                <a:latin typeface="楷体" panose="02010609060101010101" pitchFamily="49" charset="-122"/>
                <a:ea typeface="楷体" panose="02010609060101010101" pitchFamily="49" charset="-122"/>
              </a:rPr>
              <a:t>)</a:t>
            </a:r>
            <a:endParaRPr lang="zh-CN" altLang="en-US" sz="2400">
              <a:solidFill>
                <a:srgbClr val="FF0000"/>
              </a:solidFill>
              <a:latin typeface="楷体" panose="02010609060101010101" pitchFamily="49" charset="-122"/>
              <a:ea typeface="楷体" panose="02010609060101010101" pitchFamily="49" charset="-122"/>
            </a:endParaRPr>
          </a:p>
        </p:txBody>
      </p:sp>
      <p:cxnSp>
        <p:nvCxnSpPr>
          <p:cNvPr id="4" name="直接箭头连接符 3">
            <a:extLst>
              <a:ext uri="{FF2B5EF4-FFF2-40B4-BE49-F238E27FC236}">
                <a16:creationId xmlns:a16="http://schemas.microsoft.com/office/drawing/2014/main" id="{D045D33C-FABF-41EF-B682-8C703BAAEFC2}"/>
              </a:ext>
            </a:extLst>
          </p:cNvPr>
          <p:cNvCxnSpPr/>
          <p:nvPr/>
        </p:nvCxnSpPr>
        <p:spPr>
          <a:xfrm>
            <a:off x="3590925" y="3500438"/>
            <a:ext cx="1492250" cy="0"/>
          </a:xfrm>
          <a:prstGeom prst="straightConnector1">
            <a:avLst/>
          </a:prstGeom>
          <a:ln w="38100">
            <a:solidFill>
              <a:srgbClr val="90109E"/>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箭头连接符 5">
            <a:extLst>
              <a:ext uri="{FF2B5EF4-FFF2-40B4-BE49-F238E27FC236}">
                <a16:creationId xmlns:a16="http://schemas.microsoft.com/office/drawing/2014/main" id="{B3800712-2197-46A2-933F-CB5851D84519}"/>
              </a:ext>
            </a:extLst>
          </p:cNvPr>
          <p:cNvCxnSpPr>
            <a:cxnSpLocks/>
          </p:cNvCxnSpPr>
          <p:nvPr/>
        </p:nvCxnSpPr>
        <p:spPr>
          <a:xfrm>
            <a:off x="2843213" y="4181475"/>
            <a:ext cx="2160587" cy="0"/>
          </a:xfrm>
          <a:prstGeom prst="straightConnector1">
            <a:avLst/>
          </a:prstGeom>
          <a:ln w="38100">
            <a:solidFill>
              <a:srgbClr val="90109E"/>
            </a:solidFill>
            <a:tailEnd type="triangle"/>
          </a:ln>
        </p:spPr>
        <p:style>
          <a:lnRef idx="1">
            <a:schemeClr val="accent1"/>
          </a:lnRef>
          <a:fillRef idx="0">
            <a:schemeClr val="accent1"/>
          </a:fillRef>
          <a:effectRef idx="0">
            <a:schemeClr val="accent1"/>
          </a:effectRef>
          <a:fontRef idx="minor">
            <a:schemeClr val="tx1"/>
          </a:fontRef>
        </p:style>
      </p:cxnSp>
      <p:sp>
        <p:nvSpPr>
          <p:cNvPr id="104461" name="矩形 2"/>
          <p:cNvSpPr>
            <a:spLocks noChangeArrowheads="1"/>
          </p:cNvSpPr>
          <p:nvPr/>
        </p:nvSpPr>
        <p:spPr bwMode="auto">
          <a:xfrm>
            <a:off x="1119188" y="6264275"/>
            <a:ext cx="51117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1800">
                <a:solidFill>
                  <a:srgbClr val="FF0000"/>
                </a:solidFill>
                <a:latin typeface="Arial" panose="020B0604020202020204" pitchFamily="34" charset="0"/>
                <a:ea typeface="楷体" panose="02010609060101010101" pitchFamily="49" charset="-122"/>
                <a:cs typeface="Arial" panose="020B0604020202020204" pitchFamily="34" charset="0"/>
              </a:rPr>
              <a:t>C%</a:t>
            </a:r>
            <a:r>
              <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rPr>
              <a:t>表示转化率，</a:t>
            </a:r>
            <a:r>
              <a:rPr lang="en-US" altLang="zh-CN" sz="1800">
                <a:solidFill>
                  <a:srgbClr val="FF0000"/>
                </a:solidFill>
                <a:latin typeface="Arial" panose="020B0604020202020204" pitchFamily="34" charset="0"/>
                <a:ea typeface="楷体" panose="02010609060101010101" pitchFamily="49" charset="-122"/>
                <a:cs typeface="Arial" panose="020B0604020202020204" pitchFamily="34" charset="0"/>
              </a:rPr>
              <a:t>C = 1-M/M</a:t>
            </a:r>
            <a:r>
              <a:rPr lang="en-US" altLang="zh-CN" sz="1800" baseline="-25000">
                <a:solidFill>
                  <a:srgbClr val="FF0000"/>
                </a:solidFill>
                <a:latin typeface="Arial" panose="020B0604020202020204" pitchFamily="34" charset="0"/>
                <a:ea typeface="楷体" panose="02010609060101010101" pitchFamily="49" charset="-122"/>
                <a:cs typeface="Arial" panose="020B0604020202020204" pitchFamily="34" charset="0"/>
              </a:rPr>
              <a:t>0</a:t>
            </a:r>
            <a:r>
              <a:rPr lang="zh-CN" altLang="en-US" sz="1800" baseline="-25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rPr>
              <a:t>包含了两种单体。</a:t>
            </a:r>
            <a:endParaRPr lang="zh-CN" altLang="en-US" sz="1800" baseline="-25000">
              <a:solidFill>
                <a:srgbClr val="FF0000"/>
              </a:solidFill>
              <a:cs typeface="Arial" panose="020B0604020202020204" pitchFamily="34"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355E1F9A-BD44-4E5B-A9D5-DD108E70E15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54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95C4E6E-5AAD-45E7-9456-179AC21709B1}"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71</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105476" name="Object 1024"/>
          <p:cNvGraphicFramePr>
            <a:graphicFrameLocks noChangeAspect="1"/>
          </p:cNvGraphicFramePr>
          <p:nvPr/>
        </p:nvGraphicFramePr>
        <p:xfrm>
          <a:off x="949325" y="995363"/>
          <a:ext cx="3492500" cy="3251200"/>
        </p:xfrm>
        <a:graphic>
          <a:graphicData uri="http://schemas.openxmlformats.org/presentationml/2006/ole">
            <mc:AlternateContent xmlns:mc="http://schemas.openxmlformats.org/markup-compatibility/2006">
              <mc:Choice xmlns:v="urn:schemas-microsoft-com:vml" Requires="v">
                <p:oleObj spid="_x0000_s105509" name="Graph" r:id="rId3" imgW="2699133" imgH="2511846" progId="Origin50.Graph">
                  <p:embed/>
                </p:oleObj>
              </mc:Choice>
              <mc:Fallback>
                <p:oleObj name="Graph" r:id="rId3" imgW="2699133" imgH="2511846" progId="Origin50.Graph">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325" y="995363"/>
                        <a:ext cx="3492500" cy="325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5477" name="Object 1025"/>
          <p:cNvGraphicFramePr>
            <a:graphicFrameLocks noChangeAspect="1"/>
          </p:cNvGraphicFramePr>
          <p:nvPr/>
        </p:nvGraphicFramePr>
        <p:xfrm>
          <a:off x="4586288" y="598488"/>
          <a:ext cx="3743325" cy="3744912"/>
        </p:xfrm>
        <a:graphic>
          <a:graphicData uri="http://schemas.openxmlformats.org/presentationml/2006/ole">
            <mc:AlternateContent xmlns:mc="http://schemas.openxmlformats.org/markup-compatibility/2006">
              <mc:Choice xmlns:v="urn:schemas-microsoft-com:vml" Requires="v">
                <p:oleObj spid="_x0000_s105510" name="Graph" r:id="rId5" imgW="2926080" imgH="2926080" progId="Origin50.Graph">
                  <p:embed/>
                </p:oleObj>
              </mc:Choice>
              <mc:Fallback>
                <p:oleObj name="Graph" r:id="rId5" imgW="2926080" imgH="2926080" progId="Origin50.Graph">
                  <p:embed/>
                  <p:pic>
                    <p:nvPicPr>
                      <p:cNvPr id="0" name="Object 10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6288" y="598488"/>
                        <a:ext cx="3743325"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5478" name="Line 4"/>
          <p:cNvSpPr>
            <a:spLocks noChangeShapeType="1"/>
          </p:cNvSpPr>
          <p:nvPr/>
        </p:nvSpPr>
        <p:spPr bwMode="auto">
          <a:xfrm>
            <a:off x="3465513" y="1328738"/>
            <a:ext cx="16764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5479" name="Line 5"/>
          <p:cNvSpPr>
            <a:spLocks noChangeShapeType="1"/>
          </p:cNvSpPr>
          <p:nvPr/>
        </p:nvSpPr>
        <p:spPr bwMode="auto">
          <a:xfrm>
            <a:off x="2913063" y="1633538"/>
            <a:ext cx="22098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5480" name="Text Box 6"/>
          <p:cNvSpPr txBox="1">
            <a:spLocks noChangeArrowheads="1"/>
          </p:cNvSpPr>
          <p:nvPr/>
        </p:nvSpPr>
        <p:spPr bwMode="auto">
          <a:xfrm>
            <a:off x="1219200" y="4419600"/>
            <a:ext cx="6953250"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&gt; 1，r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&lt; 1：</a:t>
            </a:r>
          </a:p>
          <a:p>
            <a:pPr>
              <a:lnSpc>
                <a:spcPct val="13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共聚组成曲线在对角线上方，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&gt;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endPar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30000"/>
              </a:lnSpc>
              <a:spcBef>
                <a:spcPct val="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，单体配料中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p>
          <a:p>
            <a:pPr>
              <a:lnSpc>
                <a:spcPct val="13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随聚合反应的进行</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朝减小方向变化</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a:t>
            </a:r>
            <a:endPar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endParaRPr lang="en-US" altLang="zh-CN" sz="1800">
              <a:solidFill>
                <a:srgbClr val="000000"/>
              </a:solidFill>
              <a:latin typeface="Century Schoolbook" panose="02040604050505020304" pitchFamily="18" charset="0"/>
              <a:ea typeface="宋体" panose="02010600030101010101" pitchFamily="2" charset="-122"/>
              <a:cs typeface="Arial" panose="020B0604020202020204" pitchFamily="34" charset="0"/>
            </a:endParaRPr>
          </a:p>
        </p:txBody>
      </p:sp>
      <p:sp>
        <p:nvSpPr>
          <p:cNvPr id="105481" name="Text Box 7"/>
          <p:cNvSpPr txBox="1">
            <a:spLocks noChangeArrowheads="1"/>
          </p:cNvSpPr>
          <p:nvPr/>
        </p:nvSpPr>
        <p:spPr bwMode="auto">
          <a:xfrm>
            <a:off x="660400" y="4267200"/>
            <a:ext cx="663575"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20000"/>
              </a:spcBef>
              <a:buFontTx/>
              <a:buNone/>
            </a:pPr>
            <a:r>
              <a:rPr lang="zh-CN" altLang="en-US" sz="2400" b="1">
                <a:solidFill>
                  <a:srgbClr val="FF0000"/>
                </a:solidFill>
                <a:latin typeface="楷体" panose="02010609060101010101" pitchFamily="49" charset="-122"/>
                <a:ea typeface="楷体" panose="02010609060101010101" pitchFamily="49" charset="-122"/>
              </a:rPr>
              <a:t>或：</a:t>
            </a:r>
          </a:p>
        </p:txBody>
      </p:sp>
      <p:cxnSp>
        <p:nvCxnSpPr>
          <p:cNvPr id="3" name="直接箭头连接符 2">
            <a:extLst>
              <a:ext uri="{FF2B5EF4-FFF2-40B4-BE49-F238E27FC236}">
                <a16:creationId xmlns:a16="http://schemas.microsoft.com/office/drawing/2014/main" id="{F4AF6718-F6F9-4ACE-ABC1-2CED96F60C0A}"/>
              </a:ext>
            </a:extLst>
          </p:cNvPr>
          <p:cNvCxnSpPr>
            <a:cxnSpLocks/>
          </p:cNvCxnSpPr>
          <p:nvPr/>
        </p:nvCxnSpPr>
        <p:spPr>
          <a:xfrm flipH="1">
            <a:off x="2913063" y="1339850"/>
            <a:ext cx="504825" cy="231775"/>
          </a:xfrm>
          <a:prstGeom prst="straightConnector1">
            <a:avLst/>
          </a:prstGeom>
          <a:ln w="28575">
            <a:solidFill>
              <a:srgbClr val="7EF74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26757D36-E2E2-4BA3-8B3D-63EA84E4B74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64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69FF867-253E-45BD-8936-F53E1405B18E}"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72</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6500" name="Text Box 2"/>
          <p:cNvSpPr txBox="1">
            <a:spLocks noChangeArrowheads="1"/>
          </p:cNvSpPr>
          <p:nvPr/>
        </p:nvSpPr>
        <p:spPr bwMode="auto">
          <a:xfrm>
            <a:off x="479425" y="436563"/>
            <a:ext cx="4648200" cy="4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&lt; 1，r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&lt; 1 (r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&gt; 1，r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&gt; 1)</a:t>
            </a:r>
            <a:endPar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endParaRPr>
          </a:p>
        </p:txBody>
      </p:sp>
      <p:sp>
        <p:nvSpPr>
          <p:cNvPr id="106501" name="Text Box 3"/>
          <p:cNvSpPr txBox="1">
            <a:spLocks noChangeArrowheads="1"/>
          </p:cNvSpPr>
          <p:nvPr/>
        </p:nvSpPr>
        <p:spPr bwMode="auto">
          <a:xfrm>
            <a:off x="947738" y="1042988"/>
            <a:ext cx="6705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Bd-AN</a:t>
            </a: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共聚，</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0.42，r</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2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0.04;</a:t>
            </a:r>
          </a:p>
          <a:p>
            <a:pPr algn="just">
              <a:lnSpc>
                <a:spcPct val="100000"/>
              </a:lnSpc>
              <a:spcBef>
                <a:spcPct val="0"/>
              </a:spcBef>
              <a:buFontTx/>
              <a:buNone/>
            </a:pPr>
            <a:endPar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endParaRPr>
          </a:p>
          <a:p>
            <a:pPr algn="just">
              <a:lnSpc>
                <a:spcPct val="100000"/>
              </a:lnSpc>
              <a:spcBef>
                <a:spcPct val="0"/>
              </a:spcBef>
              <a:buFontTx/>
              <a:buNone/>
            </a:pP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有恒份共聚点：</a:t>
            </a:r>
          </a:p>
          <a:p>
            <a:pPr algn="just">
              <a:lnSpc>
                <a:spcPct val="100000"/>
              </a:lnSpc>
              <a:spcBef>
                <a:spcPct val="0"/>
              </a:spcBef>
              <a:buFontTx/>
              <a:buNone/>
            </a:pPr>
            <a:endPar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endParaRPr>
          </a:p>
          <a:p>
            <a:pPr algn="just">
              <a:lnSpc>
                <a:spcPct val="100000"/>
              </a:lnSpc>
              <a:spcBef>
                <a:spcPct val="0"/>
              </a:spcBef>
              <a:buFontTx/>
              <a:buNone/>
            </a:pP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共聚组成曲线与对角线交于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F</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c </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 f</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1</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a:t>
            </a:r>
            <a:r>
              <a:rPr lang="en-US" altLang="zh-CN" sz="2000" baseline="-25000">
                <a:solidFill>
                  <a:srgbClr val="000000"/>
                </a:solidFill>
                <a:latin typeface="Arial" panose="020B0604020202020204" pitchFamily="34" charset="0"/>
                <a:ea typeface="宋体" panose="02010600030101010101" pitchFamily="2" charset="-122"/>
                <a:cs typeface="Arial" panose="020B0604020202020204" pitchFamily="34" charset="0"/>
              </a:rPr>
              <a:t>c</a:t>
            </a:r>
            <a:r>
              <a:rPr lang="en-US" altLang="zh-CN" sz="2000">
                <a:solidFill>
                  <a:srgbClr val="000000"/>
                </a:solidFill>
                <a:latin typeface="Arial" panose="020B0604020202020204" pitchFamily="34" charset="0"/>
                <a:ea typeface="宋体" panose="02010600030101010101" pitchFamily="2" charset="-122"/>
                <a:cs typeface="Arial" panose="020B0604020202020204" pitchFamily="34" charset="0"/>
              </a:rPr>
              <a:t> = 0.616</a:t>
            </a:r>
            <a:r>
              <a:rPr lang="zh-CN" altLang="en-US" sz="2000">
                <a:solidFill>
                  <a:srgbClr val="000000"/>
                </a:solidFill>
                <a:latin typeface="Arial" panose="020B0604020202020204" pitchFamily="34" charset="0"/>
                <a:ea typeface="宋体" panose="02010600030101010101" pitchFamily="2" charset="-122"/>
                <a:cs typeface="Arial" panose="020B0604020202020204" pitchFamily="34" charset="0"/>
              </a:rPr>
              <a:t>处</a:t>
            </a:r>
            <a:endParaRPr lang="zh-CN" altLang="en-US" sz="2000">
              <a:latin typeface="Arial" panose="020B0604020202020204" pitchFamily="34" charset="0"/>
              <a:ea typeface="宋体" panose="02010600030101010101" pitchFamily="2" charset="-122"/>
              <a:cs typeface="Arial" panose="020B0604020202020204" pitchFamily="34" charset="0"/>
            </a:endParaRPr>
          </a:p>
        </p:txBody>
      </p:sp>
      <p:graphicFrame>
        <p:nvGraphicFramePr>
          <p:cNvPr id="106502" name="Object 4"/>
          <p:cNvGraphicFramePr>
            <a:graphicFrameLocks noChangeAspect="1"/>
          </p:cNvGraphicFramePr>
          <p:nvPr/>
        </p:nvGraphicFramePr>
        <p:xfrm>
          <a:off x="2913063" y="1535113"/>
          <a:ext cx="2476500" cy="671512"/>
        </p:xfrm>
        <a:graphic>
          <a:graphicData uri="http://schemas.openxmlformats.org/presentationml/2006/ole">
            <mc:AlternateContent xmlns:mc="http://schemas.openxmlformats.org/markup-compatibility/2006">
              <mc:Choice xmlns:v="urn:schemas-microsoft-com:vml" Requires="v">
                <p:oleObj spid="_x0000_s106547" name="公式" r:id="rId4" imgW="1511300" imgH="431800" progId="Equation.3">
                  <p:embed/>
                </p:oleObj>
              </mc:Choice>
              <mc:Fallback>
                <p:oleObj name="公式" r:id="rId4" imgW="1511300" imgH="431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3063" y="1535113"/>
                        <a:ext cx="2476500" cy="671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3" name="Object 6"/>
          <p:cNvGraphicFramePr>
            <a:graphicFrameLocks noChangeAspect="1"/>
          </p:cNvGraphicFramePr>
          <p:nvPr/>
        </p:nvGraphicFramePr>
        <p:xfrm>
          <a:off x="1349375" y="2740025"/>
          <a:ext cx="3484563" cy="3489325"/>
        </p:xfrm>
        <a:graphic>
          <a:graphicData uri="http://schemas.openxmlformats.org/presentationml/2006/ole">
            <mc:AlternateContent xmlns:mc="http://schemas.openxmlformats.org/markup-compatibility/2006">
              <mc:Choice xmlns:v="urn:schemas-microsoft-com:vml" Requires="v">
                <p:oleObj spid="_x0000_s106548" name="Graph" r:id="rId6" imgW="2924978" imgH="2930487" progId="Origin50.Graph">
                  <p:embed/>
                </p:oleObj>
              </mc:Choice>
              <mc:Fallback>
                <p:oleObj name="Graph" r:id="rId6" imgW="2924978" imgH="2930487" progId="Origin50.Graph">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49375" y="2740025"/>
                        <a:ext cx="3484563" cy="348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6504" name="Object 7"/>
          <p:cNvGraphicFramePr>
            <a:graphicFrameLocks noChangeAspect="1"/>
          </p:cNvGraphicFramePr>
          <p:nvPr/>
        </p:nvGraphicFramePr>
        <p:xfrm>
          <a:off x="4749800" y="2735263"/>
          <a:ext cx="3459163" cy="3457575"/>
        </p:xfrm>
        <a:graphic>
          <a:graphicData uri="http://schemas.openxmlformats.org/presentationml/2006/ole">
            <mc:AlternateContent xmlns:mc="http://schemas.openxmlformats.org/markup-compatibility/2006">
              <mc:Choice xmlns:v="urn:schemas-microsoft-com:vml" Requires="v">
                <p:oleObj spid="_x0000_s106549" name="Graph" r:id="rId8" imgW="2924978" imgH="2930487" progId="Origin50.Graph">
                  <p:embed/>
                </p:oleObj>
              </mc:Choice>
              <mc:Fallback>
                <p:oleObj name="Graph" r:id="rId8" imgW="2924978" imgH="2930487" progId="Origin50.Graph">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49800" y="2735263"/>
                        <a:ext cx="3459163"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6505" name="Line 9"/>
          <p:cNvSpPr>
            <a:spLocks noChangeShapeType="1"/>
          </p:cNvSpPr>
          <p:nvPr/>
        </p:nvSpPr>
        <p:spPr bwMode="auto">
          <a:xfrm>
            <a:off x="4127500" y="3784600"/>
            <a:ext cx="10668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6506" name="Line 10"/>
          <p:cNvSpPr>
            <a:spLocks noChangeShapeType="1"/>
          </p:cNvSpPr>
          <p:nvPr/>
        </p:nvSpPr>
        <p:spPr bwMode="auto">
          <a:xfrm>
            <a:off x="3517900" y="4143375"/>
            <a:ext cx="16764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06507" name="Line 11"/>
          <p:cNvSpPr>
            <a:spLocks noChangeShapeType="1"/>
          </p:cNvSpPr>
          <p:nvPr/>
        </p:nvSpPr>
        <p:spPr bwMode="auto">
          <a:xfrm>
            <a:off x="2667000" y="4419600"/>
            <a:ext cx="2514600" cy="0"/>
          </a:xfrm>
          <a:prstGeom prst="line">
            <a:avLst/>
          </a:prstGeom>
          <a:noFill/>
          <a:ln w="9525">
            <a:solidFill>
              <a:srgbClr val="6600CC"/>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1AECD475-6423-4372-AF3A-73992462024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85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9C1631B-5DD7-48AD-A496-EA449BF2E43F}"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73</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8548" name="Text Box 1027"/>
          <p:cNvSpPr txBox="1">
            <a:spLocks noChangeArrowheads="1"/>
          </p:cNvSpPr>
          <p:nvPr/>
        </p:nvSpPr>
        <p:spPr bwMode="auto">
          <a:xfrm>
            <a:off x="641350" y="315913"/>
            <a:ext cx="706278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3)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 1 </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恒份共聚  及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1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r</a:t>
            </a:r>
            <a:r>
              <a:rPr lang="en-US" altLang="zh-CN" sz="2400" baseline="-25000">
                <a:solidFill>
                  <a:srgbClr val="000000"/>
                </a:solidFill>
                <a:latin typeface="Arial" panose="020B0604020202020204" pitchFamily="34" charset="0"/>
                <a:ea typeface="楷体" panose="02010609060101010101" pitchFamily="49" charset="-122"/>
                <a:cs typeface="Arial" panose="020B0604020202020204" pitchFamily="34" charset="0"/>
              </a:rPr>
              <a:t>2</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 = 0  </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交替共聚</a:t>
            </a:r>
          </a:p>
          <a:p>
            <a:pPr>
              <a:lnSpc>
                <a:spcPct val="100000"/>
              </a:lnSpc>
              <a:spcBef>
                <a:spcPct val="0"/>
              </a:spcBef>
              <a:buFontTx/>
              <a:buNone/>
            </a:pPr>
            <a:endPar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共聚物动力学组成分布曲线为水平线  :</a:t>
            </a:r>
          </a:p>
          <a:p>
            <a:pPr>
              <a:lnSpc>
                <a:spcPct val="13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交替共聚：曲线起点在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 </a:t>
            </a:r>
            <a:r>
              <a:rPr lang="en-US" altLang="zh-CN" sz="2000">
                <a:latin typeface="Arial" panose="020B0604020202020204" pitchFamily="34" charset="0"/>
                <a:ea typeface="楷体" panose="02010609060101010101" pitchFamily="49" charset="-122"/>
                <a:cs typeface="Arial" panose="020B0604020202020204" pitchFamily="34" charset="0"/>
              </a:rPr>
              <a:t>= 0.5，F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f</a:t>
            </a:r>
            <a:r>
              <a:rPr lang="en-US" altLang="zh-CN" sz="2000" baseline="-25000">
                <a:latin typeface="Arial" panose="020B0604020202020204" pitchFamily="34" charset="0"/>
                <a:ea typeface="楷体" panose="02010609060101010101" pitchFamily="49" charset="-122"/>
                <a:cs typeface="Arial" panose="020B0604020202020204" pitchFamily="34" charset="0"/>
              </a:rPr>
              <a:t>1 </a:t>
            </a:r>
            <a:r>
              <a:rPr lang="en-US" altLang="zh-CN" sz="2000">
                <a:latin typeface="Arial" panose="020B0604020202020204" pitchFamily="34" charset="0"/>
                <a:ea typeface="楷体" panose="02010609060101010101" pitchFamily="49" charset="-122"/>
                <a:cs typeface="Arial" panose="020B0604020202020204" pitchFamily="34" charset="0"/>
              </a:rPr>
              <a:t>= 0.5；</a:t>
            </a:r>
          </a:p>
          <a:p>
            <a:pPr>
              <a:lnSpc>
                <a:spcPct val="13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恒份共聚：</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 </a:t>
            </a:r>
            <a:r>
              <a:rPr lang="en-US" altLang="zh-CN" sz="2000">
                <a:latin typeface="Arial" panose="020B0604020202020204" pitchFamily="34" charset="0"/>
                <a:ea typeface="楷体" panose="02010609060101010101" pitchFamily="49" charset="-122"/>
                <a:cs typeface="Arial" panose="020B0604020202020204" pitchFamily="34" charset="0"/>
              </a:rPr>
              <a:t>= 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zh-CN" altLang="en-US" sz="2000">
                <a:latin typeface="Arial" panose="020B0604020202020204" pitchFamily="34" charset="0"/>
                <a:ea typeface="楷体" panose="02010609060101010101" pitchFamily="49" charset="-122"/>
                <a:cs typeface="Arial" panose="020B0604020202020204" pitchFamily="34" charset="0"/>
              </a:rPr>
              <a:t>起点由起始配料比  (</a:t>
            </a:r>
            <a:r>
              <a:rPr lang="en-US" altLang="zh-CN" sz="2000">
                <a:latin typeface="Arial" panose="020B0604020202020204" pitchFamily="34" charset="0"/>
                <a:ea typeface="楷体" panose="02010609060101010101" pitchFamily="49" charset="-122"/>
                <a:cs typeface="Arial" panose="020B0604020202020204" pitchFamily="34" charset="0"/>
              </a:rPr>
              <a:t>f</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a:t>
            </a:r>
            <a:r>
              <a:rPr lang="en-US" altLang="zh-CN" sz="2000" baseline="-25000">
                <a:latin typeface="Arial" panose="020B0604020202020204" pitchFamily="34" charset="0"/>
                <a:ea typeface="楷体" panose="02010609060101010101" pitchFamily="49" charset="-122"/>
                <a:cs typeface="Arial" panose="020B0604020202020204" pitchFamily="34" charset="0"/>
              </a:rPr>
              <a:t>0 </a:t>
            </a:r>
            <a:r>
              <a:rPr lang="zh-CN" altLang="en-US" sz="2000">
                <a:latin typeface="Arial" panose="020B0604020202020204" pitchFamily="34" charset="0"/>
                <a:ea typeface="楷体" panose="02010609060101010101" pitchFamily="49" charset="-122"/>
                <a:cs typeface="Arial" panose="020B0604020202020204" pitchFamily="34" charset="0"/>
              </a:rPr>
              <a:t>决定；</a:t>
            </a:r>
          </a:p>
          <a:p>
            <a:pPr>
              <a:lnSpc>
                <a:spcPct val="100000"/>
              </a:lnSpc>
              <a:spcBef>
                <a:spcPct val="0"/>
              </a:spcBef>
              <a:buFontTx/>
              <a:buNone/>
            </a:pPr>
            <a:endPar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由上可见</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已知单体的竟聚率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2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及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关系曲线 </a:t>
            </a:r>
            <a:endPar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nSpc>
                <a:spcPct val="100000"/>
              </a:lnSpc>
              <a:spcBef>
                <a:spcPct val="0"/>
              </a:spcBef>
              <a:buFontTx/>
              <a:buNone/>
            </a:pP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共聚物动力学组成分布曲线（定性）</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08549" name="Object 1032"/>
          <p:cNvGraphicFramePr>
            <a:graphicFrameLocks noChangeAspect="1"/>
          </p:cNvGraphicFramePr>
          <p:nvPr/>
        </p:nvGraphicFramePr>
        <p:xfrm>
          <a:off x="866775" y="3397250"/>
          <a:ext cx="7035800" cy="1646238"/>
        </p:xfrm>
        <a:graphic>
          <a:graphicData uri="http://schemas.openxmlformats.org/presentationml/2006/ole">
            <mc:AlternateContent xmlns:mc="http://schemas.openxmlformats.org/markup-compatibility/2006">
              <mc:Choice xmlns:v="urn:schemas-microsoft-com:vml" Requires="v">
                <p:oleObj spid="_x0000_s108564" name="Document" r:id="rId3" imgW="3756433" imgH="875884" progId="Word.Document.8">
                  <p:embed/>
                </p:oleObj>
              </mc:Choice>
              <mc:Fallback>
                <p:oleObj name="Document" r:id="rId3" imgW="3756433" imgH="875884" progId="Word.Document.8">
                  <p:embed/>
                  <p:pic>
                    <p:nvPicPr>
                      <p:cNvPr id="0" name="Object 10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6775" y="3397250"/>
                        <a:ext cx="7035800" cy="1646238"/>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8550" name="Text Box 1033"/>
          <p:cNvSpPr txBox="1">
            <a:spLocks noChangeArrowheads="1"/>
          </p:cNvSpPr>
          <p:nvPr/>
        </p:nvSpPr>
        <p:spPr bwMode="auto">
          <a:xfrm>
            <a:off x="628650" y="5335588"/>
            <a:ext cx="7777163"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None/>
            </a:pPr>
            <a:r>
              <a:rPr lang="zh-CN" altLang="en-US" sz="2100" b="1" dirty="0">
                <a:solidFill>
                  <a:srgbClr val="FF0000"/>
                </a:solidFill>
                <a:latin typeface="Century Schoolbook" panose="02040604050505020304" pitchFamily="18" charset="0"/>
                <a:ea typeface="宋体" panose="02010600030101010101" pitchFamily="2" charset="-122"/>
              </a:rPr>
              <a:t>上述规律指出了共聚物组成变化的方向， 不能直接用于控制共聚物的组成。</a:t>
            </a:r>
            <a:endParaRPr lang="zh-CN" altLang="en-US" sz="2400" b="1" dirty="0">
              <a:solidFill>
                <a:srgbClr val="FF0000"/>
              </a:solidFill>
              <a:latin typeface="Century Schoolbook" panose="02040604050505020304" pitchFamily="18"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549"/>
                                        </p:tgtEl>
                                        <p:attrNameLst>
                                          <p:attrName>style.visibility</p:attrName>
                                        </p:attrNameLst>
                                      </p:cBhvr>
                                      <p:to>
                                        <p:strVal val="visible"/>
                                      </p:to>
                                    </p:set>
                                    <p:animEffect transition="in" filter="fade">
                                      <p:cBhvr>
                                        <p:cTn id="7" dur="500"/>
                                        <p:tgtEl>
                                          <p:spTgt spid="1085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550"/>
                                        </p:tgtEl>
                                        <p:attrNameLst>
                                          <p:attrName>style.visibility</p:attrName>
                                        </p:attrNameLst>
                                      </p:cBhvr>
                                      <p:to>
                                        <p:strVal val="visible"/>
                                      </p:to>
                                    </p:set>
                                    <p:animEffect transition="in" filter="fade">
                                      <p:cBhvr>
                                        <p:cTn id="12" dur="500"/>
                                        <p:tgtEl>
                                          <p:spTgt spid="108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0" grpId="0"/>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4D98E13D-4132-4CCE-9110-9D0BB9C7060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957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F9B86B4-DE73-42EB-A484-3FB42CC2A966}"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74</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09572" name="Text Box 1031"/>
          <p:cNvSpPr txBox="1">
            <a:spLocks noChangeArrowheads="1"/>
          </p:cNvSpPr>
          <p:nvPr/>
        </p:nvSpPr>
        <p:spPr bwMode="auto">
          <a:xfrm>
            <a:off x="250825" y="476250"/>
            <a:ext cx="8642350"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通过控制转化率来控制共聚物的组成，</a:t>
            </a:r>
            <a:r>
              <a:rPr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前提是准确作出共聚物动力学组成分布曲线</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，有两条途径：</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1) 通过实验测定不同转化率</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下的</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对</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作图；</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2) 通过共聚物组成微分方程的积分求出转化率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与 </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的函数关系 。</a:t>
            </a:r>
            <a:endPar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(Ref: Mayor   J. Polym. Sci. Part A: 3, 2843-2851 (1965))</a:t>
            </a:r>
            <a:endParaRPr lang="zh-CN" altLang="en-US" sz="2000">
              <a:latin typeface="Arial" panose="020B0604020202020204" pitchFamily="34" charset="0"/>
              <a:ea typeface="楷体" panose="02010609060101010101" pitchFamily="49" charset="-122"/>
              <a:cs typeface="Arial" panose="020B0604020202020204" pitchFamily="34" charset="0"/>
            </a:endParaRPr>
          </a:p>
        </p:txBody>
      </p:sp>
      <p:pic>
        <p:nvPicPr>
          <p:cNvPr id="109573" name="Picture 1034" descr="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2503488"/>
            <a:ext cx="4024313" cy="390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4" name="矩形 1"/>
          <p:cNvSpPr>
            <a:spLocks noChangeArrowheads="1"/>
          </p:cNvSpPr>
          <p:nvPr/>
        </p:nvSpPr>
        <p:spPr bwMode="auto">
          <a:xfrm>
            <a:off x="2268538" y="6283325"/>
            <a:ext cx="42497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St-MMA</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共聚体系的组成和转化率曲线。</a:t>
            </a:r>
            <a:endParaRPr lang="zh-CN" altLang="en-US" sz="1800">
              <a:cs typeface="Arial" panose="020B0604020202020204" pitchFamily="34" charset="0"/>
            </a:endParaRPr>
          </a:p>
        </p:txBody>
      </p:sp>
      <p:sp>
        <p:nvSpPr>
          <p:cNvPr id="7" name="矩形 6">
            <a:extLst>
              <a:ext uri="{FF2B5EF4-FFF2-40B4-BE49-F238E27FC236}">
                <a16:creationId xmlns:a16="http://schemas.microsoft.com/office/drawing/2014/main" id="{D22F8145-F222-4B59-9C82-AA17E31F0396}"/>
              </a:ext>
            </a:extLst>
          </p:cNvPr>
          <p:cNvSpPr>
            <a:spLocks noRot="1" noChangeAspect="1" noMove="1" noResize="1" noEditPoints="1" noAdjustHandles="1" noChangeArrowheads="1" noChangeShapeType="1" noTextEdit="1"/>
          </p:cNvSpPr>
          <p:nvPr/>
        </p:nvSpPr>
        <p:spPr>
          <a:xfrm>
            <a:off x="576878" y="2899447"/>
            <a:ext cx="1557349" cy="468205"/>
          </a:xfrm>
          <a:prstGeom prst="rect">
            <a:avLst/>
          </a:prstGeom>
          <a:blipFill>
            <a:blip r:embed="rId3"/>
            <a:stretch>
              <a:fillRect l="-784" b="-18421"/>
            </a:stretch>
          </a:blipFill>
        </p:spPr>
        <p:txBody>
          <a:bodyPr/>
          <a:lstStyle/>
          <a:p>
            <a:pPr>
              <a:defRPr/>
            </a:pPr>
            <a:r>
              <a:rPr lang="zh-CN" altLang="en-US">
                <a:noFill/>
              </a:rPr>
              <a:t> </a:t>
            </a:r>
          </a:p>
        </p:txBody>
      </p:sp>
      <p:sp>
        <p:nvSpPr>
          <p:cNvPr id="8" name="矩形 7">
            <a:extLst>
              <a:ext uri="{FF2B5EF4-FFF2-40B4-BE49-F238E27FC236}">
                <a16:creationId xmlns:a16="http://schemas.microsoft.com/office/drawing/2014/main" id="{541B3B62-40E2-4CCE-9CD5-4377E2347F8D}"/>
              </a:ext>
            </a:extLst>
          </p:cNvPr>
          <p:cNvSpPr>
            <a:spLocks noRot="1" noChangeAspect="1" noMove="1" noResize="1" noEditPoints="1" noAdjustHandles="1" noChangeArrowheads="1" noChangeShapeType="1" noTextEdit="1"/>
          </p:cNvSpPr>
          <p:nvPr/>
        </p:nvSpPr>
        <p:spPr>
          <a:xfrm>
            <a:off x="576877" y="3634783"/>
            <a:ext cx="1557349" cy="468975"/>
          </a:xfrm>
          <a:prstGeom prst="rect">
            <a:avLst/>
          </a:prstGeom>
          <a:blipFill>
            <a:blip r:embed="rId4"/>
            <a:stretch>
              <a:fillRect l="-784" b="-16883"/>
            </a:stretch>
          </a:blipFill>
        </p:spPr>
        <p:txBody>
          <a:bodyPr/>
          <a:lstStyle/>
          <a:p>
            <a:pPr>
              <a:defRPr/>
            </a:pPr>
            <a:r>
              <a:rPr lang="zh-CN" altLang="en-US">
                <a:noFill/>
              </a:rPr>
              <a:t> </a:t>
            </a:r>
          </a:p>
        </p:txBody>
      </p:sp>
      <p:sp>
        <p:nvSpPr>
          <p:cNvPr id="9" name="矩形 8">
            <a:extLst>
              <a:ext uri="{FF2B5EF4-FFF2-40B4-BE49-F238E27FC236}">
                <a16:creationId xmlns:a16="http://schemas.microsoft.com/office/drawing/2014/main" id="{A1C8FF98-6A05-4EE0-80BE-428D87CC8E9B}"/>
              </a:ext>
            </a:extLst>
          </p:cNvPr>
          <p:cNvSpPr>
            <a:spLocks noRot="1" noChangeAspect="1" noMove="1" noResize="1" noEditPoints="1" noAdjustHandles="1" noChangeArrowheads="1" noChangeShapeType="1" noTextEdit="1"/>
          </p:cNvSpPr>
          <p:nvPr/>
        </p:nvSpPr>
        <p:spPr>
          <a:xfrm>
            <a:off x="576877" y="4177338"/>
            <a:ext cx="1473609" cy="461665"/>
          </a:xfrm>
          <a:prstGeom prst="rect">
            <a:avLst/>
          </a:prstGeom>
          <a:blipFill>
            <a:blip r:embed="rId5"/>
            <a:stretch>
              <a:fillRect b="-1316"/>
            </a:stretch>
          </a:blipFill>
        </p:spPr>
        <p:txBody>
          <a:bodyPr/>
          <a:lstStyle/>
          <a:p>
            <a:pPr>
              <a:defRPr/>
            </a:pPr>
            <a:r>
              <a:rPr lang="zh-CN" altLang="en-US">
                <a:noFill/>
              </a:rPr>
              <a:t> </a:t>
            </a:r>
          </a:p>
        </p:txBody>
      </p:sp>
      <p:sp>
        <p:nvSpPr>
          <p:cNvPr id="10" name="矩形 9">
            <a:extLst>
              <a:ext uri="{FF2B5EF4-FFF2-40B4-BE49-F238E27FC236}">
                <a16:creationId xmlns:a16="http://schemas.microsoft.com/office/drawing/2014/main" id="{4E3FAE41-0F49-465B-AA53-4271A18AFF1C}"/>
              </a:ext>
            </a:extLst>
          </p:cNvPr>
          <p:cNvSpPr>
            <a:spLocks noRot="1" noChangeAspect="1" noMove="1" noResize="1" noEditPoints="1" noAdjustHandles="1" noChangeArrowheads="1" noChangeShapeType="1" noTextEdit="1"/>
          </p:cNvSpPr>
          <p:nvPr/>
        </p:nvSpPr>
        <p:spPr>
          <a:xfrm>
            <a:off x="576877" y="4674937"/>
            <a:ext cx="1480726" cy="461665"/>
          </a:xfrm>
          <a:prstGeom prst="rect">
            <a:avLst/>
          </a:prstGeom>
          <a:blipFill>
            <a:blip r:embed="rId6"/>
            <a:stretch>
              <a:fillRect/>
            </a:stretch>
          </a:blipFill>
        </p:spPr>
        <p:txBody>
          <a:bodyPr/>
          <a:lstStyle/>
          <a:p>
            <a:pPr>
              <a:defRPr/>
            </a:pPr>
            <a:r>
              <a:rPr lang="zh-CN" altLang="en-US">
                <a:noFill/>
              </a:rPr>
              <a:t> </a:t>
            </a:r>
          </a:p>
        </p:txBody>
      </p:sp>
      <p:sp>
        <p:nvSpPr>
          <p:cNvPr id="11" name="矩形 10">
            <a:extLst>
              <a:ext uri="{FF2B5EF4-FFF2-40B4-BE49-F238E27FC236}">
                <a16:creationId xmlns:a16="http://schemas.microsoft.com/office/drawing/2014/main" id="{70556B35-76DE-4AF1-8C4A-565D15849402}"/>
              </a:ext>
            </a:extLst>
          </p:cNvPr>
          <p:cNvSpPr>
            <a:spLocks noRot="1" noChangeAspect="1" noMove="1" noResize="1" noEditPoints="1" noAdjustHandles="1" noChangeArrowheads="1" noChangeShapeType="1" noTextEdit="1"/>
          </p:cNvSpPr>
          <p:nvPr/>
        </p:nvSpPr>
        <p:spPr>
          <a:xfrm>
            <a:off x="5980073" y="2678212"/>
            <a:ext cx="3082062" cy="461665"/>
          </a:xfrm>
          <a:prstGeom prst="rect">
            <a:avLst/>
          </a:prstGeom>
          <a:blipFill>
            <a:blip r:embed="rId7"/>
            <a:stretch>
              <a:fillRect l="-198" b="-17105"/>
            </a:stretch>
          </a:blipFill>
        </p:spPr>
        <p:txBody>
          <a:bodyPr/>
          <a:lstStyle/>
          <a:p>
            <a:pPr>
              <a:defRPr/>
            </a:pPr>
            <a:r>
              <a:rPr lang="zh-CN" altLang="en-US" dirty="0">
                <a:noFill/>
              </a:rPr>
              <a:t> </a:t>
            </a:r>
          </a:p>
        </p:txBody>
      </p:sp>
      <p:sp>
        <p:nvSpPr>
          <p:cNvPr id="109580" name="矩形 1"/>
          <p:cNvSpPr>
            <a:spLocks noChangeArrowheads="1"/>
          </p:cNvSpPr>
          <p:nvPr/>
        </p:nvSpPr>
        <p:spPr bwMode="auto">
          <a:xfrm>
            <a:off x="6084888" y="3363913"/>
            <a:ext cx="24923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中间水平线为恒比组成</a:t>
            </a:r>
            <a:endParaRPr lang="zh-CN" altLang="en-US" sz="1800">
              <a:cs typeface="Arial" panose="020B0604020202020204" pitchFamily="34"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BCAD99F8-0425-4069-B434-E8BA13599D94}"/>
              </a:ext>
            </a:extLst>
          </p:cNvPr>
          <p:cNvSpPr>
            <a:spLocks noGrp="1"/>
          </p:cNvSpPr>
          <p:nvPr>
            <p:ph type="sldNum" sz="quarter" idx="12"/>
          </p:nvPr>
        </p:nvSpPr>
        <p:spPr/>
        <p:txBody>
          <a:bodyPr/>
          <a:lstStyle/>
          <a:p>
            <a:pPr>
              <a:defRPr/>
            </a:pPr>
            <a:fld id="{86FA918D-0963-4B97-9AB4-31D8FB9DB139}" type="slidenum">
              <a:rPr lang="zh-CN" altLang="en-US" smtClean="0"/>
              <a:pPr>
                <a:defRPr/>
              </a:pPr>
              <a:t>75</a:t>
            </a:fld>
            <a:endParaRPr lang="en-US" altLang="zh-CN"/>
          </a:p>
        </p:txBody>
      </p:sp>
      <p:pic>
        <p:nvPicPr>
          <p:cNvPr id="110595" name="图片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2463" y="260350"/>
            <a:ext cx="7886700" cy="558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6" name="矩形 4"/>
          <p:cNvSpPr>
            <a:spLocks noChangeArrowheads="1"/>
          </p:cNvSpPr>
          <p:nvPr/>
        </p:nvSpPr>
        <p:spPr bwMode="auto">
          <a:xfrm>
            <a:off x="971550" y="5818188"/>
            <a:ext cx="7416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假设上述聚合物由五元环化合物开环聚合生成，通过实验测定不同转化率</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下的</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18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 </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F</a:t>
            </a:r>
            <a:r>
              <a:rPr lang="en-US" altLang="zh-CN" sz="1800" baseline="-25000">
                <a:solidFill>
                  <a:srgbClr val="000000"/>
                </a:solidFill>
                <a:latin typeface="Arial" panose="020B0604020202020204" pitchFamily="34" charset="0"/>
                <a:ea typeface="楷体" panose="02010609060101010101" pitchFamily="49" charset="-122"/>
                <a:cs typeface="Arial" panose="020B0604020202020204" pitchFamily="34" charset="0"/>
              </a:rPr>
              <a:t>1</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对</a:t>
            </a:r>
            <a:r>
              <a:rPr lang="en-US" altLang="zh-CN" sz="18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1800">
                <a:solidFill>
                  <a:srgbClr val="000000"/>
                </a:solidFill>
                <a:latin typeface="Arial" panose="020B0604020202020204" pitchFamily="34" charset="0"/>
                <a:ea typeface="楷体" panose="02010609060101010101" pitchFamily="49" charset="-122"/>
                <a:cs typeface="Arial" panose="020B0604020202020204" pitchFamily="34" charset="0"/>
              </a:rPr>
              <a:t>作图。</a:t>
            </a:r>
            <a:endParaRPr lang="zh-CN" altLang="en-US" sz="1800">
              <a:cs typeface="Arial" panose="020B0604020202020204" pitchFamily="34"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C98C4A5C-11F9-4803-99D7-03798376C2B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116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2FB6C9F-BA02-454F-A1A1-7F8C1EBC165D}"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76</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11620" name="Text Box 3"/>
          <p:cNvSpPr txBox="1">
            <a:spLocks noChangeArrowheads="1"/>
          </p:cNvSpPr>
          <p:nvPr/>
        </p:nvSpPr>
        <p:spPr bwMode="auto">
          <a:xfrm>
            <a:off x="361950" y="306388"/>
            <a:ext cx="8153400" cy="277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400">
                <a:solidFill>
                  <a:srgbClr val="000000"/>
                </a:solidFill>
                <a:latin typeface="楷体" panose="02010609060101010101" pitchFamily="49" charset="-122"/>
                <a:ea typeface="楷体" panose="02010609060101010101" pitchFamily="49" charset="-122"/>
              </a:rPr>
              <a:t>2  控制共聚物组成分布的方法</a:t>
            </a:r>
          </a:p>
          <a:p>
            <a:pPr algn="just">
              <a:lnSpc>
                <a:spcPct val="100000"/>
              </a:lnSpc>
              <a:spcBef>
                <a:spcPct val="0"/>
              </a:spcBef>
              <a:buFontTx/>
              <a:buNone/>
            </a:pPr>
            <a:endParaRPr lang="en-US" altLang="zh-CN" sz="2400">
              <a:solidFill>
                <a:srgbClr val="CC3300"/>
              </a:solidFill>
              <a:latin typeface="楷体" panose="02010609060101010101" pitchFamily="49" charset="-122"/>
              <a:ea typeface="楷体" panose="02010609060101010101" pitchFamily="49" charset="-122"/>
            </a:endParaRPr>
          </a:p>
          <a:p>
            <a:pPr algn="just">
              <a:lnSpc>
                <a:spcPct val="100000"/>
              </a:lnSpc>
              <a:spcBef>
                <a:spcPct val="0"/>
              </a:spcBef>
              <a:buFontTx/>
              <a:buNone/>
            </a:pPr>
            <a:r>
              <a:rPr lang="en-US" altLang="zh-CN" sz="2000" b="1">
                <a:latin typeface="Arial" panose="020B0604020202020204" pitchFamily="34" charset="0"/>
                <a:ea typeface="楷体" panose="02010609060101010101" pitchFamily="49" charset="-122"/>
                <a:cs typeface="Arial" panose="020B0604020202020204" pitchFamily="34" charset="0"/>
              </a:rPr>
              <a:t>1)</a:t>
            </a:r>
            <a:r>
              <a:rPr lang="zh-CN" altLang="en-US" sz="2000" b="1">
                <a:latin typeface="Arial" panose="020B0604020202020204" pitchFamily="34" charset="0"/>
                <a:ea typeface="楷体" panose="02010609060101010101" pitchFamily="49" charset="-122"/>
                <a:cs typeface="Arial" panose="020B0604020202020204" pitchFamily="34" charset="0"/>
              </a:rPr>
              <a:t> 控制反应的转化率</a:t>
            </a:r>
          </a:p>
          <a:p>
            <a:pPr algn="just">
              <a:lnSpc>
                <a:spcPct val="120000"/>
              </a:lnSpc>
              <a:spcBef>
                <a:spcPts val="120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例</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1:  St-Bd</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共聚</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当</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 &lt; 70 %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前，共聚物组成随</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的变化小，当</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C %&gt; 70%</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后，共聚物中</a:t>
            </a:r>
            <a:r>
              <a:rPr lang="en-US" altLang="zh-CN" sz="2000">
                <a:solidFill>
                  <a:srgbClr val="000000"/>
                </a:solidFill>
                <a:latin typeface="Arial" panose="020B0604020202020204" pitchFamily="34" charset="0"/>
                <a:ea typeface="楷体" panose="02010609060101010101" pitchFamily="49" charset="-122"/>
                <a:cs typeface="Arial" panose="020B0604020202020204" pitchFamily="34" charset="0"/>
              </a:rPr>
              <a:t>St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的组分增加很快（曲线向上翘）</a:t>
            </a:r>
          </a:p>
          <a:p>
            <a:pPr algn="just">
              <a:lnSpc>
                <a:spcPct val="120000"/>
              </a:lnSpc>
              <a:spcBef>
                <a:spcPct val="0"/>
              </a:spcBef>
              <a:buFontTx/>
              <a:buNone/>
            </a:pP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控制转化率在70%以内终止反应 </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a:solidFill>
                  <a:srgbClr val="000000"/>
                </a:solidFill>
                <a:latin typeface="Arial" panose="020B0604020202020204" pitchFamily="34" charset="0"/>
                <a:ea typeface="楷体" panose="02010609060101010101" pitchFamily="49" charset="-122"/>
                <a:cs typeface="Arial" panose="020B0604020202020204" pitchFamily="34" charset="0"/>
              </a:rPr>
              <a:t> 得到均匀组成的共聚物</a:t>
            </a:r>
          </a:p>
        </p:txBody>
      </p:sp>
      <p:sp>
        <p:nvSpPr>
          <p:cNvPr id="111621" name="Line 9"/>
          <p:cNvSpPr>
            <a:spLocks noChangeShapeType="1"/>
          </p:cNvSpPr>
          <p:nvPr/>
        </p:nvSpPr>
        <p:spPr bwMode="auto">
          <a:xfrm>
            <a:off x="1219200" y="4495800"/>
            <a:ext cx="5334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lIns="92075" tIns="46038" rIns="92075" bIns="46038" anchor="ctr"/>
          <a:lstStyle/>
          <a:p>
            <a:endParaRPr lang="zh-CN" altLang="en-US"/>
          </a:p>
        </p:txBody>
      </p:sp>
      <p:sp>
        <p:nvSpPr>
          <p:cNvPr id="111622" name="Freeform 12"/>
          <p:cNvSpPr>
            <a:spLocks/>
          </p:cNvSpPr>
          <p:nvPr/>
        </p:nvSpPr>
        <p:spPr bwMode="auto">
          <a:xfrm>
            <a:off x="2209800" y="4283075"/>
            <a:ext cx="2590800" cy="514350"/>
          </a:xfrm>
          <a:custGeom>
            <a:avLst/>
            <a:gdLst>
              <a:gd name="T0" fmla="*/ 0 w 1248"/>
              <a:gd name="T1" fmla="*/ 2147483646 h 324"/>
              <a:gd name="T2" fmla="*/ 2147483646 w 1248"/>
              <a:gd name="T3" fmla="*/ 2147483646 h 324"/>
              <a:gd name="T4" fmla="*/ 2147483646 w 1248"/>
              <a:gd name="T5" fmla="*/ 0 h 324"/>
              <a:gd name="T6" fmla="*/ 0 60000 65536"/>
              <a:gd name="T7" fmla="*/ 0 60000 65536"/>
              <a:gd name="T8" fmla="*/ 0 60000 65536"/>
              <a:gd name="T9" fmla="*/ 0 w 1248"/>
              <a:gd name="T10" fmla="*/ 0 h 324"/>
              <a:gd name="T11" fmla="*/ 1248 w 1248"/>
              <a:gd name="T12" fmla="*/ 324 h 324"/>
            </a:gdLst>
            <a:ahLst/>
            <a:cxnLst>
              <a:cxn ang="T6">
                <a:pos x="T0" y="T1"/>
              </a:cxn>
              <a:cxn ang="T7">
                <a:pos x="T2" y="T3"/>
              </a:cxn>
              <a:cxn ang="T8">
                <a:pos x="T4" y="T5"/>
              </a:cxn>
            </a:cxnLst>
            <a:rect l="T9" t="T10" r="T11" b="T12"/>
            <a:pathLst>
              <a:path w="1248" h="324">
                <a:moveTo>
                  <a:pt x="0" y="288"/>
                </a:moveTo>
                <a:cubicBezTo>
                  <a:pt x="136" y="286"/>
                  <a:pt x="608" y="324"/>
                  <a:pt x="816" y="276"/>
                </a:cubicBezTo>
                <a:cubicBezTo>
                  <a:pt x="1024" y="228"/>
                  <a:pt x="1158" y="57"/>
                  <a:pt x="1248" y="0"/>
                </a:cubicBezTo>
              </a:path>
            </a:pathLst>
          </a:custGeom>
          <a:noFill/>
          <a:ln w="38100">
            <a:solidFill>
              <a:srgbClr val="90109E"/>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111623" name="Freeform 13"/>
          <p:cNvSpPr>
            <a:spLocks/>
          </p:cNvSpPr>
          <p:nvPr/>
        </p:nvSpPr>
        <p:spPr bwMode="auto">
          <a:xfrm>
            <a:off x="2278063" y="3562350"/>
            <a:ext cx="2438400" cy="514350"/>
          </a:xfrm>
          <a:custGeom>
            <a:avLst/>
            <a:gdLst>
              <a:gd name="T0" fmla="*/ 0 w 1248"/>
              <a:gd name="T1" fmla="*/ 2147483646 h 324"/>
              <a:gd name="T2" fmla="*/ 2147483646 w 1248"/>
              <a:gd name="T3" fmla="*/ 2147483646 h 324"/>
              <a:gd name="T4" fmla="*/ 2147483646 w 1248"/>
              <a:gd name="T5" fmla="*/ 0 h 324"/>
              <a:gd name="T6" fmla="*/ 0 60000 65536"/>
              <a:gd name="T7" fmla="*/ 0 60000 65536"/>
              <a:gd name="T8" fmla="*/ 0 60000 65536"/>
              <a:gd name="T9" fmla="*/ 0 w 1248"/>
              <a:gd name="T10" fmla="*/ 0 h 324"/>
              <a:gd name="T11" fmla="*/ 1248 w 1248"/>
              <a:gd name="T12" fmla="*/ 324 h 324"/>
            </a:gdLst>
            <a:ahLst/>
            <a:cxnLst>
              <a:cxn ang="T6">
                <a:pos x="T0" y="T1"/>
              </a:cxn>
              <a:cxn ang="T7">
                <a:pos x="T2" y="T3"/>
              </a:cxn>
              <a:cxn ang="T8">
                <a:pos x="T4" y="T5"/>
              </a:cxn>
            </a:cxnLst>
            <a:rect l="T9" t="T10" r="T11" b="T12"/>
            <a:pathLst>
              <a:path w="1248" h="324">
                <a:moveTo>
                  <a:pt x="0" y="288"/>
                </a:moveTo>
                <a:cubicBezTo>
                  <a:pt x="150" y="286"/>
                  <a:pt x="692" y="324"/>
                  <a:pt x="900" y="276"/>
                </a:cubicBezTo>
                <a:cubicBezTo>
                  <a:pt x="1108" y="228"/>
                  <a:pt x="1176" y="57"/>
                  <a:pt x="1248" y="0"/>
                </a:cubicBezTo>
              </a:path>
            </a:pathLst>
          </a:custGeom>
          <a:noFill/>
          <a:ln w="28575">
            <a:solidFill>
              <a:srgbClr val="90109E"/>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graphicFrame>
        <p:nvGraphicFramePr>
          <p:cNvPr id="111624" name="Object 1024"/>
          <p:cNvGraphicFramePr>
            <a:graphicFrameLocks noChangeAspect="1"/>
          </p:cNvGraphicFramePr>
          <p:nvPr/>
        </p:nvGraphicFramePr>
        <p:xfrm>
          <a:off x="1657350" y="2852738"/>
          <a:ext cx="3986213" cy="3987800"/>
        </p:xfrm>
        <a:graphic>
          <a:graphicData uri="http://schemas.openxmlformats.org/presentationml/2006/ole">
            <mc:AlternateContent xmlns:mc="http://schemas.openxmlformats.org/markup-compatibility/2006">
              <mc:Choice xmlns:v="urn:schemas-microsoft-com:vml" Requires="v">
                <p:oleObj spid="_x0000_s111639" name="Graph" r:id="rId3" imgW="2924978" imgH="2930487" progId="Origin50.Graph">
                  <p:embed/>
                </p:oleObj>
              </mc:Choice>
              <mc:Fallback>
                <p:oleObj name="Graph" r:id="rId3" imgW="2924978" imgH="2930487" progId="Origin50.Graph">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2852738"/>
                        <a:ext cx="3986213" cy="398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1625" name="Text Box 21"/>
          <p:cNvSpPr txBox="1">
            <a:spLocks noChangeArrowheads="1"/>
          </p:cNvSpPr>
          <p:nvPr/>
        </p:nvSpPr>
        <p:spPr bwMode="auto">
          <a:xfrm>
            <a:off x="5508625" y="5641975"/>
            <a:ext cx="25273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100">
                <a:latin typeface="Arial" panose="020B0604020202020204" pitchFamily="34" charset="0"/>
                <a:ea typeface="楷体" panose="02010609060101010101" pitchFamily="49" charset="-122"/>
                <a:cs typeface="Arial" panose="020B0604020202020204" pitchFamily="34" charset="0"/>
              </a:rPr>
              <a:t>St-Bd</a:t>
            </a:r>
            <a:r>
              <a:rPr lang="zh-CN" altLang="zh-CN" sz="2100">
                <a:latin typeface="Arial" panose="020B0604020202020204" pitchFamily="34" charset="0"/>
                <a:ea typeface="楷体" panose="02010609060101010101" pitchFamily="49" charset="-122"/>
                <a:cs typeface="Arial" panose="020B0604020202020204" pitchFamily="34" charset="0"/>
              </a:rPr>
              <a:t>共聚</a:t>
            </a:r>
            <a:r>
              <a:rPr lang="zh-CN" altLang="en-US" sz="2100">
                <a:latin typeface="Arial" panose="020B0604020202020204" pitchFamily="34" charset="0"/>
                <a:ea typeface="楷体" panose="02010609060101010101" pitchFamily="49" charset="-122"/>
                <a:cs typeface="Arial" panose="020B0604020202020204" pitchFamily="34" charset="0"/>
              </a:rPr>
              <a:t>物</a:t>
            </a:r>
            <a:r>
              <a:rPr lang="zh-CN" altLang="zh-CN" sz="2100">
                <a:latin typeface="Arial" panose="020B0604020202020204" pitchFamily="34" charset="0"/>
                <a:ea typeface="楷体" panose="02010609060101010101" pitchFamily="49" charset="-122"/>
                <a:cs typeface="Arial" panose="020B0604020202020204" pitchFamily="34" charset="0"/>
              </a:rPr>
              <a:t>组成</a:t>
            </a:r>
            <a:endParaRPr lang="en-US" altLang="zh-CN" sz="2100">
              <a:latin typeface="Arial" panose="020B0604020202020204" pitchFamily="34" charset="0"/>
              <a:ea typeface="楷体" panose="02010609060101010101" pitchFamily="49" charset="-122"/>
              <a:cs typeface="Arial" panose="020B0604020202020204" pitchFamily="34" charset="0"/>
            </a:endParaRPr>
          </a:p>
          <a:p>
            <a:pPr eaLnBrk="1" hangingPunct="1">
              <a:lnSpc>
                <a:spcPct val="100000"/>
              </a:lnSpc>
              <a:spcBef>
                <a:spcPct val="0"/>
              </a:spcBef>
              <a:buFontTx/>
              <a:buNone/>
            </a:pPr>
            <a:r>
              <a:rPr lang="zh-CN" altLang="zh-CN" sz="2100">
                <a:latin typeface="Arial" panose="020B0604020202020204" pitchFamily="34" charset="0"/>
                <a:ea typeface="楷体" panose="02010609060101010101" pitchFamily="49" charset="-122"/>
                <a:cs typeface="Arial" panose="020B0604020202020204" pitchFamily="34" charset="0"/>
              </a:rPr>
              <a:t>动力学分布曲线</a:t>
            </a:r>
            <a:endParaRPr lang="zh-CN" altLang="en-US" sz="190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11" name="直接连接符 10">
            <a:extLst>
              <a:ext uri="{FF2B5EF4-FFF2-40B4-BE49-F238E27FC236}">
                <a16:creationId xmlns:a16="http://schemas.microsoft.com/office/drawing/2014/main" id="{C946C290-ACF3-4D0F-9F6E-D2BE233930D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1264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02CB9995-DE99-4BD2-811A-5B1EC7302307}"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77</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12644" name="Text Box 2"/>
          <p:cNvSpPr txBox="1">
            <a:spLocks noChangeArrowheads="1"/>
          </p:cNvSpPr>
          <p:nvPr/>
        </p:nvSpPr>
        <p:spPr bwMode="auto">
          <a:xfrm>
            <a:off x="449263" y="320675"/>
            <a:ext cx="77724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3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例2.  </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Bd-AN</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共聚</a:t>
            </a:r>
          </a:p>
          <a:p>
            <a:pPr>
              <a:lnSpc>
                <a:spcPct val="13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在</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C &lt; 60%</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前，共聚物组成随</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的变化很小，</a:t>
            </a:r>
          </a:p>
          <a:p>
            <a:pPr>
              <a:lnSpc>
                <a:spcPct val="130000"/>
              </a:lnSpc>
              <a:spcBef>
                <a:spcPct val="0"/>
              </a:spcBef>
              <a:buFontTx/>
              <a:buNone/>
            </a:pP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因此，控制</a:t>
            </a:r>
            <a:r>
              <a:rPr lang="en-US" altLang="zh-CN" sz="2400">
                <a:solidFill>
                  <a:srgbClr val="000000"/>
                </a:solidFill>
                <a:latin typeface="Arial" panose="020B0604020202020204" pitchFamily="34" charset="0"/>
                <a:ea typeface="楷体" panose="02010609060101010101" pitchFamily="49" charset="-122"/>
                <a:cs typeface="Arial" panose="020B0604020202020204" pitchFamily="34" charset="0"/>
              </a:rPr>
              <a:t>C%</a:t>
            </a:r>
            <a:r>
              <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rPr>
              <a:t>在50～60%左右终止反应</a:t>
            </a:r>
            <a:r>
              <a:rPr lang="en-US" altLang="zh-CN" sz="1900" b="1">
                <a:solidFill>
                  <a:srgbClr val="000000"/>
                </a:solidFill>
                <a:latin typeface="Century Schoolbook" panose="02040604050505020304" pitchFamily="18" charset="0"/>
                <a:ea typeface="宋体" panose="02010600030101010101" pitchFamily="2" charset="-122"/>
                <a:cs typeface="Arial" panose="020B0604020202020204" pitchFamily="34" charset="0"/>
              </a:rPr>
              <a:t>.</a:t>
            </a:r>
            <a:endParaRPr lang="zh-CN" altLang="en-US" sz="2400">
              <a:solidFill>
                <a:srgbClr val="000000"/>
              </a:solidFill>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12645" name="Object 1024"/>
          <p:cNvGraphicFramePr>
            <a:graphicFrameLocks noChangeAspect="1"/>
          </p:cNvGraphicFramePr>
          <p:nvPr/>
        </p:nvGraphicFramePr>
        <p:xfrm>
          <a:off x="2101850" y="1617663"/>
          <a:ext cx="4278313" cy="4279900"/>
        </p:xfrm>
        <a:graphic>
          <a:graphicData uri="http://schemas.openxmlformats.org/presentationml/2006/ole">
            <mc:AlternateContent xmlns:mc="http://schemas.openxmlformats.org/markup-compatibility/2006">
              <mc:Choice xmlns:v="urn:schemas-microsoft-com:vml" Requires="v">
                <p:oleObj spid="_x0000_s112665" name="Graph" r:id="rId3" imgW="2924978" imgH="2930487" progId="Origin50.Graph">
                  <p:embed/>
                </p:oleObj>
              </mc:Choice>
              <mc:Fallback>
                <p:oleObj name="Graph" r:id="rId3" imgW="2924978" imgH="2930487" progId="Origin50.Graph">
                  <p:embed/>
                  <p:pic>
                    <p:nvPicPr>
                      <p:cNvPr id="0" name="Object 10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1850" y="1617663"/>
                        <a:ext cx="4278313"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646" name="Text Box 4"/>
          <p:cNvSpPr txBox="1">
            <a:spLocks noChangeArrowheads="1"/>
          </p:cNvSpPr>
          <p:nvPr/>
        </p:nvSpPr>
        <p:spPr bwMode="auto">
          <a:xfrm>
            <a:off x="3819525" y="5818188"/>
            <a:ext cx="1143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latin typeface="Arial" panose="020B0604020202020204" pitchFamily="34" charset="0"/>
                <a:ea typeface="宋体" panose="02010600030101010101" pitchFamily="2" charset="-122"/>
                <a:cs typeface="Arial" panose="020B0604020202020204" pitchFamily="34" charset="0"/>
              </a:rPr>
              <a:t>Bd-AN</a:t>
            </a:r>
            <a:endParaRPr lang="zh-CN" altLang="en-US" sz="2400">
              <a:latin typeface="Arial" panose="020B0604020202020204" pitchFamily="34" charset="0"/>
              <a:ea typeface="宋体" panose="02010600030101010101" pitchFamily="2" charset="-122"/>
              <a:cs typeface="Arial" panose="020B0604020202020204" pitchFamily="34" charset="0"/>
            </a:endParaRPr>
          </a:p>
        </p:txBody>
      </p:sp>
      <p:sp>
        <p:nvSpPr>
          <p:cNvPr id="35846" name="Freeform 5">
            <a:extLst>
              <a:ext uri="{FF2B5EF4-FFF2-40B4-BE49-F238E27FC236}">
                <a16:creationId xmlns:a16="http://schemas.microsoft.com/office/drawing/2014/main" id="{D67B1EEB-D1A8-4363-8FBC-D1EBACD20D85}"/>
              </a:ext>
            </a:extLst>
          </p:cNvPr>
          <p:cNvSpPr>
            <a:spLocks/>
          </p:cNvSpPr>
          <p:nvPr/>
        </p:nvSpPr>
        <p:spPr bwMode="auto">
          <a:xfrm>
            <a:off x="2743200" y="2514600"/>
            <a:ext cx="2133600" cy="304800"/>
          </a:xfrm>
          <a:custGeom>
            <a:avLst/>
            <a:gdLst>
              <a:gd name="T0" fmla="*/ 0 w 996"/>
              <a:gd name="T1" fmla="*/ 192 h 192"/>
              <a:gd name="T2" fmla="*/ 732 w 996"/>
              <a:gd name="T3" fmla="*/ 180 h 192"/>
              <a:gd name="T4" fmla="*/ 936 w 996"/>
              <a:gd name="T5" fmla="*/ 132 h 192"/>
              <a:gd name="T6" fmla="*/ 996 w 996"/>
              <a:gd name="T7" fmla="*/ 0 h 192"/>
              <a:gd name="T8" fmla="*/ 0 60000 65536"/>
              <a:gd name="T9" fmla="*/ 0 60000 65536"/>
              <a:gd name="T10" fmla="*/ 0 60000 65536"/>
              <a:gd name="T11" fmla="*/ 0 60000 65536"/>
              <a:gd name="T12" fmla="*/ 0 w 996"/>
              <a:gd name="T13" fmla="*/ 0 h 192"/>
              <a:gd name="T14" fmla="*/ 996 w 996"/>
              <a:gd name="T15" fmla="*/ 192 h 192"/>
            </a:gdLst>
            <a:ahLst/>
            <a:cxnLst>
              <a:cxn ang="T8">
                <a:pos x="T0" y="T1"/>
              </a:cxn>
              <a:cxn ang="T9">
                <a:pos x="T2" y="T3"/>
              </a:cxn>
              <a:cxn ang="T10">
                <a:pos x="T4" y="T5"/>
              </a:cxn>
              <a:cxn ang="T11">
                <a:pos x="T6" y="T7"/>
              </a:cxn>
            </a:cxnLst>
            <a:rect l="T12" t="T13" r="T14" b="T15"/>
            <a:pathLst>
              <a:path w="996" h="192">
                <a:moveTo>
                  <a:pt x="0" y="192"/>
                </a:moveTo>
                <a:cubicBezTo>
                  <a:pt x="122" y="190"/>
                  <a:pt x="576" y="190"/>
                  <a:pt x="732" y="180"/>
                </a:cubicBezTo>
                <a:cubicBezTo>
                  <a:pt x="888" y="170"/>
                  <a:pt x="892" y="162"/>
                  <a:pt x="936" y="132"/>
                </a:cubicBezTo>
                <a:cubicBezTo>
                  <a:pt x="980" y="102"/>
                  <a:pt x="984" y="27"/>
                  <a:pt x="996" y="0"/>
                </a:cubicBezTo>
              </a:path>
            </a:pathLst>
          </a:custGeom>
          <a:ln w="28575">
            <a:solidFill>
              <a:srgbClr val="FF0000"/>
            </a:solidFill>
            <a:headEnd/>
            <a:tailEnd/>
          </a:ln>
        </p:spPr>
        <p:style>
          <a:lnRef idx="1">
            <a:schemeClr val="dk1"/>
          </a:lnRef>
          <a:fillRef idx="0">
            <a:schemeClr val="dk1"/>
          </a:fillRef>
          <a:effectRef idx="0">
            <a:schemeClr val="dk1"/>
          </a:effectRef>
          <a:fontRef idx="minor">
            <a:schemeClr val="tx1"/>
          </a:fontRef>
        </p:style>
        <p:txBody>
          <a:bodyPr wrap="none" lIns="92075" tIns="46038" rIns="92075" bIns="46038" anchor="ctr"/>
          <a:lstStyle/>
          <a:p>
            <a:pPr algn="just" fontAlgn="auto">
              <a:lnSpc>
                <a:spcPct val="120000"/>
              </a:lnSpc>
              <a:spcBef>
                <a:spcPct val="50000"/>
              </a:spcBef>
              <a:spcAft>
                <a:spcPts val="0"/>
              </a:spcAft>
              <a:defRPr/>
            </a:pPr>
            <a:endParaRPr lang="zh-CN" altLang="en-US"/>
          </a:p>
        </p:txBody>
      </p:sp>
      <p:sp>
        <p:nvSpPr>
          <p:cNvPr id="112648" name="Freeform 6"/>
          <p:cNvSpPr>
            <a:spLocks/>
          </p:cNvSpPr>
          <p:nvPr/>
        </p:nvSpPr>
        <p:spPr bwMode="auto">
          <a:xfrm>
            <a:off x="2743200" y="2971800"/>
            <a:ext cx="2286000" cy="228600"/>
          </a:xfrm>
          <a:custGeom>
            <a:avLst/>
            <a:gdLst>
              <a:gd name="T0" fmla="*/ 0 w 1092"/>
              <a:gd name="T1" fmla="*/ 2147483646 h 154"/>
              <a:gd name="T2" fmla="*/ 2147483646 w 1092"/>
              <a:gd name="T3" fmla="*/ 2147483646 h 154"/>
              <a:gd name="T4" fmla="*/ 2147483646 w 1092"/>
              <a:gd name="T5" fmla="*/ 2147483646 h 154"/>
              <a:gd name="T6" fmla="*/ 2147483646 w 1092"/>
              <a:gd name="T7" fmla="*/ 0 h 154"/>
              <a:gd name="T8" fmla="*/ 0 60000 65536"/>
              <a:gd name="T9" fmla="*/ 0 60000 65536"/>
              <a:gd name="T10" fmla="*/ 0 60000 65536"/>
              <a:gd name="T11" fmla="*/ 0 60000 65536"/>
              <a:gd name="T12" fmla="*/ 0 w 1092"/>
              <a:gd name="T13" fmla="*/ 0 h 154"/>
              <a:gd name="T14" fmla="*/ 1092 w 1092"/>
              <a:gd name="T15" fmla="*/ 154 h 154"/>
            </a:gdLst>
            <a:ahLst/>
            <a:cxnLst>
              <a:cxn ang="T8">
                <a:pos x="T0" y="T1"/>
              </a:cxn>
              <a:cxn ang="T9">
                <a:pos x="T2" y="T3"/>
              </a:cxn>
              <a:cxn ang="T10">
                <a:pos x="T4" y="T5"/>
              </a:cxn>
              <a:cxn ang="T11">
                <a:pos x="T6" y="T7"/>
              </a:cxn>
            </a:cxnLst>
            <a:rect l="T12" t="T13" r="T14" b="T15"/>
            <a:pathLst>
              <a:path w="1092" h="154">
                <a:moveTo>
                  <a:pt x="0" y="132"/>
                </a:moveTo>
                <a:cubicBezTo>
                  <a:pt x="138" y="134"/>
                  <a:pt x="664" y="154"/>
                  <a:pt x="828" y="144"/>
                </a:cubicBezTo>
                <a:cubicBezTo>
                  <a:pt x="992" y="134"/>
                  <a:pt x="940" y="96"/>
                  <a:pt x="984" y="72"/>
                </a:cubicBezTo>
                <a:cubicBezTo>
                  <a:pt x="1028" y="48"/>
                  <a:pt x="1070" y="15"/>
                  <a:pt x="1092" y="0"/>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112649" name="Line 7"/>
          <p:cNvSpPr>
            <a:spLocks noChangeShapeType="1"/>
          </p:cNvSpPr>
          <p:nvPr/>
        </p:nvSpPr>
        <p:spPr bwMode="auto">
          <a:xfrm>
            <a:off x="2725738" y="3405188"/>
            <a:ext cx="2438400" cy="0"/>
          </a:xfrm>
          <a:prstGeom prst="line">
            <a:avLst/>
          </a:prstGeom>
          <a:noFill/>
          <a:ln w="28575">
            <a:solidFill>
              <a:srgbClr val="003300"/>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zh-CN" altLang="en-US"/>
          </a:p>
        </p:txBody>
      </p:sp>
      <p:sp>
        <p:nvSpPr>
          <p:cNvPr id="112650" name="Freeform 8"/>
          <p:cNvSpPr>
            <a:spLocks/>
          </p:cNvSpPr>
          <p:nvPr/>
        </p:nvSpPr>
        <p:spPr bwMode="auto">
          <a:xfrm>
            <a:off x="2727325" y="3657600"/>
            <a:ext cx="2133600" cy="295275"/>
          </a:xfrm>
          <a:custGeom>
            <a:avLst/>
            <a:gdLst>
              <a:gd name="T0" fmla="*/ 0 w 1104"/>
              <a:gd name="T1" fmla="*/ 2147483646 h 186"/>
              <a:gd name="T2" fmla="*/ 2147483646 w 1104"/>
              <a:gd name="T3" fmla="*/ 2147483646 h 186"/>
              <a:gd name="T4" fmla="*/ 2147483646 w 1104"/>
              <a:gd name="T5" fmla="*/ 2147483646 h 186"/>
              <a:gd name="T6" fmla="*/ 0 60000 65536"/>
              <a:gd name="T7" fmla="*/ 0 60000 65536"/>
              <a:gd name="T8" fmla="*/ 0 60000 65536"/>
              <a:gd name="T9" fmla="*/ 0 w 1104"/>
              <a:gd name="T10" fmla="*/ 0 h 186"/>
              <a:gd name="T11" fmla="*/ 1104 w 1104"/>
              <a:gd name="T12" fmla="*/ 186 h 186"/>
            </a:gdLst>
            <a:ahLst/>
            <a:cxnLst>
              <a:cxn ang="T6">
                <a:pos x="T0" y="T1"/>
              </a:cxn>
              <a:cxn ang="T7">
                <a:pos x="T2" y="T3"/>
              </a:cxn>
              <a:cxn ang="T8">
                <a:pos x="T4" y="T5"/>
              </a:cxn>
            </a:cxnLst>
            <a:rect l="T9" t="T10" r="T11" b="T12"/>
            <a:pathLst>
              <a:path w="1104" h="186">
                <a:moveTo>
                  <a:pt x="0" y="6"/>
                </a:moveTo>
                <a:cubicBezTo>
                  <a:pt x="146" y="10"/>
                  <a:pt x="692" y="0"/>
                  <a:pt x="876" y="30"/>
                </a:cubicBezTo>
                <a:cubicBezTo>
                  <a:pt x="1060" y="60"/>
                  <a:pt x="1056" y="154"/>
                  <a:pt x="1104" y="186"/>
                </a:cubicBezTo>
              </a:path>
            </a:pathLst>
          </a:custGeom>
          <a:noFill/>
          <a:ln w="28575">
            <a:solidFill>
              <a:srgbClr val="6600CC"/>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
        <p:nvSpPr>
          <p:cNvPr id="112651" name="Freeform 9"/>
          <p:cNvSpPr>
            <a:spLocks/>
          </p:cNvSpPr>
          <p:nvPr/>
        </p:nvSpPr>
        <p:spPr bwMode="auto">
          <a:xfrm>
            <a:off x="2743200" y="3962400"/>
            <a:ext cx="2114550" cy="387350"/>
          </a:xfrm>
          <a:custGeom>
            <a:avLst/>
            <a:gdLst>
              <a:gd name="T0" fmla="*/ 0 w 1092"/>
              <a:gd name="T1" fmla="*/ 0 h 196"/>
              <a:gd name="T2" fmla="*/ 2147483646 w 1092"/>
              <a:gd name="T3" fmla="*/ 2147483646 h 196"/>
              <a:gd name="T4" fmla="*/ 2147483646 w 1092"/>
              <a:gd name="T5" fmla="*/ 2147483646 h 196"/>
              <a:gd name="T6" fmla="*/ 0 60000 65536"/>
              <a:gd name="T7" fmla="*/ 0 60000 65536"/>
              <a:gd name="T8" fmla="*/ 0 60000 65536"/>
              <a:gd name="T9" fmla="*/ 0 w 1092"/>
              <a:gd name="T10" fmla="*/ 0 h 196"/>
              <a:gd name="T11" fmla="*/ 1092 w 1092"/>
              <a:gd name="T12" fmla="*/ 196 h 196"/>
            </a:gdLst>
            <a:ahLst/>
            <a:cxnLst>
              <a:cxn ang="T6">
                <a:pos x="T0" y="T1"/>
              </a:cxn>
              <a:cxn ang="T7">
                <a:pos x="T2" y="T3"/>
              </a:cxn>
              <a:cxn ang="T8">
                <a:pos x="T4" y="T5"/>
              </a:cxn>
            </a:cxnLst>
            <a:rect l="T9" t="T10" r="T11" b="T12"/>
            <a:pathLst>
              <a:path w="1092" h="196">
                <a:moveTo>
                  <a:pt x="0" y="0"/>
                </a:moveTo>
                <a:cubicBezTo>
                  <a:pt x="140" y="7"/>
                  <a:pt x="658" y="7"/>
                  <a:pt x="840" y="40"/>
                </a:cubicBezTo>
                <a:cubicBezTo>
                  <a:pt x="1022" y="73"/>
                  <a:pt x="1040" y="164"/>
                  <a:pt x="1092" y="196"/>
                </a:cubicBezTo>
              </a:path>
            </a:pathLst>
          </a:custGeom>
          <a:noFill/>
          <a:ln w="28575">
            <a:solidFill>
              <a:srgbClr val="6600CC"/>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zh-CN" altLang="en-US"/>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CD0F1BCF-5377-4E32-A124-583AC9AAF96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1366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C1B1DAD-D7A5-4574-B3A3-B7F09B7B8B1A}"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78</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91140" name="Text Box 2">
            <a:extLst>
              <a:ext uri="{FF2B5EF4-FFF2-40B4-BE49-F238E27FC236}">
                <a16:creationId xmlns:a16="http://schemas.microsoft.com/office/drawing/2014/main" id="{C6D3C006-22E2-4514-9F06-C53CD79D6D6F}"/>
              </a:ext>
            </a:extLst>
          </p:cNvPr>
          <p:cNvSpPr txBox="1">
            <a:spLocks noChangeArrowheads="1"/>
          </p:cNvSpPr>
          <p:nvPr/>
        </p:nvSpPr>
        <p:spPr bwMode="auto">
          <a:xfrm>
            <a:off x="457200" y="620713"/>
            <a:ext cx="8072438"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defRPr/>
            </a:pPr>
            <a:r>
              <a:rPr lang="en-US" altLang="zh-CN" sz="2000" b="1" dirty="0">
                <a:latin typeface="Arial" panose="020B0604020202020204" pitchFamily="34" charset="0"/>
                <a:ea typeface="楷体" panose="02010609060101010101" pitchFamily="49" charset="-122"/>
                <a:cs typeface="Arial" panose="020B0604020202020204" pitchFamily="34" charset="0"/>
              </a:rPr>
              <a:t>2)  </a:t>
            </a:r>
            <a:r>
              <a:rPr lang="zh-CN" altLang="en-US" sz="2000" b="1" dirty="0">
                <a:latin typeface="Arial" panose="020B0604020202020204" pitchFamily="34" charset="0"/>
                <a:ea typeface="楷体" panose="02010609060101010101" pitchFamily="49" charset="-122"/>
                <a:cs typeface="Arial" panose="020B0604020202020204" pitchFamily="34" charset="0"/>
              </a:rPr>
              <a:t>选择恒份共聚点的原料配比进行共聚</a:t>
            </a:r>
          </a:p>
          <a:p>
            <a:pPr algn="just">
              <a:lnSpc>
                <a:spcPct val="120000"/>
              </a:lnSpc>
              <a:spcBef>
                <a:spcPct val="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 </a:t>
            </a:r>
            <a:r>
              <a:rPr lang="en-US" altLang="zh-CN" sz="2000" dirty="0">
                <a:latin typeface="Arial" panose="020B0604020202020204" pitchFamily="34" charset="0"/>
                <a:ea typeface="楷体" panose="02010609060101010101" pitchFamily="49" charset="-122"/>
                <a:cs typeface="Arial" panose="020B0604020202020204" pitchFamily="34" charset="0"/>
              </a:rPr>
              <a:t>f</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0</a:t>
            </a:r>
            <a:r>
              <a:rPr lang="en-US" altLang="zh-CN" sz="2000" dirty="0">
                <a:latin typeface="Arial" panose="020B0604020202020204" pitchFamily="34" charset="0"/>
                <a:ea typeface="楷体" panose="02010609060101010101" pitchFamily="49" charset="-122"/>
                <a:cs typeface="Arial" panose="020B0604020202020204" pitchFamily="34" charset="0"/>
              </a:rPr>
              <a:t> = ( f</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c</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共聚物的组成不随</a:t>
            </a:r>
            <a:r>
              <a:rPr lang="en-US" altLang="zh-CN" sz="2000" dirty="0">
                <a:latin typeface="Arial" panose="020B0604020202020204" pitchFamily="34" charset="0"/>
                <a:ea typeface="楷体" panose="02010609060101010101" pitchFamily="49" charset="-122"/>
                <a:cs typeface="Arial" panose="020B0604020202020204" pitchFamily="34" charset="0"/>
              </a:rPr>
              <a:t>C %</a:t>
            </a:r>
            <a:r>
              <a:rPr lang="zh-CN" altLang="en-US" sz="2000" dirty="0">
                <a:latin typeface="Arial" panose="020B0604020202020204" pitchFamily="34" charset="0"/>
                <a:ea typeface="楷体" panose="02010609060101010101" pitchFamily="49" charset="-122"/>
                <a:cs typeface="Arial" panose="020B0604020202020204" pitchFamily="34" charset="0"/>
              </a:rPr>
              <a:t>变化</a:t>
            </a:r>
          </a:p>
          <a:p>
            <a:pPr algn="just">
              <a:lnSpc>
                <a:spcPct val="120000"/>
              </a:lnSpc>
              <a:spcBef>
                <a:spcPts val="6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因而可得到均匀组成的共聚物</a:t>
            </a:r>
          </a:p>
          <a:p>
            <a:pPr algn="just">
              <a:lnSpc>
                <a:spcPct val="120000"/>
              </a:lnSpc>
              <a:spcBef>
                <a:spcPts val="6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选择原料配比接近恒份点，此时</a:t>
            </a:r>
            <a:r>
              <a:rPr lang="en-US" altLang="zh-CN" sz="2000" dirty="0">
                <a:latin typeface="Arial" panose="020B0604020202020204" pitchFamily="34" charset="0"/>
                <a:ea typeface="楷体" panose="02010609060101010101" pitchFamily="49" charset="-122"/>
                <a:cs typeface="Arial" panose="020B0604020202020204" pitchFamily="34" charset="0"/>
              </a:rPr>
              <a:t>C %</a:t>
            </a:r>
            <a:r>
              <a:rPr lang="zh-CN" altLang="en-US" sz="2000" dirty="0">
                <a:latin typeface="Arial" panose="020B0604020202020204" pitchFamily="34" charset="0"/>
                <a:ea typeface="楷体" panose="02010609060101010101" pitchFamily="49" charset="-122"/>
                <a:cs typeface="Arial" panose="020B0604020202020204" pitchFamily="34" charset="0"/>
              </a:rPr>
              <a:t>对共聚物组成影响不大，在转化率不太高时可得到组成分布较窄的共聚物</a:t>
            </a:r>
          </a:p>
          <a:p>
            <a:pPr algn="just">
              <a:lnSpc>
                <a:spcPct val="120000"/>
              </a:lnSpc>
              <a:spcBef>
                <a:spcPct val="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marL="457200" indent="-457200" algn="just">
              <a:lnSpc>
                <a:spcPct val="120000"/>
              </a:lnSpc>
              <a:spcBef>
                <a:spcPct val="0"/>
              </a:spcBef>
              <a:buFontTx/>
              <a:buAutoNum type="arabicParenR" startAt="3"/>
              <a:defRPr/>
            </a:pPr>
            <a:r>
              <a:rPr lang="zh-CN" altLang="en-US" sz="2000" b="1" dirty="0">
                <a:latin typeface="Arial" panose="020B0604020202020204" pitchFamily="34" charset="0"/>
                <a:ea typeface="楷体" panose="02010609060101010101" pitchFamily="49" charset="-122"/>
                <a:cs typeface="Arial" panose="020B0604020202020204" pitchFamily="34" charset="0"/>
              </a:rPr>
              <a:t>确定起始单体原料配比，聚合过程中不断补充消耗快的单体，维持 </a:t>
            </a:r>
            <a:endParaRPr lang="en-US" altLang="zh-CN" sz="2000" b="1" dirty="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 typeface="Arial" panose="020B0604020202020204" pitchFamily="34" charset="0"/>
              <a:buNone/>
              <a:defRPr/>
            </a:pPr>
            <a:r>
              <a:rPr lang="en-US" altLang="zh-CN" sz="2000" b="1" dirty="0">
                <a:latin typeface="Arial" panose="020B0604020202020204" pitchFamily="34" charset="0"/>
                <a:ea typeface="楷体" panose="02010609060101010101" pitchFamily="49" charset="-122"/>
                <a:cs typeface="Arial" panose="020B0604020202020204" pitchFamily="34" charset="0"/>
              </a:rPr>
              <a:t>      </a:t>
            </a:r>
            <a:r>
              <a:rPr lang="zh-CN" altLang="en-US" sz="2000" b="1" dirty="0">
                <a:latin typeface="Arial" panose="020B0604020202020204" pitchFamily="34" charset="0"/>
                <a:ea typeface="楷体" panose="02010609060101010101" pitchFamily="49" charset="-122"/>
                <a:cs typeface="Arial" panose="020B0604020202020204" pitchFamily="34" charset="0"/>
              </a:rPr>
              <a:t>一定的配料比范围；</a:t>
            </a:r>
          </a:p>
          <a:p>
            <a:pPr algn="just">
              <a:lnSpc>
                <a:spcPct val="120000"/>
              </a:lnSpc>
              <a:spcBef>
                <a:spcPct val="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单体配料比保持恒定 </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000" dirty="0">
                <a:latin typeface="Arial" panose="020B0604020202020204" pitchFamily="34" charset="0"/>
                <a:ea typeface="楷体" panose="02010609060101010101" pitchFamily="49" charset="-122"/>
                <a:cs typeface="Arial" panose="020B0604020202020204" pitchFamily="34" charset="0"/>
              </a:rPr>
              <a:t> 瞬时共聚物组分始终相同 </a:t>
            </a:r>
          </a:p>
          <a:p>
            <a:pPr>
              <a:lnSpc>
                <a:spcPct val="12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000" dirty="0">
                <a:latin typeface="Arial" panose="020B0604020202020204" pitchFamily="34" charset="0"/>
                <a:ea typeface="楷体" panose="02010609060101010101" pitchFamily="49" charset="-122"/>
                <a:cs typeface="Arial" panose="020B0604020202020204" pitchFamily="34" charset="0"/>
              </a:rPr>
              <a:t> 得到均匀组成共聚物</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BF30C08F-1B21-4D05-96CB-3DDA99EA59B9}"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79</a:t>
            </a:fld>
            <a:endParaRPr lang="en-US" altLang="zh-CN" sz="1400">
              <a:latin typeface="Times New Roman" panose="02020603050405020304" pitchFamily="18" charset="0"/>
              <a:ea typeface="宋体" panose="02010600030101010101" pitchFamily="2" charset="-122"/>
            </a:endParaRPr>
          </a:p>
        </p:txBody>
      </p:sp>
      <p:sp>
        <p:nvSpPr>
          <p:cNvPr id="114691" name="Rectangle 2"/>
          <p:cNvSpPr>
            <a:spLocks noChangeArrowheads="1"/>
          </p:cNvSpPr>
          <p:nvPr/>
        </p:nvSpPr>
        <p:spPr bwMode="auto">
          <a:xfrm>
            <a:off x="755650" y="549275"/>
            <a:ext cx="28956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SzPct val="90000"/>
              <a:buFont typeface="Arial" panose="020B0604020202020204" pitchFamily="34" charset="0"/>
              <a:buNone/>
            </a:pPr>
            <a:r>
              <a:rPr kumimoji="1" lang="zh-CN" altLang="en-US" sz="2400" b="1">
                <a:solidFill>
                  <a:srgbClr val="FF0000"/>
                </a:solidFill>
                <a:latin typeface="黑体" panose="02010609060101010101" pitchFamily="49" charset="-122"/>
                <a:ea typeface="黑体" panose="02010609060101010101" pitchFamily="49" charset="-122"/>
              </a:rPr>
              <a:t>补加活泼单体法</a:t>
            </a:r>
          </a:p>
        </p:txBody>
      </p:sp>
      <p:sp>
        <p:nvSpPr>
          <p:cNvPr id="92165" name="Rectangle 3">
            <a:extLst>
              <a:ext uri="{FF2B5EF4-FFF2-40B4-BE49-F238E27FC236}">
                <a16:creationId xmlns:a16="http://schemas.microsoft.com/office/drawing/2014/main" id="{E203A55E-7E88-4763-8447-982247D7A7C8}"/>
              </a:ext>
            </a:extLst>
          </p:cNvPr>
          <p:cNvSpPr>
            <a:spLocks noChangeArrowheads="1"/>
          </p:cNvSpPr>
          <p:nvPr/>
        </p:nvSpPr>
        <p:spPr bwMode="auto">
          <a:xfrm>
            <a:off x="812800" y="1484313"/>
            <a:ext cx="7702550" cy="295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342900" indent="-342900" eaLnBrk="1" hangingPunct="1">
              <a:lnSpc>
                <a:spcPct val="125000"/>
              </a:lnSpc>
              <a:spcBef>
                <a:spcPct val="50000"/>
              </a:spcBef>
              <a:buSzPct val="80000"/>
              <a:buFont typeface="Wingdings" panose="05000000000000000000" pitchFamily="2" charset="2"/>
              <a:buChar char="u"/>
              <a:defRPr/>
            </a:pPr>
            <a:r>
              <a:rPr kumimoji="1" lang="zh-CN" altLang="en-US" sz="2400" dirty="0">
                <a:latin typeface="Arial" panose="020B0604020202020204" pitchFamily="34" charset="0"/>
                <a:ea typeface="楷体" panose="02010609060101010101" pitchFamily="49" charset="-122"/>
                <a:cs typeface="Arial" panose="020B0604020202020204" pitchFamily="34" charset="0"/>
              </a:rPr>
              <a:t> </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1</a:t>
            </a:r>
            <a:r>
              <a:rPr kumimoji="1" lang="en-US" altLang="zh-CN" sz="2400" dirty="0">
                <a:latin typeface="Arial" panose="020B0604020202020204" pitchFamily="34" charset="0"/>
                <a:ea typeface="楷体" panose="02010609060101010101" pitchFamily="49" charset="-122"/>
                <a:cs typeface="Arial" panose="020B0604020202020204" pitchFamily="34" charset="0"/>
              </a:rPr>
              <a:t>&gt;1，r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en-US" altLang="zh-CN" sz="2400" dirty="0">
                <a:latin typeface="Arial" panose="020B0604020202020204" pitchFamily="34" charset="0"/>
                <a:ea typeface="楷体" panose="02010609060101010101" pitchFamily="49" charset="-122"/>
                <a:cs typeface="Arial" panose="020B0604020202020204" pitchFamily="34" charset="0"/>
              </a:rPr>
              <a:t>&lt;1，</a:t>
            </a:r>
            <a:r>
              <a:rPr kumimoji="1" lang="zh-CN" altLang="en-US" sz="2400" dirty="0">
                <a:latin typeface="Arial" panose="020B0604020202020204" pitchFamily="34" charset="0"/>
                <a:ea typeface="楷体" panose="02010609060101010101" pitchFamily="49" charset="-122"/>
                <a:cs typeface="Arial" panose="020B0604020202020204" pitchFamily="34" charset="0"/>
              </a:rPr>
              <a:t>以</a:t>
            </a:r>
            <a:r>
              <a:rPr kumimoji="1" lang="en-US" altLang="zh-CN" sz="2400" dirty="0">
                <a:latin typeface="Arial" panose="020B0604020202020204" pitchFamily="34" charset="0"/>
                <a:ea typeface="楷体" panose="02010609060101010101" pitchFamily="49" charset="-122"/>
                <a:cs typeface="Arial" panose="020B0604020202020204" pitchFamily="34" charset="0"/>
              </a:rPr>
              <a:t>M</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zh-CN" altLang="en-US" sz="2400" dirty="0">
                <a:latin typeface="Arial" panose="020B0604020202020204" pitchFamily="34" charset="0"/>
                <a:ea typeface="楷体" panose="02010609060101010101" pitchFamily="49" charset="-122"/>
                <a:cs typeface="Arial" panose="020B0604020202020204" pitchFamily="34" charset="0"/>
              </a:rPr>
              <a:t>为主或</a:t>
            </a:r>
            <a:r>
              <a:rPr kumimoji="1" lang="en-US" altLang="zh-CN" sz="2400" dirty="0">
                <a:latin typeface="Arial" panose="020B0604020202020204" pitchFamily="34" charset="0"/>
                <a:ea typeface="楷体" panose="02010609060101010101" pitchFamily="49" charset="-122"/>
                <a:cs typeface="Arial" panose="020B0604020202020204" pitchFamily="34" charset="0"/>
              </a:rPr>
              <a:t>M</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zh-CN" altLang="en-US" sz="2400" dirty="0">
                <a:latin typeface="Arial" panose="020B0604020202020204" pitchFamily="34" charset="0"/>
                <a:ea typeface="楷体" panose="02010609060101010101" pitchFamily="49" charset="-122"/>
                <a:cs typeface="Arial" panose="020B0604020202020204" pitchFamily="34" charset="0"/>
              </a:rPr>
              <a:t>含量较多的共聚物；</a:t>
            </a:r>
          </a:p>
          <a:p>
            <a:pPr marL="342900" indent="-342900" eaLnBrk="1" hangingPunct="1">
              <a:lnSpc>
                <a:spcPct val="125000"/>
              </a:lnSpc>
              <a:spcBef>
                <a:spcPct val="50000"/>
              </a:spcBef>
              <a:buSzPct val="80000"/>
              <a:buFont typeface="Wingdings" panose="05000000000000000000" pitchFamily="2" charset="2"/>
              <a:buChar char="u"/>
              <a:defRPr/>
            </a:pPr>
            <a:r>
              <a:rPr kumimoji="1" lang="en-US" altLang="zh-CN" sz="2400" dirty="0">
                <a:latin typeface="Arial" panose="020B0604020202020204" pitchFamily="34" charset="0"/>
                <a:ea typeface="楷体" panose="02010609060101010101" pitchFamily="49" charset="-122"/>
                <a:cs typeface="Arial" panose="020B0604020202020204" pitchFamily="34" charset="0"/>
              </a:rPr>
              <a:t> 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1</a:t>
            </a:r>
            <a:r>
              <a:rPr kumimoji="1" lang="en-US" altLang="zh-CN" sz="2400" dirty="0">
                <a:latin typeface="Arial" panose="020B0604020202020204" pitchFamily="34" charset="0"/>
                <a:ea typeface="楷体" panose="02010609060101010101" pitchFamily="49" charset="-122"/>
                <a:cs typeface="Arial" panose="020B0604020202020204" pitchFamily="34" charset="0"/>
              </a:rPr>
              <a:t>&lt;1，r</a:t>
            </a:r>
            <a:r>
              <a:rPr kumimoji="1" lang="en-US" altLang="zh-CN" sz="2400" baseline="-30000" dirty="0">
                <a:latin typeface="Arial" panose="020B0604020202020204" pitchFamily="34" charset="0"/>
                <a:ea typeface="楷体" panose="02010609060101010101" pitchFamily="49" charset="-122"/>
                <a:cs typeface="Arial" panose="020B0604020202020204" pitchFamily="34" charset="0"/>
              </a:rPr>
              <a:t>2</a:t>
            </a:r>
            <a:r>
              <a:rPr kumimoji="1" lang="en-US" altLang="zh-CN" sz="2400" dirty="0">
                <a:latin typeface="Arial" panose="020B0604020202020204" pitchFamily="34" charset="0"/>
                <a:ea typeface="楷体" panose="02010609060101010101" pitchFamily="49" charset="-122"/>
                <a:cs typeface="Arial" panose="020B0604020202020204" pitchFamily="34" charset="0"/>
              </a:rPr>
              <a:t>&lt;1，</a:t>
            </a:r>
            <a:r>
              <a:rPr kumimoji="1" lang="zh-CN" altLang="en-US" sz="2400" dirty="0">
                <a:latin typeface="Arial" panose="020B0604020202020204" pitchFamily="34" charset="0"/>
                <a:ea typeface="楷体" panose="02010609060101010101" pitchFamily="49" charset="-122"/>
                <a:cs typeface="Arial" panose="020B0604020202020204" pitchFamily="34" charset="0"/>
              </a:rPr>
              <a:t>配料离恒比点较远。</a:t>
            </a:r>
          </a:p>
          <a:p>
            <a:pPr eaLnBrk="1" hangingPunct="1">
              <a:lnSpc>
                <a:spcPct val="125000"/>
              </a:lnSpc>
              <a:spcBef>
                <a:spcPct val="50000"/>
              </a:spcBef>
              <a:buFontTx/>
              <a:buNone/>
              <a:defRPr/>
            </a:pPr>
            <a:endParaRPr kumimoji="1" lang="en-US" altLang="zh-CN" sz="2400" dirty="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FontTx/>
              <a:buNone/>
              <a:defRPr/>
            </a:pPr>
            <a:r>
              <a:rPr kumimoji="1" lang="zh-CN" altLang="en-US" sz="2400" dirty="0">
                <a:latin typeface="Arial" panose="020B0604020202020204" pitchFamily="34" charset="0"/>
                <a:ea typeface="楷体" panose="02010609060101010101" pitchFamily="49" charset="-122"/>
                <a:cs typeface="Arial" panose="020B0604020202020204" pitchFamily="34" charset="0"/>
              </a:rPr>
              <a:t>须陆续补加活性较大的单体或其混合物，以保持体系中单体组成不变。如</a:t>
            </a:r>
            <a:r>
              <a:rPr kumimoji="1" lang="en-US" altLang="zh-CN" sz="2400" dirty="0">
                <a:latin typeface="Arial" panose="020B0604020202020204" pitchFamily="34" charset="0"/>
                <a:ea typeface="楷体" panose="02010609060101010101" pitchFamily="49" charset="-122"/>
                <a:cs typeface="Arial" panose="020B0604020202020204" pitchFamily="34" charset="0"/>
              </a:rPr>
              <a:t>VC—AN、VC</a:t>
            </a:r>
            <a:r>
              <a:rPr kumimoji="1" lang="zh-CN" altLang="en-US" sz="2400" dirty="0">
                <a:latin typeface="Arial" panose="020B0604020202020204" pitchFamily="34" charset="0"/>
                <a:ea typeface="楷体" panose="02010609060101010101" pitchFamily="49" charset="-122"/>
                <a:cs typeface="Arial" panose="020B0604020202020204" pitchFamily="34" charset="0"/>
              </a:rPr>
              <a:t>-</a:t>
            </a:r>
            <a:r>
              <a:rPr kumimoji="1" lang="en-US" altLang="zh-CN" sz="2400" dirty="0">
                <a:latin typeface="Arial" panose="020B0604020202020204" pitchFamily="34" charset="0"/>
                <a:ea typeface="楷体" panose="02010609060101010101" pitchFamily="49" charset="-122"/>
                <a:cs typeface="Arial" panose="020B0604020202020204" pitchFamily="34" charset="0"/>
              </a:rPr>
              <a:t>VDC</a:t>
            </a:r>
            <a:r>
              <a:rPr kumimoji="1" lang="zh-CN" altLang="en-US" sz="2400" dirty="0">
                <a:latin typeface="Arial" panose="020B0604020202020204" pitchFamily="34" charset="0"/>
                <a:ea typeface="楷体" panose="02010609060101010101" pitchFamily="49" charset="-122"/>
                <a:cs typeface="Arial" panose="020B0604020202020204" pitchFamily="34" charset="0"/>
              </a:rPr>
              <a:t>共聚等。 </a:t>
            </a:r>
          </a:p>
        </p:txBody>
      </p:sp>
    </p:spTree>
  </p:cSld>
  <p:clrMapOvr>
    <a:masterClrMapping/>
  </p:clrMapOvr>
  <p:transition spd="slow"/>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D204C7D-789F-4B58-A34B-078F825E78D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80</a:t>
            </a:fld>
            <a:endParaRPr lang="en-US" altLang="zh-CN" sz="1400">
              <a:latin typeface="Times New Roman" panose="02020603050405020304" pitchFamily="18" charset="0"/>
              <a:ea typeface="宋体" panose="02010600030101010101" pitchFamily="2" charset="-122"/>
            </a:endParaRPr>
          </a:p>
        </p:txBody>
      </p:sp>
      <p:sp>
        <p:nvSpPr>
          <p:cNvPr id="93188" name="Text Box 2">
            <a:extLst>
              <a:ext uri="{FF2B5EF4-FFF2-40B4-BE49-F238E27FC236}">
                <a16:creationId xmlns:a16="http://schemas.microsoft.com/office/drawing/2014/main" id="{0848320A-273D-4E92-AFBC-4CE38B095AD0}"/>
              </a:ext>
            </a:extLst>
          </p:cNvPr>
          <p:cNvSpPr txBox="1">
            <a:spLocks noChangeArrowheads="1"/>
          </p:cNvSpPr>
          <p:nvPr/>
        </p:nvSpPr>
        <p:spPr bwMode="auto">
          <a:xfrm>
            <a:off x="785813" y="1441450"/>
            <a:ext cx="7620000" cy="221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defRPr/>
            </a:pPr>
            <a:r>
              <a:rPr kumimoji="1" lang="zh-CN" altLang="en-US" sz="2400">
                <a:latin typeface="楷体" panose="02010609060101010101" pitchFamily="49" charset="-122"/>
                <a:ea typeface="楷体" panose="02010609060101010101" pitchFamily="49" charset="-122"/>
              </a:rPr>
              <a:t>推导共聚物组成方程时两个重要假定：</a:t>
            </a:r>
          </a:p>
          <a:p>
            <a:pPr algn="just" eaLnBrk="1" hangingPunct="1">
              <a:lnSpc>
                <a:spcPct val="125000"/>
              </a:lnSpc>
              <a:spcBef>
                <a:spcPct val="50000"/>
              </a:spcBef>
              <a:buClr>
                <a:srgbClr val="FF0000"/>
              </a:buClr>
              <a:buFont typeface="Wingdings" panose="05000000000000000000" pitchFamily="2" charset="2"/>
              <a:buChar char="Ø"/>
              <a:defRPr/>
            </a:pPr>
            <a:r>
              <a:rPr kumimoji="1" lang="zh-CN" altLang="en-US" sz="2400">
                <a:latin typeface="楷体" panose="02010609060101010101" pitchFamily="49" charset="-122"/>
                <a:ea typeface="楷体" panose="02010609060101010101" pitchFamily="49" charset="-122"/>
              </a:rPr>
              <a:t>前末端单元</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末端自由基前一单元</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对自由基活性无影响</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 </a:t>
            </a:r>
            <a:r>
              <a:rPr kumimoji="1" lang="zh-CN" altLang="en-US" sz="2400" b="1">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动力学原因</a:t>
            </a:r>
          </a:p>
          <a:p>
            <a:pPr algn="just" eaLnBrk="1" hangingPunct="1">
              <a:lnSpc>
                <a:spcPct val="125000"/>
              </a:lnSpc>
              <a:spcBef>
                <a:spcPct val="50000"/>
              </a:spcBef>
              <a:buClr>
                <a:srgbClr val="FF0000"/>
              </a:buClr>
              <a:buFont typeface="Wingdings" panose="05000000000000000000" pitchFamily="2" charset="2"/>
              <a:buChar char="Ø"/>
              <a:defRPr/>
            </a:pPr>
            <a:r>
              <a:rPr kumimoji="1" lang="zh-CN" altLang="en-US" sz="2400">
                <a:latin typeface="楷体" panose="02010609060101010101" pitchFamily="49" charset="-122"/>
                <a:ea typeface="楷体" panose="02010609060101010101" pitchFamily="49" charset="-122"/>
              </a:rPr>
              <a:t>增长反应不可逆(无解聚）：</a:t>
            </a:r>
            <a:r>
              <a:rPr kumimoji="1" lang="zh-CN" altLang="en-US" sz="2400" b="1">
                <a:solidFill>
                  <a:srgbClr val="FF0000"/>
                </a:solidFill>
                <a:effectLst>
                  <a:outerShdw blurRad="38100" dist="38100" dir="2700000" algn="tl">
                    <a:srgbClr val="C0C0C0"/>
                  </a:outerShdw>
                </a:effectLst>
                <a:latin typeface="楷体" panose="02010609060101010101" pitchFamily="49" charset="-122"/>
                <a:ea typeface="楷体" panose="02010609060101010101" pitchFamily="49" charset="-122"/>
              </a:rPr>
              <a:t>热力学原因</a:t>
            </a:r>
          </a:p>
        </p:txBody>
      </p:sp>
      <p:sp>
        <p:nvSpPr>
          <p:cNvPr id="115716" name="Rectangle 3"/>
          <p:cNvSpPr>
            <a:spLocks noChangeArrowheads="1"/>
          </p:cNvSpPr>
          <p:nvPr/>
        </p:nvSpPr>
        <p:spPr bwMode="auto">
          <a:xfrm>
            <a:off x="539750" y="503238"/>
            <a:ext cx="480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3 </a:t>
            </a:r>
            <a:r>
              <a:rPr kumimoji="1" lang="zh-CN" altLang="en-US" sz="2400" b="1">
                <a:latin typeface="Arial" panose="020B0604020202020204" pitchFamily="34" charset="0"/>
                <a:ea typeface="楷体" panose="02010609060101010101" pitchFamily="49" charset="-122"/>
                <a:cs typeface="Arial" panose="020B0604020202020204" pitchFamily="34" charset="0"/>
              </a:rPr>
              <a:t>共聚物组成方程的偏离</a:t>
            </a:r>
          </a:p>
        </p:txBody>
      </p:sp>
      <p:sp>
        <p:nvSpPr>
          <p:cNvPr id="115717" name="Rectangle 4"/>
          <p:cNvSpPr>
            <a:spLocks noChangeArrowheads="1"/>
          </p:cNvSpPr>
          <p:nvPr/>
        </p:nvSpPr>
        <p:spPr bwMode="auto">
          <a:xfrm>
            <a:off x="785813" y="4159250"/>
            <a:ext cx="7620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当单体或聚合条件不符合上述假定时，共聚物组成方程将产生偏离</a:t>
            </a:r>
          </a:p>
        </p:txBody>
      </p:sp>
    </p:spTree>
  </p:cSld>
  <p:clrMapOvr>
    <a:masterClrMapping/>
  </p:clrMapOvr>
  <p:transition spd="slow"/>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88EC8A7-B9D5-43AE-8D03-2E78A11A951C}"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81</a:t>
            </a:fld>
            <a:endParaRPr lang="en-US" altLang="zh-CN" sz="1400">
              <a:latin typeface="Times New Roman" panose="02020603050405020304" pitchFamily="18" charset="0"/>
              <a:ea typeface="宋体" panose="02010600030101010101" pitchFamily="2" charset="-122"/>
            </a:endParaRPr>
          </a:p>
        </p:txBody>
      </p:sp>
      <p:sp>
        <p:nvSpPr>
          <p:cNvPr id="116739" name="Text Box 2"/>
          <p:cNvSpPr txBox="1">
            <a:spLocks noChangeArrowheads="1"/>
          </p:cNvSpPr>
          <p:nvPr/>
        </p:nvSpPr>
        <p:spPr bwMode="auto">
          <a:xfrm>
            <a:off x="468313" y="515938"/>
            <a:ext cx="739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前末端效应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(Effect of Penultimate Monomer Unit)</a:t>
            </a:r>
          </a:p>
        </p:txBody>
      </p:sp>
      <p:sp>
        <p:nvSpPr>
          <p:cNvPr id="116740" name="Text Box 3"/>
          <p:cNvSpPr txBox="1">
            <a:spLocks noChangeArrowheads="1"/>
          </p:cNvSpPr>
          <p:nvPr/>
        </p:nvSpPr>
        <p:spPr bwMode="auto">
          <a:xfrm>
            <a:off x="838200" y="1344613"/>
            <a:ext cx="7239000" cy="950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大分子末端自由基的活性不仅受端基的影响，还受到前末端的影响，这一现象称为</a:t>
            </a:r>
            <a:r>
              <a:rPr kumimoji="1" lang="zh-CN" altLang="en-US" sz="2400">
                <a:solidFill>
                  <a:srgbClr val="FF0000"/>
                </a:solidFill>
                <a:latin typeface="楷体" panose="02010609060101010101" pitchFamily="49" charset="-122"/>
                <a:ea typeface="楷体" panose="02010609060101010101" pitchFamily="49" charset="-122"/>
              </a:rPr>
              <a:t>前末端效应</a:t>
            </a:r>
            <a:r>
              <a:rPr kumimoji="1" lang="zh-CN" altLang="en-US" sz="2400">
                <a:solidFill>
                  <a:schemeClr val="folHlink"/>
                </a:solidFill>
                <a:latin typeface="楷体" panose="02010609060101010101" pitchFamily="49" charset="-122"/>
                <a:ea typeface="楷体" panose="02010609060101010101" pitchFamily="49" charset="-122"/>
              </a:rPr>
              <a:t>。</a:t>
            </a:r>
            <a:endParaRPr kumimoji="1" lang="zh-CN" altLang="en-US" sz="2400">
              <a:solidFill>
                <a:srgbClr val="CC0000"/>
              </a:solidFill>
              <a:latin typeface="楷体" panose="02010609060101010101" pitchFamily="49" charset="-122"/>
              <a:ea typeface="楷体" panose="02010609060101010101" pitchFamily="49" charset="-122"/>
            </a:endParaRPr>
          </a:p>
        </p:txBody>
      </p:sp>
      <p:sp>
        <p:nvSpPr>
          <p:cNvPr id="116741" name="Rectangle 4"/>
          <p:cNvSpPr>
            <a:spLocks noChangeArrowheads="1"/>
          </p:cNvSpPr>
          <p:nvPr/>
        </p:nvSpPr>
        <p:spPr bwMode="auto">
          <a:xfrm>
            <a:off x="838200" y="2667000"/>
            <a:ext cx="7469188" cy="286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带有位阻或极性较大的基团的烯类单体易产生前末端效应。</a:t>
            </a:r>
          </a:p>
          <a:p>
            <a:pPr eaLnBrk="1" hangingPunct="1">
              <a:lnSpc>
                <a:spcPct val="150000"/>
              </a:lnSpc>
              <a:spcBef>
                <a:spcPct val="0"/>
              </a:spcBef>
              <a:buFontTx/>
              <a:buNone/>
            </a:pPr>
            <a:endParaRPr kumimoji="1" lang="en-US" altLang="zh-CN" sz="2400">
              <a:latin typeface="Arial" panose="020B0604020202020204" pitchFamily="34" charset="0"/>
              <a:ea typeface="楷体" panose="02010609060101010101" pitchFamily="49" charset="-122"/>
              <a:cs typeface="Arial" panose="020B0604020202020204" pitchFamily="34" charset="0"/>
            </a:endParaRPr>
          </a:p>
          <a:p>
            <a:pPr eaLnBrk="1" hangingPunct="1">
              <a:lnSpc>
                <a:spcPct val="150000"/>
              </a:lnSpc>
              <a:spcBef>
                <a:spcPct val="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苯乙烯-反丁烯二腈、</a:t>
            </a:r>
            <a:r>
              <a:rPr kumimoji="1" lang="en-US" altLang="zh-CN" sz="2400">
                <a:latin typeface="Arial" panose="020B0604020202020204" pitchFamily="34" charset="0"/>
                <a:ea typeface="楷体" panose="02010609060101010101" pitchFamily="49" charset="-122"/>
                <a:cs typeface="Arial" panose="020B0604020202020204" pitchFamily="34" charset="0"/>
              </a:rPr>
              <a:t>α-</a:t>
            </a:r>
            <a:r>
              <a:rPr kumimoji="1" lang="zh-CN" altLang="en-US" sz="2400">
                <a:latin typeface="Arial" panose="020B0604020202020204" pitchFamily="34" charset="0"/>
                <a:ea typeface="楷体" panose="02010609060101010101" pitchFamily="49" charset="-122"/>
                <a:cs typeface="Arial" panose="020B0604020202020204" pitchFamily="34" charset="0"/>
              </a:rPr>
              <a:t>甲基苯乙烯-丙烯腈等自由基共聚体系均有前末端效应。</a:t>
            </a:r>
          </a:p>
        </p:txBody>
      </p:sp>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D938017-3BBF-4AD3-97D8-C20EEF53EA4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82</a:t>
            </a:fld>
            <a:endParaRPr lang="en-US" altLang="zh-CN" sz="1400">
              <a:latin typeface="Times New Roman" panose="02020603050405020304" pitchFamily="18" charset="0"/>
              <a:ea typeface="宋体" panose="02010600030101010101" pitchFamily="2" charset="-122"/>
            </a:endParaRPr>
          </a:p>
        </p:txBody>
      </p:sp>
      <p:sp>
        <p:nvSpPr>
          <p:cNvPr id="117763" name="Text Box 2"/>
          <p:cNvSpPr txBox="1">
            <a:spLocks noChangeArrowheads="1"/>
          </p:cNvSpPr>
          <p:nvPr/>
        </p:nvSpPr>
        <p:spPr bwMode="auto">
          <a:xfrm>
            <a:off x="790575" y="1509713"/>
            <a:ext cx="5275263"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共有4 种链自由基、8个增长反应：</a:t>
            </a:r>
          </a:p>
        </p:txBody>
      </p:sp>
      <p:graphicFrame>
        <p:nvGraphicFramePr>
          <p:cNvPr id="117764" name="Object 3"/>
          <p:cNvGraphicFramePr>
            <a:graphicFrameLocks noChangeAspect="1"/>
          </p:cNvGraphicFramePr>
          <p:nvPr/>
        </p:nvGraphicFramePr>
        <p:xfrm>
          <a:off x="4148138" y="333375"/>
          <a:ext cx="1136650" cy="525463"/>
        </p:xfrm>
        <a:graphic>
          <a:graphicData uri="http://schemas.openxmlformats.org/presentationml/2006/ole">
            <mc:AlternateContent xmlns:mc="http://schemas.openxmlformats.org/markup-compatibility/2006">
              <mc:Choice xmlns:v="urn:schemas-microsoft-com:vml" Requires="v">
                <p:oleObj spid="_x0000_s117878" name="公式" r:id="rId3" imgW="520474" imgH="241195" progId="Equation.3">
                  <p:embed/>
                </p:oleObj>
              </mc:Choice>
              <mc:Fallback>
                <p:oleObj name="公式" r:id="rId3" imgW="520474" imgH="24119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8138" y="333375"/>
                        <a:ext cx="1136650" cy="525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65" name="Object 4"/>
          <p:cNvGraphicFramePr>
            <a:graphicFrameLocks noChangeAspect="1"/>
          </p:cNvGraphicFramePr>
          <p:nvPr/>
        </p:nvGraphicFramePr>
        <p:xfrm>
          <a:off x="5707063" y="344488"/>
          <a:ext cx="1111250" cy="503237"/>
        </p:xfrm>
        <a:graphic>
          <a:graphicData uri="http://schemas.openxmlformats.org/presentationml/2006/ole">
            <mc:AlternateContent xmlns:mc="http://schemas.openxmlformats.org/markup-compatibility/2006">
              <mc:Choice xmlns:v="urn:schemas-microsoft-com:vml" Requires="v">
                <p:oleObj spid="_x0000_s117879" name="公式" r:id="rId5" imgW="533169" imgH="241195" progId="Equation.3">
                  <p:embed/>
                </p:oleObj>
              </mc:Choice>
              <mc:Fallback>
                <p:oleObj name="公式" r:id="rId5" imgW="533169" imgH="241195"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7063" y="344488"/>
                        <a:ext cx="1111250" cy="503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7766" name="Text Box 5"/>
          <p:cNvSpPr txBox="1">
            <a:spLocks noChangeArrowheads="1"/>
          </p:cNvSpPr>
          <p:nvPr/>
        </p:nvSpPr>
        <p:spPr bwMode="auto">
          <a:xfrm>
            <a:off x="790575" y="373063"/>
            <a:ext cx="379095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末端为         的自由基：</a:t>
            </a:r>
          </a:p>
        </p:txBody>
      </p:sp>
      <p:graphicFrame>
        <p:nvGraphicFramePr>
          <p:cNvPr id="117767" name="Object 6"/>
          <p:cNvGraphicFramePr>
            <a:graphicFrameLocks noChangeAspect="1"/>
          </p:cNvGraphicFramePr>
          <p:nvPr/>
        </p:nvGraphicFramePr>
        <p:xfrm>
          <a:off x="1930400" y="363538"/>
          <a:ext cx="431800" cy="482600"/>
        </p:xfrm>
        <a:graphic>
          <a:graphicData uri="http://schemas.openxmlformats.org/presentationml/2006/ole">
            <mc:AlternateContent xmlns:mc="http://schemas.openxmlformats.org/markup-compatibility/2006">
              <mc:Choice xmlns:v="urn:schemas-microsoft-com:vml" Requires="v">
                <p:oleObj spid="_x0000_s117880" name="公式" r:id="rId7" imgW="215713" imgH="241091" progId="Equation.3">
                  <p:embed/>
                </p:oleObj>
              </mc:Choice>
              <mc:Fallback>
                <p:oleObj name="公式" r:id="rId7" imgW="215713" imgH="241091"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30400" y="363538"/>
                        <a:ext cx="431800" cy="48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68" name="Object 7"/>
          <p:cNvGraphicFramePr>
            <a:graphicFrameLocks noChangeAspect="1"/>
          </p:cNvGraphicFramePr>
          <p:nvPr/>
        </p:nvGraphicFramePr>
        <p:xfrm>
          <a:off x="4148138" y="908050"/>
          <a:ext cx="1135062" cy="525463"/>
        </p:xfrm>
        <a:graphic>
          <a:graphicData uri="http://schemas.openxmlformats.org/presentationml/2006/ole">
            <mc:AlternateContent xmlns:mc="http://schemas.openxmlformats.org/markup-compatibility/2006">
              <mc:Choice xmlns:v="urn:schemas-microsoft-com:vml" Requires="v">
                <p:oleObj spid="_x0000_s117881" name="公式" r:id="rId9" imgW="520474" imgH="241195" progId="Equation.3">
                  <p:embed/>
                </p:oleObj>
              </mc:Choice>
              <mc:Fallback>
                <p:oleObj name="公式" r:id="rId9" imgW="520474" imgH="241195"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8138" y="908050"/>
                        <a:ext cx="1135062" cy="5254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69" name="Object 8"/>
          <p:cNvGraphicFramePr>
            <a:graphicFrameLocks noChangeAspect="1"/>
          </p:cNvGraphicFramePr>
          <p:nvPr/>
        </p:nvGraphicFramePr>
        <p:xfrm>
          <a:off x="5672138" y="901700"/>
          <a:ext cx="1112837" cy="504825"/>
        </p:xfrm>
        <a:graphic>
          <a:graphicData uri="http://schemas.openxmlformats.org/presentationml/2006/ole">
            <mc:AlternateContent xmlns:mc="http://schemas.openxmlformats.org/markup-compatibility/2006">
              <mc:Choice xmlns:v="urn:schemas-microsoft-com:vml" Requires="v">
                <p:oleObj spid="_x0000_s117882" name="公式" r:id="rId11" imgW="533169" imgH="241195" progId="Equation.3">
                  <p:embed/>
                </p:oleObj>
              </mc:Choice>
              <mc:Fallback>
                <p:oleObj name="公式" r:id="rId11" imgW="533169" imgH="241195"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72138" y="901700"/>
                        <a:ext cx="1112837" cy="504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70" name="Object 10"/>
          <p:cNvGraphicFramePr>
            <a:graphicFrameLocks noChangeAspect="1"/>
          </p:cNvGraphicFramePr>
          <p:nvPr/>
        </p:nvGraphicFramePr>
        <p:xfrm>
          <a:off x="1917700" y="930275"/>
          <a:ext cx="431800" cy="482600"/>
        </p:xfrm>
        <a:graphic>
          <a:graphicData uri="http://schemas.openxmlformats.org/presentationml/2006/ole">
            <mc:AlternateContent xmlns:mc="http://schemas.openxmlformats.org/markup-compatibility/2006">
              <mc:Choice xmlns:v="urn:schemas-microsoft-com:vml" Requires="v">
                <p:oleObj spid="_x0000_s117883" name="公式" r:id="rId13" imgW="215713" imgH="241091" progId="Equation.3">
                  <p:embed/>
                </p:oleObj>
              </mc:Choice>
              <mc:Fallback>
                <p:oleObj name="公式" r:id="rId13" imgW="215713" imgH="241091"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17700" y="930275"/>
                        <a:ext cx="431800" cy="48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71" name="Object 12"/>
          <p:cNvGraphicFramePr>
            <a:graphicFrameLocks noChangeAspect="1"/>
          </p:cNvGraphicFramePr>
          <p:nvPr/>
        </p:nvGraphicFramePr>
        <p:xfrm>
          <a:off x="971550" y="2097088"/>
          <a:ext cx="4586288" cy="1933575"/>
        </p:xfrm>
        <a:graphic>
          <a:graphicData uri="http://schemas.openxmlformats.org/presentationml/2006/ole">
            <mc:AlternateContent xmlns:mc="http://schemas.openxmlformats.org/markup-compatibility/2006">
              <mc:Choice xmlns:v="urn:schemas-microsoft-com:vml" Requires="v">
                <p:oleObj spid="_x0000_s117884" name="公式" r:id="rId15" imgW="2413000" imgH="1016000" progId="Equation.3">
                  <p:embed/>
                </p:oleObj>
              </mc:Choice>
              <mc:Fallback>
                <p:oleObj name="公式" r:id="rId15" imgW="2413000" imgH="1016000"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71550" y="2097088"/>
                        <a:ext cx="4586288" cy="19335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72" name="Object 16"/>
          <p:cNvGraphicFramePr>
            <a:graphicFrameLocks noChangeAspect="1"/>
          </p:cNvGraphicFramePr>
          <p:nvPr/>
        </p:nvGraphicFramePr>
        <p:xfrm>
          <a:off x="971550" y="4241800"/>
          <a:ext cx="4608513" cy="1920875"/>
        </p:xfrm>
        <a:graphic>
          <a:graphicData uri="http://schemas.openxmlformats.org/presentationml/2006/ole">
            <mc:AlternateContent xmlns:mc="http://schemas.openxmlformats.org/markup-compatibility/2006">
              <mc:Choice xmlns:v="urn:schemas-microsoft-com:vml" Requires="v">
                <p:oleObj spid="_x0000_s117885" name="公式" r:id="rId17" imgW="2438400" imgH="1016000" progId="Equation.3">
                  <p:embed/>
                </p:oleObj>
              </mc:Choice>
              <mc:Fallback>
                <p:oleObj name="公式" r:id="rId17" imgW="2438400" imgH="1016000"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71550" y="4241800"/>
                        <a:ext cx="4608513" cy="192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7773" name="Text Box 5"/>
          <p:cNvSpPr txBox="1">
            <a:spLocks noChangeArrowheads="1"/>
          </p:cNvSpPr>
          <p:nvPr/>
        </p:nvSpPr>
        <p:spPr bwMode="auto">
          <a:xfrm>
            <a:off x="790575" y="950913"/>
            <a:ext cx="37909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末端为         的自由基：</a:t>
            </a: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E6168D9-EB38-4A97-A5EA-BC70CB9063EA}"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83</a:t>
            </a:fld>
            <a:endParaRPr lang="en-US" altLang="zh-CN" sz="1400">
              <a:latin typeface="Times New Roman" panose="02020603050405020304" pitchFamily="18" charset="0"/>
              <a:ea typeface="宋体" panose="02010600030101010101" pitchFamily="2" charset="-122"/>
            </a:endParaRPr>
          </a:p>
        </p:txBody>
      </p:sp>
      <p:sp>
        <p:nvSpPr>
          <p:cNvPr id="118787" name="Text Box 2"/>
          <p:cNvSpPr txBox="1">
            <a:spLocks noChangeArrowheads="1"/>
          </p:cNvSpPr>
          <p:nvPr/>
        </p:nvSpPr>
        <p:spPr bwMode="auto">
          <a:xfrm>
            <a:off x="593725" y="311150"/>
            <a:ext cx="1997075"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4个竞聚率：</a:t>
            </a:r>
          </a:p>
        </p:txBody>
      </p:sp>
      <p:graphicFrame>
        <p:nvGraphicFramePr>
          <p:cNvPr id="118788" name="Object 3"/>
          <p:cNvGraphicFramePr>
            <a:graphicFrameLocks noChangeAspect="1"/>
          </p:cNvGraphicFramePr>
          <p:nvPr/>
        </p:nvGraphicFramePr>
        <p:xfrm>
          <a:off x="973138" y="1154113"/>
          <a:ext cx="1236662" cy="850900"/>
        </p:xfrm>
        <a:graphic>
          <a:graphicData uri="http://schemas.openxmlformats.org/presentationml/2006/ole">
            <mc:AlternateContent xmlns:mc="http://schemas.openxmlformats.org/markup-compatibility/2006">
              <mc:Choice xmlns:v="urn:schemas-microsoft-com:vml" Requires="v">
                <p:oleObj spid="_x0000_s118911" name="公式" r:id="rId3" imgW="647419" imgH="444307" progId="Equation.3">
                  <p:embed/>
                </p:oleObj>
              </mc:Choice>
              <mc:Fallback>
                <p:oleObj name="公式" r:id="rId3" imgW="647419" imgH="444307"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138" y="1154113"/>
                        <a:ext cx="1236662" cy="8509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9" name="Object 4"/>
          <p:cNvGraphicFramePr>
            <a:graphicFrameLocks noChangeAspect="1"/>
          </p:cNvGraphicFramePr>
          <p:nvPr/>
        </p:nvGraphicFramePr>
        <p:xfrm>
          <a:off x="5068888" y="1117600"/>
          <a:ext cx="1292225" cy="881063"/>
        </p:xfrm>
        <a:graphic>
          <a:graphicData uri="http://schemas.openxmlformats.org/presentationml/2006/ole">
            <mc:AlternateContent xmlns:mc="http://schemas.openxmlformats.org/markup-compatibility/2006">
              <mc:Choice xmlns:v="urn:schemas-microsoft-com:vml" Requires="v">
                <p:oleObj spid="_x0000_s118912" name="公式" r:id="rId5" imgW="660113" imgH="444307" progId="Equation.3">
                  <p:embed/>
                </p:oleObj>
              </mc:Choice>
              <mc:Fallback>
                <p:oleObj name="公式" r:id="rId5" imgW="660113" imgH="44430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8888" y="1117600"/>
                        <a:ext cx="1292225" cy="8810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0" name="Object 5"/>
          <p:cNvGraphicFramePr>
            <a:graphicFrameLocks noChangeAspect="1"/>
          </p:cNvGraphicFramePr>
          <p:nvPr/>
        </p:nvGraphicFramePr>
        <p:xfrm>
          <a:off x="977900" y="2247900"/>
          <a:ext cx="1228725" cy="822325"/>
        </p:xfrm>
        <a:graphic>
          <a:graphicData uri="http://schemas.openxmlformats.org/presentationml/2006/ole">
            <mc:AlternateContent xmlns:mc="http://schemas.openxmlformats.org/markup-compatibility/2006">
              <mc:Choice xmlns:v="urn:schemas-microsoft-com:vml" Requires="v">
                <p:oleObj spid="_x0000_s118913" name="公式" r:id="rId7" imgW="672808" imgH="444307" progId="Equation.3">
                  <p:embed/>
                </p:oleObj>
              </mc:Choice>
              <mc:Fallback>
                <p:oleObj name="公式" r:id="rId7" imgW="672808" imgH="444307"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7900" y="2247900"/>
                        <a:ext cx="1228725" cy="822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1" name="Object 6"/>
          <p:cNvGraphicFramePr>
            <a:graphicFrameLocks noChangeAspect="1"/>
          </p:cNvGraphicFramePr>
          <p:nvPr/>
        </p:nvGraphicFramePr>
        <p:xfrm>
          <a:off x="5068888" y="2232025"/>
          <a:ext cx="1317625" cy="881063"/>
        </p:xfrm>
        <a:graphic>
          <a:graphicData uri="http://schemas.openxmlformats.org/presentationml/2006/ole">
            <mc:AlternateContent xmlns:mc="http://schemas.openxmlformats.org/markup-compatibility/2006">
              <mc:Choice xmlns:v="urn:schemas-microsoft-com:vml" Requires="v">
                <p:oleObj spid="_x0000_s118914" name="公式" r:id="rId9" imgW="672808" imgH="444307" progId="Equation.3">
                  <p:embed/>
                </p:oleObj>
              </mc:Choice>
              <mc:Fallback>
                <p:oleObj name="公式" r:id="rId9" imgW="672808" imgH="444307"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68888" y="2232025"/>
                        <a:ext cx="1317625" cy="8810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2" name="Object 7"/>
          <p:cNvGraphicFramePr>
            <a:graphicFrameLocks noChangeAspect="1"/>
          </p:cNvGraphicFramePr>
          <p:nvPr/>
        </p:nvGraphicFramePr>
        <p:xfrm>
          <a:off x="3105150" y="1733550"/>
          <a:ext cx="1158875" cy="846138"/>
        </p:xfrm>
        <a:graphic>
          <a:graphicData uri="http://schemas.openxmlformats.org/presentationml/2006/ole">
            <mc:AlternateContent xmlns:mc="http://schemas.openxmlformats.org/markup-compatibility/2006">
              <mc:Choice xmlns:v="urn:schemas-microsoft-com:vml" Requires="v">
                <p:oleObj spid="_x0000_s118915" name="公式" r:id="rId11" imgW="609336" imgH="444307" progId="Equation.3">
                  <p:embed/>
                </p:oleObj>
              </mc:Choice>
              <mc:Fallback>
                <p:oleObj name="公式" r:id="rId11" imgW="609336" imgH="444307"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05150" y="1733550"/>
                        <a:ext cx="1158875" cy="846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3" name="Object 8"/>
          <p:cNvGraphicFramePr>
            <a:graphicFrameLocks noChangeAspect="1"/>
          </p:cNvGraphicFramePr>
          <p:nvPr/>
        </p:nvGraphicFramePr>
        <p:xfrm>
          <a:off x="7308850" y="1649413"/>
          <a:ext cx="1128713" cy="815975"/>
        </p:xfrm>
        <a:graphic>
          <a:graphicData uri="http://schemas.openxmlformats.org/presentationml/2006/ole">
            <mc:AlternateContent xmlns:mc="http://schemas.openxmlformats.org/markup-compatibility/2006">
              <mc:Choice xmlns:v="urn:schemas-microsoft-com:vml" Requires="v">
                <p:oleObj spid="_x0000_s118916" name="公式" r:id="rId13" imgW="622030" imgH="444307" progId="Equation.3">
                  <p:embed/>
                </p:oleObj>
              </mc:Choice>
              <mc:Fallback>
                <p:oleObj name="公式" r:id="rId13" imgW="622030" imgH="444307"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08850" y="1649413"/>
                        <a:ext cx="1128713" cy="815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8794" name="AutoShape 9"/>
          <p:cNvSpPr>
            <a:spLocks noChangeArrowheads="1"/>
          </p:cNvSpPr>
          <p:nvPr/>
        </p:nvSpPr>
        <p:spPr bwMode="auto">
          <a:xfrm>
            <a:off x="2420938" y="1906588"/>
            <a:ext cx="523875" cy="407987"/>
          </a:xfrm>
          <a:prstGeom prst="notchedRightArrow">
            <a:avLst>
              <a:gd name="adj1" fmla="val 50000"/>
              <a:gd name="adj2" fmla="val 31245"/>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
        <p:nvSpPr>
          <p:cNvPr id="118795" name="AutoShape 10"/>
          <p:cNvSpPr>
            <a:spLocks noChangeArrowheads="1"/>
          </p:cNvSpPr>
          <p:nvPr/>
        </p:nvSpPr>
        <p:spPr bwMode="auto">
          <a:xfrm>
            <a:off x="6577013" y="1906588"/>
            <a:ext cx="546100" cy="357187"/>
          </a:xfrm>
          <a:prstGeom prst="notchedRightArrow">
            <a:avLst>
              <a:gd name="adj1" fmla="val 50000"/>
              <a:gd name="adj2" fmla="val 31271"/>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
        <p:nvSpPr>
          <p:cNvPr id="118796" name="Text Box 11"/>
          <p:cNvSpPr txBox="1">
            <a:spLocks noChangeArrowheads="1"/>
          </p:cNvSpPr>
          <p:nvPr/>
        </p:nvSpPr>
        <p:spPr bwMode="auto">
          <a:xfrm>
            <a:off x="755650" y="3268663"/>
            <a:ext cx="74882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每种单体对应有2种竞聚率，一种竞聚率代表增长种末端和前末端单元相同，另一</a:t>
            </a:r>
            <a:r>
              <a:rPr kumimoji="1" lang="zh-CN" altLang="en-GB" sz="2400">
                <a:latin typeface="楷体" panose="02010609060101010101" pitchFamily="49" charset="-122"/>
                <a:ea typeface="楷体" panose="02010609060101010101" pitchFamily="49" charset="-122"/>
              </a:rPr>
              <a:t>种</a:t>
            </a:r>
            <a:r>
              <a:rPr kumimoji="1" lang="zh-CN" altLang="en-US" sz="2400">
                <a:latin typeface="楷体" panose="02010609060101010101" pitchFamily="49" charset="-122"/>
                <a:ea typeface="楷体" panose="02010609060101010101" pitchFamily="49" charset="-122"/>
              </a:rPr>
              <a:t>则不同。</a:t>
            </a:r>
          </a:p>
        </p:txBody>
      </p:sp>
      <p:graphicFrame>
        <p:nvGraphicFramePr>
          <p:cNvPr id="118797" name="Object 12"/>
          <p:cNvGraphicFramePr>
            <a:graphicFrameLocks noChangeAspect="1"/>
          </p:cNvGraphicFramePr>
          <p:nvPr/>
        </p:nvGraphicFramePr>
        <p:xfrm>
          <a:off x="788988" y="4430713"/>
          <a:ext cx="4773612" cy="874712"/>
        </p:xfrm>
        <a:graphic>
          <a:graphicData uri="http://schemas.openxmlformats.org/presentationml/2006/ole">
            <mc:AlternateContent xmlns:mc="http://schemas.openxmlformats.org/markup-compatibility/2006">
              <mc:Choice xmlns:v="urn:schemas-microsoft-com:vml" Requires="v">
                <p:oleObj spid="_x0000_s118917" name="公式" r:id="rId15" imgW="2222500" imgH="444500" progId="Equation.3">
                  <p:embed/>
                </p:oleObj>
              </mc:Choice>
              <mc:Fallback>
                <p:oleObj name="公式" r:id="rId15" imgW="2222500" imgH="444500"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l="-900" r="-900"/>
                      <a:stretch>
                        <a:fillRect/>
                      </a:stretch>
                    </p:blipFill>
                    <p:spPr bwMode="auto">
                      <a:xfrm>
                        <a:off x="788988" y="4430713"/>
                        <a:ext cx="477361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8798" name="Object 14"/>
          <p:cNvGraphicFramePr>
            <a:graphicFrameLocks noChangeAspect="1"/>
          </p:cNvGraphicFramePr>
          <p:nvPr/>
        </p:nvGraphicFramePr>
        <p:xfrm>
          <a:off x="782638" y="5518150"/>
          <a:ext cx="4735512" cy="858838"/>
        </p:xfrm>
        <a:graphic>
          <a:graphicData uri="http://schemas.openxmlformats.org/presentationml/2006/ole">
            <mc:AlternateContent xmlns:mc="http://schemas.openxmlformats.org/markup-compatibility/2006">
              <mc:Choice xmlns:v="urn:schemas-microsoft-com:vml" Requires="v">
                <p:oleObj spid="_x0000_s118918" name="公式" r:id="rId17" imgW="2247900" imgH="444500" progId="Equation.3">
                  <p:embed/>
                </p:oleObj>
              </mc:Choice>
              <mc:Fallback>
                <p:oleObj name="公式" r:id="rId17" imgW="2247900" imgH="444500" progId="Equation.3">
                  <p:embed/>
                  <p:pic>
                    <p:nvPicPr>
                      <p:cNvPr id="0" name="Object 14"/>
                      <p:cNvPicPr>
                        <a:picLocks noChangeAspect="1" noChangeArrowheads="1"/>
                      </p:cNvPicPr>
                      <p:nvPr/>
                    </p:nvPicPr>
                    <p:blipFill>
                      <a:blip r:embed="rId18">
                        <a:extLst>
                          <a:ext uri="{28A0092B-C50C-407E-A947-70E740481C1C}">
                            <a14:useLocalDpi xmlns:a14="http://schemas.microsoft.com/office/drawing/2010/main" val="0"/>
                          </a:ext>
                        </a:extLst>
                      </a:blip>
                      <a:srcRect l="-777" r="-777"/>
                      <a:stretch>
                        <a:fillRect/>
                      </a:stretch>
                    </p:blipFill>
                    <p:spPr bwMode="auto">
                      <a:xfrm>
                        <a:off x="782638" y="5518150"/>
                        <a:ext cx="4735512" cy="858838"/>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2" name="文本框 1"/>
              <p:cNvSpPr txBox="1"/>
              <p:nvPr/>
            </p:nvSpPr>
            <p:spPr>
              <a:xfrm>
                <a:off x="5993650" y="5098916"/>
                <a:ext cx="2630399" cy="11211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𝑑</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num>
                        <m:den>
                          <m:r>
                            <a:rPr lang="en-US" altLang="zh-CN" b="0" i="1" smtClean="0">
                              <a:latin typeface="Cambria Math" panose="02040503050406030204" pitchFamily="18" charset="0"/>
                            </a:rPr>
                            <m:t>𝑑</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𝑀</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m:t>
                                  </m:r>
                                </m:sup>
                              </m:sSubSup>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𝑟</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𝑋</m:t>
                              </m:r>
                              <m:r>
                                <a:rPr lang="en-US" altLang="zh-CN" b="0" i="1" smtClean="0">
                                  <a:latin typeface="Cambria Math" panose="02040503050406030204" pitchFamily="18" charset="0"/>
                                </a:rPr>
                                <m:t>+1)</m:t>
                              </m:r>
                            </m:num>
                            <m:den>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𝑟</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b="0" i="1" smtClean="0">
                                  <a:latin typeface="Cambria Math" panose="02040503050406030204" pitchFamily="18" charset="0"/>
                                </a:rPr>
                                <m:t>𝑋</m:t>
                              </m:r>
                              <m:r>
                                <a:rPr lang="en-US" altLang="zh-CN" b="0" i="1" smtClean="0">
                                  <a:latin typeface="Cambria Math" panose="02040503050406030204" pitchFamily="18" charset="0"/>
                                </a:rPr>
                                <m:t>+1</m:t>
                              </m:r>
                            </m:den>
                          </m:f>
                        </m:num>
                        <m:den>
                          <m:r>
                            <a:rPr lang="en-US" altLang="zh-CN" i="1">
                              <a:latin typeface="Cambria Math" panose="02040503050406030204" pitchFamily="18" charset="0"/>
                            </a:rPr>
                            <m:t>1+</m:t>
                          </m:r>
                          <m:f>
                            <m:fPr>
                              <m:ctrlPr>
                                <a:rPr lang="en-US" altLang="zh-CN" i="1">
                                  <a:latin typeface="Cambria Math" panose="02040503050406030204" pitchFamily="18" charset="0"/>
                                </a:rPr>
                              </m:ctrlPr>
                            </m:fPr>
                            <m:num>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𝑋</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Sub>
                              <m:r>
                                <a:rPr lang="en-US" altLang="zh-CN" i="1">
                                  <a:latin typeface="Cambria Math" panose="02040503050406030204" pitchFamily="18" charset="0"/>
                                </a:rPr>
                                <m:t>𝑋</m:t>
                              </m:r>
                              <m:r>
                                <a:rPr lang="en-US" altLang="zh-CN" i="1">
                                  <a:latin typeface="Cambria Math" panose="02040503050406030204" pitchFamily="18" charset="0"/>
                                </a:rPr>
                                <m:t>+1)</m:t>
                              </m:r>
                            </m:num>
                            <m:den>
                              <m:r>
                                <a:rPr lang="en-US" altLang="zh-CN" b="0" i="1" smtClean="0">
                                  <a:latin typeface="Cambria Math" panose="02040503050406030204" pitchFamily="18" charset="0"/>
                                </a:rPr>
                                <m:t>𝑋</m:t>
                              </m:r>
                              <m:r>
                                <a:rPr lang="en-US" altLang="zh-CN" b="0" i="1" smtClean="0">
                                  <a:latin typeface="Cambria Math" panose="02040503050406030204" pitchFamily="18" charset="0"/>
                                </a:rPr>
                                <m:t>(</m:t>
                              </m:r>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𝑟</m:t>
                                  </m:r>
                                </m:e>
                                <m:sub>
                                  <m:r>
                                    <a:rPr lang="en-US" altLang="zh-CN" b="0" i="1" smtClean="0">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m:t>
                              </m:r>
                              <m:r>
                                <a:rPr lang="en-US" altLang="zh-CN" b="0" i="1" smtClean="0">
                                  <a:latin typeface="Cambria Math" panose="02040503050406030204" pitchFamily="18" charset="0"/>
                                </a:rPr>
                                <m:t>𝑋</m:t>
                              </m:r>
                              <m:r>
                                <a:rPr lang="en-US" altLang="zh-CN" b="0" i="1" smtClean="0">
                                  <a:latin typeface="Cambria Math" panose="02040503050406030204" pitchFamily="18" charset="0"/>
                                </a:rPr>
                                <m:t>)</m:t>
                              </m:r>
                            </m:den>
                          </m:f>
                        </m:den>
                      </m:f>
                    </m:oMath>
                  </m:oMathPara>
                </a14:m>
                <a:endParaRPr lang="zh-CN" altLang="en-US" dirty="0"/>
              </a:p>
            </p:txBody>
          </p:sp>
        </mc:Choice>
        <mc:Fallback xmlns="">
          <p:sp>
            <p:nvSpPr>
              <p:cNvPr id="2" name="文本框 1"/>
              <p:cNvSpPr txBox="1">
                <a:spLocks noRot="1" noChangeAspect="1" noMove="1" noResize="1" noEditPoints="1" noAdjustHandles="1" noChangeArrowheads="1" noChangeShapeType="1" noTextEdit="1"/>
              </p:cNvSpPr>
              <p:nvPr/>
            </p:nvSpPr>
            <p:spPr>
              <a:xfrm>
                <a:off x="5993650" y="5098916"/>
                <a:ext cx="2630399" cy="1121141"/>
              </a:xfrm>
              <a:prstGeom prst="rect">
                <a:avLst/>
              </a:prstGeom>
              <a:blipFill>
                <a:blip r:embed="rId19"/>
                <a:stretch>
                  <a:fillRect/>
                </a:stretch>
              </a:blipFill>
            </p:spPr>
            <p:txBody>
              <a:bodyPr/>
              <a:lstStyle/>
              <a:p>
                <a:r>
                  <a:rPr lang="zh-CN" altLang="en-US">
                    <a:noFill/>
                  </a:rPr>
                  <a:t> </a:t>
                </a:r>
              </a:p>
            </p:txBody>
          </p:sp>
        </mc:Fallback>
      </mc:AlternateContent>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1981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F014BD0-14BC-4237-9FDE-E3331DF8FDC4}"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84</a:t>
            </a:fld>
            <a:endParaRPr lang="en-US" altLang="zh-CN" sz="1400">
              <a:latin typeface="Times New Roman" panose="02020603050405020304" pitchFamily="18" charset="0"/>
              <a:ea typeface="宋体" panose="02010600030101010101" pitchFamily="2" charset="-122"/>
            </a:endParaRPr>
          </a:p>
        </p:txBody>
      </p:sp>
      <p:sp>
        <p:nvSpPr>
          <p:cNvPr id="119811" name="Text Box 2"/>
          <p:cNvSpPr txBox="1">
            <a:spLocks noChangeArrowheads="1"/>
          </p:cNvSpPr>
          <p:nvPr/>
        </p:nvSpPr>
        <p:spPr bwMode="auto">
          <a:xfrm>
            <a:off x="658813" y="620713"/>
            <a:ext cx="6172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解聚</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(Depolymerization)</a:t>
            </a:r>
          </a:p>
        </p:txBody>
      </p:sp>
      <p:sp>
        <p:nvSpPr>
          <p:cNvPr id="119812" name="Rectangle 3"/>
          <p:cNvSpPr>
            <a:spLocks noChangeArrowheads="1"/>
          </p:cNvSpPr>
          <p:nvPr/>
        </p:nvSpPr>
        <p:spPr bwMode="auto">
          <a:xfrm>
            <a:off x="827088" y="1628775"/>
            <a:ext cx="7842250" cy="277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共聚时发生解聚使组成方程偏离。</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乙烯基单体在常温下解聚倾向较小，但</a:t>
            </a:r>
            <a:r>
              <a:rPr kumimoji="1" lang="en-US" altLang="zh-CN" sz="2400">
                <a:solidFill>
                  <a:srgbClr val="90109E"/>
                </a:solidFill>
                <a:latin typeface="Arial" panose="020B0604020202020204" pitchFamily="34" charset="0"/>
                <a:ea typeface="楷体" panose="02010609060101010101" pitchFamily="49" charset="-122"/>
                <a:cs typeface="Arial" panose="020B0604020202020204" pitchFamily="34" charset="0"/>
              </a:rPr>
              <a:t>α-</a:t>
            </a:r>
            <a:r>
              <a:rPr kumimoji="1" lang="zh-CN" altLang="en-US" sz="2400">
                <a:solidFill>
                  <a:srgbClr val="90109E"/>
                </a:solidFill>
                <a:latin typeface="Arial" panose="020B0604020202020204" pitchFamily="34" charset="0"/>
                <a:ea typeface="楷体" panose="02010609060101010101" pitchFamily="49" charset="-122"/>
                <a:cs typeface="Arial" panose="020B0604020202020204" pitchFamily="34" charset="0"/>
              </a:rPr>
              <a:t>甲基苯乙烯</a:t>
            </a:r>
            <a:r>
              <a:rPr kumimoji="1" lang="zh-CN" altLang="en-US" sz="2400">
                <a:latin typeface="Arial" panose="020B0604020202020204" pitchFamily="34" charset="0"/>
                <a:ea typeface="楷体" panose="02010609060101010101" pitchFamily="49" charset="-122"/>
                <a:cs typeface="Arial" panose="020B0604020202020204" pitchFamily="34" charset="0"/>
              </a:rPr>
              <a:t>的聚合上限温度为61℃，有明显解聚倾向。</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聚合—解聚平衡与温度有关，故共聚物组成也决定于温度，温度升高，单体浓度降低，有利于解聚</a:t>
            </a:r>
          </a:p>
        </p:txBody>
      </p:sp>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文本框 3"/>
          <p:cNvSpPr txBox="1">
            <a:spLocks noChangeArrowheads="1"/>
          </p:cNvSpPr>
          <p:nvPr/>
        </p:nvSpPr>
        <p:spPr bwMode="auto">
          <a:xfrm>
            <a:off x="257175" y="188913"/>
            <a:ext cx="856932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50000"/>
              </a:lnSpc>
              <a:spcBef>
                <a:spcPct val="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例</a:t>
            </a: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400">
                <a:latin typeface="Arial" panose="020B0604020202020204" pitchFamily="34" charset="0"/>
                <a:ea typeface="楷体" panose="02010609060101010101" pitchFamily="49" charset="-122"/>
                <a:cs typeface="Arial" panose="020B0604020202020204" pitchFamily="34" charset="0"/>
              </a:rPr>
              <a:t> </a:t>
            </a:r>
            <a:r>
              <a:rPr lang="zh-CN" altLang="en-US" sz="2400">
                <a:latin typeface="Arial" panose="020B0604020202020204" pitchFamily="34" charset="0"/>
                <a:ea typeface="楷体" panose="02010609060101010101" pitchFamily="49" charset="-122"/>
                <a:cs typeface="Arial" panose="020B0604020202020204" pitchFamily="34" charset="0"/>
              </a:rPr>
              <a:t>丙烯腈</a:t>
            </a:r>
            <a:r>
              <a:rPr lang="en-US" altLang="zh-CN" sz="2400">
                <a:latin typeface="Arial" panose="020B0604020202020204" pitchFamily="34" charset="0"/>
                <a:ea typeface="楷体" panose="02010609060101010101" pitchFamily="49" charset="-122"/>
                <a:cs typeface="Arial" panose="020B0604020202020204" pitchFamily="34" charset="0"/>
              </a:rPr>
              <a:t>-</a:t>
            </a:r>
            <a:r>
              <a:rPr lang="zh-CN" altLang="en-US" sz="2400">
                <a:latin typeface="Arial" panose="020B0604020202020204" pitchFamily="34" charset="0"/>
                <a:ea typeface="楷体" panose="02010609060101010101" pitchFamily="49" charset="-122"/>
                <a:cs typeface="Arial" panose="020B0604020202020204" pitchFamily="34" charset="0"/>
              </a:rPr>
              <a:t>苯乙烯的竞聚率</a:t>
            </a:r>
            <a:r>
              <a:rPr lang="en-US" altLang="zh-CN" sz="2400">
                <a:latin typeface="Arial" panose="020B0604020202020204" pitchFamily="34" charset="0"/>
                <a:ea typeface="楷体" panose="02010609060101010101" pitchFamily="49" charset="-122"/>
                <a:cs typeface="Arial" panose="020B0604020202020204" pitchFamily="34" charset="0"/>
              </a:rPr>
              <a:t>r</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en-US" altLang="zh-CN" sz="2400">
                <a:latin typeface="Arial" panose="020B0604020202020204" pitchFamily="34" charset="0"/>
                <a:ea typeface="楷体" panose="02010609060101010101" pitchFamily="49" charset="-122"/>
                <a:cs typeface="Arial" panose="020B0604020202020204" pitchFamily="34" charset="0"/>
              </a:rPr>
              <a:t> = 0.04</a:t>
            </a:r>
            <a:r>
              <a:rPr lang="zh-CN" altLang="en-US" sz="2400">
                <a:latin typeface="Arial" panose="020B0604020202020204" pitchFamily="34" charset="0"/>
                <a:ea typeface="楷体" panose="02010609060101010101" pitchFamily="49" charset="-122"/>
                <a:cs typeface="Arial" panose="020B0604020202020204" pitchFamily="34" charset="0"/>
              </a:rPr>
              <a:t>，</a:t>
            </a:r>
            <a:r>
              <a:rPr lang="en-US" altLang="zh-CN" sz="2400">
                <a:latin typeface="Arial" panose="020B0604020202020204" pitchFamily="34" charset="0"/>
                <a:ea typeface="楷体" panose="02010609060101010101" pitchFamily="49" charset="-122"/>
                <a:cs typeface="Arial" panose="020B0604020202020204" pitchFamily="34" charset="0"/>
              </a:rPr>
              <a:t>r</a:t>
            </a:r>
            <a:r>
              <a:rPr lang="en-US" altLang="zh-CN" sz="2400" baseline="-25000">
                <a:latin typeface="Arial" panose="020B0604020202020204" pitchFamily="34" charset="0"/>
                <a:ea typeface="楷体" panose="02010609060101010101" pitchFamily="49" charset="-122"/>
                <a:cs typeface="Arial" panose="020B0604020202020204" pitchFamily="34" charset="0"/>
              </a:rPr>
              <a:t>2</a:t>
            </a:r>
            <a:r>
              <a:rPr lang="en-US" altLang="zh-CN" sz="2400">
                <a:latin typeface="Arial" panose="020B0604020202020204" pitchFamily="34" charset="0"/>
                <a:ea typeface="楷体" panose="02010609060101010101" pitchFamily="49" charset="-122"/>
                <a:cs typeface="Arial" panose="020B0604020202020204" pitchFamily="34" charset="0"/>
              </a:rPr>
              <a:t> = 0.40</a:t>
            </a:r>
            <a:r>
              <a:rPr lang="zh-CN" altLang="en-US" sz="2400">
                <a:latin typeface="Arial" panose="020B0604020202020204" pitchFamily="34" charset="0"/>
                <a:ea typeface="楷体" panose="02010609060101010101" pitchFamily="49" charset="-122"/>
                <a:cs typeface="Arial" panose="020B0604020202020204" pitchFamily="34" charset="0"/>
              </a:rPr>
              <a:t>，若所采用的丙烯腈（</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）和苯乙烯（</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2</a:t>
            </a:r>
            <a:r>
              <a:rPr lang="zh-CN" altLang="en-US" sz="2400">
                <a:latin typeface="Arial" panose="020B0604020202020204" pitchFamily="34" charset="0"/>
                <a:ea typeface="楷体" panose="02010609060101010101" pitchFamily="49" charset="-122"/>
                <a:cs typeface="Arial" panose="020B0604020202020204" pitchFamily="34" charset="0"/>
              </a:rPr>
              <a:t>）的投料质量比为</a:t>
            </a:r>
            <a:r>
              <a:rPr lang="en-US" altLang="zh-CN" sz="2400">
                <a:latin typeface="Arial" panose="020B0604020202020204" pitchFamily="34" charset="0"/>
                <a:ea typeface="楷体" panose="02010609060101010101" pitchFamily="49" charset="-122"/>
                <a:cs typeface="Arial" panose="020B0604020202020204" pitchFamily="34" charset="0"/>
              </a:rPr>
              <a:t>24:76</a:t>
            </a:r>
            <a:r>
              <a:rPr lang="zh-CN" altLang="en-US" sz="2400">
                <a:latin typeface="Arial" panose="020B0604020202020204" pitchFamily="34" charset="0"/>
                <a:ea typeface="楷体" panose="02010609060101010101" pitchFamily="49" charset="-122"/>
                <a:cs typeface="Arial" panose="020B0604020202020204" pitchFamily="34" charset="0"/>
              </a:rPr>
              <a:t>，在生产中采用单体一次投料的聚合工艺，并在高转化率下才停止反应。试求</a:t>
            </a:r>
            <a:r>
              <a:rPr lang="en-US" altLang="zh-CN" sz="2400">
                <a:latin typeface="Arial" panose="020B0604020202020204" pitchFamily="34" charset="0"/>
                <a:ea typeface="楷体" panose="02010609060101010101" pitchFamily="49" charset="-122"/>
                <a:cs typeface="Arial" panose="020B0604020202020204" pitchFamily="34" charset="0"/>
              </a:rPr>
              <a:t>: (1)</a:t>
            </a:r>
            <a:r>
              <a:rPr lang="zh-CN" altLang="en-US" sz="2400">
                <a:latin typeface="Arial" panose="020B0604020202020204" pitchFamily="34" charset="0"/>
                <a:ea typeface="楷体" panose="02010609060101010101" pitchFamily="49" charset="-122"/>
                <a:cs typeface="Arial" panose="020B0604020202020204" pitchFamily="34" charset="0"/>
              </a:rPr>
              <a:t>画出</a:t>
            </a:r>
            <a:r>
              <a:rPr lang="en-US" altLang="zh-CN" sz="2400">
                <a:latin typeface="Arial" panose="020B0604020202020204" pitchFamily="34" charset="0"/>
                <a:ea typeface="楷体" panose="02010609060101010101" pitchFamily="49" charset="-122"/>
                <a:cs typeface="Arial" panose="020B0604020202020204" pitchFamily="34" charset="0"/>
              </a:rPr>
              <a:t>F-f</a:t>
            </a:r>
            <a:r>
              <a:rPr lang="zh-CN" altLang="en-US" sz="2400">
                <a:latin typeface="Arial" panose="020B0604020202020204" pitchFamily="34" charset="0"/>
                <a:ea typeface="楷体" panose="02010609060101010101" pitchFamily="49" charset="-122"/>
                <a:cs typeface="Arial" panose="020B0604020202020204" pitchFamily="34" charset="0"/>
              </a:rPr>
              <a:t>的关系图</a:t>
            </a:r>
            <a:r>
              <a:rPr lang="en-US" altLang="zh-CN" sz="2400">
                <a:latin typeface="Arial" panose="020B0604020202020204" pitchFamily="34" charset="0"/>
                <a:ea typeface="楷体" panose="02010609060101010101" pitchFamily="49" charset="-122"/>
                <a:cs typeface="Arial" panose="020B0604020202020204" pitchFamily="34" charset="0"/>
              </a:rPr>
              <a:t>; (2)</a:t>
            </a:r>
            <a:r>
              <a:rPr lang="zh-CN" altLang="en-US" sz="2400">
                <a:latin typeface="Arial" panose="020B0604020202020204" pitchFamily="34" charset="0"/>
                <a:ea typeface="楷体" panose="02010609060101010101" pitchFamily="49" charset="-122"/>
                <a:cs typeface="Arial" panose="020B0604020202020204" pitchFamily="34" charset="0"/>
              </a:rPr>
              <a:t>计算恒比点，并讨论所得共聚物的均匀性</a:t>
            </a:r>
            <a:r>
              <a:rPr lang="en-US" altLang="zh-CN" sz="2400">
                <a:latin typeface="Arial" panose="020B0604020202020204" pitchFamily="34" charset="0"/>
                <a:ea typeface="楷体" panose="02010609060101010101" pitchFamily="49" charset="-122"/>
                <a:cs typeface="Arial" panose="020B0604020202020204" pitchFamily="34" charset="0"/>
              </a:rPr>
              <a:t>; (3)</a:t>
            </a:r>
            <a:r>
              <a:rPr lang="zh-CN" altLang="en-US" sz="2400">
                <a:latin typeface="Arial" panose="020B0604020202020204" pitchFamily="34" charset="0"/>
                <a:ea typeface="楷体" panose="02010609060101010101" pitchFamily="49" charset="-122"/>
                <a:cs typeface="Arial" panose="020B0604020202020204" pitchFamily="34" charset="0"/>
              </a:rPr>
              <a:t>所需的共聚物组成中含苯乙烯单体单元的质量分数为</a:t>
            </a:r>
            <a:r>
              <a:rPr lang="en-US" altLang="zh-CN" sz="2400">
                <a:latin typeface="Arial" panose="020B0604020202020204" pitchFamily="34" charset="0"/>
                <a:ea typeface="楷体" panose="02010609060101010101" pitchFamily="49" charset="-122"/>
                <a:cs typeface="Arial" panose="020B0604020202020204" pitchFamily="34" charset="0"/>
              </a:rPr>
              <a:t>70%</a:t>
            </a:r>
            <a:r>
              <a:rPr lang="zh-CN" altLang="en-US" sz="2400">
                <a:latin typeface="Arial" panose="020B0604020202020204" pitchFamily="34" charset="0"/>
                <a:ea typeface="楷体" panose="02010609060101010101" pitchFamily="49" charset="-122"/>
                <a:cs typeface="Arial" panose="020B0604020202020204" pitchFamily="34" charset="0"/>
              </a:rPr>
              <a:t>，问起始单体配料比及投料方法又如何</a:t>
            </a:r>
            <a:r>
              <a:rPr lang="en-US" altLang="zh-CN" sz="2400">
                <a:latin typeface="Arial" panose="020B0604020202020204" pitchFamily="34" charset="0"/>
                <a:ea typeface="楷体" panose="02010609060101010101" pitchFamily="49" charset="-122"/>
                <a:cs typeface="Arial" panose="020B0604020202020204" pitchFamily="34" charset="0"/>
              </a:rPr>
              <a:t>? </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41838" y="3541713"/>
            <a:ext cx="4122737"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a:spLocks noChangeArrowheads="1"/>
          </p:cNvSpPr>
          <p:nvPr/>
        </p:nvSpPr>
        <p:spPr bwMode="auto">
          <a:xfrm>
            <a:off x="257175" y="3789363"/>
            <a:ext cx="4243388"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解：（</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）由于</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&lt;1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&lt;1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，此共聚体系属于有恒比点的共聚体系，其</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-f</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的关系图如下：</a:t>
            </a: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ct val="0"/>
              </a:spcBef>
              <a:buFontTx/>
              <a:buNone/>
            </a:pPr>
            <a:endPar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1757911-3F64-47AE-8CB6-8921A3807F20}"/>
              </a:ext>
            </a:extLst>
          </p:cNvPr>
          <p:cNvSpPr>
            <a:spLocks noGrp="1"/>
          </p:cNvSpPr>
          <p:nvPr>
            <p:ph type="sldNum" sz="quarter" idx="12"/>
          </p:nvPr>
        </p:nvSpPr>
        <p:spPr/>
        <p:txBody>
          <a:bodyPr/>
          <a:lstStyle/>
          <a:p>
            <a:pPr>
              <a:defRPr/>
            </a:pPr>
            <a:fld id="{C7A25A52-F533-4B6F-BD50-310EF6ECDF22}" type="slidenum">
              <a:rPr lang="zh-CN" altLang="en-US" smtClean="0"/>
              <a:pPr>
                <a:defRPr/>
              </a:pPr>
              <a:t>86</a:t>
            </a:fld>
            <a:endParaRPr lang="en-US" altLang="zh-CN"/>
          </a:p>
        </p:txBody>
      </p:sp>
      <p:sp>
        <p:nvSpPr>
          <p:cNvPr id="5" name="矩形 4">
            <a:extLst>
              <a:ext uri="{FF2B5EF4-FFF2-40B4-BE49-F238E27FC236}">
                <a16:creationId xmlns:a16="http://schemas.microsoft.com/office/drawing/2014/main" id="{D45510BE-4853-4D06-9070-A19F8981B502}"/>
              </a:ext>
            </a:extLst>
          </p:cNvPr>
          <p:cNvSpPr>
            <a:spLocks noRot="1" noChangeAspect="1" noMove="1" noResize="1" noEditPoints="1" noAdjustHandles="1" noChangeArrowheads="1" noChangeShapeType="1" noTextEdit="1"/>
          </p:cNvSpPr>
          <p:nvPr/>
        </p:nvSpPr>
        <p:spPr>
          <a:xfrm>
            <a:off x="467544" y="692696"/>
            <a:ext cx="8047806" cy="4378699"/>
          </a:xfrm>
          <a:prstGeom prst="rect">
            <a:avLst/>
          </a:prstGeom>
          <a:blipFill>
            <a:blip r:embed="rId3"/>
            <a:stretch>
              <a:fillRect l="-1212" r="-1136" b="-1950"/>
            </a:stretch>
          </a:blipFill>
        </p:spPr>
        <p:txBody>
          <a:bodyPr/>
          <a:lstStyle/>
          <a:p>
            <a:pPr>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charRg st="2" end="2"/>
                                            </p:txEl>
                                          </p:spTgt>
                                        </p:tgtEl>
                                        <p:attrNameLst>
                                          <p:attrName>style.visibility</p:attrName>
                                        </p:attrNameLst>
                                      </p:cBhvr>
                                      <p:to>
                                        <p:strVal val="visible"/>
                                      </p:to>
                                    </p:set>
                                    <p:anim calcmode="lin" valueType="num">
                                      <p:cBhvr additive="base">
                                        <p:cTn id="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charRg st="2" end="2"/>
                                            </p:txEl>
                                          </p:spTgt>
                                        </p:tgtEl>
                                        <p:attrNameLst>
                                          <p:attrName>style.visibility</p:attrName>
                                        </p:attrNameLst>
                                      </p:cBhvr>
                                      <p:to>
                                        <p:strVal val="visible"/>
                                      </p:to>
                                    </p:set>
                                    <p:anim calcmode="lin" valueType="num">
                                      <p:cBhvr additive="base">
                                        <p:cTn id="13"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charRg st="2" end="2"/>
                                            </p:txEl>
                                          </p:spTgt>
                                        </p:tgtEl>
                                        <p:attrNameLst>
                                          <p:attrName>style.visibility</p:attrName>
                                        </p:attrNameLst>
                                      </p:cBhvr>
                                      <p:to>
                                        <p:strVal val="visible"/>
                                      </p:to>
                                    </p:set>
                                    <p:animEffect transition="in" filter="fade">
                                      <p:cBhvr>
                                        <p:cTn id="19" dur="1000"/>
                                        <p:tgtEl>
                                          <p:spTgt spid="5">
                                            <p:txEl>
                                              <p:charRg st="2" end="2"/>
                                            </p:txEl>
                                          </p:spTgt>
                                        </p:tgtEl>
                                      </p:cBhvr>
                                    </p:animEffect>
                                    <p:anim calcmode="lin" valueType="num">
                                      <p:cBhvr>
                                        <p:cTn id="20" dur="1000" fill="hold"/>
                                        <p:tgtEl>
                                          <p:spTgt spid="5">
                                            <p:txEl>
                                              <p:char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5">
                                            <p:txEl>
                                              <p:char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C948336E-DBBE-40C0-AE27-AB09C763A5FB}"/>
              </a:ext>
            </a:extLst>
          </p:cNvPr>
          <p:cNvSpPr txBox="1">
            <a:spLocks noRot="1" noChangeAspect="1" noMove="1" noResize="1" noEditPoints="1" noAdjustHandles="1" noChangeArrowheads="1" noChangeShapeType="1" noTextEdit="1"/>
          </p:cNvSpPr>
          <p:nvPr/>
        </p:nvSpPr>
        <p:spPr>
          <a:xfrm>
            <a:off x="395536" y="116632"/>
            <a:ext cx="8254388" cy="7172348"/>
          </a:xfrm>
          <a:prstGeom prst="rect">
            <a:avLst/>
          </a:prstGeom>
          <a:blipFill>
            <a:blip r:embed="rId2"/>
            <a:stretch>
              <a:fillRect l="-1182" t="-680" r="-1108" b="-935"/>
            </a:stretch>
          </a:blipFill>
        </p:spPr>
        <p:txBody>
          <a:bodyPr/>
          <a:lstStyle/>
          <a:p>
            <a:pPr>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charRg st="2" end="2"/>
                                            </p:txEl>
                                          </p:spTgt>
                                        </p:tgtEl>
                                        <p:attrNameLst>
                                          <p:attrName>style.visibility</p:attrName>
                                        </p:attrNameLst>
                                      </p:cBhvr>
                                      <p:to>
                                        <p:strVal val="visible"/>
                                      </p:to>
                                    </p:set>
                                    <p:anim calcmode="lin" valueType="num">
                                      <p:cBhvr additive="base">
                                        <p:cTn id="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char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charRg st="2" end="2"/>
                                            </p:txEl>
                                          </p:spTgt>
                                        </p:tgtEl>
                                        <p:attrNameLst>
                                          <p:attrName>style.visibility</p:attrName>
                                        </p:attrNameLst>
                                      </p:cBhvr>
                                      <p:to>
                                        <p:strVal val="visible"/>
                                      </p:to>
                                    </p:set>
                                    <p:anim calcmode="lin" valueType="num">
                                      <p:cBhvr additive="base">
                                        <p:cTn id="11"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xEl>
                                              <p:charRg st="2" end="2"/>
                                            </p:txEl>
                                          </p:spTgt>
                                        </p:tgtEl>
                                        <p:attrNameLst>
                                          <p:attrName>style.visibility</p:attrName>
                                        </p:attrNameLst>
                                      </p:cBhvr>
                                      <p:to>
                                        <p:strVal val="visible"/>
                                      </p:to>
                                    </p:set>
                                    <p:anim calcmode="lin" valueType="num">
                                      <p:cBhvr additive="base">
                                        <p:cTn id="1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char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
                                            <p:txEl>
                                              <p:charRg st="2" end="2"/>
                                            </p:txEl>
                                          </p:spTgt>
                                        </p:tgtEl>
                                        <p:attrNameLst>
                                          <p:attrName>style.visibility</p:attrName>
                                        </p:attrNameLst>
                                      </p:cBhvr>
                                      <p:to>
                                        <p:strVal val="visible"/>
                                      </p:to>
                                    </p:set>
                                    <p:anim calcmode="lin" valueType="num">
                                      <p:cBhvr additive="base">
                                        <p:cTn id="21"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charRg st="2" end="2"/>
                                            </p:txEl>
                                          </p:spTgt>
                                        </p:tgtEl>
                                        <p:attrNameLst>
                                          <p:attrName>style.visibility</p:attrName>
                                        </p:attrNameLst>
                                      </p:cBhvr>
                                      <p:to>
                                        <p:strVal val="visible"/>
                                      </p:to>
                                    </p:set>
                                    <p:anim calcmode="lin" valueType="num">
                                      <p:cBhvr additive="base">
                                        <p:cTn id="27"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charRg st="2" end="2"/>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
                                            <p:txEl>
                                              <p:charRg st="2" end="2"/>
                                            </p:txEl>
                                          </p:spTgt>
                                        </p:tgtEl>
                                        <p:attrNameLst>
                                          <p:attrName>style.visibility</p:attrName>
                                        </p:attrNameLst>
                                      </p:cBhvr>
                                      <p:to>
                                        <p:strVal val="visible"/>
                                      </p:to>
                                    </p:set>
                                    <p:anim calcmode="lin" valueType="num">
                                      <p:cBhvr additive="base">
                                        <p:cTn id="31" dur="500" fill="hold"/>
                                        <p:tgtEl>
                                          <p:spTgt spid="5">
                                            <p:txEl>
                                              <p:char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char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5">
                                            <p:txEl>
                                              <p:charRg st="2" end="2"/>
                                            </p:txEl>
                                          </p:spTgt>
                                        </p:tgtEl>
                                        <p:attrNameLst>
                                          <p:attrName>style.visibility</p:attrName>
                                        </p:attrNameLst>
                                      </p:cBhvr>
                                      <p:to>
                                        <p:strVal val="visible"/>
                                      </p:to>
                                    </p:set>
                                    <p:animEffect transition="in" filter="fade">
                                      <p:cBhvr>
                                        <p:cTn id="37" dur="1000"/>
                                        <p:tgtEl>
                                          <p:spTgt spid="5">
                                            <p:txEl>
                                              <p:charRg st="2" end="2"/>
                                            </p:txEl>
                                          </p:spTgt>
                                        </p:tgtEl>
                                      </p:cBhvr>
                                    </p:animEffect>
                                    <p:anim calcmode="lin" valueType="num">
                                      <p:cBhvr>
                                        <p:cTn id="38" dur="1000" fill="hold"/>
                                        <p:tgtEl>
                                          <p:spTgt spid="5">
                                            <p:txEl>
                                              <p:charRg st="2" end="2"/>
                                            </p:txEl>
                                          </p:spTgt>
                                        </p:tgtEl>
                                        <p:attrNameLst>
                                          <p:attrName>ppt_x</p:attrName>
                                        </p:attrNameLst>
                                      </p:cBhvr>
                                      <p:tavLst>
                                        <p:tav tm="0">
                                          <p:val>
                                            <p:strVal val="#ppt_x"/>
                                          </p:val>
                                        </p:tav>
                                        <p:tav tm="100000">
                                          <p:val>
                                            <p:strVal val="#ppt_x"/>
                                          </p:val>
                                        </p:tav>
                                      </p:tavLst>
                                    </p:anim>
                                    <p:anim calcmode="lin" valueType="num">
                                      <p:cBhvr>
                                        <p:cTn id="39" dur="1000" fill="hold"/>
                                        <p:tgtEl>
                                          <p:spTgt spid="5">
                                            <p:txEl>
                                              <p:char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D8E73A1-1FAA-46AF-8DB0-FB6EA9414884}"/>
              </a:ext>
            </a:extLst>
          </p:cNvPr>
          <p:cNvSpPr txBox="1">
            <a:spLocks noRot="1" noChangeAspect="1" noMove="1" noResize="1" noEditPoints="1" noAdjustHandles="1" noChangeArrowheads="1" noChangeShapeType="1" noTextEdit="1"/>
          </p:cNvSpPr>
          <p:nvPr/>
        </p:nvSpPr>
        <p:spPr>
          <a:xfrm>
            <a:off x="395536" y="260648"/>
            <a:ext cx="8496944" cy="6790898"/>
          </a:xfrm>
          <a:prstGeom prst="rect">
            <a:avLst/>
          </a:prstGeom>
          <a:blipFill>
            <a:blip r:embed="rId3"/>
            <a:stretch>
              <a:fillRect l="-1148" r="-1076"/>
            </a:stretch>
          </a:blipFill>
        </p:spPr>
        <p:txBody>
          <a:bodyPr/>
          <a:lstStyle/>
          <a:p>
            <a:pPr>
              <a:defRPr/>
            </a:pPr>
            <a:r>
              <a:rPr lang="zh-CN" altLang="en-US">
                <a:noFill/>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charRg st="2" end="2"/>
                                            </p:txEl>
                                          </p:spTgt>
                                        </p:tgtEl>
                                        <p:attrNameLst>
                                          <p:attrName>style.visibility</p:attrName>
                                        </p:attrNameLst>
                                      </p:cBhvr>
                                      <p:to>
                                        <p:strVal val="visible"/>
                                      </p:to>
                                    </p:set>
                                    <p:anim calcmode="lin" valueType="num">
                                      <p:cBhvr additive="base">
                                        <p:cTn id="7"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char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charRg st="2" end="2"/>
                                            </p:txEl>
                                          </p:spTgt>
                                        </p:tgtEl>
                                        <p:attrNameLst>
                                          <p:attrName>style.visibility</p:attrName>
                                        </p:attrNameLst>
                                      </p:cBhvr>
                                      <p:to>
                                        <p:strVal val="visible"/>
                                      </p:to>
                                    </p:set>
                                    <p:anim calcmode="lin" valueType="num">
                                      <p:cBhvr additive="base">
                                        <p:cTn id="11"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char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
                                            <p:txEl>
                                              <p:charRg st="2" end="2"/>
                                            </p:txEl>
                                          </p:spTgt>
                                        </p:tgtEl>
                                        <p:attrNameLst>
                                          <p:attrName>style.visibility</p:attrName>
                                        </p:attrNameLst>
                                      </p:cBhvr>
                                      <p:to>
                                        <p:strVal val="visible"/>
                                      </p:to>
                                    </p:set>
                                    <p:anim calcmode="lin" valueType="num">
                                      <p:cBhvr additive="base">
                                        <p:cTn id="15"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
                                            <p:txEl>
                                              <p:char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
                                            <p:txEl>
                                              <p:charRg st="2" end="2"/>
                                            </p:txEl>
                                          </p:spTgt>
                                        </p:tgtEl>
                                        <p:attrNameLst>
                                          <p:attrName>style.visibility</p:attrName>
                                        </p:attrNameLst>
                                      </p:cBhvr>
                                      <p:to>
                                        <p:strVal val="visible"/>
                                      </p:to>
                                    </p:set>
                                    <p:anim calcmode="lin" valueType="num">
                                      <p:cBhvr additive="base">
                                        <p:cTn id="19" dur="500" fill="hold"/>
                                        <p:tgtEl>
                                          <p:spTgt spid="4">
                                            <p:txEl>
                                              <p:char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char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7E401FA7-2904-4E9D-8DA1-B6E8688FED5D}"/>
              </a:ext>
            </a:extLst>
          </p:cNvPr>
          <p:cNvSpPr>
            <a:spLocks noGrp="1" noRot="1" noChangeAspect="1" noMove="1" noResize="1" noEditPoints="1" noAdjustHandles="1" noChangeArrowheads="1" noChangeShapeType="1" noTextEdit="1"/>
          </p:cNvSpPr>
          <p:nvPr>
            <p:ph idx="1"/>
          </p:nvPr>
        </p:nvSpPr>
        <p:spPr>
          <a:xfrm>
            <a:off x="663043" y="620688"/>
            <a:ext cx="7886700" cy="5400600"/>
          </a:xfrm>
          <a:blipFill>
            <a:blip r:embed="rId2"/>
            <a:stretch>
              <a:fillRect l="-1236" r="-1159"/>
            </a:stretch>
          </a:blipFill>
          <a:extLst/>
        </p:spPr>
        <p:txBody>
          <a:bodyPr/>
          <a:lstStyle/>
          <a:p>
            <a:pPr>
              <a:defRPr/>
            </a:pPr>
            <a:r>
              <a:rPr lang="zh-CN" altLang="en-US">
                <a:noFill/>
              </a:rPr>
              <a:t> </a:t>
            </a:r>
          </a:p>
        </p:txBody>
      </p:sp>
      <p:sp>
        <p:nvSpPr>
          <p:cNvPr id="4" name="灯片编号占位符 3">
            <a:extLst>
              <a:ext uri="{FF2B5EF4-FFF2-40B4-BE49-F238E27FC236}">
                <a16:creationId xmlns:a16="http://schemas.microsoft.com/office/drawing/2014/main" id="{98EAD141-A295-4144-8D2E-4BF6B1150D5D}"/>
              </a:ext>
            </a:extLst>
          </p:cNvPr>
          <p:cNvSpPr>
            <a:spLocks noGrp="1"/>
          </p:cNvSpPr>
          <p:nvPr>
            <p:ph type="sldNum" sz="quarter" idx="12"/>
          </p:nvPr>
        </p:nvSpPr>
        <p:spPr/>
        <p:txBody>
          <a:bodyPr/>
          <a:lstStyle/>
          <a:p>
            <a:pPr>
              <a:defRPr/>
            </a:pPr>
            <a:fld id="{5944AB09-9172-49BA-AE95-F54736D9FE45}" type="slidenum">
              <a:rPr lang="zh-CN" altLang="en-US" smtClean="0"/>
              <a:pPr>
                <a:defRPr/>
              </a:pPr>
              <a:t>89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charRg st="2" end="2"/>
                                            </p:txEl>
                                          </p:spTgt>
                                        </p:tgtEl>
                                        <p:attrNameLst>
                                          <p:attrName>style.visibility</p:attrName>
                                        </p:attrNameLst>
                                      </p:cBhvr>
                                      <p:to>
                                        <p:strVal val="visible"/>
                                      </p:to>
                                    </p:set>
                                    <p:anim calcmode="lin" valueType="num">
                                      <p:cBhvr additive="base">
                                        <p:cTn id="13" dur="500" fill="hold"/>
                                        <p:tgtEl>
                                          <p:spTgt spid="3">
                                            <p:txEl>
                                              <p:char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char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0180FCAA-CE76-4EAB-9F84-54536CB7A54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2800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E086E274-FA94-46DF-B199-B842F62756E3}"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90</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28004" name="Text Box 2"/>
          <p:cNvSpPr txBox="1">
            <a:spLocks noChangeArrowheads="1"/>
          </p:cNvSpPr>
          <p:nvPr/>
        </p:nvSpPr>
        <p:spPr bwMode="auto">
          <a:xfrm>
            <a:off x="179388" y="333375"/>
            <a:ext cx="79216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§4.5</a:t>
            </a:r>
            <a:r>
              <a:rPr lang="zh-CN" altLang="en-US" sz="2400" b="1">
                <a:latin typeface="Arial" panose="020B0604020202020204" pitchFamily="34" charset="0"/>
                <a:ea typeface="楷体" panose="02010609060101010101" pitchFamily="49" charset="-122"/>
                <a:cs typeface="Arial" panose="020B0604020202020204" pitchFamily="34" charset="0"/>
              </a:rPr>
              <a:t> 共聚物微结构和链段分布</a:t>
            </a:r>
            <a:r>
              <a:rPr lang="en-US" altLang="zh-CN" sz="2400">
                <a:latin typeface="Arial" panose="020B0604020202020204" pitchFamily="34" charset="0"/>
                <a:ea typeface="楷体" panose="02010609060101010101" pitchFamily="49" charset="-122"/>
                <a:cs typeface="Arial" panose="020B0604020202020204" pitchFamily="34" charset="0"/>
              </a:rPr>
              <a:t>(Microstructure and</a:t>
            </a:r>
          </a:p>
          <a:p>
            <a:pPr algn="just">
              <a:lnSpc>
                <a:spcPct val="100000"/>
              </a:lnSpc>
              <a:spcBef>
                <a:spcPct val="0"/>
              </a:spcBef>
              <a:buFontTx/>
              <a:buNone/>
            </a:pPr>
            <a:r>
              <a:rPr lang="en-US" altLang="zh-CN" sz="2400">
                <a:latin typeface="Arial" panose="020B0604020202020204" pitchFamily="34" charset="0"/>
                <a:ea typeface="楷体" panose="02010609060101010101" pitchFamily="49" charset="-122"/>
                <a:cs typeface="Arial" panose="020B0604020202020204" pitchFamily="34" charset="0"/>
              </a:rPr>
              <a:t>          sequence-length distribution of copolymer)</a:t>
            </a:r>
          </a:p>
        </p:txBody>
      </p:sp>
      <p:sp>
        <p:nvSpPr>
          <p:cNvPr id="128005" name="Text Box 3"/>
          <p:cNvSpPr txBox="1">
            <a:spLocks noChangeArrowheads="1"/>
          </p:cNvSpPr>
          <p:nvPr/>
        </p:nvSpPr>
        <p:spPr bwMode="auto">
          <a:xfrm>
            <a:off x="915988" y="1420813"/>
            <a:ext cx="6608762"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链段分布</a:t>
            </a:r>
            <a:r>
              <a:rPr lang="zh-CN" altLang="en-US" sz="24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400" b="1">
                <a:latin typeface="Arial" panose="020B0604020202020204" pitchFamily="34" charset="0"/>
                <a:ea typeface="楷体" panose="02010609060101010101" pitchFamily="49" charset="-122"/>
                <a:cs typeface="Arial" panose="020B0604020202020204" pitchFamily="34" charset="0"/>
              </a:rPr>
              <a:t>序列分布</a:t>
            </a:r>
          </a:p>
          <a:p>
            <a:pPr algn="just">
              <a:lnSpc>
                <a:spcPct val="120000"/>
              </a:lnSpc>
              <a:spcBef>
                <a:spcPct val="0"/>
              </a:spcBef>
              <a:buFontTx/>
              <a:buNone/>
            </a:pPr>
            <a:endParaRPr lang="zh-CN" altLang="en-US" sz="2400">
              <a:latin typeface="Arial" panose="020B0604020202020204" pitchFamily="34" charset="0"/>
              <a:ea typeface="楷体" panose="02010609060101010101" pitchFamily="49" charset="-122"/>
              <a:cs typeface="Arial" panose="020B0604020202020204" pitchFamily="34" charset="0"/>
            </a:endParaRP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序列 </a:t>
            </a:r>
            <a:r>
              <a:rPr lang="zh-CN" altLang="en-US" sz="24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400">
                <a:latin typeface="Arial" panose="020B0604020202020204" pitchFamily="34" charset="0"/>
                <a:ea typeface="楷体" panose="02010609060101010101" pitchFamily="49" charset="-122"/>
                <a:cs typeface="Arial" panose="020B0604020202020204" pitchFamily="34" charset="0"/>
              </a:rPr>
              <a:t> 相同单体单元顺序连接形成的链段；</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序列长度 </a:t>
            </a:r>
            <a:r>
              <a:rPr lang="zh-CN" altLang="en-US" sz="24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400">
                <a:latin typeface="Arial" panose="020B0604020202020204" pitchFamily="34" charset="0"/>
                <a:ea typeface="楷体" panose="02010609060101010101" pitchFamily="49" charset="-122"/>
                <a:cs typeface="Arial" panose="020B0604020202020204" pitchFamily="34" charset="0"/>
              </a:rPr>
              <a:t> 构成序列的单体单元数</a:t>
            </a:r>
            <a:r>
              <a:rPr lang="en-US" altLang="zh-CN" sz="2400">
                <a:latin typeface="Arial" panose="020B0604020202020204" pitchFamily="34" charset="0"/>
                <a:ea typeface="楷体" panose="02010609060101010101" pitchFamily="49" charset="-122"/>
                <a:cs typeface="Arial" panose="020B0604020202020204" pitchFamily="34" charset="0"/>
              </a:rPr>
              <a:t>(n)；</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只含有1个</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的链段称</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序列，长度 </a:t>
            </a:r>
            <a:r>
              <a:rPr lang="en-US" altLang="zh-CN" sz="2400">
                <a:latin typeface="Arial" panose="020B0604020202020204" pitchFamily="34" charset="0"/>
                <a:ea typeface="楷体" panose="02010609060101010101" pitchFamily="49" charset="-122"/>
                <a:cs typeface="Arial" panose="020B0604020202020204" pitchFamily="34" charset="0"/>
              </a:rPr>
              <a:t>n = 1；</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只含有2个</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的链段称 2 </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序列，</a:t>
            </a:r>
            <a:r>
              <a:rPr lang="en-US" altLang="zh-CN" sz="2400">
                <a:latin typeface="Arial" panose="020B0604020202020204" pitchFamily="34" charset="0"/>
                <a:ea typeface="楷体" panose="02010609060101010101" pitchFamily="49" charset="-122"/>
                <a:cs typeface="Arial" panose="020B0604020202020204" pitchFamily="34" charset="0"/>
              </a:rPr>
              <a:t>n = 2；</a:t>
            </a:r>
          </a:p>
          <a:p>
            <a:pPr algn="just">
              <a:lnSpc>
                <a:spcPct val="140000"/>
              </a:lnSpc>
              <a:spcBef>
                <a:spcPct val="0"/>
              </a:spcBef>
              <a:buFontTx/>
              <a:buNone/>
            </a:pPr>
            <a:r>
              <a:rPr lang="zh-CN" altLang="en-US" sz="2400">
                <a:latin typeface="Arial" panose="020B0604020202020204" pitchFamily="34" charset="0"/>
                <a:ea typeface="楷体" panose="02010609060101010101" pitchFamily="49" charset="-122"/>
                <a:cs typeface="Arial" panose="020B0604020202020204" pitchFamily="34" charset="0"/>
              </a:rPr>
              <a:t>含有</a:t>
            </a:r>
            <a:r>
              <a:rPr lang="en-US" altLang="zh-CN" sz="2400">
                <a:latin typeface="Arial" panose="020B0604020202020204" pitchFamily="34" charset="0"/>
                <a:ea typeface="楷体" panose="02010609060101010101" pitchFamily="49" charset="-122"/>
                <a:cs typeface="Arial" panose="020B0604020202020204" pitchFamily="34" charset="0"/>
              </a:rPr>
              <a:t>n</a:t>
            </a:r>
            <a:r>
              <a:rPr lang="zh-CN" altLang="en-US" sz="2400">
                <a:latin typeface="Arial" panose="020B0604020202020204" pitchFamily="34" charset="0"/>
                <a:ea typeface="楷体" panose="02010609060101010101" pitchFamily="49" charset="-122"/>
                <a:cs typeface="Arial" panose="020B0604020202020204" pitchFamily="34" charset="0"/>
              </a:rPr>
              <a:t>个</a:t>
            </a:r>
            <a:r>
              <a:rPr lang="en-US" altLang="zh-CN" sz="2400">
                <a:latin typeface="Arial" panose="020B0604020202020204" pitchFamily="34" charset="0"/>
                <a:ea typeface="楷体" panose="02010609060101010101" pitchFamily="49" charset="-122"/>
                <a:cs typeface="Arial" panose="020B0604020202020204" pitchFamily="34" charset="0"/>
              </a:rPr>
              <a:t>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的链段称 </a:t>
            </a:r>
            <a:r>
              <a:rPr lang="en-US" altLang="zh-CN" sz="2400">
                <a:latin typeface="Arial" panose="020B0604020202020204" pitchFamily="34" charset="0"/>
                <a:ea typeface="楷体" panose="02010609060101010101" pitchFamily="49" charset="-122"/>
                <a:cs typeface="Arial" panose="020B0604020202020204" pitchFamily="34" charset="0"/>
              </a:rPr>
              <a:t>n M</a:t>
            </a:r>
            <a:r>
              <a:rPr lang="en-US" altLang="zh-CN" sz="2400" baseline="-25000">
                <a:latin typeface="Arial" panose="020B0604020202020204" pitchFamily="34" charset="0"/>
                <a:ea typeface="楷体" panose="02010609060101010101" pitchFamily="49" charset="-122"/>
                <a:cs typeface="Arial" panose="020B0604020202020204" pitchFamily="34" charset="0"/>
              </a:rPr>
              <a:t>1</a:t>
            </a:r>
            <a:r>
              <a:rPr lang="zh-CN" altLang="en-US" sz="2400">
                <a:latin typeface="Arial" panose="020B0604020202020204" pitchFamily="34" charset="0"/>
                <a:ea typeface="楷体" panose="02010609060101010101" pitchFamily="49" charset="-122"/>
                <a:cs typeface="Arial" panose="020B0604020202020204" pitchFamily="34" charset="0"/>
              </a:rPr>
              <a:t>序列，长度为 </a:t>
            </a:r>
            <a:r>
              <a:rPr lang="en-US" altLang="zh-CN" sz="2400">
                <a:latin typeface="Arial" panose="020B0604020202020204" pitchFamily="34" charset="0"/>
                <a:ea typeface="楷体" panose="02010609060101010101" pitchFamily="49" charset="-122"/>
                <a:cs typeface="Arial" panose="020B0604020202020204" pitchFamily="34" charset="0"/>
              </a:rPr>
              <a:t>n；</a:t>
            </a:r>
            <a:endParaRPr lang="zh-CN" altLang="en-US" sz="2400">
              <a:latin typeface="Arial" panose="020B0604020202020204" pitchFamily="34" charset="0"/>
              <a:ea typeface="楷体" panose="02010609060101010101" pitchFamily="49" charset="-122"/>
              <a:cs typeface="Arial" panose="020B0604020202020204" pitchFamily="34" charset="0"/>
            </a:endParaRPr>
          </a:p>
        </p:txBody>
      </p:sp>
      <p:sp>
        <p:nvSpPr>
          <p:cNvPr id="128006" name="Text Box 5"/>
          <p:cNvSpPr txBox="1">
            <a:spLocks noChangeArrowheads="1"/>
          </p:cNvSpPr>
          <p:nvPr/>
        </p:nvSpPr>
        <p:spPr bwMode="auto">
          <a:xfrm>
            <a:off x="908050" y="5173663"/>
            <a:ext cx="7767638"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0"/>
              </a:spcBef>
              <a:buFontTx/>
              <a:buNone/>
            </a:pPr>
            <a:r>
              <a:rPr lang="zh-CN" altLang="en-US" sz="2400" b="1">
                <a:solidFill>
                  <a:srgbClr val="FF0000"/>
                </a:solidFill>
                <a:latin typeface="楷体" panose="02010609060101010101" pitchFamily="49" charset="-122"/>
                <a:ea typeface="楷体" panose="02010609060101010101" pitchFamily="49" charset="-122"/>
              </a:rPr>
              <a:t>共聚物的序列分布</a:t>
            </a:r>
            <a:r>
              <a:rPr lang="zh-CN" altLang="en-US" sz="2400">
                <a:latin typeface="楷体" panose="02010609060101010101" pitchFamily="49" charset="-122"/>
                <a:ea typeface="楷体" panose="02010609060101010101" pitchFamily="49" charset="-122"/>
              </a:rPr>
              <a:t>：</a:t>
            </a:r>
          </a:p>
          <a:p>
            <a:pPr algn="just">
              <a:lnSpc>
                <a:spcPct val="120000"/>
              </a:lnSpc>
              <a:spcBef>
                <a:spcPct val="0"/>
              </a:spcBef>
              <a:buFontTx/>
              <a:buNone/>
            </a:pPr>
            <a:r>
              <a:rPr lang="zh-CN" altLang="en-US" sz="2400">
                <a:latin typeface="楷体" panose="02010609060101010101" pitchFamily="49" charset="-122"/>
                <a:ea typeface="楷体" panose="02010609060101010101" pitchFamily="49" charset="-122"/>
              </a:rPr>
              <a:t>各种不同长度的单体序列在共聚物链中所占的相对比例</a:t>
            </a:r>
            <a:r>
              <a:rPr lang="zh-CN" altLang="en-US" sz="1800">
                <a:latin typeface="Century Schoolbook" panose="02040604050505020304" pitchFamily="18" charset="0"/>
                <a:ea typeface="宋体" panose="02010600030101010101" pitchFamily="2" charset="-122"/>
              </a:rPr>
              <a:t>。</a:t>
            </a:r>
            <a:endParaRPr lang="zh-CN" altLang="en-US" sz="2400">
              <a:latin typeface="楷体" panose="02010609060101010101" pitchFamily="49" charset="-122"/>
              <a:ea typeface="楷体" panose="02010609060101010101" pitchFamily="49" charset="-122"/>
              <a:sym typeface="Symbol" panose="05050102010706020507" pitchFamily="18" charset="2"/>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descr="Large confetti"/>
          <p:cNvSpPr>
            <a:spLocks noGrp="1"/>
          </p:cNvSpPr>
          <p:nvPr>
            <p:ph type="title"/>
          </p:nvPr>
        </p:nvSpPr>
        <p:spPr>
          <a:xfrm>
            <a:off x="933450" y="333375"/>
            <a:ext cx="7705725" cy="633413"/>
          </a:xfrm>
        </p:spPr>
        <p:txBody>
          <a:bodyPr/>
          <a:lstStyle/>
          <a:p>
            <a:pPr eaLnBrk="1" hangingPunct="1"/>
            <a:r>
              <a:rPr lang="zh-CN" altLang="en-US" sz="2400" b="1">
                <a:latin typeface="楷体" panose="02010609060101010101" pitchFamily="49" charset="-122"/>
                <a:ea typeface="楷体" panose="02010609060101010101" pitchFamily="49" charset="-122"/>
              </a:rPr>
              <a:t>传统自由基共聚中聚合物链的序列及其长度：</a:t>
            </a:r>
          </a:p>
        </p:txBody>
      </p:sp>
      <p:sp>
        <p:nvSpPr>
          <p:cNvPr id="12902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0365E47-0CB1-48FF-B3A5-A1A0B541900B}"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91</a:t>
            </a:fld>
            <a:endParaRPr lang="en-US" altLang="zh-CN" sz="1400">
              <a:latin typeface="Times New Roman" panose="02020603050405020304" pitchFamily="18" charset="0"/>
              <a:ea typeface="宋体" panose="02010600030101010101" pitchFamily="2" charset="-122"/>
            </a:endParaRPr>
          </a:p>
        </p:txBody>
      </p:sp>
      <p:grpSp>
        <p:nvGrpSpPr>
          <p:cNvPr id="129028" name="Group 3"/>
          <p:cNvGrpSpPr>
            <a:grpSpLocks/>
          </p:cNvGrpSpPr>
          <p:nvPr/>
        </p:nvGrpSpPr>
        <p:grpSpPr bwMode="auto">
          <a:xfrm>
            <a:off x="989013" y="981075"/>
            <a:ext cx="6858000" cy="838200"/>
            <a:chOff x="672" y="1056"/>
            <a:chExt cx="4320" cy="528"/>
          </a:xfrm>
        </p:grpSpPr>
        <p:sp>
          <p:nvSpPr>
            <p:cNvPr id="129585" name="Line 4"/>
            <p:cNvSpPr>
              <a:spLocks noChangeShapeType="1"/>
            </p:cNvSpPr>
            <p:nvPr/>
          </p:nvSpPr>
          <p:spPr bwMode="auto">
            <a:xfrm>
              <a:off x="4992" y="124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9586" name="Group 5"/>
            <p:cNvGrpSpPr>
              <a:grpSpLocks/>
            </p:cNvGrpSpPr>
            <p:nvPr/>
          </p:nvGrpSpPr>
          <p:grpSpPr bwMode="auto">
            <a:xfrm>
              <a:off x="672" y="1056"/>
              <a:ext cx="4320" cy="528"/>
              <a:chOff x="672" y="1056"/>
              <a:chExt cx="4320" cy="528"/>
            </a:xfrm>
          </p:grpSpPr>
          <p:sp>
            <p:nvSpPr>
              <p:cNvPr id="129587" name="Line 6"/>
              <p:cNvSpPr>
                <a:spLocks noChangeShapeType="1"/>
              </p:cNvSpPr>
              <p:nvPr/>
            </p:nvSpPr>
            <p:spPr bwMode="auto">
              <a:xfrm>
                <a:off x="672" y="148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9588" name="Group 7"/>
              <p:cNvGrpSpPr>
                <a:grpSpLocks/>
              </p:cNvGrpSpPr>
              <p:nvPr/>
            </p:nvGrpSpPr>
            <p:grpSpPr bwMode="auto">
              <a:xfrm>
                <a:off x="768" y="1056"/>
                <a:ext cx="4224" cy="528"/>
                <a:chOff x="768" y="1056"/>
                <a:chExt cx="4224" cy="528"/>
              </a:xfrm>
            </p:grpSpPr>
            <p:grpSp>
              <p:nvGrpSpPr>
                <p:cNvPr id="129589" name="Group 8"/>
                <p:cNvGrpSpPr>
                  <a:grpSpLocks/>
                </p:cNvGrpSpPr>
                <p:nvPr/>
              </p:nvGrpSpPr>
              <p:grpSpPr bwMode="auto">
                <a:xfrm>
                  <a:off x="912" y="1488"/>
                  <a:ext cx="4013" cy="77"/>
                  <a:chOff x="912" y="1008"/>
                  <a:chExt cx="4013" cy="77"/>
                </a:xfrm>
              </p:grpSpPr>
              <p:sp>
                <p:nvSpPr>
                  <p:cNvPr id="129594" name="Oval 9"/>
                  <p:cNvSpPr>
                    <a:spLocks noChangeArrowheads="1"/>
                  </p:cNvSpPr>
                  <p:nvPr/>
                </p:nvSpPr>
                <p:spPr bwMode="auto">
                  <a:xfrm>
                    <a:off x="91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95" name="Oval 10"/>
                  <p:cNvSpPr>
                    <a:spLocks noChangeArrowheads="1"/>
                  </p:cNvSpPr>
                  <p:nvPr/>
                </p:nvSpPr>
                <p:spPr bwMode="auto">
                  <a:xfrm>
                    <a:off x="98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96" name="Oval 11"/>
                  <p:cNvSpPr>
                    <a:spLocks noChangeArrowheads="1"/>
                  </p:cNvSpPr>
                  <p:nvPr/>
                </p:nvSpPr>
                <p:spPr bwMode="auto">
                  <a:xfrm>
                    <a:off x="105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97" name="Oval 12"/>
                  <p:cNvSpPr>
                    <a:spLocks noChangeArrowheads="1"/>
                  </p:cNvSpPr>
                  <p:nvPr/>
                </p:nvSpPr>
                <p:spPr bwMode="auto">
                  <a:xfrm>
                    <a:off x="112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98" name="Oval 13"/>
                  <p:cNvSpPr>
                    <a:spLocks noChangeArrowheads="1"/>
                  </p:cNvSpPr>
                  <p:nvPr/>
                </p:nvSpPr>
                <p:spPr bwMode="auto">
                  <a:xfrm>
                    <a:off x="1200"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99" name="Oval 14"/>
                  <p:cNvSpPr>
                    <a:spLocks noChangeArrowheads="1"/>
                  </p:cNvSpPr>
                  <p:nvPr/>
                </p:nvSpPr>
                <p:spPr bwMode="auto">
                  <a:xfrm>
                    <a:off x="127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0" name="Oval 15"/>
                  <p:cNvSpPr>
                    <a:spLocks noChangeArrowheads="1"/>
                  </p:cNvSpPr>
                  <p:nvPr/>
                </p:nvSpPr>
                <p:spPr bwMode="auto">
                  <a:xfrm>
                    <a:off x="134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1" name="Oval 16"/>
                  <p:cNvSpPr>
                    <a:spLocks noChangeArrowheads="1"/>
                  </p:cNvSpPr>
                  <p:nvPr/>
                </p:nvSpPr>
                <p:spPr bwMode="auto">
                  <a:xfrm>
                    <a:off x="141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2" name="Oval 17"/>
                  <p:cNvSpPr>
                    <a:spLocks noChangeArrowheads="1"/>
                  </p:cNvSpPr>
                  <p:nvPr/>
                </p:nvSpPr>
                <p:spPr bwMode="auto">
                  <a:xfrm>
                    <a:off x="148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3" name="Oval 18"/>
                  <p:cNvSpPr>
                    <a:spLocks noChangeArrowheads="1"/>
                  </p:cNvSpPr>
                  <p:nvPr/>
                </p:nvSpPr>
                <p:spPr bwMode="auto">
                  <a:xfrm>
                    <a:off x="155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4" name="Oval 19"/>
                  <p:cNvSpPr>
                    <a:spLocks noChangeArrowheads="1"/>
                  </p:cNvSpPr>
                  <p:nvPr/>
                </p:nvSpPr>
                <p:spPr bwMode="auto">
                  <a:xfrm>
                    <a:off x="163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5" name="Oval 20"/>
                  <p:cNvSpPr>
                    <a:spLocks noChangeArrowheads="1"/>
                  </p:cNvSpPr>
                  <p:nvPr/>
                </p:nvSpPr>
                <p:spPr bwMode="auto">
                  <a:xfrm>
                    <a:off x="170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6" name="Oval 21"/>
                  <p:cNvSpPr>
                    <a:spLocks noChangeArrowheads="1"/>
                  </p:cNvSpPr>
                  <p:nvPr/>
                </p:nvSpPr>
                <p:spPr bwMode="auto">
                  <a:xfrm>
                    <a:off x="177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7" name="Oval 22"/>
                  <p:cNvSpPr>
                    <a:spLocks noChangeArrowheads="1"/>
                  </p:cNvSpPr>
                  <p:nvPr/>
                </p:nvSpPr>
                <p:spPr bwMode="auto">
                  <a:xfrm>
                    <a:off x="1846"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8" name="Oval 23"/>
                  <p:cNvSpPr>
                    <a:spLocks noChangeArrowheads="1"/>
                  </p:cNvSpPr>
                  <p:nvPr/>
                </p:nvSpPr>
                <p:spPr bwMode="auto">
                  <a:xfrm>
                    <a:off x="192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09" name="Oval 24"/>
                  <p:cNvSpPr>
                    <a:spLocks noChangeArrowheads="1"/>
                  </p:cNvSpPr>
                  <p:nvPr/>
                </p:nvSpPr>
                <p:spPr bwMode="auto">
                  <a:xfrm>
                    <a:off x="199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0" name="Oval 25"/>
                  <p:cNvSpPr>
                    <a:spLocks noChangeArrowheads="1"/>
                  </p:cNvSpPr>
                  <p:nvPr/>
                </p:nvSpPr>
                <p:spPr bwMode="auto">
                  <a:xfrm>
                    <a:off x="206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1" name="Oval 26"/>
                  <p:cNvSpPr>
                    <a:spLocks noChangeArrowheads="1"/>
                  </p:cNvSpPr>
                  <p:nvPr/>
                </p:nvSpPr>
                <p:spPr bwMode="auto">
                  <a:xfrm>
                    <a:off x="213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2" name="Oval 27"/>
                  <p:cNvSpPr>
                    <a:spLocks noChangeArrowheads="1"/>
                  </p:cNvSpPr>
                  <p:nvPr/>
                </p:nvSpPr>
                <p:spPr bwMode="auto">
                  <a:xfrm>
                    <a:off x="2208"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3" name="Oval 28"/>
                  <p:cNvSpPr>
                    <a:spLocks noChangeArrowheads="1"/>
                  </p:cNvSpPr>
                  <p:nvPr/>
                </p:nvSpPr>
                <p:spPr bwMode="auto">
                  <a:xfrm>
                    <a:off x="227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4" name="Oval 29"/>
                  <p:cNvSpPr>
                    <a:spLocks noChangeArrowheads="1"/>
                  </p:cNvSpPr>
                  <p:nvPr/>
                </p:nvSpPr>
                <p:spPr bwMode="auto">
                  <a:xfrm>
                    <a:off x="235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5" name="Oval 30"/>
                  <p:cNvSpPr>
                    <a:spLocks noChangeArrowheads="1"/>
                  </p:cNvSpPr>
                  <p:nvPr/>
                </p:nvSpPr>
                <p:spPr bwMode="auto">
                  <a:xfrm>
                    <a:off x="242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6" name="Oval 31"/>
                  <p:cNvSpPr>
                    <a:spLocks noChangeArrowheads="1"/>
                  </p:cNvSpPr>
                  <p:nvPr/>
                </p:nvSpPr>
                <p:spPr bwMode="auto">
                  <a:xfrm>
                    <a:off x="249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7" name="Oval 32"/>
                  <p:cNvSpPr>
                    <a:spLocks noChangeArrowheads="1"/>
                  </p:cNvSpPr>
                  <p:nvPr/>
                </p:nvSpPr>
                <p:spPr bwMode="auto">
                  <a:xfrm>
                    <a:off x="256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8" name="Oval 33"/>
                  <p:cNvSpPr>
                    <a:spLocks noChangeArrowheads="1"/>
                  </p:cNvSpPr>
                  <p:nvPr/>
                </p:nvSpPr>
                <p:spPr bwMode="auto">
                  <a:xfrm>
                    <a:off x="2640"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19" name="Oval 34"/>
                  <p:cNvSpPr>
                    <a:spLocks noChangeArrowheads="1"/>
                  </p:cNvSpPr>
                  <p:nvPr/>
                </p:nvSpPr>
                <p:spPr bwMode="auto">
                  <a:xfrm>
                    <a:off x="271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0" name="Oval 35"/>
                  <p:cNvSpPr>
                    <a:spLocks noChangeArrowheads="1"/>
                  </p:cNvSpPr>
                  <p:nvPr/>
                </p:nvSpPr>
                <p:spPr bwMode="auto">
                  <a:xfrm>
                    <a:off x="278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1" name="Oval 36"/>
                  <p:cNvSpPr>
                    <a:spLocks noChangeArrowheads="1"/>
                  </p:cNvSpPr>
                  <p:nvPr/>
                </p:nvSpPr>
                <p:spPr bwMode="auto">
                  <a:xfrm>
                    <a:off x="2854"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2" name="Oval 37"/>
                  <p:cNvSpPr>
                    <a:spLocks noChangeArrowheads="1"/>
                  </p:cNvSpPr>
                  <p:nvPr/>
                </p:nvSpPr>
                <p:spPr bwMode="auto">
                  <a:xfrm>
                    <a:off x="292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3" name="Oval 38"/>
                  <p:cNvSpPr>
                    <a:spLocks noChangeArrowheads="1"/>
                  </p:cNvSpPr>
                  <p:nvPr/>
                </p:nvSpPr>
                <p:spPr bwMode="auto">
                  <a:xfrm>
                    <a:off x="299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4" name="Oval 39"/>
                  <p:cNvSpPr>
                    <a:spLocks noChangeArrowheads="1"/>
                  </p:cNvSpPr>
                  <p:nvPr/>
                </p:nvSpPr>
                <p:spPr bwMode="auto">
                  <a:xfrm>
                    <a:off x="307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5" name="Oval 40"/>
                  <p:cNvSpPr>
                    <a:spLocks noChangeArrowheads="1"/>
                  </p:cNvSpPr>
                  <p:nvPr/>
                </p:nvSpPr>
                <p:spPr bwMode="auto">
                  <a:xfrm>
                    <a:off x="314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6" name="Oval 41"/>
                  <p:cNvSpPr>
                    <a:spLocks noChangeArrowheads="1"/>
                  </p:cNvSpPr>
                  <p:nvPr/>
                </p:nvSpPr>
                <p:spPr bwMode="auto">
                  <a:xfrm>
                    <a:off x="319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7" name="Oval 42"/>
                  <p:cNvSpPr>
                    <a:spLocks noChangeArrowheads="1"/>
                  </p:cNvSpPr>
                  <p:nvPr/>
                </p:nvSpPr>
                <p:spPr bwMode="auto">
                  <a:xfrm>
                    <a:off x="326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8" name="Oval 43"/>
                  <p:cNvSpPr>
                    <a:spLocks noChangeArrowheads="1"/>
                  </p:cNvSpPr>
                  <p:nvPr/>
                </p:nvSpPr>
                <p:spPr bwMode="auto">
                  <a:xfrm>
                    <a:off x="333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29" name="Oval 44"/>
                  <p:cNvSpPr>
                    <a:spLocks noChangeArrowheads="1"/>
                  </p:cNvSpPr>
                  <p:nvPr/>
                </p:nvSpPr>
                <p:spPr bwMode="auto">
                  <a:xfrm>
                    <a:off x="340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0" name="Oval 45"/>
                  <p:cNvSpPr>
                    <a:spLocks noChangeArrowheads="1"/>
                  </p:cNvSpPr>
                  <p:nvPr/>
                </p:nvSpPr>
                <p:spPr bwMode="auto">
                  <a:xfrm>
                    <a:off x="3482"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1" name="Oval 46"/>
                  <p:cNvSpPr>
                    <a:spLocks noChangeArrowheads="1"/>
                  </p:cNvSpPr>
                  <p:nvPr/>
                </p:nvSpPr>
                <p:spPr bwMode="auto">
                  <a:xfrm>
                    <a:off x="3552"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2" name="Oval 47"/>
                  <p:cNvSpPr>
                    <a:spLocks noChangeArrowheads="1"/>
                  </p:cNvSpPr>
                  <p:nvPr/>
                </p:nvSpPr>
                <p:spPr bwMode="auto">
                  <a:xfrm>
                    <a:off x="362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3" name="Oval 48"/>
                  <p:cNvSpPr>
                    <a:spLocks noChangeArrowheads="1"/>
                  </p:cNvSpPr>
                  <p:nvPr/>
                </p:nvSpPr>
                <p:spPr bwMode="auto">
                  <a:xfrm>
                    <a:off x="3696"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4" name="Oval 49"/>
                  <p:cNvSpPr>
                    <a:spLocks noChangeArrowheads="1"/>
                  </p:cNvSpPr>
                  <p:nvPr/>
                </p:nvSpPr>
                <p:spPr bwMode="auto">
                  <a:xfrm>
                    <a:off x="3770"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5" name="Oval 50"/>
                  <p:cNvSpPr>
                    <a:spLocks noChangeArrowheads="1"/>
                  </p:cNvSpPr>
                  <p:nvPr/>
                </p:nvSpPr>
                <p:spPr bwMode="auto">
                  <a:xfrm>
                    <a:off x="384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6" name="Oval 51"/>
                  <p:cNvSpPr>
                    <a:spLocks noChangeArrowheads="1"/>
                  </p:cNvSpPr>
                  <p:nvPr/>
                </p:nvSpPr>
                <p:spPr bwMode="auto">
                  <a:xfrm>
                    <a:off x="391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7" name="Oval 52"/>
                  <p:cNvSpPr>
                    <a:spLocks noChangeArrowheads="1"/>
                  </p:cNvSpPr>
                  <p:nvPr/>
                </p:nvSpPr>
                <p:spPr bwMode="auto">
                  <a:xfrm>
                    <a:off x="3984"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8" name="Oval 53"/>
                  <p:cNvSpPr>
                    <a:spLocks noChangeArrowheads="1"/>
                  </p:cNvSpPr>
                  <p:nvPr/>
                </p:nvSpPr>
                <p:spPr bwMode="auto">
                  <a:xfrm>
                    <a:off x="405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39" name="Oval 54"/>
                  <p:cNvSpPr>
                    <a:spLocks noChangeArrowheads="1"/>
                  </p:cNvSpPr>
                  <p:nvPr/>
                </p:nvSpPr>
                <p:spPr bwMode="auto">
                  <a:xfrm>
                    <a:off x="4128"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0" name="Oval 55"/>
                  <p:cNvSpPr>
                    <a:spLocks noChangeArrowheads="1"/>
                  </p:cNvSpPr>
                  <p:nvPr/>
                </p:nvSpPr>
                <p:spPr bwMode="auto">
                  <a:xfrm>
                    <a:off x="420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1" name="Oval 56"/>
                  <p:cNvSpPr>
                    <a:spLocks noChangeArrowheads="1"/>
                  </p:cNvSpPr>
                  <p:nvPr/>
                </p:nvSpPr>
                <p:spPr bwMode="auto">
                  <a:xfrm>
                    <a:off x="4272"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2" name="Oval 57"/>
                  <p:cNvSpPr>
                    <a:spLocks noChangeArrowheads="1"/>
                  </p:cNvSpPr>
                  <p:nvPr/>
                </p:nvSpPr>
                <p:spPr bwMode="auto">
                  <a:xfrm>
                    <a:off x="4346"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3" name="Oval 58"/>
                  <p:cNvSpPr>
                    <a:spLocks noChangeArrowheads="1"/>
                  </p:cNvSpPr>
                  <p:nvPr/>
                </p:nvSpPr>
                <p:spPr bwMode="auto">
                  <a:xfrm>
                    <a:off x="4416"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4" name="Oval 59"/>
                  <p:cNvSpPr>
                    <a:spLocks noChangeArrowheads="1"/>
                  </p:cNvSpPr>
                  <p:nvPr/>
                </p:nvSpPr>
                <p:spPr bwMode="auto">
                  <a:xfrm>
                    <a:off x="449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5" name="Oval 60"/>
                  <p:cNvSpPr>
                    <a:spLocks noChangeArrowheads="1"/>
                  </p:cNvSpPr>
                  <p:nvPr/>
                </p:nvSpPr>
                <p:spPr bwMode="auto">
                  <a:xfrm>
                    <a:off x="4560" y="100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6" name="Oval 61"/>
                  <p:cNvSpPr>
                    <a:spLocks noChangeArrowheads="1"/>
                  </p:cNvSpPr>
                  <p:nvPr/>
                </p:nvSpPr>
                <p:spPr bwMode="auto">
                  <a:xfrm>
                    <a:off x="463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7" name="Oval 62"/>
                  <p:cNvSpPr>
                    <a:spLocks noChangeArrowheads="1"/>
                  </p:cNvSpPr>
                  <p:nvPr/>
                </p:nvSpPr>
                <p:spPr bwMode="auto">
                  <a:xfrm>
                    <a:off x="4704"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8" name="Oval 63"/>
                  <p:cNvSpPr>
                    <a:spLocks noChangeArrowheads="1"/>
                  </p:cNvSpPr>
                  <p:nvPr/>
                </p:nvSpPr>
                <p:spPr bwMode="auto">
                  <a:xfrm>
                    <a:off x="4778" y="100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649" name="Oval 64"/>
                  <p:cNvSpPr>
                    <a:spLocks noChangeArrowheads="1"/>
                  </p:cNvSpPr>
                  <p:nvPr/>
                </p:nvSpPr>
                <p:spPr bwMode="auto">
                  <a:xfrm>
                    <a:off x="4848" y="100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590" name="Line 65"/>
                <p:cNvSpPr>
                  <a:spLocks noChangeShapeType="1"/>
                </p:cNvSpPr>
                <p:nvPr/>
              </p:nvSpPr>
              <p:spPr bwMode="auto">
                <a:xfrm>
                  <a:off x="912" y="124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9591" name="AutoShape 66"/>
                <p:cNvCxnSpPr>
                  <a:cxnSpLocks noChangeShapeType="1"/>
                </p:cNvCxnSpPr>
                <p:nvPr/>
              </p:nvCxnSpPr>
              <p:spPr bwMode="auto">
                <a:xfrm>
                  <a:off x="912" y="1344"/>
                  <a:ext cx="4080" cy="0"/>
                </a:xfrm>
                <a:prstGeom prst="straightConnector1">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592" name="Text Box 67"/>
                <p:cNvSpPr txBox="1">
                  <a:spLocks noChangeArrowheads="1"/>
                </p:cNvSpPr>
                <p:nvPr/>
              </p:nvSpPr>
              <p:spPr bwMode="auto">
                <a:xfrm>
                  <a:off x="2496" y="1056"/>
                  <a:ext cx="90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宋体" panose="02010600030101010101" pitchFamily="2" charset="-122"/>
                      <a:cs typeface="Arial" panose="020B0604020202020204" pitchFamily="34" charset="0"/>
                    </a:rPr>
                    <a:t>seconds</a:t>
                  </a:r>
                </a:p>
              </p:txBody>
            </p:sp>
            <p:sp>
              <p:nvSpPr>
                <p:cNvPr id="129593" name="Line 68"/>
                <p:cNvSpPr>
                  <a:spLocks noChangeShapeType="1"/>
                </p:cNvSpPr>
                <p:nvPr/>
              </p:nvSpPr>
              <p:spPr bwMode="auto">
                <a:xfrm>
                  <a:off x="768" y="1488"/>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nvGrpSpPr>
          <p:cNvPr id="129029" name="Group 69"/>
          <p:cNvGrpSpPr>
            <a:grpSpLocks/>
          </p:cNvGrpSpPr>
          <p:nvPr/>
        </p:nvGrpSpPr>
        <p:grpSpPr bwMode="auto">
          <a:xfrm>
            <a:off x="1141413" y="1819275"/>
            <a:ext cx="5148262" cy="274638"/>
            <a:chOff x="768" y="1584"/>
            <a:chExt cx="3243" cy="173"/>
          </a:xfrm>
        </p:grpSpPr>
        <p:sp>
          <p:nvSpPr>
            <p:cNvPr id="129541" name="Oval 70"/>
            <p:cNvSpPr>
              <a:spLocks noChangeArrowheads="1"/>
            </p:cNvSpPr>
            <p:nvPr/>
          </p:nvSpPr>
          <p:spPr bwMode="auto">
            <a:xfrm>
              <a:off x="91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2" name="Oval 71"/>
            <p:cNvSpPr>
              <a:spLocks noChangeArrowheads="1"/>
            </p:cNvSpPr>
            <p:nvPr/>
          </p:nvSpPr>
          <p:spPr bwMode="auto">
            <a:xfrm>
              <a:off x="98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3" name="Oval 72"/>
            <p:cNvSpPr>
              <a:spLocks noChangeArrowheads="1"/>
            </p:cNvSpPr>
            <p:nvPr/>
          </p:nvSpPr>
          <p:spPr bwMode="auto">
            <a:xfrm>
              <a:off x="105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4" name="Oval 73"/>
            <p:cNvSpPr>
              <a:spLocks noChangeArrowheads="1"/>
            </p:cNvSpPr>
            <p:nvPr/>
          </p:nvSpPr>
          <p:spPr bwMode="auto">
            <a:xfrm>
              <a:off x="1126"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45" name="Oval 74"/>
            <p:cNvSpPr>
              <a:spLocks noChangeArrowheads="1"/>
            </p:cNvSpPr>
            <p:nvPr/>
          </p:nvSpPr>
          <p:spPr bwMode="auto">
            <a:xfrm>
              <a:off x="120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546" name="Oval 75"/>
            <p:cNvSpPr>
              <a:spLocks noChangeArrowheads="1"/>
            </p:cNvSpPr>
            <p:nvPr/>
          </p:nvSpPr>
          <p:spPr bwMode="auto">
            <a:xfrm>
              <a:off x="127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7" name="Oval 76"/>
            <p:cNvSpPr>
              <a:spLocks noChangeArrowheads="1"/>
            </p:cNvSpPr>
            <p:nvPr/>
          </p:nvSpPr>
          <p:spPr bwMode="auto">
            <a:xfrm>
              <a:off x="134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8" name="Oval 77"/>
            <p:cNvSpPr>
              <a:spLocks noChangeArrowheads="1"/>
            </p:cNvSpPr>
            <p:nvPr/>
          </p:nvSpPr>
          <p:spPr bwMode="auto">
            <a:xfrm>
              <a:off x="141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49" name="Oval 78"/>
            <p:cNvSpPr>
              <a:spLocks noChangeArrowheads="1"/>
            </p:cNvSpPr>
            <p:nvPr/>
          </p:nvSpPr>
          <p:spPr bwMode="auto">
            <a:xfrm>
              <a:off x="148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0" name="Oval 79"/>
            <p:cNvSpPr>
              <a:spLocks noChangeArrowheads="1"/>
            </p:cNvSpPr>
            <p:nvPr/>
          </p:nvSpPr>
          <p:spPr bwMode="auto">
            <a:xfrm>
              <a:off x="155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1" name="Oval 80"/>
            <p:cNvSpPr>
              <a:spLocks noChangeArrowheads="1"/>
            </p:cNvSpPr>
            <p:nvPr/>
          </p:nvSpPr>
          <p:spPr bwMode="auto">
            <a:xfrm>
              <a:off x="163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2" name="Oval 81"/>
            <p:cNvSpPr>
              <a:spLocks noChangeArrowheads="1"/>
            </p:cNvSpPr>
            <p:nvPr/>
          </p:nvSpPr>
          <p:spPr bwMode="auto">
            <a:xfrm>
              <a:off x="170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3" name="Oval 82"/>
            <p:cNvSpPr>
              <a:spLocks noChangeArrowheads="1"/>
            </p:cNvSpPr>
            <p:nvPr/>
          </p:nvSpPr>
          <p:spPr bwMode="auto">
            <a:xfrm>
              <a:off x="1776"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4" name="Oval 83"/>
            <p:cNvSpPr>
              <a:spLocks noChangeArrowheads="1"/>
            </p:cNvSpPr>
            <p:nvPr/>
          </p:nvSpPr>
          <p:spPr bwMode="auto">
            <a:xfrm>
              <a:off x="1846"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5" name="Oval 84"/>
            <p:cNvSpPr>
              <a:spLocks noChangeArrowheads="1"/>
            </p:cNvSpPr>
            <p:nvPr/>
          </p:nvSpPr>
          <p:spPr bwMode="auto">
            <a:xfrm>
              <a:off x="192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6" name="Oval 85"/>
            <p:cNvSpPr>
              <a:spLocks noChangeArrowheads="1"/>
            </p:cNvSpPr>
            <p:nvPr/>
          </p:nvSpPr>
          <p:spPr bwMode="auto">
            <a:xfrm>
              <a:off x="199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7" name="Oval 86"/>
            <p:cNvSpPr>
              <a:spLocks noChangeArrowheads="1"/>
            </p:cNvSpPr>
            <p:nvPr/>
          </p:nvSpPr>
          <p:spPr bwMode="auto">
            <a:xfrm>
              <a:off x="206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8" name="Oval 87"/>
            <p:cNvSpPr>
              <a:spLocks noChangeArrowheads="1"/>
            </p:cNvSpPr>
            <p:nvPr/>
          </p:nvSpPr>
          <p:spPr bwMode="auto">
            <a:xfrm>
              <a:off x="213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59" name="Oval 88"/>
            <p:cNvSpPr>
              <a:spLocks noChangeArrowheads="1"/>
            </p:cNvSpPr>
            <p:nvPr/>
          </p:nvSpPr>
          <p:spPr bwMode="auto">
            <a:xfrm>
              <a:off x="2208"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0" name="Oval 89"/>
            <p:cNvSpPr>
              <a:spLocks noChangeArrowheads="1"/>
            </p:cNvSpPr>
            <p:nvPr/>
          </p:nvSpPr>
          <p:spPr bwMode="auto">
            <a:xfrm>
              <a:off x="227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1" name="Oval 90"/>
            <p:cNvSpPr>
              <a:spLocks noChangeArrowheads="1"/>
            </p:cNvSpPr>
            <p:nvPr/>
          </p:nvSpPr>
          <p:spPr bwMode="auto">
            <a:xfrm>
              <a:off x="235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2" name="Oval 91"/>
            <p:cNvSpPr>
              <a:spLocks noChangeArrowheads="1"/>
            </p:cNvSpPr>
            <p:nvPr/>
          </p:nvSpPr>
          <p:spPr bwMode="auto">
            <a:xfrm>
              <a:off x="242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3" name="Oval 92"/>
            <p:cNvSpPr>
              <a:spLocks noChangeArrowheads="1"/>
            </p:cNvSpPr>
            <p:nvPr/>
          </p:nvSpPr>
          <p:spPr bwMode="auto">
            <a:xfrm>
              <a:off x="2496"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4" name="Oval 93"/>
            <p:cNvSpPr>
              <a:spLocks noChangeArrowheads="1"/>
            </p:cNvSpPr>
            <p:nvPr/>
          </p:nvSpPr>
          <p:spPr bwMode="auto">
            <a:xfrm>
              <a:off x="256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5" name="Oval 94"/>
            <p:cNvSpPr>
              <a:spLocks noChangeArrowheads="1"/>
            </p:cNvSpPr>
            <p:nvPr/>
          </p:nvSpPr>
          <p:spPr bwMode="auto">
            <a:xfrm>
              <a:off x="2640"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6" name="Oval 95"/>
            <p:cNvSpPr>
              <a:spLocks noChangeArrowheads="1"/>
            </p:cNvSpPr>
            <p:nvPr/>
          </p:nvSpPr>
          <p:spPr bwMode="auto">
            <a:xfrm>
              <a:off x="2710"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7" name="Oval 96"/>
            <p:cNvSpPr>
              <a:spLocks noChangeArrowheads="1"/>
            </p:cNvSpPr>
            <p:nvPr/>
          </p:nvSpPr>
          <p:spPr bwMode="auto">
            <a:xfrm>
              <a:off x="278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8" name="Oval 97"/>
            <p:cNvSpPr>
              <a:spLocks noChangeArrowheads="1"/>
            </p:cNvSpPr>
            <p:nvPr/>
          </p:nvSpPr>
          <p:spPr bwMode="auto">
            <a:xfrm>
              <a:off x="2854"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69" name="Oval 98"/>
            <p:cNvSpPr>
              <a:spLocks noChangeArrowheads="1"/>
            </p:cNvSpPr>
            <p:nvPr/>
          </p:nvSpPr>
          <p:spPr bwMode="auto">
            <a:xfrm>
              <a:off x="2928"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0" name="Oval 99"/>
            <p:cNvSpPr>
              <a:spLocks noChangeArrowheads="1"/>
            </p:cNvSpPr>
            <p:nvPr/>
          </p:nvSpPr>
          <p:spPr bwMode="auto">
            <a:xfrm>
              <a:off x="299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1" name="Oval 100"/>
            <p:cNvSpPr>
              <a:spLocks noChangeArrowheads="1"/>
            </p:cNvSpPr>
            <p:nvPr/>
          </p:nvSpPr>
          <p:spPr bwMode="auto">
            <a:xfrm>
              <a:off x="3072"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2" name="Oval 101"/>
            <p:cNvSpPr>
              <a:spLocks noChangeArrowheads="1"/>
            </p:cNvSpPr>
            <p:nvPr/>
          </p:nvSpPr>
          <p:spPr bwMode="auto">
            <a:xfrm>
              <a:off x="314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3" name="Oval 102"/>
            <p:cNvSpPr>
              <a:spLocks noChangeArrowheads="1"/>
            </p:cNvSpPr>
            <p:nvPr/>
          </p:nvSpPr>
          <p:spPr bwMode="auto">
            <a:xfrm>
              <a:off x="321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4" name="Oval 103"/>
            <p:cNvSpPr>
              <a:spLocks noChangeArrowheads="1"/>
            </p:cNvSpPr>
            <p:nvPr/>
          </p:nvSpPr>
          <p:spPr bwMode="auto">
            <a:xfrm>
              <a:off x="3284"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5" name="Oval 104"/>
            <p:cNvSpPr>
              <a:spLocks noChangeArrowheads="1"/>
            </p:cNvSpPr>
            <p:nvPr/>
          </p:nvSpPr>
          <p:spPr bwMode="auto">
            <a:xfrm>
              <a:off x="3358"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6" name="Oval 105"/>
            <p:cNvSpPr>
              <a:spLocks noChangeArrowheads="1"/>
            </p:cNvSpPr>
            <p:nvPr/>
          </p:nvSpPr>
          <p:spPr bwMode="auto">
            <a:xfrm>
              <a:off x="3428"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7" name="Oval 106"/>
            <p:cNvSpPr>
              <a:spLocks noChangeArrowheads="1"/>
            </p:cNvSpPr>
            <p:nvPr/>
          </p:nvSpPr>
          <p:spPr bwMode="auto">
            <a:xfrm>
              <a:off x="3502"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8" name="Oval 107"/>
            <p:cNvSpPr>
              <a:spLocks noChangeArrowheads="1"/>
            </p:cNvSpPr>
            <p:nvPr/>
          </p:nvSpPr>
          <p:spPr bwMode="auto">
            <a:xfrm>
              <a:off x="3572"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79" name="Oval 108"/>
            <p:cNvSpPr>
              <a:spLocks noChangeArrowheads="1"/>
            </p:cNvSpPr>
            <p:nvPr/>
          </p:nvSpPr>
          <p:spPr bwMode="auto">
            <a:xfrm>
              <a:off x="364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0" name="Oval 109"/>
            <p:cNvSpPr>
              <a:spLocks noChangeArrowheads="1"/>
            </p:cNvSpPr>
            <p:nvPr/>
          </p:nvSpPr>
          <p:spPr bwMode="auto">
            <a:xfrm>
              <a:off x="3716" y="16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1" name="Oval 110"/>
            <p:cNvSpPr>
              <a:spLocks noChangeArrowheads="1"/>
            </p:cNvSpPr>
            <p:nvPr/>
          </p:nvSpPr>
          <p:spPr bwMode="auto">
            <a:xfrm>
              <a:off x="3790"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2" name="Oval 111"/>
            <p:cNvSpPr>
              <a:spLocks noChangeArrowheads="1"/>
            </p:cNvSpPr>
            <p:nvPr/>
          </p:nvSpPr>
          <p:spPr bwMode="auto">
            <a:xfrm>
              <a:off x="3860" y="16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3" name="Oval 112"/>
            <p:cNvSpPr>
              <a:spLocks noChangeArrowheads="1"/>
            </p:cNvSpPr>
            <p:nvPr/>
          </p:nvSpPr>
          <p:spPr bwMode="auto">
            <a:xfrm>
              <a:off x="3934" y="16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84" name="Line 113"/>
            <p:cNvSpPr>
              <a:spLocks noChangeShapeType="1"/>
            </p:cNvSpPr>
            <p:nvPr/>
          </p:nvSpPr>
          <p:spPr bwMode="auto">
            <a:xfrm>
              <a:off x="768" y="158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30" name="Group 114"/>
          <p:cNvGrpSpPr>
            <a:grpSpLocks/>
          </p:cNvGrpSpPr>
          <p:nvPr/>
        </p:nvGrpSpPr>
        <p:grpSpPr bwMode="auto">
          <a:xfrm>
            <a:off x="1141413" y="2047875"/>
            <a:ext cx="4202112" cy="350838"/>
            <a:chOff x="768" y="1728"/>
            <a:chExt cx="2647" cy="221"/>
          </a:xfrm>
        </p:grpSpPr>
        <p:sp>
          <p:nvSpPr>
            <p:cNvPr id="129505" name="Oval 115"/>
            <p:cNvSpPr>
              <a:spLocks noChangeArrowheads="1"/>
            </p:cNvSpPr>
            <p:nvPr/>
          </p:nvSpPr>
          <p:spPr bwMode="auto">
            <a:xfrm>
              <a:off x="91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06" name="Oval 116"/>
            <p:cNvSpPr>
              <a:spLocks noChangeArrowheads="1"/>
            </p:cNvSpPr>
            <p:nvPr/>
          </p:nvSpPr>
          <p:spPr bwMode="auto">
            <a:xfrm>
              <a:off x="98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07" name="Oval 117"/>
            <p:cNvSpPr>
              <a:spLocks noChangeArrowheads="1"/>
            </p:cNvSpPr>
            <p:nvPr/>
          </p:nvSpPr>
          <p:spPr bwMode="auto">
            <a:xfrm>
              <a:off x="105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08" name="Oval 118"/>
            <p:cNvSpPr>
              <a:spLocks noChangeArrowheads="1"/>
            </p:cNvSpPr>
            <p:nvPr/>
          </p:nvSpPr>
          <p:spPr bwMode="auto">
            <a:xfrm>
              <a:off x="1126"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楷体_GB2312" pitchFamily="49" charset="-122"/>
                <a:ea typeface="楷体_GB2312" pitchFamily="49" charset="-122"/>
              </a:endParaRPr>
            </a:p>
          </p:txBody>
        </p:sp>
        <p:sp>
          <p:nvSpPr>
            <p:cNvPr id="129509" name="Oval 119"/>
            <p:cNvSpPr>
              <a:spLocks noChangeArrowheads="1"/>
            </p:cNvSpPr>
            <p:nvPr/>
          </p:nvSpPr>
          <p:spPr bwMode="auto">
            <a:xfrm>
              <a:off x="1200"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楷体_GB2312" pitchFamily="49" charset="-122"/>
                <a:ea typeface="楷体_GB2312" pitchFamily="49" charset="-122"/>
              </a:endParaRPr>
            </a:p>
          </p:txBody>
        </p:sp>
        <p:sp>
          <p:nvSpPr>
            <p:cNvPr id="129510" name="Oval 120"/>
            <p:cNvSpPr>
              <a:spLocks noChangeArrowheads="1"/>
            </p:cNvSpPr>
            <p:nvPr/>
          </p:nvSpPr>
          <p:spPr bwMode="auto">
            <a:xfrm>
              <a:off x="127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1" name="Oval 121"/>
            <p:cNvSpPr>
              <a:spLocks noChangeArrowheads="1"/>
            </p:cNvSpPr>
            <p:nvPr/>
          </p:nvSpPr>
          <p:spPr bwMode="auto">
            <a:xfrm>
              <a:off x="134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2" name="Oval 122"/>
            <p:cNvSpPr>
              <a:spLocks noChangeArrowheads="1"/>
            </p:cNvSpPr>
            <p:nvPr/>
          </p:nvSpPr>
          <p:spPr bwMode="auto">
            <a:xfrm>
              <a:off x="141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3" name="Oval 123"/>
            <p:cNvSpPr>
              <a:spLocks noChangeArrowheads="1"/>
            </p:cNvSpPr>
            <p:nvPr/>
          </p:nvSpPr>
          <p:spPr bwMode="auto">
            <a:xfrm>
              <a:off x="148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4" name="Oval 124"/>
            <p:cNvSpPr>
              <a:spLocks noChangeArrowheads="1"/>
            </p:cNvSpPr>
            <p:nvPr/>
          </p:nvSpPr>
          <p:spPr bwMode="auto">
            <a:xfrm>
              <a:off x="155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5" name="Oval 125"/>
            <p:cNvSpPr>
              <a:spLocks noChangeArrowheads="1"/>
            </p:cNvSpPr>
            <p:nvPr/>
          </p:nvSpPr>
          <p:spPr bwMode="auto">
            <a:xfrm>
              <a:off x="163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6" name="Oval 126"/>
            <p:cNvSpPr>
              <a:spLocks noChangeArrowheads="1"/>
            </p:cNvSpPr>
            <p:nvPr/>
          </p:nvSpPr>
          <p:spPr bwMode="auto">
            <a:xfrm>
              <a:off x="170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7" name="Oval 127"/>
            <p:cNvSpPr>
              <a:spLocks noChangeArrowheads="1"/>
            </p:cNvSpPr>
            <p:nvPr/>
          </p:nvSpPr>
          <p:spPr bwMode="auto">
            <a:xfrm>
              <a:off x="177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8" name="Oval 128"/>
            <p:cNvSpPr>
              <a:spLocks noChangeArrowheads="1"/>
            </p:cNvSpPr>
            <p:nvPr/>
          </p:nvSpPr>
          <p:spPr bwMode="auto">
            <a:xfrm>
              <a:off x="1846"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19" name="Oval 129"/>
            <p:cNvSpPr>
              <a:spLocks noChangeArrowheads="1"/>
            </p:cNvSpPr>
            <p:nvPr/>
          </p:nvSpPr>
          <p:spPr bwMode="auto">
            <a:xfrm>
              <a:off x="192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0" name="Oval 130"/>
            <p:cNvSpPr>
              <a:spLocks noChangeArrowheads="1"/>
            </p:cNvSpPr>
            <p:nvPr/>
          </p:nvSpPr>
          <p:spPr bwMode="auto">
            <a:xfrm>
              <a:off x="1990"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1" name="Oval 131"/>
            <p:cNvSpPr>
              <a:spLocks noChangeArrowheads="1"/>
            </p:cNvSpPr>
            <p:nvPr/>
          </p:nvSpPr>
          <p:spPr bwMode="auto">
            <a:xfrm>
              <a:off x="2064"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2" name="Oval 132"/>
            <p:cNvSpPr>
              <a:spLocks noChangeArrowheads="1"/>
            </p:cNvSpPr>
            <p:nvPr/>
          </p:nvSpPr>
          <p:spPr bwMode="auto">
            <a:xfrm>
              <a:off x="2134"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3" name="Oval 133"/>
            <p:cNvSpPr>
              <a:spLocks noChangeArrowheads="1"/>
            </p:cNvSpPr>
            <p:nvPr/>
          </p:nvSpPr>
          <p:spPr bwMode="auto">
            <a:xfrm>
              <a:off x="2208"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4" name="Oval 134"/>
            <p:cNvSpPr>
              <a:spLocks noChangeArrowheads="1"/>
            </p:cNvSpPr>
            <p:nvPr/>
          </p:nvSpPr>
          <p:spPr bwMode="auto">
            <a:xfrm>
              <a:off x="227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5" name="Oval 135"/>
            <p:cNvSpPr>
              <a:spLocks noChangeArrowheads="1"/>
            </p:cNvSpPr>
            <p:nvPr/>
          </p:nvSpPr>
          <p:spPr bwMode="auto">
            <a:xfrm>
              <a:off x="2352"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6" name="Oval 136"/>
            <p:cNvSpPr>
              <a:spLocks noChangeArrowheads="1"/>
            </p:cNvSpPr>
            <p:nvPr/>
          </p:nvSpPr>
          <p:spPr bwMode="auto">
            <a:xfrm>
              <a:off x="2422" y="18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7" name="Oval 137"/>
            <p:cNvSpPr>
              <a:spLocks noChangeArrowheads="1"/>
            </p:cNvSpPr>
            <p:nvPr/>
          </p:nvSpPr>
          <p:spPr bwMode="auto">
            <a:xfrm>
              <a:off x="249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8" name="Oval 138"/>
            <p:cNvSpPr>
              <a:spLocks noChangeArrowheads="1"/>
            </p:cNvSpPr>
            <p:nvPr/>
          </p:nvSpPr>
          <p:spPr bwMode="auto">
            <a:xfrm>
              <a:off x="2566"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29" name="Oval 139"/>
            <p:cNvSpPr>
              <a:spLocks noChangeArrowheads="1"/>
            </p:cNvSpPr>
            <p:nvPr/>
          </p:nvSpPr>
          <p:spPr bwMode="auto">
            <a:xfrm>
              <a:off x="2640"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0" name="Oval 140"/>
            <p:cNvSpPr>
              <a:spLocks noChangeArrowheads="1"/>
            </p:cNvSpPr>
            <p:nvPr/>
          </p:nvSpPr>
          <p:spPr bwMode="auto">
            <a:xfrm>
              <a:off x="2710"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1" name="Oval 141"/>
            <p:cNvSpPr>
              <a:spLocks noChangeArrowheads="1"/>
            </p:cNvSpPr>
            <p:nvPr/>
          </p:nvSpPr>
          <p:spPr bwMode="auto">
            <a:xfrm>
              <a:off x="278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2" name="Oval 142"/>
            <p:cNvSpPr>
              <a:spLocks noChangeArrowheads="1"/>
            </p:cNvSpPr>
            <p:nvPr/>
          </p:nvSpPr>
          <p:spPr bwMode="auto">
            <a:xfrm>
              <a:off x="285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3" name="Oval 143"/>
            <p:cNvSpPr>
              <a:spLocks noChangeArrowheads="1"/>
            </p:cNvSpPr>
            <p:nvPr/>
          </p:nvSpPr>
          <p:spPr bwMode="auto">
            <a:xfrm>
              <a:off x="2928"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4" name="Oval 144"/>
            <p:cNvSpPr>
              <a:spLocks noChangeArrowheads="1"/>
            </p:cNvSpPr>
            <p:nvPr/>
          </p:nvSpPr>
          <p:spPr bwMode="auto">
            <a:xfrm>
              <a:off x="299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5" name="Oval 145"/>
            <p:cNvSpPr>
              <a:spLocks noChangeArrowheads="1"/>
            </p:cNvSpPr>
            <p:nvPr/>
          </p:nvSpPr>
          <p:spPr bwMode="auto">
            <a:xfrm>
              <a:off x="307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6" name="Oval 146"/>
            <p:cNvSpPr>
              <a:spLocks noChangeArrowheads="1"/>
            </p:cNvSpPr>
            <p:nvPr/>
          </p:nvSpPr>
          <p:spPr bwMode="auto">
            <a:xfrm>
              <a:off x="3142"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7" name="Oval 147"/>
            <p:cNvSpPr>
              <a:spLocks noChangeArrowheads="1"/>
            </p:cNvSpPr>
            <p:nvPr/>
          </p:nvSpPr>
          <p:spPr bwMode="auto">
            <a:xfrm>
              <a:off x="3194" y="18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8" name="Oval 148"/>
            <p:cNvSpPr>
              <a:spLocks noChangeArrowheads="1"/>
            </p:cNvSpPr>
            <p:nvPr/>
          </p:nvSpPr>
          <p:spPr bwMode="auto">
            <a:xfrm>
              <a:off x="3264"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39" name="Oval 149"/>
            <p:cNvSpPr>
              <a:spLocks noChangeArrowheads="1"/>
            </p:cNvSpPr>
            <p:nvPr/>
          </p:nvSpPr>
          <p:spPr bwMode="auto">
            <a:xfrm>
              <a:off x="3338" y="18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楷体_GB2312" pitchFamily="49" charset="-122"/>
                <a:ea typeface="楷体_GB2312" pitchFamily="49" charset="-122"/>
              </a:endParaRPr>
            </a:p>
          </p:txBody>
        </p:sp>
        <p:sp>
          <p:nvSpPr>
            <p:cNvPr id="129540" name="Line 150"/>
            <p:cNvSpPr>
              <a:spLocks noChangeShapeType="1"/>
            </p:cNvSpPr>
            <p:nvPr/>
          </p:nvSpPr>
          <p:spPr bwMode="auto">
            <a:xfrm>
              <a:off x="768" y="172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31" name="Group 151"/>
          <p:cNvGrpSpPr>
            <a:grpSpLocks/>
          </p:cNvGrpSpPr>
          <p:nvPr/>
        </p:nvGrpSpPr>
        <p:grpSpPr bwMode="auto">
          <a:xfrm>
            <a:off x="1141413" y="2352675"/>
            <a:ext cx="5802312" cy="350838"/>
            <a:chOff x="768" y="1920"/>
            <a:chExt cx="3655" cy="221"/>
          </a:xfrm>
        </p:grpSpPr>
        <p:sp>
          <p:nvSpPr>
            <p:cNvPr id="129455" name="Oval 152"/>
            <p:cNvSpPr>
              <a:spLocks noChangeArrowheads="1"/>
            </p:cNvSpPr>
            <p:nvPr/>
          </p:nvSpPr>
          <p:spPr bwMode="auto">
            <a:xfrm>
              <a:off x="91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6" name="Oval 153"/>
            <p:cNvSpPr>
              <a:spLocks noChangeArrowheads="1"/>
            </p:cNvSpPr>
            <p:nvPr/>
          </p:nvSpPr>
          <p:spPr bwMode="auto">
            <a:xfrm>
              <a:off x="98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7" name="Oval 154"/>
            <p:cNvSpPr>
              <a:spLocks noChangeArrowheads="1"/>
            </p:cNvSpPr>
            <p:nvPr/>
          </p:nvSpPr>
          <p:spPr bwMode="auto">
            <a:xfrm>
              <a:off x="105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8" name="Oval 155"/>
            <p:cNvSpPr>
              <a:spLocks noChangeArrowheads="1"/>
            </p:cNvSpPr>
            <p:nvPr/>
          </p:nvSpPr>
          <p:spPr bwMode="auto">
            <a:xfrm>
              <a:off x="112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59" name="Oval 156"/>
            <p:cNvSpPr>
              <a:spLocks noChangeArrowheads="1"/>
            </p:cNvSpPr>
            <p:nvPr/>
          </p:nvSpPr>
          <p:spPr bwMode="auto">
            <a:xfrm>
              <a:off x="120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60" name="Oval 157"/>
            <p:cNvSpPr>
              <a:spLocks noChangeArrowheads="1"/>
            </p:cNvSpPr>
            <p:nvPr/>
          </p:nvSpPr>
          <p:spPr bwMode="auto">
            <a:xfrm>
              <a:off x="127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1" name="Oval 158"/>
            <p:cNvSpPr>
              <a:spLocks noChangeArrowheads="1"/>
            </p:cNvSpPr>
            <p:nvPr/>
          </p:nvSpPr>
          <p:spPr bwMode="auto">
            <a:xfrm>
              <a:off x="134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2" name="Oval 159"/>
            <p:cNvSpPr>
              <a:spLocks noChangeArrowheads="1"/>
            </p:cNvSpPr>
            <p:nvPr/>
          </p:nvSpPr>
          <p:spPr bwMode="auto">
            <a:xfrm>
              <a:off x="141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3" name="Oval 160"/>
            <p:cNvSpPr>
              <a:spLocks noChangeArrowheads="1"/>
            </p:cNvSpPr>
            <p:nvPr/>
          </p:nvSpPr>
          <p:spPr bwMode="auto">
            <a:xfrm>
              <a:off x="148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4" name="Oval 161"/>
            <p:cNvSpPr>
              <a:spLocks noChangeArrowheads="1"/>
            </p:cNvSpPr>
            <p:nvPr/>
          </p:nvSpPr>
          <p:spPr bwMode="auto">
            <a:xfrm>
              <a:off x="155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5" name="Oval 162"/>
            <p:cNvSpPr>
              <a:spLocks noChangeArrowheads="1"/>
            </p:cNvSpPr>
            <p:nvPr/>
          </p:nvSpPr>
          <p:spPr bwMode="auto">
            <a:xfrm>
              <a:off x="163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6" name="Oval 163"/>
            <p:cNvSpPr>
              <a:spLocks noChangeArrowheads="1"/>
            </p:cNvSpPr>
            <p:nvPr/>
          </p:nvSpPr>
          <p:spPr bwMode="auto">
            <a:xfrm>
              <a:off x="170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7" name="Oval 164"/>
            <p:cNvSpPr>
              <a:spLocks noChangeArrowheads="1"/>
            </p:cNvSpPr>
            <p:nvPr/>
          </p:nvSpPr>
          <p:spPr bwMode="auto">
            <a:xfrm>
              <a:off x="177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8" name="Oval 165"/>
            <p:cNvSpPr>
              <a:spLocks noChangeArrowheads="1"/>
            </p:cNvSpPr>
            <p:nvPr/>
          </p:nvSpPr>
          <p:spPr bwMode="auto">
            <a:xfrm>
              <a:off x="184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69" name="Oval 166"/>
            <p:cNvSpPr>
              <a:spLocks noChangeArrowheads="1"/>
            </p:cNvSpPr>
            <p:nvPr/>
          </p:nvSpPr>
          <p:spPr bwMode="auto">
            <a:xfrm>
              <a:off x="192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0" name="Oval 167"/>
            <p:cNvSpPr>
              <a:spLocks noChangeArrowheads="1"/>
            </p:cNvSpPr>
            <p:nvPr/>
          </p:nvSpPr>
          <p:spPr bwMode="auto">
            <a:xfrm>
              <a:off x="199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1" name="Oval 168"/>
            <p:cNvSpPr>
              <a:spLocks noChangeArrowheads="1"/>
            </p:cNvSpPr>
            <p:nvPr/>
          </p:nvSpPr>
          <p:spPr bwMode="auto">
            <a:xfrm>
              <a:off x="206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2" name="Oval 169"/>
            <p:cNvSpPr>
              <a:spLocks noChangeArrowheads="1"/>
            </p:cNvSpPr>
            <p:nvPr/>
          </p:nvSpPr>
          <p:spPr bwMode="auto">
            <a:xfrm>
              <a:off x="213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3" name="Oval 170"/>
            <p:cNvSpPr>
              <a:spLocks noChangeArrowheads="1"/>
            </p:cNvSpPr>
            <p:nvPr/>
          </p:nvSpPr>
          <p:spPr bwMode="auto">
            <a:xfrm>
              <a:off x="220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4" name="Oval 171"/>
            <p:cNvSpPr>
              <a:spLocks noChangeArrowheads="1"/>
            </p:cNvSpPr>
            <p:nvPr/>
          </p:nvSpPr>
          <p:spPr bwMode="auto">
            <a:xfrm>
              <a:off x="227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5" name="Oval 172"/>
            <p:cNvSpPr>
              <a:spLocks noChangeArrowheads="1"/>
            </p:cNvSpPr>
            <p:nvPr/>
          </p:nvSpPr>
          <p:spPr bwMode="auto">
            <a:xfrm>
              <a:off x="235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6" name="Oval 173"/>
            <p:cNvSpPr>
              <a:spLocks noChangeArrowheads="1"/>
            </p:cNvSpPr>
            <p:nvPr/>
          </p:nvSpPr>
          <p:spPr bwMode="auto">
            <a:xfrm>
              <a:off x="242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7" name="Oval 174"/>
            <p:cNvSpPr>
              <a:spLocks noChangeArrowheads="1"/>
            </p:cNvSpPr>
            <p:nvPr/>
          </p:nvSpPr>
          <p:spPr bwMode="auto">
            <a:xfrm>
              <a:off x="249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8" name="Oval 175"/>
            <p:cNvSpPr>
              <a:spLocks noChangeArrowheads="1"/>
            </p:cNvSpPr>
            <p:nvPr/>
          </p:nvSpPr>
          <p:spPr bwMode="auto">
            <a:xfrm>
              <a:off x="2566"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79" name="Oval 176"/>
            <p:cNvSpPr>
              <a:spLocks noChangeArrowheads="1"/>
            </p:cNvSpPr>
            <p:nvPr/>
          </p:nvSpPr>
          <p:spPr bwMode="auto">
            <a:xfrm>
              <a:off x="264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0" name="Oval 177"/>
            <p:cNvSpPr>
              <a:spLocks noChangeArrowheads="1"/>
            </p:cNvSpPr>
            <p:nvPr/>
          </p:nvSpPr>
          <p:spPr bwMode="auto">
            <a:xfrm>
              <a:off x="2710"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1" name="Oval 178"/>
            <p:cNvSpPr>
              <a:spLocks noChangeArrowheads="1"/>
            </p:cNvSpPr>
            <p:nvPr/>
          </p:nvSpPr>
          <p:spPr bwMode="auto">
            <a:xfrm>
              <a:off x="278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2" name="Oval 179"/>
            <p:cNvSpPr>
              <a:spLocks noChangeArrowheads="1"/>
            </p:cNvSpPr>
            <p:nvPr/>
          </p:nvSpPr>
          <p:spPr bwMode="auto">
            <a:xfrm>
              <a:off x="285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3" name="Oval 180"/>
            <p:cNvSpPr>
              <a:spLocks noChangeArrowheads="1"/>
            </p:cNvSpPr>
            <p:nvPr/>
          </p:nvSpPr>
          <p:spPr bwMode="auto">
            <a:xfrm>
              <a:off x="2928"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4" name="Oval 181"/>
            <p:cNvSpPr>
              <a:spLocks noChangeArrowheads="1"/>
            </p:cNvSpPr>
            <p:nvPr/>
          </p:nvSpPr>
          <p:spPr bwMode="auto">
            <a:xfrm>
              <a:off x="299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5" name="Oval 182"/>
            <p:cNvSpPr>
              <a:spLocks noChangeArrowheads="1"/>
            </p:cNvSpPr>
            <p:nvPr/>
          </p:nvSpPr>
          <p:spPr bwMode="auto">
            <a:xfrm>
              <a:off x="307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6" name="Oval 183"/>
            <p:cNvSpPr>
              <a:spLocks noChangeArrowheads="1"/>
            </p:cNvSpPr>
            <p:nvPr/>
          </p:nvSpPr>
          <p:spPr bwMode="auto">
            <a:xfrm>
              <a:off x="314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7" name="Oval 184"/>
            <p:cNvSpPr>
              <a:spLocks noChangeArrowheads="1"/>
            </p:cNvSpPr>
            <p:nvPr/>
          </p:nvSpPr>
          <p:spPr bwMode="auto">
            <a:xfrm>
              <a:off x="319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8" name="Oval 185"/>
            <p:cNvSpPr>
              <a:spLocks noChangeArrowheads="1"/>
            </p:cNvSpPr>
            <p:nvPr/>
          </p:nvSpPr>
          <p:spPr bwMode="auto">
            <a:xfrm>
              <a:off x="326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89" name="Oval 186"/>
            <p:cNvSpPr>
              <a:spLocks noChangeArrowheads="1"/>
            </p:cNvSpPr>
            <p:nvPr/>
          </p:nvSpPr>
          <p:spPr bwMode="auto">
            <a:xfrm>
              <a:off x="333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0" name="Oval 187"/>
            <p:cNvSpPr>
              <a:spLocks noChangeArrowheads="1"/>
            </p:cNvSpPr>
            <p:nvPr/>
          </p:nvSpPr>
          <p:spPr bwMode="auto">
            <a:xfrm>
              <a:off x="3408"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1" name="Oval 188"/>
            <p:cNvSpPr>
              <a:spLocks noChangeArrowheads="1"/>
            </p:cNvSpPr>
            <p:nvPr/>
          </p:nvSpPr>
          <p:spPr bwMode="auto">
            <a:xfrm>
              <a:off x="3482"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2" name="Oval 189"/>
            <p:cNvSpPr>
              <a:spLocks noChangeArrowheads="1"/>
            </p:cNvSpPr>
            <p:nvPr/>
          </p:nvSpPr>
          <p:spPr bwMode="auto">
            <a:xfrm>
              <a:off x="355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3" name="Oval 190"/>
            <p:cNvSpPr>
              <a:spLocks noChangeArrowheads="1"/>
            </p:cNvSpPr>
            <p:nvPr/>
          </p:nvSpPr>
          <p:spPr bwMode="auto">
            <a:xfrm>
              <a:off x="3626"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4" name="Oval 191"/>
            <p:cNvSpPr>
              <a:spLocks noChangeArrowheads="1"/>
            </p:cNvSpPr>
            <p:nvPr/>
          </p:nvSpPr>
          <p:spPr bwMode="auto">
            <a:xfrm>
              <a:off x="3696"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5" name="Oval 192"/>
            <p:cNvSpPr>
              <a:spLocks noChangeArrowheads="1"/>
            </p:cNvSpPr>
            <p:nvPr/>
          </p:nvSpPr>
          <p:spPr bwMode="auto">
            <a:xfrm>
              <a:off x="3770" y="20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6" name="Oval 193"/>
            <p:cNvSpPr>
              <a:spLocks noChangeArrowheads="1"/>
            </p:cNvSpPr>
            <p:nvPr/>
          </p:nvSpPr>
          <p:spPr bwMode="auto">
            <a:xfrm>
              <a:off x="3840"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7" name="Oval 194"/>
            <p:cNvSpPr>
              <a:spLocks noChangeArrowheads="1"/>
            </p:cNvSpPr>
            <p:nvPr/>
          </p:nvSpPr>
          <p:spPr bwMode="auto">
            <a:xfrm>
              <a:off x="3914"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8" name="Oval 195"/>
            <p:cNvSpPr>
              <a:spLocks noChangeArrowheads="1"/>
            </p:cNvSpPr>
            <p:nvPr/>
          </p:nvSpPr>
          <p:spPr bwMode="auto">
            <a:xfrm>
              <a:off x="3984"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99" name="Oval 196"/>
            <p:cNvSpPr>
              <a:spLocks noChangeArrowheads="1"/>
            </p:cNvSpPr>
            <p:nvPr/>
          </p:nvSpPr>
          <p:spPr bwMode="auto">
            <a:xfrm>
              <a:off x="4058" y="20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0" name="Oval 197"/>
            <p:cNvSpPr>
              <a:spLocks noChangeArrowheads="1"/>
            </p:cNvSpPr>
            <p:nvPr/>
          </p:nvSpPr>
          <p:spPr bwMode="auto">
            <a:xfrm>
              <a:off x="4128"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1" name="Oval 198"/>
            <p:cNvSpPr>
              <a:spLocks noChangeArrowheads="1"/>
            </p:cNvSpPr>
            <p:nvPr/>
          </p:nvSpPr>
          <p:spPr bwMode="auto">
            <a:xfrm>
              <a:off x="420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2" name="Oval 199"/>
            <p:cNvSpPr>
              <a:spLocks noChangeArrowheads="1"/>
            </p:cNvSpPr>
            <p:nvPr/>
          </p:nvSpPr>
          <p:spPr bwMode="auto">
            <a:xfrm>
              <a:off x="4272"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3" name="Oval 200"/>
            <p:cNvSpPr>
              <a:spLocks noChangeArrowheads="1"/>
            </p:cNvSpPr>
            <p:nvPr/>
          </p:nvSpPr>
          <p:spPr bwMode="auto">
            <a:xfrm>
              <a:off x="4346" y="20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504" name="Line 201"/>
            <p:cNvSpPr>
              <a:spLocks noChangeShapeType="1"/>
            </p:cNvSpPr>
            <p:nvPr/>
          </p:nvSpPr>
          <p:spPr bwMode="auto">
            <a:xfrm>
              <a:off x="768" y="192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32" name="Group 202"/>
          <p:cNvGrpSpPr>
            <a:grpSpLocks/>
          </p:cNvGrpSpPr>
          <p:nvPr/>
        </p:nvGrpSpPr>
        <p:grpSpPr bwMode="auto">
          <a:xfrm>
            <a:off x="679450" y="1666875"/>
            <a:ext cx="5461000" cy="1341438"/>
            <a:chOff x="477" y="1488"/>
            <a:chExt cx="3440" cy="845"/>
          </a:xfrm>
        </p:grpSpPr>
        <p:sp>
          <p:nvSpPr>
            <p:cNvPr id="129409" name="Oval 203"/>
            <p:cNvSpPr>
              <a:spLocks noChangeArrowheads="1"/>
            </p:cNvSpPr>
            <p:nvPr/>
          </p:nvSpPr>
          <p:spPr bwMode="auto">
            <a:xfrm>
              <a:off x="91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0" name="Oval 204"/>
            <p:cNvSpPr>
              <a:spLocks noChangeArrowheads="1"/>
            </p:cNvSpPr>
            <p:nvPr/>
          </p:nvSpPr>
          <p:spPr bwMode="auto">
            <a:xfrm>
              <a:off x="98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1" name="Oval 205"/>
            <p:cNvSpPr>
              <a:spLocks noChangeArrowheads="1"/>
            </p:cNvSpPr>
            <p:nvPr/>
          </p:nvSpPr>
          <p:spPr bwMode="auto">
            <a:xfrm>
              <a:off x="1056"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2" name="Oval 206"/>
            <p:cNvSpPr>
              <a:spLocks noChangeArrowheads="1"/>
            </p:cNvSpPr>
            <p:nvPr/>
          </p:nvSpPr>
          <p:spPr bwMode="auto">
            <a:xfrm>
              <a:off x="112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13" name="Oval 207"/>
            <p:cNvSpPr>
              <a:spLocks noChangeArrowheads="1"/>
            </p:cNvSpPr>
            <p:nvPr/>
          </p:nvSpPr>
          <p:spPr bwMode="auto">
            <a:xfrm>
              <a:off x="120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414" name="Oval 208"/>
            <p:cNvSpPr>
              <a:spLocks noChangeArrowheads="1"/>
            </p:cNvSpPr>
            <p:nvPr/>
          </p:nvSpPr>
          <p:spPr bwMode="auto">
            <a:xfrm>
              <a:off x="127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5" name="Oval 209"/>
            <p:cNvSpPr>
              <a:spLocks noChangeArrowheads="1"/>
            </p:cNvSpPr>
            <p:nvPr/>
          </p:nvSpPr>
          <p:spPr bwMode="auto">
            <a:xfrm>
              <a:off x="134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6" name="Oval 210"/>
            <p:cNvSpPr>
              <a:spLocks noChangeArrowheads="1"/>
            </p:cNvSpPr>
            <p:nvPr/>
          </p:nvSpPr>
          <p:spPr bwMode="auto">
            <a:xfrm>
              <a:off x="141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7" name="Oval 211"/>
            <p:cNvSpPr>
              <a:spLocks noChangeArrowheads="1"/>
            </p:cNvSpPr>
            <p:nvPr/>
          </p:nvSpPr>
          <p:spPr bwMode="auto">
            <a:xfrm>
              <a:off x="148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8" name="Oval 212"/>
            <p:cNvSpPr>
              <a:spLocks noChangeArrowheads="1"/>
            </p:cNvSpPr>
            <p:nvPr/>
          </p:nvSpPr>
          <p:spPr bwMode="auto">
            <a:xfrm>
              <a:off x="155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19" name="Oval 213"/>
            <p:cNvSpPr>
              <a:spLocks noChangeArrowheads="1"/>
            </p:cNvSpPr>
            <p:nvPr/>
          </p:nvSpPr>
          <p:spPr bwMode="auto">
            <a:xfrm>
              <a:off x="163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0" name="Oval 214"/>
            <p:cNvSpPr>
              <a:spLocks noChangeArrowheads="1"/>
            </p:cNvSpPr>
            <p:nvPr/>
          </p:nvSpPr>
          <p:spPr bwMode="auto">
            <a:xfrm>
              <a:off x="170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1" name="Oval 215"/>
            <p:cNvSpPr>
              <a:spLocks noChangeArrowheads="1"/>
            </p:cNvSpPr>
            <p:nvPr/>
          </p:nvSpPr>
          <p:spPr bwMode="auto">
            <a:xfrm>
              <a:off x="177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2" name="Oval 216"/>
            <p:cNvSpPr>
              <a:spLocks noChangeArrowheads="1"/>
            </p:cNvSpPr>
            <p:nvPr/>
          </p:nvSpPr>
          <p:spPr bwMode="auto">
            <a:xfrm>
              <a:off x="184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3" name="Oval 217"/>
            <p:cNvSpPr>
              <a:spLocks noChangeArrowheads="1"/>
            </p:cNvSpPr>
            <p:nvPr/>
          </p:nvSpPr>
          <p:spPr bwMode="auto">
            <a:xfrm>
              <a:off x="192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4" name="Oval 218"/>
            <p:cNvSpPr>
              <a:spLocks noChangeArrowheads="1"/>
            </p:cNvSpPr>
            <p:nvPr/>
          </p:nvSpPr>
          <p:spPr bwMode="auto">
            <a:xfrm>
              <a:off x="199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5" name="Oval 219"/>
            <p:cNvSpPr>
              <a:spLocks noChangeArrowheads="1"/>
            </p:cNvSpPr>
            <p:nvPr/>
          </p:nvSpPr>
          <p:spPr bwMode="auto">
            <a:xfrm>
              <a:off x="206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6" name="Oval 220"/>
            <p:cNvSpPr>
              <a:spLocks noChangeArrowheads="1"/>
            </p:cNvSpPr>
            <p:nvPr/>
          </p:nvSpPr>
          <p:spPr bwMode="auto">
            <a:xfrm>
              <a:off x="213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7" name="Oval 221"/>
            <p:cNvSpPr>
              <a:spLocks noChangeArrowheads="1"/>
            </p:cNvSpPr>
            <p:nvPr/>
          </p:nvSpPr>
          <p:spPr bwMode="auto">
            <a:xfrm>
              <a:off x="220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8" name="Oval 222"/>
            <p:cNvSpPr>
              <a:spLocks noChangeArrowheads="1"/>
            </p:cNvSpPr>
            <p:nvPr/>
          </p:nvSpPr>
          <p:spPr bwMode="auto">
            <a:xfrm>
              <a:off x="2278"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29" name="Oval 223"/>
            <p:cNvSpPr>
              <a:spLocks noChangeArrowheads="1"/>
            </p:cNvSpPr>
            <p:nvPr/>
          </p:nvSpPr>
          <p:spPr bwMode="auto">
            <a:xfrm>
              <a:off x="235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0" name="Oval 224"/>
            <p:cNvSpPr>
              <a:spLocks noChangeArrowheads="1"/>
            </p:cNvSpPr>
            <p:nvPr/>
          </p:nvSpPr>
          <p:spPr bwMode="auto">
            <a:xfrm>
              <a:off x="242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1" name="Oval 225"/>
            <p:cNvSpPr>
              <a:spLocks noChangeArrowheads="1"/>
            </p:cNvSpPr>
            <p:nvPr/>
          </p:nvSpPr>
          <p:spPr bwMode="auto">
            <a:xfrm>
              <a:off x="249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2" name="Oval 226"/>
            <p:cNvSpPr>
              <a:spLocks noChangeArrowheads="1"/>
            </p:cNvSpPr>
            <p:nvPr/>
          </p:nvSpPr>
          <p:spPr bwMode="auto">
            <a:xfrm>
              <a:off x="2566"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3" name="Oval 227"/>
            <p:cNvSpPr>
              <a:spLocks noChangeArrowheads="1"/>
            </p:cNvSpPr>
            <p:nvPr/>
          </p:nvSpPr>
          <p:spPr bwMode="auto">
            <a:xfrm>
              <a:off x="264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4" name="Oval 228"/>
            <p:cNvSpPr>
              <a:spLocks noChangeArrowheads="1"/>
            </p:cNvSpPr>
            <p:nvPr/>
          </p:nvSpPr>
          <p:spPr bwMode="auto">
            <a:xfrm>
              <a:off x="271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5" name="Oval 229"/>
            <p:cNvSpPr>
              <a:spLocks noChangeArrowheads="1"/>
            </p:cNvSpPr>
            <p:nvPr/>
          </p:nvSpPr>
          <p:spPr bwMode="auto">
            <a:xfrm>
              <a:off x="278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6" name="Oval 230"/>
            <p:cNvSpPr>
              <a:spLocks noChangeArrowheads="1"/>
            </p:cNvSpPr>
            <p:nvPr/>
          </p:nvSpPr>
          <p:spPr bwMode="auto">
            <a:xfrm>
              <a:off x="285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7" name="Oval 231"/>
            <p:cNvSpPr>
              <a:spLocks noChangeArrowheads="1"/>
            </p:cNvSpPr>
            <p:nvPr/>
          </p:nvSpPr>
          <p:spPr bwMode="auto">
            <a:xfrm>
              <a:off x="292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8" name="Oval 232"/>
            <p:cNvSpPr>
              <a:spLocks noChangeArrowheads="1"/>
            </p:cNvSpPr>
            <p:nvPr/>
          </p:nvSpPr>
          <p:spPr bwMode="auto">
            <a:xfrm>
              <a:off x="299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39" name="Oval 233"/>
            <p:cNvSpPr>
              <a:spLocks noChangeArrowheads="1"/>
            </p:cNvSpPr>
            <p:nvPr/>
          </p:nvSpPr>
          <p:spPr bwMode="auto">
            <a:xfrm>
              <a:off x="307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0" name="Oval 234"/>
            <p:cNvSpPr>
              <a:spLocks noChangeArrowheads="1"/>
            </p:cNvSpPr>
            <p:nvPr/>
          </p:nvSpPr>
          <p:spPr bwMode="auto">
            <a:xfrm>
              <a:off x="314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1" name="Oval 235"/>
            <p:cNvSpPr>
              <a:spLocks noChangeArrowheads="1"/>
            </p:cNvSpPr>
            <p:nvPr/>
          </p:nvSpPr>
          <p:spPr bwMode="auto">
            <a:xfrm>
              <a:off x="3194"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2" name="Oval 236"/>
            <p:cNvSpPr>
              <a:spLocks noChangeArrowheads="1"/>
            </p:cNvSpPr>
            <p:nvPr/>
          </p:nvSpPr>
          <p:spPr bwMode="auto">
            <a:xfrm>
              <a:off x="3264"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3" name="Oval 237"/>
            <p:cNvSpPr>
              <a:spLocks noChangeArrowheads="1"/>
            </p:cNvSpPr>
            <p:nvPr/>
          </p:nvSpPr>
          <p:spPr bwMode="auto">
            <a:xfrm>
              <a:off x="3338" y="225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4" name="Oval 238"/>
            <p:cNvSpPr>
              <a:spLocks noChangeArrowheads="1"/>
            </p:cNvSpPr>
            <p:nvPr/>
          </p:nvSpPr>
          <p:spPr bwMode="auto">
            <a:xfrm>
              <a:off x="3408"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5" name="Oval 239"/>
            <p:cNvSpPr>
              <a:spLocks noChangeArrowheads="1"/>
            </p:cNvSpPr>
            <p:nvPr/>
          </p:nvSpPr>
          <p:spPr bwMode="auto">
            <a:xfrm>
              <a:off x="3482"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6" name="Oval 240"/>
            <p:cNvSpPr>
              <a:spLocks noChangeArrowheads="1"/>
            </p:cNvSpPr>
            <p:nvPr/>
          </p:nvSpPr>
          <p:spPr bwMode="auto">
            <a:xfrm>
              <a:off x="3552"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7" name="Oval 241"/>
            <p:cNvSpPr>
              <a:spLocks noChangeArrowheads="1"/>
            </p:cNvSpPr>
            <p:nvPr/>
          </p:nvSpPr>
          <p:spPr bwMode="auto">
            <a:xfrm>
              <a:off x="362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8" name="Oval 242"/>
            <p:cNvSpPr>
              <a:spLocks noChangeArrowheads="1"/>
            </p:cNvSpPr>
            <p:nvPr/>
          </p:nvSpPr>
          <p:spPr bwMode="auto">
            <a:xfrm>
              <a:off x="3696"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49" name="Oval 243"/>
            <p:cNvSpPr>
              <a:spLocks noChangeArrowheads="1"/>
            </p:cNvSpPr>
            <p:nvPr/>
          </p:nvSpPr>
          <p:spPr bwMode="auto">
            <a:xfrm>
              <a:off x="3770" y="225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0" name="Oval 244"/>
            <p:cNvSpPr>
              <a:spLocks noChangeArrowheads="1"/>
            </p:cNvSpPr>
            <p:nvPr/>
          </p:nvSpPr>
          <p:spPr bwMode="auto">
            <a:xfrm>
              <a:off x="3840" y="225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51" name="Line 245"/>
            <p:cNvSpPr>
              <a:spLocks noChangeShapeType="1"/>
            </p:cNvSpPr>
            <p:nvPr/>
          </p:nvSpPr>
          <p:spPr bwMode="auto">
            <a:xfrm>
              <a:off x="672" y="230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452" name="Text Box 246"/>
            <p:cNvSpPr txBox="1">
              <a:spLocks noChangeArrowheads="1"/>
            </p:cNvSpPr>
            <p:nvPr/>
          </p:nvSpPr>
          <p:spPr bwMode="auto">
            <a:xfrm>
              <a:off x="477" y="1632"/>
              <a:ext cx="349" cy="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Times New Roman" panose="02020603050405020304" pitchFamily="18" charset="0"/>
                  <a:ea typeface="宋体" panose="02010600030101010101" pitchFamily="2" charset="-122"/>
                </a:rPr>
                <a:t>hours</a:t>
              </a:r>
            </a:p>
          </p:txBody>
        </p:sp>
        <p:sp>
          <p:nvSpPr>
            <p:cNvPr id="129453" name="Line 247"/>
            <p:cNvSpPr>
              <a:spLocks noChangeShapeType="1"/>
            </p:cNvSpPr>
            <p:nvPr/>
          </p:nvSpPr>
          <p:spPr bwMode="auto">
            <a:xfrm>
              <a:off x="768" y="2112"/>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454" name="Line 248"/>
            <p:cNvSpPr>
              <a:spLocks noChangeShapeType="1"/>
            </p:cNvSpPr>
            <p:nvPr/>
          </p:nvSpPr>
          <p:spPr bwMode="auto">
            <a:xfrm flipV="1">
              <a:off x="768" y="1488"/>
              <a:ext cx="0"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282" name="Group 250"/>
          <p:cNvGrpSpPr>
            <a:grpSpLocks/>
          </p:cNvGrpSpPr>
          <p:nvPr/>
        </p:nvGrpSpPr>
        <p:grpSpPr bwMode="auto">
          <a:xfrm>
            <a:off x="681038" y="4076700"/>
            <a:ext cx="811212" cy="1752600"/>
            <a:chOff x="478" y="2928"/>
            <a:chExt cx="511" cy="1104"/>
          </a:xfrm>
        </p:grpSpPr>
        <p:sp>
          <p:nvSpPr>
            <p:cNvPr id="129395" name="Line 251"/>
            <p:cNvSpPr>
              <a:spLocks noChangeShapeType="1"/>
            </p:cNvSpPr>
            <p:nvPr/>
          </p:nvSpPr>
          <p:spPr bwMode="auto">
            <a:xfrm>
              <a:off x="912" y="38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29396" name="Group 252"/>
            <p:cNvGrpSpPr>
              <a:grpSpLocks/>
            </p:cNvGrpSpPr>
            <p:nvPr/>
          </p:nvGrpSpPr>
          <p:grpSpPr bwMode="auto">
            <a:xfrm>
              <a:off x="478" y="2928"/>
              <a:ext cx="511" cy="1008"/>
              <a:chOff x="478" y="2928"/>
              <a:chExt cx="511" cy="1008"/>
            </a:xfrm>
          </p:grpSpPr>
          <p:grpSp>
            <p:nvGrpSpPr>
              <p:cNvPr id="129397" name="Group 253"/>
              <p:cNvGrpSpPr>
                <a:grpSpLocks/>
              </p:cNvGrpSpPr>
              <p:nvPr/>
            </p:nvGrpSpPr>
            <p:grpSpPr bwMode="auto">
              <a:xfrm>
                <a:off x="478" y="2928"/>
                <a:ext cx="511" cy="845"/>
                <a:chOff x="478" y="2928"/>
                <a:chExt cx="511" cy="845"/>
              </a:xfrm>
            </p:grpSpPr>
            <p:grpSp>
              <p:nvGrpSpPr>
                <p:cNvPr id="129399" name="Group 254"/>
                <p:cNvGrpSpPr>
                  <a:grpSpLocks/>
                </p:cNvGrpSpPr>
                <p:nvPr/>
              </p:nvGrpSpPr>
              <p:grpSpPr bwMode="auto">
                <a:xfrm>
                  <a:off x="912" y="2928"/>
                  <a:ext cx="77" cy="845"/>
                  <a:chOff x="912" y="2496"/>
                  <a:chExt cx="77" cy="845"/>
                </a:xfrm>
              </p:grpSpPr>
              <p:sp>
                <p:nvSpPr>
                  <p:cNvPr id="129404" name="Oval 255"/>
                  <p:cNvSpPr>
                    <a:spLocks noChangeArrowheads="1"/>
                  </p:cNvSpPr>
                  <p:nvPr/>
                </p:nvSpPr>
                <p:spPr bwMode="auto">
                  <a:xfrm>
                    <a:off x="91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5" name="Oval 256"/>
                  <p:cNvSpPr>
                    <a:spLocks noChangeArrowheads="1"/>
                  </p:cNvSpPr>
                  <p:nvPr/>
                </p:nvSpPr>
                <p:spPr bwMode="auto">
                  <a:xfrm>
                    <a:off x="91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6" name="Oval 257"/>
                  <p:cNvSpPr>
                    <a:spLocks noChangeArrowheads="1"/>
                  </p:cNvSpPr>
                  <p:nvPr/>
                </p:nvSpPr>
                <p:spPr bwMode="auto">
                  <a:xfrm>
                    <a:off x="91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7" name="Oval 258"/>
                  <p:cNvSpPr>
                    <a:spLocks noChangeArrowheads="1"/>
                  </p:cNvSpPr>
                  <p:nvPr/>
                </p:nvSpPr>
                <p:spPr bwMode="auto">
                  <a:xfrm>
                    <a:off x="91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408" name="Oval 259"/>
                  <p:cNvSpPr>
                    <a:spLocks noChangeArrowheads="1"/>
                  </p:cNvSpPr>
                  <p:nvPr/>
                </p:nvSpPr>
                <p:spPr bwMode="auto">
                  <a:xfrm>
                    <a:off x="91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400" name="Line 260"/>
                <p:cNvSpPr>
                  <a:spLocks noChangeShapeType="1"/>
                </p:cNvSpPr>
                <p:nvPr/>
              </p:nvSpPr>
              <p:spPr bwMode="auto">
                <a:xfrm>
                  <a:off x="672" y="2928"/>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401" name="Line 261"/>
                <p:cNvSpPr>
                  <a:spLocks noChangeShapeType="1"/>
                </p:cNvSpPr>
                <p:nvPr/>
              </p:nvSpPr>
              <p:spPr bwMode="auto">
                <a:xfrm>
                  <a:off x="672" y="374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29402" name="AutoShape 262"/>
                <p:cNvCxnSpPr>
                  <a:cxnSpLocks noChangeShapeType="1"/>
                </p:cNvCxnSpPr>
                <p:nvPr/>
              </p:nvCxnSpPr>
              <p:spPr bwMode="auto">
                <a:xfrm>
                  <a:off x="768" y="2928"/>
                  <a:ext cx="0" cy="816"/>
                </a:xfrm>
                <a:prstGeom prst="straightConnector1">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9403" name="Text Box 263"/>
                <p:cNvSpPr txBox="1">
                  <a:spLocks noChangeArrowheads="1"/>
                </p:cNvSpPr>
                <p:nvPr/>
              </p:nvSpPr>
              <p:spPr bwMode="auto">
                <a:xfrm>
                  <a:off x="478" y="2976"/>
                  <a:ext cx="310" cy="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000" b="1">
                      <a:latin typeface="Times New Roman" panose="02020603050405020304" pitchFamily="18" charset="0"/>
                      <a:ea typeface="宋体" panose="02010600030101010101" pitchFamily="2" charset="-122"/>
                    </a:rPr>
                    <a:t>short time</a:t>
                  </a:r>
                </a:p>
              </p:txBody>
            </p:sp>
          </p:grpSp>
          <p:sp>
            <p:nvSpPr>
              <p:cNvPr id="129398" name="Line 264"/>
              <p:cNvSpPr>
                <a:spLocks noChangeShapeType="1"/>
              </p:cNvSpPr>
              <p:nvPr/>
            </p:nvSpPr>
            <p:spPr bwMode="auto">
              <a:xfrm>
                <a:off x="912"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297" name="Group 265"/>
          <p:cNvGrpSpPr>
            <a:grpSpLocks/>
          </p:cNvGrpSpPr>
          <p:nvPr/>
        </p:nvGrpSpPr>
        <p:grpSpPr bwMode="auto">
          <a:xfrm>
            <a:off x="1446213" y="4076700"/>
            <a:ext cx="960437" cy="1600200"/>
            <a:chOff x="1066" y="1842"/>
            <a:chExt cx="605" cy="1008"/>
          </a:xfrm>
        </p:grpSpPr>
        <p:grpSp>
          <p:nvGrpSpPr>
            <p:cNvPr id="129331" name="Group 266"/>
            <p:cNvGrpSpPr>
              <a:grpSpLocks/>
            </p:cNvGrpSpPr>
            <p:nvPr/>
          </p:nvGrpSpPr>
          <p:grpSpPr bwMode="auto">
            <a:xfrm>
              <a:off x="1066" y="1842"/>
              <a:ext cx="99" cy="1008"/>
              <a:chOff x="960" y="2928"/>
              <a:chExt cx="99" cy="1008"/>
            </a:xfrm>
          </p:grpSpPr>
          <p:grpSp>
            <p:nvGrpSpPr>
              <p:cNvPr id="129388" name="Group 267"/>
              <p:cNvGrpSpPr>
                <a:grpSpLocks/>
              </p:cNvGrpSpPr>
              <p:nvPr/>
            </p:nvGrpSpPr>
            <p:grpSpPr bwMode="auto">
              <a:xfrm>
                <a:off x="982" y="2928"/>
                <a:ext cx="77" cy="845"/>
                <a:chOff x="982" y="2496"/>
                <a:chExt cx="77" cy="845"/>
              </a:xfrm>
            </p:grpSpPr>
            <p:sp>
              <p:nvSpPr>
                <p:cNvPr id="129390" name="Oval 268"/>
                <p:cNvSpPr>
                  <a:spLocks noChangeArrowheads="1"/>
                </p:cNvSpPr>
                <p:nvPr/>
              </p:nvSpPr>
              <p:spPr bwMode="auto">
                <a:xfrm>
                  <a:off x="98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1" name="Oval 269"/>
                <p:cNvSpPr>
                  <a:spLocks noChangeArrowheads="1"/>
                </p:cNvSpPr>
                <p:nvPr/>
              </p:nvSpPr>
              <p:spPr bwMode="auto">
                <a:xfrm>
                  <a:off x="98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2" name="Oval 270"/>
                <p:cNvSpPr>
                  <a:spLocks noChangeArrowheads="1"/>
                </p:cNvSpPr>
                <p:nvPr/>
              </p:nvSpPr>
              <p:spPr bwMode="auto">
                <a:xfrm>
                  <a:off x="98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3" name="Oval 271"/>
                <p:cNvSpPr>
                  <a:spLocks noChangeArrowheads="1"/>
                </p:cNvSpPr>
                <p:nvPr/>
              </p:nvSpPr>
              <p:spPr bwMode="auto">
                <a:xfrm>
                  <a:off x="98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94" name="Oval 272"/>
                <p:cNvSpPr>
                  <a:spLocks noChangeArrowheads="1"/>
                </p:cNvSpPr>
                <p:nvPr/>
              </p:nvSpPr>
              <p:spPr bwMode="auto">
                <a:xfrm>
                  <a:off x="98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89" name="Line 273"/>
              <p:cNvSpPr>
                <a:spLocks noChangeShapeType="1"/>
              </p:cNvSpPr>
              <p:nvPr/>
            </p:nvSpPr>
            <p:spPr bwMode="auto">
              <a:xfrm>
                <a:off x="960"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2" name="Group 274"/>
            <p:cNvGrpSpPr>
              <a:grpSpLocks/>
            </p:cNvGrpSpPr>
            <p:nvPr/>
          </p:nvGrpSpPr>
          <p:grpSpPr bwMode="auto">
            <a:xfrm>
              <a:off x="1114" y="1842"/>
              <a:ext cx="557" cy="1008"/>
              <a:chOff x="1114" y="1842"/>
              <a:chExt cx="557" cy="1008"/>
            </a:xfrm>
          </p:grpSpPr>
          <p:grpSp>
            <p:nvGrpSpPr>
              <p:cNvPr id="129333" name="Group 275"/>
              <p:cNvGrpSpPr>
                <a:grpSpLocks/>
              </p:cNvGrpSpPr>
              <p:nvPr/>
            </p:nvGrpSpPr>
            <p:grpSpPr bwMode="auto">
              <a:xfrm>
                <a:off x="1114" y="1842"/>
                <a:ext cx="125" cy="1008"/>
                <a:chOff x="1008" y="2928"/>
                <a:chExt cx="125" cy="1008"/>
              </a:xfrm>
            </p:grpSpPr>
            <p:grpSp>
              <p:nvGrpSpPr>
                <p:cNvPr id="129381" name="Group 276"/>
                <p:cNvGrpSpPr>
                  <a:grpSpLocks/>
                </p:cNvGrpSpPr>
                <p:nvPr/>
              </p:nvGrpSpPr>
              <p:grpSpPr bwMode="auto">
                <a:xfrm>
                  <a:off x="1056" y="2928"/>
                  <a:ext cx="77" cy="845"/>
                  <a:chOff x="1056" y="2496"/>
                  <a:chExt cx="77" cy="845"/>
                </a:xfrm>
              </p:grpSpPr>
              <p:sp>
                <p:nvSpPr>
                  <p:cNvPr id="129383" name="Oval 277"/>
                  <p:cNvSpPr>
                    <a:spLocks noChangeArrowheads="1"/>
                  </p:cNvSpPr>
                  <p:nvPr/>
                </p:nvSpPr>
                <p:spPr bwMode="auto">
                  <a:xfrm>
                    <a:off x="105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4" name="Oval 278"/>
                  <p:cNvSpPr>
                    <a:spLocks noChangeArrowheads="1"/>
                  </p:cNvSpPr>
                  <p:nvPr/>
                </p:nvSpPr>
                <p:spPr bwMode="auto">
                  <a:xfrm>
                    <a:off x="105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5" name="Oval 279"/>
                  <p:cNvSpPr>
                    <a:spLocks noChangeArrowheads="1"/>
                  </p:cNvSpPr>
                  <p:nvPr/>
                </p:nvSpPr>
                <p:spPr bwMode="auto">
                  <a:xfrm>
                    <a:off x="105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6" name="Oval 280"/>
                  <p:cNvSpPr>
                    <a:spLocks noChangeArrowheads="1"/>
                  </p:cNvSpPr>
                  <p:nvPr/>
                </p:nvSpPr>
                <p:spPr bwMode="auto">
                  <a:xfrm>
                    <a:off x="105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87" name="Oval 281"/>
                  <p:cNvSpPr>
                    <a:spLocks noChangeArrowheads="1"/>
                  </p:cNvSpPr>
                  <p:nvPr/>
                </p:nvSpPr>
                <p:spPr bwMode="auto">
                  <a:xfrm>
                    <a:off x="105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82" name="Line 282"/>
                <p:cNvSpPr>
                  <a:spLocks noChangeShapeType="1"/>
                </p:cNvSpPr>
                <p:nvPr/>
              </p:nvSpPr>
              <p:spPr bwMode="auto">
                <a:xfrm>
                  <a:off x="1008"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4" name="Group 283"/>
              <p:cNvGrpSpPr>
                <a:grpSpLocks/>
              </p:cNvGrpSpPr>
              <p:nvPr/>
            </p:nvGrpSpPr>
            <p:grpSpPr bwMode="auto">
              <a:xfrm>
                <a:off x="1210" y="1842"/>
                <a:ext cx="99" cy="1008"/>
                <a:chOff x="1104" y="2928"/>
                <a:chExt cx="99" cy="1008"/>
              </a:xfrm>
            </p:grpSpPr>
            <p:grpSp>
              <p:nvGrpSpPr>
                <p:cNvPr id="129374" name="Group 284"/>
                <p:cNvGrpSpPr>
                  <a:grpSpLocks/>
                </p:cNvGrpSpPr>
                <p:nvPr/>
              </p:nvGrpSpPr>
              <p:grpSpPr bwMode="auto">
                <a:xfrm>
                  <a:off x="1126" y="2928"/>
                  <a:ext cx="77" cy="845"/>
                  <a:chOff x="1126" y="2496"/>
                  <a:chExt cx="77" cy="845"/>
                </a:xfrm>
              </p:grpSpPr>
              <p:sp>
                <p:nvSpPr>
                  <p:cNvPr id="129376" name="Oval 285"/>
                  <p:cNvSpPr>
                    <a:spLocks noChangeArrowheads="1"/>
                  </p:cNvSpPr>
                  <p:nvPr/>
                </p:nvSpPr>
                <p:spPr bwMode="auto">
                  <a:xfrm>
                    <a:off x="1126"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7" name="Oval 286"/>
                  <p:cNvSpPr>
                    <a:spLocks noChangeArrowheads="1"/>
                  </p:cNvSpPr>
                  <p:nvPr/>
                </p:nvSpPr>
                <p:spPr bwMode="auto">
                  <a:xfrm>
                    <a:off x="112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8" name="Oval 287"/>
                  <p:cNvSpPr>
                    <a:spLocks noChangeArrowheads="1"/>
                  </p:cNvSpPr>
                  <p:nvPr/>
                </p:nvSpPr>
                <p:spPr bwMode="auto">
                  <a:xfrm>
                    <a:off x="112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9" name="Oval 288"/>
                  <p:cNvSpPr>
                    <a:spLocks noChangeArrowheads="1"/>
                  </p:cNvSpPr>
                  <p:nvPr/>
                </p:nvSpPr>
                <p:spPr bwMode="auto">
                  <a:xfrm>
                    <a:off x="1126"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80" name="Oval 289"/>
                  <p:cNvSpPr>
                    <a:spLocks noChangeArrowheads="1"/>
                  </p:cNvSpPr>
                  <p:nvPr/>
                </p:nvSpPr>
                <p:spPr bwMode="auto">
                  <a:xfrm>
                    <a:off x="1126"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grpSp>
            <p:sp>
              <p:nvSpPr>
                <p:cNvPr id="129375" name="Line 290"/>
                <p:cNvSpPr>
                  <a:spLocks noChangeShapeType="1"/>
                </p:cNvSpPr>
                <p:nvPr/>
              </p:nvSpPr>
              <p:spPr bwMode="auto">
                <a:xfrm>
                  <a:off x="110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5" name="Group 291"/>
              <p:cNvGrpSpPr>
                <a:grpSpLocks/>
              </p:cNvGrpSpPr>
              <p:nvPr/>
            </p:nvGrpSpPr>
            <p:grpSpPr bwMode="auto">
              <a:xfrm>
                <a:off x="1306" y="1842"/>
                <a:ext cx="77" cy="1008"/>
                <a:chOff x="1200" y="2928"/>
                <a:chExt cx="77" cy="1008"/>
              </a:xfrm>
            </p:grpSpPr>
            <p:grpSp>
              <p:nvGrpSpPr>
                <p:cNvPr id="129367" name="Group 292"/>
                <p:cNvGrpSpPr>
                  <a:grpSpLocks/>
                </p:cNvGrpSpPr>
                <p:nvPr/>
              </p:nvGrpSpPr>
              <p:grpSpPr bwMode="auto">
                <a:xfrm>
                  <a:off x="1200" y="2928"/>
                  <a:ext cx="77" cy="845"/>
                  <a:chOff x="1200" y="2496"/>
                  <a:chExt cx="77" cy="845"/>
                </a:xfrm>
              </p:grpSpPr>
              <p:sp>
                <p:nvSpPr>
                  <p:cNvPr id="129369" name="Oval 293"/>
                  <p:cNvSpPr>
                    <a:spLocks noChangeArrowheads="1"/>
                  </p:cNvSpPr>
                  <p:nvPr/>
                </p:nvSpPr>
                <p:spPr bwMode="auto">
                  <a:xfrm>
                    <a:off x="120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0" name="Oval 294"/>
                  <p:cNvSpPr>
                    <a:spLocks noChangeArrowheads="1"/>
                  </p:cNvSpPr>
                  <p:nvPr/>
                </p:nvSpPr>
                <p:spPr bwMode="auto">
                  <a:xfrm>
                    <a:off x="120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1" name="Oval 295"/>
                  <p:cNvSpPr>
                    <a:spLocks noChangeArrowheads="1"/>
                  </p:cNvSpPr>
                  <p:nvPr/>
                </p:nvSpPr>
                <p:spPr bwMode="auto">
                  <a:xfrm>
                    <a:off x="120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2" name="Oval 296"/>
                  <p:cNvSpPr>
                    <a:spLocks noChangeArrowheads="1"/>
                  </p:cNvSpPr>
                  <p:nvPr/>
                </p:nvSpPr>
                <p:spPr bwMode="auto">
                  <a:xfrm>
                    <a:off x="120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sp>
                <p:nvSpPr>
                  <p:cNvPr id="129373" name="Oval 297"/>
                  <p:cNvSpPr>
                    <a:spLocks noChangeArrowheads="1"/>
                  </p:cNvSpPr>
                  <p:nvPr/>
                </p:nvSpPr>
                <p:spPr bwMode="auto">
                  <a:xfrm>
                    <a:off x="120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0000FF"/>
                      </a:solidFill>
                      <a:latin typeface="Arial" panose="020B0604020202020204" pitchFamily="34" charset="0"/>
                      <a:ea typeface="宋体" panose="02010600030101010101" pitchFamily="2" charset="-122"/>
                    </a:endParaRPr>
                  </a:p>
                </p:txBody>
              </p:sp>
            </p:grpSp>
            <p:sp>
              <p:nvSpPr>
                <p:cNvPr id="129368" name="Line 298"/>
                <p:cNvSpPr>
                  <a:spLocks noChangeShapeType="1"/>
                </p:cNvSpPr>
                <p:nvPr/>
              </p:nvSpPr>
              <p:spPr bwMode="auto">
                <a:xfrm>
                  <a:off x="1200"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6" name="Group 299"/>
              <p:cNvGrpSpPr>
                <a:grpSpLocks/>
              </p:cNvGrpSpPr>
              <p:nvPr/>
            </p:nvGrpSpPr>
            <p:grpSpPr bwMode="auto">
              <a:xfrm>
                <a:off x="1354" y="1842"/>
                <a:ext cx="99" cy="1008"/>
                <a:chOff x="1248" y="2928"/>
                <a:chExt cx="99" cy="1008"/>
              </a:xfrm>
            </p:grpSpPr>
            <p:grpSp>
              <p:nvGrpSpPr>
                <p:cNvPr id="129360" name="Group 300"/>
                <p:cNvGrpSpPr>
                  <a:grpSpLocks/>
                </p:cNvGrpSpPr>
                <p:nvPr/>
              </p:nvGrpSpPr>
              <p:grpSpPr bwMode="auto">
                <a:xfrm>
                  <a:off x="1270" y="2928"/>
                  <a:ext cx="77" cy="845"/>
                  <a:chOff x="1270" y="2496"/>
                  <a:chExt cx="77" cy="845"/>
                </a:xfrm>
              </p:grpSpPr>
              <p:sp>
                <p:nvSpPr>
                  <p:cNvPr id="129362" name="Oval 301"/>
                  <p:cNvSpPr>
                    <a:spLocks noChangeArrowheads="1"/>
                  </p:cNvSpPr>
                  <p:nvPr/>
                </p:nvSpPr>
                <p:spPr bwMode="auto">
                  <a:xfrm>
                    <a:off x="127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3" name="Oval 302"/>
                  <p:cNvSpPr>
                    <a:spLocks noChangeArrowheads="1"/>
                  </p:cNvSpPr>
                  <p:nvPr/>
                </p:nvSpPr>
                <p:spPr bwMode="auto">
                  <a:xfrm>
                    <a:off x="127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4" name="Oval 303"/>
                  <p:cNvSpPr>
                    <a:spLocks noChangeArrowheads="1"/>
                  </p:cNvSpPr>
                  <p:nvPr/>
                </p:nvSpPr>
                <p:spPr bwMode="auto">
                  <a:xfrm>
                    <a:off x="127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5" name="Oval 304"/>
                  <p:cNvSpPr>
                    <a:spLocks noChangeArrowheads="1"/>
                  </p:cNvSpPr>
                  <p:nvPr/>
                </p:nvSpPr>
                <p:spPr bwMode="auto">
                  <a:xfrm>
                    <a:off x="127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66" name="Oval 305"/>
                  <p:cNvSpPr>
                    <a:spLocks noChangeArrowheads="1"/>
                  </p:cNvSpPr>
                  <p:nvPr/>
                </p:nvSpPr>
                <p:spPr bwMode="auto">
                  <a:xfrm>
                    <a:off x="127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61" name="Line 306"/>
                <p:cNvSpPr>
                  <a:spLocks noChangeShapeType="1"/>
                </p:cNvSpPr>
                <p:nvPr/>
              </p:nvSpPr>
              <p:spPr bwMode="auto">
                <a:xfrm>
                  <a:off x="1248"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7" name="Group 307"/>
              <p:cNvGrpSpPr>
                <a:grpSpLocks/>
              </p:cNvGrpSpPr>
              <p:nvPr/>
            </p:nvGrpSpPr>
            <p:grpSpPr bwMode="auto">
              <a:xfrm>
                <a:off x="1450" y="1842"/>
                <a:ext cx="96" cy="1008"/>
                <a:chOff x="1344" y="2928"/>
                <a:chExt cx="96" cy="1008"/>
              </a:xfrm>
            </p:grpSpPr>
            <p:grpSp>
              <p:nvGrpSpPr>
                <p:cNvPr id="129353" name="Group 308"/>
                <p:cNvGrpSpPr>
                  <a:grpSpLocks/>
                </p:cNvGrpSpPr>
                <p:nvPr/>
              </p:nvGrpSpPr>
              <p:grpSpPr bwMode="auto">
                <a:xfrm>
                  <a:off x="1344" y="2928"/>
                  <a:ext cx="77" cy="845"/>
                  <a:chOff x="1344" y="2496"/>
                  <a:chExt cx="77" cy="845"/>
                </a:xfrm>
              </p:grpSpPr>
              <p:sp>
                <p:nvSpPr>
                  <p:cNvPr id="129355" name="Oval 309"/>
                  <p:cNvSpPr>
                    <a:spLocks noChangeArrowheads="1"/>
                  </p:cNvSpPr>
                  <p:nvPr/>
                </p:nvSpPr>
                <p:spPr bwMode="auto">
                  <a:xfrm>
                    <a:off x="134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6" name="Oval 310"/>
                  <p:cNvSpPr>
                    <a:spLocks noChangeArrowheads="1"/>
                  </p:cNvSpPr>
                  <p:nvPr/>
                </p:nvSpPr>
                <p:spPr bwMode="auto">
                  <a:xfrm>
                    <a:off x="134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7" name="Oval 311"/>
                  <p:cNvSpPr>
                    <a:spLocks noChangeArrowheads="1"/>
                  </p:cNvSpPr>
                  <p:nvPr/>
                </p:nvSpPr>
                <p:spPr bwMode="auto">
                  <a:xfrm>
                    <a:off x="134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8" name="Oval 312"/>
                  <p:cNvSpPr>
                    <a:spLocks noChangeArrowheads="1"/>
                  </p:cNvSpPr>
                  <p:nvPr/>
                </p:nvSpPr>
                <p:spPr bwMode="auto">
                  <a:xfrm>
                    <a:off x="134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9" name="Oval 313"/>
                  <p:cNvSpPr>
                    <a:spLocks noChangeArrowheads="1"/>
                  </p:cNvSpPr>
                  <p:nvPr/>
                </p:nvSpPr>
                <p:spPr bwMode="auto">
                  <a:xfrm>
                    <a:off x="134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54" name="Line 314"/>
                <p:cNvSpPr>
                  <a:spLocks noChangeShapeType="1"/>
                </p:cNvSpPr>
                <p:nvPr/>
              </p:nvSpPr>
              <p:spPr bwMode="auto">
                <a:xfrm>
                  <a:off x="134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338" name="Group 315"/>
              <p:cNvGrpSpPr>
                <a:grpSpLocks/>
              </p:cNvGrpSpPr>
              <p:nvPr/>
            </p:nvGrpSpPr>
            <p:grpSpPr bwMode="auto">
              <a:xfrm>
                <a:off x="1520" y="1842"/>
                <a:ext cx="151" cy="1008"/>
                <a:chOff x="1414" y="2928"/>
                <a:chExt cx="151" cy="1008"/>
              </a:xfrm>
            </p:grpSpPr>
            <p:grpSp>
              <p:nvGrpSpPr>
                <p:cNvPr id="129339" name="Group 316"/>
                <p:cNvGrpSpPr>
                  <a:grpSpLocks/>
                </p:cNvGrpSpPr>
                <p:nvPr/>
              </p:nvGrpSpPr>
              <p:grpSpPr bwMode="auto">
                <a:xfrm>
                  <a:off x="1414" y="2928"/>
                  <a:ext cx="77" cy="845"/>
                  <a:chOff x="1414" y="2496"/>
                  <a:chExt cx="77" cy="845"/>
                </a:xfrm>
              </p:grpSpPr>
              <p:sp>
                <p:nvSpPr>
                  <p:cNvPr id="129348" name="Oval 317"/>
                  <p:cNvSpPr>
                    <a:spLocks noChangeArrowheads="1"/>
                  </p:cNvSpPr>
                  <p:nvPr/>
                </p:nvSpPr>
                <p:spPr bwMode="auto">
                  <a:xfrm>
                    <a:off x="141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9" name="Oval 318"/>
                  <p:cNvSpPr>
                    <a:spLocks noChangeArrowheads="1"/>
                  </p:cNvSpPr>
                  <p:nvPr/>
                </p:nvSpPr>
                <p:spPr bwMode="auto">
                  <a:xfrm>
                    <a:off x="141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0" name="Oval 319"/>
                  <p:cNvSpPr>
                    <a:spLocks noChangeArrowheads="1"/>
                  </p:cNvSpPr>
                  <p:nvPr/>
                </p:nvSpPr>
                <p:spPr bwMode="auto">
                  <a:xfrm>
                    <a:off x="141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1" name="Oval 320"/>
                  <p:cNvSpPr>
                    <a:spLocks noChangeArrowheads="1"/>
                  </p:cNvSpPr>
                  <p:nvPr/>
                </p:nvSpPr>
                <p:spPr bwMode="auto">
                  <a:xfrm>
                    <a:off x="141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52" name="Oval 321"/>
                  <p:cNvSpPr>
                    <a:spLocks noChangeArrowheads="1"/>
                  </p:cNvSpPr>
                  <p:nvPr/>
                </p:nvSpPr>
                <p:spPr bwMode="auto">
                  <a:xfrm>
                    <a:off x="141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grpSp>
              <p:nvGrpSpPr>
                <p:cNvPr id="129340" name="Group 322"/>
                <p:cNvGrpSpPr>
                  <a:grpSpLocks/>
                </p:cNvGrpSpPr>
                <p:nvPr/>
              </p:nvGrpSpPr>
              <p:grpSpPr bwMode="auto">
                <a:xfrm>
                  <a:off x="1440" y="2928"/>
                  <a:ext cx="125" cy="1008"/>
                  <a:chOff x="1440" y="2928"/>
                  <a:chExt cx="125" cy="1008"/>
                </a:xfrm>
              </p:grpSpPr>
              <p:grpSp>
                <p:nvGrpSpPr>
                  <p:cNvPr id="129341" name="Group 323"/>
                  <p:cNvGrpSpPr>
                    <a:grpSpLocks/>
                  </p:cNvGrpSpPr>
                  <p:nvPr/>
                </p:nvGrpSpPr>
                <p:grpSpPr bwMode="auto">
                  <a:xfrm>
                    <a:off x="1488" y="2928"/>
                    <a:ext cx="77" cy="845"/>
                    <a:chOff x="1488" y="2496"/>
                    <a:chExt cx="77" cy="845"/>
                  </a:xfrm>
                </p:grpSpPr>
                <p:sp>
                  <p:nvSpPr>
                    <p:cNvPr id="129343" name="Oval 324"/>
                    <p:cNvSpPr>
                      <a:spLocks noChangeArrowheads="1"/>
                    </p:cNvSpPr>
                    <p:nvPr/>
                  </p:nvSpPr>
                  <p:spPr bwMode="auto">
                    <a:xfrm>
                      <a:off x="148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4" name="Oval 325"/>
                    <p:cNvSpPr>
                      <a:spLocks noChangeArrowheads="1"/>
                    </p:cNvSpPr>
                    <p:nvPr/>
                  </p:nvSpPr>
                  <p:spPr bwMode="auto">
                    <a:xfrm>
                      <a:off x="148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5" name="Oval 326"/>
                    <p:cNvSpPr>
                      <a:spLocks noChangeArrowheads="1"/>
                    </p:cNvSpPr>
                    <p:nvPr/>
                  </p:nvSpPr>
                  <p:spPr bwMode="auto">
                    <a:xfrm>
                      <a:off x="148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6" name="Oval 327"/>
                    <p:cNvSpPr>
                      <a:spLocks noChangeArrowheads="1"/>
                    </p:cNvSpPr>
                    <p:nvPr/>
                  </p:nvSpPr>
                  <p:spPr bwMode="auto">
                    <a:xfrm>
                      <a:off x="148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47" name="Oval 328"/>
                    <p:cNvSpPr>
                      <a:spLocks noChangeArrowheads="1"/>
                    </p:cNvSpPr>
                    <p:nvPr/>
                  </p:nvSpPr>
                  <p:spPr bwMode="auto">
                    <a:xfrm>
                      <a:off x="148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42" name="Line 329"/>
                  <p:cNvSpPr>
                    <a:spLocks noChangeShapeType="1"/>
                  </p:cNvSpPr>
                  <p:nvPr/>
                </p:nvSpPr>
                <p:spPr bwMode="auto">
                  <a:xfrm>
                    <a:off x="1440"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grpSp>
      <p:grpSp>
        <p:nvGrpSpPr>
          <p:cNvPr id="300362" name="Group 330"/>
          <p:cNvGrpSpPr>
            <a:grpSpLocks/>
          </p:cNvGrpSpPr>
          <p:nvPr/>
        </p:nvGrpSpPr>
        <p:grpSpPr bwMode="auto">
          <a:xfrm>
            <a:off x="2360613" y="4076700"/>
            <a:ext cx="157162" cy="1600200"/>
            <a:chOff x="1536" y="2928"/>
            <a:chExt cx="99" cy="1008"/>
          </a:xfrm>
        </p:grpSpPr>
        <p:grpSp>
          <p:nvGrpSpPr>
            <p:cNvPr id="129324" name="Group 331"/>
            <p:cNvGrpSpPr>
              <a:grpSpLocks/>
            </p:cNvGrpSpPr>
            <p:nvPr/>
          </p:nvGrpSpPr>
          <p:grpSpPr bwMode="auto">
            <a:xfrm>
              <a:off x="1558" y="2928"/>
              <a:ext cx="77" cy="845"/>
              <a:chOff x="1558" y="2496"/>
              <a:chExt cx="77" cy="845"/>
            </a:xfrm>
          </p:grpSpPr>
          <p:sp>
            <p:nvSpPr>
              <p:cNvPr id="129326" name="Oval 332"/>
              <p:cNvSpPr>
                <a:spLocks noChangeArrowheads="1"/>
              </p:cNvSpPr>
              <p:nvPr/>
            </p:nvSpPr>
            <p:spPr bwMode="auto">
              <a:xfrm>
                <a:off x="1558"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7" name="Oval 333"/>
              <p:cNvSpPr>
                <a:spLocks noChangeArrowheads="1"/>
              </p:cNvSpPr>
              <p:nvPr/>
            </p:nvSpPr>
            <p:spPr bwMode="auto">
              <a:xfrm>
                <a:off x="1558"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8" name="Oval 334"/>
              <p:cNvSpPr>
                <a:spLocks noChangeArrowheads="1"/>
              </p:cNvSpPr>
              <p:nvPr/>
            </p:nvSpPr>
            <p:spPr bwMode="auto">
              <a:xfrm>
                <a:off x="1558"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9" name="Oval 335"/>
              <p:cNvSpPr>
                <a:spLocks noChangeArrowheads="1"/>
              </p:cNvSpPr>
              <p:nvPr/>
            </p:nvSpPr>
            <p:spPr bwMode="auto">
              <a:xfrm>
                <a:off x="1558"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30" name="Oval 336"/>
              <p:cNvSpPr>
                <a:spLocks noChangeArrowheads="1"/>
              </p:cNvSpPr>
              <p:nvPr/>
            </p:nvSpPr>
            <p:spPr bwMode="auto">
              <a:xfrm>
                <a:off x="1558"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25" name="Line 337"/>
            <p:cNvSpPr>
              <a:spLocks noChangeShapeType="1"/>
            </p:cNvSpPr>
            <p:nvPr/>
          </p:nvSpPr>
          <p:spPr bwMode="auto">
            <a:xfrm>
              <a:off x="1536"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370" name="Group 338"/>
          <p:cNvGrpSpPr>
            <a:grpSpLocks/>
          </p:cNvGrpSpPr>
          <p:nvPr/>
        </p:nvGrpSpPr>
        <p:grpSpPr bwMode="auto">
          <a:xfrm>
            <a:off x="2513013" y="4076700"/>
            <a:ext cx="919162" cy="1600200"/>
            <a:chOff x="1738" y="1842"/>
            <a:chExt cx="579" cy="1008"/>
          </a:xfrm>
        </p:grpSpPr>
        <p:grpSp>
          <p:nvGrpSpPr>
            <p:cNvPr id="129266" name="Group 339"/>
            <p:cNvGrpSpPr>
              <a:grpSpLocks/>
            </p:cNvGrpSpPr>
            <p:nvPr/>
          </p:nvGrpSpPr>
          <p:grpSpPr bwMode="auto">
            <a:xfrm>
              <a:off x="1738" y="1842"/>
              <a:ext cx="77" cy="1008"/>
              <a:chOff x="1632" y="2928"/>
              <a:chExt cx="77" cy="1008"/>
            </a:xfrm>
          </p:grpSpPr>
          <p:grpSp>
            <p:nvGrpSpPr>
              <p:cNvPr id="129317" name="Group 340"/>
              <p:cNvGrpSpPr>
                <a:grpSpLocks/>
              </p:cNvGrpSpPr>
              <p:nvPr/>
            </p:nvGrpSpPr>
            <p:grpSpPr bwMode="auto">
              <a:xfrm>
                <a:off x="1632" y="2928"/>
                <a:ext cx="77" cy="845"/>
                <a:chOff x="1632" y="2496"/>
                <a:chExt cx="77" cy="845"/>
              </a:xfrm>
            </p:grpSpPr>
            <p:sp>
              <p:nvSpPr>
                <p:cNvPr id="129319" name="Oval 341"/>
                <p:cNvSpPr>
                  <a:spLocks noChangeArrowheads="1"/>
                </p:cNvSpPr>
                <p:nvPr/>
              </p:nvSpPr>
              <p:spPr bwMode="auto">
                <a:xfrm>
                  <a:off x="163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0" name="Oval 342"/>
                <p:cNvSpPr>
                  <a:spLocks noChangeArrowheads="1"/>
                </p:cNvSpPr>
                <p:nvPr/>
              </p:nvSpPr>
              <p:spPr bwMode="auto">
                <a:xfrm>
                  <a:off x="163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1" name="Oval 343"/>
                <p:cNvSpPr>
                  <a:spLocks noChangeArrowheads="1"/>
                </p:cNvSpPr>
                <p:nvPr/>
              </p:nvSpPr>
              <p:spPr bwMode="auto">
                <a:xfrm>
                  <a:off x="163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2" name="Oval 344"/>
                <p:cNvSpPr>
                  <a:spLocks noChangeArrowheads="1"/>
                </p:cNvSpPr>
                <p:nvPr/>
              </p:nvSpPr>
              <p:spPr bwMode="auto">
                <a:xfrm>
                  <a:off x="163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23" name="Oval 345"/>
                <p:cNvSpPr>
                  <a:spLocks noChangeArrowheads="1"/>
                </p:cNvSpPr>
                <p:nvPr/>
              </p:nvSpPr>
              <p:spPr bwMode="auto">
                <a:xfrm>
                  <a:off x="163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18" name="Line 346"/>
              <p:cNvSpPr>
                <a:spLocks noChangeShapeType="1"/>
              </p:cNvSpPr>
              <p:nvPr/>
            </p:nvSpPr>
            <p:spPr bwMode="auto">
              <a:xfrm>
                <a:off x="1632"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67" name="Group 347"/>
            <p:cNvGrpSpPr>
              <a:grpSpLocks/>
            </p:cNvGrpSpPr>
            <p:nvPr/>
          </p:nvGrpSpPr>
          <p:grpSpPr bwMode="auto">
            <a:xfrm>
              <a:off x="1786" y="1842"/>
              <a:ext cx="99" cy="1008"/>
              <a:chOff x="1680" y="2928"/>
              <a:chExt cx="99" cy="1008"/>
            </a:xfrm>
          </p:grpSpPr>
          <p:grpSp>
            <p:nvGrpSpPr>
              <p:cNvPr id="129310" name="Group 348"/>
              <p:cNvGrpSpPr>
                <a:grpSpLocks/>
              </p:cNvGrpSpPr>
              <p:nvPr/>
            </p:nvGrpSpPr>
            <p:grpSpPr bwMode="auto">
              <a:xfrm>
                <a:off x="1702" y="2928"/>
                <a:ext cx="77" cy="845"/>
                <a:chOff x="1702" y="2496"/>
                <a:chExt cx="77" cy="845"/>
              </a:xfrm>
            </p:grpSpPr>
            <p:sp>
              <p:nvSpPr>
                <p:cNvPr id="129312" name="Oval 349"/>
                <p:cNvSpPr>
                  <a:spLocks noChangeArrowheads="1"/>
                </p:cNvSpPr>
                <p:nvPr/>
              </p:nvSpPr>
              <p:spPr bwMode="auto">
                <a:xfrm>
                  <a:off x="170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3" name="Oval 350"/>
                <p:cNvSpPr>
                  <a:spLocks noChangeArrowheads="1"/>
                </p:cNvSpPr>
                <p:nvPr/>
              </p:nvSpPr>
              <p:spPr bwMode="auto">
                <a:xfrm>
                  <a:off x="170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4" name="Oval 351"/>
                <p:cNvSpPr>
                  <a:spLocks noChangeArrowheads="1"/>
                </p:cNvSpPr>
                <p:nvPr/>
              </p:nvSpPr>
              <p:spPr bwMode="auto">
                <a:xfrm>
                  <a:off x="170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5" name="Oval 352"/>
                <p:cNvSpPr>
                  <a:spLocks noChangeArrowheads="1"/>
                </p:cNvSpPr>
                <p:nvPr/>
              </p:nvSpPr>
              <p:spPr bwMode="auto">
                <a:xfrm>
                  <a:off x="170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16" name="Oval 353"/>
                <p:cNvSpPr>
                  <a:spLocks noChangeArrowheads="1"/>
                </p:cNvSpPr>
                <p:nvPr/>
              </p:nvSpPr>
              <p:spPr bwMode="auto">
                <a:xfrm>
                  <a:off x="170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11" name="Line 354"/>
              <p:cNvSpPr>
                <a:spLocks noChangeShapeType="1"/>
              </p:cNvSpPr>
              <p:nvPr/>
            </p:nvSpPr>
            <p:spPr bwMode="auto">
              <a:xfrm>
                <a:off x="1680"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68" name="Group 355"/>
            <p:cNvGrpSpPr>
              <a:grpSpLocks/>
            </p:cNvGrpSpPr>
            <p:nvPr/>
          </p:nvGrpSpPr>
          <p:grpSpPr bwMode="auto">
            <a:xfrm>
              <a:off x="1882" y="1842"/>
              <a:ext cx="77" cy="1008"/>
              <a:chOff x="1776" y="2928"/>
              <a:chExt cx="77" cy="1008"/>
            </a:xfrm>
          </p:grpSpPr>
          <p:grpSp>
            <p:nvGrpSpPr>
              <p:cNvPr id="129303" name="Group 356"/>
              <p:cNvGrpSpPr>
                <a:grpSpLocks/>
              </p:cNvGrpSpPr>
              <p:nvPr/>
            </p:nvGrpSpPr>
            <p:grpSpPr bwMode="auto">
              <a:xfrm>
                <a:off x="1776" y="2928"/>
                <a:ext cx="77" cy="845"/>
                <a:chOff x="1776" y="2496"/>
                <a:chExt cx="77" cy="845"/>
              </a:xfrm>
            </p:grpSpPr>
            <p:sp>
              <p:nvSpPr>
                <p:cNvPr id="129305" name="Oval 357"/>
                <p:cNvSpPr>
                  <a:spLocks noChangeArrowheads="1"/>
                </p:cNvSpPr>
                <p:nvPr/>
              </p:nvSpPr>
              <p:spPr bwMode="auto">
                <a:xfrm>
                  <a:off x="177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6" name="Oval 358"/>
                <p:cNvSpPr>
                  <a:spLocks noChangeArrowheads="1"/>
                </p:cNvSpPr>
                <p:nvPr/>
              </p:nvSpPr>
              <p:spPr bwMode="auto">
                <a:xfrm>
                  <a:off x="177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7" name="Oval 359"/>
                <p:cNvSpPr>
                  <a:spLocks noChangeArrowheads="1"/>
                </p:cNvSpPr>
                <p:nvPr/>
              </p:nvSpPr>
              <p:spPr bwMode="auto">
                <a:xfrm>
                  <a:off x="177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8" name="Oval 360"/>
                <p:cNvSpPr>
                  <a:spLocks noChangeArrowheads="1"/>
                </p:cNvSpPr>
                <p:nvPr/>
              </p:nvSpPr>
              <p:spPr bwMode="auto">
                <a:xfrm>
                  <a:off x="177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9" name="Oval 361"/>
                <p:cNvSpPr>
                  <a:spLocks noChangeArrowheads="1"/>
                </p:cNvSpPr>
                <p:nvPr/>
              </p:nvSpPr>
              <p:spPr bwMode="auto">
                <a:xfrm>
                  <a:off x="177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304" name="Line 362"/>
              <p:cNvSpPr>
                <a:spLocks noChangeShapeType="1"/>
              </p:cNvSpPr>
              <p:nvPr/>
            </p:nvSpPr>
            <p:spPr bwMode="auto">
              <a:xfrm>
                <a:off x="1776" y="3936"/>
                <a:ext cx="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69" name="Group 363"/>
            <p:cNvGrpSpPr>
              <a:grpSpLocks/>
            </p:cNvGrpSpPr>
            <p:nvPr/>
          </p:nvGrpSpPr>
          <p:grpSpPr bwMode="auto">
            <a:xfrm>
              <a:off x="1930" y="1842"/>
              <a:ext cx="99" cy="1008"/>
              <a:chOff x="1824" y="2928"/>
              <a:chExt cx="99" cy="1008"/>
            </a:xfrm>
          </p:grpSpPr>
          <p:grpSp>
            <p:nvGrpSpPr>
              <p:cNvPr id="129296" name="Group 364"/>
              <p:cNvGrpSpPr>
                <a:grpSpLocks/>
              </p:cNvGrpSpPr>
              <p:nvPr/>
            </p:nvGrpSpPr>
            <p:grpSpPr bwMode="auto">
              <a:xfrm>
                <a:off x="1846" y="2928"/>
                <a:ext cx="77" cy="845"/>
                <a:chOff x="1846" y="2496"/>
                <a:chExt cx="77" cy="845"/>
              </a:xfrm>
            </p:grpSpPr>
            <p:sp>
              <p:nvSpPr>
                <p:cNvPr id="129298" name="Oval 365"/>
                <p:cNvSpPr>
                  <a:spLocks noChangeArrowheads="1"/>
                </p:cNvSpPr>
                <p:nvPr/>
              </p:nvSpPr>
              <p:spPr bwMode="auto">
                <a:xfrm>
                  <a:off x="184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9" name="Oval 366"/>
                <p:cNvSpPr>
                  <a:spLocks noChangeArrowheads="1"/>
                </p:cNvSpPr>
                <p:nvPr/>
              </p:nvSpPr>
              <p:spPr bwMode="auto">
                <a:xfrm>
                  <a:off x="184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0" name="Oval 367"/>
                <p:cNvSpPr>
                  <a:spLocks noChangeArrowheads="1"/>
                </p:cNvSpPr>
                <p:nvPr/>
              </p:nvSpPr>
              <p:spPr bwMode="auto">
                <a:xfrm>
                  <a:off x="184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1" name="Oval 368"/>
                <p:cNvSpPr>
                  <a:spLocks noChangeArrowheads="1"/>
                </p:cNvSpPr>
                <p:nvPr/>
              </p:nvSpPr>
              <p:spPr bwMode="auto">
                <a:xfrm>
                  <a:off x="184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302" name="Oval 369"/>
                <p:cNvSpPr>
                  <a:spLocks noChangeArrowheads="1"/>
                </p:cNvSpPr>
                <p:nvPr/>
              </p:nvSpPr>
              <p:spPr bwMode="auto">
                <a:xfrm>
                  <a:off x="184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97" name="Line 370"/>
              <p:cNvSpPr>
                <a:spLocks noChangeShapeType="1"/>
              </p:cNvSpPr>
              <p:nvPr/>
            </p:nvSpPr>
            <p:spPr bwMode="auto">
              <a:xfrm>
                <a:off x="1824" y="3936"/>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70" name="Group 371"/>
            <p:cNvGrpSpPr>
              <a:grpSpLocks/>
            </p:cNvGrpSpPr>
            <p:nvPr/>
          </p:nvGrpSpPr>
          <p:grpSpPr bwMode="auto">
            <a:xfrm>
              <a:off x="2026" y="1842"/>
              <a:ext cx="147" cy="1008"/>
              <a:chOff x="1920" y="2928"/>
              <a:chExt cx="147" cy="1008"/>
            </a:xfrm>
          </p:grpSpPr>
          <p:grpSp>
            <p:nvGrpSpPr>
              <p:cNvPr id="129284" name="Group 372"/>
              <p:cNvGrpSpPr>
                <a:grpSpLocks/>
              </p:cNvGrpSpPr>
              <p:nvPr/>
            </p:nvGrpSpPr>
            <p:grpSpPr bwMode="auto">
              <a:xfrm>
                <a:off x="1920" y="2928"/>
                <a:ext cx="147" cy="845"/>
                <a:chOff x="1920" y="2496"/>
                <a:chExt cx="147" cy="845"/>
              </a:xfrm>
            </p:grpSpPr>
            <p:sp>
              <p:nvSpPr>
                <p:cNvPr id="129286" name="Oval 373"/>
                <p:cNvSpPr>
                  <a:spLocks noChangeArrowheads="1"/>
                </p:cNvSpPr>
                <p:nvPr/>
              </p:nvSpPr>
              <p:spPr bwMode="auto">
                <a:xfrm>
                  <a:off x="192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7" name="Oval 374"/>
                <p:cNvSpPr>
                  <a:spLocks noChangeArrowheads="1"/>
                </p:cNvSpPr>
                <p:nvPr/>
              </p:nvSpPr>
              <p:spPr bwMode="auto">
                <a:xfrm>
                  <a:off x="199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8" name="Oval 375"/>
                <p:cNvSpPr>
                  <a:spLocks noChangeArrowheads="1"/>
                </p:cNvSpPr>
                <p:nvPr/>
              </p:nvSpPr>
              <p:spPr bwMode="auto">
                <a:xfrm>
                  <a:off x="192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9" name="Oval 376"/>
                <p:cNvSpPr>
                  <a:spLocks noChangeArrowheads="1"/>
                </p:cNvSpPr>
                <p:nvPr/>
              </p:nvSpPr>
              <p:spPr bwMode="auto">
                <a:xfrm>
                  <a:off x="199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0" name="Oval 377"/>
                <p:cNvSpPr>
                  <a:spLocks noChangeArrowheads="1"/>
                </p:cNvSpPr>
                <p:nvPr/>
              </p:nvSpPr>
              <p:spPr bwMode="auto">
                <a:xfrm>
                  <a:off x="192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1" name="Oval 378"/>
                <p:cNvSpPr>
                  <a:spLocks noChangeArrowheads="1"/>
                </p:cNvSpPr>
                <p:nvPr/>
              </p:nvSpPr>
              <p:spPr bwMode="auto">
                <a:xfrm>
                  <a:off x="199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2" name="Oval 379"/>
                <p:cNvSpPr>
                  <a:spLocks noChangeArrowheads="1"/>
                </p:cNvSpPr>
                <p:nvPr/>
              </p:nvSpPr>
              <p:spPr bwMode="auto">
                <a:xfrm>
                  <a:off x="192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3" name="Oval 380"/>
                <p:cNvSpPr>
                  <a:spLocks noChangeArrowheads="1"/>
                </p:cNvSpPr>
                <p:nvPr/>
              </p:nvSpPr>
              <p:spPr bwMode="auto">
                <a:xfrm>
                  <a:off x="199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4" name="Oval 381"/>
                <p:cNvSpPr>
                  <a:spLocks noChangeArrowheads="1"/>
                </p:cNvSpPr>
                <p:nvPr/>
              </p:nvSpPr>
              <p:spPr bwMode="auto">
                <a:xfrm>
                  <a:off x="192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95" name="Oval 382"/>
                <p:cNvSpPr>
                  <a:spLocks noChangeArrowheads="1"/>
                </p:cNvSpPr>
                <p:nvPr/>
              </p:nvSpPr>
              <p:spPr bwMode="auto">
                <a:xfrm>
                  <a:off x="199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85" name="Line 383"/>
              <p:cNvSpPr>
                <a:spLocks noChangeShapeType="1"/>
              </p:cNvSpPr>
              <p:nvPr/>
            </p:nvSpPr>
            <p:spPr bwMode="auto">
              <a:xfrm>
                <a:off x="1920"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71" name="Group 384"/>
            <p:cNvGrpSpPr>
              <a:grpSpLocks/>
            </p:cNvGrpSpPr>
            <p:nvPr/>
          </p:nvGrpSpPr>
          <p:grpSpPr bwMode="auto">
            <a:xfrm>
              <a:off x="2170" y="1842"/>
              <a:ext cx="147" cy="1008"/>
              <a:chOff x="2064" y="2928"/>
              <a:chExt cx="147" cy="1008"/>
            </a:xfrm>
          </p:grpSpPr>
          <p:grpSp>
            <p:nvGrpSpPr>
              <p:cNvPr id="129272" name="Group 385"/>
              <p:cNvGrpSpPr>
                <a:grpSpLocks/>
              </p:cNvGrpSpPr>
              <p:nvPr/>
            </p:nvGrpSpPr>
            <p:grpSpPr bwMode="auto">
              <a:xfrm>
                <a:off x="2064" y="2928"/>
                <a:ext cx="147" cy="845"/>
                <a:chOff x="2064" y="2496"/>
                <a:chExt cx="147" cy="845"/>
              </a:xfrm>
            </p:grpSpPr>
            <p:sp>
              <p:nvSpPr>
                <p:cNvPr id="129274" name="Oval 386"/>
                <p:cNvSpPr>
                  <a:spLocks noChangeArrowheads="1"/>
                </p:cNvSpPr>
                <p:nvPr/>
              </p:nvSpPr>
              <p:spPr bwMode="auto">
                <a:xfrm>
                  <a:off x="2064"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5" name="Oval 387"/>
                <p:cNvSpPr>
                  <a:spLocks noChangeArrowheads="1"/>
                </p:cNvSpPr>
                <p:nvPr/>
              </p:nvSpPr>
              <p:spPr bwMode="auto">
                <a:xfrm>
                  <a:off x="213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6" name="Oval 388"/>
                <p:cNvSpPr>
                  <a:spLocks noChangeArrowheads="1"/>
                </p:cNvSpPr>
                <p:nvPr/>
              </p:nvSpPr>
              <p:spPr bwMode="auto">
                <a:xfrm>
                  <a:off x="2064"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7" name="Oval 389"/>
                <p:cNvSpPr>
                  <a:spLocks noChangeArrowheads="1"/>
                </p:cNvSpPr>
                <p:nvPr/>
              </p:nvSpPr>
              <p:spPr bwMode="auto">
                <a:xfrm>
                  <a:off x="213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8" name="Oval 390"/>
                <p:cNvSpPr>
                  <a:spLocks noChangeArrowheads="1"/>
                </p:cNvSpPr>
                <p:nvPr/>
              </p:nvSpPr>
              <p:spPr bwMode="auto">
                <a:xfrm>
                  <a:off x="2064"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79" name="Oval 391"/>
                <p:cNvSpPr>
                  <a:spLocks noChangeArrowheads="1"/>
                </p:cNvSpPr>
                <p:nvPr/>
              </p:nvSpPr>
              <p:spPr bwMode="auto">
                <a:xfrm>
                  <a:off x="213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0" name="Oval 392"/>
                <p:cNvSpPr>
                  <a:spLocks noChangeArrowheads="1"/>
                </p:cNvSpPr>
                <p:nvPr/>
              </p:nvSpPr>
              <p:spPr bwMode="auto">
                <a:xfrm>
                  <a:off x="2064"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1" name="Oval 393"/>
                <p:cNvSpPr>
                  <a:spLocks noChangeArrowheads="1"/>
                </p:cNvSpPr>
                <p:nvPr/>
              </p:nvSpPr>
              <p:spPr bwMode="auto">
                <a:xfrm>
                  <a:off x="213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2" name="Oval 394"/>
                <p:cNvSpPr>
                  <a:spLocks noChangeArrowheads="1"/>
                </p:cNvSpPr>
                <p:nvPr/>
              </p:nvSpPr>
              <p:spPr bwMode="auto">
                <a:xfrm>
                  <a:off x="2064"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83" name="Oval 395"/>
                <p:cNvSpPr>
                  <a:spLocks noChangeArrowheads="1"/>
                </p:cNvSpPr>
                <p:nvPr/>
              </p:nvSpPr>
              <p:spPr bwMode="auto">
                <a:xfrm>
                  <a:off x="213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73" name="Line 396"/>
              <p:cNvSpPr>
                <a:spLocks noChangeShapeType="1"/>
              </p:cNvSpPr>
              <p:nvPr/>
            </p:nvSpPr>
            <p:spPr bwMode="auto">
              <a:xfrm>
                <a:off x="2064"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429" name="Group 397"/>
          <p:cNvGrpSpPr>
            <a:grpSpLocks/>
          </p:cNvGrpSpPr>
          <p:nvPr/>
        </p:nvGrpSpPr>
        <p:grpSpPr bwMode="auto">
          <a:xfrm>
            <a:off x="3427413" y="4076700"/>
            <a:ext cx="1066800" cy="1600200"/>
            <a:chOff x="2314" y="1842"/>
            <a:chExt cx="672" cy="1008"/>
          </a:xfrm>
        </p:grpSpPr>
        <p:grpSp>
          <p:nvGrpSpPr>
            <p:cNvPr id="129211" name="Group 398"/>
            <p:cNvGrpSpPr>
              <a:grpSpLocks/>
            </p:cNvGrpSpPr>
            <p:nvPr/>
          </p:nvGrpSpPr>
          <p:grpSpPr bwMode="auto">
            <a:xfrm>
              <a:off x="2314" y="1842"/>
              <a:ext cx="147" cy="1008"/>
              <a:chOff x="2208" y="2928"/>
              <a:chExt cx="147" cy="1008"/>
            </a:xfrm>
          </p:grpSpPr>
          <p:grpSp>
            <p:nvGrpSpPr>
              <p:cNvPr id="129254" name="Group 399"/>
              <p:cNvGrpSpPr>
                <a:grpSpLocks/>
              </p:cNvGrpSpPr>
              <p:nvPr/>
            </p:nvGrpSpPr>
            <p:grpSpPr bwMode="auto">
              <a:xfrm>
                <a:off x="2208" y="2928"/>
                <a:ext cx="147" cy="845"/>
                <a:chOff x="2208" y="2496"/>
                <a:chExt cx="147" cy="845"/>
              </a:xfrm>
            </p:grpSpPr>
            <p:sp>
              <p:nvSpPr>
                <p:cNvPr id="129256" name="Oval 400"/>
                <p:cNvSpPr>
                  <a:spLocks noChangeArrowheads="1"/>
                </p:cNvSpPr>
                <p:nvPr/>
              </p:nvSpPr>
              <p:spPr bwMode="auto">
                <a:xfrm>
                  <a:off x="220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7" name="Oval 401"/>
                <p:cNvSpPr>
                  <a:spLocks noChangeArrowheads="1"/>
                </p:cNvSpPr>
                <p:nvPr/>
              </p:nvSpPr>
              <p:spPr bwMode="auto">
                <a:xfrm>
                  <a:off x="227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8" name="Oval 402"/>
                <p:cNvSpPr>
                  <a:spLocks noChangeArrowheads="1"/>
                </p:cNvSpPr>
                <p:nvPr/>
              </p:nvSpPr>
              <p:spPr bwMode="auto">
                <a:xfrm>
                  <a:off x="220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9" name="Oval 403"/>
                <p:cNvSpPr>
                  <a:spLocks noChangeArrowheads="1"/>
                </p:cNvSpPr>
                <p:nvPr/>
              </p:nvSpPr>
              <p:spPr bwMode="auto">
                <a:xfrm>
                  <a:off x="227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0" name="Oval 404"/>
                <p:cNvSpPr>
                  <a:spLocks noChangeArrowheads="1"/>
                </p:cNvSpPr>
                <p:nvPr/>
              </p:nvSpPr>
              <p:spPr bwMode="auto">
                <a:xfrm>
                  <a:off x="220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1" name="Oval 405"/>
                <p:cNvSpPr>
                  <a:spLocks noChangeArrowheads="1"/>
                </p:cNvSpPr>
                <p:nvPr/>
              </p:nvSpPr>
              <p:spPr bwMode="auto">
                <a:xfrm>
                  <a:off x="227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2" name="Oval 406"/>
                <p:cNvSpPr>
                  <a:spLocks noChangeArrowheads="1"/>
                </p:cNvSpPr>
                <p:nvPr/>
              </p:nvSpPr>
              <p:spPr bwMode="auto">
                <a:xfrm>
                  <a:off x="220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3" name="Oval 407"/>
                <p:cNvSpPr>
                  <a:spLocks noChangeArrowheads="1"/>
                </p:cNvSpPr>
                <p:nvPr/>
              </p:nvSpPr>
              <p:spPr bwMode="auto">
                <a:xfrm>
                  <a:off x="227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4" name="Oval 408"/>
                <p:cNvSpPr>
                  <a:spLocks noChangeArrowheads="1"/>
                </p:cNvSpPr>
                <p:nvPr/>
              </p:nvSpPr>
              <p:spPr bwMode="auto">
                <a:xfrm>
                  <a:off x="220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65" name="Oval 409"/>
                <p:cNvSpPr>
                  <a:spLocks noChangeArrowheads="1"/>
                </p:cNvSpPr>
                <p:nvPr/>
              </p:nvSpPr>
              <p:spPr bwMode="auto">
                <a:xfrm>
                  <a:off x="227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55" name="Line 410"/>
              <p:cNvSpPr>
                <a:spLocks noChangeShapeType="1"/>
              </p:cNvSpPr>
              <p:nvPr/>
            </p:nvSpPr>
            <p:spPr bwMode="auto">
              <a:xfrm>
                <a:off x="2208" y="3936"/>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12" name="Group 411"/>
            <p:cNvGrpSpPr>
              <a:grpSpLocks/>
            </p:cNvGrpSpPr>
            <p:nvPr/>
          </p:nvGrpSpPr>
          <p:grpSpPr bwMode="auto">
            <a:xfrm>
              <a:off x="2458" y="1842"/>
              <a:ext cx="291" cy="1008"/>
              <a:chOff x="2352" y="2928"/>
              <a:chExt cx="291" cy="1008"/>
            </a:xfrm>
          </p:grpSpPr>
          <p:grpSp>
            <p:nvGrpSpPr>
              <p:cNvPr id="129231" name="Group 412"/>
              <p:cNvGrpSpPr>
                <a:grpSpLocks/>
              </p:cNvGrpSpPr>
              <p:nvPr/>
            </p:nvGrpSpPr>
            <p:grpSpPr bwMode="auto">
              <a:xfrm>
                <a:off x="2352" y="2928"/>
                <a:ext cx="291" cy="845"/>
                <a:chOff x="2352" y="2496"/>
                <a:chExt cx="291" cy="845"/>
              </a:xfrm>
            </p:grpSpPr>
            <p:sp>
              <p:nvSpPr>
                <p:cNvPr id="129233" name="Oval 413"/>
                <p:cNvSpPr>
                  <a:spLocks noChangeArrowheads="1"/>
                </p:cNvSpPr>
                <p:nvPr/>
              </p:nvSpPr>
              <p:spPr bwMode="auto">
                <a:xfrm>
                  <a:off x="256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4" name="Oval 414"/>
                <p:cNvSpPr>
                  <a:spLocks noChangeArrowheads="1"/>
                </p:cNvSpPr>
                <p:nvPr/>
              </p:nvSpPr>
              <p:spPr bwMode="auto">
                <a:xfrm>
                  <a:off x="256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5" name="Oval 415"/>
                <p:cNvSpPr>
                  <a:spLocks noChangeArrowheads="1"/>
                </p:cNvSpPr>
                <p:nvPr/>
              </p:nvSpPr>
              <p:spPr bwMode="auto">
                <a:xfrm>
                  <a:off x="256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6" name="Oval 416"/>
                <p:cNvSpPr>
                  <a:spLocks noChangeArrowheads="1"/>
                </p:cNvSpPr>
                <p:nvPr/>
              </p:nvSpPr>
              <p:spPr bwMode="auto">
                <a:xfrm>
                  <a:off x="256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nvGrpSpPr>
                <p:cNvPr id="129237" name="Group 417"/>
                <p:cNvGrpSpPr>
                  <a:grpSpLocks/>
                </p:cNvGrpSpPr>
                <p:nvPr/>
              </p:nvGrpSpPr>
              <p:grpSpPr bwMode="auto">
                <a:xfrm>
                  <a:off x="2352" y="2496"/>
                  <a:ext cx="221" cy="845"/>
                  <a:chOff x="2352" y="2496"/>
                  <a:chExt cx="221" cy="845"/>
                </a:xfrm>
              </p:grpSpPr>
              <p:sp>
                <p:nvSpPr>
                  <p:cNvPr id="129239" name="Oval 418"/>
                  <p:cNvSpPr>
                    <a:spLocks noChangeArrowheads="1"/>
                  </p:cNvSpPr>
                  <p:nvPr/>
                </p:nvSpPr>
                <p:spPr bwMode="auto">
                  <a:xfrm>
                    <a:off x="235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0" name="Oval 419"/>
                  <p:cNvSpPr>
                    <a:spLocks noChangeArrowheads="1"/>
                  </p:cNvSpPr>
                  <p:nvPr/>
                </p:nvSpPr>
                <p:spPr bwMode="auto">
                  <a:xfrm>
                    <a:off x="242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1" name="Oval 420"/>
                  <p:cNvSpPr>
                    <a:spLocks noChangeArrowheads="1"/>
                  </p:cNvSpPr>
                  <p:nvPr/>
                </p:nvSpPr>
                <p:spPr bwMode="auto">
                  <a:xfrm>
                    <a:off x="249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2" name="Oval 421"/>
                  <p:cNvSpPr>
                    <a:spLocks noChangeArrowheads="1"/>
                  </p:cNvSpPr>
                  <p:nvPr/>
                </p:nvSpPr>
                <p:spPr bwMode="auto">
                  <a:xfrm>
                    <a:off x="235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3" name="Oval 422"/>
                  <p:cNvSpPr>
                    <a:spLocks noChangeArrowheads="1"/>
                  </p:cNvSpPr>
                  <p:nvPr/>
                </p:nvSpPr>
                <p:spPr bwMode="auto">
                  <a:xfrm>
                    <a:off x="242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4" name="Oval 423"/>
                  <p:cNvSpPr>
                    <a:spLocks noChangeArrowheads="1"/>
                  </p:cNvSpPr>
                  <p:nvPr/>
                </p:nvSpPr>
                <p:spPr bwMode="auto">
                  <a:xfrm>
                    <a:off x="249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5" name="Oval 424"/>
                  <p:cNvSpPr>
                    <a:spLocks noChangeArrowheads="1"/>
                  </p:cNvSpPr>
                  <p:nvPr/>
                </p:nvSpPr>
                <p:spPr bwMode="auto">
                  <a:xfrm>
                    <a:off x="235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6" name="Oval 425"/>
                  <p:cNvSpPr>
                    <a:spLocks noChangeArrowheads="1"/>
                  </p:cNvSpPr>
                  <p:nvPr/>
                </p:nvSpPr>
                <p:spPr bwMode="auto">
                  <a:xfrm>
                    <a:off x="242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7" name="Oval 426"/>
                  <p:cNvSpPr>
                    <a:spLocks noChangeArrowheads="1"/>
                  </p:cNvSpPr>
                  <p:nvPr/>
                </p:nvSpPr>
                <p:spPr bwMode="auto">
                  <a:xfrm>
                    <a:off x="249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8" name="Oval 427"/>
                  <p:cNvSpPr>
                    <a:spLocks noChangeArrowheads="1"/>
                  </p:cNvSpPr>
                  <p:nvPr/>
                </p:nvSpPr>
                <p:spPr bwMode="auto">
                  <a:xfrm>
                    <a:off x="235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49" name="Oval 428"/>
                  <p:cNvSpPr>
                    <a:spLocks noChangeArrowheads="1"/>
                  </p:cNvSpPr>
                  <p:nvPr/>
                </p:nvSpPr>
                <p:spPr bwMode="auto">
                  <a:xfrm>
                    <a:off x="242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0" name="Oval 429"/>
                  <p:cNvSpPr>
                    <a:spLocks noChangeArrowheads="1"/>
                  </p:cNvSpPr>
                  <p:nvPr/>
                </p:nvSpPr>
                <p:spPr bwMode="auto">
                  <a:xfrm>
                    <a:off x="249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1" name="Oval 430"/>
                  <p:cNvSpPr>
                    <a:spLocks noChangeArrowheads="1"/>
                  </p:cNvSpPr>
                  <p:nvPr/>
                </p:nvSpPr>
                <p:spPr bwMode="auto">
                  <a:xfrm>
                    <a:off x="235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2" name="Oval 431"/>
                  <p:cNvSpPr>
                    <a:spLocks noChangeArrowheads="1"/>
                  </p:cNvSpPr>
                  <p:nvPr/>
                </p:nvSpPr>
                <p:spPr bwMode="auto">
                  <a:xfrm>
                    <a:off x="242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53" name="Oval 432"/>
                  <p:cNvSpPr>
                    <a:spLocks noChangeArrowheads="1"/>
                  </p:cNvSpPr>
                  <p:nvPr/>
                </p:nvSpPr>
                <p:spPr bwMode="auto">
                  <a:xfrm>
                    <a:off x="249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38" name="Oval 433"/>
                <p:cNvSpPr>
                  <a:spLocks noChangeArrowheads="1"/>
                </p:cNvSpPr>
                <p:nvPr/>
              </p:nvSpPr>
              <p:spPr bwMode="auto">
                <a:xfrm>
                  <a:off x="256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32" name="Line 434"/>
              <p:cNvSpPr>
                <a:spLocks noChangeShapeType="1"/>
              </p:cNvSpPr>
              <p:nvPr/>
            </p:nvSpPr>
            <p:spPr bwMode="auto">
              <a:xfrm>
                <a:off x="2352" y="39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213" name="Group 435"/>
            <p:cNvGrpSpPr>
              <a:grpSpLocks/>
            </p:cNvGrpSpPr>
            <p:nvPr/>
          </p:nvGrpSpPr>
          <p:grpSpPr bwMode="auto">
            <a:xfrm>
              <a:off x="2746" y="1842"/>
              <a:ext cx="240" cy="1008"/>
              <a:chOff x="2640" y="2928"/>
              <a:chExt cx="240" cy="1008"/>
            </a:xfrm>
          </p:grpSpPr>
          <p:grpSp>
            <p:nvGrpSpPr>
              <p:cNvPr id="129214" name="Group 436"/>
              <p:cNvGrpSpPr>
                <a:grpSpLocks/>
              </p:cNvGrpSpPr>
              <p:nvPr/>
            </p:nvGrpSpPr>
            <p:grpSpPr bwMode="auto">
              <a:xfrm>
                <a:off x="2640" y="2928"/>
                <a:ext cx="221" cy="845"/>
                <a:chOff x="2640" y="2496"/>
                <a:chExt cx="221" cy="845"/>
              </a:xfrm>
            </p:grpSpPr>
            <p:sp>
              <p:nvSpPr>
                <p:cNvPr id="129216" name="Oval 437"/>
                <p:cNvSpPr>
                  <a:spLocks noChangeArrowheads="1"/>
                </p:cNvSpPr>
                <p:nvPr/>
              </p:nvSpPr>
              <p:spPr bwMode="auto">
                <a:xfrm>
                  <a:off x="264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7" name="Oval 438"/>
                <p:cNvSpPr>
                  <a:spLocks noChangeArrowheads="1"/>
                </p:cNvSpPr>
                <p:nvPr/>
              </p:nvSpPr>
              <p:spPr bwMode="auto">
                <a:xfrm>
                  <a:off x="2710"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8" name="Oval 439"/>
                <p:cNvSpPr>
                  <a:spLocks noChangeArrowheads="1"/>
                </p:cNvSpPr>
                <p:nvPr/>
              </p:nvSpPr>
              <p:spPr bwMode="auto">
                <a:xfrm>
                  <a:off x="2784"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9" name="Oval 440"/>
                <p:cNvSpPr>
                  <a:spLocks noChangeArrowheads="1"/>
                </p:cNvSpPr>
                <p:nvPr/>
              </p:nvSpPr>
              <p:spPr bwMode="auto">
                <a:xfrm>
                  <a:off x="264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0" name="Oval 441"/>
                <p:cNvSpPr>
                  <a:spLocks noChangeArrowheads="1"/>
                </p:cNvSpPr>
                <p:nvPr/>
              </p:nvSpPr>
              <p:spPr bwMode="auto">
                <a:xfrm>
                  <a:off x="2710"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1" name="Oval 442"/>
                <p:cNvSpPr>
                  <a:spLocks noChangeArrowheads="1"/>
                </p:cNvSpPr>
                <p:nvPr/>
              </p:nvSpPr>
              <p:spPr bwMode="auto">
                <a:xfrm>
                  <a:off x="2784"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2" name="Oval 443"/>
                <p:cNvSpPr>
                  <a:spLocks noChangeArrowheads="1"/>
                </p:cNvSpPr>
                <p:nvPr/>
              </p:nvSpPr>
              <p:spPr bwMode="auto">
                <a:xfrm>
                  <a:off x="264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3" name="Oval 444"/>
                <p:cNvSpPr>
                  <a:spLocks noChangeArrowheads="1"/>
                </p:cNvSpPr>
                <p:nvPr/>
              </p:nvSpPr>
              <p:spPr bwMode="auto">
                <a:xfrm>
                  <a:off x="2710"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4" name="Oval 445"/>
                <p:cNvSpPr>
                  <a:spLocks noChangeArrowheads="1"/>
                </p:cNvSpPr>
                <p:nvPr/>
              </p:nvSpPr>
              <p:spPr bwMode="auto">
                <a:xfrm>
                  <a:off x="2784"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5" name="Oval 446"/>
                <p:cNvSpPr>
                  <a:spLocks noChangeArrowheads="1"/>
                </p:cNvSpPr>
                <p:nvPr/>
              </p:nvSpPr>
              <p:spPr bwMode="auto">
                <a:xfrm>
                  <a:off x="264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6" name="Oval 447"/>
                <p:cNvSpPr>
                  <a:spLocks noChangeArrowheads="1"/>
                </p:cNvSpPr>
                <p:nvPr/>
              </p:nvSpPr>
              <p:spPr bwMode="auto">
                <a:xfrm>
                  <a:off x="271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7" name="Oval 448"/>
                <p:cNvSpPr>
                  <a:spLocks noChangeArrowheads="1"/>
                </p:cNvSpPr>
                <p:nvPr/>
              </p:nvSpPr>
              <p:spPr bwMode="auto">
                <a:xfrm>
                  <a:off x="2784"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8" name="Oval 449"/>
                <p:cNvSpPr>
                  <a:spLocks noChangeArrowheads="1"/>
                </p:cNvSpPr>
                <p:nvPr/>
              </p:nvSpPr>
              <p:spPr bwMode="auto">
                <a:xfrm>
                  <a:off x="264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29" name="Oval 450"/>
                <p:cNvSpPr>
                  <a:spLocks noChangeArrowheads="1"/>
                </p:cNvSpPr>
                <p:nvPr/>
              </p:nvSpPr>
              <p:spPr bwMode="auto">
                <a:xfrm>
                  <a:off x="2710"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30" name="Oval 451"/>
                <p:cNvSpPr>
                  <a:spLocks noChangeArrowheads="1"/>
                </p:cNvSpPr>
                <p:nvPr/>
              </p:nvSpPr>
              <p:spPr bwMode="auto">
                <a:xfrm>
                  <a:off x="278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215" name="Line 452"/>
              <p:cNvSpPr>
                <a:spLocks noChangeShapeType="1"/>
              </p:cNvSpPr>
              <p:nvPr/>
            </p:nvSpPr>
            <p:spPr bwMode="auto">
              <a:xfrm>
                <a:off x="2640" y="3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485" name="Group 453"/>
          <p:cNvGrpSpPr>
            <a:grpSpLocks/>
          </p:cNvGrpSpPr>
          <p:nvPr/>
        </p:nvGrpSpPr>
        <p:grpSpPr bwMode="auto">
          <a:xfrm>
            <a:off x="4452938" y="4076700"/>
            <a:ext cx="468312" cy="1600200"/>
            <a:chOff x="2854" y="2928"/>
            <a:chExt cx="295" cy="1008"/>
          </a:xfrm>
        </p:grpSpPr>
        <p:grpSp>
          <p:nvGrpSpPr>
            <p:cNvPr id="129189" name="Group 454"/>
            <p:cNvGrpSpPr>
              <a:grpSpLocks/>
            </p:cNvGrpSpPr>
            <p:nvPr/>
          </p:nvGrpSpPr>
          <p:grpSpPr bwMode="auto">
            <a:xfrm>
              <a:off x="2854" y="2928"/>
              <a:ext cx="295" cy="845"/>
              <a:chOff x="2854" y="2496"/>
              <a:chExt cx="295" cy="845"/>
            </a:xfrm>
          </p:grpSpPr>
          <p:sp>
            <p:nvSpPr>
              <p:cNvPr id="129191" name="Oval 455"/>
              <p:cNvSpPr>
                <a:spLocks noChangeArrowheads="1"/>
              </p:cNvSpPr>
              <p:nvPr/>
            </p:nvSpPr>
            <p:spPr bwMode="auto">
              <a:xfrm>
                <a:off x="2854"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2" name="Oval 456"/>
              <p:cNvSpPr>
                <a:spLocks noChangeArrowheads="1"/>
              </p:cNvSpPr>
              <p:nvPr/>
            </p:nvSpPr>
            <p:spPr bwMode="auto">
              <a:xfrm>
                <a:off x="292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3" name="Oval 457"/>
              <p:cNvSpPr>
                <a:spLocks noChangeArrowheads="1"/>
              </p:cNvSpPr>
              <p:nvPr/>
            </p:nvSpPr>
            <p:spPr bwMode="auto">
              <a:xfrm>
                <a:off x="299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4" name="Oval 458"/>
              <p:cNvSpPr>
                <a:spLocks noChangeArrowheads="1"/>
              </p:cNvSpPr>
              <p:nvPr/>
            </p:nvSpPr>
            <p:spPr bwMode="auto">
              <a:xfrm>
                <a:off x="307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5" name="Oval 459"/>
              <p:cNvSpPr>
                <a:spLocks noChangeArrowheads="1"/>
              </p:cNvSpPr>
              <p:nvPr/>
            </p:nvSpPr>
            <p:spPr bwMode="auto">
              <a:xfrm>
                <a:off x="2854"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6" name="Oval 460"/>
              <p:cNvSpPr>
                <a:spLocks noChangeArrowheads="1"/>
              </p:cNvSpPr>
              <p:nvPr/>
            </p:nvSpPr>
            <p:spPr bwMode="auto">
              <a:xfrm>
                <a:off x="292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7" name="Oval 461"/>
              <p:cNvSpPr>
                <a:spLocks noChangeArrowheads="1"/>
              </p:cNvSpPr>
              <p:nvPr/>
            </p:nvSpPr>
            <p:spPr bwMode="auto">
              <a:xfrm>
                <a:off x="299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8" name="Oval 462"/>
              <p:cNvSpPr>
                <a:spLocks noChangeArrowheads="1"/>
              </p:cNvSpPr>
              <p:nvPr/>
            </p:nvSpPr>
            <p:spPr bwMode="auto">
              <a:xfrm>
                <a:off x="307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99" name="Oval 463"/>
              <p:cNvSpPr>
                <a:spLocks noChangeArrowheads="1"/>
              </p:cNvSpPr>
              <p:nvPr/>
            </p:nvSpPr>
            <p:spPr bwMode="auto">
              <a:xfrm>
                <a:off x="2854"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0" name="Oval 464"/>
              <p:cNvSpPr>
                <a:spLocks noChangeArrowheads="1"/>
              </p:cNvSpPr>
              <p:nvPr/>
            </p:nvSpPr>
            <p:spPr bwMode="auto">
              <a:xfrm>
                <a:off x="292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1" name="Oval 465"/>
              <p:cNvSpPr>
                <a:spLocks noChangeArrowheads="1"/>
              </p:cNvSpPr>
              <p:nvPr/>
            </p:nvSpPr>
            <p:spPr bwMode="auto">
              <a:xfrm>
                <a:off x="299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2" name="Oval 466"/>
              <p:cNvSpPr>
                <a:spLocks noChangeArrowheads="1"/>
              </p:cNvSpPr>
              <p:nvPr/>
            </p:nvSpPr>
            <p:spPr bwMode="auto">
              <a:xfrm>
                <a:off x="307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3" name="Oval 467"/>
              <p:cNvSpPr>
                <a:spLocks noChangeArrowheads="1"/>
              </p:cNvSpPr>
              <p:nvPr/>
            </p:nvSpPr>
            <p:spPr bwMode="auto">
              <a:xfrm>
                <a:off x="2854"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4" name="Oval 468"/>
              <p:cNvSpPr>
                <a:spLocks noChangeArrowheads="1"/>
              </p:cNvSpPr>
              <p:nvPr/>
            </p:nvSpPr>
            <p:spPr bwMode="auto">
              <a:xfrm>
                <a:off x="292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5" name="Oval 469"/>
              <p:cNvSpPr>
                <a:spLocks noChangeArrowheads="1"/>
              </p:cNvSpPr>
              <p:nvPr/>
            </p:nvSpPr>
            <p:spPr bwMode="auto">
              <a:xfrm>
                <a:off x="299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6" name="Oval 470"/>
              <p:cNvSpPr>
                <a:spLocks noChangeArrowheads="1"/>
              </p:cNvSpPr>
              <p:nvPr/>
            </p:nvSpPr>
            <p:spPr bwMode="auto">
              <a:xfrm>
                <a:off x="307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7" name="Oval 471"/>
              <p:cNvSpPr>
                <a:spLocks noChangeArrowheads="1"/>
              </p:cNvSpPr>
              <p:nvPr/>
            </p:nvSpPr>
            <p:spPr bwMode="auto">
              <a:xfrm>
                <a:off x="2854"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8" name="Oval 472"/>
              <p:cNvSpPr>
                <a:spLocks noChangeArrowheads="1"/>
              </p:cNvSpPr>
              <p:nvPr/>
            </p:nvSpPr>
            <p:spPr bwMode="auto">
              <a:xfrm>
                <a:off x="292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09" name="Oval 473"/>
              <p:cNvSpPr>
                <a:spLocks noChangeArrowheads="1"/>
              </p:cNvSpPr>
              <p:nvPr/>
            </p:nvSpPr>
            <p:spPr bwMode="auto">
              <a:xfrm>
                <a:off x="299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210" name="Oval 474"/>
              <p:cNvSpPr>
                <a:spLocks noChangeArrowheads="1"/>
              </p:cNvSpPr>
              <p:nvPr/>
            </p:nvSpPr>
            <p:spPr bwMode="auto">
              <a:xfrm>
                <a:off x="307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90" name="Line 475"/>
            <p:cNvSpPr>
              <a:spLocks noChangeShapeType="1"/>
            </p:cNvSpPr>
            <p:nvPr/>
          </p:nvSpPr>
          <p:spPr bwMode="auto">
            <a:xfrm>
              <a:off x="2880" y="393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508" name="Group 476"/>
          <p:cNvGrpSpPr>
            <a:grpSpLocks/>
          </p:cNvGrpSpPr>
          <p:nvPr/>
        </p:nvGrpSpPr>
        <p:grpSpPr bwMode="auto">
          <a:xfrm>
            <a:off x="4875213" y="4076700"/>
            <a:ext cx="842962" cy="1600200"/>
            <a:chOff x="3226" y="1842"/>
            <a:chExt cx="531" cy="1008"/>
          </a:xfrm>
        </p:grpSpPr>
        <p:grpSp>
          <p:nvGrpSpPr>
            <p:cNvPr id="129148" name="Group 477"/>
            <p:cNvGrpSpPr>
              <a:grpSpLocks/>
            </p:cNvGrpSpPr>
            <p:nvPr/>
          </p:nvGrpSpPr>
          <p:grpSpPr bwMode="auto">
            <a:xfrm>
              <a:off x="3226" y="1842"/>
              <a:ext cx="336" cy="1008"/>
              <a:chOff x="3120" y="2928"/>
              <a:chExt cx="336" cy="1008"/>
            </a:xfrm>
          </p:grpSpPr>
          <p:grpSp>
            <p:nvGrpSpPr>
              <p:cNvPr id="129167" name="Group 478"/>
              <p:cNvGrpSpPr>
                <a:grpSpLocks/>
              </p:cNvGrpSpPr>
              <p:nvPr/>
            </p:nvGrpSpPr>
            <p:grpSpPr bwMode="auto">
              <a:xfrm>
                <a:off x="3142" y="2928"/>
                <a:ext cx="295" cy="845"/>
                <a:chOff x="3142" y="2496"/>
                <a:chExt cx="295" cy="845"/>
              </a:xfrm>
            </p:grpSpPr>
            <p:sp>
              <p:nvSpPr>
                <p:cNvPr id="129169" name="Oval 479"/>
                <p:cNvSpPr>
                  <a:spLocks noChangeArrowheads="1"/>
                </p:cNvSpPr>
                <p:nvPr/>
              </p:nvSpPr>
              <p:spPr bwMode="auto">
                <a:xfrm>
                  <a:off x="314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0" name="Oval 480"/>
                <p:cNvSpPr>
                  <a:spLocks noChangeArrowheads="1"/>
                </p:cNvSpPr>
                <p:nvPr/>
              </p:nvSpPr>
              <p:spPr bwMode="auto">
                <a:xfrm>
                  <a:off x="321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1" name="Oval 481"/>
                <p:cNvSpPr>
                  <a:spLocks noChangeArrowheads="1"/>
                </p:cNvSpPr>
                <p:nvPr/>
              </p:nvSpPr>
              <p:spPr bwMode="auto">
                <a:xfrm>
                  <a:off x="328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2" name="Oval 482"/>
                <p:cNvSpPr>
                  <a:spLocks noChangeArrowheads="1"/>
                </p:cNvSpPr>
                <p:nvPr/>
              </p:nvSpPr>
              <p:spPr bwMode="auto">
                <a:xfrm>
                  <a:off x="3360"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3" name="Oval 483"/>
                <p:cNvSpPr>
                  <a:spLocks noChangeArrowheads="1"/>
                </p:cNvSpPr>
                <p:nvPr/>
              </p:nvSpPr>
              <p:spPr bwMode="auto">
                <a:xfrm>
                  <a:off x="314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4" name="Oval 484"/>
                <p:cNvSpPr>
                  <a:spLocks noChangeArrowheads="1"/>
                </p:cNvSpPr>
                <p:nvPr/>
              </p:nvSpPr>
              <p:spPr bwMode="auto">
                <a:xfrm>
                  <a:off x="321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5" name="Oval 485"/>
                <p:cNvSpPr>
                  <a:spLocks noChangeArrowheads="1"/>
                </p:cNvSpPr>
                <p:nvPr/>
              </p:nvSpPr>
              <p:spPr bwMode="auto">
                <a:xfrm>
                  <a:off x="328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6" name="Oval 486"/>
                <p:cNvSpPr>
                  <a:spLocks noChangeArrowheads="1"/>
                </p:cNvSpPr>
                <p:nvPr/>
              </p:nvSpPr>
              <p:spPr bwMode="auto">
                <a:xfrm>
                  <a:off x="3360"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7" name="Oval 487"/>
                <p:cNvSpPr>
                  <a:spLocks noChangeArrowheads="1"/>
                </p:cNvSpPr>
                <p:nvPr/>
              </p:nvSpPr>
              <p:spPr bwMode="auto">
                <a:xfrm>
                  <a:off x="314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8" name="Oval 488"/>
                <p:cNvSpPr>
                  <a:spLocks noChangeArrowheads="1"/>
                </p:cNvSpPr>
                <p:nvPr/>
              </p:nvSpPr>
              <p:spPr bwMode="auto">
                <a:xfrm>
                  <a:off x="321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79" name="Oval 489"/>
                <p:cNvSpPr>
                  <a:spLocks noChangeArrowheads="1"/>
                </p:cNvSpPr>
                <p:nvPr/>
              </p:nvSpPr>
              <p:spPr bwMode="auto">
                <a:xfrm>
                  <a:off x="328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0" name="Oval 490"/>
                <p:cNvSpPr>
                  <a:spLocks noChangeArrowheads="1"/>
                </p:cNvSpPr>
                <p:nvPr/>
              </p:nvSpPr>
              <p:spPr bwMode="auto">
                <a:xfrm>
                  <a:off x="3360"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1" name="Oval 491"/>
                <p:cNvSpPr>
                  <a:spLocks noChangeArrowheads="1"/>
                </p:cNvSpPr>
                <p:nvPr/>
              </p:nvSpPr>
              <p:spPr bwMode="auto">
                <a:xfrm>
                  <a:off x="314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2" name="Oval 492"/>
                <p:cNvSpPr>
                  <a:spLocks noChangeArrowheads="1"/>
                </p:cNvSpPr>
                <p:nvPr/>
              </p:nvSpPr>
              <p:spPr bwMode="auto">
                <a:xfrm>
                  <a:off x="321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3" name="Oval 493"/>
                <p:cNvSpPr>
                  <a:spLocks noChangeArrowheads="1"/>
                </p:cNvSpPr>
                <p:nvPr/>
              </p:nvSpPr>
              <p:spPr bwMode="auto">
                <a:xfrm>
                  <a:off x="328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4" name="Oval 494"/>
                <p:cNvSpPr>
                  <a:spLocks noChangeArrowheads="1"/>
                </p:cNvSpPr>
                <p:nvPr/>
              </p:nvSpPr>
              <p:spPr bwMode="auto">
                <a:xfrm>
                  <a:off x="3360"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5" name="Oval 495"/>
                <p:cNvSpPr>
                  <a:spLocks noChangeArrowheads="1"/>
                </p:cNvSpPr>
                <p:nvPr/>
              </p:nvSpPr>
              <p:spPr bwMode="auto">
                <a:xfrm>
                  <a:off x="314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6" name="Oval 496"/>
                <p:cNvSpPr>
                  <a:spLocks noChangeArrowheads="1"/>
                </p:cNvSpPr>
                <p:nvPr/>
              </p:nvSpPr>
              <p:spPr bwMode="auto">
                <a:xfrm>
                  <a:off x="321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7" name="Oval 497"/>
                <p:cNvSpPr>
                  <a:spLocks noChangeArrowheads="1"/>
                </p:cNvSpPr>
                <p:nvPr/>
              </p:nvSpPr>
              <p:spPr bwMode="auto">
                <a:xfrm>
                  <a:off x="328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88" name="Oval 498"/>
                <p:cNvSpPr>
                  <a:spLocks noChangeArrowheads="1"/>
                </p:cNvSpPr>
                <p:nvPr/>
              </p:nvSpPr>
              <p:spPr bwMode="auto">
                <a:xfrm>
                  <a:off x="3360"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68" name="Line 499"/>
              <p:cNvSpPr>
                <a:spLocks noChangeShapeType="1"/>
              </p:cNvSpPr>
              <p:nvPr/>
            </p:nvSpPr>
            <p:spPr bwMode="auto">
              <a:xfrm>
                <a:off x="3120" y="393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149" name="Group 500"/>
            <p:cNvGrpSpPr>
              <a:grpSpLocks/>
            </p:cNvGrpSpPr>
            <p:nvPr/>
          </p:nvGrpSpPr>
          <p:grpSpPr bwMode="auto">
            <a:xfrm>
              <a:off x="3536" y="1842"/>
              <a:ext cx="221" cy="1008"/>
              <a:chOff x="3430" y="2928"/>
              <a:chExt cx="221" cy="1008"/>
            </a:xfrm>
          </p:grpSpPr>
          <p:grpSp>
            <p:nvGrpSpPr>
              <p:cNvPr id="129150" name="Group 501"/>
              <p:cNvGrpSpPr>
                <a:grpSpLocks/>
              </p:cNvGrpSpPr>
              <p:nvPr/>
            </p:nvGrpSpPr>
            <p:grpSpPr bwMode="auto">
              <a:xfrm>
                <a:off x="3430" y="2928"/>
                <a:ext cx="221" cy="845"/>
                <a:chOff x="3430" y="2496"/>
                <a:chExt cx="221" cy="845"/>
              </a:xfrm>
            </p:grpSpPr>
            <p:sp>
              <p:nvSpPr>
                <p:cNvPr id="129152" name="Oval 502"/>
                <p:cNvSpPr>
                  <a:spLocks noChangeArrowheads="1"/>
                </p:cNvSpPr>
                <p:nvPr/>
              </p:nvSpPr>
              <p:spPr bwMode="auto">
                <a:xfrm>
                  <a:off x="343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3" name="Oval 503"/>
                <p:cNvSpPr>
                  <a:spLocks noChangeArrowheads="1"/>
                </p:cNvSpPr>
                <p:nvPr/>
              </p:nvSpPr>
              <p:spPr bwMode="auto">
                <a:xfrm>
                  <a:off x="350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4" name="Oval 504"/>
                <p:cNvSpPr>
                  <a:spLocks noChangeArrowheads="1"/>
                </p:cNvSpPr>
                <p:nvPr/>
              </p:nvSpPr>
              <p:spPr bwMode="auto">
                <a:xfrm>
                  <a:off x="357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5" name="Oval 505"/>
                <p:cNvSpPr>
                  <a:spLocks noChangeArrowheads="1"/>
                </p:cNvSpPr>
                <p:nvPr/>
              </p:nvSpPr>
              <p:spPr bwMode="auto">
                <a:xfrm>
                  <a:off x="343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6" name="Oval 506"/>
                <p:cNvSpPr>
                  <a:spLocks noChangeArrowheads="1"/>
                </p:cNvSpPr>
                <p:nvPr/>
              </p:nvSpPr>
              <p:spPr bwMode="auto">
                <a:xfrm>
                  <a:off x="350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7" name="Oval 507"/>
                <p:cNvSpPr>
                  <a:spLocks noChangeArrowheads="1"/>
                </p:cNvSpPr>
                <p:nvPr/>
              </p:nvSpPr>
              <p:spPr bwMode="auto">
                <a:xfrm>
                  <a:off x="357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8" name="Oval 508"/>
                <p:cNvSpPr>
                  <a:spLocks noChangeArrowheads="1"/>
                </p:cNvSpPr>
                <p:nvPr/>
              </p:nvSpPr>
              <p:spPr bwMode="auto">
                <a:xfrm>
                  <a:off x="343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59" name="Oval 509"/>
                <p:cNvSpPr>
                  <a:spLocks noChangeArrowheads="1"/>
                </p:cNvSpPr>
                <p:nvPr/>
              </p:nvSpPr>
              <p:spPr bwMode="auto">
                <a:xfrm>
                  <a:off x="350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0" name="Oval 510"/>
                <p:cNvSpPr>
                  <a:spLocks noChangeArrowheads="1"/>
                </p:cNvSpPr>
                <p:nvPr/>
              </p:nvSpPr>
              <p:spPr bwMode="auto">
                <a:xfrm>
                  <a:off x="357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1" name="Oval 511"/>
                <p:cNvSpPr>
                  <a:spLocks noChangeArrowheads="1"/>
                </p:cNvSpPr>
                <p:nvPr/>
              </p:nvSpPr>
              <p:spPr bwMode="auto">
                <a:xfrm>
                  <a:off x="343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2" name="Oval 512"/>
                <p:cNvSpPr>
                  <a:spLocks noChangeArrowheads="1"/>
                </p:cNvSpPr>
                <p:nvPr/>
              </p:nvSpPr>
              <p:spPr bwMode="auto">
                <a:xfrm>
                  <a:off x="350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3" name="Oval 513"/>
                <p:cNvSpPr>
                  <a:spLocks noChangeArrowheads="1"/>
                </p:cNvSpPr>
                <p:nvPr/>
              </p:nvSpPr>
              <p:spPr bwMode="auto">
                <a:xfrm>
                  <a:off x="357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4" name="Oval 514"/>
                <p:cNvSpPr>
                  <a:spLocks noChangeArrowheads="1"/>
                </p:cNvSpPr>
                <p:nvPr/>
              </p:nvSpPr>
              <p:spPr bwMode="auto">
                <a:xfrm>
                  <a:off x="343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5" name="Oval 515"/>
                <p:cNvSpPr>
                  <a:spLocks noChangeArrowheads="1"/>
                </p:cNvSpPr>
                <p:nvPr/>
              </p:nvSpPr>
              <p:spPr bwMode="auto">
                <a:xfrm>
                  <a:off x="350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66" name="Oval 516"/>
                <p:cNvSpPr>
                  <a:spLocks noChangeArrowheads="1"/>
                </p:cNvSpPr>
                <p:nvPr/>
              </p:nvSpPr>
              <p:spPr bwMode="auto">
                <a:xfrm>
                  <a:off x="357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51" name="Line 517"/>
              <p:cNvSpPr>
                <a:spLocks noChangeShapeType="1"/>
              </p:cNvSpPr>
              <p:nvPr/>
            </p:nvSpPr>
            <p:spPr bwMode="auto">
              <a:xfrm>
                <a:off x="3456" y="393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550" name="Group 518"/>
          <p:cNvGrpSpPr>
            <a:grpSpLocks/>
          </p:cNvGrpSpPr>
          <p:nvPr/>
        </p:nvGrpSpPr>
        <p:grpSpPr bwMode="auto">
          <a:xfrm>
            <a:off x="5713413" y="4076700"/>
            <a:ext cx="1036637" cy="1600200"/>
            <a:chOff x="3754" y="1842"/>
            <a:chExt cx="653" cy="1008"/>
          </a:xfrm>
        </p:grpSpPr>
        <p:grpSp>
          <p:nvGrpSpPr>
            <p:cNvPr id="129097" name="Group 519"/>
            <p:cNvGrpSpPr>
              <a:grpSpLocks/>
            </p:cNvGrpSpPr>
            <p:nvPr/>
          </p:nvGrpSpPr>
          <p:grpSpPr bwMode="auto">
            <a:xfrm>
              <a:off x="3754" y="1842"/>
              <a:ext cx="291" cy="1008"/>
              <a:chOff x="3648" y="2928"/>
              <a:chExt cx="291" cy="1008"/>
            </a:xfrm>
          </p:grpSpPr>
          <p:grpSp>
            <p:nvGrpSpPr>
              <p:cNvPr id="129126" name="Group 520"/>
              <p:cNvGrpSpPr>
                <a:grpSpLocks/>
              </p:cNvGrpSpPr>
              <p:nvPr/>
            </p:nvGrpSpPr>
            <p:grpSpPr bwMode="auto">
              <a:xfrm>
                <a:off x="3648" y="2928"/>
                <a:ext cx="291" cy="845"/>
                <a:chOff x="3648" y="2496"/>
                <a:chExt cx="291" cy="845"/>
              </a:xfrm>
            </p:grpSpPr>
            <p:sp>
              <p:nvSpPr>
                <p:cNvPr id="129128" name="Oval 521"/>
                <p:cNvSpPr>
                  <a:spLocks noChangeArrowheads="1"/>
                </p:cNvSpPr>
                <p:nvPr/>
              </p:nvSpPr>
              <p:spPr bwMode="auto">
                <a:xfrm>
                  <a:off x="364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9" name="Oval 522"/>
                <p:cNvSpPr>
                  <a:spLocks noChangeArrowheads="1"/>
                </p:cNvSpPr>
                <p:nvPr/>
              </p:nvSpPr>
              <p:spPr bwMode="auto">
                <a:xfrm>
                  <a:off x="371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0" name="Oval 523"/>
                <p:cNvSpPr>
                  <a:spLocks noChangeArrowheads="1"/>
                </p:cNvSpPr>
                <p:nvPr/>
              </p:nvSpPr>
              <p:spPr bwMode="auto">
                <a:xfrm>
                  <a:off x="3792" y="2496"/>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1" name="Oval 524"/>
                <p:cNvSpPr>
                  <a:spLocks noChangeArrowheads="1"/>
                </p:cNvSpPr>
                <p:nvPr/>
              </p:nvSpPr>
              <p:spPr bwMode="auto">
                <a:xfrm>
                  <a:off x="3862"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2" name="Oval 525"/>
                <p:cNvSpPr>
                  <a:spLocks noChangeArrowheads="1"/>
                </p:cNvSpPr>
                <p:nvPr/>
              </p:nvSpPr>
              <p:spPr bwMode="auto">
                <a:xfrm>
                  <a:off x="364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3" name="Oval 526"/>
                <p:cNvSpPr>
                  <a:spLocks noChangeArrowheads="1"/>
                </p:cNvSpPr>
                <p:nvPr/>
              </p:nvSpPr>
              <p:spPr bwMode="auto">
                <a:xfrm>
                  <a:off x="371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4" name="Oval 527"/>
                <p:cNvSpPr>
                  <a:spLocks noChangeArrowheads="1"/>
                </p:cNvSpPr>
                <p:nvPr/>
              </p:nvSpPr>
              <p:spPr bwMode="auto">
                <a:xfrm>
                  <a:off x="3792" y="2880"/>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5" name="Oval 528"/>
                <p:cNvSpPr>
                  <a:spLocks noChangeArrowheads="1"/>
                </p:cNvSpPr>
                <p:nvPr/>
              </p:nvSpPr>
              <p:spPr bwMode="auto">
                <a:xfrm>
                  <a:off x="386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6" name="Oval 529"/>
                <p:cNvSpPr>
                  <a:spLocks noChangeArrowheads="1"/>
                </p:cNvSpPr>
                <p:nvPr/>
              </p:nvSpPr>
              <p:spPr bwMode="auto">
                <a:xfrm>
                  <a:off x="364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7" name="Oval 530"/>
                <p:cNvSpPr>
                  <a:spLocks noChangeArrowheads="1"/>
                </p:cNvSpPr>
                <p:nvPr/>
              </p:nvSpPr>
              <p:spPr bwMode="auto">
                <a:xfrm>
                  <a:off x="371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8" name="Oval 531"/>
                <p:cNvSpPr>
                  <a:spLocks noChangeArrowheads="1"/>
                </p:cNvSpPr>
                <p:nvPr/>
              </p:nvSpPr>
              <p:spPr bwMode="auto">
                <a:xfrm>
                  <a:off x="3792" y="2688"/>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39" name="Oval 532"/>
                <p:cNvSpPr>
                  <a:spLocks noChangeArrowheads="1"/>
                </p:cNvSpPr>
                <p:nvPr/>
              </p:nvSpPr>
              <p:spPr bwMode="auto">
                <a:xfrm>
                  <a:off x="3862"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0" name="Oval 533"/>
                <p:cNvSpPr>
                  <a:spLocks noChangeArrowheads="1"/>
                </p:cNvSpPr>
                <p:nvPr/>
              </p:nvSpPr>
              <p:spPr bwMode="auto">
                <a:xfrm>
                  <a:off x="364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1" name="Oval 534"/>
                <p:cNvSpPr>
                  <a:spLocks noChangeArrowheads="1"/>
                </p:cNvSpPr>
                <p:nvPr/>
              </p:nvSpPr>
              <p:spPr bwMode="auto">
                <a:xfrm>
                  <a:off x="371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2" name="Oval 535"/>
                <p:cNvSpPr>
                  <a:spLocks noChangeArrowheads="1"/>
                </p:cNvSpPr>
                <p:nvPr/>
              </p:nvSpPr>
              <p:spPr bwMode="auto">
                <a:xfrm>
                  <a:off x="3792" y="3072"/>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3" name="Oval 536"/>
                <p:cNvSpPr>
                  <a:spLocks noChangeArrowheads="1"/>
                </p:cNvSpPr>
                <p:nvPr/>
              </p:nvSpPr>
              <p:spPr bwMode="auto">
                <a:xfrm>
                  <a:off x="3862"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4" name="Oval 537"/>
                <p:cNvSpPr>
                  <a:spLocks noChangeArrowheads="1"/>
                </p:cNvSpPr>
                <p:nvPr/>
              </p:nvSpPr>
              <p:spPr bwMode="auto">
                <a:xfrm>
                  <a:off x="364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5" name="Oval 538"/>
                <p:cNvSpPr>
                  <a:spLocks noChangeArrowheads="1"/>
                </p:cNvSpPr>
                <p:nvPr/>
              </p:nvSpPr>
              <p:spPr bwMode="auto">
                <a:xfrm>
                  <a:off x="371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6" name="Oval 539"/>
                <p:cNvSpPr>
                  <a:spLocks noChangeArrowheads="1"/>
                </p:cNvSpPr>
                <p:nvPr/>
              </p:nvSpPr>
              <p:spPr bwMode="auto">
                <a:xfrm>
                  <a:off x="3792" y="3264"/>
                  <a:ext cx="77" cy="77"/>
                </a:xfrm>
                <a:prstGeom prst="ellipse">
                  <a:avLst/>
                </a:prstGeom>
                <a:solidFill>
                  <a:srgbClr val="FF33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47" name="Oval 540"/>
                <p:cNvSpPr>
                  <a:spLocks noChangeArrowheads="1"/>
                </p:cNvSpPr>
                <p:nvPr/>
              </p:nvSpPr>
              <p:spPr bwMode="auto">
                <a:xfrm>
                  <a:off x="3862"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27" name="Line 541"/>
              <p:cNvSpPr>
                <a:spLocks noChangeShapeType="1"/>
              </p:cNvSpPr>
              <p:nvPr/>
            </p:nvSpPr>
            <p:spPr bwMode="auto">
              <a:xfrm>
                <a:off x="3648" y="393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29098" name="Group 542"/>
            <p:cNvGrpSpPr>
              <a:grpSpLocks/>
            </p:cNvGrpSpPr>
            <p:nvPr/>
          </p:nvGrpSpPr>
          <p:grpSpPr bwMode="auto">
            <a:xfrm>
              <a:off x="4042" y="1842"/>
              <a:ext cx="365" cy="1008"/>
              <a:chOff x="3936" y="2928"/>
              <a:chExt cx="365" cy="1008"/>
            </a:xfrm>
          </p:grpSpPr>
          <p:grpSp>
            <p:nvGrpSpPr>
              <p:cNvPr id="129099" name="Group 543"/>
              <p:cNvGrpSpPr>
                <a:grpSpLocks/>
              </p:cNvGrpSpPr>
              <p:nvPr/>
            </p:nvGrpSpPr>
            <p:grpSpPr bwMode="auto">
              <a:xfrm>
                <a:off x="3936" y="2928"/>
                <a:ext cx="365" cy="845"/>
                <a:chOff x="3936" y="2496"/>
                <a:chExt cx="365" cy="845"/>
              </a:xfrm>
            </p:grpSpPr>
            <p:sp>
              <p:nvSpPr>
                <p:cNvPr id="129101" name="Oval 544"/>
                <p:cNvSpPr>
                  <a:spLocks noChangeArrowheads="1"/>
                </p:cNvSpPr>
                <p:nvPr/>
              </p:nvSpPr>
              <p:spPr bwMode="auto">
                <a:xfrm>
                  <a:off x="3936"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2" name="Oval 545"/>
                <p:cNvSpPr>
                  <a:spLocks noChangeArrowheads="1"/>
                </p:cNvSpPr>
                <p:nvPr/>
              </p:nvSpPr>
              <p:spPr bwMode="auto">
                <a:xfrm>
                  <a:off x="400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3" name="Oval 546"/>
                <p:cNvSpPr>
                  <a:spLocks noChangeArrowheads="1"/>
                </p:cNvSpPr>
                <p:nvPr/>
              </p:nvSpPr>
              <p:spPr bwMode="auto">
                <a:xfrm>
                  <a:off x="408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4" name="Oval 547"/>
                <p:cNvSpPr>
                  <a:spLocks noChangeArrowheads="1"/>
                </p:cNvSpPr>
                <p:nvPr/>
              </p:nvSpPr>
              <p:spPr bwMode="auto">
                <a:xfrm>
                  <a:off x="415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5" name="Oval 548"/>
                <p:cNvSpPr>
                  <a:spLocks noChangeArrowheads="1"/>
                </p:cNvSpPr>
                <p:nvPr/>
              </p:nvSpPr>
              <p:spPr bwMode="auto">
                <a:xfrm>
                  <a:off x="422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6" name="Oval 549"/>
                <p:cNvSpPr>
                  <a:spLocks noChangeArrowheads="1"/>
                </p:cNvSpPr>
                <p:nvPr/>
              </p:nvSpPr>
              <p:spPr bwMode="auto">
                <a:xfrm>
                  <a:off x="3936"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7" name="Oval 550"/>
                <p:cNvSpPr>
                  <a:spLocks noChangeArrowheads="1"/>
                </p:cNvSpPr>
                <p:nvPr/>
              </p:nvSpPr>
              <p:spPr bwMode="auto">
                <a:xfrm>
                  <a:off x="400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8" name="Oval 551"/>
                <p:cNvSpPr>
                  <a:spLocks noChangeArrowheads="1"/>
                </p:cNvSpPr>
                <p:nvPr/>
              </p:nvSpPr>
              <p:spPr bwMode="auto">
                <a:xfrm>
                  <a:off x="408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09" name="Oval 552"/>
                <p:cNvSpPr>
                  <a:spLocks noChangeArrowheads="1"/>
                </p:cNvSpPr>
                <p:nvPr/>
              </p:nvSpPr>
              <p:spPr bwMode="auto">
                <a:xfrm>
                  <a:off x="415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0" name="Oval 553"/>
                <p:cNvSpPr>
                  <a:spLocks noChangeArrowheads="1"/>
                </p:cNvSpPr>
                <p:nvPr/>
              </p:nvSpPr>
              <p:spPr bwMode="auto">
                <a:xfrm>
                  <a:off x="422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1" name="Oval 554"/>
                <p:cNvSpPr>
                  <a:spLocks noChangeArrowheads="1"/>
                </p:cNvSpPr>
                <p:nvPr/>
              </p:nvSpPr>
              <p:spPr bwMode="auto">
                <a:xfrm>
                  <a:off x="3936"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2" name="Oval 555"/>
                <p:cNvSpPr>
                  <a:spLocks noChangeArrowheads="1"/>
                </p:cNvSpPr>
                <p:nvPr/>
              </p:nvSpPr>
              <p:spPr bwMode="auto">
                <a:xfrm>
                  <a:off x="400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3" name="Oval 556"/>
                <p:cNvSpPr>
                  <a:spLocks noChangeArrowheads="1"/>
                </p:cNvSpPr>
                <p:nvPr/>
              </p:nvSpPr>
              <p:spPr bwMode="auto">
                <a:xfrm>
                  <a:off x="408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4" name="Oval 557"/>
                <p:cNvSpPr>
                  <a:spLocks noChangeArrowheads="1"/>
                </p:cNvSpPr>
                <p:nvPr/>
              </p:nvSpPr>
              <p:spPr bwMode="auto">
                <a:xfrm>
                  <a:off x="415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5" name="Oval 558"/>
                <p:cNvSpPr>
                  <a:spLocks noChangeArrowheads="1"/>
                </p:cNvSpPr>
                <p:nvPr/>
              </p:nvSpPr>
              <p:spPr bwMode="auto">
                <a:xfrm>
                  <a:off x="422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6" name="Oval 559"/>
                <p:cNvSpPr>
                  <a:spLocks noChangeArrowheads="1"/>
                </p:cNvSpPr>
                <p:nvPr/>
              </p:nvSpPr>
              <p:spPr bwMode="auto">
                <a:xfrm>
                  <a:off x="3936"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7" name="Oval 560"/>
                <p:cNvSpPr>
                  <a:spLocks noChangeArrowheads="1"/>
                </p:cNvSpPr>
                <p:nvPr/>
              </p:nvSpPr>
              <p:spPr bwMode="auto">
                <a:xfrm>
                  <a:off x="400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8" name="Oval 561"/>
                <p:cNvSpPr>
                  <a:spLocks noChangeArrowheads="1"/>
                </p:cNvSpPr>
                <p:nvPr/>
              </p:nvSpPr>
              <p:spPr bwMode="auto">
                <a:xfrm>
                  <a:off x="408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19" name="Oval 562"/>
                <p:cNvSpPr>
                  <a:spLocks noChangeArrowheads="1"/>
                </p:cNvSpPr>
                <p:nvPr/>
              </p:nvSpPr>
              <p:spPr bwMode="auto">
                <a:xfrm>
                  <a:off x="4150"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0" name="Oval 563"/>
                <p:cNvSpPr>
                  <a:spLocks noChangeArrowheads="1"/>
                </p:cNvSpPr>
                <p:nvPr/>
              </p:nvSpPr>
              <p:spPr bwMode="auto">
                <a:xfrm>
                  <a:off x="422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1" name="Oval 564"/>
                <p:cNvSpPr>
                  <a:spLocks noChangeArrowheads="1"/>
                </p:cNvSpPr>
                <p:nvPr/>
              </p:nvSpPr>
              <p:spPr bwMode="auto">
                <a:xfrm>
                  <a:off x="393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2" name="Oval 565"/>
                <p:cNvSpPr>
                  <a:spLocks noChangeArrowheads="1"/>
                </p:cNvSpPr>
                <p:nvPr/>
              </p:nvSpPr>
              <p:spPr bwMode="auto">
                <a:xfrm>
                  <a:off x="400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3" name="Oval 566"/>
                <p:cNvSpPr>
                  <a:spLocks noChangeArrowheads="1"/>
                </p:cNvSpPr>
                <p:nvPr/>
              </p:nvSpPr>
              <p:spPr bwMode="auto">
                <a:xfrm>
                  <a:off x="408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4" name="Oval 567"/>
                <p:cNvSpPr>
                  <a:spLocks noChangeArrowheads="1"/>
                </p:cNvSpPr>
                <p:nvPr/>
              </p:nvSpPr>
              <p:spPr bwMode="auto">
                <a:xfrm>
                  <a:off x="415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125" name="Oval 568"/>
                <p:cNvSpPr>
                  <a:spLocks noChangeArrowheads="1"/>
                </p:cNvSpPr>
                <p:nvPr/>
              </p:nvSpPr>
              <p:spPr bwMode="auto">
                <a:xfrm>
                  <a:off x="4224"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100" name="Line 569"/>
              <p:cNvSpPr>
                <a:spLocks noChangeShapeType="1"/>
              </p:cNvSpPr>
              <p:nvPr/>
            </p:nvSpPr>
            <p:spPr bwMode="auto">
              <a:xfrm>
                <a:off x="3936" y="393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300602" name="Group 570"/>
          <p:cNvGrpSpPr>
            <a:grpSpLocks/>
          </p:cNvGrpSpPr>
          <p:nvPr/>
        </p:nvGrpSpPr>
        <p:grpSpPr bwMode="auto">
          <a:xfrm>
            <a:off x="6704013" y="4076700"/>
            <a:ext cx="731837" cy="1600200"/>
            <a:chOff x="4272" y="2928"/>
            <a:chExt cx="461" cy="1008"/>
          </a:xfrm>
        </p:grpSpPr>
        <p:grpSp>
          <p:nvGrpSpPr>
            <p:cNvPr id="129065" name="Group 571"/>
            <p:cNvGrpSpPr>
              <a:grpSpLocks/>
            </p:cNvGrpSpPr>
            <p:nvPr/>
          </p:nvGrpSpPr>
          <p:grpSpPr bwMode="auto">
            <a:xfrm>
              <a:off x="4294" y="2928"/>
              <a:ext cx="439" cy="845"/>
              <a:chOff x="4294" y="2496"/>
              <a:chExt cx="439" cy="845"/>
            </a:xfrm>
          </p:grpSpPr>
          <p:sp>
            <p:nvSpPr>
              <p:cNvPr id="129067" name="Oval 572"/>
              <p:cNvSpPr>
                <a:spLocks noChangeArrowheads="1"/>
              </p:cNvSpPr>
              <p:nvPr/>
            </p:nvSpPr>
            <p:spPr bwMode="auto">
              <a:xfrm>
                <a:off x="4294"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8" name="Oval 573"/>
              <p:cNvSpPr>
                <a:spLocks noChangeArrowheads="1"/>
              </p:cNvSpPr>
              <p:nvPr/>
            </p:nvSpPr>
            <p:spPr bwMode="auto">
              <a:xfrm>
                <a:off x="4368" y="2496"/>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9" name="Oval 574"/>
              <p:cNvSpPr>
                <a:spLocks noChangeArrowheads="1"/>
              </p:cNvSpPr>
              <p:nvPr/>
            </p:nvSpPr>
            <p:spPr bwMode="auto">
              <a:xfrm>
                <a:off x="4438"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0" name="Oval 575"/>
              <p:cNvSpPr>
                <a:spLocks noChangeArrowheads="1"/>
              </p:cNvSpPr>
              <p:nvPr/>
            </p:nvSpPr>
            <p:spPr bwMode="auto">
              <a:xfrm>
                <a:off x="451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1" name="Oval 576"/>
              <p:cNvSpPr>
                <a:spLocks noChangeArrowheads="1"/>
              </p:cNvSpPr>
              <p:nvPr/>
            </p:nvSpPr>
            <p:spPr bwMode="auto">
              <a:xfrm>
                <a:off x="4582"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2" name="Oval 577"/>
              <p:cNvSpPr>
                <a:spLocks noChangeArrowheads="1"/>
              </p:cNvSpPr>
              <p:nvPr/>
            </p:nvSpPr>
            <p:spPr bwMode="auto">
              <a:xfrm>
                <a:off x="465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3" name="Oval 578"/>
              <p:cNvSpPr>
                <a:spLocks noChangeArrowheads="1"/>
              </p:cNvSpPr>
              <p:nvPr/>
            </p:nvSpPr>
            <p:spPr bwMode="auto">
              <a:xfrm>
                <a:off x="4294"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4" name="Oval 579"/>
              <p:cNvSpPr>
                <a:spLocks noChangeArrowheads="1"/>
              </p:cNvSpPr>
              <p:nvPr/>
            </p:nvSpPr>
            <p:spPr bwMode="auto">
              <a:xfrm>
                <a:off x="4368"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5" name="Oval 580"/>
              <p:cNvSpPr>
                <a:spLocks noChangeArrowheads="1"/>
              </p:cNvSpPr>
              <p:nvPr/>
            </p:nvSpPr>
            <p:spPr bwMode="auto">
              <a:xfrm>
                <a:off x="4438"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6" name="Oval 581"/>
              <p:cNvSpPr>
                <a:spLocks noChangeArrowheads="1"/>
              </p:cNvSpPr>
              <p:nvPr/>
            </p:nvSpPr>
            <p:spPr bwMode="auto">
              <a:xfrm>
                <a:off x="4512"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7" name="Oval 582"/>
              <p:cNvSpPr>
                <a:spLocks noChangeArrowheads="1"/>
              </p:cNvSpPr>
              <p:nvPr/>
            </p:nvSpPr>
            <p:spPr bwMode="auto">
              <a:xfrm>
                <a:off x="4582" y="2880"/>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8" name="Oval 583"/>
              <p:cNvSpPr>
                <a:spLocks noChangeArrowheads="1"/>
              </p:cNvSpPr>
              <p:nvPr/>
            </p:nvSpPr>
            <p:spPr bwMode="auto">
              <a:xfrm>
                <a:off x="465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79" name="Oval 584"/>
              <p:cNvSpPr>
                <a:spLocks noChangeArrowheads="1"/>
              </p:cNvSpPr>
              <p:nvPr/>
            </p:nvSpPr>
            <p:spPr bwMode="auto">
              <a:xfrm>
                <a:off x="4294"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0" name="Oval 585"/>
              <p:cNvSpPr>
                <a:spLocks noChangeArrowheads="1"/>
              </p:cNvSpPr>
              <p:nvPr/>
            </p:nvSpPr>
            <p:spPr bwMode="auto">
              <a:xfrm>
                <a:off x="4368" y="2688"/>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1" name="Oval 586"/>
              <p:cNvSpPr>
                <a:spLocks noChangeArrowheads="1"/>
              </p:cNvSpPr>
              <p:nvPr/>
            </p:nvSpPr>
            <p:spPr bwMode="auto">
              <a:xfrm>
                <a:off x="4438"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2" name="Oval 587"/>
              <p:cNvSpPr>
                <a:spLocks noChangeArrowheads="1"/>
              </p:cNvSpPr>
              <p:nvPr/>
            </p:nvSpPr>
            <p:spPr bwMode="auto">
              <a:xfrm>
                <a:off x="451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3" name="Oval 588"/>
              <p:cNvSpPr>
                <a:spLocks noChangeArrowheads="1"/>
              </p:cNvSpPr>
              <p:nvPr/>
            </p:nvSpPr>
            <p:spPr bwMode="auto">
              <a:xfrm>
                <a:off x="4582"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4" name="Oval 589"/>
              <p:cNvSpPr>
                <a:spLocks noChangeArrowheads="1"/>
              </p:cNvSpPr>
              <p:nvPr/>
            </p:nvSpPr>
            <p:spPr bwMode="auto">
              <a:xfrm>
                <a:off x="465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5" name="Oval 590"/>
              <p:cNvSpPr>
                <a:spLocks noChangeArrowheads="1"/>
              </p:cNvSpPr>
              <p:nvPr/>
            </p:nvSpPr>
            <p:spPr bwMode="auto">
              <a:xfrm>
                <a:off x="4294"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6" name="Oval 591"/>
              <p:cNvSpPr>
                <a:spLocks noChangeArrowheads="1"/>
              </p:cNvSpPr>
              <p:nvPr/>
            </p:nvSpPr>
            <p:spPr bwMode="auto">
              <a:xfrm>
                <a:off x="4368" y="3072"/>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7" name="Oval 592"/>
              <p:cNvSpPr>
                <a:spLocks noChangeArrowheads="1"/>
              </p:cNvSpPr>
              <p:nvPr/>
            </p:nvSpPr>
            <p:spPr bwMode="auto">
              <a:xfrm>
                <a:off x="4438"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8" name="Oval 593"/>
              <p:cNvSpPr>
                <a:spLocks noChangeArrowheads="1"/>
              </p:cNvSpPr>
              <p:nvPr/>
            </p:nvSpPr>
            <p:spPr bwMode="auto">
              <a:xfrm>
                <a:off x="451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89" name="Oval 594"/>
              <p:cNvSpPr>
                <a:spLocks noChangeArrowheads="1"/>
              </p:cNvSpPr>
              <p:nvPr/>
            </p:nvSpPr>
            <p:spPr bwMode="auto">
              <a:xfrm>
                <a:off x="4582"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0" name="Oval 595"/>
              <p:cNvSpPr>
                <a:spLocks noChangeArrowheads="1"/>
              </p:cNvSpPr>
              <p:nvPr/>
            </p:nvSpPr>
            <p:spPr bwMode="auto">
              <a:xfrm>
                <a:off x="465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1" name="Oval 596"/>
              <p:cNvSpPr>
                <a:spLocks noChangeArrowheads="1"/>
              </p:cNvSpPr>
              <p:nvPr/>
            </p:nvSpPr>
            <p:spPr bwMode="auto">
              <a:xfrm>
                <a:off x="4294"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2" name="Oval 597"/>
              <p:cNvSpPr>
                <a:spLocks noChangeArrowheads="1"/>
              </p:cNvSpPr>
              <p:nvPr/>
            </p:nvSpPr>
            <p:spPr bwMode="auto">
              <a:xfrm>
                <a:off x="4368"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3" name="Oval 598"/>
              <p:cNvSpPr>
                <a:spLocks noChangeArrowheads="1"/>
              </p:cNvSpPr>
              <p:nvPr/>
            </p:nvSpPr>
            <p:spPr bwMode="auto">
              <a:xfrm>
                <a:off x="4438"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4" name="Oval 599"/>
              <p:cNvSpPr>
                <a:spLocks noChangeArrowheads="1"/>
              </p:cNvSpPr>
              <p:nvPr/>
            </p:nvSpPr>
            <p:spPr bwMode="auto">
              <a:xfrm>
                <a:off x="451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5" name="Oval 600"/>
              <p:cNvSpPr>
                <a:spLocks noChangeArrowheads="1"/>
              </p:cNvSpPr>
              <p:nvPr/>
            </p:nvSpPr>
            <p:spPr bwMode="auto">
              <a:xfrm>
                <a:off x="4582"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96" name="Oval 601"/>
              <p:cNvSpPr>
                <a:spLocks noChangeArrowheads="1"/>
              </p:cNvSpPr>
              <p:nvPr/>
            </p:nvSpPr>
            <p:spPr bwMode="auto">
              <a:xfrm>
                <a:off x="4656" y="3264"/>
                <a:ext cx="77" cy="77"/>
              </a:xfrm>
              <a:prstGeom prst="ellipse">
                <a:avLst/>
              </a:prstGeom>
              <a:solidFill>
                <a:srgbClr val="FF0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066" name="Line 602"/>
            <p:cNvSpPr>
              <a:spLocks noChangeShapeType="1"/>
            </p:cNvSpPr>
            <p:nvPr/>
          </p:nvSpPr>
          <p:spPr bwMode="auto">
            <a:xfrm>
              <a:off x="4272" y="393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00635" name="Group 603"/>
          <p:cNvGrpSpPr>
            <a:grpSpLocks/>
          </p:cNvGrpSpPr>
          <p:nvPr/>
        </p:nvGrpSpPr>
        <p:grpSpPr bwMode="auto">
          <a:xfrm>
            <a:off x="1370013" y="4076700"/>
            <a:ext cx="6405562" cy="1985963"/>
            <a:chOff x="912" y="2928"/>
            <a:chExt cx="4035" cy="1251"/>
          </a:xfrm>
        </p:grpSpPr>
        <p:grpSp>
          <p:nvGrpSpPr>
            <p:cNvPr id="129045" name="Group 604"/>
            <p:cNvGrpSpPr>
              <a:grpSpLocks/>
            </p:cNvGrpSpPr>
            <p:nvPr/>
          </p:nvGrpSpPr>
          <p:grpSpPr bwMode="auto">
            <a:xfrm>
              <a:off x="4726" y="2928"/>
              <a:ext cx="221" cy="845"/>
              <a:chOff x="4726" y="2496"/>
              <a:chExt cx="221" cy="845"/>
            </a:xfrm>
          </p:grpSpPr>
          <p:sp>
            <p:nvSpPr>
              <p:cNvPr id="129050" name="Oval 605"/>
              <p:cNvSpPr>
                <a:spLocks noChangeArrowheads="1"/>
              </p:cNvSpPr>
              <p:nvPr/>
            </p:nvSpPr>
            <p:spPr bwMode="auto">
              <a:xfrm>
                <a:off x="4726"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1" name="Oval 606"/>
              <p:cNvSpPr>
                <a:spLocks noChangeArrowheads="1"/>
              </p:cNvSpPr>
              <p:nvPr/>
            </p:nvSpPr>
            <p:spPr bwMode="auto">
              <a:xfrm>
                <a:off x="480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2" name="Oval 607"/>
              <p:cNvSpPr>
                <a:spLocks noChangeArrowheads="1"/>
              </p:cNvSpPr>
              <p:nvPr/>
            </p:nvSpPr>
            <p:spPr bwMode="auto">
              <a:xfrm>
                <a:off x="4870" y="2496"/>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3" name="Oval 608"/>
              <p:cNvSpPr>
                <a:spLocks noChangeArrowheads="1"/>
              </p:cNvSpPr>
              <p:nvPr/>
            </p:nvSpPr>
            <p:spPr bwMode="auto">
              <a:xfrm>
                <a:off x="4726"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4" name="Oval 609"/>
              <p:cNvSpPr>
                <a:spLocks noChangeArrowheads="1"/>
              </p:cNvSpPr>
              <p:nvPr/>
            </p:nvSpPr>
            <p:spPr bwMode="auto">
              <a:xfrm>
                <a:off x="480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5" name="Oval 610"/>
              <p:cNvSpPr>
                <a:spLocks noChangeArrowheads="1"/>
              </p:cNvSpPr>
              <p:nvPr/>
            </p:nvSpPr>
            <p:spPr bwMode="auto">
              <a:xfrm>
                <a:off x="4870" y="2880"/>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6" name="Oval 611"/>
              <p:cNvSpPr>
                <a:spLocks noChangeArrowheads="1"/>
              </p:cNvSpPr>
              <p:nvPr/>
            </p:nvSpPr>
            <p:spPr bwMode="auto">
              <a:xfrm>
                <a:off x="4726"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7" name="Oval 612"/>
              <p:cNvSpPr>
                <a:spLocks noChangeArrowheads="1"/>
              </p:cNvSpPr>
              <p:nvPr/>
            </p:nvSpPr>
            <p:spPr bwMode="auto">
              <a:xfrm>
                <a:off x="480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8" name="Oval 613"/>
              <p:cNvSpPr>
                <a:spLocks noChangeArrowheads="1"/>
              </p:cNvSpPr>
              <p:nvPr/>
            </p:nvSpPr>
            <p:spPr bwMode="auto">
              <a:xfrm>
                <a:off x="4870" y="2688"/>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59" name="Oval 614"/>
              <p:cNvSpPr>
                <a:spLocks noChangeArrowheads="1"/>
              </p:cNvSpPr>
              <p:nvPr/>
            </p:nvSpPr>
            <p:spPr bwMode="auto">
              <a:xfrm>
                <a:off x="4726"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0" name="Oval 615"/>
              <p:cNvSpPr>
                <a:spLocks noChangeArrowheads="1"/>
              </p:cNvSpPr>
              <p:nvPr/>
            </p:nvSpPr>
            <p:spPr bwMode="auto">
              <a:xfrm>
                <a:off x="480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1" name="Oval 616"/>
              <p:cNvSpPr>
                <a:spLocks noChangeArrowheads="1"/>
              </p:cNvSpPr>
              <p:nvPr/>
            </p:nvSpPr>
            <p:spPr bwMode="auto">
              <a:xfrm>
                <a:off x="4870" y="3072"/>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2" name="Oval 617"/>
              <p:cNvSpPr>
                <a:spLocks noChangeArrowheads="1"/>
              </p:cNvSpPr>
              <p:nvPr/>
            </p:nvSpPr>
            <p:spPr bwMode="auto">
              <a:xfrm>
                <a:off x="4726"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3" name="Oval 618"/>
              <p:cNvSpPr>
                <a:spLocks noChangeArrowheads="1"/>
              </p:cNvSpPr>
              <p:nvPr/>
            </p:nvSpPr>
            <p:spPr bwMode="auto">
              <a:xfrm>
                <a:off x="480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sp>
            <p:nvSpPr>
              <p:cNvPr id="129064" name="Oval 619"/>
              <p:cNvSpPr>
                <a:spLocks noChangeArrowheads="1"/>
              </p:cNvSpPr>
              <p:nvPr/>
            </p:nvSpPr>
            <p:spPr bwMode="auto">
              <a:xfrm>
                <a:off x="4870" y="3264"/>
                <a:ext cx="77" cy="77"/>
              </a:xfrm>
              <a:prstGeom prst="ellipse">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zh-CN" altLang="en-US" sz="1800" b="1">
                  <a:solidFill>
                    <a:srgbClr val="FFFF00"/>
                  </a:solidFill>
                  <a:latin typeface="Arial" panose="020B0604020202020204" pitchFamily="34" charset="0"/>
                  <a:ea typeface="宋体" panose="02010600030101010101" pitchFamily="2" charset="-122"/>
                </a:endParaRPr>
              </a:p>
            </p:txBody>
          </p:sp>
        </p:grpSp>
        <p:sp>
          <p:nvSpPr>
            <p:cNvPr id="129046" name="Line 620"/>
            <p:cNvSpPr>
              <a:spLocks noChangeShapeType="1"/>
            </p:cNvSpPr>
            <p:nvPr/>
          </p:nvSpPr>
          <p:spPr bwMode="auto">
            <a:xfrm>
              <a:off x="4944" y="38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7" name="Text Box 621"/>
            <p:cNvSpPr txBox="1">
              <a:spLocks noChangeArrowheads="1"/>
            </p:cNvSpPr>
            <p:nvPr/>
          </p:nvSpPr>
          <p:spPr bwMode="auto">
            <a:xfrm>
              <a:off x="2592" y="3888"/>
              <a:ext cx="6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en-US" altLang="zh-CN" sz="2400" b="1">
                  <a:latin typeface="Arial" panose="020B0604020202020204" pitchFamily="34" charset="0"/>
                  <a:ea typeface="楷体" panose="02010609060101010101" pitchFamily="49" charset="-122"/>
                  <a:cs typeface="Arial" panose="020B0604020202020204" pitchFamily="34" charset="0"/>
                </a:rPr>
                <a:t>hours</a:t>
              </a:r>
            </a:p>
          </p:txBody>
        </p:sp>
        <p:sp>
          <p:nvSpPr>
            <p:cNvPr id="129048" name="Line 622"/>
            <p:cNvSpPr>
              <a:spLocks noChangeShapeType="1"/>
            </p:cNvSpPr>
            <p:nvPr/>
          </p:nvSpPr>
          <p:spPr bwMode="auto">
            <a:xfrm>
              <a:off x="4704" y="3936"/>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9049" name="Line 623"/>
            <p:cNvSpPr>
              <a:spLocks noChangeShapeType="1"/>
            </p:cNvSpPr>
            <p:nvPr/>
          </p:nvSpPr>
          <p:spPr bwMode="auto">
            <a:xfrm flipH="1">
              <a:off x="912" y="3936"/>
              <a:ext cx="9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00656" name="Rectangle 624"/>
          <p:cNvSpPr>
            <a:spLocks/>
          </p:cNvSpPr>
          <p:nvPr/>
        </p:nvSpPr>
        <p:spPr bwMode="auto">
          <a:xfrm>
            <a:off x="1006475" y="3429000"/>
            <a:ext cx="7705725"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latin typeface="楷体" panose="02010609060101010101" pitchFamily="49" charset="-122"/>
                <a:ea typeface="楷体" panose="02010609060101010101" pitchFamily="49" charset="-122"/>
              </a:rPr>
              <a:t>活性自由基共聚中聚合物链的序列及其长度：</a:t>
            </a:r>
          </a:p>
        </p:txBody>
      </p:sp>
      <p:sp>
        <p:nvSpPr>
          <p:cNvPr id="3" name="矩形 2">
            <a:extLst>
              <a:ext uri="{FF2B5EF4-FFF2-40B4-BE49-F238E27FC236}">
                <a16:creationId xmlns:a16="http://schemas.microsoft.com/office/drawing/2014/main" id="{EFA0079C-3D2D-4056-AE95-5FC691485711}"/>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卡片</a:t>
            </a:r>
            <a:endParaRPr lang="zh-CN" altLang="en-US" sz="2800" dirty="0">
              <a:solidFill>
                <a:schemeClr val="bg1"/>
              </a:solidFill>
              <a:highlight>
                <a:srgbClr val="800000"/>
              </a:highligh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0282"/>
                                        </p:tgtEl>
                                        <p:attrNameLst>
                                          <p:attrName>style.visibility</p:attrName>
                                        </p:attrNameLst>
                                      </p:cBhvr>
                                      <p:to>
                                        <p:strVal val="visible"/>
                                      </p:to>
                                    </p:set>
                                    <p:anim calcmode="lin" valueType="num">
                                      <p:cBhvr additive="base">
                                        <p:cTn id="7" dur="500" fill="hold"/>
                                        <p:tgtEl>
                                          <p:spTgt spid="300282"/>
                                        </p:tgtEl>
                                        <p:attrNameLst>
                                          <p:attrName>ppt_x</p:attrName>
                                        </p:attrNameLst>
                                      </p:cBhvr>
                                      <p:tavLst>
                                        <p:tav tm="0">
                                          <p:val>
                                            <p:strVal val="#ppt_x"/>
                                          </p:val>
                                        </p:tav>
                                        <p:tav tm="100000">
                                          <p:val>
                                            <p:strVal val="#ppt_x"/>
                                          </p:val>
                                        </p:tav>
                                      </p:tavLst>
                                    </p:anim>
                                    <p:anim calcmode="lin" valueType="num">
                                      <p:cBhvr additive="base">
                                        <p:cTn id="8" dur="500" fill="hold"/>
                                        <p:tgtEl>
                                          <p:spTgt spid="30028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00297"/>
                                        </p:tgtEl>
                                        <p:attrNameLst>
                                          <p:attrName>style.visibility</p:attrName>
                                        </p:attrNameLst>
                                      </p:cBhvr>
                                      <p:to>
                                        <p:strVal val="visible"/>
                                      </p:to>
                                    </p:set>
                                    <p:anim calcmode="lin" valueType="num">
                                      <p:cBhvr additive="base">
                                        <p:cTn id="11" dur="500" fill="hold"/>
                                        <p:tgtEl>
                                          <p:spTgt spid="300297"/>
                                        </p:tgtEl>
                                        <p:attrNameLst>
                                          <p:attrName>ppt_x</p:attrName>
                                        </p:attrNameLst>
                                      </p:cBhvr>
                                      <p:tavLst>
                                        <p:tav tm="0">
                                          <p:val>
                                            <p:strVal val="#ppt_x"/>
                                          </p:val>
                                        </p:tav>
                                        <p:tav tm="100000">
                                          <p:val>
                                            <p:strVal val="#ppt_x"/>
                                          </p:val>
                                        </p:tav>
                                      </p:tavLst>
                                    </p:anim>
                                    <p:anim calcmode="lin" valueType="num">
                                      <p:cBhvr additive="base">
                                        <p:cTn id="12" dur="500" fill="hold"/>
                                        <p:tgtEl>
                                          <p:spTgt spid="30029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00362"/>
                                        </p:tgtEl>
                                        <p:attrNameLst>
                                          <p:attrName>style.visibility</p:attrName>
                                        </p:attrNameLst>
                                      </p:cBhvr>
                                      <p:to>
                                        <p:strVal val="visible"/>
                                      </p:to>
                                    </p:set>
                                    <p:anim calcmode="lin" valueType="num">
                                      <p:cBhvr additive="base">
                                        <p:cTn id="15" dur="500" fill="hold"/>
                                        <p:tgtEl>
                                          <p:spTgt spid="300362"/>
                                        </p:tgtEl>
                                        <p:attrNameLst>
                                          <p:attrName>ppt_x</p:attrName>
                                        </p:attrNameLst>
                                      </p:cBhvr>
                                      <p:tavLst>
                                        <p:tav tm="0">
                                          <p:val>
                                            <p:strVal val="#ppt_x"/>
                                          </p:val>
                                        </p:tav>
                                        <p:tav tm="100000">
                                          <p:val>
                                            <p:strVal val="#ppt_x"/>
                                          </p:val>
                                        </p:tav>
                                      </p:tavLst>
                                    </p:anim>
                                    <p:anim calcmode="lin" valueType="num">
                                      <p:cBhvr additive="base">
                                        <p:cTn id="16" dur="500" fill="hold"/>
                                        <p:tgtEl>
                                          <p:spTgt spid="300362"/>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00370"/>
                                        </p:tgtEl>
                                        <p:attrNameLst>
                                          <p:attrName>style.visibility</p:attrName>
                                        </p:attrNameLst>
                                      </p:cBhvr>
                                      <p:to>
                                        <p:strVal val="visible"/>
                                      </p:to>
                                    </p:set>
                                    <p:anim calcmode="lin" valueType="num">
                                      <p:cBhvr additive="base">
                                        <p:cTn id="19" dur="500" fill="hold"/>
                                        <p:tgtEl>
                                          <p:spTgt spid="300370"/>
                                        </p:tgtEl>
                                        <p:attrNameLst>
                                          <p:attrName>ppt_x</p:attrName>
                                        </p:attrNameLst>
                                      </p:cBhvr>
                                      <p:tavLst>
                                        <p:tav tm="0">
                                          <p:val>
                                            <p:strVal val="#ppt_x"/>
                                          </p:val>
                                        </p:tav>
                                        <p:tav tm="100000">
                                          <p:val>
                                            <p:strVal val="#ppt_x"/>
                                          </p:val>
                                        </p:tav>
                                      </p:tavLst>
                                    </p:anim>
                                    <p:anim calcmode="lin" valueType="num">
                                      <p:cBhvr additive="base">
                                        <p:cTn id="20" dur="500" fill="hold"/>
                                        <p:tgtEl>
                                          <p:spTgt spid="300370"/>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00429"/>
                                        </p:tgtEl>
                                        <p:attrNameLst>
                                          <p:attrName>style.visibility</p:attrName>
                                        </p:attrNameLst>
                                      </p:cBhvr>
                                      <p:to>
                                        <p:strVal val="visible"/>
                                      </p:to>
                                    </p:set>
                                    <p:anim calcmode="lin" valueType="num">
                                      <p:cBhvr additive="base">
                                        <p:cTn id="23" dur="500" fill="hold"/>
                                        <p:tgtEl>
                                          <p:spTgt spid="300429"/>
                                        </p:tgtEl>
                                        <p:attrNameLst>
                                          <p:attrName>ppt_x</p:attrName>
                                        </p:attrNameLst>
                                      </p:cBhvr>
                                      <p:tavLst>
                                        <p:tav tm="0">
                                          <p:val>
                                            <p:strVal val="#ppt_x"/>
                                          </p:val>
                                        </p:tav>
                                        <p:tav tm="100000">
                                          <p:val>
                                            <p:strVal val="#ppt_x"/>
                                          </p:val>
                                        </p:tav>
                                      </p:tavLst>
                                    </p:anim>
                                    <p:anim calcmode="lin" valueType="num">
                                      <p:cBhvr additive="base">
                                        <p:cTn id="24" dur="500" fill="hold"/>
                                        <p:tgtEl>
                                          <p:spTgt spid="300429"/>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00485"/>
                                        </p:tgtEl>
                                        <p:attrNameLst>
                                          <p:attrName>style.visibility</p:attrName>
                                        </p:attrNameLst>
                                      </p:cBhvr>
                                      <p:to>
                                        <p:strVal val="visible"/>
                                      </p:to>
                                    </p:set>
                                    <p:anim calcmode="lin" valueType="num">
                                      <p:cBhvr additive="base">
                                        <p:cTn id="27" dur="500" fill="hold"/>
                                        <p:tgtEl>
                                          <p:spTgt spid="300485"/>
                                        </p:tgtEl>
                                        <p:attrNameLst>
                                          <p:attrName>ppt_x</p:attrName>
                                        </p:attrNameLst>
                                      </p:cBhvr>
                                      <p:tavLst>
                                        <p:tav tm="0">
                                          <p:val>
                                            <p:strVal val="#ppt_x"/>
                                          </p:val>
                                        </p:tav>
                                        <p:tav tm="100000">
                                          <p:val>
                                            <p:strVal val="#ppt_x"/>
                                          </p:val>
                                        </p:tav>
                                      </p:tavLst>
                                    </p:anim>
                                    <p:anim calcmode="lin" valueType="num">
                                      <p:cBhvr additive="base">
                                        <p:cTn id="28" dur="500" fill="hold"/>
                                        <p:tgtEl>
                                          <p:spTgt spid="300485"/>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00508"/>
                                        </p:tgtEl>
                                        <p:attrNameLst>
                                          <p:attrName>style.visibility</p:attrName>
                                        </p:attrNameLst>
                                      </p:cBhvr>
                                      <p:to>
                                        <p:strVal val="visible"/>
                                      </p:to>
                                    </p:set>
                                    <p:anim calcmode="lin" valueType="num">
                                      <p:cBhvr additive="base">
                                        <p:cTn id="31" dur="500" fill="hold"/>
                                        <p:tgtEl>
                                          <p:spTgt spid="300508"/>
                                        </p:tgtEl>
                                        <p:attrNameLst>
                                          <p:attrName>ppt_x</p:attrName>
                                        </p:attrNameLst>
                                      </p:cBhvr>
                                      <p:tavLst>
                                        <p:tav tm="0">
                                          <p:val>
                                            <p:strVal val="#ppt_x"/>
                                          </p:val>
                                        </p:tav>
                                        <p:tav tm="100000">
                                          <p:val>
                                            <p:strVal val="#ppt_x"/>
                                          </p:val>
                                        </p:tav>
                                      </p:tavLst>
                                    </p:anim>
                                    <p:anim calcmode="lin" valueType="num">
                                      <p:cBhvr additive="base">
                                        <p:cTn id="32" dur="500" fill="hold"/>
                                        <p:tgtEl>
                                          <p:spTgt spid="30050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00550"/>
                                        </p:tgtEl>
                                        <p:attrNameLst>
                                          <p:attrName>style.visibility</p:attrName>
                                        </p:attrNameLst>
                                      </p:cBhvr>
                                      <p:to>
                                        <p:strVal val="visible"/>
                                      </p:to>
                                    </p:set>
                                    <p:anim calcmode="lin" valueType="num">
                                      <p:cBhvr additive="base">
                                        <p:cTn id="35" dur="500" fill="hold"/>
                                        <p:tgtEl>
                                          <p:spTgt spid="300550"/>
                                        </p:tgtEl>
                                        <p:attrNameLst>
                                          <p:attrName>ppt_x</p:attrName>
                                        </p:attrNameLst>
                                      </p:cBhvr>
                                      <p:tavLst>
                                        <p:tav tm="0">
                                          <p:val>
                                            <p:strVal val="#ppt_x"/>
                                          </p:val>
                                        </p:tav>
                                        <p:tav tm="100000">
                                          <p:val>
                                            <p:strVal val="#ppt_x"/>
                                          </p:val>
                                        </p:tav>
                                      </p:tavLst>
                                    </p:anim>
                                    <p:anim calcmode="lin" valueType="num">
                                      <p:cBhvr additive="base">
                                        <p:cTn id="36" dur="500" fill="hold"/>
                                        <p:tgtEl>
                                          <p:spTgt spid="30055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00602"/>
                                        </p:tgtEl>
                                        <p:attrNameLst>
                                          <p:attrName>style.visibility</p:attrName>
                                        </p:attrNameLst>
                                      </p:cBhvr>
                                      <p:to>
                                        <p:strVal val="visible"/>
                                      </p:to>
                                    </p:set>
                                    <p:anim calcmode="lin" valueType="num">
                                      <p:cBhvr additive="base">
                                        <p:cTn id="39" dur="500" fill="hold"/>
                                        <p:tgtEl>
                                          <p:spTgt spid="300602"/>
                                        </p:tgtEl>
                                        <p:attrNameLst>
                                          <p:attrName>ppt_x</p:attrName>
                                        </p:attrNameLst>
                                      </p:cBhvr>
                                      <p:tavLst>
                                        <p:tav tm="0">
                                          <p:val>
                                            <p:strVal val="#ppt_x"/>
                                          </p:val>
                                        </p:tav>
                                        <p:tav tm="100000">
                                          <p:val>
                                            <p:strVal val="#ppt_x"/>
                                          </p:val>
                                        </p:tav>
                                      </p:tavLst>
                                    </p:anim>
                                    <p:anim calcmode="lin" valueType="num">
                                      <p:cBhvr additive="base">
                                        <p:cTn id="40" dur="500" fill="hold"/>
                                        <p:tgtEl>
                                          <p:spTgt spid="30060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00635"/>
                                        </p:tgtEl>
                                        <p:attrNameLst>
                                          <p:attrName>style.visibility</p:attrName>
                                        </p:attrNameLst>
                                      </p:cBhvr>
                                      <p:to>
                                        <p:strVal val="visible"/>
                                      </p:to>
                                    </p:set>
                                    <p:anim calcmode="lin" valueType="num">
                                      <p:cBhvr additive="base">
                                        <p:cTn id="43" dur="500" fill="hold"/>
                                        <p:tgtEl>
                                          <p:spTgt spid="300635"/>
                                        </p:tgtEl>
                                        <p:attrNameLst>
                                          <p:attrName>ppt_x</p:attrName>
                                        </p:attrNameLst>
                                      </p:cBhvr>
                                      <p:tavLst>
                                        <p:tav tm="0">
                                          <p:val>
                                            <p:strVal val="#ppt_x"/>
                                          </p:val>
                                        </p:tav>
                                        <p:tav tm="100000">
                                          <p:val>
                                            <p:strVal val="#ppt_x"/>
                                          </p:val>
                                        </p:tav>
                                      </p:tavLst>
                                    </p:anim>
                                    <p:anim calcmode="lin" valueType="num">
                                      <p:cBhvr additive="base">
                                        <p:cTn id="44" dur="500" fill="hold"/>
                                        <p:tgtEl>
                                          <p:spTgt spid="30063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0656"/>
                                        </p:tgtEl>
                                        <p:attrNameLst>
                                          <p:attrName>style.visibility</p:attrName>
                                        </p:attrNameLst>
                                      </p:cBhvr>
                                      <p:to>
                                        <p:strVal val="visible"/>
                                      </p:to>
                                    </p:set>
                                    <p:anim calcmode="lin" valueType="num">
                                      <p:cBhvr additive="base">
                                        <p:cTn id="47" dur="500" fill="hold"/>
                                        <p:tgtEl>
                                          <p:spTgt spid="300656"/>
                                        </p:tgtEl>
                                        <p:attrNameLst>
                                          <p:attrName>ppt_x</p:attrName>
                                        </p:attrNameLst>
                                      </p:cBhvr>
                                      <p:tavLst>
                                        <p:tav tm="0">
                                          <p:val>
                                            <p:strVal val="#ppt_x"/>
                                          </p:val>
                                        </p:tav>
                                        <p:tav tm="100000">
                                          <p:val>
                                            <p:strVal val="#ppt_x"/>
                                          </p:val>
                                        </p:tav>
                                      </p:tavLst>
                                    </p:anim>
                                    <p:anim calcmode="lin" valueType="num">
                                      <p:cBhvr additive="base">
                                        <p:cTn id="48" dur="500" fill="hold"/>
                                        <p:tgtEl>
                                          <p:spTgt spid="3006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656" grpId="0"/>
    </p:bld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7" name="直接连接符 6">
            <a:extLst>
              <a:ext uri="{FF2B5EF4-FFF2-40B4-BE49-F238E27FC236}">
                <a16:creationId xmlns:a16="http://schemas.microsoft.com/office/drawing/2014/main" id="{8560D4E8-1A45-4C38-820B-A2418D14C4F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10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76DB2FB-6811-4A2B-BA6C-2993BF1013D8}"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92</a:t>
            </a:fld>
            <a:endParaRPr lang="en-US" altLang="zh-CN" sz="1200">
              <a:solidFill>
                <a:srgbClr val="FFFFFF"/>
              </a:solidFill>
              <a:latin typeface="Century Schoolbook" panose="02040604050505020304" pitchFamily="18" charset="0"/>
              <a:ea typeface="宋体" panose="02010600030101010101" pitchFamily="2" charset="-122"/>
            </a:endParaRPr>
          </a:p>
        </p:txBody>
      </p:sp>
      <p:pic>
        <p:nvPicPr>
          <p:cNvPr id="131076" name="Picture 2" descr="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0138" y="1628775"/>
            <a:ext cx="40386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7" name="Text Box 4"/>
          <p:cNvSpPr txBox="1">
            <a:spLocks noChangeArrowheads="1"/>
          </p:cNvSpPr>
          <p:nvPr/>
        </p:nvSpPr>
        <p:spPr bwMode="auto">
          <a:xfrm>
            <a:off x="323850" y="515938"/>
            <a:ext cx="8562975" cy="573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序列分布的表示</a:t>
            </a:r>
          </a:p>
          <a:p>
            <a:pPr algn="just" eaLnBrk="1" hangingPunct="1">
              <a:lnSpc>
                <a:spcPct val="120000"/>
              </a:lnSpc>
              <a:spcBef>
                <a:spcPct val="500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1</a:t>
            </a:r>
            <a:r>
              <a:rPr lang="en-US" altLang="zh-CN" sz="1800">
                <a:latin typeface="Arial" panose="020B0604020202020204" pitchFamily="34" charset="0"/>
                <a:ea typeface="楷体" panose="02010609060101010101" pitchFamily="49" charset="-122"/>
                <a:cs typeface="Arial" panose="020B0604020202020204" pitchFamily="34" charset="0"/>
              </a:rPr>
              <a:t>) </a:t>
            </a:r>
            <a:r>
              <a:rPr lang="zh-CN" altLang="en-US" sz="1800">
                <a:latin typeface="Arial" panose="020B0604020202020204" pitchFamily="34" charset="0"/>
                <a:ea typeface="楷体" panose="02010609060101010101" pitchFamily="49" charset="-122"/>
                <a:cs typeface="Arial" panose="020B0604020202020204" pitchFamily="34" charset="0"/>
              </a:rPr>
              <a:t>完整表示不同长度的序列的数量分布</a:t>
            </a:r>
            <a:r>
              <a:rPr lang="en-US" altLang="zh-CN" sz="1800">
                <a:latin typeface="Arial" panose="020B0604020202020204" pitchFamily="34" charset="0"/>
                <a:ea typeface="楷体" panose="02010609060101010101" pitchFamily="49" charset="-122"/>
                <a:cs typeface="Arial" panose="020B0604020202020204" pitchFamily="34" charset="0"/>
              </a:rPr>
              <a:t>(</a:t>
            </a:r>
            <a:r>
              <a:rPr lang="zh-CN" altLang="en-US" sz="1800">
                <a:latin typeface="Arial" panose="020B0604020202020204" pitchFamily="34" charset="0"/>
                <a:ea typeface="楷体" panose="02010609060101010101" pitchFamily="49" charset="-122"/>
                <a:cs typeface="Arial" panose="020B0604020202020204" pitchFamily="34" charset="0"/>
              </a:rPr>
              <a:t>或重量分布</a:t>
            </a:r>
            <a:r>
              <a:rPr lang="en-US" altLang="zh-CN" sz="1800">
                <a:latin typeface="Arial" panose="020B0604020202020204" pitchFamily="34" charset="0"/>
                <a:ea typeface="楷体" panose="02010609060101010101" pitchFamily="49" charset="-122"/>
                <a:cs typeface="Arial" panose="020B0604020202020204" pitchFamily="34" charset="0"/>
              </a:rPr>
              <a:t>)</a:t>
            </a:r>
            <a:endParaRPr lang="zh-CN" altLang="en-US" sz="18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    (注意</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两种单体的序列分布都要测定</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endPar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50000"/>
              </a:spcBef>
              <a:buFontTx/>
              <a:buNone/>
            </a:pPr>
            <a:endParaRPr lang="en-US" altLang="zh-CN" sz="8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en-US" altLang="zh-CN" sz="20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zh-CN" altLang="en-US" sz="14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en-US" altLang="zh-CN" sz="1800" b="1">
              <a:latin typeface="Century Schoolbook" panose="02040604050505020304" pitchFamily="18" charset="0"/>
              <a:ea typeface="宋体" panose="02010600030101010101" pitchFamily="2" charset="-122"/>
              <a:cs typeface="Arial" panose="020B0604020202020204" pitchFamily="34" charset="0"/>
            </a:endParaRPr>
          </a:p>
          <a:p>
            <a:pPr algn="just" eaLnBrk="1" hangingPunct="1">
              <a:lnSpc>
                <a:spcPct val="120000"/>
              </a:lnSpc>
              <a:spcBef>
                <a:spcPct val="50000"/>
              </a:spcBef>
              <a:buFontTx/>
              <a:buNone/>
            </a:pPr>
            <a:endParaRPr lang="en-US" altLang="zh-CN" sz="18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50000"/>
              </a:spcBef>
              <a:buFontTx/>
              <a:buNone/>
            </a:pPr>
            <a:endParaRPr lang="en-US" altLang="zh-CN" sz="18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500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2</a:t>
            </a:r>
            <a:r>
              <a:rPr lang="en-US" altLang="zh-CN" sz="1800">
                <a:latin typeface="Arial" panose="020B0604020202020204" pitchFamily="34" charset="0"/>
                <a:ea typeface="楷体" panose="02010609060101010101" pitchFamily="49" charset="-122"/>
                <a:cs typeface="Arial" panose="020B0604020202020204" pitchFamily="34" charset="0"/>
              </a:rPr>
              <a:t>) </a:t>
            </a:r>
            <a:r>
              <a:rPr lang="zh-CN" altLang="en-US" sz="1800">
                <a:latin typeface="Arial" panose="020B0604020202020204" pitchFamily="34" charset="0"/>
                <a:ea typeface="楷体" panose="02010609060101010101" pitchFamily="49" charset="-122"/>
                <a:cs typeface="Arial" panose="020B0604020202020204" pitchFamily="34" charset="0"/>
              </a:rPr>
              <a:t>用三元组、四元组等的分子分率表示</a:t>
            </a:r>
          </a:p>
          <a:p>
            <a:pPr algn="just" eaLnBrk="1" hangingPunct="1">
              <a:lnSpc>
                <a:spcPct val="120000"/>
              </a:lnSpc>
              <a:spcBef>
                <a:spcPct val="50000"/>
              </a:spcBef>
              <a:buFontTx/>
              <a:buNone/>
            </a:pPr>
            <a:r>
              <a:rPr lang="zh-CN" altLang="en-US" sz="1800">
                <a:latin typeface="Arial" panose="020B0604020202020204" pitchFamily="34" charset="0"/>
                <a:ea typeface="楷体" panose="02010609060101010101" pitchFamily="49" charset="-122"/>
                <a:cs typeface="Arial" panose="020B0604020202020204" pitchFamily="34" charset="0"/>
              </a:rPr>
              <a:t>如：</a:t>
            </a:r>
            <a:r>
              <a:rPr lang="en-US" altLang="zh-CN" sz="1800">
                <a:latin typeface="Arial" panose="020B0604020202020204" pitchFamily="34" charset="0"/>
                <a:ea typeface="楷体" panose="02010609060101010101" pitchFamily="49" charset="-122"/>
                <a:cs typeface="Arial" panose="020B0604020202020204" pitchFamily="34" charset="0"/>
              </a:rPr>
              <a:t>MMA(A)</a:t>
            </a:r>
            <a:r>
              <a:rPr lang="zh-CN" altLang="en-US" sz="1800">
                <a:latin typeface="Arial" panose="020B0604020202020204" pitchFamily="34" charset="0"/>
                <a:ea typeface="楷体" panose="02010609060101010101" pitchFamily="49" charset="-122"/>
                <a:cs typeface="Arial" panose="020B0604020202020204" pitchFamily="34" charset="0"/>
              </a:rPr>
              <a:t>和</a:t>
            </a:r>
            <a:r>
              <a:rPr lang="en-US" altLang="zh-CN" sz="1800">
                <a:latin typeface="Arial" panose="020B0604020202020204" pitchFamily="34" charset="0"/>
                <a:ea typeface="楷体" panose="02010609060101010101" pitchFamily="49" charset="-122"/>
                <a:cs typeface="Arial" panose="020B0604020202020204" pitchFamily="34" charset="0"/>
              </a:rPr>
              <a:t>MA(B)</a:t>
            </a:r>
            <a:r>
              <a:rPr lang="zh-CN" altLang="en-US" sz="1800">
                <a:latin typeface="Arial" panose="020B0604020202020204" pitchFamily="34" charset="0"/>
                <a:ea typeface="楷体" panose="02010609060101010101" pitchFamily="49" charset="-122"/>
                <a:cs typeface="Arial" panose="020B0604020202020204" pitchFamily="34" charset="0"/>
              </a:rPr>
              <a:t> 共聚物序列分布的三元组表示</a:t>
            </a:r>
          </a:p>
          <a:p>
            <a:pPr algn="just" eaLnBrk="1" hangingPunct="1">
              <a:lnSpc>
                <a:spcPct val="120000"/>
              </a:lnSpc>
              <a:spcBef>
                <a:spcPct val="50000"/>
              </a:spcBef>
              <a:buFontTx/>
              <a:buNone/>
            </a:pPr>
            <a:r>
              <a:rPr lang="en-US" altLang="zh-CN" sz="1800">
                <a:latin typeface="Arial" panose="020B0604020202020204" pitchFamily="34" charset="0"/>
                <a:ea typeface="楷体" panose="02010609060101010101" pitchFamily="49" charset="-122"/>
                <a:cs typeface="Arial" panose="020B0604020202020204" pitchFamily="34" charset="0"/>
              </a:rPr>
              <a:t>AAA     AAB    BAB    ABA    BBA     BBB</a:t>
            </a:r>
          </a:p>
          <a:p>
            <a:pPr algn="just" eaLnBrk="1" hangingPunct="1">
              <a:lnSpc>
                <a:spcPct val="120000"/>
              </a:lnSpc>
              <a:spcBef>
                <a:spcPct val="50000"/>
              </a:spcBef>
              <a:buFontTx/>
              <a:buNone/>
            </a:pPr>
            <a:r>
              <a:rPr lang="en-US" altLang="zh-CN" sz="1800">
                <a:latin typeface="Arial" panose="020B0604020202020204" pitchFamily="34" charset="0"/>
                <a:ea typeface="楷体" panose="02010609060101010101" pitchFamily="49" charset="-122"/>
                <a:cs typeface="Arial" panose="020B0604020202020204" pitchFamily="34" charset="0"/>
              </a:rPr>
              <a:t>0.15     0.20    0.10    0.17     0.23     0.15</a:t>
            </a:r>
          </a:p>
        </p:txBody>
      </p:sp>
      <p:sp>
        <p:nvSpPr>
          <p:cNvPr id="131078" name="TextBox 4"/>
          <p:cNvSpPr txBox="1">
            <a:spLocks noChangeArrowheads="1"/>
          </p:cNvSpPr>
          <p:nvPr/>
        </p:nvSpPr>
        <p:spPr bwMode="auto">
          <a:xfrm>
            <a:off x="5076825" y="5732463"/>
            <a:ext cx="32623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b="1">
                <a:solidFill>
                  <a:srgbClr val="FF0000"/>
                </a:solidFill>
                <a:latin typeface="华文楷体" panose="02010600040101010101" pitchFamily="2" charset="-122"/>
                <a:ea typeface="华文楷体" panose="02010600040101010101" pitchFamily="2" charset="-122"/>
              </a:rPr>
              <a:t>通过核磁共振波谱分析测定</a:t>
            </a:r>
          </a:p>
        </p:txBody>
      </p:sp>
      <p:sp>
        <p:nvSpPr>
          <p:cNvPr id="131079" name="TextBox 5"/>
          <p:cNvSpPr txBox="1">
            <a:spLocks noChangeArrowheads="1"/>
          </p:cNvSpPr>
          <p:nvPr/>
        </p:nvSpPr>
        <p:spPr bwMode="auto">
          <a:xfrm>
            <a:off x="546100" y="1989138"/>
            <a:ext cx="27479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a:latin typeface="黑体" panose="02010609060101010101" pitchFamily="49" charset="-122"/>
                <a:ea typeface="黑体" panose="02010609060101010101" pitchFamily="49" charset="-122"/>
              </a:rPr>
              <a:t>准确测定完整的序列分布在实验上难度很大</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8E5BF2EB-9AB1-45E2-AE10-7017EC677A1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209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6D30190-BAE4-431F-9922-1AC2C91FF665}"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93</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2100" name="Text Box 2"/>
          <p:cNvSpPr txBox="1">
            <a:spLocks noChangeArrowheads="1"/>
          </p:cNvSpPr>
          <p:nvPr/>
        </p:nvSpPr>
        <p:spPr bwMode="auto">
          <a:xfrm>
            <a:off x="571500" y="285750"/>
            <a:ext cx="6376988" cy="272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共聚物序列分布与聚合物性能的关系</a:t>
            </a:r>
          </a:p>
          <a:p>
            <a:pPr algn="just" eaLnBrk="1" hangingPunct="1">
              <a:lnSpc>
                <a:spcPct val="120000"/>
              </a:lnSpc>
              <a:spcBef>
                <a:spcPct val="0"/>
              </a:spcBef>
              <a:buFontTx/>
              <a:buNone/>
            </a:pPr>
            <a:endParaRPr lang="zh-CN" altLang="en-US" sz="10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A： </a:t>
            </a:r>
            <a:r>
              <a:rPr lang="zh-CN" altLang="en-US" sz="2000">
                <a:latin typeface="Arial" panose="020B0604020202020204" pitchFamily="34" charset="0"/>
                <a:ea typeface="楷体" panose="02010609060101010101" pitchFamily="49" charset="-122"/>
                <a:cs typeface="Arial" panose="020B0604020202020204" pitchFamily="34" charset="0"/>
              </a:rPr>
              <a:t>无规共聚物</a:t>
            </a:r>
          </a:p>
          <a:p>
            <a:pPr algn="just" eaLnBrk="1" hangingPunct="1">
              <a:lnSpc>
                <a:spcPct val="120000"/>
              </a:lnSpc>
              <a:spcBef>
                <a:spcPct val="5000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….AAABBABBAABBBABAAB…</a:t>
            </a:r>
          </a:p>
          <a:p>
            <a:pPr algn="just" eaLnBrk="1" hangingPunct="1">
              <a:lnSpc>
                <a:spcPct val="120000"/>
              </a:lnSpc>
              <a:spcBef>
                <a:spcPct val="5000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B：</a:t>
            </a:r>
            <a:r>
              <a:rPr lang="zh-CN" altLang="en-US" sz="2000">
                <a:latin typeface="Arial" panose="020B0604020202020204" pitchFamily="34" charset="0"/>
                <a:ea typeface="楷体" panose="02010609060101010101" pitchFamily="49" charset="-122"/>
                <a:cs typeface="Arial" panose="020B0604020202020204" pitchFamily="34" charset="0"/>
              </a:rPr>
              <a:t>多嵌段共聚物</a:t>
            </a:r>
          </a:p>
          <a:p>
            <a:pPr algn="just" eaLnBrk="1" hangingPunct="1">
              <a:lnSpc>
                <a:spcPct val="120000"/>
              </a:lnSpc>
              <a:spcBef>
                <a:spcPts val="6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a:t>
            </a:r>
            <a:r>
              <a:rPr lang="en-US" altLang="zh-CN" sz="2000">
                <a:latin typeface="Arial" panose="020B0604020202020204" pitchFamily="34" charset="0"/>
                <a:ea typeface="楷体" panose="02010609060101010101" pitchFamily="49" charset="-122"/>
                <a:cs typeface="Arial" panose="020B0604020202020204" pitchFamily="34" charset="0"/>
              </a:rPr>
              <a:t>AAAAAAAABBBBBBBBBBBAAAAAAAAAAA…..</a:t>
            </a:r>
          </a:p>
          <a:p>
            <a:pPr algn="just" eaLnBrk="1" hangingPunct="1">
              <a:lnSpc>
                <a:spcPct val="120000"/>
              </a:lnSpc>
              <a:spcBef>
                <a:spcPct val="50000"/>
              </a:spcBef>
              <a:buFontTx/>
              <a:buNone/>
            </a:pPr>
            <a:endParaRPr lang="en-US" altLang="zh-CN" sz="800" b="1">
              <a:latin typeface="Century Schoolbook" panose="02040604050505020304" pitchFamily="18" charset="0"/>
              <a:ea typeface="宋体" panose="02010600030101010101" pitchFamily="2" charset="-122"/>
              <a:cs typeface="Arial" panose="020B0604020202020204" pitchFamily="34" charset="0"/>
            </a:endParaRPr>
          </a:p>
        </p:txBody>
      </p:sp>
      <p:pic>
        <p:nvPicPr>
          <p:cNvPr id="13210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2986088"/>
            <a:ext cx="5172075" cy="357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2" name="TextBox 4"/>
          <p:cNvSpPr txBox="1">
            <a:spLocks noChangeArrowheads="1"/>
          </p:cNvSpPr>
          <p:nvPr/>
        </p:nvSpPr>
        <p:spPr bwMode="auto">
          <a:xfrm>
            <a:off x="5867400" y="3573463"/>
            <a:ext cx="2894013"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ct val="50000"/>
              </a:spcBef>
              <a:buFontTx/>
              <a:buNone/>
            </a:pPr>
            <a:r>
              <a:rPr lang="zh-CN" altLang="en-US" sz="2000">
                <a:solidFill>
                  <a:srgbClr val="FF0000"/>
                </a:solidFill>
                <a:latin typeface="楷体" panose="02010609060101010101" pitchFamily="49" charset="-122"/>
                <a:ea typeface="楷体" panose="02010609060101010101" pitchFamily="49" charset="-122"/>
              </a:rPr>
              <a:t>无规共聚物的性质与两种单体均聚物均有明显差别</a:t>
            </a:r>
            <a:r>
              <a:rPr lang="en-US" altLang="zh-CN" sz="2000">
                <a:solidFill>
                  <a:srgbClr val="FF0000"/>
                </a:solidFill>
                <a:latin typeface="楷体" panose="02010609060101010101" pitchFamily="49" charset="-122"/>
                <a:ea typeface="楷体" panose="02010609060101010101" pitchFamily="49" charset="-122"/>
              </a:rPr>
              <a:t>, </a:t>
            </a:r>
            <a:r>
              <a:rPr lang="zh-CN" altLang="en-US" sz="2000">
                <a:solidFill>
                  <a:srgbClr val="FF0000"/>
                </a:solidFill>
                <a:latin typeface="楷体" panose="02010609060101010101" pitchFamily="49" charset="-122"/>
                <a:ea typeface="楷体" panose="02010609060101010101" pitchFamily="49" charset="-122"/>
              </a:rPr>
              <a:t>多嵌段共聚物的性质很可能更接近两种均聚物的混合物</a:t>
            </a:r>
            <a:r>
              <a:rPr lang="en-US" altLang="zh-CN" sz="2000">
                <a:solidFill>
                  <a:srgbClr val="FF0000"/>
                </a:solidFill>
                <a:latin typeface="楷体" panose="02010609060101010101" pitchFamily="49" charset="-122"/>
                <a:ea typeface="楷体" panose="02010609060101010101" pitchFamily="49" charset="-122"/>
              </a:rPr>
              <a:t>.</a:t>
            </a:r>
            <a:endParaRPr lang="zh-CN" altLang="en-US" sz="2000">
              <a:solidFill>
                <a:srgbClr val="FF0000"/>
              </a:solidFill>
              <a:latin typeface="楷体" panose="02010609060101010101" pitchFamily="49" charset="-122"/>
              <a:ea typeface="楷体" panose="02010609060101010101" pitchFamily="49"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BDEAB491-8A4B-4087-96BD-FFD044FDFEA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312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8D65AC40-66AE-454C-B399-FD840C0D39DA}"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94</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3124" name="Text Box 2050"/>
          <p:cNvSpPr txBox="1">
            <a:spLocks noChangeArrowheads="1"/>
          </p:cNvSpPr>
          <p:nvPr/>
        </p:nvSpPr>
        <p:spPr bwMode="auto">
          <a:xfrm>
            <a:off x="838200" y="304800"/>
            <a:ext cx="7772400"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8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共聚物的序列分布，一般介于以下三种极端情况之间：</a:t>
            </a:r>
          </a:p>
          <a:p>
            <a:pPr algn="just">
              <a:lnSpc>
                <a:spcPct val="120000"/>
              </a:lnSpc>
              <a:spcBef>
                <a:spcPct val="50000"/>
              </a:spcBef>
              <a:buFontTx/>
              <a:buNone/>
            </a:pP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交替共聚物</a:t>
            </a: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     M</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M</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zh-CN" altLang="en-US" sz="2000">
                <a:latin typeface="Arial" panose="020B0604020202020204" pitchFamily="34" charset="0"/>
                <a:ea typeface="楷体" panose="02010609060101010101" pitchFamily="49" charset="-122"/>
                <a:cs typeface="Arial" panose="020B0604020202020204" pitchFamily="34" charset="0"/>
              </a:rPr>
              <a:t>单体单元交替排列，所有序列的长度： </a:t>
            </a:r>
            <a:r>
              <a:rPr lang="en-US" altLang="zh-CN" sz="2000">
                <a:latin typeface="Arial" panose="020B0604020202020204" pitchFamily="34" charset="0"/>
                <a:ea typeface="楷体" panose="02010609060101010101" pitchFamily="49" charset="-122"/>
                <a:cs typeface="Arial" panose="020B0604020202020204" pitchFamily="34" charset="0"/>
              </a:rPr>
              <a:t>n = 1</a:t>
            </a:r>
            <a:endParaRPr lang="zh-CN" altLang="en-US" sz="200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endParaRPr lang="zh-CN" altLang="en-US" sz="200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 嵌段共聚物</a:t>
            </a: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     ~AAAAAAAAAAAAAABBBBBBBBBBBBBBB~</a:t>
            </a:r>
          </a:p>
          <a:p>
            <a:pPr algn="just">
              <a:lnSpc>
                <a:spcPct val="120000"/>
              </a:lnSpc>
              <a:spcBef>
                <a:spcPct val="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序列数量极少，每个序列均很长</a:t>
            </a:r>
          </a:p>
          <a:p>
            <a:pPr algn="just">
              <a:lnSpc>
                <a:spcPct val="120000"/>
              </a:lnSpc>
              <a:spcBef>
                <a:spcPct val="0"/>
              </a:spcBef>
              <a:buFontTx/>
              <a:buNone/>
            </a:pPr>
            <a:endParaRPr lang="en-US" altLang="zh-CN" sz="2000">
              <a:latin typeface="Arial" panose="020B0604020202020204" pitchFamily="34" charset="0"/>
              <a:ea typeface="楷体" panose="02010609060101010101" pitchFamily="49" charset="-122"/>
              <a:cs typeface="Arial" panose="020B0604020202020204" pitchFamily="34" charset="0"/>
            </a:endParaRPr>
          </a:p>
          <a:p>
            <a:pPr algn="just">
              <a:lnSpc>
                <a:spcPct val="120000"/>
              </a:lnSpc>
              <a:spcBef>
                <a:spcPct val="0"/>
              </a:spcBef>
              <a:buFontTx/>
              <a:buNone/>
            </a:pPr>
            <a:r>
              <a:rPr lang="en-US" altLang="zh-CN" sz="2000" b="1">
                <a:solidFill>
                  <a:srgbClr val="FF0000"/>
                </a:solidFill>
                <a:latin typeface="Arial" panose="020B0604020202020204" pitchFamily="34" charset="0"/>
                <a:ea typeface="楷体" panose="02010609060101010101" pitchFamily="49" charset="-122"/>
                <a:cs typeface="Arial" panose="020B0604020202020204" pitchFamily="34" charset="0"/>
              </a:rPr>
              <a:t>3) </a:t>
            </a:r>
            <a:r>
              <a:rPr lang="zh-CN" altLang="en-US" sz="2000" b="1">
                <a:solidFill>
                  <a:srgbClr val="FF0000"/>
                </a:solidFill>
                <a:latin typeface="Arial" panose="020B0604020202020204" pitchFamily="34" charset="0"/>
                <a:ea typeface="楷体" panose="02010609060101010101" pitchFamily="49" charset="-122"/>
                <a:cs typeface="Arial" panose="020B0604020202020204" pitchFamily="34" charset="0"/>
              </a:rPr>
              <a:t>无规共聚物</a:t>
            </a:r>
          </a:p>
          <a:p>
            <a:pPr algn="just">
              <a:lnSpc>
                <a:spcPct val="15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两种单体按统计规律相互连接起来构成一个大分子，</a:t>
            </a:r>
            <a:r>
              <a:rPr lang="en-US" altLang="zh-CN" sz="2000">
                <a:latin typeface="Arial" panose="020B0604020202020204" pitchFamily="34" charset="0"/>
                <a:ea typeface="楷体" panose="02010609060101010101" pitchFamily="49" charset="-122"/>
                <a:cs typeface="Arial" panose="020B0604020202020204" pitchFamily="34" charset="0"/>
              </a:rPr>
              <a:t>M</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，M</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zh-CN" altLang="en-US" sz="2000">
                <a:latin typeface="Arial" panose="020B0604020202020204" pitchFamily="34" charset="0"/>
                <a:ea typeface="楷体" panose="02010609060101010101" pitchFamily="49" charset="-122"/>
                <a:cs typeface="Arial" panose="020B0604020202020204" pitchFamily="34" charset="0"/>
              </a:rPr>
              <a:t>随机排列</a:t>
            </a:r>
          </a:p>
        </p:txBody>
      </p:sp>
      <p:pic>
        <p:nvPicPr>
          <p:cNvPr id="133125" name="Picture 2053"/>
          <p:cNvPicPr>
            <a:picLocks noChangeAspect="1" noChangeArrowheads="1"/>
          </p:cNvPicPr>
          <p:nvPr/>
        </p:nvPicPr>
        <p:blipFill>
          <a:blip r:embed="rId2">
            <a:lum bright="6000" contrast="6000"/>
            <a:extLst>
              <a:ext uri="{28A0092B-C50C-407E-A947-70E740481C1C}">
                <a14:useLocalDpi xmlns:a14="http://schemas.microsoft.com/office/drawing/2010/main" val="0"/>
              </a:ext>
            </a:extLst>
          </a:blip>
          <a:srcRect/>
          <a:stretch>
            <a:fillRect/>
          </a:stretch>
        </p:blipFill>
        <p:spPr bwMode="auto">
          <a:xfrm>
            <a:off x="1276350" y="5157788"/>
            <a:ext cx="5181600"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B9E81772-A7B8-46F6-A149-31B9BF8F5F9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41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3BA8D9F-33F8-4708-8F6A-324F7F56C5E3}"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95</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21860" name="Text Box 2">
            <a:extLst>
              <a:ext uri="{FF2B5EF4-FFF2-40B4-BE49-F238E27FC236}">
                <a16:creationId xmlns:a16="http://schemas.microsoft.com/office/drawing/2014/main" id="{DE7845E3-CADF-4DB5-B351-31761D5D32FA}"/>
              </a:ext>
            </a:extLst>
          </p:cNvPr>
          <p:cNvSpPr txBox="1">
            <a:spLocks noChangeArrowheads="1"/>
          </p:cNvSpPr>
          <p:nvPr/>
        </p:nvSpPr>
        <p:spPr bwMode="auto">
          <a:xfrm>
            <a:off x="533400" y="268288"/>
            <a:ext cx="7639050" cy="605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10000"/>
              </a:spcBef>
              <a:buFontTx/>
              <a:buNone/>
              <a:defRPr/>
            </a:pPr>
            <a:r>
              <a:rPr lang="zh-CN" altLang="en-US" sz="2000" b="1" dirty="0">
                <a:solidFill>
                  <a:srgbClr val="FF0000"/>
                </a:solidFill>
                <a:latin typeface="Arial" panose="020B0604020202020204" pitchFamily="34" charset="0"/>
                <a:ea typeface="楷体" panose="02010609060101010101" pitchFamily="49" charset="-122"/>
                <a:cs typeface="Arial" panose="020B0604020202020204" pitchFamily="34" charset="0"/>
              </a:rPr>
              <a:t>几率法推导二元共聚物的序列分布</a:t>
            </a:r>
          </a:p>
          <a:p>
            <a:pPr algn="just" eaLnBrk="1" hangingPunct="1">
              <a:lnSpc>
                <a:spcPct val="120000"/>
              </a:lnSpc>
              <a:spcBef>
                <a:spcPct val="1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前提：没有前末端效应 </a:t>
            </a:r>
            <a:r>
              <a:rPr lang="zh-CN" altLang="en-US" sz="2000" dirty="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符合</a:t>
            </a:r>
            <a:r>
              <a:rPr lang="zh-CN" altLang="en-US" sz="2000" dirty="0">
                <a:latin typeface="Arial" panose="020B0604020202020204" pitchFamily="34" charset="0"/>
                <a:ea typeface="楷体" panose="02010609060101010101" pitchFamily="49" charset="-122"/>
                <a:cs typeface="Arial" panose="020B0604020202020204" pitchFamily="34" charset="0"/>
              </a:rPr>
              <a:t> 一次</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defRPr/>
            </a:pP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上增长</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的几率：</a:t>
            </a:r>
          </a:p>
          <a:p>
            <a:pPr algn="just" eaLnBrk="1" hangingPunct="1">
              <a:lnSpc>
                <a:spcPct val="120000"/>
              </a:lnSpc>
              <a:spcBef>
                <a:spcPct val="1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       </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 = k</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]/(k</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k</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12</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 = 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a:t>
            </a:r>
          </a:p>
          <a:p>
            <a:pPr algn="just" eaLnBrk="1" hangingPunct="1">
              <a:lnSpc>
                <a:spcPct val="120000"/>
              </a:lnSpc>
              <a:spcBef>
                <a:spcPct val="4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上增长</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zh-CN" altLang="en-US" sz="2000" dirty="0">
                <a:latin typeface="Arial" panose="020B0604020202020204" pitchFamily="34" charset="0"/>
                <a:ea typeface="楷体" panose="02010609060101010101" pitchFamily="49" charset="-122"/>
                <a:cs typeface="Arial" panose="020B0604020202020204" pitchFamily="34" charset="0"/>
              </a:rPr>
              <a:t>的几率：</a:t>
            </a:r>
          </a:p>
          <a:p>
            <a:pPr algn="just" eaLnBrk="1" hangingPunct="1">
              <a:lnSpc>
                <a:spcPct val="120000"/>
              </a:lnSpc>
              <a:spcBef>
                <a:spcPct val="1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12</a:t>
            </a:r>
            <a:r>
              <a:rPr lang="en-US" altLang="zh-CN" sz="2000" dirty="0">
                <a:latin typeface="Arial" panose="020B0604020202020204" pitchFamily="34" charset="0"/>
                <a:ea typeface="楷体" panose="02010609060101010101" pitchFamily="49" charset="-122"/>
                <a:cs typeface="Arial" panose="020B0604020202020204" pitchFamily="34" charset="0"/>
              </a:rPr>
              <a:t> = 1-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 = [M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a:t>
            </a:r>
          </a:p>
          <a:p>
            <a:pPr algn="just" eaLnBrk="1" hangingPunct="1">
              <a:lnSpc>
                <a:spcPct val="120000"/>
              </a:lnSpc>
              <a:spcBef>
                <a:spcPct val="4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对于</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上的两种单体增长的竞争，也有类似的规律</a:t>
            </a:r>
          </a:p>
          <a:p>
            <a:pPr algn="just" eaLnBrk="1" hangingPunct="1">
              <a:lnSpc>
                <a:spcPct val="120000"/>
              </a:lnSpc>
              <a:spcBef>
                <a:spcPct val="6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生成  </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highlight>
                  <a:srgbClr val="FFFF00"/>
                </a:highlight>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highlight>
                  <a:srgbClr val="FFFF00"/>
                </a:highlight>
                <a:latin typeface="Arial" panose="020B0604020202020204" pitchFamily="34" charset="0"/>
                <a:ea typeface="楷体" panose="02010609060101010101" pitchFamily="49" charset="-122"/>
                <a:cs typeface="Arial" panose="020B0604020202020204" pitchFamily="34" charset="0"/>
              </a:rPr>
              <a:t>1</a:t>
            </a:r>
            <a:r>
              <a:rPr lang="en-US" altLang="zh-CN" sz="2000" dirty="0">
                <a:highlight>
                  <a:srgbClr val="FFFF00"/>
                </a:highlight>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highlight>
                  <a:srgbClr val="FFFF00"/>
                </a:highlight>
                <a:latin typeface="Arial" panose="020B0604020202020204" pitchFamily="34" charset="0"/>
                <a:ea typeface="楷体" panose="02010609060101010101" pitchFamily="49" charset="-122"/>
                <a:cs typeface="Arial" panose="020B0604020202020204" pitchFamily="34" charset="0"/>
              </a:rPr>
              <a:t>x</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序列的几率 </a:t>
            </a:r>
            <a:r>
              <a:rPr lang="en-US" altLang="zh-CN" sz="2000" dirty="0">
                <a:latin typeface="Arial" panose="020B0604020202020204" pitchFamily="34" charset="0"/>
                <a:ea typeface="楷体" panose="02010609060101010101" pitchFamily="49" charset="-122"/>
                <a:cs typeface="Arial" panose="020B0604020202020204" pitchFamily="34" charset="0"/>
              </a:rPr>
              <a:t>(xM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序列</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 命名为 (</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a:t>
            </a:r>
          </a:p>
          <a:p>
            <a:pPr algn="just" eaLnBrk="1" hangingPunct="1">
              <a:lnSpc>
                <a:spcPct val="120000"/>
              </a:lnSpc>
              <a:spcBef>
                <a:spcPct val="4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  </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12</a:t>
            </a:r>
            <a:r>
              <a:rPr lang="en-US" altLang="zh-CN" sz="2000" dirty="0">
                <a:latin typeface="Arial" panose="020B0604020202020204" pitchFamily="34" charset="0"/>
                <a:ea typeface="楷体" panose="02010609060101010101" pitchFamily="49" charset="-122"/>
                <a:cs typeface="Arial" panose="020B0604020202020204" pitchFamily="34" charset="0"/>
              </a:rPr>
              <a:t> =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(1-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11</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是</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的函数</a:t>
            </a:r>
            <a:r>
              <a:rPr lang="en-US" altLang="zh-CN" sz="2000" dirty="0">
                <a:latin typeface="Arial" panose="020B0604020202020204" pitchFamily="34" charset="0"/>
                <a:ea typeface="楷体" panose="02010609060101010101" pitchFamily="49" charset="-122"/>
                <a:cs typeface="Arial" panose="020B0604020202020204" pitchFamily="34" charset="0"/>
              </a:rPr>
              <a:t>)</a:t>
            </a: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30000"/>
              </a:spcBef>
              <a:buFontTx/>
              <a:buNone/>
              <a:defRPr/>
            </a:pP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M1</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a:t>
            </a:r>
            <a:r>
              <a:rPr lang="zh-CN" altLang="en-US" sz="2000" dirty="0">
                <a:latin typeface="Arial" panose="020B0604020202020204" pitchFamily="34" charset="0"/>
                <a:ea typeface="楷体" panose="02010609060101010101" pitchFamily="49" charset="-122"/>
                <a:cs typeface="Arial" panose="020B0604020202020204" pitchFamily="34" charset="0"/>
              </a:rPr>
              <a:t>即是长度为 </a:t>
            </a:r>
            <a:r>
              <a:rPr lang="en-US" altLang="zh-CN" sz="2000" dirty="0">
                <a:latin typeface="Arial" panose="020B0604020202020204" pitchFamily="34" charset="0"/>
                <a:ea typeface="楷体" panose="02010609060101010101" pitchFamily="49" charset="-122"/>
                <a:cs typeface="Arial" panose="020B0604020202020204" pitchFamily="34" charset="0"/>
              </a:rPr>
              <a:t>x </a:t>
            </a:r>
            <a:r>
              <a:rPr lang="zh-CN" altLang="en-US" sz="2000" dirty="0">
                <a:latin typeface="Arial" panose="020B0604020202020204" pitchFamily="34" charset="0"/>
                <a:ea typeface="楷体" panose="02010609060101010101" pitchFamily="49" charset="-122"/>
                <a:cs typeface="Arial" panose="020B0604020202020204" pitchFamily="34" charset="0"/>
              </a:rPr>
              <a:t>的</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序列在所有</a:t>
            </a:r>
            <a:r>
              <a:rPr lang="en-US" altLang="zh-CN" sz="2000" dirty="0">
                <a:latin typeface="Arial" panose="020B0604020202020204" pitchFamily="34" charset="0"/>
                <a:ea typeface="楷体" panose="02010609060101010101" pitchFamily="49" charset="-122"/>
                <a:cs typeface="Arial" panose="020B0604020202020204" pitchFamily="34" charset="0"/>
              </a:rPr>
              <a:t>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dirty="0">
                <a:latin typeface="Arial" panose="020B0604020202020204" pitchFamily="34" charset="0"/>
                <a:ea typeface="楷体" panose="02010609060101010101" pitchFamily="49" charset="-122"/>
                <a:cs typeface="Arial" panose="020B0604020202020204" pitchFamily="34" charset="0"/>
              </a:rPr>
              <a:t>序列中所占的数量分数</a:t>
            </a:r>
            <a:r>
              <a:rPr lang="en-US" altLang="zh-CN" sz="2000" dirty="0">
                <a:latin typeface="Arial" panose="020B0604020202020204" pitchFamily="34" charset="0"/>
                <a:ea typeface="楷体" panose="02010609060101010101" pitchFamily="49" charset="-122"/>
                <a:cs typeface="Arial" panose="020B0604020202020204" pitchFamily="34" charset="0"/>
              </a:rPr>
              <a:t>]</a:t>
            </a: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6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同样方法可得生成</a:t>
            </a:r>
            <a:r>
              <a:rPr lang="en-US" altLang="zh-CN" sz="2000" dirty="0">
                <a:latin typeface="Arial" panose="020B0604020202020204" pitchFamily="34" charset="0"/>
                <a:ea typeface="楷体" panose="02010609060101010101" pitchFamily="49" charset="-122"/>
                <a:cs typeface="Arial" panose="020B0604020202020204" pitchFamily="34" charset="0"/>
              </a:rPr>
              <a:t>xM</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zh-CN" altLang="en-US" sz="2000" dirty="0">
                <a:latin typeface="Arial" panose="020B0604020202020204" pitchFamily="34" charset="0"/>
                <a:ea typeface="楷体" panose="02010609060101010101" pitchFamily="49" charset="-122"/>
                <a:cs typeface="Arial" panose="020B0604020202020204" pitchFamily="34" charset="0"/>
              </a:rPr>
              <a:t>序列的几率为：</a:t>
            </a:r>
          </a:p>
          <a:p>
            <a:pPr algn="just" eaLnBrk="1" hangingPunct="1">
              <a:lnSpc>
                <a:spcPct val="120000"/>
              </a:lnSpc>
              <a:spcBef>
                <a:spcPct val="1000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M2</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x  </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22</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21</a:t>
            </a:r>
            <a:r>
              <a:rPr lang="en-US" altLang="zh-CN" sz="2000" dirty="0">
                <a:latin typeface="Arial" panose="020B0604020202020204" pitchFamily="34" charset="0"/>
                <a:ea typeface="楷体" panose="02010609060101010101" pitchFamily="49" charset="-122"/>
                <a:cs typeface="Arial" panose="020B0604020202020204" pitchFamily="34" charset="0"/>
              </a:rPr>
              <a:t> =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22</a:t>
            </a:r>
            <a:r>
              <a:rPr lang="en-US" altLang="zh-CN" sz="2000" baseline="30000" dirty="0">
                <a:latin typeface="Arial" panose="020B0604020202020204" pitchFamily="34" charset="0"/>
                <a:ea typeface="楷体" panose="02010609060101010101" pitchFamily="49" charset="-122"/>
                <a:cs typeface="Arial" panose="020B0604020202020204" pitchFamily="34" charset="0"/>
              </a:rPr>
              <a:t>x-1</a:t>
            </a:r>
            <a:r>
              <a:rPr lang="en-US" altLang="zh-CN" sz="2000" dirty="0">
                <a:latin typeface="Arial" panose="020B0604020202020204" pitchFamily="34" charset="0"/>
                <a:ea typeface="楷体" panose="02010609060101010101" pitchFamily="49" charset="-122"/>
                <a:cs typeface="Arial" panose="020B0604020202020204" pitchFamily="34" charset="0"/>
              </a:rPr>
              <a:t>(1- p</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22</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是</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zh-CN" altLang="en-US" sz="2000" dirty="0">
                <a:latin typeface="Arial" panose="020B0604020202020204" pitchFamily="34" charset="0"/>
                <a:ea typeface="楷体" panose="02010609060101010101" pitchFamily="49" charset="-122"/>
                <a:cs typeface="Arial" panose="020B0604020202020204" pitchFamily="34" charset="0"/>
              </a:rPr>
              <a:t>的函数</a:t>
            </a:r>
            <a:r>
              <a:rPr lang="en-US" altLang="zh-CN" sz="2000" dirty="0">
                <a:latin typeface="Arial" panose="020B0604020202020204" pitchFamily="34" charset="0"/>
                <a:ea typeface="楷体" panose="02010609060101010101" pitchFamily="49" charset="-122"/>
                <a:cs typeface="Arial" panose="020B0604020202020204" pitchFamily="34" charset="0"/>
              </a:rPr>
              <a:t>)</a:t>
            </a:r>
            <a:endParaRPr lang="zh-CN" altLang="en-US" sz="2000" dirty="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0000"/>
              </a:lnSpc>
              <a:spcBef>
                <a:spcPct val="10000"/>
              </a:spcBef>
              <a:buFontTx/>
              <a:buNone/>
              <a:defRPr/>
            </a:pPr>
            <a:endParaRPr lang="zh-CN" altLang="en-US" sz="1800" baseline="-25000" dirty="0">
              <a:latin typeface="Century Schoolbook" panose="02040604050505020304" pitchFamily="18" charset="0"/>
              <a:ea typeface="宋体" panose="02010600030101010101" pitchFamily="2" charset="-122"/>
              <a:cs typeface="Arial" panose="020B0604020202020204" pitchFamily="34" charset="0"/>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5170" name="Object 8"/>
          <p:cNvGraphicFramePr>
            <a:graphicFrameLocks noChangeAspect="1"/>
          </p:cNvGraphicFramePr>
          <p:nvPr/>
        </p:nvGraphicFramePr>
        <p:xfrm>
          <a:off x="1657350" y="1266825"/>
          <a:ext cx="4746625" cy="4127500"/>
        </p:xfrm>
        <a:graphic>
          <a:graphicData uri="http://schemas.openxmlformats.org/presentationml/2006/ole">
            <mc:AlternateContent xmlns:mc="http://schemas.openxmlformats.org/markup-compatibility/2006">
              <mc:Choice xmlns:v="urn:schemas-microsoft-com:vml" Requires="v">
                <p:oleObj spid="_x0000_s135216" name="Graph" r:id="rId3" imgW="3710026" imgH="3226003" progId="Origin50.Graph">
                  <p:embed/>
                </p:oleObj>
              </mc:Choice>
              <mc:Fallback>
                <p:oleObj name="Graph" r:id="rId3" imgW="3710026" imgH="3226003" progId="Origin50.Graph">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7350" y="1266825"/>
                        <a:ext cx="4746625" cy="4127500"/>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cxnSp>
        <p:nvCxnSpPr>
          <p:cNvPr id="8" name="直接连接符 7">
            <a:extLst>
              <a:ext uri="{FF2B5EF4-FFF2-40B4-BE49-F238E27FC236}">
                <a16:creationId xmlns:a16="http://schemas.microsoft.com/office/drawing/2014/main" id="{D801A59B-C9EF-4D8B-A7C4-F8B658D767D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5172"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03656479-CB1A-435E-9004-86DCE03297C8}"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96</a:t>
            </a:fld>
            <a:endParaRPr lang="en-US" altLang="zh-CN" sz="1200">
              <a:solidFill>
                <a:srgbClr val="FFFFFF"/>
              </a:solidFill>
              <a:latin typeface="Century Schoolbook" panose="02040604050505020304" pitchFamily="18" charset="0"/>
              <a:ea typeface="宋体" panose="02010600030101010101" pitchFamily="2" charset="-122"/>
            </a:endParaRPr>
          </a:p>
        </p:txBody>
      </p:sp>
      <p:graphicFrame>
        <p:nvGraphicFramePr>
          <p:cNvPr id="135173" name="Object 4"/>
          <p:cNvGraphicFramePr>
            <a:graphicFrameLocks noChangeAspect="1"/>
          </p:cNvGraphicFramePr>
          <p:nvPr/>
        </p:nvGraphicFramePr>
        <p:xfrm>
          <a:off x="2949575" y="347663"/>
          <a:ext cx="3013075" cy="565150"/>
        </p:xfrm>
        <a:graphic>
          <a:graphicData uri="http://schemas.openxmlformats.org/presentationml/2006/ole">
            <mc:AlternateContent xmlns:mc="http://schemas.openxmlformats.org/markup-compatibility/2006">
              <mc:Choice xmlns:v="urn:schemas-microsoft-com:vml" Requires="v">
                <p:oleObj spid="_x0000_s135217" name="公式" r:id="rId5" imgW="1422400" imgH="266700" progId="Equation.3">
                  <p:embed/>
                </p:oleObj>
              </mc:Choice>
              <mc:Fallback>
                <p:oleObj name="公式" r:id="rId5" imgW="1422400" imgH="266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49575" y="347663"/>
                        <a:ext cx="3013075" cy="565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5174" name="Object 7"/>
          <p:cNvGraphicFramePr>
            <a:graphicFrameLocks noChangeAspect="1"/>
          </p:cNvGraphicFramePr>
          <p:nvPr/>
        </p:nvGraphicFramePr>
        <p:xfrm>
          <a:off x="2973388" y="1168400"/>
          <a:ext cx="3173412" cy="565150"/>
        </p:xfrm>
        <a:graphic>
          <a:graphicData uri="http://schemas.openxmlformats.org/presentationml/2006/ole">
            <mc:AlternateContent xmlns:mc="http://schemas.openxmlformats.org/markup-compatibility/2006">
              <mc:Choice xmlns:v="urn:schemas-microsoft-com:vml" Requires="v">
                <p:oleObj spid="_x0000_s135218" name="公式" r:id="rId7" imgW="1497950" imgH="266584" progId="Equation.3">
                  <p:embed/>
                </p:oleObj>
              </mc:Choice>
              <mc:Fallback>
                <p:oleObj name="公式" r:id="rId7" imgW="1497950" imgH="266584"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3388" y="1168400"/>
                        <a:ext cx="3173412" cy="565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5175" name="Text Box 10"/>
          <p:cNvSpPr txBox="1">
            <a:spLocks noChangeArrowheads="1"/>
          </p:cNvSpPr>
          <p:nvPr/>
        </p:nvSpPr>
        <p:spPr bwMode="auto">
          <a:xfrm>
            <a:off x="755650" y="369888"/>
            <a:ext cx="2217738" cy="123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marL="1143000" indent="-11430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0000"/>
              </a:lnSpc>
              <a:spcBef>
                <a:spcPct val="50000"/>
              </a:spcBef>
              <a:buFontTx/>
              <a:buNone/>
            </a:pPr>
            <a:r>
              <a:rPr lang="zh-CN" altLang="en-US" sz="2400">
                <a:latin typeface="楷体" panose="02010609060101010101" pitchFamily="49" charset="-122"/>
                <a:ea typeface="楷体" panose="02010609060101010101" pitchFamily="49" charset="-122"/>
              </a:rPr>
              <a:t>数量分布函数</a:t>
            </a:r>
            <a:r>
              <a:rPr lang="en-US" altLang="zh-CN" sz="2400">
                <a:latin typeface="楷体" panose="02010609060101010101" pitchFamily="49" charset="-122"/>
                <a:ea typeface="楷体" panose="02010609060101010101" pitchFamily="49" charset="-122"/>
              </a:rPr>
              <a:t>:</a:t>
            </a:r>
            <a:endParaRPr lang="zh-CN" altLang="en-US" sz="2400">
              <a:latin typeface="楷体" panose="02010609060101010101" pitchFamily="49" charset="-122"/>
              <a:ea typeface="楷体" panose="02010609060101010101" pitchFamily="49" charset="-122"/>
            </a:endParaRPr>
          </a:p>
          <a:p>
            <a:pPr eaLnBrk="1" hangingPunct="1">
              <a:lnSpc>
                <a:spcPct val="120000"/>
              </a:lnSpc>
              <a:spcBef>
                <a:spcPct val="90000"/>
              </a:spcBef>
              <a:buFontTx/>
              <a:buNone/>
            </a:pPr>
            <a:r>
              <a:rPr lang="zh-CN" altLang="en-US" sz="2400">
                <a:latin typeface="楷体" panose="02010609060101010101" pitchFamily="49" charset="-122"/>
                <a:ea typeface="楷体" panose="02010609060101010101" pitchFamily="49" charset="-122"/>
              </a:rPr>
              <a:t>重量分布函数</a:t>
            </a:r>
            <a:r>
              <a:rPr lang="en-US" altLang="zh-CN" sz="2400">
                <a:latin typeface="楷体" panose="02010609060101010101" pitchFamily="49" charset="-122"/>
                <a:ea typeface="楷体" panose="02010609060101010101" pitchFamily="49" charset="-122"/>
              </a:rPr>
              <a:t>:</a:t>
            </a:r>
            <a:endParaRPr lang="zh-CN" altLang="en-US" sz="2400">
              <a:latin typeface="楷体" panose="02010609060101010101" pitchFamily="49" charset="-122"/>
              <a:ea typeface="楷体" panose="02010609060101010101" pitchFamily="49" charset="-122"/>
            </a:endParaRPr>
          </a:p>
        </p:txBody>
      </p:sp>
      <p:sp>
        <p:nvSpPr>
          <p:cNvPr id="135176" name="Rectangle 11"/>
          <p:cNvSpPr>
            <a:spLocks noChangeArrowheads="1"/>
          </p:cNvSpPr>
          <p:nvPr/>
        </p:nvSpPr>
        <p:spPr bwMode="auto">
          <a:xfrm>
            <a:off x="914400" y="5394325"/>
            <a:ext cx="570230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数均序列长度：</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N</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 1/(1-p</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N</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M2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 = 1/(1-p</a:t>
            </a:r>
            <a:r>
              <a:rPr lang="en-US" altLang="zh-CN" sz="2000" baseline="-25000">
                <a:solidFill>
                  <a:srgbClr val="FF0000"/>
                </a:solidFill>
                <a:latin typeface="Arial" panose="020B0604020202020204" pitchFamily="34" charset="0"/>
                <a:ea typeface="楷体" panose="02010609060101010101" pitchFamily="49" charset="-122"/>
                <a:cs typeface="Arial" panose="020B0604020202020204" pitchFamily="34" charset="0"/>
              </a:rPr>
              <a:t>22</a:t>
            </a:r>
            <a:r>
              <a:rPr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662EDF90-763C-4EB0-A667-09F52D3FFBB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619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8B6B08A-7BD8-46EA-8A35-AFE6371B2F9C}"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97</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6196" name="Text Box 2"/>
          <p:cNvSpPr txBox="1">
            <a:spLocks noChangeArrowheads="1"/>
          </p:cNvSpPr>
          <p:nvPr/>
        </p:nvSpPr>
        <p:spPr bwMode="auto">
          <a:xfrm>
            <a:off x="611188" y="188913"/>
            <a:ext cx="7700962" cy="618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21600" tIns="10800" rIns="21600" bIns="10800">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0000"/>
              </a:lnSpc>
              <a:spcBef>
                <a:spcPct val="50000"/>
              </a:spcBef>
              <a:buFontTx/>
              <a:buNone/>
            </a:pPr>
            <a:r>
              <a:rPr lang="zh-CN" altLang="en-US" sz="2000">
                <a:solidFill>
                  <a:srgbClr val="FF0000"/>
                </a:solidFill>
                <a:latin typeface="楷体" panose="02010609060101010101" pitchFamily="49" charset="-122"/>
                <a:ea typeface="楷体" panose="02010609060101010101" pitchFamily="49" charset="-122"/>
              </a:rPr>
              <a:t>由以上推导结果可见，共聚物的序列分布决定于竞聚率</a:t>
            </a:r>
            <a:endParaRPr lang="en-US" altLang="zh-CN" sz="2000">
              <a:solidFill>
                <a:srgbClr val="FF0000"/>
              </a:solidFill>
              <a:latin typeface="楷体" panose="02010609060101010101" pitchFamily="49" charset="-122"/>
              <a:ea typeface="楷体" panose="02010609060101010101" pitchFamily="49"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1800" b="1">
              <a:solidFill>
                <a:srgbClr val="FF3300"/>
              </a:solidFill>
              <a:latin typeface="Century Schoolbook" panose="02040604050505020304" pitchFamily="18" charset="0"/>
              <a:ea typeface="宋体" panose="02010600030101010101" pitchFamily="2" charset="-122"/>
            </a:endParaRPr>
          </a:p>
          <a:p>
            <a:pPr algn="just" eaLnBrk="1" hangingPunct="1">
              <a:lnSpc>
                <a:spcPct val="120000"/>
              </a:lnSpc>
              <a:spcBef>
                <a:spcPct val="50000"/>
              </a:spcBef>
              <a:buFontTx/>
              <a:buNone/>
            </a:pPr>
            <a:endParaRPr lang="zh-CN" altLang="en-US" sz="800" b="1">
              <a:solidFill>
                <a:srgbClr val="FF3300"/>
              </a:solidFill>
              <a:latin typeface="Century Schoolbook" panose="02040604050505020304" pitchFamily="18" charset="0"/>
              <a:ea typeface="宋体" panose="02010600030101010101" pitchFamily="2" charset="-122"/>
            </a:endParaRP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几种典型共聚体系的数均序列长度：</a:t>
            </a:r>
          </a:p>
          <a:p>
            <a:pPr algn="just" eaLnBrk="1" hangingPunct="1">
              <a:lnSpc>
                <a:spcPct val="110000"/>
              </a:lnSpc>
              <a:spcBef>
                <a:spcPct val="250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交替共聚 （</a:t>
            </a:r>
            <a:r>
              <a:rPr lang="en-US" altLang="zh-CN" sz="2000">
                <a:latin typeface="Arial" panose="020B0604020202020204" pitchFamily="34" charset="0"/>
                <a:ea typeface="楷体" panose="02010609060101010101" pitchFamily="49" charset="-122"/>
                <a:cs typeface="Arial" panose="020B0604020202020204" pitchFamily="34" charset="0"/>
              </a:rPr>
              <a:t>r</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 r</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en-US" altLang="zh-CN" sz="2000">
                <a:latin typeface="Arial" panose="020B0604020202020204" pitchFamily="34" charset="0"/>
                <a:ea typeface="楷体" panose="02010609060101010101" pitchFamily="49" charset="-122"/>
                <a:cs typeface="Arial" panose="020B0604020202020204" pitchFamily="34" charset="0"/>
              </a:rPr>
              <a:t> = 0） </a:t>
            </a:r>
            <a:r>
              <a:rPr lang="zh-CN" altLang="en-US" sz="2000">
                <a:latin typeface="Arial" panose="020B0604020202020204" pitchFamily="34" charset="0"/>
                <a:ea typeface="楷体" panose="02010609060101010101" pitchFamily="49" charset="-122"/>
                <a:cs typeface="Arial" panose="020B0604020202020204" pitchFamily="34" charset="0"/>
              </a:rPr>
              <a:t>即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0, 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12</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1</a:t>
            </a: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可得： </a:t>
            </a:r>
            <a:r>
              <a:rPr lang="zh-CN" altLang="en-US" sz="2000">
                <a:solidFill>
                  <a:srgbClr val="9900CC"/>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9900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9900CC"/>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9900CC"/>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9900CC"/>
                </a:solidFill>
                <a:latin typeface="Arial" panose="020B0604020202020204" pitchFamily="34" charset="0"/>
                <a:ea typeface="楷体" panose="02010609060101010101" pitchFamily="49" charset="-122"/>
                <a:cs typeface="Arial" panose="020B0604020202020204" pitchFamily="34" charset="0"/>
              </a:rPr>
              <a:t>1 </a:t>
            </a:r>
            <a:r>
              <a:rPr lang="en-US" altLang="zh-CN" sz="2000">
                <a:solidFill>
                  <a:srgbClr val="9900CC"/>
                </a:solidFill>
                <a:latin typeface="Arial" panose="020B0604020202020204" pitchFamily="34" charset="0"/>
                <a:ea typeface="楷体" panose="02010609060101010101" pitchFamily="49" charset="-122"/>
                <a:cs typeface="Arial" panose="020B0604020202020204" pitchFamily="34" charset="0"/>
              </a:rPr>
              <a:t>= 1   </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全部序列的长度都为1</a:t>
            </a:r>
          </a:p>
          <a:p>
            <a:pPr algn="just" eaLnBrk="1" hangingPunct="1">
              <a:lnSpc>
                <a:spcPct val="110000"/>
              </a:lnSpc>
              <a:spcBef>
                <a:spcPct val="50000"/>
              </a:spcBef>
              <a:buFontTx/>
              <a:buNone/>
            </a:pPr>
            <a:r>
              <a:rPr lang="en-US" altLang="zh-CN" sz="2000">
                <a:latin typeface="Arial" panose="020B0604020202020204" pitchFamily="34" charset="0"/>
                <a:ea typeface="楷体" panose="02010609060101010101" pitchFamily="49" charset="-122"/>
                <a:cs typeface="Arial" panose="020B0604020202020204" pitchFamily="34" charset="0"/>
              </a:rPr>
              <a:t>2)  “</a:t>
            </a:r>
            <a:r>
              <a:rPr lang="zh-CN" altLang="en-US" sz="2000">
                <a:latin typeface="Arial" panose="020B0604020202020204" pitchFamily="34" charset="0"/>
                <a:ea typeface="楷体" panose="02010609060101010101" pitchFamily="49" charset="-122"/>
                <a:cs typeface="Arial" panose="020B0604020202020204" pitchFamily="34" charset="0"/>
              </a:rPr>
              <a:t>嵌段”共聚    （ </a:t>
            </a:r>
            <a:r>
              <a:rPr lang="en-US" altLang="zh-CN" sz="2000">
                <a:latin typeface="Arial" panose="020B0604020202020204" pitchFamily="34" charset="0"/>
                <a:ea typeface="楷体" panose="02010609060101010101" pitchFamily="49" charset="-122"/>
                <a:cs typeface="Arial" panose="020B0604020202020204" pitchFamily="34" charset="0"/>
              </a:rPr>
              <a:t>r</a:t>
            </a:r>
            <a:r>
              <a:rPr lang="en-US" altLang="zh-CN" sz="2000" baseline="-25000">
                <a:latin typeface="Arial" panose="020B0604020202020204" pitchFamily="34" charset="0"/>
                <a:ea typeface="楷体" panose="02010609060101010101" pitchFamily="49" charset="-122"/>
                <a:cs typeface="Arial" panose="020B0604020202020204" pitchFamily="34" charset="0"/>
              </a:rPr>
              <a:t>1</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&gt;&gt; 1, </a:t>
            </a:r>
            <a:r>
              <a:rPr lang="en-US" altLang="zh-CN" sz="2000">
                <a:latin typeface="Arial" panose="020B0604020202020204" pitchFamily="34" charset="0"/>
                <a:ea typeface="楷体" panose="02010609060101010101" pitchFamily="49" charset="-122"/>
                <a:cs typeface="Arial" panose="020B0604020202020204" pitchFamily="34" charset="0"/>
              </a:rPr>
              <a:t>r</a:t>
            </a:r>
            <a:r>
              <a:rPr lang="en-US" altLang="zh-CN" sz="2000" baseline="-25000">
                <a:latin typeface="Arial" panose="020B0604020202020204" pitchFamily="34" charset="0"/>
                <a:ea typeface="楷体" panose="02010609060101010101" pitchFamily="49" charset="-122"/>
                <a:cs typeface="Arial" panose="020B0604020202020204" pitchFamily="34" charset="0"/>
              </a:rPr>
              <a:t>2</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&gt;&gt; 1）  </a:t>
            </a: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r</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 [M</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1</a:t>
            </a:r>
          </a:p>
          <a:p>
            <a:pPr algn="just" eaLnBrk="1" hangingPunct="1">
              <a:lnSpc>
                <a:spcPct val="110000"/>
              </a:lnSpc>
              <a:spcBef>
                <a:spcPct val="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结果： </a:t>
            </a:r>
            <a:r>
              <a:rPr lang="en-US" altLang="zh-CN" sz="2000">
                <a:latin typeface="Arial" panose="020B0604020202020204" pitchFamily="34" charset="0"/>
                <a:ea typeface="楷体" panose="02010609060101010101" pitchFamily="49" charset="-122"/>
                <a:cs typeface="Arial" panose="020B0604020202020204" pitchFamily="34" charset="0"/>
              </a:rPr>
              <a:t>N</a:t>
            </a:r>
            <a:r>
              <a:rPr lang="en-US" altLang="zh-CN" sz="2000" baseline="-25000">
                <a:latin typeface="Arial" panose="020B0604020202020204" pitchFamily="34" charset="0"/>
                <a:ea typeface="楷体" panose="02010609060101010101" pitchFamily="49" charset="-122"/>
                <a:cs typeface="Arial" panose="020B0604020202020204" pitchFamily="34" charset="0"/>
              </a:rPr>
              <a:t>M1</a:t>
            </a:r>
            <a:r>
              <a:rPr lang="en-US" altLang="zh-CN" sz="2000">
                <a:latin typeface="Arial" panose="020B0604020202020204" pitchFamily="34" charset="0"/>
                <a:ea typeface="楷体" panose="02010609060101010101" pitchFamily="49" charset="-122"/>
                <a:cs typeface="Arial" panose="020B0604020202020204" pitchFamily="34" charset="0"/>
              </a:rPr>
              <a:t> = 1/(1-p</a:t>
            </a:r>
            <a:r>
              <a:rPr lang="en-US" altLang="zh-CN" sz="2000" baseline="-25000">
                <a:latin typeface="Arial" panose="020B0604020202020204" pitchFamily="34" charset="0"/>
                <a:ea typeface="楷体" panose="02010609060101010101" pitchFamily="49" charset="-122"/>
                <a:cs typeface="Arial" panose="020B0604020202020204" pitchFamily="34" charset="0"/>
              </a:rPr>
              <a:t>11</a:t>
            </a:r>
            <a:r>
              <a:rPr lang="en-US" altLang="zh-CN" sz="2000">
                <a:latin typeface="Arial" panose="020B0604020202020204" pitchFamily="34" charset="0"/>
                <a:ea typeface="楷体" panose="02010609060101010101" pitchFamily="49" charset="-122"/>
                <a:cs typeface="Arial" panose="020B0604020202020204" pitchFamily="34" charset="0"/>
              </a:rPr>
              <a:t>)  </a:t>
            </a:r>
            <a:r>
              <a:rPr lang="zh-CN" altLang="en-US" sz="2000">
                <a:latin typeface="Arial" panose="020B0604020202020204" pitchFamily="34" charset="0"/>
                <a:ea typeface="楷体" panose="02010609060101010101" pitchFamily="49" charset="-122"/>
                <a:cs typeface="Arial" panose="020B0604020202020204" pitchFamily="34" charset="0"/>
              </a:rPr>
              <a:t>为较大的值</a:t>
            </a:r>
          </a:p>
          <a:p>
            <a:pPr algn="just" eaLnBrk="1" hangingPunct="1">
              <a:lnSpc>
                <a:spcPct val="110000"/>
              </a:lnSpc>
              <a:spcBef>
                <a:spcPct val="0"/>
              </a:spcBef>
              <a:buFontTx/>
              <a:buNone/>
            </a:pP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例：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9，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时，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0.9,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N</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10</a:t>
            </a:r>
            <a:endPar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10000"/>
              </a:lnSpc>
              <a:spcBef>
                <a:spcPct val="500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3) 无规共聚 </a:t>
            </a:r>
          </a:p>
          <a:p>
            <a:pPr algn="just" eaLnBrk="1" hangingPunct="1">
              <a:lnSpc>
                <a:spcPct val="110000"/>
              </a:lnSpc>
              <a:spcBef>
                <a:spcPct val="0"/>
              </a:spcBef>
              <a:buFontTx/>
              <a:buNone/>
            </a:pP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0033CC"/>
                </a:solidFill>
                <a:latin typeface="Arial" panose="020B0604020202020204" pitchFamily="34" charset="0"/>
                <a:ea typeface="楷体" panose="02010609060101010101" pitchFamily="49" charset="-122"/>
                <a:cs typeface="Arial" panose="020B0604020202020204" pitchFamily="34" charset="0"/>
              </a:rPr>
              <a:t>(</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x  </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  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baseline="30000">
                <a:solidFill>
                  <a:srgbClr val="0033CC"/>
                </a:solidFill>
                <a:latin typeface="Arial" panose="020B0604020202020204" pitchFamily="34" charset="0"/>
                <a:ea typeface="楷体" panose="02010609060101010101" pitchFamily="49" charset="-122"/>
                <a:cs typeface="Arial" panose="020B0604020202020204" pitchFamily="34" charset="0"/>
              </a:rPr>
              <a:t>x-1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(1- p</a:t>
            </a:r>
            <a:r>
              <a:rPr lang="en-US" altLang="zh-CN" sz="2000" baseline="-25000">
                <a:solidFill>
                  <a:srgbClr val="0033CC"/>
                </a:solidFill>
                <a:latin typeface="Arial" panose="020B0604020202020204" pitchFamily="34" charset="0"/>
                <a:ea typeface="楷体" panose="02010609060101010101" pitchFamily="49" charset="-122"/>
                <a:cs typeface="Arial" panose="020B0604020202020204" pitchFamily="34" charset="0"/>
              </a:rPr>
              <a:t>11</a:t>
            </a:r>
            <a:r>
              <a:rPr lang="en-US" altLang="zh-CN" sz="2000">
                <a:solidFill>
                  <a:srgbClr val="0033CC"/>
                </a:solidFill>
                <a:latin typeface="Arial" panose="020B0604020202020204" pitchFamily="34" charset="0"/>
                <a:ea typeface="楷体" panose="02010609060101010101" pitchFamily="49" charset="-122"/>
                <a:cs typeface="Arial" panose="020B0604020202020204" pitchFamily="34" charset="0"/>
              </a:rPr>
              <a:t>)</a:t>
            </a:r>
          </a:p>
          <a:p>
            <a:pPr algn="just" eaLnBrk="1" hangingPunct="1">
              <a:lnSpc>
                <a:spcPct val="110000"/>
              </a:lnSpc>
              <a:spcBef>
                <a:spcPct val="0"/>
              </a:spcBef>
              <a:buFontTx/>
              <a:buNone/>
            </a:pP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例：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r</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1，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[M</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2</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时，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p</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11</a:t>
            </a:r>
            <a:r>
              <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rPr>
              <a:t> = 0.5,   </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N</a:t>
            </a:r>
            <a:r>
              <a:rPr lang="en-US" altLang="zh-CN" sz="2000" baseline="-25000">
                <a:solidFill>
                  <a:srgbClr val="990099"/>
                </a:solidFill>
                <a:latin typeface="Arial" panose="020B0604020202020204" pitchFamily="34" charset="0"/>
                <a:ea typeface="楷体" panose="02010609060101010101" pitchFamily="49" charset="-122"/>
                <a:cs typeface="Arial" panose="020B0604020202020204" pitchFamily="34" charset="0"/>
              </a:rPr>
              <a:t>M1</a:t>
            </a:r>
            <a:r>
              <a:rPr lang="en-US" altLang="zh-CN" sz="2000">
                <a:solidFill>
                  <a:srgbClr val="990099"/>
                </a:solidFill>
                <a:latin typeface="Arial" panose="020B0604020202020204" pitchFamily="34" charset="0"/>
                <a:ea typeface="楷体" panose="02010609060101010101" pitchFamily="49" charset="-122"/>
                <a:cs typeface="Arial" panose="020B0604020202020204" pitchFamily="34" charset="0"/>
              </a:rPr>
              <a:t> = 2</a:t>
            </a:r>
            <a:endParaRPr lang="zh-CN" altLang="en-US" sz="2000">
              <a:solidFill>
                <a:srgbClr val="990099"/>
              </a:solidFill>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36197" name="Object 4"/>
          <p:cNvGraphicFramePr>
            <a:graphicFrameLocks noChangeAspect="1"/>
          </p:cNvGraphicFramePr>
          <p:nvPr/>
        </p:nvGraphicFramePr>
        <p:xfrm>
          <a:off x="669925" y="671513"/>
          <a:ext cx="7634288" cy="758825"/>
        </p:xfrm>
        <a:graphic>
          <a:graphicData uri="http://schemas.openxmlformats.org/presentationml/2006/ole">
            <mc:AlternateContent xmlns:mc="http://schemas.openxmlformats.org/markup-compatibility/2006">
              <mc:Choice xmlns:v="urn:schemas-microsoft-com:vml" Requires="v">
                <p:oleObj spid="_x0000_s136225" name="公式" r:id="rId3" imgW="4457700" imgH="444500" progId="Equation.3">
                  <p:embed/>
                </p:oleObj>
              </mc:Choice>
              <mc:Fallback>
                <p:oleObj name="公式" r:id="rId3" imgW="44577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925" y="671513"/>
                        <a:ext cx="7634288"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6198" name="Object 5"/>
          <p:cNvGraphicFramePr>
            <a:graphicFrameLocks noChangeAspect="1"/>
          </p:cNvGraphicFramePr>
          <p:nvPr/>
        </p:nvGraphicFramePr>
        <p:xfrm>
          <a:off x="641350" y="1593850"/>
          <a:ext cx="4176713" cy="792163"/>
        </p:xfrm>
        <a:graphic>
          <a:graphicData uri="http://schemas.openxmlformats.org/presentationml/2006/ole">
            <mc:AlternateContent xmlns:mc="http://schemas.openxmlformats.org/markup-compatibility/2006">
              <mc:Choice xmlns:v="urn:schemas-microsoft-com:vml" Requires="v">
                <p:oleObj spid="_x0000_s136226" name="公式" r:id="rId5" imgW="2336800" imgH="444500" progId="Equation.3">
                  <p:embed/>
                </p:oleObj>
              </mc:Choice>
              <mc:Fallback>
                <p:oleObj name="公式" r:id="rId5" imgW="2336800" imgH="444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1350" y="1593850"/>
                        <a:ext cx="4176713"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直接连接符 3">
            <a:extLst>
              <a:ext uri="{FF2B5EF4-FFF2-40B4-BE49-F238E27FC236}">
                <a16:creationId xmlns:a16="http://schemas.microsoft.com/office/drawing/2014/main" id="{064BA3B0-8BD3-46C3-8BA4-AA78557FC31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72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F9269D5-9716-4E88-8C7F-DBB432FC0A28}"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98</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7220" name="Text Box 2"/>
          <p:cNvSpPr txBox="1">
            <a:spLocks noChangeArrowheads="1"/>
          </p:cNvSpPr>
          <p:nvPr/>
        </p:nvSpPr>
        <p:spPr bwMode="auto">
          <a:xfrm>
            <a:off x="533400" y="476250"/>
            <a:ext cx="8153400" cy="561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ts val="1200"/>
              </a:spcBef>
              <a:buFontTx/>
              <a:buNone/>
            </a:pP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前末端效应对序列分布的影响：</a:t>
            </a:r>
            <a:endPar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a:lnSpc>
                <a:spcPct val="100000"/>
              </a:lnSpc>
              <a:spcBef>
                <a:spcPts val="1200"/>
              </a:spcBef>
              <a:buFontTx/>
              <a:buNone/>
            </a:pPr>
            <a:r>
              <a:rPr lang="zh-CN" altLang="en-US" sz="1800">
                <a:solidFill>
                  <a:srgbClr val="FF0000"/>
                </a:solidFill>
                <a:latin typeface="Arial" panose="020B0604020202020204" pitchFamily="34" charset="0"/>
                <a:ea typeface="楷体" panose="02010609060101010101" pitchFamily="49" charset="-122"/>
                <a:cs typeface="Arial" panose="020B0604020202020204" pitchFamily="34" charset="0"/>
              </a:rPr>
              <a:t>     本质</a:t>
            </a:r>
            <a:r>
              <a:rPr lang="en-US" altLang="zh-CN" sz="18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  </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与     </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rPr>
              <a:t>M</a:t>
            </a:r>
            <a:r>
              <a:rPr lang="en-US" altLang="zh-CN" sz="21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lang="en-US" altLang="zh-CN" sz="2100">
                <a:solidFill>
                  <a:srgbClr val="FF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solidFill>
                  <a:srgbClr val="FF0000"/>
                </a:solidFill>
                <a:latin typeface="Arial" panose="020B0604020202020204" pitchFamily="34" charset="0"/>
                <a:ea typeface="楷体" panose="02010609060101010101" pitchFamily="49" charset="-122"/>
                <a:cs typeface="Arial" panose="020B0604020202020204" pitchFamily="34" charset="0"/>
              </a:rPr>
              <a:t>反应特性不同 </a:t>
            </a:r>
            <a:endParaRPr lang="zh-CN" altLang="en-US" sz="2100" baseline="-25000">
              <a:solidFill>
                <a:srgbClr val="FF0000"/>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00000"/>
              </a:lnSpc>
              <a:spcBef>
                <a:spcPct val="50000"/>
              </a:spcBef>
            </a:pPr>
            <a:r>
              <a:rPr lang="zh-CN" altLang="en-US"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latin typeface="Arial" panose="020B0604020202020204" pitchFamily="34" charset="0"/>
                <a:ea typeface="楷体" panose="02010609060101010101" pitchFamily="49" charset="-122"/>
                <a:cs typeface="Arial" panose="020B0604020202020204" pitchFamily="34" charset="0"/>
              </a:rPr>
              <a:t>共聚微分方程推导中，假定自由基的类型及其反应性质</a:t>
            </a:r>
            <a:r>
              <a:rPr lang="en-US" altLang="zh-CN" sz="2100">
                <a:latin typeface="Arial" panose="020B0604020202020204" pitchFamily="34" charset="0"/>
                <a:ea typeface="楷体" panose="02010609060101010101" pitchFamily="49" charset="-122"/>
                <a:cs typeface="Arial" panose="020B0604020202020204" pitchFamily="34" charset="0"/>
              </a:rPr>
              <a:t>(</a:t>
            </a:r>
            <a:r>
              <a:rPr lang="zh-CN" altLang="en-US" sz="2100">
                <a:latin typeface="Arial" panose="020B0604020202020204" pitchFamily="34" charset="0"/>
                <a:ea typeface="楷体" panose="02010609060101010101" pitchFamily="49" charset="-122"/>
                <a:cs typeface="Arial" panose="020B0604020202020204" pitchFamily="34" charset="0"/>
              </a:rPr>
              <a:t>活性</a:t>
            </a:r>
            <a:r>
              <a:rPr lang="en-US" altLang="zh-CN" sz="2100">
                <a:latin typeface="Arial" panose="020B0604020202020204" pitchFamily="34" charset="0"/>
                <a:ea typeface="楷体" panose="02010609060101010101" pitchFamily="49" charset="-122"/>
                <a:cs typeface="Arial" panose="020B0604020202020204" pitchFamily="34" charset="0"/>
              </a:rPr>
              <a:t>)</a:t>
            </a:r>
            <a:endParaRPr lang="zh-CN" altLang="en-US" sz="21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00000"/>
              </a:lnSpc>
              <a:spcBef>
                <a:spcPct val="500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完全决定于末端结构单元的性质，并且不受其它链节的结构及</a:t>
            </a:r>
          </a:p>
          <a:p>
            <a:pPr algn="just" eaLnBrk="1" hangingPunct="1">
              <a:lnSpc>
                <a:spcPct val="100000"/>
              </a:lnSpc>
              <a:spcBef>
                <a:spcPct val="500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数量的影响    </a:t>
            </a:r>
            <a:r>
              <a:rPr lang="zh-CN" altLang="en-US"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100">
                <a:latin typeface="Arial" panose="020B0604020202020204" pitchFamily="34" charset="0"/>
                <a:ea typeface="楷体" panose="02010609060101010101" pitchFamily="49" charset="-122"/>
                <a:cs typeface="Arial" panose="020B0604020202020204" pitchFamily="34" charset="0"/>
              </a:rPr>
              <a:t>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2</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与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的反应特性相同</a:t>
            </a:r>
          </a:p>
          <a:p>
            <a:pPr algn="just">
              <a:lnSpc>
                <a:spcPct val="120000"/>
              </a:lnSpc>
              <a:spcBef>
                <a:spcPts val="1200"/>
              </a:spcBef>
            </a:pPr>
            <a:r>
              <a:rPr lang="zh-CN" altLang="en-US" sz="2100">
                <a:latin typeface="Arial" panose="020B0604020202020204" pitchFamily="34" charset="0"/>
                <a:ea typeface="楷体" panose="02010609060101010101" pitchFamily="49" charset="-122"/>
                <a:cs typeface="Arial" panose="020B0604020202020204" pitchFamily="34" charset="0"/>
              </a:rPr>
              <a:t>   通过实验证实多数单体基本符合据此导出的微分方程</a:t>
            </a:r>
          </a:p>
          <a:p>
            <a:pPr>
              <a:lnSpc>
                <a:spcPct val="120000"/>
              </a:lnSpc>
              <a:spcBef>
                <a:spcPts val="1200"/>
              </a:spcBef>
            </a:pPr>
            <a:r>
              <a:rPr lang="zh-CN" altLang="en-US" sz="2100">
                <a:latin typeface="Arial" panose="020B0604020202020204" pitchFamily="34" charset="0"/>
                <a:ea typeface="楷体" panose="02010609060101010101" pitchFamily="49" charset="-122"/>
                <a:cs typeface="Arial" panose="020B0604020202020204" pitchFamily="34" charset="0"/>
              </a:rPr>
              <a:t>  当单体极性比较强时，</a:t>
            </a:r>
            <a:r>
              <a:rPr lang="en-US" altLang="zh-CN" sz="2100">
                <a:latin typeface="Arial" panose="020B0604020202020204" pitchFamily="34" charset="0"/>
                <a:ea typeface="楷体" panose="02010609060101010101" pitchFamily="49" charset="-122"/>
                <a:cs typeface="Arial" panose="020B0604020202020204" pitchFamily="34" charset="0"/>
              </a:rPr>
              <a:t>r</a:t>
            </a:r>
            <a:r>
              <a:rPr lang="zh-CN" altLang="en-US" sz="2100">
                <a:latin typeface="Arial" panose="020B0604020202020204" pitchFamily="34" charset="0"/>
                <a:ea typeface="楷体" panose="02010609060101010101" pitchFamily="49" charset="-122"/>
                <a:cs typeface="Arial" panose="020B0604020202020204" pitchFamily="34" charset="0"/>
              </a:rPr>
              <a:t>如含-</a:t>
            </a:r>
            <a:r>
              <a:rPr lang="en-US" altLang="zh-CN" sz="2100">
                <a:latin typeface="Arial" panose="020B0604020202020204" pitchFamily="34" charset="0"/>
                <a:ea typeface="楷体" panose="02010609060101010101" pitchFamily="49" charset="-122"/>
                <a:cs typeface="Arial" panose="020B0604020202020204" pitchFamily="34" charset="0"/>
              </a:rPr>
              <a:t>CN，-COOH，</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zh-CN" altLang="en-US" sz="2100">
                <a:latin typeface="Arial" panose="020B0604020202020204" pitchFamily="34" charset="0"/>
                <a:ea typeface="楷体" panose="02010609060101010101" pitchFamily="49" charset="-122"/>
                <a:cs typeface="Arial" panose="020B0604020202020204" pitchFamily="34" charset="0"/>
              </a:rPr>
              <a:t> 取代基</a:t>
            </a:r>
          </a:p>
          <a:p>
            <a:pPr>
              <a:lnSpc>
                <a:spcPct val="120000"/>
              </a:lnSpc>
              <a:spcBef>
                <a:spcPts val="12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2</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与 </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rPr>
              <a:t>M</a:t>
            </a:r>
            <a:r>
              <a:rPr lang="en-US" altLang="zh-CN" sz="2100" baseline="-25000">
                <a:latin typeface="Arial" panose="020B0604020202020204" pitchFamily="34" charset="0"/>
                <a:ea typeface="楷体" panose="02010609060101010101" pitchFamily="49" charset="-122"/>
                <a:cs typeface="Arial" panose="020B0604020202020204" pitchFamily="34" charset="0"/>
              </a:rPr>
              <a:t>1</a:t>
            </a:r>
            <a:r>
              <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a:t>
            </a:r>
            <a:r>
              <a:rPr lang="en-US" altLang="zh-CN" sz="2100">
                <a:latin typeface="Arial" panose="020B0604020202020204" pitchFamily="34" charset="0"/>
                <a:ea typeface="楷体" panose="02010609060101010101" pitchFamily="49" charset="-122"/>
                <a:cs typeface="Arial" panose="020B0604020202020204" pitchFamily="34" charset="0"/>
              </a:rPr>
              <a:t> </a:t>
            </a:r>
            <a:r>
              <a:rPr lang="zh-CN" altLang="en-US" sz="2100">
                <a:latin typeface="Arial" panose="020B0604020202020204" pitchFamily="34" charset="0"/>
                <a:ea typeface="楷体" panose="02010609060101010101" pitchFamily="49" charset="-122"/>
                <a:cs typeface="Arial" panose="020B0604020202020204" pitchFamily="34" charset="0"/>
              </a:rPr>
              <a:t>反应活性不同</a:t>
            </a:r>
            <a:endParaRPr lang="en-US" altLang="zh-CN"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endParaRPr>
          </a:p>
          <a:p>
            <a:pPr>
              <a:lnSpc>
                <a:spcPct val="120000"/>
              </a:lnSpc>
              <a:spcBef>
                <a:spcPts val="1200"/>
              </a:spcBef>
              <a:buFontTx/>
              <a:buNone/>
            </a:pPr>
            <a:r>
              <a:rPr lang="en-US" altLang="zh-CN" sz="2100">
                <a:solidFill>
                  <a:srgbClr val="C00000"/>
                </a:solidFill>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latin typeface="Arial" panose="020B0604020202020204" pitchFamily="34" charset="0"/>
                <a:ea typeface="楷体" panose="02010609060101010101" pitchFamily="49" charset="-122"/>
                <a:cs typeface="Arial" panose="020B0604020202020204" pitchFamily="34" charset="0"/>
                <a:sym typeface="Symbol" panose="05050102010706020507" pitchFamily="18" charset="2"/>
              </a:rPr>
              <a:t> </a:t>
            </a:r>
            <a:r>
              <a:rPr lang="zh-CN" altLang="en-US" sz="2100">
                <a:latin typeface="Arial" panose="020B0604020202020204" pitchFamily="34" charset="0"/>
                <a:ea typeface="楷体" panose="02010609060101010101" pitchFamily="49" charset="-122"/>
                <a:cs typeface="Arial" panose="020B0604020202020204" pitchFamily="34" charset="0"/>
              </a:rPr>
              <a:t>“等活性假定”与实际情况不符</a:t>
            </a:r>
          </a:p>
          <a:p>
            <a:pPr>
              <a:lnSpc>
                <a:spcPct val="140000"/>
              </a:lnSpc>
              <a:spcBef>
                <a:spcPts val="1200"/>
              </a:spcBef>
              <a:buFontTx/>
              <a:buNone/>
            </a:pPr>
            <a:r>
              <a:rPr lang="zh-CN" altLang="en-US" sz="2100">
                <a:latin typeface="Arial" panose="020B0604020202020204" pitchFamily="34" charset="0"/>
                <a:ea typeface="楷体" panose="02010609060101010101" pitchFamily="49" charset="-122"/>
                <a:cs typeface="Arial" panose="020B0604020202020204" pitchFamily="34" charset="0"/>
              </a:rPr>
              <a:t>    链自由基的反应性能受到倒数第二个单体单元的影响，不符合根据一次</a:t>
            </a:r>
            <a:r>
              <a:rPr lang="en-US" altLang="zh-CN" sz="2100">
                <a:latin typeface="Arial" panose="020B0604020202020204" pitchFamily="34" charset="0"/>
                <a:ea typeface="楷体" panose="02010609060101010101" pitchFamily="49" charset="-122"/>
                <a:cs typeface="Arial" panose="020B0604020202020204" pitchFamily="34" charset="0"/>
              </a:rPr>
              <a:t>Markov</a:t>
            </a:r>
            <a:r>
              <a:rPr lang="zh-CN" altLang="en-US" sz="2100">
                <a:latin typeface="Arial" panose="020B0604020202020204" pitchFamily="34" charset="0"/>
                <a:ea typeface="楷体" panose="02010609060101010101" pitchFamily="49" charset="-122"/>
                <a:cs typeface="Arial" panose="020B0604020202020204" pitchFamily="34" charset="0"/>
              </a:rPr>
              <a:t>统计推导的共聚微分方程。</a:t>
            </a:r>
          </a:p>
        </p:txBody>
      </p:sp>
      <p:graphicFrame>
        <p:nvGraphicFramePr>
          <p:cNvPr id="5" name="Object 4"/>
          <p:cNvGraphicFramePr>
            <a:graphicFrameLocks noChangeAspect="1"/>
          </p:cNvGraphicFramePr>
          <p:nvPr>
            <p:extLst>
              <p:ext uri="{D42A27DB-BD31-4B8C-83A1-F6EECF244321}">
                <p14:modId xmlns:p14="http://schemas.microsoft.com/office/powerpoint/2010/main" val="1389078000"/>
              </p:ext>
            </p:extLst>
          </p:nvPr>
        </p:nvGraphicFramePr>
        <p:xfrm>
          <a:off x="2915816" y="6131875"/>
          <a:ext cx="2829193" cy="607143"/>
        </p:xfrm>
        <a:graphic>
          <a:graphicData uri="http://schemas.openxmlformats.org/presentationml/2006/ole">
            <mc:AlternateContent xmlns:mc="http://schemas.openxmlformats.org/markup-compatibility/2006">
              <mc:Choice xmlns:v="urn:schemas-microsoft-com:vml" Requires="v">
                <p:oleObj spid="_x0000_s189460" name="公式" r:id="rId3" imgW="2070100" imgH="444500" progId="Equation.3">
                  <p:embed/>
                </p:oleObj>
              </mc:Choice>
              <mc:Fallback>
                <p:oleObj name="公式" r:id="rId3" imgW="2070100" imgH="444500" progId="Equation.3">
                  <p:embed/>
                  <p:pic>
                    <p:nvPicPr>
                      <p:cNvPr id="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6131875"/>
                        <a:ext cx="2829193" cy="607143"/>
                      </a:xfrm>
                      <a:prstGeom prst="rect">
                        <a:avLst/>
                      </a:prstGeom>
                      <a:noFill/>
                      <a:ln>
                        <a:noFill/>
                      </a:ln>
                      <a:extLst/>
                    </p:spPr>
                  </p:pic>
                </p:oleObj>
              </mc:Fallback>
            </mc:AlternateContent>
          </a:graphicData>
        </a:graphic>
      </p:graphicFrame>
      <p:graphicFrame>
        <p:nvGraphicFramePr>
          <p:cNvPr id="6" name="Object 1024"/>
          <p:cNvGraphicFramePr>
            <a:graphicFrameLocks noChangeAspect="1"/>
          </p:cNvGraphicFramePr>
          <p:nvPr>
            <p:extLst>
              <p:ext uri="{D42A27DB-BD31-4B8C-83A1-F6EECF244321}">
                <p14:modId xmlns:p14="http://schemas.microsoft.com/office/powerpoint/2010/main" val="1396293456"/>
              </p:ext>
            </p:extLst>
          </p:nvPr>
        </p:nvGraphicFramePr>
        <p:xfrm>
          <a:off x="6082494" y="6131875"/>
          <a:ext cx="2377938" cy="589600"/>
        </p:xfrm>
        <a:graphic>
          <a:graphicData uri="http://schemas.openxmlformats.org/presentationml/2006/ole">
            <mc:AlternateContent xmlns:mc="http://schemas.openxmlformats.org/markup-compatibility/2006">
              <mc:Choice xmlns:v="urn:schemas-microsoft-com:vml" Requires="v">
                <p:oleObj spid="_x0000_s189461" name="公式" r:id="rId5" imgW="1778000" imgH="457200" progId="Equation.3">
                  <p:embed/>
                </p:oleObj>
              </mc:Choice>
              <mc:Fallback>
                <p:oleObj name="公式" r:id="rId5" imgW="1778000" imgH="457200" progId="Equation.3">
                  <p:embed/>
                  <p:pic>
                    <p:nvPicPr>
                      <p:cNvPr id="5" name="Object 10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2494" y="6131875"/>
                        <a:ext cx="2377938" cy="589600"/>
                      </a:xfrm>
                      <a:prstGeom prst="rect">
                        <a:avLst/>
                      </a:prstGeom>
                      <a:noFill/>
                      <a:ln>
                        <a:noFill/>
                      </a:ln>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6" name="直接连接符 5">
            <a:extLst>
              <a:ext uri="{FF2B5EF4-FFF2-40B4-BE49-F238E27FC236}">
                <a16:creationId xmlns:a16="http://schemas.microsoft.com/office/drawing/2014/main" id="{699580B5-9D05-426F-8105-8187DC5925A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3824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CF2D160-8508-4B51-BAEB-FE269257FB4E}" type="slidenum">
              <a:rPr lang="zh-CN" altLang="en-US" sz="1200" smtClean="0">
                <a:solidFill>
                  <a:srgbClr val="FFFFFF"/>
                </a:solidFill>
                <a:latin typeface="Century Schoolbook" panose="02040604050505020304" pitchFamily="18" charset="0"/>
                <a:ea typeface="宋体" panose="02010600030101010101" pitchFamily="2" charset="-122"/>
              </a:rPr>
              <a:pPr fontAlgn="base">
                <a:lnSpc>
                  <a:spcPct val="100000"/>
                </a:lnSpc>
                <a:spcBef>
                  <a:spcPct val="0"/>
                </a:spcBef>
                <a:spcAft>
                  <a:spcPct val="0"/>
                </a:spcAft>
                <a:buFontTx/>
                <a:buNone/>
              </a:pPr>
              <a:t>99</a:t>
            </a:fld>
            <a:endParaRPr lang="en-US" altLang="zh-CN" sz="1200">
              <a:solidFill>
                <a:srgbClr val="FFFFFF"/>
              </a:solidFill>
              <a:latin typeface="Century Schoolbook" panose="02040604050505020304" pitchFamily="18" charset="0"/>
              <a:ea typeface="宋体" panose="02010600030101010101" pitchFamily="2" charset="-122"/>
            </a:endParaRPr>
          </a:p>
        </p:txBody>
      </p:sp>
      <p:sp>
        <p:nvSpPr>
          <p:cNvPr id="138244" name="Text Box 2"/>
          <p:cNvSpPr txBox="1">
            <a:spLocks noChangeArrowheads="1"/>
          </p:cNvSpPr>
          <p:nvPr/>
        </p:nvSpPr>
        <p:spPr bwMode="auto">
          <a:xfrm>
            <a:off x="179388" y="325438"/>
            <a:ext cx="7620000"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ts val="12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例：苯乙烯（</a:t>
            </a:r>
            <a:r>
              <a:rPr lang="en-US" altLang="zh-CN" sz="2000">
                <a:latin typeface="Arial" panose="020B0604020202020204" pitchFamily="34" charset="0"/>
                <a:ea typeface="楷体" panose="02010609060101010101" pitchFamily="49" charset="-122"/>
                <a:cs typeface="Arial" panose="020B0604020202020204" pitchFamily="34" charset="0"/>
              </a:rPr>
              <a:t>St）</a:t>
            </a:r>
            <a:r>
              <a:rPr lang="zh-CN" altLang="en-US" sz="2000">
                <a:latin typeface="Arial" panose="020B0604020202020204" pitchFamily="34" charset="0"/>
                <a:ea typeface="楷体" panose="02010609060101010101" pitchFamily="49" charset="-122"/>
                <a:cs typeface="Arial" panose="020B0604020202020204" pitchFamily="34" charset="0"/>
              </a:rPr>
              <a:t>与反丁烯二腈（</a:t>
            </a:r>
            <a:r>
              <a:rPr lang="en-US" altLang="zh-CN" sz="2000">
                <a:latin typeface="Arial" panose="020B0604020202020204" pitchFamily="34" charset="0"/>
                <a:ea typeface="楷体" panose="02010609060101010101" pitchFamily="49" charset="-122"/>
                <a:cs typeface="Arial" panose="020B0604020202020204" pitchFamily="34" charset="0"/>
              </a:rPr>
              <a:t>FV）</a:t>
            </a:r>
            <a:r>
              <a:rPr lang="zh-CN" altLang="en-US" sz="2000">
                <a:latin typeface="Arial" panose="020B0604020202020204" pitchFamily="34" charset="0"/>
                <a:ea typeface="楷体" panose="02010609060101010101" pitchFamily="49" charset="-122"/>
                <a:cs typeface="Arial" panose="020B0604020202020204" pitchFamily="34" charset="0"/>
              </a:rPr>
              <a:t>的共聚反应，</a:t>
            </a:r>
          </a:p>
          <a:p>
            <a:pPr algn="just">
              <a:lnSpc>
                <a:spcPct val="100000"/>
              </a:lnSpc>
              <a:spcBef>
                <a:spcPts val="1200"/>
              </a:spcBef>
              <a:buFontTx/>
              <a:buNone/>
            </a:pPr>
            <a:r>
              <a:rPr lang="zh-CN" altLang="en-US" sz="2000">
                <a:latin typeface="Arial" panose="020B0604020202020204" pitchFamily="34" charset="0"/>
                <a:ea typeface="楷体" panose="02010609060101010101" pitchFamily="49" charset="-122"/>
                <a:cs typeface="Arial" panose="020B0604020202020204" pitchFamily="34" charset="0"/>
              </a:rPr>
              <a:t>       排除前末端效应的共聚微分方程不适用  </a:t>
            </a:r>
          </a:p>
        </p:txBody>
      </p:sp>
      <p:pic>
        <p:nvPicPr>
          <p:cNvPr id="13824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1228725"/>
            <a:ext cx="41767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8246" name="Text Box 4"/>
          <p:cNvSpPr txBox="1">
            <a:spLocks noChangeArrowheads="1"/>
          </p:cNvSpPr>
          <p:nvPr/>
        </p:nvSpPr>
        <p:spPr bwMode="auto">
          <a:xfrm>
            <a:off x="222250" y="2695575"/>
            <a:ext cx="78517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20000"/>
              </a:lnSpc>
              <a:spcBef>
                <a:spcPts val="1200"/>
              </a:spcBef>
              <a:buFontTx/>
              <a:buNone/>
            </a:pPr>
            <a:r>
              <a:rPr lang="zh-CN" altLang="en-US" sz="2000" b="1">
                <a:solidFill>
                  <a:srgbClr val="FF0000"/>
                </a:solidFill>
                <a:latin typeface="楷体" panose="02010609060101010101" pitchFamily="49" charset="-122"/>
                <a:ea typeface="楷体" panose="02010609060101010101" pitchFamily="49" charset="-122"/>
              </a:rPr>
              <a:t>考虑前末端效应时的共聚物组成微分方程，可按前面的方法推导</a:t>
            </a:r>
          </a:p>
        </p:txBody>
      </p:sp>
      <p:sp>
        <p:nvSpPr>
          <p:cNvPr id="108551" name="TextBox 6">
            <a:extLst>
              <a:ext uri="{FF2B5EF4-FFF2-40B4-BE49-F238E27FC236}">
                <a16:creationId xmlns:a16="http://schemas.microsoft.com/office/drawing/2014/main" id="{131AE084-CD25-4361-8A27-C01FB039C01D}"/>
              </a:ext>
            </a:extLst>
          </p:cNvPr>
          <p:cNvSpPr txBox="1">
            <a:spLocks noChangeArrowheads="1"/>
          </p:cNvSpPr>
          <p:nvPr/>
        </p:nvSpPr>
        <p:spPr bwMode="auto">
          <a:xfrm>
            <a:off x="236538" y="3429000"/>
            <a:ext cx="8529637"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0"/>
              </a:spcBef>
              <a:buFontTx/>
              <a:buNone/>
              <a:defRPr/>
            </a:pPr>
            <a:r>
              <a:rPr lang="zh-CN" altLang="en-US" sz="2000" dirty="0">
                <a:latin typeface="Arial" panose="020B0604020202020204" pitchFamily="34" charset="0"/>
                <a:ea typeface="楷体" panose="02010609060101010101" pitchFamily="49" charset="-122"/>
                <a:cs typeface="Arial" panose="020B0604020202020204" pitchFamily="34" charset="0"/>
              </a:rPr>
              <a:t>三种常见的共聚物序列分布的统计规律：</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marL="342900" indent="-342900" eaLnBrk="1" hangingPunct="1">
              <a:lnSpc>
                <a:spcPct val="150000"/>
              </a:lnSpc>
              <a:spcBef>
                <a:spcPct val="0"/>
              </a:spcBef>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rPr>
              <a:t>理想共聚 </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en-US" altLang="zh-CN" sz="2000" dirty="0">
                <a:latin typeface="Arial" panose="020B0604020202020204" pitchFamily="34" charset="0"/>
                <a:ea typeface="楷体" panose="02010609060101010101" pitchFamily="49" charset="-122"/>
                <a:cs typeface="Arial" panose="020B0604020202020204" pitchFamily="34" charset="0"/>
              </a:rPr>
              <a:t> = 1/r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a:t>
            </a:r>
            <a:r>
              <a:rPr lang="en-US" altLang="zh-CN" sz="2000" dirty="0">
                <a:latin typeface="Arial" panose="020B0604020202020204" pitchFamily="34" charset="0"/>
                <a:ea typeface="楷体" panose="02010609060101010101" pitchFamily="49" charset="-122"/>
                <a:cs typeface="Arial" panose="020B0604020202020204" pitchFamily="34" charset="0"/>
              </a:rPr>
              <a:t>, </a:t>
            </a:r>
            <a:r>
              <a:rPr lang="zh-CN" altLang="en-US" sz="2000" dirty="0">
                <a:latin typeface="Arial" panose="020B0604020202020204" pitchFamily="34" charset="0"/>
                <a:ea typeface="楷体" panose="02010609060101010101" pitchFamily="49" charset="-122"/>
                <a:cs typeface="Arial" panose="020B0604020202020204" pitchFamily="34" charset="0"/>
              </a:rPr>
              <a:t>只有一个独立的竞聚率</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0 </a:t>
            </a:r>
            <a:r>
              <a:rPr lang="zh-CN" altLang="en-US" sz="2000" dirty="0">
                <a:latin typeface="Arial" panose="020B0604020202020204" pitchFamily="34" charset="0"/>
                <a:ea typeface="楷体" panose="02010609060101010101" pitchFamily="49" charset="-122"/>
                <a:cs typeface="Arial" panose="020B0604020202020204" pitchFamily="34" charset="0"/>
              </a:rPr>
              <a:t>阶</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统计，或称之为</a:t>
            </a:r>
            <a:r>
              <a:rPr lang="en-US" altLang="zh-CN" sz="2000" dirty="0">
                <a:latin typeface="Arial" panose="020B0604020202020204" pitchFamily="34" charset="0"/>
                <a:ea typeface="楷体" panose="02010609060101010101" pitchFamily="49" charset="-122"/>
                <a:cs typeface="Arial" panose="020B0604020202020204" pitchFamily="34" charset="0"/>
              </a:rPr>
              <a:t>Bernoulli</a:t>
            </a:r>
            <a:r>
              <a:rPr lang="zh-CN" altLang="en-US" sz="2000" dirty="0">
                <a:latin typeface="Arial" panose="020B0604020202020204" pitchFamily="34" charset="0"/>
                <a:ea typeface="楷体" panose="02010609060101010101" pitchFamily="49" charset="-122"/>
                <a:cs typeface="Arial" panose="020B0604020202020204" pitchFamily="34" charset="0"/>
              </a:rPr>
              <a:t>统计；</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marL="342900" indent="-342900" eaLnBrk="1" hangingPunct="1">
              <a:lnSpc>
                <a:spcPct val="150000"/>
              </a:lnSpc>
              <a:spcBef>
                <a:spcPct val="0"/>
              </a:spcBef>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rPr>
              <a:t>没有前末端效应的共聚反应：</a:t>
            </a:r>
            <a:r>
              <a:rPr lang="en-US" altLang="zh-CN" sz="2000" dirty="0">
                <a:latin typeface="Arial" panose="020B0604020202020204" pitchFamily="34" charset="0"/>
                <a:ea typeface="楷体" panose="02010609060101010101" pitchFamily="49" charset="-122"/>
                <a:cs typeface="Arial" panose="020B0604020202020204" pitchFamily="34" charset="0"/>
              </a:rPr>
              <a:t> 1 </a:t>
            </a:r>
            <a:r>
              <a:rPr lang="zh-CN" altLang="en-US" sz="2000" dirty="0">
                <a:latin typeface="Arial" panose="020B0604020202020204" pitchFamily="34" charset="0"/>
                <a:ea typeface="楷体" panose="02010609060101010101" pitchFamily="49" charset="-122"/>
                <a:cs typeface="Arial" panose="020B0604020202020204" pitchFamily="34" charset="0"/>
              </a:rPr>
              <a:t>阶</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有一对竞聚率</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1</a:t>
            </a:r>
            <a:r>
              <a:rPr lang="zh-CN" altLang="en-US" sz="2000" baseline="-25000" dirty="0">
                <a:latin typeface="Arial" panose="020B0604020202020204" pitchFamily="34" charset="0"/>
                <a:ea typeface="楷体" panose="02010609060101010101" pitchFamily="49" charset="-122"/>
                <a:cs typeface="Arial" panose="020B0604020202020204" pitchFamily="34" charset="0"/>
              </a:rPr>
              <a:t>，</a:t>
            </a:r>
            <a:r>
              <a:rPr lang="en-US" altLang="zh-CN" sz="2000" dirty="0">
                <a:latin typeface="Arial" panose="020B0604020202020204" pitchFamily="34" charset="0"/>
                <a:ea typeface="楷体" panose="02010609060101010101" pitchFamily="49" charset="-122"/>
                <a:cs typeface="Arial" panose="020B0604020202020204" pitchFamily="34" charset="0"/>
              </a:rPr>
              <a:t>r</a:t>
            </a:r>
            <a:r>
              <a:rPr lang="en-US" altLang="zh-CN" sz="2000" baseline="-25000" dirty="0">
                <a:latin typeface="Arial" panose="020B0604020202020204" pitchFamily="34" charset="0"/>
                <a:ea typeface="楷体" panose="02010609060101010101" pitchFamily="49" charset="-122"/>
                <a:cs typeface="Arial" panose="020B0604020202020204" pitchFamily="34" charset="0"/>
              </a:rPr>
              <a:t>2 </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a:t>
            </a:r>
            <a:endParaRPr lang="en-US" altLang="zh-CN" sz="2000" dirty="0">
              <a:latin typeface="Arial" panose="020B0604020202020204" pitchFamily="34" charset="0"/>
              <a:ea typeface="楷体" panose="02010609060101010101" pitchFamily="49" charset="-122"/>
              <a:cs typeface="Arial" panose="020B0604020202020204" pitchFamily="34" charset="0"/>
            </a:endParaRPr>
          </a:p>
          <a:p>
            <a:pPr marL="342900" indent="-342900" eaLnBrk="1" hangingPunct="1">
              <a:lnSpc>
                <a:spcPct val="150000"/>
              </a:lnSpc>
              <a:spcBef>
                <a:spcPct val="0"/>
              </a:spcBef>
              <a:buFont typeface="Wingdings" panose="05000000000000000000" pitchFamily="2" charset="2"/>
              <a:buChar char="u"/>
              <a:defRPr/>
            </a:pPr>
            <a:r>
              <a:rPr lang="zh-CN" altLang="en-US" sz="2000" dirty="0">
                <a:latin typeface="Arial" panose="020B0604020202020204" pitchFamily="34" charset="0"/>
                <a:ea typeface="楷体" panose="02010609060101010101" pitchFamily="49" charset="-122"/>
                <a:cs typeface="Arial" panose="020B0604020202020204" pitchFamily="34" charset="0"/>
              </a:rPr>
              <a:t>有前末端效应的共聚反应：</a:t>
            </a:r>
            <a:r>
              <a:rPr lang="en-US" altLang="zh-CN" sz="2000" dirty="0">
                <a:latin typeface="Arial" panose="020B0604020202020204" pitchFamily="34" charset="0"/>
                <a:ea typeface="楷体" panose="02010609060101010101" pitchFamily="49" charset="-122"/>
                <a:cs typeface="Arial" panose="020B0604020202020204" pitchFamily="34" charset="0"/>
              </a:rPr>
              <a:t> 2 </a:t>
            </a:r>
            <a:r>
              <a:rPr lang="zh-CN" altLang="en-US" sz="2000" dirty="0">
                <a:latin typeface="Arial" panose="020B0604020202020204" pitchFamily="34" charset="0"/>
                <a:ea typeface="楷体" panose="02010609060101010101" pitchFamily="49" charset="-122"/>
                <a:cs typeface="Arial" panose="020B0604020202020204" pitchFamily="34" charset="0"/>
              </a:rPr>
              <a:t>阶</a:t>
            </a:r>
            <a:r>
              <a:rPr lang="en-US" altLang="zh-CN" sz="2000" dirty="0">
                <a:latin typeface="Arial" panose="020B0604020202020204" pitchFamily="34" charset="0"/>
                <a:ea typeface="楷体" panose="02010609060101010101" pitchFamily="49" charset="-122"/>
                <a:cs typeface="Arial" panose="020B0604020202020204" pitchFamily="34" charset="0"/>
              </a:rPr>
              <a:t>Markov</a:t>
            </a:r>
            <a:r>
              <a:rPr lang="zh-CN" altLang="en-US" sz="2000" dirty="0">
                <a:latin typeface="Arial" panose="020B0604020202020204" pitchFamily="34" charset="0"/>
                <a:ea typeface="楷体" panose="02010609060101010101" pitchFamily="49" charset="-122"/>
                <a:cs typeface="Arial" panose="020B0604020202020204" pitchFamily="34" charset="0"/>
              </a:rPr>
              <a:t>统计</a:t>
            </a:r>
            <a:r>
              <a:rPr lang="en-US" altLang="zh-CN" sz="2000" dirty="0">
                <a:latin typeface="Arial" panose="020B0604020202020204" pitchFamily="34" charset="0"/>
                <a:ea typeface="楷体" panose="02010609060101010101" pitchFamily="49" charset="-122"/>
                <a:cs typeface="Arial" panose="020B0604020202020204" pitchFamily="34" charset="0"/>
              </a:rPr>
              <a:t>(</a:t>
            </a:r>
            <a:r>
              <a:rPr lang="zh-CN" altLang="en-US" sz="2000" dirty="0">
                <a:latin typeface="Arial" panose="020B0604020202020204" pitchFamily="34" charset="0"/>
                <a:ea typeface="楷体" panose="02010609060101010101" pitchFamily="49" charset="-122"/>
                <a:cs typeface="Arial" panose="020B0604020202020204" pitchFamily="34" charset="0"/>
              </a:rPr>
              <a:t>有</a:t>
            </a:r>
            <a:r>
              <a:rPr lang="en-US" altLang="zh-CN" sz="2000" dirty="0">
                <a:latin typeface="Arial" panose="020B0604020202020204" pitchFamily="34" charset="0"/>
                <a:ea typeface="楷体" panose="02010609060101010101" pitchFamily="49" charset="-122"/>
                <a:cs typeface="Arial" panose="020B0604020202020204" pitchFamily="34" charset="0"/>
              </a:rPr>
              <a:t>4</a:t>
            </a:r>
            <a:r>
              <a:rPr lang="zh-CN" altLang="en-US" sz="2000" dirty="0">
                <a:latin typeface="Arial" panose="020B0604020202020204" pitchFamily="34" charset="0"/>
                <a:ea typeface="楷体" panose="02010609060101010101" pitchFamily="49" charset="-122"/>
                <a:cs typeface="Arial" panose="020B0604020202020204" pitchFamily="34" charset="0"/>
              </a:rPr>
              <a:t>个竞聚率</a:t>
            </a:r>
            <a:r>
              <a:rPr lang="en-US" altLang="zh-CN" sz="2000" dirty="0">
                <a:latin typeface="Arial" panose="020B0604020202020204" pitchFamily="34" charset="0"/>
                <a:ea typeface="楷体" panose="02010609060101010101" pitchFamily="49" charset="-122"/>
                <a:cs typeface="Arial" panose="020B0604020202020204" pitchFamily="34" charset="0"/>
              </a:rPr>
              <a:t>, P.128-129).</a:t>
            </a:r>
            <a:endParaRPr lang="zh-CN" altLang="en-US" sz="2000"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D2CD6BB-636E-4434-8EE6-BDCE1E0D0A8F}"/>
              </a:ext>
            </a:extLst>
          </p:cNvPr>
          <p:cNvSpPr>
            <a:spLocks noGrp="1"/>
          </p:cNvSpPr>
          <p:nvPr>
            <p:ph type="sldNum" sz="quarter" idx="12"/>
          </p:nvPr>
        </p:nvSpPr>
        <p:spPr/>
        <p:txBody>
          <a:bodyPr/>
          <a:lstStyle/>
          <a:p>
            <a:pPr>
              <a:defRPr/>
            </a:pPr>
            <a:fld id="{B072951A-5464-4929-B233-A7BFD193D59A}" type="slidenum">
              <a:rPr lang="zh-CN" altLang="en-US" smtClean="0"/>
              <a:pPr>
                <a:defRPr/>
              </a:pPr>
              <a:t>100</a:t>
            </a:fld>
            <a:endParaRPr lang="en-US" altLang="zh-CN"/>
          </a:p>
        </p:txBody>
      </p:sp>
      <p:sp>
        <p:nvSpPr>
          <p:cNvPr id="139267" name="矩形 2"/>
          <p:cNvSpPr>
            <a:spLocks noChangeArrowheads="1"/>
          </p:cNvSpPr>
          <p:nvPr/>
        </p:nvSpPr>
        <p:spPr bwMode="auto">
          <a:xfrm>
            <a:off x="250825" y="488950"/>
            <a:ext cx="23510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共聚物组成曲线</a:t>
            </a:r>
            <a:endParaRPr lang="zh-CN" altLang="en-US" sz="2400">
              <a:cs typeface="Arial" panose="020B0604020202020204" pitchFamily="34" charset="0"/>
            </a:endParaRPr>
          </a:p>
        </p:txBody>
      </p:sp>
      <p:sp>
        <p:nvSpPr>
          <p:cNvPr id="139268" name="矩形 4"/>
          <p:cNvSpPr>
            <a:spLocks noChangeArrowheads="1"/>
          </p:cNvSpPr>
          <p:nvPr/>
        </p:nvSpPr>
        <p:spPr bwMode="auto">
          <a:xfrm>
            <a:off x="260350" y="6100763"/>
            <a:ext cx="3587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共聚物微结构和链段分布</a:t>
            </a:r>
            <a:endParaRPr lang="zh-CN" altLang="en-US" sz="2400">
              <a:cs typeface="Arial" panose="020B0604020202020204" pitchFamily="34" charset="0"/>
            </a:endParaRPr>
          </a:p>
        </p:txBody>
      </p:sp>
      <p:sp>
        <p:nvSpPr>
          <p:cNvPr id="139269" name="矩形 5"/>
          <p:cNvSpPr>
            <a:spLocks noChangeArrowheads="1"/>
          </p:cNvSpPr>
          <p:nvPr/>
        </p:nvSpPr>
        <p:spPr bwMode="auto">
          <a:xfrm>
            <a:off x="273050" y="5373688"/>
            <a:ext cx="3278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400" b="1">
                <a:latin typeface="楷体" panose="02010609060101010101" pitchFamily="49" charset="-122"/>
                <a:ea typeface="楷体" panose="02010609060101010101" pitchFamily="49" charset="-122"/>
              </a:rPr>
              <a:t>共聚物组成分布的控制</a:t>
            </a:r>
            <a:endParaRPr lang="zh-CN" altLang="en-US" sz="2400"/>
          </a:p>
        </p:txBody>
      </p:sp>
      <p:sp>
        <p:nvSpPr>
          <p:cNvPr id="7" name="矩形 6">
            <a:extLst>
              <a:ext uri="{FF2B5EF4-FFF2-40B4-BE49-F238E27FC236}">
                <a16:creationId xmlns:a16="http://schemas.microsoft.com/office/drawing/2014/main" id="{6A332FD1-01BF-4067-8AF3-BFF9F752EB00}"/>
              </a:ext>
            </a:extLst>
          </p:cNvPr>
          <p:cNvSpPr/>
          <p:nvPr/>
        </p:nvSpPr>
        <p:spPr>
          <a:xfrm>
            <a:off x="2916238" y="585788"/>
            <a:ext cx="4313237" cy="1323975"/>
          </a:xfrm>
          <a:prstGeom prst="rect">
            <a:avLst/>
          </a:prstGeom>
          <a:solidFill>
            <a:schemeClr val="bg1">
              <a:lumMod val="95000"/>
            </a:schemeClr>
          </a:solidFill>
        </p:spPr>
        <p:txBody>
          <a:bodyPr wrap="none">
            <a:spAutoFit/>
          </a:bodyPr>
          <a:lstStyle/>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共聚物瞬时组成变化：</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en-US" altLang="zh-CN" sz="2000" b="1" dirty="0">
                <a:latin typeface="Arial" panose="020B0604020202020204" pitchFamily="34" charset="0"/>
                <a:ea typeface="楷体" panose="02010609060101010101" pitchFamily="49" charset="-122"/>
                <a:cs typeface="Arial" panose="020B0604020202020204" pitchFamily="34" charset="0"/>
              </a:rPr>
              <a:t>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&gt; 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，对角线上；</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a:t>
            </a:r>
          </a:p>
          <a:p>
            <a:pPr>
              <a:defRPr/>
            </a:pPr>
            <a:r>
              <a:rPr kumimoji="1" lang="en-US" altLang="zh-CN" sz="2000" b="1" dirty="0">
                <a:latin typeface="Arial" panose="020B0604020202020204" pitchFamily="34" charset="0"/>
                <a:ea typeface="楷体" panose="02010609060101010101" pitchFamily="49" charset="-122"/>
                <a:cs typeface="Arial" panose="020B0604020202020204" pitchFamily="34" charset="0"/>
              </a:rPr>
              <a:t>r</a:t>
            </a:r>
            <a:r>
              <a:rPr kumimoji="1" lang="en-US" altLang="zh-CN" sz="2000" b="1" baseline="-30000" dirty="0">
                <a:latin typeface="Arial" panose="020B0604020202020204" pitchFamily="34" charset="0"/>
                <a:ea typeface="楷体" panose="02010609060101010101" pitchFamily="49" charset="-122"/>
                <a:cs typeface="Arial" panose="020B0604020202020204" pitchFamily="34" charset="0"/>
              </a:rPr>
              <a:t>1 </a:t>
            </a:r>
            <a:r>
              <a:rPr kumimoji="1" lang="en-US" altLang="zh-CN" sz="2000" b="1" dirty="0">
                <a:latin typeface="Arial" panose="020B0604020202020204" pitchFamily="34" charset="0"/>
                <a:ea typeface="楷体" panose="02010609060101010101" pitchFamily="49" charset="-122"/>
                <a:cs typeface="Arial" panose="020B0604020202020204" pitchFamily="34" charset="0"/>
              </a:rPr>
              <a:t> &lt;1</a:t>
            </a: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，对角线下；</a:t>
            </a:r>
            <a:endParaRPr kumimoji="1" lang="en-US" altLang="zh-CN" sz="2000" b="1" dirty="0">
              <a:latin typeface="Arial" panose="020B0604020202020204" pitchFamily="34" charset="0"/>
              <a:ea typeface="楷体" panose="02010609060101010101" pitchFamily="49" charset="-122"/>
              <a:cs typeface="Arial" panose="020B0604020202020204" pitchFamily="34" charset="0"/>
            </a:endParaRPr>
          </a:p>
          <a:p>
            <a:pPr>
              <a:defRPr/>
            </a:pPr>
            <a:r>
              <a:rPr kumimoji="1" lang="zh-CN" altLang="en-US" sz="2000" b="1" dirty="0">
                <a:latin typeface="Arial" panose="020B0604020202020204" pitchFamily="34" charset="0"/>
                <a:ea typeface="楷体" panose="02010609060101010101" pitchFamily="49" charset="-122"/>
                <a:cs typeface="Arial" panose="020B0604020202020204" pitchFamily="34" charset="0"/>
              </a:rPr>
              <a:t>对角线上往下走，对角线下往上走。</a:t>
            </a:r>
            <a:endParaRPr lang="zh-CN" altLang="en-US" sz="2000" b="1" dirty="0"/>
          </a:p>
        </p:txBody>
      </p:sp>
      <p:sp>
        <p:nvSpPr>
          <p:cNvPr id="8" name="矩形 7">
            <a:extLst>
              <a:ext uri="{FF2B5EF4-FFF2-40B4-BE49-F238E27FC236}">
                <a16:creationId xmlns:a16="http://schemas.microsoft.com/office/drawing/2014/main" id="{6DF28539-15AB-4F82-963F-03F5BC17796D}"/>
              </a:ext>
            </a:extLst>
          </p:cNvPr>
          <p:cNvSpPr/>
          <p:nvPr/>
        </p:nvSpPr>
        <p:spPr>
          <a:xfrm>
            <a:off x="8316416" y="-34973"/>
            <a:ext cx="906017" cy="523220"/>
          </a:xfrm>
          <a:prstGeom prst="rect">
            <a:avLst/>
          </a:prstGeom>
        </p:spPr>
        <p:txBody>
          <a:bodyPr wrap="none">
            <a:spAutoFit/>
          </a:bodyPr>
          <a:lstStyle/>
          <a:p>
            <a:pPr>
              <a:defRPr/>
            </a:pPr>
            <a:r>
              <a:rPr lang="zh-CN" altLang="en-US" sz="2800" b="1" dirty="0">
                <a:solidFill>
                  <a:schemeClr val="bg1"/>
                </a:solidFill>
                <a:highlight>
                  <a:srgbClr val="800000"/>
                </a:highlight>
                <a:latin typeface="楷体" panose="02010609060101010101" pitchFamily="49" charset="-122"/>
                <a:ea typeface="楷体" panose="02010609060101010101" pitchFamily="49" charset="-122"/>
              </a:rPr>
              <a:t>复习</a:t>
            </a:r>
            <a:endParaRPr lang="zh-CN" altLang="en-US" sz="2800" dirty="0">
              <a:solidFill>
                <a:schemeClr val="bg1"/>
              </a:solidFill>
              <a:highlight>
                <a:srgbClr val="800000"/>
              </a:highlight>
            </a:endParaRPr>
          </a:p>
        </p:txBody>
      </p:sp>
      <p:graphicFrame>
        <p:nvGraphicFramePr>
          <p:cNvPr id="139272" name="Object 2"/>
          <p:cNvGraphicFramePr>
            <a:graphicFrameLocks noChangeAspect="1"/>
          </p:cNvGraphicFramePr>
          <p:nvPr/>
        </p:nvGraphicFramePr>
        <p:xfrm>
          <a:off x="3998913" y="1993900"/>
          <a:ext cx="4633912" cy="4364038"/>
        </p:xfrm>
        <a:graphic>
          <a:graphicData uri="http://schemas.openxmlformats.org/presentationml/2006/ole">
            <mc:AlternateContent xmlns:mc="http://schemas.openxmlformats.org/markup-compatibility/2006">
              <mc:Choice xmlns:v="urn:schemas-microsoft-com:vml" Requires="v">
                <p:oleObj spid="_x0000_s139292" name="Graph" r:id="rId3" imgW="2633031" imgH="2484304" progId="Origin50.Graph">
                  <p:embed/>
                </p:oleObj>
              </mc:Choice>
              <mc:Fallback>
                <p:oleObj name="Graph" r:id="rId3" imgW="2633031" imgH="2484304" progId="Origin50.Grap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8913" y="1993900"/>
                        <a:ext cx="4633912" cy="436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11" name="直接箭头连接符 10">
            <a:extLst>
              <a:ext uri="{FF2B5EF4-FFF2-40B4-BE49-F238E27FC236}">
                <a16:creationId xmlns:a16="http://schemas.microsoft.com/office/drawing/2014/main" id="{05500436-E540-4D96-8399-1FC4EA7360F3}"/>
              </a:ext>
            </a:extLst>
          </p:cNvPr>
          <p:cNvCxnSpPr>
            <a:cxnSpLocks/>
          </p:cNvCxnSpPr>
          <p:nvPr/>
        </p:nvCxnSpPr>
        <p:spPr>
          <a:xfrm flipV="1">
            <a:off x="6073775" y="4621213"/>
            <a:ext cx="514350" cy="582612"/>
          </a:xfrm>
          <a:prstGeom prst="straightConnector1">
            <a:avLst/>
          </a:prstGeom>
          <a:ln w="5715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CB32D804-B118-4A8B-A35E-9AF95D16E343}"/>
              </a:ext>
            </a:extLst>
          </p:cNvPr>
          <p:cNvCxnSpPr/>
          <p:nvPr/>
        </p:nvCxnSpPr>
        <p:spPr>
          <a:xfrm flipV="1">
            <a:off x="7740650" y="3211513"/>
            <a:ext cx="485775" cy="431800"/>
          </a:xfrm>
          <a:prstGeom prst="straightConnector1">
            <a:avLst/>
          </a:prstGeom>
          <a:ln w="57150">
            <a:solidFill>
              <a:srgbClr val="FFC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B62DBAFF-3B8E-4A24-879C-22C6F668034E}"/>
              </a:ext>
            </a:extLst>
          </p:cNvPr>
          <p:cNvCxnSpPr>
            <a:cxnSpLocks/>
          </p:cNvCxnSpPr>
          <p:nvPr/>
        </p:nvCxnSpPr>
        <p:spPr>
          <a:xfrm flipH="1">
            <a:off x="7229475" y="2251075"/>
            <a:ext cx="544513" cy="652463"/>
          </a:xfrm>
          <a:prstGeom prst="straightConnector1">
            <a:avLst/>
          </a:prstGeom>
          <a:ln w="571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F522AC2F-5713-4ED9-BCD2-8FD28B0CFBE4}"/>
              </a:ext>
            </a:extLst>
          </p:cNvPr>
          <p:cNvCxnSpPr>
            <a:cxnSpLocks/>
          </p:cNvCxnSpPr>
          <p:nvPr/>
        </p:nvCxnSpPr>
        <p:spPr>
          <a:xfrm flipH="1">
            <a:off x="4787900" y="3849688"/>
            <a:ext cx="795338" cy="327025"/>
          </a:xfrm>
          <a:prstGeom prst="straightConnector1">
            <a:avLst/>
          </a:prstGeom>
          <a:ln w="57150">
            <a:solidFill>
              <a:srgbClr val="00B05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18DDE908-F7ED-4362-A7A0-B384B5677F0F}"/>
              </a:ext>
            </a:extLst>
          </p:cNvPr>
          <p:cNvSpPr/>
          <p:nvPr/>
        </p:nvSpPr>
        <p:spPr>
          <a:xfrm>
            <a:off x="7229475" y="3162300"/>
            <a:ext cx="95250" cy="122238"/>
          </a:xfrm>
          <a:prstGeom prst="ellipse">
            <a:avLst/>
          </a:prstGeom>
          <a:ln>
            <a:solidFill>
              <a:srgbClr val="9010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椭圆 19">
            <a:extLst>
              <a:ext uri="{FF2B5EF4-FFF2-40B4-BE49-F238E27FC236}">
                <a16:creationId xmlns:a16="http://schemas.microsoft.com/office/drawing/2014/main" id="{11BD080D-0F2D-46E2-8CDE-950B5487A730}"/>
              </a:ext>
            </a:extLst>
          </p:cNvPr>
          <p:cNvSpPr/>
          <p:nvPr/>
        </p:nvSpPr>
        <p:spPr>
          <a:xfrm>
            <a:off x="6588125" y="3754438"/>
            <a:ext cx="98425" cy="114300"/>
          </a:xfrm>
          <a:prstGeom prst="ellipse">
            <a:avLst/>
          </a:prstGeom>
          <a:ln>
            <a:solidFill>
              <a:srgbClr val="90109E"/>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2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B595D38-6204-4445-8261-9313ECC6C9DA}"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101</a:t>
            </a:fld>
            <a:endParaRPr lang="en-US" altLang="zh-CN" sz="1400">
              <a:latin typeface="Times New Roman" panose="02020603050405020304" pitchFamily="18" charset="0"/>
              <a:ea typeface="宋体" panose="02010600030101010101" pitchFamily="2" charset="-122"/>
            </a:endParaRPr>
          </a:p>
        </p:txBody>
      </p:sp>
      <p:sp>
        <p:nvSpPr>
          <p:cNvPr id="140291" name="Rectangle 2"/>
          <p:cNvSpPr>
            <a:spLocks noChangeArrowheads="1"/>
          </p:cNvSpPr>
          <p:nvPr/>
        </p:nvSpPr>
        <p:spPr bwMode="auto">
          <a:xfrm>
            <a:off x="195263" y="549275"/>
            <a:ext cx="7280275"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§4.6</a:t>
            </a:r>
            <a:r>
              <a:rPr kumimoji="1" lang="zh-CN" altLang="en-US" sz="2400" b="1">
                <a:latin typeface="Arial" panose="020B0604020202020204" pitchFamily="34" charset="0"/>
                <a:ea typeface="楷体" panose="02010609060101010101" pitchFamily="49" charset="-122"/>
                <a:cs typeface="Arial" panose="020B0604020202020204" pitchFamily="34" charset="0"/>
              </a:rPr>
              <a:t> 多元共聚 </a:t>
            </a:r>
            <a:r>
              <a:rPr kumimoji="1" lang="en-US" altLang="zh-CN" sz="2400">
                <a:latin typeface="Arial" panose="020B0604020202020204" pitchFamily="34" charset="0"/>
                <a:ea typeface="楷体" panose="02010609060101010101" pitchFamily="49" charset="-122"/>
                <a:cs typeface="Arial" panose="020B0604020202020204" pitchFamily="34" charset="0"/>
              </a:rPr>
              <a:t>(Multi-component Copolymerization)</a:t>
            </a:r>
          </a:p>
        </p:txBody>
      </p:sp>
      <p:sp>
        <p:nvSpPr>
          <p:cNvPr id="140292" name="Text Box 3"/>
          <p:cNvSpPr txBox="1">
            <a:spLocks noChangeArrowheads="1"/>
          </p:cNvSpPr>
          <p:nvPr/>
        </p:nvSpPr>
        <p:spPr bwMode="auto">
          <a:xfrm>
            <a:off x="468313" y="1916113"/>
            <a:ext cx="7802562" cy="323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三元共聚物往往以两种主要单体来确定主要性能，少量第三单体作特殊改性。</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    如：氯乙烯-醋酸乙烯酯共聚物中加1</a:t>
            </a:r>
            <a:r>
              <a:rPr kumimoji="1" lang="en-US" altLang="zh-CN" sz="2400">
                <a:latin typeface="Arial" panose="020B0604020202020204" pitchFamily="34" charset="0"/>
                <a:ea typeface="楷体" panose="02010609060101010101" pitchFamily="49" charset="-122"/>
                <a:cs typeface="Arial" panose="020B0604020202020204" pitchFamily="34" charset="0"/>
              </a:rPr>
              <a:t>~2%</a:t>
            </a:r>
            <a:r>
              <a:rPr kumimoji="1" lang="zh-CN" altLang="en-US" sz="2400">
                <a:latin typeface="Arial" panose="020B0604020202020204" pitchFamily="34" charset="0"/>
                <a:ea typeface="楷体" panose="02010609060101010101" pitchFamily="49" charset="-122"/>
                <a:cs typeface="Arial" panose="020B0604020202020204" pitchFamily="34" charset="0"/>
              </a:rPr>
              <a:t>马来酸酐，可提高粘结力；</a:t>
            </a: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    丙烯腈-丙烯酸甲酯共聚时，加1</a:t>
            </a:r>
            <a:r>
              <a:rPr kumimoji="1" lang="en-US" altLang="zh-CN" sz="2400">
                <a:latin typeface="Arial" panose="020B0604020202020204" pitchFamily="34" charset="0"/>
                <a:ea typeface="楷体" panose="02010609060101010101" pitchFamily="49" charset="-122"/>
                <a:cs typeface="Arial" panose="020B0604020202020204" pitchFamily="34" charset="0"/>
              </a:rPr>
              <a:t>~2%</a:t>
            </a:r>
            <a:r>
              <a:rPr kumimoji="1" lang="zh-CN" altLang="en-US" sz="2400">
                <a:latin typeface="Arial" panose="020B0604020202020204" pitchFamily="34" charset="0"/>
                <a:ea typeface="楷体" panose="02010609060101010101" pitchFamily="49" charset="-122"/>
                <a:cs typeface="Arial" panose="020B0604020202020204" pitchFamily="34" charset="0"/>
              </a:rPr>
              <a:t>衣康酸，可提高其染色性能</a:t>
            </a:r>
            <a:r>
              <a:rPr kumimoji="1" lang="en-US" altLang="zh-CN" sz="2400">
                <a:latin typeface="Arial" panose="020B0604020202020204" pitchFamily="34" charset="0"/>
                <a:ea typeface="楷体" panose="02010609060101010101" pitchFamily="49" charset="-122"/>
                <a:cs typeface="Arial" panose="020B0604020202020204" pitchFamily="34" charset="0"/>
              </a:rPr>
              <a:t>.</a:t>
            </a:r>
            <a:endParaRPr kumimoji="1" lang="zh-CN" altLang="en-US" sz="240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slow"/>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131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38AC78A-1DC2-444E-8CC3-B699A3672E09}"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102</a:t>
            </a:fld>
            <a:endParaRPr lang="en-US" altLang="zh-CN" sz="1400">
              <a:latin typeface="Times New Roman" panose="02020603050405020304" pitchFamily="18" charset="0"/>
              <a:ea typeface="宋体" panose="02010600030101010101" pitchFamily="2" charset="-122"/>
            </a:endParaRPr>
          </a:p>
        </p:txBody>
      </p:sp>
      <p:sp>
        <p:nvSpPr>
          <p:cNvPr id="141315" name="Text Box 2"/>
          <p:cNvSpPr txBox="1">
            <a:spLocks noChangeArrowheads="1"/>
          </p:cNvSpPr>
          <p:nvPr/>
        </p:nvSpPr>
        <p:spPr bwMode="auto">
          <a:xfrm>
            <a:off x="760413" y="1384300"/>
            <a:ext cx="7480300"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三种单体参加反应，共聚物由三个单体单元组成。</a:t>
            </a:r>
          </a:p>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3种自由基；3个引发反应；9个增长反应；6个终止反应；6个竞聚率。</a:t>
            </a:r>
          </a:p>
        </p:txBody>
      </p:sp>
      <p:sp>
        <p:nvSpPr>
          <p:cNvPr id="141316" name="Rectangle 3"/>
          <p:cNvSpPr>
            <a:spLocks noChangeArrowheads="1"/>
          </p:cNvSpPr>
          <p:nvPr/>
        </p:nvSpPr>
        <p:spPr bwMode="auto">
          <a:xfrm>
            <a:off x="539750" y="571500"/>
            <a:ext cx="3663950" cy="50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三元</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(Tri-Component)</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共聚</a:t>
            </a:r>
          </a:p>
        </p:txBody>
      </p:sp>
      <p:sp>
        <p:nvSpPr>
          <p:cNvPr id="141317" name="Rectangle 4"/>
          <p:cNvSpPr>
            <a:spLocks noChangeArrowheads="1"/>
          </p:cNvSpPr>
          <p:nvPr/>
        </p:nvSpPr>
        <p:spPr bwMode="auto">
          <a:xfrm>
            <a:off x="576263" y="4102100"/>
            <a:ext cx="78486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二元共聚：</a:t>
            </a:r>
          </a:p>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  2个引发反应；4个增长反应；3个终止反应；2个竞聚率。</a:t>
            </a:r>
          </a:p>
        </p:txBody>
      </p:sp>
      <p:sp>
        <p:nvSpPr>
          <p:cNvPr id="141318" name="AutoShape 5"/>
          <p:cNvSpPr>
            <a:spLocks noChangeArrowheads="1"/>
          </p:cNvSpPr>
          <p:nvPr/>
        </p:nvSpPr>
        <p:spPr bwMode="auto">
          <a:xfrm>
            <a:off x="3797300" y="3076575"/>
            <a:ext cx="431800" cy="914400"/>
          </a:xfrm>
          <a:prstGeom prst="upDownArrow">
            <a:avLst>
              <a:gd name="adj1" fmla="val 50000"/>
              <a:gd name="adj2" fmla="val 5995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endParaRPr lang="zh-CN" altLang="en-US" sz="240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9A13BBF-13DD-46F9-BE2D-A21784B2C0F0}"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103</a:t>
            </a:fld>
            <a:endParaRPr lang="en-US" altLang="zh-CN" sz="1400">
              <a:latin typeface="Times New Roman" panose="02020603050405020304" pitchFamily="18" charset="0"/>
              <a:ea typeface="宋体" panose="02010600030101010101" pitchFamily="2" charset="-122"/>
            </a:endParaRPr>
          </a:p>
        </p:txBody>
      </p:sp>
      <p:sp>
        <p:nvSpPr>
          <p:cNvPr id="142339" name="Text Box 2"/>
          <p:cNvSpPr txBox="1">
            <a:spLocks noChangeArrowheads="1"/>
          </p:cNvSpPr>
          <p:nvPr/>
        </p:nvSpPr>
        <p:spPr bwMode="auto">
          <a:xfrm>
            <a:off x="323850" y="415925"/>
            <a:ext cx="2451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6个竞聚率</a:t>
            </a:r>
            <a:r>
              <a:rPr kumimoji="1" lang="zh-CN" altLang="en-GB" sz="2400">
                <a:solidFill>
                  <a:srgbClr val="FF0000"/>
                </a:solidFill>
                <a:latin typeface="Arial" panose="020B0604020202020204" pitchFamily="34" charset="0"/>
                <a:ea typeface="楷体" panose="02010609060101010101" pitchFamily="49" charset="-122"/>
                <a:cs typeface="Arial" panose="020B0604020202020204" pitchFamily="34" charset="0"/>
              </a:rPr>
              <a:t>：</a:t>
            </a:r>
            <a:endPar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42340" name="Object 3"/>
          <p:cNvGraphicFramePr>
            <a:graphicFrameLocks noChangeAspect="1"/>
          </p:cNvGraphicFramePr>
          <p:nvPr/>
        </p:nvGraphicFramePr>
        <p:xfrm>
          <a:off x="1000125" y="2743200"/>
          <a:ext cx="1295400" cy="998538"/>
        </p:xfrm>
        <a:graphic>
          <a:graphicData uri="http://schemas.openxmlformats.org/presentationml/2006/ole">
            <mc:AlternateContent xmlns:mc="http://schemas.openxmlformats.org/markup-compatibility/2006">
              <mc:Choice xmlns:v="urn:schemas-microsoft-com:vml" Requires="v">
                <p:oleObj spid="_x0000_s142427" r:id="rId3" imgW="583947" imgH="444307" progId="Equation.3">
                  <p:embed/>
                </p:oleObj>
              </mc:Choice>
              <mc:Fallback>
                <p:oleObj r:id="rId3" imgW="583947" imgH="444307"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25" y="2743200"/>
                        <a:ext cx="12954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1" name="Object 4"/>
          <p:cNvGraphicFramePr>
            <a:graphicFrameLocks noChangeAspect="1"/>
          </p:cNvGraphicFramePr>
          <p:nvPr/>
        </p:nvGraphicFramePr>
        <p:xfrm>
          <a:off x="2871788" y="2736850"/>
          <a:ext cx="1295400" cy="998538"/>
        </p:xfrm>
        <a:graphic>
          <a:graphicData uri="http://schemas.openxmlformats.org/presentationml/2006/ole">
            <mc:AlternateContent xmlns:mc="http://schemas.openxmlformats.org/markup-compatibility/2006">
              <mc:Choice xmlns:v="urn:schemas-microsoft-com:vml" Requires="v">
                <p:oleObj spid="_x0000_s142428" r:id="rId5" imgW="583947" imgH="444307" progId="Equation.3">
                  <p:embed/>
                </p:oleObj>
              </mc:Choice>
              <mc:Fallback>
                <p:oleObj r:id="rId5" imgW="583947" imgH="44430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1788" y="2736850"/>
                        <a:ext cx="12954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2" name="Object 5"/>
          <p:cNvGraphicFramePr>
            <a:graphicFrameLocks noChangeAspect="1"/>
          </p:cNvGraphicFramePr>
          <p:nvPr/>
        </p:nvGraphicFramePr>
        <p:xfrm>
          <a:off x="4857750" y="2736850"/>
          <a:ext cx="1219200" cy="955675"/>
        </p:xfrm>
        <a:graphic>
          <a:graphicData uri="http://schemas.openxmlformats.org/presentationml/2006/ole">
            <mc:AlternateContent xmlns:mc="http://schemas.openxmlformats.org/markup-compatibility/2006">
              <mc:Choice xmlns:v="urn:schemas-microsoft-com:vml" Requires="v">
                <p:oleObj spid="_x0000_s142429" r:id="rId7" imgW="571252" imgH="444307" progId="Equation.3">
                  <p:embed/>
                </p:oleObj>
              </mc:Choice>
              <mc:Fallback>
                <p:oleObj r:id="rId7" imgW="571252" imgH="444307"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7750" y="2736850"/>
                        <a:ext cx="12192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3" name="Object 6"/>
          <p:cNvGraphicFramePr>
            <a:graphicFrameLocks noChangeAspect="1"/>
          </p:cNvGraphicFramePr>
          <p:nvPr/>
        </p:nvGraphicFramePr>
        <p:xfrm>
          <a:off x="2909888" y="1657350"/>
          <a:ext cx="1219200" cy="939800"/>
        </p:xfrm>
        <a:graphic>
          <a:graphicData uri="http://schemas.openxmlformats.org/presentationml/2006/ole">
            <mc:AlternateContent xmlns:mc="http://schemas.openxmlformats.org/markup-compatibility/2006">
              <mc:Choice xmlns:v="urn:schemas-microsoft-com:vml" Requires="v">
                <p:oleObj spid="_x0000_s142430" r:id="rId9" imgW="583947" imgH="444307" progId="Equation.3">
                  <p:embed/>
                </p:oleObj>
              </mc:Choice>
              <mc:Fallback>
                <p:oleObj r:id="rId9" imgW="583947" imgH="444307"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09888" y="1657350"/>
                        <a:ext cx="1219200"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4" name="Object 7"/>
          <p:cNvGraphicFramePr>
            <a:graphicFrameLocks noChangeAspect="1"/>
          </p:cNvGraphicFramePr>
          <p:nvPr/>
        </p:nvGraphicFramePr>
        <p:xfrm>
          <a:off x="1031875" y="1657350"/>
          <a:ext cx="1219200" cy="955675"/>
        </p:xfrm>
        <a:graphic>
          <a:graphicData uri="http://schemas.openxmlformats.org/presentationml/2006/ole">
            <mc:AlternateContent xmlns:mc="http://schemas.openxmlformats.org/markup-compatibility/2006">
              <mc:Choice xmlns:v="urn:schemas-microsoft-com:vml" Requires="v">
                <p:oleObj spid="_x0000_s142431" r:id="rId11" imgW="571252" imgH="444307" progId="Equation.3">
                  <p:embed/>
                </p:oleObj>
              </mc:Choice>
              <mc:Fallback>
                <p:oleObj r:id="rId11" imgW="571252" imgH="444307"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1875" y="1657350"/>
                        <a:ext cx="1219200" cy="95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2345" name="Object 8"/>
          <p:cNvGraphicFramePr>
            <a:graphicFrameLocks noChangeAspect="1"/>
          </p:cNvGraphicFramePr>
          <p:nvPr/>
        </p:nvGraphicFramePr>
        <p:xfrm>
          <a:off x="4857750" y="1698625"/>
          <a:ext cx="1066800" cy="849313"/>
        </p:xfrm>
        <a:graphic>
          <a:graphicData uri="http://schemas.openxmlformats.org/presentationml/2006/ole">
            <mc:AlternateContent xmlns:mc="http://schemas.openxmlformats.org/markup-compatibility/2006">
              <mc:Choice xmlns:v="urn:schemas-microsoft-com:vml" Requires="v">
                <p:oleObj spid="_x0000_s142432" r:id="rId13" imgW="558558" imgH="444307" progId="Equation.3">
                  <p:embed/>
                </p:oleObj>
              </mc:Choice>
              <mc:Fallback>
                <p:oleObj r:id="rId13" imgW="558558" imgH="444307"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57750" y="1698625"/>
                        <a:ext cx="1066800"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2346" name="Rectangle 9"/>
          <p:cNvSpPr>
            <a:spLocks noChangeArrowheads="1"/>
          </p:cNvSpPr>
          <p:nvPr/>
        </p:nvSpPr>
        <p:spPr bwMode="auto">
          <a:xfrm>
            <a:off x="990600" y="990600"/>
            <a:ext cx="492283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1</a:t>
            </a: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2</a:t>
            </a:r>
            <a:r>
              <a:rPr kumimoji="1" lang="en-US" altLang="zh-CN" sz="2400">
                <a:latin typeface="Arial" panose="020B0604020202020204" pitchFamily="34" charset="0"/>
                <a:ea typeface="楷体_GB2312" pitchFamily="49" charset="-122"/>
                <a:cs typeface="Arial" panose="020B0604020202020204" pitchFamily="34" charset="0"/>
              </a:rPr>
              <a:t>             M</a:t>
            </a:r>
            <a:r>
              <a:rPr kumimoji="1" lang="en-US" altLang="zh-CN" sz="2400" baseline="-30000">
                <a:latin typeface="Arial" panose="020B0604020202020204" pitchFamily="34" charset="0"/>
                <a:ea typeface="楷体_GB2312" pitchFamily="49" charset="-122"/>
                <a:cs typeface="Arial" panose="020B0604020202020204" pitchFamily="34" charset="0"/>
              </a:rPr>
              <a:t>2</a:t>
            </a: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3</a:t>
            </a:r>
            <a:r>
              <a:rPr kumimoji="1" lang="en-US" altLang="zh-CN" sz="2400">
                <a:latin typeface="Arial" panose="020B0604020202020204" pitchFamily="34" charset="0"/>
                <a:ea typeface="楷体_GB2312" pitchFamily="49" charset="-122"/>
                <a:cs typeface="Arial" panose="020B0604020202020204" pitchFamily="34" charset="0"/>
              </a:rPr>
              <a:t>             M</a:t>
            </a:r>
            <a:r>
              <a:rPr kumimoji="1" lang="en-US" altLang="zh-CN" sz="2400" baseline="-30000">
                <a:latin typeface="Arial" panose="020B0604020202020204" pitchFamily="34" charset="0"/>
                <a:ea typeface="楷体_GB2312" pitchFamily="49" charset="-122"/>
                <a:cs typeface="Arial" panose="020B0604020202020204" pitchFamily="34" charset="0"/>
              </a:rPr>
              <a:t>1</a:t>
            </a:r>
            <a:r>
              <a:rPr kumimoji="1" lang="en-US" altLang="zh-CN" sz="2400">
                <a:latin typeface="Arial" panose="020B0604020202020204" pitchFamily="34" charset="0"/>
                <a:ea typeface="楷体_GB2312" pitchFamily="49" charset="-122"/>
                <a:cs typeface="Arial" panose="020B0604020202020204" pitchFamily="34" charset="0"/>
              </a:rPr>
              <a:t>-M</a:t>
            </a:r>
            <a:r>
              <a:rPr kumimoji="1" lang="en-US" altLang="zh-CN" sz="2400" baseline="-30000">
                <a:latin typeface="Arial" panose="020B0604020202020204" pitchFamily="34" charset="0"/>
                <a:ea typeface="楷体_GB2312" pitchFamily="49" charset="-122"/>
                <a:cs typeface="Arial" panose="020B0604020202020204" pitchFamily="34" charset="0"/>
              </a:rPr>
              <a:t>3</a:t>
            </a:r>
          </a:p>
        </p:txBody>
      </p:sp>
      <p:sp>
        <p:nvSpPr>
          <p:cNvPr id="142347" name="Text Box 10"/>
          <p:cNvSpPr txBox="1">
            <a:spLocks noChangeArrowheads="1"/>
          </p:cNvSpPr>
          <p:nvPr/>
        </p:nvSpPr>
        <p:spPr bwMode="auto">
          <a:xfrm>
            <a:off x="793750" y="3922713"/>
            <a:ext cx="7561263"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20000"/>
              </a:spcBef>
              <a:buFontTx/>
              <a:buNone/>
            </a:pPr>
            <a:r>
              <a:rPr kumimoji="1" lang="zh-CN" altLang="en-GB" sz="2400">
                <a:latin typeface="楷体" panose="02010609060101010101" pitchFamily="49" charset="-122"/>
                <a:ea typeface="楷体" panose="02010609060101010101" pitchFamily="49" charset="-122"/>
              </a:rPr>
              <a:t>作三种自由基的稳态假定</a:t>
            </a:r>
            <a:r>
              <a:rPr kumimoji="1" lang="en-GB" altLang="zh-CN" sz="2400">
                <a:latin typeface="楷体" panose="02010609060101010101" pitchFamily="49" charset="-122"/>
                <a:ea typeface="楷体" panose="02010609060101010101" pitchFamily="49" charset="-122"/>
              </a:rPr>
              <a:t>，</a:t>
            </a:r>
            <a:r>
              <a:rPr kumimoji="1" lang="zh-CN" altLang="en-GB" sz="2400">
                <a:latin typeface="楷体" panose="02010609060101010101" pitchFamily="49" charset="-122"/>
                <a:ea typeface="楷体" panose="02010609060101010101" pitchFamily="49" charset="-122"/>
              </a:rPr>
              <a:t>可导出三元共聚组成方程。</a:t>
            </a:r>
            <a:endParaRPr kumimoji="1" lang="zh-CN" altLang="en-US" sz="2400">
              <a:latin typeface="楷体" panose="02010609060101010101" pitchFamily="49" charset="-122"/>
              <a:ea typeface="楷体" panose="02010609060101010101" pitchFamily="49" charset="-122"/>
            </a:endParaRPr>
          </a:p>
        </p:txBody>
      </p:sp>
      <p:sp>
        <p:nvSpPr>
          <p:cNvPr id="142348" name="Rectangle 11"/>
          <p:cNvSpPr>
            <a:spLocks noChangeArrowheads="1"/>
          </p:cNvSpPr>
          <p:nvPr/>
        </p:nvSpPr>
        <p:spPr bwMode="auto">
          <a:xfrm>
            <a:off x="796925" y="4840288"/>
            <a:ext cx="7558088"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FontTx/>
              <a:buNone/>
            </a:pPr>
            <a:r>
              <a:rPr kumimoji="1" lang="zh-CN" altLang="en-GB" sz="2400">
                <a:latin typeface="楷体" panose="02010609060101010101" pitchFamily="49" charset="-122"/>
                <a:ea typeface="楷体" panose="02010609060101010101" pitchFamily="49" charset="-122"/>
              </a:rPr>
              <a:t>如下两种稳态假定，分别得到两种不同形式的三元共聚物组成方程：</a:t>
            </a:r>
            <a:endParaRPr kumimoji="1" lang="zh-CN" altLang="en-US" sz="2400">
              <a:latin typeface="楷体" panose="02010609060101010101" pitchFamily="49" charset="-122"/>
              <a:ea typeface="楷体" panose="02010609060101010101" pitchFamily="49" charset="-122"/>
            </a:endParaRPr>
          </a:p>
        </p:txBody>
      </p:sp>
    </p:spTree>
  </p:cSld>
  <p:clrMapOvr>
    <a:masterClrMapping/>
  </p:clrMapOvr>
  <p:transition spd="slow"/>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6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2245B4BC-8012-4BD4-8D65-E5EB7C4C29DE}"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104</a:t>
            </a:fld>
            <a:endParaRPr lang="en-US" altLang="zh-CN" sz="1400">
              <a:latin typeface="Times New Roman" panose="02020603050405020304" pitchFamily="18" charset="0"/>
              <a:ea typeface="宋体" panose="02010600030101010101" pitchFamily="2" charset="-122"/>
            </a:endParaRPr>
          </a:p>
        </p:txBody>
      </p:sp>
      <p:sp>
        <p:nvSpPr>
          <p:cNvPr id="143363" name="Text Box 2"/>
          <p:cNvSpPr txBox="1">
            <a:spLocks noChangeArrowheads="1"/>
          </p:cNvSpPr>
          <p:nvPr/>
        </p:nvSpPr>
        <p:spPr bwMode="auto">
          <a:xfrm>
            <a:off x="323850" y="460375"/>
            <a:ext cx="472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Alfrey-Goldfinger</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稳态假定： </a:t>
            </a:r>
          </a:p>
        </p:txBody>
      </p:sp>
      <p:graphicFrame>
        <p:nvGraphicFramePr>
          <p:cNvPr id="143364" name="Object 4"/>
          <p:cNvGraphicFramePr>
            <a:graphicFrameLocks noChangeAspect="1"/>
          </p:cNvGraphicFramePr>
          <p:nvPr/>
        </p:nvGraphicFramePr>
        <p:xfrm>
          <a:off x="333375" y="1046163"/>
          <a:ext cx="3235325" cy="1649412"/>
        </p:xfrm>
        <a:graphic>
          <a:graphicData uri="http://schemas.openxmlformats.org/presentationml/2006/ole">
            <mc:AlternateContent xmlns:mc="http://schemas.openxmlformats.org/markup-compatibility/2006">
              <mc:Choice xmlns:v="urn:schemas-microsoft-com:vml" Requires="v">
                <p:oleObj spid="_x0000_s143393" name="公式" r:id="rId3" imgW="1435100" imgH="723900" progId="Equation.3">
                  <p:embed/>
                </p:oleObj>
              </mc:Choice>
              <mc:Fallback>
                <p:oleObj name="公式" r:id="rId3" imgW="1435100" imgH="723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75" y="1046163"/>
                        <a:ext cx="3235325" cy="164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3365" name="Object 6"/>
          <p:cNvGraphicFramePr>
            <a:graphicFrameLocks noChangeAspect="1"/>
          </p:cNvGraphicFramePr>
          <p:nvPr/>
        </p:nvGraphicFramePr>
        <p:xfrm>
          <a:off x="303213" y="3500438"/>
          <a:ext cx="8578850" cy="2533650"/>
        </p:xfrm>
        <a:graphic>
          <a:graphicData uri="http://schemas.openxmlformats.org/presentationml/2006/ole">
            <mc:AlternateContent xmlns:mc="http://schemas.openxmlformats.org/markup-compatibility/2006">
              <mc:Choice xmlns:v="urn:schemas-microsoft-com:vml" Requires="v">
                <p:oleObj spid="_x0000_s143394" name="公式" r:id="rId5" imgW="5041900" imgH="1473200" progId="Equation.3">
                  <p:embed/>
                </p:oleObj>
              </mc:Choice>
              <mc:Fallback>
                <p:oleObj name="公式" r:id="rId5" imgW="5041900" imgH="1473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3213" y="3500438"/>
                        <a:ext cx="8578850"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366" name="Text Box 8"/>
          <p:cNvSpPr txBox="1">
            <a:spLocks noChangeArrowheads="1"/>
          </p:cNvSpPr>
          <p:nvPr/>
        </p:nvSpPr>
        <p:spPr bwMode="auto">
          <a:xfrm>
            <a:off x="323850" y="2946400"/>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三元共聚物组成比为： </a:t>
            </a:r>
          </a:p>
        </p:txBody>
      </p:sp>
    </p:spTree>
  </p:cSld>
  <p:clrMapOvr>
    <a:masterClrMapping/>
  </p:clrMapOvr>
  <p:transition spd="slow"/>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F73064A-4A65-47F1-B686-38FA2A6158E5}"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105</a:t>
            </a:fld>
            <a:endParaRPr lang="en-US" altLang="zh-CN" sz="1400">
              <a:latin typeface="Times New Roman" panose="02020603050405020304" pitchFamily="18" charset="0"/>
              <a:ea typeface="宋体" panose="02010600030101010101" pitchFamily="2" charset="-122"/>
            </a:endParaRPr>
          </a:p>
        </p:txBody>
      </p:sp>
      <p:sp>
        <p:nvSpPr>
          <p:cNvPr id="144387" name="Text Box 2"/>
          <p:cNvSpPr txBox="1">
            <a:spLocks noChangeArrowheads="1"/>
          </p:cNvSpPr>
          <p:nvPr/>
        </p:nvSpPr>
        <p:spPr bwMode="auto">
          <a:xfrm>
            <a:off x="611188" y="476250"/>
            <a:ext cx="647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Valvassori-Sartori</a:t>
            </a:r>
            <a:r>
              <a:rPr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的稳态假定：</a:t>
            </a:r>
          </a:p>
        </p:txBody>
      </p:sp>
      <p:graphicFrame>
        <p:nvGraphicFramePr>
          <p:cNvPr id="144388" name="Object 3"/>
          <p:cNvGraphicFramePr>
            <a:graphicFrameLocks noChangeAspect="1"/>
          </p:cNvGraphicFramePr>
          <p:nvPr/>
        </p:nvGraphicFramePr>
        <p:xfrm>
          <a:off x="684213" y="2327275"/>
          <a:ext cx="7656512" cy="3067050"/>
        </p:xfrm>
        <a:graphic>
          <a:graphicData uri="http://schemas.openxmlformats.org/presentationml/2006/ole">
            <mc:AlternateContent xmlns:mc="http://schemas.openxmlformats.org/markup-compatibility/2006">
              <mc:Choice xmlns:v="urn:schemas-microsoft-com:vml" Requires="v">
                <p:oleObj spid="_x0000_s144418" name="公式" r:id="rId3" imgW="3454400" imgH="1473200" progId="Equation.3">
                  <p:embed/>
                </p:oleObj>
              </mc:Choice>
              <mc:Fallback>
                <p:oleObj name="公式" r:id="rId3" imgW="3454400" imgH="147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2327275"/>
                        <a:ext cx="7656512"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4389" name="Object 5"/>
          <p:cNvGraphicFramePr>
            <a:graphicFrameLocks noChangeAspect="1"/>
          </p:cNvGraphicFramePr>
          <p:nvPr/>
        </p:nvGraphicFramePr>
        <p:xfrm>
          <a:off x="793750" y="1098550"/>
          <a:ext cx="6508750" cy="525463"/>
        </p:xfrm>
        <a:graphic>
          <a:graphicData uri="http://schemas.openxmlformats.org/presentationml/2006/ole">
            <mc:AlternateContent xmlns:mc="http://schemas.openxmlformats.org/markup-compatibility/2006">
              <mc:Choice xmlns:v="urn:schemas-microsoft-com:vml" Requires="v">
                <p:oleObj spid="_x0000_s144419" name="公式" r:id="rId5" imgW="2832100" imgH="228600" progId="Equation.3">
                  <p:embed/>
                </p:oleObj>
              </mc:Choice>
              <mc:Fallback>
                <p:oleObj name="公式" r:id="rId5" imgW="28321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750" y="1098550"/>
                        <a:ext cx="6508750"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4390" name="Text Box 7"/>
          <p:cNvSpPr txBox="1">
            <a:spLocks noChangeArrowheads="1"/>
          </p:cNvSpPr>
          <p:nvPr/>
        </p:nvSpPr>
        <p:spPr bwMode="auto">
          <a:xfrm>
            <a:off x="628650" y="1870075"/>
            <a:ext cx="365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a:latin typeface="楷体" panose="02010609060101010101" pitchFamily="49" charset="-122"/>
                <a:ea typeface="楷体" panose="02010609060101010101" pitchFamily="49" charset="-122"/>
              </a:rPr>
              <a:t>三元共聚物组成比为： </a:t>
            </a:r>
          </a:p>
        </p:txBody>
      </p:sp>
      <p:sp>
        <p:nvSpPr>
          <p:cNvPr id="144391" name="Rectangle 8"/>
          <p:cNvSpPr>
            <a:spLocks noChangeArrowheads="1"/>
          </p:cNvSpPr>
          <p:nvPr/>
        </p:nvSpPr>
        <p:spPr bwMode="auto">
          <a:xfrm>
            <a:off x="611188" y="5572125"/>
            <a:ext cx="8064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GB" sz="2400">
                <a:latin typeface="Times New Roman" panose="02020603050405020304" pitchFamily="18" charset="0"/>
                <a:ea typeface="宋体" panose="02010600030101010101" pitchFamily="2" charset="-122"/>
              </a:rPr>
              <a:t> </a:t>
            </a:r>
            <a:r>
              <a:rPr kumimoji="1" lang="zh-CN" altLang="en-GB" sz="2400">
                <a:latin typeface="楷体" panose="02010609060101010101" pitchFamily="49" charset="-122"/>
                <a:ea typeface="楷体" panose="02010609060101010101" pitchFamily="49" charset="-122"/>
              </a:rPr>
              <a:t>若三种单体的两两竞聚率已知，可估算其三元共聚物组成</a:t>
            </a:r>
            <a:r>
              <a:rPr kumimoji="1" lang="zh-CN" altLang="en-US" sz="2400">
                <a:latin typeface="楷体" panose="02010609060101010101" pitchFamily="49" charset="-122"/>
                <a:ea typeface="楷体" panose="02010609060101010101" pitchFamily="49" charset="-122"/>
              </a:rPr>
              <a:t>。</a:t>
            </a:r>
          </a:p>
        </p:txBody>
      </p:sp>
    </p:spTree>
  </p:cSld>
  <p:clrMapOvr>
    <a:masterClrMapping/>
  </p:clrMapOvr>
  <p:transition spd="slow"/>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541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57977104-478B-4CD2-A3C0-73C2BA7C455D}"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106</a:t>
            </a:fld>
            <a:endParaRPr lang="en-US" altLang="zh-CN" sz="1400">
              <a:latin typeface="Times New Roman" panose="02020603050405020304" pitchFamily="18" charset="0"/>
              <a:ea typeface="宋体" panose="02010600030101010101" pitchFamily="2" charset="-122"/>
            </a:endParaRPr>
          </a:p>
        </p:txBody>
      </p:sp>
      <p:sp>
        <p:nvSpPr>
          <p:cNvPr id="145411" name="Text Box 2"/>
          <p:cNvSpPr txBox="1">
            <a:spLocks noChangeArrowheads="1"/>
          </p:cNvSpPr>
          <p:nvPr/>
        </p:nvSpPr>
        <p:spPr bwMode="auto">
          <a:xfrm>
            <a:off x="711200" y="1611313"/>
            <a:ext cx="6334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曲线拟合法</a:t>
            </a:r>
            <a:r>
              <a:rPr kumimoji="1" lang="en-US" altLang="zh-CN" sz="2400">
                <a:latin typeface="Arial" panose="020B0604020202020204" pitchFamily="34" charset="0"/>
                <a:ea typeface="楷体" panose="02010609060101010101" pitchFamily="49" charset="-122"/>
                <a:cs typeface="Arial" panose="020B0604020202020204" pitchFamily="34" charset="0"/>
              </a:rPr>
              <a:t>(Method of Direct Curve Fitting) </a:t>
            </a:r>
          </a:p>
        </p:txBody>
      </p:sp>
      <p:sp>
        <p:nvSpPr>
          <p:cNvPr id="145412" name="Rectangle 3"/>
          <p:cNvSpPr>
            <a:spLocks noChangeArrowheads="1"/>
          </p:cNvSpPr>
          <p:nvPr/>
        </p:nvSpPr>
        <p:spPr bwMode="auto">
          <a:xfrm>
            <a:off x="712788" y="4906963"/>
            <a:ext cx="475138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0"/>
              </a:spcBef>
              <a:buFontTx/>
              <a:buNone/>
            </a:pPr>
            <a:r>
              <a:rPr kumimoji="1" lang="zh-CN" altLang="en-US" sz="2400">
                <a:solidFill>
                  <a:srgbClr val="FF0000"/>
                </a:solidFill>
                <a:latin typeface="楷体" panose="02010609060101010101" pitchFamily="49" charset="-122"/>
                <a:ea typeface="楷体" panose="02010609060101010101" pitchFamily="49" charset="-122"/>
              </a:rPr>
              <a:t>采用计算机，较为简便何准确。</a:t>
            </a:r>
          </a:p>
        </p:txBody>
      </p:sp>
      <p:sp>
        <p:nvSpPr>
          <p:cNvPr id="145413" name="Rectangle 4"/>
          <p:cNvSpPr>
            <a:spLocks noChangeArrowheads="1"/>
          </p:cNvSpPr>
          <p:nvPr/>
        </p:nvSpPr>
        <p:spPr bwMode="auto">
          <a:xfrm>
            <a:off x="684213" y="2416175"/>
            <a:ext cx="7850187"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a:latin typeface="楷体" panose="02010609060101010101" pitchFamily="49" charset="-122"/>
                <a:ea typeface="楷体" panose="02010609060101010101" pitchFamily="49" charset="-122"/>
              </a:rPr>
              <a:t>将多组组成不同的单体配料</a:t>
            </a:r>
            <a:r>
              <a:rPr kumimoji="1" lang="en-US" altLang="zh-CN" sz="2400">
                <a:latin typeface="楷体" panose="02010609060101010101" pitchFamily="49" charset="-122"/>
                <a:ea typeface="楷体" panose="02010609060101010101" pitchFamily="49" charset="-122"/>
              </a:rPr>
              <a:t>(f</a:t>
            </a:r>
            <a:r>
              <a:rPr kumimoji="1" lang="en-US" altLang="zh-CN" sz="2400" baseline="-25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进行共聚，控制低转化率，共聚物分离精制后，测定其组成</a:t>
            </a:r>
            <a:r>
              <a:rPr kumimoji="1" lang="en-US" altLang="zh-CN" sz="2400">
                <a:latin typeface="楷体" panose="02010609060101010101" pitchFamily="49" charset="-122"/>
                <a:ea typeface="楷体" panose="02010609060101010101" pitchFamily="49" charset="-122"/>
              </a:rPr>
              <a:t>F</a:t>
            </a:r>
            <a:r>
              <a:rPr kumimoji="1" lang="en-US" altLang="zh-CN" sz="2400" baseline="-30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作</a:t>
            </a:r>
            <a:r>
              <a:rPr kumimoji="1" lang="en-US" altLang="zh-CN" sz="2400">
                <a:latin typeface="楷体" panose="02010609060101010101" pitchFamily="49" charset="-122"/>
                <a:ea typeface="楷体" panose="02010609060101010101" pitchFamily="49" charset="-122"/>
              </a:rPr>
              <a:t>F</a:t>
            </a:r>
            <a:r>
              <a:rPr kumimoji="1" lang="en-US" altLang="zh-CN" sz="2400" baseline="-30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～f</a:t>
            </a:r>
            <a:r>
              <a:rPr kumimoji="1" lang="en-US" altLang="zh-CN" sz="2400" baseline="-30000">
                <a:latin typeface="楷体" panose="02010609060101010101" pitchFamily="49" charset="-122"/>
                <a:ea typeface="楷体" panose="02010609060101010101" pitchFamily="49" charset="-122"/>
              </a:rPr>
              <a:t>1</a:t>
            </a:r>
            <a:r>
              <a:rPr kumimoji="1" lang="zh-CN" altLang="en-US" sz="2400">
                <a:latin typeface="楷体" panose="02010609060101010101" pitchFamily="49" charset="-122"/>
                <a:ea typeface="楷体" panose="02010609060101010101" pitchFamily="49" charset="-122"/>
              </a:rPr>
              <a:t>图，根据其图形由试差法求得</a:t>
            </a:r>
            <a:r>
              <a:rPr kumimoji="1" lang="en-US" altLang="zh-CN" sz="2400">
                <a:latin typeface="楷体" panose="02010609060101010101" pitchFamily="49" charset="-122"/>
                <a:ea typeface="楷体" panose="02010609060101010101" pitchFamily="49" charset="-122"/>
              </a:rPr>
              <a:t>r</a:t>
            </a:r>
            <a:r>
              <a:rPr kumimoji="1" lang="en-US" altLang="zh-CN" sz="2400" baseline="-25000">
                <a:latin typeface="楷体" panose="02010609060101010101" pitchFamily="49" charset="-122"/>
                <a:ea typeface="楷体" panose="02010609060101010101" pitchFamily="49" charset="-122"/>
              </a:rPr>
              <a:t>1</a:t>
            </a:r>
            <a:r>
              <a:rPr kumimoji="1" lang="en-US" altLang="zh-CN" sz="2400">
                <a:latin typeface="楷体" panose="02010609060101010101" pitchFamily="49" charset="-122"/>
                <a:ea typeface="楷体" panose="02010609060101010101" pitchFamily="49" charset="-122"/>
              </a:rPr>
              <a:t>、r</a:t>
            </a:r>
            <a:r>
              <a:rPr kumimoji="1" lang="en-US" altLang="zh-CN" sz="2400" baseline="-25000">
                <a:latin typeface="楷体" panose="02010609060101010101" pitchFamily="49" charset="-122"/>
                <a:ea typeface="楷体" panose="02010609060101010101" pitchFamily="49" charset="-122"/>
              </a:rPr>
              <a:t>2</a:t>
            </a:r>
            <a:r>
              <a:rPr kumimoji="1" lang="en-US" altLang="zh-CN" sz="2400">
                <a:latin typeface="楷体" panose="02010609060101010101" pitchFamily="49" charset="-122"/>
                <a:ea typeface="楷体" panose="02010609060101010101" pitchFamily="49" charset="-122"/>
              </a:rPr>
              <a:t>。</a:t>
            </a:r>
          </a:p>
        </p:txBody>
      </p:sp>
      <p:sp>
        <p:nvSpPr>
          <p:cNvPr id="145414" name="Rectangle 5"/>
          <p:cNvSpPr>
            <a:spLocks noChangeArrowheads="1"/>
          </p:cNvSpPr>
          <p:nvPr/>
        </p:nvSpPr>
        <p:spPr bwMode="auto">
          <a:xfrm>
            <a:off x="323850" y="371475"/>
            <a:ext cx="48768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§4.7</a:t>
            </a:r>
            <a:r>
              <a:rPr kumimoji="1" lang="zh-CN" altLang="en-US" sz="2400" b="1">
                <a:latin typeface="Arial" panose="020B0604020202020204" pitchFamily="34" charset="0"/>
                <a:ea typeface="楷体" panose="02010609060101010101" pitchFamily="49" charset="-122"/>
                <a:cs typeface="Arial" panose="020B0604020202020204" pitchFamily="34" charset="0"/>
              </a:rPr>
              <a:t> 竞聚率的测定</a:t>
            </a:r>
            <a:endParaRPr kumimoji="1" lang="en-US" altLang="zh-CN" sz="240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slow"/>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643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70F86DC-C605-4BC3-8842-9DCB5CE8D9C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107</a:t>
            </a:fld>
            <a:endParaRPr lang="en-US" altLang="zh-CN" sz="1400">
              <a:latin typeface="Times New Roman" panose="02020603050405020304" pitchFamily="18" charset="0"/>
              <a:ea typeface="宋体" panose="02010600030101010101" pitchFamily="2" charset="-122"/>
            </a:endParaRPr>
          </a:p>
        </p:txBody>
      </p:sp>
      <p:sp>
        <p:nvSpPr>
          <p:cNvPr id="146435" name="Text Box 2"/>
          <p:cNvSpPr txBox="1">
            <a:spLocks noChangeArrowheads="1"/>
          </p:cNvSpPr>
          <p:nvPr/>
        </p:nvSpPr>
        <p:spPr bwMode="auto">
          <a:xfrm>
            <a:off x="395288" y="306388"/>
            <a:ext cx="19050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直线交叉法</a:t>
            </a:r>
          </a:p>
        </p:txBody>
      </p:sp>
      <p:graphicFrame>
        <p:nvGraphicFramePr>
          <p:cNvPr id="146436" name="Object 3"/>
          <p:cNvGraphicFramePr>
            <a:graphicFrameLocks noChangeAspect="1"/>
          </p:cNvGraphicFramePr>
          <p:nvPr/>
        </p:nvGraphicFramePr>
        <p:xfrm>
          <a:off x="4414838" y="1584325"/>
          <a:ext cx="4217987" cy="1050925"/>
        </p:xfrm>
        <a:graphic>
          <a:graphicData uri="http://schemas.openxmlformats.org/presentationml/2006/ole">
            <mc:AlternateContent xmlns:mc="http://schemas.openxmlformats.org/markup-compatibility/2006">
              <mc:Choice xmlns:v="urn:schemas-microsoft-com:vml" Requires="v">
                <p:oleObj spid="_x0000_s146470" name="公式" r:id="rId3" imgW="2184400" imgH="533400" progId="Equation.3">
                  <p:embed/>
                </p:oleObj>
              </mc:Choice>
              <mc:Fallback>
                <p:oleObj name="公式" r:id="rId3" imgW="2184400" imgH="533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4838" y="1584325"/>
                        <a:ext cx="4217987"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6437" name="Text Box 4"/>
          <p:cNvSpPr txBox="1">
            <a:spLocks noChangeArrowheads="1"/>
          </p:cNvSpPr>
          <p:nvPr/>
        </p:nvSpPr>
        <p:spPr bwMode="auto">
          <a:xfrm>
            <a:off x="379413" y="5759450"/>
            <a:ext cx="47498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交叉区域大小与实验准确度有关。</a:t>
            </a:r>
          </a:p>
        </p:txBody>
      </p:sp>
      <p:sp>
        <p:nvSpPr>
          <p:cNvPr id="146438" name="Text Box 5"/>
          <p:cNvSpPr txBox="1">
            <a:spLocks noChangeArrowheads="1"/>
          </p:cNvSpPr>
          <p:nvPr/>
        </p:nvSpPr>
        <p:spPr bwMode="auto">
          <a:xfrm>
            <a:off x="379413" y="2881313"/>
            <a:ext cx="5924550" cy="277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几组单体配比，</a:t>
            </a:r>
            <a:r>
              <a:rPr kumimoji="1" lang="zh-CN" altLang="en-US" sz="2400">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 </a:t>
            </a:r>
            <a:r>
              <a:rPr kumimoji="1" lang="zh-CN" altLang="en-US" sz="2400">
                <a:latin typeface="Arial" panose="020B0604020202020204" pitchFamily="34" charset="0"/>
                <a:ea typeface="楷体" panose="02010609060101010101" pitchFamily="49" charset="-122"/>
                <a:cs typeface="Arial" panose="020B0604020202020204" pitchFamily="34" charset="0"/>
              </a:rPr>
              <a:t>对应几组共聚物组成</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d[M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]/d[M</a:t>
            </a:r>
            <a:r>
              <a:rPr kumimoji="1" lang="en-US" altLang="zh-CN" sz="2400" baseline="-25000">
                <a:solidFill>
                  <a:srgbClr val="FF0000"/>
                </a:solidFill>
                <a:latin typeface="Arial" panose="020B0604020202020204" pitchFamily="34" charset="0"/>
                <a:ea typeface="楷体" panose="02010609060101010101" pitchFamily="49" charset="-122"/>
                <a:cs typeface="Arial" panose="020B0604020202020204" pitchFamily="34" charset="0"/>
              </a:rPr>
              <a:t>2</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a:latin typeface="Arial" panose="020B0604020202020204" pitchFamily="34" charset="0"/>
                <a:ea typeface="楷体" panose="02010609060101010101" pitchFamily="49" charset="-122"/>
                <a:cs typeface="Arial" panose="020B0604020202020204" pitchFamily="34" charset="0"/>
              </a:rPr>
              <a:t>，</a:t>
            </a:r>
            <a:r>
              <a:rPr kumimoji="1" lang="zh-CN" altLang="en-US" sz="2400">
                <a:latin typeface="Arial" panose="020B0604020202020204" pitchFamily="34" charset="0"/>
                <a:ea typeface="楷体" panose="02010609060101010101" pitchFamily="49" charset="-122"/>
                <a:cs typeface="Arial" panose="020B0604020202020204" pitchFamily="34" charset="0"/>
              </a:rPr>
              <a:t>代入上式，不同的</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 </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zh-CN" altLang="en-US" sz="2400">
                <a:latin typeface="Arial" panose="020B0604020202020204" pitchFamily="34" charset="0"/>
                <a:ea typeface="楷体" panose="02010609060101010101" pitchFamily="49" charset="-122"/>
                <a:cs typeface="Arial" panose="020B0604020202020204" pitchFamily="34" charset="0"/>
              </a:rPr>
              <a:t>直线。</a:t>
            </a:r>
          </a:p>
          <a:p>
            <a:pPr eaLnBrk="1" hangingPunct="1">
              <a:lnSpc>
                <a:spcPct val="125000"/>
              </a:lnSpc>
              <a:spcBef>
                <a:spcPct val="50000"/>
              </a:spcBef>
              <a:buFontTx/>
              <a:buNone/>
            </a:pPr>
            <a:endParaRPr kumimoji="1" lang="en-US" altLang="zh-CN" sz="2400">
              <a:latin typeface="Arial" panose="020B0604020202020204" pitchFamily="34" charset="0"/>
              <a:ea typeface="楷体" panose="02010609060101010101" pitchFamily="49" charset="-122"/>
              <a:cs typeface="Arial" panose="020B0604020202020204" pitchFamily="34" charset="0"/>
            </a:endParaRPr>
          </a:p>
          <a:p>
            <a:pPr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直线交点或交叉区域重心座标即为</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a:t>
            </a:r>
            <a:r>
              <a:rPr kumimoji="1" lang="en-US" altLang="zh-CN" sz="2400">
                <a:latin typeface="Arial" panose="020B0604020202020204" pitchFamily="34" charset="0"/>
                <a:ea typeface="楷体" panose="02010609060101010101" pitchFamily="49" charset="-122"/>
                <a:cs typeface="Arial" panose="020B0604020202020204" pitchFamily="34" charset="0"/>
              </a:rPr>
              <a:t>。 </a:t>
            </a:r>
          </a:p>
        </p:txBody>
      </p:sp>
      <p:graphicFrame>
        <p:nvGraphicFramePr>
          <p:cNvPr id="146439" name="Object 6"/>
          <p:cNvGraphicFramePr>
            <a:graphicFrameLocks noChangeAspect="1"/>
          </p:cNvGraphicFramePr>
          <p:nvPr/>
        </p:nvGraphicFramePr>
        <p:xfrm>
          <a:off x="395288" y="1012825"/>
          <a:ext cx="3468687" cy="892175"/>
        </p:xfrm>
        <a:graphic>
          <a:graphicData uri="http://schemas.openxmlformats.org/presentationml/2006/ole">
            <mc:AlternateContent xmlns:mc="http://schemas.openxmlformats.org/markup-compatibility/2006">
              <mc:Choice xmlns:v="urn:schemas-microsoft-com:vml" Requires="v">
                <p:oleObj spid="_x0000_s146471" name="公式" r:id="rId5" imgW="1866900" imgH="431800" progId="Equation.3">
                  <p:embed/>
                </p:oleObj>
              </mc:Choice>
              <mc:Fallback>
                <p:oleObj name="公式" r:id="rId5" imgW="1866900" imgH="431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5288" y="1012825"/>
                        <a:ext cx="3468687"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46440" name="Picture 10" descr="0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4413" y="3013075"/>
            <a:ext cx="2706687" cy="25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1" name="Text Box 11"/>
          <p:cNvSpPr txBox="1">
            <a:spLocks noChangeArrowheads="1"/>
          </p:cNvSpPr>
          <p:nvPr/>
        </p:nvSpPr>
        <p:spPr bwMode="auto">
          <a:xfrm>
            <a:off x="6303963" y="5549900"/>
            <a:ext cx="3275012" cy="42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000">
                <a:latin typeface="楷体" panose="02010609060101010101" pitchFamily="49" charset="-122"/>
                <a:ea typeface="楷体" panose="02010609060101010101" pitchFamily="49" charset="-122"/>
              </a:rPr>
              <a:t>直线交点法求</a:t>
            </a:r>
            <a:r>
              <a:rPr kumimoji="1" lang="en-GB" altLang="zh-CN" sz="2000">
                <a:latin typeface="楷体" panose="02010609060101010101" pitchFamily="49" charset="-122"/>
                <a:ea typeface="楷体" panose="02010609060101010101" pitchFamily="49" charset="-122"/>
              </a:rPr>
              <a:t>r</a:t>
            </a:r>
            <a:r>
              <a:rPr kumimoji="1" lang="en-GB" altLang="zh-CN" sz="2000" baseline="-25000">
                <a:latin typeface="楷体" panose="02010609060101010101" pitchFamily="49" charset="-122"/>
                <a:ea typeface="楷体" panose="02010609060101010101" pitchFamily="49" charset="-122"/>
              </a:rPr>
              <a:t>1</a:t>
            </a:r>
            <a:r>
              <a:rPr kumimoji="1" lang="en-GB" altLang="zh-CN" sz="2000">
                <a:latin typeface="楷体" panose="02010609060101010101" pitchFamily="49" charset="-122"/>
                <a:ea typeface="楷体" panose="02010609060101010101" pitchFamily="49" charset="-122"/>
              </a:rPr>
              <a:t>、r</a:t>
            </a:r>
            <a:r>
              <a:rPr kumimoji="1" lang="en-GB" altLang="zh-CN" sz="2000" baseline="-25000">
                <a:latin typeface="楷体" panose="02010609060101010101" pitchFamily="49" charset="-122"/>
                <a:ea typeface="楷体" panose="02010609060101010101" pitchFamily="49" charset="-122"/>
              </a:rPr>
              <a:t>2</a:t>
            </a:r>
            <a:r>
              <a:rPr kumimoji="1" lang="zh-CN" altLang="en-GB" sz="2000">
                <a:latin typeface="楷体" panose="02010609060101010101" pitchFamily="49" charset="-122"/>
                <a:ea typeface="楷体" panose="02010609060101010101" pitchFamily="49" charset="-122"/>
              </a:rPr>
              <a:t>值</a:t>
            </a:r>
            <a:endParaRPr kumimoji="1" lang="zh-CN" altLang="en-US" sz="2000">
              <a:latin typeface="楷体" panose="02010609060101010101" pitchFamily="49" charset="-122"/>
              <a:ea typeface="楷体" panose="02010609060101010101" pitchFamily="49" charset="-122"/>
            </a:endParaRPr>
          </a:p>
        </p:txBody>
      </p:sp>
      <p:sp>
        <p:nvSpPr>
          <p:cNvPr id="3" name="箭头: 虚尾 2">
            <a:extLst>
              <a:ext uri="{FF2B5EF4-FFF2-40B4-BE49-F238E27FC236}">
                <a16:creationId xmlns:a16="http://schemas.microsoft.com/office/drawing/2014/main" id="{CDB5BA6E-4AF2-4038-80F5-4FFF25333415}"/>
              </a:ext>
            </a:extLst>
          </p:cNvPr>
          <p:cNvSpPr/>
          <p:nvPr/>
        </p:nvSpPr>
        <p:spPr>
          <a:xfrm>
            <a:off x="3995738" y="1304925"/>
            <a:ext cx="576262" cy="347663"/>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 name="箭头: 虚尾 3">
            <a:extLst>
              <a:ext uri="{FF2B5EF4-FFF2-40B4-BE49-F238E27FC236}">
                <a16:creationId xmlns:a16="http://schemas.microsoft.com/office/drawing/2014/main" id="{3AD2F1C7-A7F6-4D05-BCAB-61912902FCF5}"/>
              </a:ext>
            </a:extLst>
          </p:cNvPr>
          <p:cNvSpPr/>
          <p:nvPr/>
        </p:nvSpPr>
        <p:spPr>
          <a:xfrm rot="5400000">
            <a:off x="2698750" y="4244975"/>
            <a:ext cx="803275" cy="447675"/>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745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733A891-7903-4D01-8CBD-E745E658A12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108</a:t>
            </a:fld>
            <a:endParaRPr lang="en-US" altLang="zh-CN" sz="1400">
              <a:latin typeface="Times New Roman" panose="02020603050405020304" pitchFamily="18" charset="0"/>
              <a:ea typeface="宋体" panose="02010600030101010101" pitchFamily="2" charset="-122"/>
            </a:endParaRPr>
          </a:p>
        </p:txBody>
      </p:sp>
      <p:sp>
        <p:nvSpPr>
          <p:cNvPr id="147459" name="Rectangle 2"/>
          <p:cNvSpPr>
            <a:spLocks noChangeArrowheads="1"/>
          </p:cNvSpPr>
          <p:nvPr/>
        </p:nvSpPr>
        <p:spPr bwMode="auto">
          <a:xfrm>
            <a:off x="315913" y="4006850"/>
            <a:ext cx="8305800"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在不同</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zh-CN" altLang="en-US" sz="2400">
                <a:latin typeface="Arial" panose="020B0604020202020204" pitchFamily="34" charset="0"/>
                <a:ea typeface="楷体" panose="02010609060101010101" pitchFamily="49" charset="-122"/>
                <a:cs typeface="Arial" panose="020B0604020202020204" pitchFamily="34" charset="0"/>
              </a:rPr>
              <a:t>下共聚，测定</a:t>
            </a:r>
            <a:r>
              <a:rPr kumimoji="1" lang="en-US" altLang="zh-CN" sz="2400">
                <a:latin typeface="Arial" panose="020B0604020202020204" pitchFamily="34" charset="0"/>
                <a:ea typeface="楷体" panose="02010609060101010101" pitchFamily="49" charset="-122"/>
                <a:cs typeface="Arial" panose="020B0604020202020204" pitchFamily="34" charset="0"/>
              </a:rPr>
              <a:t>ρ，</a:t>
            </a:r>
          </a:p>
          <a:p>
            <a:pPr eaLnBrk="1" hangingPunct="1">
              <a:lnSpc>
                <a:spcPct val="150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以                 对        作图，由直线斜率、截距得</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a:t>
            </a:r>
            <a:endParaRPr kumimoji="1" lang="en-US" altLang="zh-CN" sz="240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47460" name="Object 4"/>
          <p:cNvGraphicFramePr>
            <a:graphicFrameLocks noChangeAspect="1"/>
          </p:cNvGraphicFramePr>
          <p:nvPr/>
        </p:nvGraphicFramePr>
        <p:xfrm>
          <a:off x="4572000" y="2971800"/>
          <a:ext cx="1546225" cy="944563"/>
        </p:xfrm>
        <a:graphic>
          <a:graphicData uri="http://schemas.openxmlformats.org/presentationml/2006/ole">
            <mc:AlternateContent xmlns:mc="http://schemas.openxmlformats.org/markup-compatibility/2006">
              <mc:Choice xmlns:v="urn:schemas-microsoft-com:vml" Requires="v">
                <p:oleObj spid="_x0000_s147549" name="公式" r:id="rId4" imgW="761669" imgH="444307" progId="Equation.3">
                  <p:embed/>
                </p:oleObj>
              </mc:Choice>
              <mc:Fallback>
                <p:oleObj name="公式" r:id="rId4" imgW="761669" imgH="444307"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971800"/>
                        <a:ext cx="1546225"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1" name="Object 5"/>
          <p:cNvGraphicFramePr>
            <a:graphicFrameLocks noChangeAspect="1"/>
          </p:cNvGraphicFramePr>
          <p:nvPr/>
        </p:nvGraphicFramePr>
        <p:xfrm>
          <a:off x="947738" y="2998788"/>
          <a:ext cx="1697037" cy="887412"/>
        </p:xfrm>
        <a:graphic>
          <a:graphicData uri="http://schemas.openxmlformats.org/presentationml/2006/ole">
            <mc:AlternateContent xmlns:mc="http://schemas.openxmlformats.org/markup-compatibility/2006">
              <mc:Choice xmlns:v="urn:schemas-microsoft-com:vml" Requires="v">
                <p:oleObj spid="_x0000_s147550" name="公式" r:id="rId6" imgW="672808" imgH="444307" progId="Equation.3">
                  <p:embed/>
                </p:oleObj>
              </mc:Choice>
              <mc:Fallback>
                <p:oleObj name="公式" r:id="rId6" imgW="672808" imgH="444307"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738" y="2998788"/>
                        <a:ext cx="1697037"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2" name="Object 6"/>
          <p:cNvGraphicFramePr>
            <a:graphicFrameLocks noChangeAspect="1"/>
          </p:cNvGraphicFramePr>
          <p:nvPr/>
        </p:nvGraphicFramePr>
        <p:xfrm>
          <a:off x="4422775" y="1831975"/>
          <a:ext cx="4070350" cy="893763"/>
        </p:xfrm>
        <a:graphic>
          <a:graphicData uri="http://schemas.openxmlformats.org/presentationml/2006/ole">
            <mc:AlternateContent xmlns:mc="http://schemas.openxmlformats.org/markup-compatibility/2006">
              <mc:Choice xmlns:v="urn:schemas-microsoft-com:vml" Requires="v">
                <p:oleObj spid="_x0000_s147551" name="公式" r:id="rId8" imgW="1485900" imgH="457200" progId="Equation.3">
                  <p:embed/>
                </p:oleObj>
              </mc:Choice>
              <mc:Fallback>
                <p:oleObj name="公式" r:id="rId8" imgW="1485900" imgH="4572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2775" y="1831975"/>
                        <a:ext cx="407035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3" name="Object 7"/>
          <p:cNvGraphicFramePr>
            <a:graphicFrameLocks noChangeAspect="1"/>
          </p:cNvGraphicFramePr>
          <p:nvPr/>
        </p:nvGraphicFramePr>
        <p:xfrm>
          <a:off x="812800" y="4829175"/>
          <a:ext cx="1246188" cy="614363"/>
        </p:xfrm>
        <a:graphic>
          <a:graphicData uri="http://schemas.openxmlformats.org/presentationml/2006/ole">
            <mc:AlternateContent xmlns:mc="http://schemas.openxmlformats.org/markup-compatibility/2006">
              <mc:Choice xmlns:v="urn:schemas-microsoft-com:vml" Requires="v">
                <p:oleObj spid="_x0000_s147552" name="公式" r:id="rId10" imgW="355292" imgH="393359" progId="Equation.3">
                  <p:embed/>
                </p:oleObj>
              </mc:Choice>
              <mc:Fallback>
                <p:oleObj name="公式" r:id="rId10" imgW="355292" imgH="393359"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12800" y="4829175"/>
                        <a:ext cx="1246188"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7464" name="Object 8"/>
          <p:cNvGraphicFramePr>
            <a:graphicFrameLocks noChangeAspect="1"/>
          </p:cNvGraphicFramePr>
          <p:nvPr/>
        </p:nvGraphicFramePr>
        <p:xfrm>
          <a:off x="2554288" y="4719638"/>
          <a:ext cx="450850" cy="685800"/>
        </p:xfrm>
        <a:graphic>
          <a:graphicData uri="http://schemas.openxmlformats.org/presentationml/2006/ole">
            <mc:AlternateContent xmlns:mc="http://schemas.openxmlformats.org/markup-compatibility/2006">
              <mc:Choice xmlns:v="urn:schemas-microsoft-com:vml" Requires="v">
                <p:oleObj spid="_x0000_s147553" r:id="rId12" imgW="253890" imgH="393529" progId="Equation.3">
                  <p:embed/>
                </p:oleObj>
              </mc:Choice>
              <mc:Fallback>
                <p:oleObj r:id="rId12" imgW="253890" imgH="393529"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54288" y="4719638"/>
                        <a:ext cx="450850" cy="685800"/>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7465" name="Rectangle 9"/>
          <p:cNvSpPr>
            <a:spLocks noChangeArrowheads="1"/>
          </p:cNvSpPr>
          <p:nvPr/>
        </p:nvSpPr>
        <p:spPr bwMode="auto">
          <a:xfrm>
            <a:off x="292100" y="342900"/>
            <a:ext cx="320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截距斜率法</a:t>
            </a:r>
          </a:p>
        </p:txBody>
      </p:sp>
      <p:sp>
        <p:nvSpPr>
          <p:cNvPr id="147466" name="Rectangle 12"/>
          <p:cNvSpPr>
            <a:spLocks noChangeArrowheads="1"/>
          </p:cNvSpPr>
          <p:nvPr/>
        </p:nvSpPr>
        <p:spPr bwMode="auto">
          <a:xfrm>
            <a:off x="2582863" y="3168650"/>
            <a:ext cx="20320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a:latin typeface="楷体" panose="02010609060101010101" pitchFamily="49" charset="-122"/>
                <a:ea typeface="楷体" panose="02010609060101010101" pitchFamily="49" charset="-122"/>
              </a:rPr>
              <a:t>，单体配比；</a:t>
            </a:r>
          </a:p>
        </p:txBody>
      </p:sp>
      <p:sp>
        <p:nvSpPr>
          <p:cNvPr id="147467" name="Rectangle 13"/>
          <p:cNvSpPr>
            <a:spLocks noChangeArrowheads="1"/>
          </p:cNvSpPr>
          <p:nvPr/>
        </p:nvSpPr>
        <p:spPr bwMode="auto">
          <a:xfrm>
            <a:off x="6078538" y="3168650"/>
            <a:ext cx="20304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a:latin typeface="楷体" panose="02010609060101010101" pitchFamily="49" charset="-122"/>
                <a:ea typeface="楷体" panose="02010609060101010101" pitchFamily="49" charset="-122"/>
              </a:rPr>
              <a:t>，共聚物组成</a:t>
            </a:r>
          </a:p>
        </p:txBody>
      </p:sp>
      <p:graphicFrame>
        <p:nvGraphicFramePr>
          <p:cNvPr id="147468" name="Object 15"/>
          <p:cNvGraphicFramePr>
            <a:graphicFrameLocks noChangeAspect="1"/>
          </p:cNvGraphicFramePr>
          <p:nvPr/>
        </p:nvGraphicFramePr>
        <p:xfrm>
          <a:off x="363538" y="1011238"/>
          <a:ext cx="3775075" cy="952500"/>
        </p:xfrm>
        <a:graphic>
          <a:graphicData uri="http://schemas.openxmlformats.org/presentationml/2006/ole">
            <mc:AlternateContent xmlns:mc="http://schemas.openxmlformats.org/markup-compatibility/2006">
              <mc:Choice xmlns:v="urn:schemas-microsoft-com:vml" Requires="v">
                <p:oleObj spid="_x0000_s147554" name="公式" r:id="rId14" imgW="1954951" imgH="444307" progId="Equation.3">
                  <p:embed/>
                </p:oleObj>
              </mc:Choice>
              <mc:Fallback>
                <p:oleObj name="公式" r:id="rId14" imgW="1954951" imgH="444307" progId="Equation.3">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3538" y="1011238"/>
                        <a:ext cx="3775075"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7469" name="Rectangle 16"/>
          <p:cNvSpPr>
            <a:spLocks noChangeArrowheads="1"/>
          </p:cNvSpPr>
          <p:nvPr/>
        </p:nvSpPr>
        <p:spPr bwMode="auto">
          <a:xfrm>
            <a:off x="293688" y="5730875"/>
            <a:ext cx="7921625"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以上方法只适用于低转化率，高转化率下需采用积分法。</a:t>
            </a:r>
            <a:endParaRPr kumimoji="1" lang="en-US" altLang="zh-CN" sz="2400">
              <a:solidFill>
                <a:srgbClr val="FF0000"/>
              </a:solidFill>
              <a:latin typeface="楷体" panose="02010609060101010101" pitchFamily="49" charset="-122"/>
              <a:ea typeface="楷体" panose="02010609060101010101" pitchFamily="49" charset="-122"/>
            </a:endParaRPr>
          </a:p>
        </p:txBody>
      </p:sp>
      <p:sp>
        <p:nvSpPr>
          <p:cNvPr id="4" name="箭头: 虚尾 3">
            <a:extLst>
              <a:ext uri="{FF2B5EF4-FFF2-40B4-BE49-F238E27FC236}">
                <a16:creationId xmlns:a16="http://schemas.microsoft.com/office/drawing/2014/main" id="{FCD5532F-06C9-48C6-A2CE-641F71073C2B}"/>
              </a:ext>
            </a:extLst>
          </p:cNvPr>
          <p:cNvSpPr/>
          <p:nvPr/>
        </p:nvSpPr>
        <p:spPr>
          <a:xfrm>
            <a:off x="4284663" y="1250950"/>
            <a:ext cx="660400" cy="407988"/>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950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3BA385B-CCB2-4019-AD65-9753B89A04AB}"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109</a:t>
            </a:fld>
            <a:endParaRPr lang="en-US" altLang="zh-CN" sz="1400">
              <a:latin typeface="Times New Roman" panose="02020603050405020304" pitchFamily="18" charset="0"/>
              <a:ea typeface="宋体" panose="02010600030101010101" pitchFamily="2" charset="-122"/>
            </a:endParaRPr>
          </a:p>
        </p:txBody>
      </p:sp>
      <p:graphicFrame>
        <p:nvGraphicFramePr>
          <p:cNvPr id="149507" name="Object 3"/>
          <p:cNvGraphicFramePr>
            <a:graphicFrameLocks noChangeAspect="1"/>
          </p:cNvGraphicFramePr>
          <p:nvPr/>
        </p:nvGraphicFramePr>
        <p:xfrm>
          <a:off x="1476375" y="1412875"/>
          <a:ext cx="6496050" cy="3149600"/>
        </p:xfrm>
        <a:graphic>
          <a:graphicData uri="http://schemas.openxmlformats.org/presentationml/2006/ole">
            <mc:AlternateContent xmlns:mc="http://schemas.openxmlformats.org/markup-compatibility/2006">
              <mc:Choice xmlns:v="urn:schemas-microsoft-com:vml" Requires="v">
                <p:oleObj spid="_x0000_s149553" name="公式" r:id="rId3" imgW="2603500" imgH="1803400" progId="Equation.3">
                  <p:embed/>
                </p:oleObj>
              </mc:Choice>
              <mc:Fallback>
                <p:oleObj name="公式" r:id="rId3" imgW="2603500" imgH="1803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3203" t="-3937" r="-3203" b="-3937"/>
                      <a:stretch>
                        <a:fillRect/>
                      </a:stretch>
                    </p:blipFill>
                    <p:spPr bwMode="auto">
                      <a:xfrm>
                        <a:off x="1476375" y="1412875"/>
                        <a:ext cx="6496050" cy="314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9508" name="Object 4"/>
          <p:cNvGraphicFramePr>
            <a:graphicFrameLocks noChangeAspect="1"/>
          </p:cNvGraphicFramePr>
          <p:nvPr/>
        </p:nvGraphicFramePr>
        <p:xfrm>
          <a:off x="1755775" y="4437063"/>
          <a:ext cx="1668463" cy="946150"/>
        </p:xfrm>
        <a:graphic>
          <a:graphicData uri="http://schemas.openxmlformats.org/presentationml/2006/ole">
            <mc:AlternateContent xmlns:mc="http://schemas.openxmlformats.org/markup-compatibility/2006">
              <mc:Choice xmlns:v="urn:schemas-microsoft-com:vml" Requires="v">
                <p:oleObj spid="_x0000_s149554" name="公式" r:id="rId5" imgW="787058" imgH="444307" progId="Equation.3">
                  <p:embed/>
                </p:oleObj>
              </mc:Choice>
              <mc:Fallback>
                <p:oleObj name="公式" r:id="rId5" imgW="787058" imgH="444307"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5775" y="4437063"/>
                        <a:ext cx="16684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9509" name="Rectangle 9"/>
          <p:cNvSpPr>
            <a:spLocks noChangeArrowheads="1"/>
          </p:cNvSpPr>
          <p:nvPr/>
        </p:nvSpPr>
        <p:spPr bwMode="auto">
          <a:xfrm>
            <a:off x="395288" y="249238"/>
            <a:ext cx="14478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积分法</a:t>
            </a:r>
          </a:p>
        </p:txBody>
      </p:sp>
      <p:graphicFrame>
        <p:nvGraphicFramePr>
          <p:cNvPr id="149510" name="Object 11"/>
          <p:cNvGraphicFramePr>
            <a:graphicFrameLocks noChangeAspect="1"/>
          </p:cNvGraphicFramePr>
          <p:nvPr/>
        </p:nvGraphicFramePr>
        <p:xfrm>
          <a:off x="1641475" y="433388"/>
          <a:ext cx="3633788" cy="919162"/>
        </p:xfrm>
        <a:graphic>
          <a:graphicData uri="http://schemas.openxmlformats.org/presentationml/2006/ole">
            <mc:AlternateContent xmlns:mc="http://schemas.openxmlformats.org/markup-compatibility/2006">
              <mc:Choice xmlns:v="urn:schemas-microsoft-com:vml" Requires="v">
                <p:oleObj spid="_x0000_s149555" name="公式" r:id="rId7" imgW="1954951" imgH="444307" progId="Equation.3">
                  <p:embed/>
                </p:oleObj>
              </mc:Choice>
              <mc:Fallback>
                <p:oleObj name="公式" r:id="rId7" imgW="1954951" imgH="444307"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41475" y="433388"/>
                        <a:ext cx="3633788"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9511" name="Rectangle 12"/>
          <p:cNvSpPr>
            <a:spLocks noChangeArrowheads="1"/>
          </p:cNvSpPr>
          <p:nvPr/>
        </p:nvSpPr>
        <p:spPr bwMode="auto">
          <a:xfrm>
            <a:off x="468313" y="5727700"/>
            <a:ext cx="683895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积分法实验简单，</a:t>
            </a:r>
            <a:r>
              <a:rPr kumimoji="1" lang="en-US" altLang="zh-CN" sz="2400" b="1">
                <a:latin typeface="楷体" panose="02010609060101010101" pitchFamily="49" charset="-122"/>
                <a:ea typeface="楷体" panose="02010609060101010101" pitchFamily="49" charset="-122"/>
              </a:rPr>
              <a:t>Excel</a:t>
            </a:r>
            <a:r>
              <a:rPr kumimoji="1" lang="zh-CN" altLang="en-US" sz="2400" b="1">
                <a:latin typeface="楷体" panose="02010609060101010101" pitchFamily="49" charset="-122"/>
                <a:ea typeface="楷体" panose="02010609060101010101" pitchFamily="49" charset="-122"/>
              </a:rPr>
              <a:t>求算或者简单编程计算。</a:t>
            </a:r>
            <a:endParaRPr kumimoji="1" lang="en-US" altLang="zh-CN" sz="2400" b="1">
              <a:latin typeface="楷体" panose="02010609060101010101" pitchFamily="49" charset="-122"/>
              <a:ea typeface="楷体" panose="02010609060101010101" pitchFamily="49" charset="-122"/>
            </a:endParaRPr>
          </a:p>
        </p:txBody>
      </p:sp>
      <p:sp>
        <p:nvSpPr>
          <p:cNvPr id="149512" name="矩形 2"/>
          <p:cNvSpPr>
            <a:spLocks noChangeArrowheads="1"/>
          </p:cNvSpPr>
          <p:nvPr/>
        </p:nvSpPr>
        <p:spPr bwMode="auto">
          <a:xfrm>
            <a:off x="4572000" y="4622800"/>
            <a:ext cx="3262313"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solidFill>
                  <a:srgbClr val="FF0000"/>
                </a:solidFill>
                <a:latin typeface="楷体" panose="02010609060101010101" pitchFamily="49" charset="-122"/>
                <a:ea typeface="楷体" panose="02010609060101010101" pitchFamily="49" charset="-122"/>
              </a:rPr>
              <a:t>隐式函数，试差法求取</a:t>
            </a:r>
            <a:endParaRPr lang="zh-CN" altLang="en-US" sz="2400">
              <a:solidFill>
                <a:srgbClr val="FF0000"/>
              </a:solidFill>
              <a:latin typeface="楷体" panose="02010609060101010101" pitchFamily="49" charset="-122"/>
              <a:ea typeface="楷体" panose="02010609060101010101" pitchFamily="49" charset="-122"/>
            </a:endParaRPr>
          </a:p>
        </p:txBody>
      </p:sp>
      <p:sp>
        <p:nvSpPr>
          <p:cNvPr id="4" name="箭头: 虚尾 3">
            <a:extLst>
              <a:ext uri="{FF2B5EF4-FFF2-40B4-BE49-F238E27FC236}">
                <a16:creationId xmlns:a16="http://schemas.microsoft.com/office/drawing/2014/main" id="{6956A346-8BAB-4BD2-929C-C4D64D549BCC}"/>
              </a:ext>
            </a:extLst>
          </p:cNvPr>
          <p:cNvSpPr/>
          <p:nvPr/>
        </p:nvSpPr>
        <p:spPr>
          <a:xfrm>
            <a:off x="5508625" y="644525"/>
            <a:ext cx="820738" cy="460375"/>
          </a:xfrm>
          <a:prstGeom prst="striped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A7DC4A3-BD31-4E1D-9523-AC22EF7F1081}"/>
              </a:ext>
            </a:extLst>
          </p:cNvPr>
          <p:cNvSpPr>
            <a:spLocks noGrp="1"/>
          </p:cNvSpPr>
          <p:nvPr>
            <p:ph type="sldNum" sz="quarter" idx="12"/>
          </p:nvPr>
        </p:nvSpPr>
        <p:spPr/>
        <p:txBody>
          <a:bodyPr/>
          <a:lstStyle/>
          <a:p>
            <a:pPr>
              <a:defRPr/>
            </a:pPr>
            <a:fld id="{86E098D9-4C81-4484-AA8C-B81A2F052DB9}" type="slidenum">
              <a:rPr lang="zh-CN" altLang="en-US" smtClean="0"/>
              <a:pPr>
                <a:defRPr/>
              </a:pPr>
              <a:t>110</a:t>
            </a:fld>
            <a:endParaRPr lang="en-US" altLang="zh-CN"/>
          </a:p>
        </p:txBody>
      </p:sp>
      <p:sp>
        <p:nvSpPr>
          <p:cNvPr id="150531"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zh-CN" altLang="en-US" sz="1800"/>
          </a:p>
        </p:txBody>
      </p:sp>
      <p:sp>
        <p:nvSpPr>
          <p:cNvPr id="150532" name="矩形 5"/>
          <p:cNvSpPr>
            <a:spLocks noChangeArrowheads="1"/>
          </p:cNvSpPr>
          <p:nvPr/>
        </p:nvSpPr>
        <p:spPr bwMode="auto">
          <a:xfrm>
            <a:off x="169863" y="220663"/>
            <a:ext cx="11128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b="1">
                <a:solidFill>
                  <a:srgbClr val="FF0000"/>
                </a:solidFill>
                <a:latin typeface="楷体" panose="02010609060101010101" pitchFamily="49" charset="-122"/>
                <a:ea typeface="楷体" panose="02010609060101010101" pitchFamily="49" charset="-122"/>
              </a:rPr>
              <a:t>例如：</a:t>
            </a:r>
            <a:endParaRPr lang="zh-CN" altLang="en-US" sz="2400">
              <a:solidFill>
                <a:srgbClr val="FF0000"/>
              </a:solidFill>
            </a:endParaRPr>
          </a:p>
        </p:txBody>
      </p:sp>
      <p:pic>
        <p:nvPicPr>
          <p:cNvPr id="7" name="图片 6">
            <a:extLst>
              <a:ext uri="{FF2B5EF4-FFF2-40B4-BE49-F238E27FC236}">
                <a16:creationId xmlns:a16="http://schemas.microsoft.com/office/drawing/2014/main" id="{A81B9D39-E8A8-437B-88F9-18C5B5354592}"/>
              </a:ext>
            </a:extLst>
          </p:cNvPr>
          <p:cNvPicPr>
            <a:picLocks noChangeAspect="1"/>
          </p:cNvPicPr>
          <p:nvPr/>
        </p:nvPicPr>
        <p:blipFill>
          <a:blip r:embed="rId3"/>
          <a:stretch>
            <a:fillRect/>
          </a:stretch>
        </p:blipFill>
        <p:spPr>
          <a:xfrm>
            <a:off x="2339975" y="1463675"/>
            <a:ext cx="4464050" cy="3094038"/>
          </a:xfrm>
          <a:prstGeom prst="rect">
            <a:avLst/>
          </a:prstGeom>
          <a:solidFill>
            <a:schemeClr val="bg1">
              <a:lumMod val="95000"/>
            </a:schemeClr>
          </a:solidFill>
        </p:spPr>
      </p:pic>
      <p:pic>
        <p:nvPicPr>
          <p:cNvPr id="1751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188" y="841375"/>
            <a:ext cx="8429625" cy="588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5107"/>
                                        </p:tgtEl>
                                        <p:attrNameLst>
                                          <p:attrName>style.visibility</p:attrName>
                                        </p:attrNameLst>
                                      </p:cBhvr>
                                      <p:to>
                                        <p:strVal val="visible"/>
                                      </p:to>
                                    </p:set>
                                    <p:anim calcmode="lin" valueType="num">
                                      <p:cBhvr additive="base">
                                        <p:cTn id="7" dur="500" fill="hold"/>
                                        <p:tgtEl>
                                          <p:spTgt spid="175107"/>
                                        </p:tgtEl>
                                        <p:attrNameLst>
                                          <p:attrName>ppt_x</p:attrName>
                                        </p:attrNameLst>
                                      </p:cBhvr>
                                      <p:tavLst>
                                        <p:tav tm="0">
                                          <p:val>
                                            <p:strVal val="#ppt_x"/>
                                          </p:val>
                                        </p:tav>
                                        <p:tav tm="100000">
                                          <p:val>
                                            <p:strVal val="#ppt_x"/>
                                          </p:val>
                                        </p:tav>
                                      </p:tavLst>
                                    </p:anim>
                                    <p:anim calcmode="lin" valueType="num">
                                      <p:cBhvr additive="base">
                                        <p:cTn id="8" dur="500" fill="hold"/>
                                        <p:tgtEl>
                                          <p:spTgt spid="1751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38E18F2-8C6A-4973-AC67-B9D4D1247B7F}"/>
              </a:ext>
            </a:extLst>
          </p:cNvPr>
          <p:cNvSpPr>
            <a:spLocks noGrp="1"/>
          </p:cNvSpPr>
          <p:nvPr>
            <p:ph type="sldNum" sz="quarter" idx="12"/>
          </p:nvPr>
        </p:nvSpPr>
        <p:spPr/>
        <p:txBody>
          <a:bodyPr/>
          <a:lstStyle/>
          <a:p>
            <a:pPr>
              <a:defRPr/>
            </a:pPr>
            <a:fld id="{6DE3718F-BBAD-4B5A-A18D-2BF29E53C09F}" type="slidenum">
              <a:rPr lang="zh-CN" altLang="en-US" smtClean="0"/>
              <a:pPr>
                <a:defRPr/>
              </a:pPr>
              <a:t>111</a:t>
            </a:fld>
            <a:endParaRPr lang="en-US" altLang="zh-CN"/>
          </a:p>
        </p:txBody>
      </p:sp>
      <p:sp>
        <p:nvSpPr>
          <p:cNvPr id="3" name="矩形 2">
            <a:extLst>
              <a:ext uri="{FF2B5EF4-FFF2-40B4-BE49-F238E27FC236}">
                <a16:creationId xmlns:a16="http://schemas.microsoft.com/office/drawing/2014/main" id="{7B0AF1E0-175C-46D4-910F-F67DC2EABB02}"/>
              </a:ext>
            </a:extLst>
          </p:cNvPr>
          <p:cNvSpPr/>
          <p:nvPr/>
        </p:nvSpPr>
        <p:spPr>
          <a:xfrm>
            <a:off x="323850" y="333375"/>
            <a:ext cx="2501900" cy="922338"/>
          </a:xfrm>
          <a:prstGeom prst="rect">
            <a:avLst/>
          </a:prstGeom>
        </p:spPr>
        <p:txBody>
          <a:bodyPr>
            <a:spAutoFit/>
          </a:bodyPr>
          <a:lstStyle/>
          <a:p>
            <a:pPr algn="just">
              <a:lnSpc>
                <a:spcPct val="150000"/>
              </a:lnSpc>
              <a:spcAft>
                <a:spcPts val="0"/>
              </a:spcAft>
              <a:defRPr/>
            </a:pPr>
            <a:r>
              <a:rPr lang="en-US" altLang="zh-CN" b="1" kern="100" dirty="0">
                <a:latin typeface="Arial" panose="020B0604020202020204" pitchFamily="34" charset="0"/>
                <a:ea typeface="黑体" panose="02010609060101010101" pitchFamily="49" charset="-122"/>
              </a:rPr>
              <a:t>Mayo-Lewis</a:t>
            </a:r>
            <a:r>
              <a:rPr lang="zh-CN" altLang="zh-CN" kern="100" spc="100" dirty="0">
                <a:latin typeface="Times New Roman" panose="02020603050405020304" pitchFamily="18" charset="0"/>
                <a:ea typeface="黑体" panose="02010609060101010101" pitchFamily="49" charset="-122"/>
              </a:rPr>
              <a:t>积分法</a:t>
            </a:r>
            <a:endParaRPr lang="en-US" altLang="zh-CN" sz="1400" kern="100" spc="100" dirty="0">
              <a:latin typeface="Times New Roman" panose="02020603050405020304" pitchFamily="18" charset="0"/>
              <a:ea typeface="宋体" panose="02010600030101010101" pitchFamily="2" charset="-122"/>
            </a:endParaRPr>
          </a:p>
          <a:p>
            <a:pPr algn="just">
              <a:lnSpc>
                <a:spcPct val="150000"/>
              </a:lnSpc>
              <a:spcAft>
                <a:spcPts val="0"/>
              </a:spcAft>
              <a:defRPr/>
            </a:pPr>
            <a:r>
              <a:rPr lang="en-US" altLang="zh-CN" b="1" kern="100" dirty="0">
                <a:latin typeface="Times New Roman" panose="02020603050405020304" pitchFamily="18" charset="0"/>
                <a:ea typeface="宋体" panose="02010600030101010101" pitchFamily="2" charset="-122"/>
              </a:rPr>
              <a:t>MA/ATMP</a:t>
            </a:r>
            <a:r>
              <a:rPr lang="zh-CN" altLang="zh-CN" b="1" kern="100" dirty="0">
                <a:latin typeface="Times New Roman" panose="02020603050405020304" pitchFamily="18" charset="0"/>
                <a:ea typeface="宋体" panose="02010600030101010101" pitchFamily="2" charset="-122"/>
              </a:rPr>
              <a:t>共聚体系</a:t>
            </a:r>
            <a:endParaRPr lang="zh-CN" altLang="zh-CN" sz="1400" kern="100" dirty="0">
              <a:latin typeface="Times New Roman" panose="02020603050405020304" pitchFamily="18" charset="0"/>
              <a:ea typeface="宋体" panose="02010600030101010101" pitchFamily="2" charset="-122"/>
            </a:endParaRPr>
          </a:p>
        </p:txBody>
      </p:sp>
      <p:sp>
        <p:nvSpPr>
          <p:cNvPr id="152580" name="Rectangle 1"/>
          <p:cNvSpPr>
            <a:spLocks noChangeArrowheads="1"/>
          </p:cNvSpPr>
          <p:nvPr/>
        </p:nvSpPr>
        <p:spPr bwMode="auto">
          <a:xfrm flipH="1">
            <a:off x="152400" y="2495550"/>
            <a:ext cx="8728075"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CN" altLang="en-US" sz="2000">
                <a:latin typeface="Times New Roman" panose="02020603050405020304" pitchFamily="18" charset="0"/>
                <a:ea typeface="宋体" panose="02010600030101010101" pitchFamily="2" charset="-122"/>
                <a:cs typeface="Times New Roman" panose="02020603050405020304" pitchFamily="18" charset="0"/>
              </a:rPr>
              <a:t>设共聚物中 </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 </a:t>
            </a:r>
            <a:r>
              <a:rPr lang="zh-CN" altLang="en-US" sz="2000">
                <a:latin typeface="Times New Roman" panose="02020603050405020304" pitchFamily="18" charset="0"/>
                <a:ea typeface="宋体" panose="02010600030101010101" pitchFamily="2" charset="-122"/>
                <a:cs typeface="Times New Roman" panose="02020603050405020304" pitchFamily="18" charset="0"/>
              </a:rPr>
              <a:t>质子吸收峰（</a:t>
            </a:r>
            <a:r>
              <a:rPr lang="en-US" altLang="zh-CN" sz="2000">
                <a:latin typeface="Times New Roman" panose="02020603050405020304" pitchFamily="18" charset="0"/>
                <a:ea typeface="宋体" panose="02010600030101010101" pitchFamily="2" charset="-122"/>
                <a:cs typeface="Times New Roman" panose="02020603050405020304" pitchFamily="18" charset="0"/>
              </a:rPr>
              <a:t>3.66 ppm</a:t>
            </a:r>
            <a:r>
              <a:rPr lang="zh-CN" altLang="en-US" sz="2000">
                <a:latin typeface="Times New Roman" panose="02020603050405020304" pitchFamily="18" charset="0"/>
                <a:ea typeface="宋体" panose="02010600030101010101" pitchFamily="2" charset="-122"/>
                <a:cs typeface="Times New Roman" panose="02020603050405020304" pitchFamily="18" charset="0"/>
              </a:rPr>
              <a:t>附近）的面积为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a:latin typeface="Times New Roman" panose="02020603050405020304" pitchFamily="18" charset="0"/>
                <a:ea typeface="宋体" panose="02010600030101010101" pitchFamily="2" charset="-122"/>
                <a:cs typeface="Times New Roman" panose="02020603050405020304" pitchFamily="18" charset="0"/>
              </a:rPr>
              <a:t>，而其它所有质子吸收峰面积之和为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R</a:t>
            </a:r>
            <a:r>
              <a:rPr lang="zh-CN" altLang="en-US" sz="2000">
                <a:latin typeface="Times New Roman" panose="02020603050405020304" pitchFamily="18" charset="0"/>
                <a:ea typeface="宋体" panose="02010600030101010101" pitchFamily="2" charset="-122"/>
                <a:cs typeface="Times New Roman" panose="02020603050405020304" pitchFamily="18" charset="0"/>
              </a:rPr>
              <a:t>；每个质子氢</a:t>
            </a:r>
            <a:r>
              <a:rPr lang="en-US" altLang="zh-CN" sz="2000">
                <a:latin typeface="Times New Roman" panose="02020603050405020304" pitchFamily="18" charset="0"/>
                <a:ea typeface="宋体" panose="02010600030101010101" pitchFamily="2" charset="-122"/>
                <a:cs typeface="Times New Roman" panose="02020603050405020304" pitchFamily="18" charset="0"/>
              </a:rPr>
              <a:t>H</a:t>
            </a:r>
            <a:r>
              <a:rPr lang="zh-CN" altLang="en-US" sz="2000">
                <a:latin typeface="Times New Roman" panose="02020603050405020304" pitchFamily="18" charset="0"/>
                <a:ea typeface="宋体" panose="02010600030101010101" pitchFamily="2" charset="-122"/>
                <a:cs typeface="Times New Roman" panose="02020603050405020304" pitchFamily="18" charset="0"/>
              </a:rPr>
              <a:t>所分配的相应峰面积为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a:latin typeface="Times New Roman" panose="02020603050405020304" pitchFamily="18" charset="0"/>
                <a:ea typeface="宋体" panose="02010600030101010101" pitchFamily="2" charset="-122"/>
                <a:cs typeface="Times New Roman" panose="02020603050405020304" pitchFamily="18" charset="0"/>
              </a:rPr>
              <a:t>。在</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MA/ATMP</a:t>
            </a:r>
            <a:r>
              <a:rPr lang="zh-CN" altLang="en-US" sz="2000">
                <a:latin typeface="Times New Roman" panose="02020603050405020304" pitchFamily="18" charset="0"/>
                <a:ea typeface="宋体" panose="02010600030101010101" pitchFamily="2" charset="-122"/>
                <a:cs typeface="Times New Roman" panose="02020603050405020304" pitchFamily="18" charset="0"/>
              </a:rPr>
              <a:t>共聚物中，</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的质子数共应有</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单元数应为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A/3a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个，且全部属于</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单元；而其它质子氢的总数应有</a:t>
            </a:r>
            <a:r>
              <a:rPr lang="en-US" altLang="zh-CN" sz="2000">
                <a:latin typeface="Times New Roman" panose="02020603050405020304" pitchFamily="18" charset="0"/>
                <a:ea typeface="宋体" panose="02010600030101010101" pitchFamily="2" charset="-122"/>
                <a:cs typeface="Times New Roman" panose="02020603050405020304" pitchFamily="18" charset="0"/>
              </a:rPr>
              <a:t>R/a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个。除了</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的质子以外，每个</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单元除 </a:t>
            </a:r>
            <a:r>
              <a:rPr lang="en-US" altLang="zh-CN" sz="2000">
                <a:latin typeface="Times New Roman" panose="02020603050405020304" pitchFamily="18" charset="0"/>
                <a:ea typeface="宋体" panose="02010600030101010101" pitchFamily="2" charset="-122"/>
                <a:cs typeface="Times New Roman" panose="02020603050405020304" pitchFamily="18" charset="0"/>
              </a:rPr>
              <a:t>-OCH</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3 </a:t>
            </a:r>
            <a:r>
              <a:rPr lang="zh-CN" altLang="en-US" sz="2000">
                <a:latin typeface="Times New Roman" panose="02020603050405020304" pitchFamily="18" charset="0"/>
                <a:ea typeface="宋体" panose="02010600030101010101" pitchFamily="2" charset="-122"/>
                <a:cs typeface="Times New Roman" panose="02020603050405020304" pitchFamily="18" charset="0"/>
              </a:rPr>
              <a:t>的质子外还含有</a:t>
            </a:r>
            <a:r>
              <a:rPr lang="en-US" altLang="zh-CN" sz="2000">
                <a:latin typeface="Times New Roman" panose="02020603050405020304" pitchFamily="18" charset="0"/>
                <a:ea typeface="宋体" panose="02010600030101010101" pitchFamily="2" charset="-122"/>
                <a:cs typeface="Times New Roman" panose="02020603050405020304" pitchFamily="18" charset="0"/>
              </a:rPr>
              <a:t>3</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个质子</a:t>
            </a:r>
            <a:r>
              <a:rPr lang="en-US" altLang="zh-CN" sz="2000">
                <a:latin typeface="Times New Roman" panose="02020603050405020304" pitchFamily="18" charset="0"/>
                <a:ea typeface="宋体" panose="02010600030101010101" pitchFamily="2" charset="-122"/>
                <a:cs typeface="Times New Roman" panose="02020603050405020304" pitchFamily="18" charset="0"/>
              </a:rPr>
              <a:t>H</a:t>
            </a:r>
            <a:r>
              <a:rPr lang="zh-CN" altLang="en-US" sz="2000">
                <a:latin typeface="Times New Roman" panose="02020603050405020304" pitchFamily="18" charset="0"/>
                <a:ea typeface="宋体" panose="02010600030101010101" pitchFamily="2" charset="-122"/>
                <a:cs typeface="Times New Roman" panose="02020603050405020304" pitchFamily="18" charset="0"/>
              </a:rPr>
              <a:t>，这些质子的总数应为</a:t>
            </a:r>
            <a:r>
              <a:rPr lang="en-US" altLang="zh-CN" sz="2000">
                <a:latin typeface="Times New Roman" panose="02020603050405020304" pitchFamily="18" charset="0"/>
                <a:ea typeface="宋体" panose="02010600030101010101" pitchFamily="2" charset="-122"/>
                <a:cs typeface="Times New Roman" panose="02020603050405020304" pitchFamily="18" charset="0"/>
              </a:rPr>
              <a:t>3</a:t>
            </a:r>
            <a:r>
              <a:rPr lang="en-US" altLang="zh-CN" sz="2000">
                <a:latin typeface="宋体" panose="02010600030101010101" pitchFamily="2" charset="-122"/>
                <a:ea typeface="宋体" panose="02010600030101010101" pitchFamily="2" charset="-122"/>
                <a:cs typeface="Times New Roman" panose="02020603050405020304" pitchFamily="18" charset="0"/>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rPr>
              <a:t>A/3a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个，即</a:t>
            </a:r>
            <a:r>
              <a:rPr lang="en-US" altLang="zh-CN" sz="2000">
                <a:latin typeface="Times New Roman" panose="02020603050405020304" pitchFamily="18" charset="0"/>
                <a:ea typeface="宋体" panose="02010600030101010101" pitchFamily="2" charset="-122"/>
                <a:cs typeface="Times New Roman" panose="02020603050405020304" pitchFamily="18" charset="0"/>
              </a:rPr>
              <a:t>A/a</a:t>
            </a:r>
            <a:r>
              <a:rPr lang="zh-CN" altLang="en-US" sz="2000">
                <a:latin typeface="Times New Roman" panose="02020603050405020304" pitchFamily="18" charset="0"/>
                <a:ea typeface="宋体" panose="02010600030101010101" pitchFamily="2" charset="-122"/>
                <a:cs typeface="Times New Roman" panose="02020603050405020304" pitchFamily="18" charset="0"/>
              </a:rPr>
              <a:t>个。因而，在共聚物中</a:t>
            </a:r>
            <a:r>
              <a:rPr lang="en-US" altLang="zh-CN" sz="2000">
                <a:latin typeface="Times New Roman" panose="02020603050405020304" pitchFamily="18" charset="0"/>
                <a:ea typeface="宋体" panose="02010600030101010101" pitchFamily="2" charset="-122"/>
                <a:cs typeface="Times New Roman" panose="02020603050405020304" pitchFamily="18" charset="0"/>
              </a:rPr>
              <a:t>ATMP</a:t>
            </a:r>
            <a:r>
              <a:rPr lang="zh-CN" altLang="en-US" sz="2000">
                <a:latin typeface="Times New Roman" panose="02020603050405020304" pitchFamily="18" charset="0"/>
                <a:ea typeface="宋体" panose="02010600030101010101" pitchFamily="2" charset="-122"/>
                <a:cs typeface="Times New Roman" panose="02020603050405020304" pitchFamily="18" charset="0"/>
              </a:rPr>
              <a:t>（</a:t>
            </a:r>
            <a:r>
              <a:rPr lang="en-US" altLang="zh-CN" sz="2000">
                <a:latin typeface="Times New Roman" panose="02020603050405020304" pitchFamily="18" charset="0"/>
                <a:ea typeface="宋体" panose="02010600030101010101" pitchFamily="2" charset="-122"/>
                <a:cs typeface="Times New Roman" panose="02020603050405020304" pitchFamily="18" charset="0"/>
              </a:rPr>
              <a:t>M</a:t>
            </a:r>
            <a:r>
              <a:rPr lang="en-US" altLang="zh-CN" sz="2000" baseline="-30000">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a:latin typeface="Times New Roman" panose="02020603050405020304" pitchFamily="18" charset="0"/>
                <a:ea typeface="宋体" panose="02010600030101010101" pitchFamily="2" charset="-122"/>
                <a:cs typeface="Times New Roman" panose="02020603050405020304" pitchFamily="18" charset="0"/>
              </a:rPr>
              <a:t>）单元的质子总数应为：  </a:t>
            </a:r>
            <a:endParaRPr lang="zh-CN" altLang="en-US" sz="2000">
              <a:cs typeface="Times New Roman" panose="02020603050405020304" pitchFamily="18" charset="0"/>
            </a:endParaRPr>
          </a:p>
        </p:txBody>
      </p:sp>
      <p:sp>
        <p:nvSpPr>
          <p:cNvPr id="152581" name="Rectangle 3"/>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zh-CN" altLang="en-US" sz="1800"/>
          </a:p>
        </p:txBody>
      </p:sp>
      <p:sp>
        <p:nvSpPr>
          <p:cNvPr id="152582" name="Rectangle 4"/>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zh-CN" altLang="en-US" sz="1800"/>
          </a:p>
        </p:txBody>
      </p:sp>
      <p:sp>
        <p:nvSpPr>
          <p:cNvPr id="11" name="矩形 10">
            <a:extLst>
              <a:ext uri="{FF2B5EF4-FFF2-40B4-BE49-F238E27FC236}">
                <a16:creationId xmlns:a16="http://schemas.microsoft.com/office/drawing/2014/main" id="{B680F5BE-4608-485F-BD97-D78B14122261}"/>
              </a:ext>
            </a:extLst>
          </p:cNvPr>
          <p:cNvSpPr/>
          <p:nvPr/>
        </p:nvSpPr>
        <p:spPr>
          <a:xfrm>
            <a:off x="5149850" y="4910138"/>
            <a:ext cx="3330575" cy="646112"/>
          </a:xfrm>
          <a:prstGeom prst="rect">
            <a:avLst/>
          </a:prstGeom>
        </p:spPr>
        <p:txBody>
          <a:bodyPr>
            <a:spAutoFit/>
          </a:bodyPr>
          <a:lstStyle/>
          <a:p>
            <a:pPr>
              <a:defRPr/>
            </a:pPr>
            <a:r>
              <a:rPr lang="zh-CN" altLang="en-US" kern="100" dirty="0">
                <a:latin typeface="Times New Roman" panose="02020603050405020304" pitchFamily="18" charset="0"/>
                <a:ea typeface="宋体" panose="02010600030101010101" pitchFamily="2" charset="-122"/>
              </a:rPr>
              <a:t>当</a:t>
            </a:r>
            <a:r>
              <a:rPr lang="en-US" altLang="zh-CN" kern="100" dirty="0">
                <a:latin typeface="Times New Roman" panose="02020603050405020304" pitchFamily="18" charset="0"/>
                <a:ea typeface="宋体" panose="02010600030101010101" pitchFamily="2" charset="-122"/>
              </a:rPr>
              <a:t>B</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表示哌啶环上的四个甲基的吸收峰面积</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时，</a:t>
            </a:r>
            <a:endParaRPr lang="zh-CN" altLang="en-US" dirty="0"/>
          </a:p>
        </p:txBody>
      </p:sp>
      <p:graphicFrame>
        <p:nvGraphicFramePr>
          <p:cNvPr id="152584" name="对象 11"/>
          <p:cNvGraphicFramePr>
            <a:graphicFrameLocks noChangeAspect="1"/>
          </p:cNvGraphicFramePr>
          <p:nvPr/>
        </p:nvGraphicFramePr>
        <p:xfrm>
          <a:off x="5149850" y="5556250"/>
          <a:ext cx="3028950" cy="1085850"/>
        </p:xfrm>
        <a:graphic>
          <a:graphicData uri="http://schemas.openxmlformats.org/presentationml/2006/ole">
            <mc:AlternateContent xmlns:mc="http://schemas.openxmlformats.org/markup-compatibility/2006">
              <mc:Choice xmlns:v="urn:schemas-microsoft-com:vml" Requires="v">
                <p:oleObj spid="_x0000_s152627" name="公式" r:id="rId3" imgW="1422400" imgH="635000" progId="Equation.3">
                  <p:embed/>
                </p:oleObj>
              </mc:Choice>
              <mc:Fallback>
                <p:oleObj name="公式" r:id="rId3" imgW="1422400" imgH="635000" progId="Equation.3">
                  <p:embed/>
                  <p:pic>
                    <p:nvPicPr>
                      <p:cNvPr id="0" name="对象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9850" y="5556250"/>
                        <a:ext cx="302895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2585" name="对象 12"/>
          <p:cNvGraphicFramePr>
            <a:graphicFrameLocks noChangeAspect="1"/>
          </p:cNvGraphicFramePr>
          <p:nvPr/>
        </p:nvGraphicFramePr>
        <p:xfrm>
          <a:off x="282575" y="4521200"/>
          <a:ext cx="2520950" cy="635000"/>
        </p:xfrm>
        <a:graphic>
          <a:graphicData uri="http://schemas.openxmlformats.org/presentationml/2006/ole">
            <mc:AlternateContent xmlns:mc="http://schemas.openxmlformats.org/markup-compatibility/2006">
              <mc:Choice xmlns:v="urn:schemas-microsoft-com:vml" Requires="v">
                <p:oleObj spid="_x0000_s152628" name="公式" r:id="rId5" imgW="1663700" imgH="419100" progId="Equation.3">
                  <p:embed/>
                </p:oleObj>
              </mc:Choice>
              <mc:Fallback>
                <p:oleObj name="公式" r:id="rId5" imgW="1663700" imgH="419100" progId="Equation.3">
                  <p:embed/>
                  <p:pic>
                    <p:nvPicPr>
                      <p:cNvPr id="0"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2575" y="4521200"/>
                        <a:ext cx="25209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2586" name="对象 13"/>
          <p:cNvGraphicFramePr>
            <a:graphicFrameLocks noChangeAspect="1"/>
          </p:cNvGraphicFramePr>
          <p:nvPr/>
        </p:nvGraphicFramePr>
        <p:xfrm>
          <a:off x="207963" y="5562600"/>
          <a:ext cx="3675062" cy="1158875"/>
        </p:xfrm>
        <a:graphic>
          <a:graphicData uri="http://schemas.openxmlformats.org/presentationml/2006/ole">
            <mc:AlternateContent xmlns:mc="http://schemas.openxmlformats.org/markup-compatibility/2006">
              <mc:Choice xmlns:v="urn:schemas-microsoft-com:vml" Requires="v">
                <p:oleObj spid="_x0000_s152629" name="公式" r:id="rId7" imgW="2095500" imgH="660400" progId="Equation.3">
                  <p:embed/>
                </p:oleObj>
              </mc:Choice>
              <mc:Fallback>
                <p:oleObj name="公式" r:id="rId7" imgW="2095500" imgH="660400" progId="Equation.3">
                  <p:embed/>
                  <p:pic>
                    <p:nvPicPr>
                      <p:cNvPr id="0" name="对象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963" y="5562600"/>
                        <a:ext cx="3675062"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 name="图片 11">
            <a:extLst>
              <a:ext uri="{FF2B5EF4-FFF2-40B4-BE49-F238E27FC236}">
                <a16:creationId xmlns:a16="http://schemas.microsoft.com/office/drawing/2014/main" id="{9FF4BA01-5111-4FE0-AD1B-D5C6B224A55A}"/>
              </a:ext>
            </a:extLst>
          </p:cNvPr>
          <p:cNvPicPr>
            <a:picLocks noChangeAspect="1"/>
          </p:cNvPicPr>
          <p:nvPr/>
        </p:nvPicPr>
        <p:blipFill>
          <a:blip r:embed="rId9"/>
          <a:stretch>
            <a:fillRect/>
          </a:stretch>
        </p:blipFill>
        <p:spPr>
          <a:xfrm>
            <a:off x="5219700" y="92075"/>
            <a:ext cx="3421063" cy="2371725"/>
          </a:xfrm>
          <a:prstGeom prst="rect">
            <a:avLst/>
          </a:prstGeom>
          <a:solidFill>
            <a:schemeClr val="bg1">
              <a:lumMod val="95000"/>
            </a:schemeClr>
          </a:solidFill>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6D17086-200D-48F6-8155-98962010B1D0}"/>
              </a:ext>
            </a:extLst>
          </p:cNvPr>
          <p:cNvSpPr>
            <a:spLocks noGrp="1"/>
          </p:cNvSpPr>
          <p:nvPr>
            <p:ph type="sldNum" sz="quarter" idx="12"/>
          </p:nvPr>
        </p:nvSpPr>
        <p:spPr/>
        <p:txBody>
          <a:bodyPr/>
          <a:lstStyle/>
          <a:p>
            <a:pPr>
              <a:defRPr/>
            </a:pPr>
            <a:fld id="{1BEC2B09-26C1-45E9-9A7A-F928FCD9F833}" type="slidenum">
              <a:rPr lang="zh-CN" altLang="en-US" smtClean="0"/>
              <a:pPr>
                <a:defRPr/>
              </a:pPr>
              <a:t>112</a:t>
            </a:fld>
            <a:endParaRPr lang="en-US" altLang="zh-CN"/>
          </a:p>
        </p:txBody>
      </p:sp>
      <p:pic>
        <p:nvPicPr>
          <p:cNvPr id="153603"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2088" y="692150"/>
            <a:ext cx="8189912" cy="489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a:extLst>
              <a:ext uri="{FF2B5EF4-FFF2-40B4-BE49-F238E27FC236}">
                <a16:creationId xmlns:a16="http://schemas.microsoft.com/office/drawing/2014/main" id="{8A8EE46C-7B52-4160-AFF5-C532D4911FF7}"/>
              </a:ext>
            </a:extLst>
          </p:cNvPr>
          <p:cNvSpPr/>
          <p:nvPr/>
        </p:nvSpPr>
        <p:spPr>
          <a:xfrm>
            <a:off x="179388" y="5338763"/>
            <a:ext cx="8569325" cy="646112"/>
          </a:xfrm>
          <a:prstGeom prst="rect">
            <a:avLst/>
          </a:prstGeom>
        </p:spPr>
        <p:txBody>
          <a:bodyPr>
            <a:spAutoFit/>
          </a:bodyPr>
          <a:lstStyle/>
          <a:p>
            <a:pPr>
              <a:defRPr/>
            </a:pPr>
            <a:r>
              <a:rPr lang="en-US" altLang="zh-CN" kern="100" dirty="0">
                <a:latin typeface="Times New Roman" panose="02020603050405020304" pitchFamily="18" charset="0"/>
                <a:ea typeface="宋体" panose="02010600030101010101" pitchFamily="2" charset="-122"/>
              </a:rPr>
              <a:t>* A is the peak area of protons on –OCH</a:t>
            </a:r>
            <a:r>
              <a:rPr lang="en-US" altLang="zh-CN" kern="100" baseline="-25000" dirty="0">
                <a:latin typeface="Times New Roman" panose="02020603050405020304" pitchFamily="18" charset="0"/>
                <a:ea typeface="宋体" panose="02010600030101010101" pitchFamily="2" charset="-122"/>
              </a:rPr>
              <a:t>3</a:t>
            </a:r>
            <a:r>
              <a:rPr lang="en-US" altLang="zh-CN" kern="100" dirty="0">
                <a:latin typeface="Times New Roman" panose="02020603050405020304" pitchFamily="18" charset="0"/>
                <a:ea typeface="宋体" panose="02010600030101010101" pitchFamily="2" charset="-122"/>
              </a:rPr>
              <a:t> in copolymer; R is the sum of the proton peak area in copolymer except the protons of –OCH</a:t>
            </a:r>
            <a:r>
              <a:rPr lang="en-US" altLang="zh-CN" kern="100" baseline="-25000" dirty="0">
                <a:latin typeface="Times New Roman" panose="02020603050405020304" pitchFamily="18" charset="0"/>
                <a:ea typeface="宋体" panose="02010600030101010101" pitchFamily="2" charset="-122"/>
              </a:rPr>
              <a:t>3</a:t>
            </a:r>
            <a:r>
              <a:rPr lang="en-US" altLang="zh-CN" kern="100" dirty="0">
                <a:latin typeface="Times New Roman" panose="02020603050405020304" pitchFamily="18" charset="0"/>
                <a:ea typeface="宋体" panose="02010600030101010101" pitchFamily="2" charset="-122"/>
              </a:rPr>
              <a:t>.</a:t>
            </a:r>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958A539-0814-4DAA-B7E0-D886C5FB7249}"/>
              </a:ext>
            </a:extLst>
          </p:cNvPr>
          <p:cNvSpPr>
            <a:spLocks noGrp="1"/>
          </p:cNvSpPr>
          <p:nvPr>
            <p:ph type="sldNum" sz="quarter" idx="12"/>
          </p:nvPr>
        </p:nvSpPr>
        <p:spPr/>
        <p:txBody>
          <a:bodyPr/>
          <a:lstStyle/>
          <a:p>
            <a:pPr>
              <a:defRPr/>
            </a:pPr>
            <a:fld id="{CE18D1FC-2374-460E-8869-F8E49790510F}" type="slidenum">
              <a:rPr lang="zh-CN" altLang="en-US" smtClean="0"/>
              <a:pPr>
                <a:defRPr/>
              </a:pPr>
              <a:t>113</a:t>
            </a:fld>
            <a:endParaRPr lang="en-US" altLang="zh-CN"/>
          </a:p>
        </p:txBody>
      </p:sp>
      <p:graphicFrame>
        <p:nvGraphicFramePr>
          <p:cNvPr id="154627" name="对象 2"/>
          <p:cNvGraphicFramePr>
            <a:graphicFrameLocks noChangeAspect="1"/>
          </p:cNvGraphicFramePr>
          <p:nvPr/>
        </p:nvGraphicFramePr>
        <p:xfrm>
          <a:off x="1149350" y="371475"/>
          <a:ext cx="6337300" cy="4929188"/>
        </p:xfrm>
        <a:graphic>
          <a:graphicData uri="http://schemas.openxmlformats.org/presentationml/2006/ole">
            <mc:AlternateContent xmlns:mc="http://schemas.openxmlformats.org/markup-compatibility/2006">
              <mc:Choice xmlns:v="urn:schemas-microsoft-com:vml" Requires="v">
                <p:oleObj spid="_x0000_s154643" name="Graph" r:id="rId3" imgW="3492347" imgH="2721166" progId="Origin50.Graph">
                  <p:embed/>
                </p:oleObj>
              </mc:Choice>
              <mc:Fallback>
                <p:oleObj name="Graph" r:id="rId3" imgW="3492347" imgH="2721166" progId="Origin50.Graph">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9350" y="371475"/>
                        <a:ext cx="6337300" cy="492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a:extLst>
              <a:ext uri="{FF2B5EF4-FFF2-40B4-BE49-F238E27FC236}">
                <a16:creationId xmlns:a16="http://schemas.microsoft.com/office/drawing/2014/main" id="{6E1B8E73-81F2-4A1A-ABDE-32B7E426648D}"/>
              </a:ext>
            </a:extLst>
          </p:cNvPr>
          <p:cNvSpPr/>
          <p:nvPr/>
        </p:nvSpPr>
        <p:spPr>
          <a:xfrm>
            <a:off x="1633538" y="5167313"/>
            <a:ext cx="6408737" cy="646112"/>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F</a:t>
            </a:r>
            <a:r>
              <a:rPr lang="en-US" altLang="zh-CN" b="1" kern="100" baseline="-25000" dirty="0">
                <a:latin typeface="Times New Roman" panose="02020603050405020304" pitchFamily="18" charset="0"/>
                <a:ea typeface="黑体" panose="02010609060101010101" pitchFamily="49" charset="-122"/>
              </a:rPr>
              <a:t>1 </a:t>
            </a:r>
            <a:r>
              <a:rPr lang="en-US" altLang="zh-CN" b="1" kern="100" dirty="0">
                <a:latin typeface="Times New Roman" panose="02020603050405020304" pitchFamily="18" charset="0"/>
                <a:ea typeface="黑体" panose="02010609060101010101" pitchFamily="49" charset="-122"/>
              </a:rPr>
              <a:t>as a function of f</a:t>
            </a:r>
            <a:r>
              <a:rPr lang="en-US" altLang="zh-CN" b="1" kern="100" baseline="-25000" dirty="0">
                <a:latin typeface="Times New Roman" panose="02020603050405020304" pitchFamily="18" charset="0"/>
                <a:ea typeface="黑体" panose="02010609060101010101" pitchFamily="49" charset="-122"/>
              </a:rPr>
              <a:t>1 </a:t>
            </a:r>
            <a:r>
              <a:rPr lang="en-US" altLang="zh-CN" b="1" kern="100" dirty="0">
                <a:latin typeface="Times New Roman" panose="02020603050405020304" pitchFamily="18" charset="0"/>
                <a:ea typeface="黑体" panose="02010609060101010101" pitchFamily="49" charset="-122"/>
              </a:rPr>
              <a:t>plots for MA/ATMP and MA/APMP copolymerization</a:t>
            </a:r>
            <a:endParaRPr lang="zh-CN" altLang="en-US" dirty="0"/>
          </a:p>
        </p:txBody>
      </p:sp>
      <p:sp>
        <p:nvSpPr>
          <p:cNvPr id="5" name="矩形 4">
            <a:extLst>
              <a:ext uri="{FF2B5EF4-FFF2-40B4-BE49-F238E27FC236}">
                <a16:creationId xmlns:a16="http://schemas.microsoft.com/office/drawing/2014/main" id="{09294737-BF91-4D72-81F6-7CDAE38C1FD6}"/>
              </a:ext>
            </a:extLst>
          </p:cNvPr>
          <p:cNvSpPr/>
          <p:nvPr/>
        </p:nvSpPr>
        <p:spPr>
          <a:xfrm>
            <a:off x="1417638" y="5864225"/>
            <a:ext cx="6842125" cy="646113"/>
          </a:xfrm>
          <a:prstGeom prst="rect">
            <a:avLst/>
          </a:prstGeom>
        </p:spPr>
        <p:txBody>
          <a:bodyPr>
            <a:spAutoFit/>
          </a:bodyPr>
          <a:lstStyle/>
          <a:p>
            <a:pPr>
              <a:defRPr/>
            </a:pPr>
            <a:r>
              <a:rPr lang="en-US" altLang="zh-CN" kern="100" dirty="0">
                <a:latin typeface="Times New Roman" panose="02020603050405020304" pitchFamily="18" charset="0"/>
                <a:ea typeface="宋体" panose="02010600030101010101" pitchFamily="2" charset="-122"/>
              </a:rPr>
              <a:t>MA/ATMP</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共聚组成曲线</a:t>
            </a:r>
            <a:r>
              <a:rPr lang="en-US" altLang="zh-CN" kern="100" dirty="0">
                <a:latin typeface="Times New Roman" panose="02020603050405020304" pitchFamily="18" charset="0"/>
                <a:ea typeface="宋体" panose="02010600030101010101" pitchFamily="2" charset="-122"/>
              </a:rPr>
              <a:t>F</a:t>
            </a:r>
            <a:r>
              <a:rPr lang="en-US" altLang="zh-CN" kern="100" baseline="-25000" dirty="0">
                <a:latin typeface="Times New Roman" panose="02020603050405020304" pitchFamily="18" charset="0"/>
                <a:ea typeface="宋体" panose="02010600030101010101" pitchFamily="2" charset="-122"/>
              </a:rPr>
              <a:t>1</a:t>
            </a:r>
            <a:r>
              <a:rPr lang="en-US" altLang="zh-CN" kern="100" dirty="0">
                <a:latin typeface="Times New Roman" panose="02020603050405020304" pitchFamily="18" charset="0"/>
                <a:ea typeface="宋体" panose="02010600030101010101" pitchFamily="2" charset="-122"/>
              </a:rPr>
              <a:t>-f</a:t>
            </a:r>
            <a:r>
              <a:rPr lang="en-US" altLang="zh-CN" kern="100" baseline="-25000" dirty="0">
                <a:latin typeface="Times New Roman" panose="02020603050405020304" pitchFamily="18" charset="0"/>
                <a:ea typeface="宋体" panose="02010600030101010101" pitchFamily="2" charset="-122"/>
              </a:rPr>
              <a:t>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不与恒比对角线相交，且处于该对角线的下方。这是属于</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1 </a:t>
            </a:r>
            <a:r>
              <a:rPr lang="en-US" altLang="zh-CN" kern="100" dirty="0">
                <a:latin typeface="Times New Roman" panose="02020603050405020304" pitchFamily="18" charset="0"/>
                <a:ea typeface="宋体" panose="02010600030101010101" pitchFamily="2" charset="-122"/>
              </a:rPr>
              <a:t>&lt; 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2 </a:t>
            </a:r>
            <a:r>
              <a:rPr lang="en-US" altLang="zh-CN" kern="100" dirty="0">
                <a:latin typeface="Times New Roman" panose="02020603050405020304" pitchFamily="18" charset="0"/>
                <a:ea typeface="宋体" panose="02010600030101010101" pitchFamily="2" charset="-122"/>
              </a:rPr>
              <a:t>&gt; 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而</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1</a:t>
            </a:r>
            <a:r>
              <a:rPr lang="zh-CN" altLang="zh-CN" kern="100" baseline="-25000" dirty="0">
                <a:ea typeface="宋体" panose="02010600030101010101" pitchFamily="2" charset="-122"/>
                <a:cs typeface="Times New Roman" panose="02020603050405020304" pitchFamily="18" charset="0"/>
              </a:rPr>
              <a:t>·</a:t>
            </a:r>
            <a:r>
              <a:rPr lang="en-US" altLang="zh-CN" kern="100" dirty="0">
                <a:latin typeface="Times New Roman" panose="02020603050405020304" pitchFamily="18" charset="0"/>
                <a:ea typeface="宋体" panose="02010600030101010101" pitchFamily="2" charset="-122"/>
              </a:rPr>
              <a:t>r</a:t>
            </a:r>
            <a:r>
              <a:rPr lang="en-US" altLang="zh-CN" kern="100" baseline="-25000" dirty="0">
                <a:latin typeface="Times New Roman" panose="02020603050405020304" pitchFamily="18" charset="0"/>
                <a:ea typeface="宋体" panose="02010600030101010101" pitchFamily="2" charset="-122"/>
              </a:rPr>
              <a:t>2 </a:t>
            </a:r>
            <a:r>
              <a:rPr lang="en-US" altLang="zh-CN" kern="100" dirty="0">
                <a:latin typeface="Times New Roman" panose="02020603050405020304" pitchFamily="18" charset="0"/>
                <a:ea typeface="宋体" panose="02010600030101010101" pitchFamily="2" charset="-122"/>
              </a:rPr>
              <a:t>&lt; 1</a:t>
            </a:r>
            <a:r>
              <a:rPr lang="zh-CN" altLang="zh-CN" kern="100" dirty="0">
                <a:latin typeface="Times New Roman" panose="02020603050405020304" pitchFamily="18" charset="0"/>
                <a:ea typeface="宋体" panose="02010600030101010101" pitchFamily="2" charset="-122"/>
                <a:cs typeface="Times New Roman" panose="02020603050405020304" pitchFamily="18" charset="0"/>
              </a:rPr>
              <a:t>的非理想共聚的情形</a:t>
            </a:r>
            <a:endParaRPr lang="zh-CN" alt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FB22A66-AF76-4D2B-BC98-BE05CE73B343}"/>
              </a:ext>
            </a:extLst>
          </p:cNvPr>
          <p:cNvSpPr>
            <a:spLocks noGrp="1"/>
          </p:cNvSpPr>
          <p:nvPr>
            <p:ph type="sldNum" sz="quarter" idx="12"/>
          </p:nvPr>
        </p:nvSpPr>
        <p:spPr/>
        <p:txBody>
          <a:bodyPr/>
          <a:lstStyle/>
          <a:p>
            <a:pPr>
              <a:defRPr/>
            </a:pPr>
            <a:fld id="{DE4ACEDC-0D7C-4D9F-A462-C80094493FA0}" type="slidenum">
              <a:rPr lang="zh-CN" altLang="en-US" smtClean="0"/>
              <a:pPr>
                <a:defRPr/>
              </a:pPr>
              <a:t>114</a:t>
            </a:fld>
            <a:endParaRPr lang="en-US" altLang="zh-CN"/>
          </a:p>
        </p:txBody>
      </p:sp>
      <p:graphicFrame>
        <p:nvGraphicFramePr>
          <p:cNvPr id="155651" name="对象 5"/>
          <p:cNvGraphicFramePr>
            <a:graphicFrameLocks noChangeAspect="1"/>
          </p:cNvGraphicFramePr>
          <p:nvPr/>
        </p:nvGraphicFramePr>
        <p:xfrm>
          <a:off x="4044950" y="498475"/>
          <a:ext cx="4826000" cy="4164013"/>
        </p:xfrm>
        <a:graphic>
          <a:graphicData uri="http://schemas.openxmlformats.org/presentationml/2006/ole">
            <mc:AlternateContent xmlns:mc="http://schemas.openxmlformats.org/markup-compatibility/2006">
              <mc:Choice xmlns:v="urn:schemas-microsoft-com:vml" Requires="v">
                <p:oleObj spid="_x0000_s155695" name="Graph" r:id="rId4" imgW="3222434" imgH="2484304" progId="Origin50.Graph">
                  <p:embed/>
                </p:oleObj>
              </mc:Choice>
              <mc:Fallback>
                <p:oleObj name="Graph" r:id="rId4" imgW="3222434" imgH="2484304" progId="Origin50.Graph">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44950" y="498475"/>
                        <a:ext cx="4826000" cy="416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矩形 6">
            <a:extLst>
              <a:ext uri="{FF2B5EF4-FFF2-40B4-BE49-F238E27FC236}">
                <a16:creationId xmlns:a16="http://schemas.microsoft.com/office/drawing/2014/main" id="{CF723A0C-BF40-4A18-ACF3-B80EFB80A44D}"/>
              </a:ext>
            </a:extLst>
          </p:cNvPr>
          <p:cNvSpPr/>
          <p:nvPr/>
        </p:nvSpPr>
        <p:spPr>
          <a:xfrm>
            <a:off x="179388" y="4806950"/>
            <a:ext cx="8104187" cy="646113"/>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r</a:t>
            </a:r>
            <a:r>
              <a:rPr lang="en-US" altLang="zh-CN" b="1" kern="100" baseline="-25000" dirty="0">
                <a:latin typeface="Times New Roman" panose="02020603050405020304" pitchFamily="18" charset="0"/>
                <a:ea typeface="黑体" panose="02010609060101010101" pitchFamily="49" charset="-122"/>
              </a:rPr>
              <a:t>1</a:t>
            </a:r>
            <a:r>
              <a:rPr lang="en-US" altLang="zh-CN" b="1" kern="100" dirty="0">
                <a:latin typeface="Times New Roman" panose="02020603050405020304" pitchFamily="18" charset="0"/>
                <a:ea typeface="黑体" panose="02010609060101010101" pitchFamily="49" charset="-122"/>
              </a:rPr>
              <a:t> as a function of r</a:t>
            </a:r>
            <a:r>
              <a:rPr lang="en-US" altLang="zh-CN" b="1" kern="100" baseline="-25000" dirty="0">
                <a:latin typeface="Times New Roman" panose="02020603050405020304" pitchFamily="18" charset="0"/>
                <a:ea typeface="黑体" panose="02010609060101010101" pitchFamily="49" charset="-122"/>
              </a:rPr>
              <a:t>2 </a:t>
            </a:r>
            <a:r>
              <a:rPr lang="en-US" altLang="zh-CN" b="1" kern="100" dirty="0">
                <a:latin typeface="Times New Roman" panose="02020603050405020304" pitchFamily="18" charset="0"/>
                <a:ea typeface="黑体" panose="02010609060101010101" pitchFamily="49" charset="-122"/>
              </a:rPr>
              <a:t>for copolymerization of MA and ATMP estimated from </a:t>
            </a:r>
            <a:r>
              <a:rPr lang="en-US" altLang="zh-CN" b="1" kern="100" baseline="30000" dirty="0">
                <a:latin typeface="Times New Roman" panose="02020603050405020304" pitchFamily="18" charset="0"/>
                <a:ea typeface="黑体" panose="02010609060101010101" pitchFamily="49" charset="-122"/>
              </a:rPr>
              <a:t>1</a:t>
            </a:r>
            <a:r>
              <a:rPr lang="en-US" altLang="zh-CN" b="1" kern="100" dirty="0">
                <a:latin typeface="Times New Roman" panose="02020603050405020304" pitchFamily="18" charset="0"/>
                <a:ea typeface="黑体" panose="02010609060101010101" pitchFamily="49" charset="-122"/>
              </a:rPr>
              <a:t>H-NMR by Mayo-Lewis </a:t>
            </a:r>
            <a:r>
              <a:rPr lang="en-US" altLang="zh-CN" b="1" kern="100" dirty="0" err="1">
                <a:latin typeface="Times New Roman" panose="02020603050405020304" pitchFamily="18" charset="0"/>
                <a:ea typeface="黑体" panose="02010609060101010101" pitchFamily="49" charset="-122"/>
              </a:rPr>
              <a:t>intergral</a:t>
            </a:r>
            <a:r>
              <a:rPr lang="en-US" altLang="zh-CN" b="1" kern="100" dirty="0">
                <a:latin typeface="Times New Roman" panose="02020603050405020304" pitchFamily="18" charset="0"/>
                <a:ea typeface="黑体" panose="02010609060101010101" pitchFamily="49" charset="-122"/>
              </a:rPr>
              <a:t> equation</a:t>
            </a:r>
            <a:endParaRPr lang="zh-CN" altLang="en-US" dirty="0"/>
          </a:p>
        </p:txBody>
      </p:sp>
      <p:sp>
        <p:nvSpPr>
          <p:cNvPr id="8" name="矩形 7">
            <a:extLst>
              <a:ext uri="{FF2B5EF4-FFF2-40B4-BE49-F238E27FC236}">
                <a16:creationId xmlns:a16="http://schemas.microsoft.com/office/drawing/2014/main" id="{0E997891-9E5E-4F7F-870F-FE88E3EEEE01}"/>
              </a:ext>
            </a:extLst>
          </p:cNvPr>
          <p:cNvSpPr/>
          <p:nvPr/>
        </p:nvSpPr>
        <p:spPr>
          <a:xfrm>
            <a:off x="201613" y="5876925"/>
            <a:ext cx="4910137" cy="461963"/>
          </a:xfrm>
          <a:prstGeom prst="rect">
            <a:avLst/>
          </a:prstGeom>
        </p:spPr>
        <p:txBody>
          <a:bodyPr wrap="none">
            <a:spAutoFit/>
          </a:bodyPr>
          <a:lstStyle/>
          <a:p>
            <a:pPr>
              <a:defRPr/>
            </a:pP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1 </a:t>
            </a:r>
            <a:r>
              <a:rPr lang="en-US" altLang="zh-CN" sz="2400" kern="100" dirty="0">
                <a:latin typeface="Times New Roman" panose="02020603050405020304" pitchFamily="18" charset="0"/>
                <a:ea typeface="宋体" panose="02010600030101010101" pitchFamily="2" charset="-122"/>
              </a:rPr>
              <a:t>&lt; 1</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而</a:t>
            </a: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2 </a:t>
            </a:r>
            <a:r>
              <a:rPr lang="en-US" altLang="zh-CN" sz="2400" kern="100" dirty="0">
                <a:latin typeface="Times New Roman" panose="02020603050405020304" pitchFamily="18" charset="0"/>
                <a:ea typeface="宋体" panose="02010600030101010101" pitchFamily="2" charset="-122"/>
              </a:rPr>
              <a:t>&gt; 1</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且</a:t>
            </a: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1</a:t>
            </a:r>
            <a:r>
              <a:rPr lang="zh-CN" altLang="zh-CN" sz="2400" kern="100" dirty="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r</a:t>
            </a:r>
            <a:r>
              <a:rPr lang="en-US" altLang="zh-CN" sz="2400" kern="100" baseline="-25000" dirty="0">
                <a:latin typeface="Times New Roman" panose="02020603050405020304" pitchFamily="18" charset="0"/>
                <a:ea typeface="宋体" panose="02010600030101010101" pitchFamily="2" charset="-122"/>
              </a:rPr>
              <a:t>2 </a:t>
            </a:r>
            <a:r>
              <a:rPr lang="en-US" altLang="zh-CN" sz="2400" kern="100" dirty="0">
                <a:latin typeface="Times New Roman" panose="02020603050405020304" pitchFamily="18" charset="0"/>
                <a:ea typeface="宋体" panose="02010600030101010101" pitchFamily="2" charset="-122"/>
              </a:rPr>
              <a:t>&lt; 1</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的非理想共聚</a:t>
            </a:r>
            <a:endParaRPr lang="zh-CN" altLang="en-US" sz="2400" dirty="0"/>
          </a:p>
        </p:txBody>
      </p:sp>
      <p:graphicFrame>
        <p:nvGraphicFramePr>
          <p:cNvPr id="155654" name="对象 8"/>
          <p:cNvGraphicFramePr>
            <a:graphicFrameLocks noChangeAspect="1"/>
          </p:cNvGraphicFramePr>
          <p:nvPr/>
        </p:nvGraphicFramePr>
        <p:xfrm>
          <a:off x="179388" y="498475"/>
          <a:ext cx="3600450" cy="2938463"/>
        </p:xfrm>
        <a:graphic>
          <a:graphicData uri="http://schemas.openxmlformats.org/presentationml/2006/ole">
            <mc:AlternateContent xmlns:mc="http://schemas.openxmlformats.org/markup-compatibility/2006">
              <mc:Choice xmlns:v="urn:schemas-microsoft-com:vml" Requires="v">
                <p:oleObj spid="_x0000_s155696" name="公式" r:id="rId6" imgW="2209800" imgH="1803400" progId="Equation.3">
                  <p:embed/>
                </p:oleObj>
              </mc:Choice>
              <mc:Fallback>
                <p:oleObj name="公式" r:id="rId6" imgW="2209800" imgH="1803400" progId="Equation.3">
                  <p:embed/>
                  <p:pic>
                    <p:nvPicPr>
                      <p:cNvPr id="0"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388" y="498475"/>
                        <a:ext cx="3600450" cy="29384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5655" name="对象 9"/>
          <p:cNvGraphicFramePr>
            <a:graphicFrameLocks noChangeAspect="1"/>
          </p:cNvGraphicFramePr>
          <p:nvPr/>
        </p:nvGraphicFramePr>
        <p:xfrm>
          <a:off x="231775" y="3722688"/>
          <a:ext cx="1419225" cy="787400"/>
        </p:xfrm>
        <a:graphic>
          <a:graphicData uri="http://schemas.openxmlformats.org/presentationml/2006/ole">
            <mc:AlternateContent xmlns:mc="http://schemas.openxmlformats.org/markup-compatibility/2006">
              <mc:Choice xmlns:v="urn:schemas-microsoft-com:vml" Requires="v">
                <p:oleObj spid="_x0000_s155697" name="公式" r:id="rId8" imgW="799753" imgH="444307" progId="Equation.3">
                  <p:embed/>
                </p:oleObj>
              </mc:Choice>
              <mc:Fallback>
                <p:oleObj name="公式" r:id="rId8" imgW="799753" imgH="444307" progId="Equation.3">
                  <p:embed/>
                  <p:pic>
                    <p:nvPicPr>
                      <p:cNvPr id="0" name="对象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775" y="3722688"/>
                        <a:ext cx="14192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AE4B5E2-9D49-4802-895D-AE15A6DD9564}"/>
              </a:ext>
            </a:extLst>
          </p:cNvPr>
          <p:cNvSpPr>
            <a:spLocks noGrp="1"/>
          </p:cNvSpPr>
          <p:nvPr>
            <p:ph type="sldNum" sz="quarter" idx="12"/>
          </p:nvPr>
        </p:nvSpPr>
        <p:spPr/>
        <p:txBody>
          <a:bodyPr/>
          <a:lstStyle/>
          <a:p>
            <a:pPr>
              <a:defRPr/>
            </a:pPr>
            <a:fld id="{3A027B43-1ABC-4F11-9766-822F91B28FDF}" type="slidenum">
              <a:rPr lang="zh-CN" altLang="en-US" smtClean="0"/>
              <a:pPr>
                <a:defRPr/>
              </a:pPr>
              <a:t>115</a:t>
            </a:fld>
            <a:endParaRPr lang="en-US" altLang="zh-CN"/>
          </a:p>
        </p:txBody>
      </p:sp>
      <p:sp>
        <p:nvSpPr>
          <p:cNvPr id="3" name="矩形 2">
            <a:extLst>
              <a:ext uri="{FF2B5EF4-FFF2-40B4-BE49-F238E27FC236}">
                <a16:creationId xmlns:a16="http://schemas.microsoft.com/office/drawing/2014/main" id="{4AE0621F-C793-46A5-B882-F5B16C0C3731}"/>
              </a:ext>
            </a:extLst>
          </p:cNvPr>
          <p:cNvSpPr/>
          <p:nvPr/>
        </p:nvSpPr>
        <p:spPr>
          <a:xfrm>
            <a:off x="323850" y="549275"/>
            <a:ext cx="3155950" cy="368300"/>
          </a:xfrm>
          <a:prstGeom prst="rect">
            <a:avLst/>
          </a:prstGeom>
        </p:spPr>
        <p:txBody>
          <a:bodyPr wrap="none">
            <a:spAutoFit/>
          </a:bodyPr>
          <a:lstStyle/>
          <a:p>
            <a:pPr>
              <a:defRPr/>
            </a:pPr>
            <a:r>
              <a:rPr lang="en-US" altLang="zh-CN" b="1" dirty="0">
                <a:latin typeface="Arial" panose="020B0604020202020204" pitchFamily="34" charset="0"/>
                <a:ea typeface="黑体" panose="02010609060101010101" pitchFamily="49" charset="-122"/>
              </a:rPr>
              <a:t>Extended Kelen-Tudos</a:t>
            </a:r>
            <a:r>
              <a:rPr lang="zh-CN" altLang="zh-CN" kern="100" spc="100" dirty="0">
                <a:ea typeface="黑体" panose="02010609060101010101" pitchFamily="49" charset="-122"/>
                <a:cs typeface="Times New Roman" panose="02020603050405020304" pitchFamily="18" charset="0"/>
              </a:rPr>
              <a:t>方法</a:t>
            </a:r>
            <a:endParaRPr lang="zh-CN" altLang="en-US" dirty="0"/>
          </a:p>
        </p:txBody>
      </p:sp>
      <p:graphicFrame>
        <p:nvGraphicFramePr>
          <p:cNvPr id="157700" name="对象 4"/>
          <p:cNvGraphicFramePr>
            <a:graphicFrameLocks noChangeAspect="1"/>
          </p:cNvGraphicFramePr>
          <p:nvPr/>
        </p:nvGraphicFramePr>
        <p:xfrm>
          <a:off x="468313" y="1196975"/>
          <a:ext cx="2849562" cy="900113"/>
        </p:xfrm>
        <a:graphic>
          <a:graphicData uri="http://schemas.openxmlformats.org/presentationml/2006/ole">
            <mc:AlternateContent xmlns:mc="http://schemas.openxmlformats.org/markup-compatibility/2006">
              <mc:Choice xmlns:v="urn:schemas-microsoft-com:vml" Requires="v">
                <p:oleObj spid="_x0000_s157827" name="公式" r:id="rId3" imgW="1447800" imgH="457200" progId="Equation.3">
                  <p:embed/>
                </p:oleObj>
              </mc:Choice>
              <mc:Fallback>
                <p:oleObj name="公式" r:id="rId3" imgW="1447800" imgH="457200" progId="Equation.3">
                  <p:embed/>
                  <p:pic>
                    <p:nvPicPr>
                      <p:cNvPr id="0"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196975"/>
                        <a:ext cx="2849562"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1" name="对象 5"/>
          <p:cNvGraphicFramePr>
            <a:graphicFrameLocks noChangeAspect="1"/>
          </p:cNvGraphicFramePr>
          <p:nvPr/>
        </p:nvGraphicFramePr>
        <p:xfrm>
          <a:off x="4067175" y="1352550"/>
          <a:ext cx="1177925" cy="588963"/>
        </p:xfrm>
        <a:graphic>
          <a:graphicData uri="http://schemas.openxmlformats.org/presentationml/2006/ole">
            <mc:AlternateContent xmlns:mc="http://schemas.openxmlformats.org/markup-compatibility/2006">
              <mc:Choice xmlns:v="urn:schemas-microsoft-com:vml" Requires="v">
                <p:oleObj spid="_x0000_s157828" name="公式" r:id="rId5" imgW="812447" imgH="406224" progId="Equation.3">
                  <p:embed/>
                </p:oleObj>
              </mc:Choice>
              <mc:Fallback>
                <p:oleObj name="公式" r:id="rId5" imgW="812447" imgH="406224" progId="Equation.3">
                  <p:embed/>
                  <p:pic>
                    <p:nvPicPr>
                      <p:cNvPr id="0" name="对象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1352550"/>
                        <a:ext cx="1177925"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2" name="对象 6"/>
          <p:cNvGraphicFramePr>
            <a:graphicFrameLocks noChangeAspect="1"/>
          </p:cNvGraphicFramePr>
          <p:nvPr/>
        </p:nvGraphicFramePr>
        <p:xfrm>
          <a:off x="5994400" y="1293813"/>
          <a:ext cx="1414463" cy="706437"/>
        </p:xfrm>
        <a:graphic>
          <a:graphicData uri="http://schemas.openxmlformats.org/presentationml/2006/ole">
            <mc:AlternateContent xmlns:mc="http://schemas.openxmlformats.org/markup-compatibility/2006">
              <mc:Choice xmlns:v="urn:schemas-microsoft-com:vml" Requires="v">
                <p:oleObj spid="_x0000_s157829" name="公式" r:id="rId7" imgW="812447" imgH="406224" progId="Equation.3">
                  <p:embed/>
                </p:oleObj>
              </mc:Choice>
              <mc:Fallback>
                <p:oleObj name="公式" r:id="rId7" imgW="812447" imgH="406224" progId="Equation.3">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4400" y="1293813"/>
                        <a:ext cx="1414463"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3" name="对象 7"/>
          <p:cNvGraphicFramePr>
            <a:graphicFrameLocks noChangeAspect="1"/>
          </p:cNvGraphicFramePr>
          <p:nvPr/>
        </p:nvGraphicFramePr>
        <p:xfrm>
          <a:off x="3279775" y="2335213"/>
          <a:ext cx="2058988" cy="503237"/>
        </p:xfrm>
        <a:graphic>
          <a:graphicData uri="http://schemas.openxmlformats.org/presentationml/2006/ole">
            <mc:AlternateContent xmlns:mc="http://schemas.openxmlformats.org/markup-compatibility/2006">
              <mc:Choice xmlns:v="urn:schemas-microsoft-com:vml" Requires="v">
                <p:oleObj spid="_x0000_s157830" name="公式" r:id="rId9" imgW="1244600" imgH="304800" progId="Equation.3">
                  <p:embed/>
                </p:oleObj>
              </mc:Choice>
              <mc:Fallback>
                <p:oleObj name="公式" r:id="rId9" imgW="1244600" imgH="304800" progId="Equation.3">
                  <p:embed/>
                  <p:pic>
                    <p:nvPicPr>
                      <p:cNvPr id="0" name="对象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9775" y="2335213"/>
                        <a:ext cx="205898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4" name="对象 8"/>
          <p:cNvGraphicFramePr>
            <a:graphicFrameLocks noChangeAspect="1"/>
          </p:cNvGraphicFramePr>
          <p:nvPr/>
        </p:nvGraphicFramePr>
        <p:xfrm>
          <a:off x="5715000" y="2355850"/>
          <a:ext cx="882650" cy="601663"/>
        </p:xfrm>
        <a:graphic>
          <a:graphicData uri="http://schemas.openxmlformats.org/presentationml/2006/ole">
            <mc:AlternateContent xmlns:mc="http://schemas.openxmlformats.org/markup-compatibility/2006">
              <mc:Choice xmlns:v="urn:schemas-microsoft-com:vml" Requires="v">
                <p:oleObj spid="_x0000_s157831" name="公式" r:id="rId11" imgW="596641" imgH="406224" progId="Equation.3">
                  <p:embed/>
                </p:oleObj>
              </mc:Choice>
              <mc:Fallback>
                <p:oleObj name="公式" r:id="rId11" imgW="596641" imgH="406224" progId="Equation.3">
                  <p:embed/>
                  <p:pic>
                    <p:nvPicPr>
                      <p:cNvPr id="0" name="对象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15000" y="2355850"/>
                        <a:ext cx="882650" cy="60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5" name="对象 9"/>
          <p:cNvGraphicFramePr>
            <a:graphicFrameLocks noChangeAspect="1"/>
          </p:cNvGraphicFramePr>
          <p:nvPr/>
        </p:nvGraphicFramePr>
        <p:xfrm>
          <a:off x="7235825" y="2366963"/>
          <a:ext cx="1036638" cy="561975"/>
        </p:xfrm>
        <a:graphic>
          <a:graphicData uri="http://schemas.openxmlformats.org/presentationml/2006/ole">
            <mc:AlternateContent xmlns:mc="http://schemas.openxmlformats.org/markup-compatibility/2006">
              <mc:Choice xmlns:v="urn:schemas-microsoft-com:vml" Requires="v">
                <p:oleObj spid="_x0000_s157832" name="公式" r:id="rId13" imgW="748975" imgH="406224" progId="Equation.3">
                  <p:embed/>
                </p:oleObj>
              </mc:Choice>
              <mc:Fallback>
                <p:oleObj name="公式" r:id="rId13" imgW="748975" imgH="406224" progId="Equation.3">
                  <p:embed/>
                  <p:pic>
                    <p:nvPicPr>
                      <p:cNvPr id="0" name="对象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235825" y="2366963"/>
                        <a:ext cx="1036638"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6" name="对象 10"/>
          <p:cNvGraphicFramePr>
            <a:graphicFrameLocks noChangeAspect="1"/>
          </p:cNvGraphicFramePr>
          <p:nvPr/>
        </p:nvGraphicFramePr>
        <p:xfrm>
          <a:off x="3298825" y="3227388"/>
          <a:ext cx="1946275" cy="790575"/>
        </p:xfrm>
        <a:graphic>
          <a:graphicData uri="http://schemas.openxmlformats.org/presentationml/2006/ole">
            <mc:AlternateContent xmlns:mc="http://schemas.openxmlformats.org/markup-compatibility/2006">
              <mc:Choice xmlns:v="urn:schemas-microsoft-com:vml" Requires="v">
                <p:oleObj spid="_x0000_s157833" name="公式" r:id="rId15" imgW="1091726" imgH="444307" progId="Equation.3">
                  <p:embed/>
                </p:oleObj>
              </mc:Choice>
              <mc:Fallback>
                <p:oleObj name="公式" r:id="rId15" imgW="1091726" imgH="444307" progId="Equation.3">
                  <p:embed/>
                  <p:pic>
                    <p:nvPicPr>
                      <p:cNvPr id="0" name="对象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298825" y="3227388"/>
                        <a:ext cx="19462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7" name="对象 11"/>
          <p:cNvGraphicFramePr>
            <a:graphicFrameLocks noChangeAspect="1"/>
          </p:cNvGraphicFramePr>
          <p:nvPr/>
        </p:nvGraphicFramePr>
        <p:xfrm>
          <a:off x="7235825" y="3252788"/>
          <a:ext cx="1778000" cy="719137"/>
        </p:xfrm>
        <a:graphic>
          <a:graphicData uri="http://schemas.openxmlformats.org/presentationml/2006/ole">
            <mc:AlternateContent xmlns:mc="http://schemas.openxmlformats.org/markup-compatibility/2006">
              <mc:Choice xmlns:v="urn:schemas-microsoft-com:vml" Requires="v">
                <p:oleObj spid="_x0000_s157834" name="公式" r:id="rId17" imgW="1066800" imgH="431800" progId="Equation.3">
                  <p:embed/>
                </p:oleObj>
              </mc:Choice>
              <mc:Fallback>
                <p:oleObj name="公式" r:id="rId17" imgW="1066800" imgH="431800" progId="Equation.3">
                  <p:embed/>
                  <p:pic>
                    <p:nvPicPr>
                      <p:cNvPr id="0" name="对象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35825" y="3252788"/>
                        <a:ext cx="17780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7708" name="对象 12"/>
          <p:cNvGraphicFramePr>
            <a:graphicFrameLocks noChangeAspect="1"/>
          </p:cNvGraphicFramePr>
          <p:nvPr/>
        </p:nvGraphicFramePr>
        <p:xfrm>
          <a:off x="5716588" y="3252788"/>
          <a:ext cx="1149350" cy="708025"/>
        </p:xfrm>
        <a:graphic>
          <a:graphicData uri="http://schemas.openxmlformats.org/presentationml/2006/ole">
            <mc:AlternateContent xmlns:mc="http://schemas.openxmlformats.org/markup-compatibility/2006">
              <mc:Choice xmlns:v="urn:schemas-microsoft-com:vml" Requires="v">
                <p:oleObj spid="_x0000_s157835" name="公式" r:id="rId19" imgW="660113" imgH="406224" progId="Equation.3">
                  <p:embed/>
                </p:oleObj>
              </mc:Choice>
              <mc:Fallback>
                <p:oleObj name="公式" r:id="rId19" imgW="660113" imgH="406224" progId="Equation.3">
                  <p:embed/>
                  <p:pic>
                    <p:nvPicPr>
                      <p:cNvPr id="0" name="对象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716588" y="3252788"/>
                        <a:ext cx="11493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3">
            <a:extLst>
              <a:ext uri="{FF2B5EF4-FFF2-40B4-BE49-F238E27FC236}">
                <a16:creationId xmlns:a16="http://schemas.microsoft.com/office/drawing/2014/main" id="{213D3FDB-DF7E-4F6A-A41C-6BC617895D59}"/>
              </a:ext>
            </a:extLst>
          </p:cNvPr>
          <p:cNvSpPr/>
          <p:nvPr/>
        </p:nvSpPr>
        <p:spPr>
          <a:xfrm>
            <a:off x="327025" y="4610100"/>
            <a:ext cx="8510588" cy="1570038"/>
          </a:xfrm>
          <a:prstGeom prst="rect">
            <a:avLst/>
          </a:prstGeom>
        </p:spPr>
        <p:txBody>
          <a:bodyPr>
            <a:spAutoFit/>
          </a:bodyPr>
          <a:lstStyle/>
          <a:p>
            <a:pPr>
              <a:defRPr/>
            </a:pPr>
            <a:r>
              <a:rPr lang="zh-CN" altLang="zh-CN" sz="2400" kern="100" dirty="0">
                <a:latin typeface="Arial" panose="020B0604020202020204" pitchFamily="34" charset="0"/>
                <a:ea typeface="楷体" panose="02010609060101010101" pitchFamily="49" charset="-122"/>
                <a:cs typeface="Arial" panose="020B0604020202020204" pitchFamily="34" charset="0"/>
              </a:rPr>
              <a:t>式中</a:t>
            </a:r>
            <a:r>
              <a:rPr lang="en-US" altLang="zh-CN" sz="2400" kern="100" dirty="0">
                <a:latin typeface="Arial" panose="020B0604020202020204" pitchFamily="34" charset="0"/>
                <a:ea typeface="楷体" panose="02010609060101010101" pitchFamily="49" charset="-122"/>
                <a:cs typeface="Arial" panose="020B0604020202020204" pitchFamily="34" charset="0"/>
              </a:rPr>
              <a:t>X</a:t>
            </a:r>
            <a:r>
              <a:rPr lang="zh-CN" altLang="zh-CN" sz="2400" kern="100" dirty="0">
                <a:latin typeface="Arial" panose="020B0604020202020204" pitchFamily="34" charset="0"/>
                <a:ea typeface="楷体" panose="02010609060101010101" pitchFamily="49" charset="-122"/>
                <a:cs typeface="Arial" panose="020B0604020202020204" pitchFamily="34" charset="0"/>
              </a:rPr>
              <a:t>和</a:t>
            </a:r>
            <a:r>
              <a:rPr lang="en-US" altLang="zh-CN" sz="2400" kern="100" dirty="0">
                <a:latin typeface="Arial" panose="020B0604020202020204" pitchFamily="34" charset="0"/>
                <a:ea typeface="楷体" panose="02010609060101010101" pitchFamily="49" charset="-122"/>
                <a:cs typeface="Arial" panose="020B0604020202020204" pitchFamily="34" charset="0"/>
              </a:rPr>
              <a:t>Y</a:t>
            </a:r>
            <a:r>
              <a:rPr lang="zh-CN" altLang="zh-CN" sz="2400" kern="100" dirty="0">
                <a:latin typeface="Arial" panose="020B0604020202020204" pitchFamily="34" charset="0"/>
                <a:ea typeface="楷体" panose="02010609060101010101" pitchFamily="49" charset="-122"/>
                <a:cs typeface="Arial" panose="020B0604020202020204" pitchFamily="34" charset="0"/>
              </a:rPr>
              <a:t>代表单体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1</a:t>
            </a:r>
            <a:r>
              <a:rPr lang="zh-CN" altLang="zh-CN" sz="2400" kern="100" dirty="0">
                <a:latin typeface="Arial" panose="020B0604020202020204" pitchFamily="34" charset="0"/>
                <a:ea typeface="楷体" panose="02010609060101010101" pitchFamily="49" charset="-122"/>
                <a:cs typeface="Arial" panose="020B0604020202020204" pitchFamily="34" charset="0"/>
              </a:rPr>
              <a:t>和单体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2</a:t>
            </a:r>
            <a:r>
              <a:rPr lang="zh-CN" altLang="zh-CN" sz="2400" kern="100" dirty="0">
                <a:latin typeface="Arial" panose="020B0604020202020204" pitchFamily="34" charset="0"/>
                <a:ea typeface="楷体" panose="02010609060101010101" pitchFamily="49" charset="-122"/>
                <a:cs typeface="Arial" panose="020B0604020202020204" pitchFamily="34" charset="0"/>
              </a:rPr>
              <a:t>在投料时和共聚物中的组成比，</a:t>
            </a:r>
            <a:r>
              <a:rPr lang="en-US" altLang="zh-CN" sz="2400" kern="100" dirty="0">
                <a:latin typeface="Arial" panose="020B0604020202020204" pitchFamily="34" charset="0"/>
                <a:ea typeface="楷体" panose="02010609060101010101" pitchFamily="49" charset="-122"/>
                <a:cs typeface="Arial" panose="020B0604020202020204" pitchFamily="34" charset="0"/>
              </a:rPr>
              <a:t>W</a:t>
            </a:r>
            <a:r>
              <a:rPr lang="zh-CN" altLang="zh-CN" sz="2400" kern="100" dirty="0">
                <a:latin typeface="Arial" panose="020B0604020202020204" pitchFamily="34" charset="0"/>
                <a:ea typeface="楷体" panose="02010609060101010101" pitchFamily="49" charset="-122"/>
                <a:cs typeface="Arial" panose="020B0604020202020204" pitchFamily="34" charset="0"/>
              </a:rPr>
              <a:t>为共聚转化率，由称重法计算。</a:t>
            </a:r>
            <a:r>
              <a:rPr lang="en-US" altLang="zh-CN" sz="2400" kern="100" dirty="0">
                <a:latin typeface="Arial" panose="020B0604020202020204" pitchFamily="34" charset="0"/>
                <a:ea typeface="楷体" panose="02010609060101010101" pitchFamily="49" charset="-122"/>
                <a:cs typeface="Arial" panose="020B0604020202020204" pitchFamily="34" charset="0"/>
              </a:rPr>
              <a:t>μ</a:t>
            </a:r>
            <a:r>
              <a:rPr lang="zh-CN" altLang="zh-CN" sz="2400" kern="100" dirty="0">
                <a:latin typeface="Arial" panose="020B0604020202020204" pitchFamily="34" charset="0"/>
                <a:ea typeface="楷体" panose="02010609060101010101" pitchFamily="49" charset="-122"/>
                <a:cs typeface="Arial" panose="020B0604020202020204" pitchFamily="34" charset="0"/>
              </a:rPr>
              <a:t>是单体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2</a:t>
            </a:r>
            <a:r>
              <a:rPr lang="zh-CN" altLang="zh-CN" sz="2400" kern="100" dirty="0">
                <a:latin typeface="Arial" panose="020B0604020202020204" pitchFamily="34" charset="0"/>
                <a:ea typeface="楷体" panose="02010609060101010101" pitchFamily="49" charset="-122"/>
                <a:cs typeface="Arial" panose="020B0604020202020204" pitchFamily="34" charset="0"/>
              </a:rPr>
              <a:t>和单体</a:t>
            </a:r>
            <a:r>
              <a:rPr lang="en-US" altLang="zh-CN" sz="2400" kern="100" dirty="0">
                <a:latin typeface="Arial" panose="020B0604020202020204" pitchFamily="34" charset="0"/>
                <a:ea typeface="楷体" panose="02010609060101010101" pitchFamily="49" charset="-122"/>
                <a:cs typeface="Arial" panose="020B0604020202020204" pitchFamily="34" charset="0"/>
              </a:rPr>
              <a:t>1</a:t>
            </a:r>
            <a:r>
              <a:rPr lang="zh-CN" altLang="zh-CN" sz="2400" kern="100" dirty="0">
                <a:latin typeface="Arial" panose="020B0604020202020204" pitchFamily="34" charset="0"/>
                <a:ea typeface="楷体" panose="02010609060101010101" pitchFamily="49" charset="-122"/>
                <a:cs typeface="Arial" panose="020B0604020202020204" pitchFamily="34" charset="0"/>
              </a:rPr>
              <a:t>的分子量比值。起始的投料比</a:t>
            </a:r>
            <a:r>
              <a:rPr lang="en-US" altLang="zh-CN" sz="2400" kern="100" dirty="0">
                <a:latin typeface="Arial" panose="020B0604020202020204" pitchFamily="34" charset="0"/>
                <a:ea typeface="楷体" panose="02010609060101010101" pitchFamily="49" charset="-122"/>
                <a:cs typeface="Arial" panose="020B0604020202020204" pitchFamily="34" charset="0"/>
              </a:rPr>
              <a:t>X</a:t>
            </a:r>
            <a:r>
              <a:rPr lang="zh-CN" altLang="zh-CN" sz="2400" kern="100" dirty="0">
                <a:latin typeface="Arial" panose="020B0604020202020204" pitchFamily="34" charset="0"/>
                <a:ea typeface="楷体" panose="02010609060101010101" pitchFamily="49" charset="-122"/>
                <a:cs typeface="Arial" panose="020B0604020202020204" pitchFamily="34" charset="0"/>
              </a:rPr>
              <a:t>已知，</a:t>
            </a:r>
            <a:r>
              <a:rPr lang="en-US" altLang="zh-CN" sz="2400" kern="100" dirty="0">
                <a:latin typeface="Arial" panose="020B0604020202020204" pitchFamily="34" charset="0"/>
                <a:ea typeface="楷体" panose="02010609060101010101" pitchFamily="49" charset="-122"/>
                <a:cs typeface="Arial" panose="020B0604020202020204" pitchFamily="34" charset="0"/>
              </a:rPr>
              <a:t>Y</a:t>
            </a:r>
            <a:r>
              <a:rPr lang="zh-CN" altLang="zh-CN" sz="2400" kern="100" dirty="0">
                <a:latin typeface="Arial" panose="020B0604020202020204" pitchFamily="34" charset="0"/>
                <a:ea typeface="楷体" panose="02010609060101010101" pitchFamily="49" charset="-122"/>
                <a:cs typeface="Arial" panose="020B0604020202020204" pitchFamily="34" charset="0"/>
              </a:rPr>
              <a:t>可以通过核磁图谱中共聚物的特征基团的积分比求得。</a:t>
            </a:r>
            <a:endParaRPr lang="zh-CN" altLang="en-US" sz="2400" dirty="0">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C599C6F-703F-4B58-8BEF-0E1D8418EF6C}"/>
              </a:ext>
            </a:extLst>
          </p:cNvPr>
          <p:cNvSpPr>
            <a:spLocks noGrp="1"/>
          </p:cNvSpPr>
          <p:nvPr>
            <p:ph type="sldNum" sz="quarter" idx="12"/>
          </p:nvPr>
        </p:nvSpPr>
        <p:spPr/>
        <p:txBody>
          <a:bodyPr/>
          <a:lstStyle/>
          <a:p>
            <a:pPr>
              <a:defRPr/>
            </a:pPr>
            <a:fld id="{8D9A7169-8CBB-4089-979C-4636E0E16981}" type="slidenum">
              <a:rPr lang="zh-CN" altLang="en-US" smtClean="0"/>
              <a:pPr>
                <a:defRPr/>
              </a:pPr>
              <a:t>116</a:t>
            </a:fld>
            <a:endParaRPr lang="en-US" altLang="zh-CN"/>
          </a:p>
        </p:txBody>
      </p:sp>
      <p:graphicFrame>
        <p:nvGraphicFramePr>
          <p:cNvPr id="3" name="表格 2">
            <a:extLst>
              <a:ext uri="{FF2B5EF4-FFF2-40B4-BE49-F238E27FC236}">
                <a16:creationId xmlns:a16="http://schemas.microsoft.com/office/drawing/2014/main" id="{804A2EA7-EE5E-496C-9B97-C6B16090E375}"/>
              </a:ext>
            </a:extLst>
          </p:cNvPr>
          <p:cNvGraphicFramePr>
            <a:graphicFrameLocks noGrp="1"/>
          </p:cNvGraphicFramePr>
          <p:nvPr/>
        </p:nvGraphicFramePr>
        <p:xfrm>
          <a:off x="179388" y="1412875"/>
          <a:ext cx="8785225" cy="4011613"/>
        </p:xfrm>
        <a:graphic>
          <a:graphicData uri="http://schemas.openxmlformats.org/drawingml/2006/table">
            <a:tbl>
              <a:tblPr firstRow="1" firstCol="1" bandRow="1" bandCol="1">
                <a:tableStyleId>{5C22544A-7EE6-4342-B048-85BDC9FD1C3A}</a:tableStyleId>
              </a:tblPr>
              <a:tblGrid>
                <a:gridCol w="813512">
                  <a:extLst>
                    <a:ext uri="{9D8B030D-6E8A-4147-A177-3AD203B41FA5}">
                      <a16:colId xmlns:a16="http://schemas.microsoft.com/office/drawing/2014/main" val="2701925359"/>
                    </a:ext>
                  </a:extLst>
                </a:gridCol>
                <a:gridCol w="813512">
                  <a:extLst>
                    <a:ext uri="{9D8B030D-6E8A-4147-A177-3AD203B41FA5}">
                      <a16:colId xmlns:a16="http://schemas.microsoft.com/office/drawing/2014/main" val="1774662830"/>
                    </a:ext>
                  </a:extLst>
                </a:gridCol>
                <a:gridCol w="813512">
                  <a:extLst>
                    <a:ext uri="{9D8B030D-6E8A-4147-A177-3AD203B41FA5}">
                      <a16:colId xmlns:a16="http://schemas.microsoft.com/office/drawing/2014/main" val="1270873367"/>
                    </a:ext>
                  </a:extLst>
                </a:gridCol>
                <a:gridCol w="813512">
                  <a:extLst>
                    <a:ext uri="{9D8B030D-6E8A-4147-A177-3AD203B41FA5}">
                      <a16:colId xmlns:a16="http://schemas.microsoft.com/office/drawing/2014/main" val="3822612969"/>
                    </a:ext>
                  </a:extLst>
                </a:gridCol>
                <a:gridCol w="744987">
                  <a:extLst>
                    <a:ext uri="{9D8B030D-6E8A-4147-A177-3AD203B41FA5}">
                      <a16:colId xmlns:a16="http://schemas.microsoft.com/office/drawing/2014/main" val="1451070250"/>
                    </a:ext>
                  </a:extLst>
                </a:gridCol>
                <a:gridCol w="794184">
                  <a:extLst>
                    <a:ext uri="{9D8B030D-6E8A-4147-A177-3AD203B41FA5}">
                      <a16:colId xmlns:a16="http://schemas.microsoft.com/office/drawing/2014/main" val="431435687"/>
                    </a:ext>
                  </a:extLst>
                </a:gridCol>
                <a:gridCol w="750258">
                  <a:extLst>
                    <a:ext uri="{9D8B030D-6E8A-4147-A177-3AD203B41FA5}">
                      <a16:colId xmlns:a16="http://schemas.microsoft.com/office/drawing/2014/main" val="2257815630"/>
                    </a:ext>
                  </a:extLst>
                </a:gridCol>
                <a:gridCol w="815269">
                  <a:extLst>
                    <a:ext uri="{9D8B030D-6E8A-4147-A177-3AD203B41FA5}">
                      <a16:colId xmlns:a16="http://schemas.microsoft.com/office/drawing/2014/main" val="1360240219"/>
                    </a:ext>
                  </a:extLst>
                </a:gridCol>
                <a:gridCol w="799455">
                  <a:extLst>
                    <a:ext uri="{9D8B030D-6E8A-4147-A177-3AD203B41FA5}">
                      <a16:colId xmlns:a16="http://schemas.microsoft.com/office/drawing/2014/main" val="3256255491"/>
                    </a:ext>
                  </a:extLst>
                </a:gridCol>
                <a:gridCol w="813512">
                  <a:extLst>
                    <a:ext uri="{9D8B030D-6E8A-4147-A177-3AD203B41FA5}">
                      <a16:colId xmlns:a16="http://schemas.microsoft.com/office/drawing/2014/main" val="386583162"/>
                    </a:ext>
                  </a:extLst>
                </a:gridCol>
                <a:gridCol w="813512">
                  <a:extLst>
                    <a:ext uri="{9D8B030D-6E8A-4147-A177-3AD203B41FA5}">
                      <a16:colId xmlns:a16="http://schemas.microsoft.com/office/drawing/2014/main" val="1734235919"/>
                    </a:ext>
                  </a:extLst>
                </a:gridCol>
              </a:tblGrid>
              <a:tr h="421329">
                <a:tc>
                  <a:txBody>
                    <a:bodyPr/>
                    <a:lstStyle/>
                    <a:p>
                      <a:pPr algn="ctr">
                        <a:lnSpc>
                          <a:spcPct val="150000"/>
                        </a:lnSpc>
                        <a:spcAft>
                          <a:spcPts val="0"/>
                        </a:spcAft>
                      </a:pPr>
                      <a:r>
                        <a:rPr lang="en-US" sz="1800" kern="100" dirty="0">
                          <a:effectLst/>
                        </a:rPr>
                        <a:t>No.</a:t>
                      </a:r>
                      <a:endParaRPr lang="zh-CN" sz="1800" kern="100" dirty="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X</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Y</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W</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ζ</a:t>
                      </a:r>
                      <a:r>
                        <a:rPr lang="en-US" sz="1800" kern="100" baseline="-25000">
                          <a:effectLst/>
                        </a:rPr>
                        <a:t>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ζ</a:t>
                      </a:r>
                      <a:r>
                        <a:rPr lang="en-US" sz="1800" kern="100" baseline="-25000">
                          <a:effectLst/>
                        </a:rPr>
                        <a:t>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Z</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F</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G</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η</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zh-CN" sz="1800" kern="100">
                          <a:effectLst/>
                        </a:rPr>
                        <a:t>ξ</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216548383"/>
                  </a:ext>
                </a:extLst>
              </a:tr>
              <a:tr h="588952">
                <a:tc>
                  <a:txBody>
                    <a:bodyPr/>
                    <a:lstStyle/>
                    <a:p>
                      <a:pPr algn="ctr">
                        <a:lnSpc>
                          <a:spcPct val="150000"/>
                        </a:lnSpc>
                        <a:spcAft>
                          <a:spcPts val="0"/>
                        </a:spcAft>
                      </a:pPr>
                      <a:r>
                        <a:rPr lang="en-US" sz="1800" kern="100">
                          <a:effectLst/>
                        </a:rPr>
                        <a:t>Pat-1</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9.000</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6.74</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0.633</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0.789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0.591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0.575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20.409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9.988</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0.428</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1080273143"/>
                  </a:ext>
                </a:extLst>
              </a:tr>
              <a:tr h="411492">
                <a:tc>
                  <a:txBody>
                    <a:bodyPr/>
                    <a:lstStyle/>
                    <a:p>
                      <a:pPr algn="ctr">
                        <a:lnSpc>
                          <a:spcPct val="150000"/>
                        </a:lnSpc>
                        <a:spcAft>
                          <a:spcPts val="0"/>
                        </a:spcAft>
                      </a:pPr>
                      <a:r>
                        <a:rPr lang="en-US" sz="1800" kern="100">
                          <a:effectLst/>
                        </a:rPr>
                        <a:t>Pat-2</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4.002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3.03</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0.69</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0.812</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0.615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0.571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9.305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3.557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0.291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0.761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840176617"/>
                  </a:ext>
                </a:extLst>
              </a:tr>
              <a:tr h="411492">
                <a:tc>
                  <a:txBody>
                    <a:bodyPr/>
                    <a:lstStyle/>
                    <a:p>
                      <a:pPr algn="ctr">
                        <a:lnSpc>
                          <a:spcPct val="150000"/>
                        </a:lnSpc>
                        <a:spcAft>
                          <a:spcPts val="0"/>
                        </a:spcAft>
                      </a:pPr>
                      <a:r>
                        <a:rPr lang="en-US" sz="1800" kern="100">
                          <a:effectLst/>
                        </a:rPr>
                        <a:t>Pat-3</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2.346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1.86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0.721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0.802</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0.636</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0.624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4.782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1.379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0.179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0.621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1634207855"/>
                  </a:ext>
                </a:extLst>
              </a:tr>
              <a:tr h="411492">
                <a:tc>
                  <a:txBody>
                    <a:bodyPr/>
                    <a:lstStyle/>
                    <a:p>
                      <a:pPr algn="ctr">
                        <a:lnSpc>
                          <a:spcPct val="150000"/>
                        </a:lnSpc>
                        <a:spcAft>
                          <a:spcPts val="0"/>
                        </a:spcAft>
                      </a:pPr>
                      <a:r>
                        <a:rPr lang="en-US" sz="1800" kern="100">
                          <a:effectLst/>
                        </a:rPr>
                        <a:t>Pat-4</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1.499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1.19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0.824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0.654</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0.611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3.189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0.311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0.051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0.522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4155520418"/>
                  </a:ext>
                </a:extLst>
              </a:tr>
              <a:tr h="588952">
                <a:tc>
                  <a:txBody>
                    <a:bodyPr/>
                    <a:lstStyle/>
                    <a:p>
                      <a:pPr algn="ctr">
                        <a:lnSpc>
                          <a:spcPct val="150000"/>
                        </a:lnSpc>
                        <a:spcAft>
                          <a:spcPts val="0"/>
                        </a:spcAft>
                      </a:pPr>
                      <a:r>
                        <a:rPr lang="en-US" sz="1800" kern="100">
                          <a:effectLst/>
                        </a:rPr>
                        <a:t>Pat-5</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1.001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0.776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0.832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0.640</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0.573</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2.345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-0.401</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-0.076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0.445</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1289689993"/>
                  </a:ext>
                </a:extLst>
              </a:tr>
              <a:tr h="588952">
                <a:tc>
                  <a:txBody>
                    <a:bodyPr/>
                    <a:lstStyle/>
                    <a:p>
                      <a:pPr algn="ctr">
                        <a:lnSpc>
                          <a:spcPct val="150000"/>
                        </a:lnSpc>
                        <a:spcAft>
                          <a:spcPts val="0"/>
                        </a:spcAft>
                      </a:pPr>
                      <a:r>
                        <a:rPr lang="en-US" sz="1800" kern="100">
                          <a:effectLst/>
                        </a:rPr>
                        <a:t>Pat-6</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0.664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0.852</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0.870</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0.786</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0.756</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1.049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-0.529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-0.133</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0.264</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376722473"/>
                  </a:ext>
                </a:extLst>
              </a:tr>
              <a:tr h="588952">
                <a:tc>
                  <a:txBody>
                    <a:bodyPr/>
                    <a:lstStyle/>
                    <a:p>
                      <a:pPr algn="ctr">
                        <a:lnSpc>
                          <a:spcPct val="150000"/>
                        </a:lnSpc>
                        <a:spcAft>
                          <a:spcPts val="0"/>
                        </a:spcAft>
                      </a:pPr>
                      <a:r>
                        <a:rPr lang="en-US" sz="1800" kern="100">
                          <a:effectLst/>
                        </a:rPr>
                        <a:t>Pat-7</a:t>
                      </a:r>
                      <a:endParaRPr lang="zh-CN" sz="1800" kern="100">
                        <a:effectLst/>
                        <a:latin typeface="Times New Roman" panose="02020603050405020304" pitchFamily="18" charset="0"/>
                        <a:ea typeface="宋体" panose="02010600030101010101" pitchFamily="2" charset="-122"/>
                      </a:endParaRPr>
                    </a:p>
                  </a:txBody>
                  <a:tcPr marL="65316" marR="65316" marT="0" marB="0"/>
                </a:tc>
                <a:tc>
                  <a:txBody>
                    <a:bodyPr/>
                    <a:lstStyle/>
                    <a:p>
                      <a:pPr algn="ctr">
                        <a:spcAft>
                          <a:spcPts val="0"/>
                        </a:spcAft>
                      </a:pPr>
                      <a:r>
                        <a:rPr lang="en-US" sz="1800" kern="100">
                          <a:effectLst/>
                        </a:rPr>
                        <a:t>0.260</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0.23</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0.848</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0.857</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0.759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a:effectLst/>
                        </a:rPr>
                        <a:t>0.729</a:t>
                      </a:r>
                      <a:endParaRPr lang="zh-CN" sz="1800" kern="10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0.432</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-1.056</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-0.315</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tc>
                  <a:txBody>
                    <a:bodyPr/>
                    <a:lstStyle/>
                    <a:p>
                      <a:pPr algn="ctr">
                        <a:spcAft>
                          <a:spcPts val="0"/>
                        </a:spcAft>
                      </a:pPr>
                      <a:r>
                        <a:rPr lang="en-US" sz="1800" kern="100" dirty="0">
                          <a:effectLst/>
                        </a:rPr>
                        <a:t>0.129</a:t>
                      </a:r>
                      <a:endParaRPr lang="zh-CN" sz="1800" kern="100" dirty="0">
                        <a:effectLst/>
                        <a:latin typeface="Times New Roman" panose="02020603050405020304" pitchFamily="18" charset="0"/>
                        <a:ea typeface="宋体" panose="02010600030101010101" pitchFamily="2" charset="-122"/>
                      </a:endParaRPr>
                    </a:p>
                  </a:txBody>
                  <a:tcPr marL="65316" marR="65316" marT="0" marB="0" anchor="ctr"/>
                </a:tc>
                <a:extLst>
                  <a:ext uri="{0D108BD9-81ED-4DB2-BD59-A6C34878D82A}">
                    <a16:rowId xmlns:a16="http://schemas.microsoft.com/office/drawing/2014/main" val="2092305752"/>
                  </a:ext>
                </a:extLst>
              </a:tr>
            </a:tbl>
          </a:graphicData>
        </a:graphic>
      </p:graphicFrame>
      <p:sp>
        <p:nvSpPr>
          <p:cNvPr id="4" name="矩形 3">
            <a:extLst>
              <a:ext uri="{FF2B5EF4-FFF2-40B4-BE49-F238E27FC236}">
                <a16:creationId xmlns:a16="http://schemas.microsoft.com/office/drawing/2014/main" id="{6F8E8BA5-1931-4930-A3E4-0FE175BA90DB}"/>
              </a:ext>
            </a:extLst>
          </p:cNvPr>
          <p:cNvSpPr/>
          <p:nvPr/>
        </p:nvSpPr>
        <p:spPr>
          <a:xfrm>
            <a:off x="525463" y="981075"/>
            <a:ext cx="8640762" cy="368300"/>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data for MA/ATMP copolymers including </a:t>
            </a:r>
            <a:r>
              <a:rPr lang="en-US" altLang="zh-CN" b="1" kern="100" dirty="0">
                <a:latin typeface="Times New Roman" panose="02020603050405020304" pitchFamily="18" charset="0"/>
                <a:ea typeface="宋体" panose="02010600030101010101" pitchFamily="2" charset="-122"/>
              </a:rPr>
              <a:t>Extended Kelen-Tudos parameters</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577DC49-F560-4856-A5A4-CDF6CB3CB931}"/>
              </a:ext>
            </a:extLst>
          </p:cNvPr>
          <p:cNvSpPr>
            <a:spLocks noGrp="1"/>
          </p:cNvSpPr>
          <p:nvPr>
            <p:ph type="sldNum" sz="quarter" idx="12"/>
          </p:nvPr>
        </p:nvSpPr>
        <p:spPr/>
        <p:txBody>
          <a:bodyPr/>
          <a:lstStyle/>
          <a:p>
            <a:pPr>
              <a:defRPr/>
            </a:pPr>
            <a:fld id="{F00049CA-407B-4976-AED2-41D04740C90E}" type="slidenum">
              <a:rPr lang="zh-CN" altLang="en-US" smtClean="0"/>
              <a:pPr>
                <a:defRPr/>
              </a:pPr>
              <a:t>117</a:t>
            </a:fld>
            <a:endParaRPr lang="en-US" altLang="zh-CN"/>
          </a:p>
        </p:txBody>
      </p:sp>
      <p:graphicFrame>
        <p:nvGraphicFramePr>
          <p:cNvPr id="159747" name="对象 2"/>
          <p:cNvGraphicFramePr>
            <a:graphicFrameLocks noChangeAspect="1"/>
          </p:cNvGraphicFramePr>
          <p:nvPr/>
        </p:nvGraphicFramePr>
        <p:xfrm>
          <a:off x="1733550" y="452438"/>
          <a:ext cx="5500688" cy="4387850"/>
        </p:xfrm>
        <a:graphic>
          <a:graphicData uri="http://schemas.openxmlformats.org/presentationml/2006/ole">
            <mc:AlternateContent xmlns:mc="http://schemas.openxmlformats.org/markup-compatibility/2006">
              <mc:Choice xmlns:v="urn:schemas-microsoft-com:vml" Requires="v">
                <p:oleObj spid="_x0000_s159765" name="Graph" r:id="rId3" imgW="3112265" imgH="2489812" progId="Origin50.Graph">
                  <p:embed/>
                </p:oleObj>
              </mc:Choice>
              <mc:Fallback>
                <p:oleObj name="Graph" r:id="rId3" imgW="3112265" imgH="2489812" progId="Origin50.Graph">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3550" y="452438"/>
                        <a:ext cx="5500688" cy="438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矩形 3">
            <a:extLst>
              <a:ext uri="{FF2B5EF4-FFF2-40B4-BE49-F238E27FC236}">
                <a16:creationId xmlns:a16="http://schemas.microsoft.com/office/drawing/2014/main" id="{EF0D65F5-F400-4045-9949-9D6E992F48C3}"/>
              </a:ext>
            </a:extLst>
          </p:cNvPr>
          <p:cNvSpPr/>
          <p:nvPr/>
        </p:nvSpPr>
        <p:spPr>
          <a:xfrm>
            <a:off x="4067175" y="3573463"/>
            <a:ext cx="2984500" cy="522287"/>
          </a:xfrm>
          <a:prstGeom prst="rect">
            <a:avLst/>
          </a:prstGeom>
        </p:spPr>
        <p:txBody>
          <a:bodyPr wrap="none">
            <a:spAutoFit/>
          </a:bodyPr>
          <a:lstStyle/>
          <a:p>
            <a:pPr>
              <a:defRPr/>
            </a:pPr>
            <a:r>
              <a:rPr lang="en-US" altLang="zh-CN" sz="2800" kern="100" dirty="0">
                <a:latin typeface="Times New Roman" panose="02020603050405020304" pitchFamily="18" charset="0"/>
                <a:ea typeface="宋体" panose="02010600030101010101" pitchFamily="2" charset="-122"/>
              </a:rPr>
              <a:t>r</a:t>
            </a:r>
            <a:r>
              <a:rPr lang="en-US" altLang="zh-CN" sz="2800" kern="100" baseline="-25000" dirty="0">
                <a:latin typeface="Times New Roman" panose="02020603050405020304" pitchFamily="18" charset="0"/>
                <a:ea typeface="宋体" panose="02010600030101010101" pitchFamily="2" charset="-122"/>
              </a:rPr>
              <a:t>1 </a:t>
            </a:r>
            <a:r>
              <a:rPr lang="en-US" altLang="zh-CN" sz="2800" kern="100" dirty="0">
                <a:latin typeface="Times New Roman" panose="02020603050405020304" pitchFamily="18" charset="0"/>
                <a:ea typeface="宋体" panose="02010600030101010101" pitchFamily="2" charset="-122"/>
              </a:rPr>
              <a:t>= 0.53</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800" kern="100" dirty="0">
                <a:latin typeface="Times New Roman" panose="02020603050405020304" pitchFamily="18" charset="0"/>
                <a:ea typeface="宋体" panose="02010600030101010101" pitchFamily="2" charset="-122"/>
              </a:rPr>
              <a:t>r</a:t>
            </a:r>
            <a:r>
              <a:rPr lang="en-US" altLang="zh-CN" sz="2800" kern="100" baseline="-25000" dirty="0">
                <a:latin typeface="Times New Roman" panose="02020603050405020304" pitchFamily="18" charset="0"/>
                <a:ea typeface="宋体" panose="02010600030101010101" pitchFamily="2" charset="-122"/>
              </a:rPr>
              <a:t>2 </a:t>
            </a:r>
            <a:r>
              <a:rPr lang="en-US" altLang="zh-CN" sz="2800" kern="100" dirty="0">
                <a:latin typeface="Times New Roman" panose="02020603050405020304" pitchFamily="18" charset="0"/>
                <a:ea typeface="宋体" panose="02010600030101010101" pitchFamily="2" charset="-122"/>
              </a:rPr>
              <a:t>= 1.31</a:t>
            </a:r>
            <a:endParaRPr lang="zh-CN" altLang="en-US" sz="2800" dirty="0"/>
          </a:p>
        </p:txBody>
      </p:sp>
      <p:sp>
        <p:nvSpPr>
          <p:cNvPr id="5" name="矩形 4">
            <a:extLst>
              <a:ext uri="{FF2B5EF4-FFF2-40B4-BE49-F238E27FC236}">
                <a16:creationId xmlns:a16="http://schemas.microsoft.com/office/drawing/2014/main" id="{A48D50FC-42C6-4D3C-8E55-947401849BB9}"/>
              </a:ext>
            </a:extLst>
          </p:cNvPr>
          <p:cNvSpPr/>
          <p:nvPr/>
        </p:nvSpPr>
        <p:spPr>
          <a:xfrm>
            <a:off x="1835150" y="4840288"/>
            <a:ext cx="6070600" cy="646112"/>
          </a:xfrm>
          <a:prstGeom prst="rect">
            <a:avLst/>
          </a:prstGeom>
        </p:spPr>
        <p:txBody>
          <a:bodyPr>
            <a:spAutoFit/>
          </a:bodyPr>
          <a:lstStyle/>
          <a:p>
            <a:pPr>
              <a:defRPr/>
            </a:pPr>
            <a:r>
              <a:rPr lang="en-US" altLang="zh-CN" b="1" kern="100" dirty="0">
                <a:latin typeface="Times New Roman" panose="02020603050405020304" pitchFamily="18" charset="0"/>
                <a:ea typeface="黑体" panose="02010609060101010101" pitchFamily="49" charset="-122"/>
              </a:rPr>
              <a:t>The calculation of r</a:t>
            </a:r>
            <a:r>
              <a:rPr lang="en-US" altLang="zh-CN" b="1" kern="100" baseline="-25000" dirty="0">
                <a:latin typeface="Times New Roman" panose="02020603050405020304" pitchFamily="18" charset="0"/>
                <a:ea typeface="黑体" panose="02010609060101010101" pitchFamily="49" charset="-122"/>
              </a:rPr>
              <a:t>1</a:t>
            </a:r>
            <a:r>
              <a:rPr lang="en-US" altLang="zh-CN" b="1" kern="100" dirty="0">
                <a:latin typeface="Times New Roman" panose="02020603050405020304" pitchFamily="18" charset="0"/>
                <a:ea typeface="黑体" panose="02010609060101010101" pitchFamily="49" charset="-122"/>
              </a:rPr>
              <a:t> and r</a:t>
            </a:r>
            <a:r>
              <a:rPr lang="en-US" altLang="zh-CN" b="1" kern="100" baseline="-25000" dirty="0">
                <a:latin typeface="Times New Roman" panose="02020603050405020304" pitchFamily="18" charset="0"/>
                <a:ea typeface="黑体" panose="02010609060101010101" pitchFamily="49" charset="-122"/>
              </a:rPr>
              <a:t>2 </a:t>
            </a:r>
            <a:r>
              <a:rPr lang="en-US" altLang="zh-CN" b="1" kern="100" dirty="0">
                <a:latin typeface="Times New Roman" panose="02020603050405020304" pitchFamily="18" charset="0"/>
                <a:ea typeface="黑体" panose="02010609060101010101" pitchFamily="49" charset="-122"/>
              </a:rPr>
              <a:t>for MA/ATMP and MA/APMP copolymers by </a:t>
            </a:r>
            <a:r>
              <a:rPr lang="en-US" altLang="zh-CN" b="1" kern="100" dirty="0" err="1">
                <a:latin typeface="Times New Roman" panose="02020603050405020304" pitchFamily="18" charset="0"/>
                <a:ea typeface="黑体" panose="02010609060101010101" pitchFamily="49" charset="-122"/>
              </a:rPr>
              <a:t>kelen-tudos</a:t>
            </a:r>
            <a:r>
              <a:rPr lang="en-US" altLang="zh-CN" b="1" kern="100" dirty="0">
                <a:latin typeface="Times New Roman" panose="02020603050405020304" pitchFamily="18" charset="0"/>
                <a:ea typeface="黑体" panose="02010609060101010101" pitchFamily="49" charset="-122"/>
              </a:rPr>
              <a:t> method</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6077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AEE1981-4DA0-4B78-8318-699C35EF571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118</a:t>
            </a:fld>
            <a:endParaRPr lang="en-US" altLang="zh-CN" sz="1400">
              <a:latin typeface="Times New Roman" panose="02020603050405020304" pitchFamily="18" charset="0"/>
              <a:ea typeface="宋体" panose="02010600030101010101" pitchFamily="2" charset="-122"/>
            </a:endParaRPr>
          </a:p>
        </p:txBody>
      </p:sp>
      <p:sp>
        <p:nvSpPr>
          <p:cNvPr id="120836" name="Text Box 2">
            <a:extLst>
              <a:ext uri="{FF2B5EF4-FFF2-40B4-BE49-F238E27FC236}">
                <a16:creationId xmlns:a16="http://schemas.microsoft.com/office/drawing/2014/main" id="{E11A85C8-8D61-4874-990A-C48A32154E12}"/>
              </a:ext>
            </a:extLst>
          </p:cNvPr>
          <p:cNvSpPr txBox="1">
            <a:spLocks noChangeArrowheads="1"/>
          </p:cNvSpPr>
          <p:nvPr/>
        </p:nvSpPr>
        <p:spPr bwMode="auto">
          <a:xfrm>
            <a:off x="593725" y="1700213"/>
            <a:ext cx="7848600" cy="341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defRPr/>
            </a:pPr>
            <a:r>
              <a:rPr kumimoji="1" lang="en-US" altLang="zh-CN" sz="2400" dirty="0">
                <a:latin typeface="Arial" panose="020B0604020202020204" pitchFamily="34" charset="0"/>
                <a:ea typeface="楷体" panose="02010609060101010101" pitchFamily="49" charset="-122"/>
                <a:cs typeface="Arial" panose="020B0604020202020204" pitchFamily="34" charset="0"/>
              </a:rPr>
              <a:t>        r</a:t>
            </a:r>
            <a:r>
              <a:rPr kumimoji="1" lang="zh-CN" altLang="en-US" sz="2400" dirty="0">
                <a:latin typeface="Arial" panose="020B0604020202020204" pitchFamily="34" charset="0"/>
                <a:ea typeface="楷体" panose="02010609060101010101" pitchFamily="49" charset="-122"/>
                <a:cs typeface="Arial" panose="020B0604020202020204" pitchFamily="34" charset="0"/>
              </a:rPr>
              <a:t>是两种增长速率常数的比值，影响增长速率常数的诸因素均将影响共聚反应的</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zh-CN" altLang="en-US" sz="2400" dirty="0">
                <a:latin typeface="Arial" panose="020B0604020202020204" pitchFamily="34" charset="0"/>
                <a:ea typeface="楷体" panose="02010609060101010101" pitchFamily="49" charset="-122"/>
                <a:cs typeface="Arial" panose="020B0604020202020204" pitchFamily="34" charset="0"/>
              </a:rPr>
              <a:t>最主要的是</a:t>
            </a:r>
            <a:r>
              <a:rPr kumimoji="1" lang="zh-CN" altLang="en-US" sz="2400" b="1" dirty="0">
                <a:latin typeface="Arial" panose="020B0604020202020204" pitchFamily="34" charset="0"/>
                <a:ea typeface="楷体" panose="02010609060101010101" pitchFamily="49" charset="-122"/>
                <a:cs typeface="Arial" panose="020B0604020202020204" pitchFamily="34" charset="0"/>
              </a:rPr>
              <a:t>单体结构</a:t>
            </a:r>
            <a:r>
              <a:rPr kumimoji="1" lang="zh-CN" altLang="en-US" sz="2400" dirty="0">
                <a:latin typeface="Arial" panose="020B0604020202020204" pitchFamily="34" charset="0"/>
                <a:ea typeface="楷体" panose="02010609060101010101" pitchFamily="49" charset="-122"/>
                <a:cs typeface="Arial" panose="020B0604020202020204" pitchFamily="34" charset="0"/>
              </a:rPr>
              <a:t>因素。</a:t>
            </a:r>
          </a:p>
          <a:p>
            <a:pPr marL="342900" indent="-342900" algn="just" eaLnBrk="1" hangingPunct="1">
              <a:lnSpc>
                <a:spcPct val="125000"/>
              </a:lnSpc>
              <a:spcBef>
                <a:spcPct val="50000"/>
              </a:spcBef>
              <a:buClr>
                <a:srgbClr val="FF0000"/>
              </a:buClr>
              <a:buSzPct val="90000"/>
              <a:buFont typeface="Wingdings" panose="05000000000000000000" pitchFamily="2" charset="2"/>
              <a:buChar char="Ø"/>
              <a:defRPr/>
            </a:pPr>
            <a:r>
              <a:rPr kumimoji="1" lang="zh-CN" altLang="en-US" sz="2400" dirty="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solidFill>
                  <a:srgbClr val="FF0000"/>
                </a:solidFill>
                <a:latin typeface="Arial" panose="020B0604020202020204" pitchFamily="34" charset="0"/>
                <a:ea typeface="楷体" panose="02010609060101010101" pitchFamily="49" charset="-122"/>
                <a:cs typeface="Arial" panose="020B0604020202020204" pitchFamily="34" charset="0"/>
              </a:rPr>
              <a:t>温度</a:t>
            </a:r>
            <a:r>
              <a:rPr kumimoji="1" lang="en-US" altLang="zh-CN" sz="2400"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latin typeface="Arial" panose="020B0604020202020204" pitchFamily="34" charset="0"/>
                <a:ea typeface="楷体" panose="02010609060101010101" pitchFamily="49" charset="-122"/>
                <a:cs typeface="Arial" panose="020B0604020202020204" pitchFamily="34" charset="0"/>
              </a:rPr>
              <a:t>温度对</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zh-CN" altLang="en-US" sz="2400" dirty="0">
                <a:latin typeface="Arial" panose="020B0604020202020204" pitchFamily="34" charset="0"/>
                <a:ea typeface="楷体" panose="02010609060101010101" pitchFamily="49" charset="-122"/>
                <a:cs typeface="Arial" panose="020B0604020202020204" pitchFamily="34" charset="0"/>
              </a:rPr>
              <a:t>的影响不明显</a:t>
            </a:r>
          </a:p>
          <a:p>
            <a:pPr marL="342900" indent="-342900" algn="just" eaLnBrk="1" hangingPunct="1">
              <a:lnSpc>
                <a:spcPct val="125000"/>
              </a:lnSpc>
              <a:spcBef>
                <a:spcPct val="50000"/>
              </a:spcBef>
              <a:buClr>
                <a:srgbClr val="FF0000"/>
              </a:buClr>
              <a:buSzPct val="90000"/>
              <a:buFont typeface="Wingdings" panose="05000000000000000000" pitchFamily="2" charset="2"/>
              <a:buChar char="Ø"/>
              <a:defRPr/>
            </a:pPr>
            <a:r>
              <a:rPr kumimoji="1" lang="zh-CN" altLang="en-US" sz="2400" dirty="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solidFill>
                  <a:srgbClr val="FF0000"/>
                </a:solidFill>
                <a:latin typeface="Arial" panose="020B0604020202020204" pitchFamily="34" charset="0"/>
                <a:ea typeface="楷体" panose="02010609060101010101" pitchFamily="49" charset="-122"/>
                <a:cs typeface="Arial" panose="020B0604020202020204" pitchFamily="34" charset="0"/>
              </a:rPr>
              <a:t>压力</a:t>
            </a:r>
            <a:r>
              <a:rPr kumimoji="1" lang="en-US" altLang="zh-CN" sz="2400"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en-US" altLang="zh-CN" sz="2400" dirty="0">
                <a:latin typeface="Arial" panose="020B0604020202020204" pitchFamily="34" charset="0"/>
                <a:ea typeface="楷体" panose="02010609060101010101" pitchFamily="49" charset="-122"/>
                <a:cs typeface="Arial" panose="020B0604020202020204" pitchFamily="34" charset="0"/>
              </a:rPr>
              <a:t>r</a:t>
            </a:r>
            <a:r>
              <a:rPr kumimoji="1" lang="zh-CN" altLang="en-US" sz="2400" dirty="0">
                <a:latin typeface="Arial" panose="020B0604020202020204" pitchFamily="34" charset="0"/>
                <a:ea typeface="楷体" panose="02010609060101010101" pitchFamily="49" charset="-122"/>
                <a:cs typeface="Arial" panose="020B0604020202020204" pitchFamily="34" charset="0"/>
              </a:rPr>
              <a:t>随压力变化也不很大，与温度影响类似，压力增大，倾向于理想共聚</a:t>
            </a:r>
          </a:p>
          <a:p>
            <a:pPr marL="342900" indent="-342900" algn="just" eaLnBrk="1" hangingPunct="1">
              <a:lnSpc>
                <a:spcPct val="125000"/>
              </a:lnSpc>
              <a:spcBef>
                <a:spcPct val="50000"/>
              </a:spcBef>
              <a:buClr>
                <a:srgbClr val="FF0000"/>
              </a:buClr>
              <a:buSzPct val="90000"/>
              <a:buFont typeface="Wingdings" panose="05000000000000000000" pitchFamily="2" charset="2"/>
              <a:buChar char="Ø"/>
              <a:defRPr/>
            </a:pPr>
            <a:r>
              <a:rPr kumimoji="1" lang="zh-CN" altLang="en-US" sz="2400" dirty="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solidFill>
                  <a:srgbClr val="FF0000"/>
                </a:solidFill>
                <a:latin typeface="Arial" panose="020B0604020202020204" pitchFamily="34" charset="0"/>
                <a:ea typeface="楷体" panose="02010609060101010101" pitchFamily="49" charset="-122"/>
                <a:cs typeface="Arial" panose="020B0604020202020204" pitchFamily="34" charset="0"/>
              </a:rPr>
              <a:t>反应介质</a:t>
            </a:r>
            <a:r>
              <a:rPr kumimoji="1" lang="en-US" altLang="zh-CN" sz="2400" dirty="0">
                <a:solidFill>
                  <a:srgbClr val="FF0000"/>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dirty="0">
                <a:latin typeface="Arial" panose="020B0604020202020204" pitchFamily="34" charset="0"/>
                <a:ea typeface="楷体" panose="02010609060101010101" pitchFamily="49" charset="-122"/>
                <a:cs typeface="Arial" panose="020B0604020202020204" pitchFamily="34" charset="0"/>
              </a:rPr>
              <a:t>包括体系的粘度、</a:t>
            </a:r>
            <a:r>
              <a:rPr kumimoji="1" lang="en-US" altLang="zh-CN" sz="2400" dirty="0">
                <a:latin typeface="Arial" panose="020B0604020202020204" pitchFamily="34" charset="0"/>
                <a:ea typeface="楷体" panose="02010609060101010101" pitchFamily="49" charset="-122"/>
                <a:cs typeface="Arial" panose="020B0604020202020204" pitchFamily="34" charset="0"/>
              </a:rPr>
              <a:t>pH</a:t>
            </a:r>
            <a:r>
              <a:rPr kumimoji="1" lang="zh-CN" altLang="en-US" sz="2400" dirty="0">
                <a:latin typeface="Arial" panose="020B0604020202020204" pitchFamily="34" charset="0"/>
                <a:ea typeface="楷体" panose="02010609060101010101" pitchFamily="49" charset="-122"/>
                <a:cs typeface="Arial" panose="020B0604020202020204" pitchFamily="34" charset="0"/>
              </a:rPr>
              <a:t>值、溶剂的极性等</a:t>
            </a:r>
          </a:p>
        </p:txBody>
      </p:sp>
      <p:sp>
        <p:nvSpPr>
          <p:cNvPr id="160772" name="Rectangle 5"/>
          <p:cNvSpPr>
            <a:spLocks noChangeArrowheads="1"/>
          </p:cNvSpPr>
          <p:nvPr/>
        </p:nvSpPr>
        <p:spPr bwMode="auto">
          <a:xfrm>
            <a:off x="250825" y="811213"/>
            <a:ext cx="4267200" cy="49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2</a:t>
            </a:r>
            <a:r>
              <a:rPr kumimoji="1" lang="en-US" altLang="zh-CN" sz="2400" b="1">
                <a:latin typeface="楷体" panose="02010609060101010101" pitchFamily="49" charset="-122"/>
                <a:ea typeface="楷体" panose="02010609060101010101" pitchFamily="49" charset="-122"/>
              </a:rPr>
              <a:t>) </a:t>
            </a:r>
            <a:r>
              <a:rPr kumimoji="1" lang="zh-CN" altLang="en-US" sz="2400" b="1">
                <a:latin typeface="楷体" panose="02010609060101010101" pitchFamily="49" charset="-122"/>
                <a:ea typeface="楷体" panose="02010609060101010101" pitchFamily="49" charset="-122"/>
              </a:rPr>
              <a:t>影响竞聚率的因素</a:t>
            </a:r>
          </a:p>
        </p:txBody>
      </p:sp>
    </p:spTree>
  </p:cSld>
  <p:clrMapOvr>
    <a:masterClrMapping/>
  </p:clrMapOvr>
  <p:transition spd="med"/>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179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1A8F713-5DC3-4A27-B9B5-E795DDD565BF}"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119</a:t>
            </a:fld>
            <a:endParaRPr lang="en-US" altLang="zh-CN" sz="1400">
              <a:latin typeface="Times New Roman" panose="02020603050405020304" pitchFamily="18" charset="0"/>
              <a:ea typeface="宋体" panose="02010600030101010101" pitchFamily="2" charset="-122"/>
            </a:endParaRPr>
          </a:p>
        </p:txBody>
      </p:sp>
      <p:sp>
        <p:nvSpPr>
          <p:cNvPr id="161795" name="Text Box 2"/>
          <p:cNvSpPr txBox="1">
            <a:spLocks noChangeArrowheads="1"/>
          </p:cNvSpPr>
          <p:nvPr/>
        </p:nvSpPr>
        <p:spPr bwMode="auto">
          <a:xfrm>
            <a:off x="539750" y="1196975"/>
            <a:ext cx="7416800" cy="4708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均聚中很难由增长速率常数来判断单体或自由基活性。如：</a:t>
            </a:r>
            <a:r>
              <a:rPr kumimoji="1" lang="en-US" altLang="zh-CN" sz="2400">
                <a:latin typeface="Arial" panose="020B0604020202020204" pitchFamily="34" charset="0"/>
                <a:ea typeface="楷体" panose="02010609060101010101" pitchFamily="49" charset="-122"/>
                <a:cs typeface="Arial" panose="020B0604020202020204" pitchFamily="34" charset="0"/>
              </a:rPr>
              <a:t>St: k</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p</a:t>
            </a:r>
            <a:r>
              <a:rPr kumimoji="1" lang="en-US" altLang="zh-CN" sz="2400">
                <a:latin typeface="Arial" panose="020B0604020202020204" pitchFamily="34" charset="0"/>
                <a:ea typeface="楷体" panose="02010609060101010101" pitchFamily="49" charset="-122"/>
                <a:cs typeface="Arial" panose="020B0604020202020204" pitchFamily="34" charset="0"/>
              </a:rPr>
              <a:t>=145；VAc: </a:t>
            </a:r>
            <a:r>
              <a:rPr kumimoji="1" lang="zh-CN" altLang="en-US" sz="2400">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k</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p</a:t>
            </a:r>
            <a:r>
              <a:rPr kumimoji="1" lang="en-US" altLang="zh-CN" sz="2400">
                <a:latin typeface="Arial" panose="020B0604020202020204" pitchFamily="34" charset="0"/>
                <a:ea typeface="楷体" panose="02010609060101010101" pitchFamily="49" charset="-122"/>
                <a:cs typeface="Arial" panose="020B0604020202020204" pitchFamily="34" charset="0"/>
              </a:rPr>
              <a:t>=2300</a:t>
            </a:r>
          </a:p>
          <a:p>
            <a:pPr algn="just" eaLnBrk="1" hangingPunct="1">
              <a:lnSpc>
                <a:spcPct val="125000"/>
              </a:lnSpc>
              <a:spcBef>
                <a:spcPct val="50000"/>
              </a:spcBef>
              <a:buFontTx/>
              <a:buNone/>
            </a:pPr>
            <a:r>
              <a:rPr kumimoji="1" lang="en-US" altLang="zh-CN" sz="2400">
                <a:latin typeface="Arial" panose="020B0604020202020204" pitchFamily="34" charset="0"/>
                <a:ea typeface="楷体" panose="02010609060101010101" pitchFamily="49" charset="-122"/>
                <a:cs typeface="Arial" panose="020B0604020202020204" pitchFamily="34" charset="0"/>
              </a:rPr>
              <a:t>St</a:t>
            </a:r>
            <a:r>
              <a:rPr kumimoji="1" lang="zh-CN" altLang="en-US" sz="2400">
                <a:latin typeface="Arial" panose="020B0604020202020204" pitchFamily="34" charset="0"/>
                <a:ea typeface="楷体" panose="02010609060101010101" pitchFamily="49" charset="-122"/>
                <a:cs typeface="Arial" panose="020B0604020202020204" pitchFamily="34" charset="0"/>
              </a:rPr>
              <a:t>均聚速率常数比</a:t>
            </a:r>
            <a:r>
              <a:rPr kumimoji="1" lang="en-US" altLang="zh-CN" sz="2400">
                <a:latin typeface="Arial" panose="020B0604020202020204" pitchFamily="34" charset="0"/>
                <a:ea typeface="楷体" panose="02010609060101010101" pitchFamily="49" charset="-122"/>
                <a:cs typeface="Arial" panose="020B0604020202020204" pitchFamily="34" charset="0"/>
              </a:rPr>
              <a:t>VAc</a:t>
            </a:r>
            <a:r>
              <a:rPr kumimoji="1" lang="zh-CN" altLang="en-US" sz="2400">
                <a:latin typeface="Arial" panose="020B0604020202020204" pitchFamily="34" charset="0"/>
                <a:ea typeface="楷体" panose="02010609060101010101" pitchFamily="49" charset="-122"/>
                <a:cs typeface="Arial" panose="020B0604020202020204" pitchFamily="34" charset="0"/>
              </a:rPr>
              <a:t>小，但</a:t>
            </a:r>
            <a:r>
              <a:rPr kumimoji="1" lang="en-US" altLang="zh-CN" sz="2400">
                <a:latin typeface="Arial" panose="020B0604020202020204" pitchFamily="34" charset="0"/>
                <a:ea typeface="楷体" panose="02010609060101010101" pitchFamily="49" charset="-122"/>
                <a:cs typeface="Arial" panose="020B0604020202020204" pitchFamily="34" charset="0"/>
              </a:rPr>
              <a:t>St</a:t>
            </a:r>
            <a:r>
              <a:rPr kumimoji="1" lang="zh-CN" altLang="en-US" sz="2400">
                <a:latin typeface="Arial" panose="020B0604020202020204" pitchFamily="34" charset="0"/>
                <a:ea typeface="楷体" panose="02010609060101010101" pitchFamily="49" charset="-122"/>
                <a:cs typeface="Arial" panose="020B0604020202020204" pitchFamily="34" charset="0"/>
              </a:rPr>
              <a:t>单体的活性大于</a:t>
            </a:r>
            <a:r>
              <a:rPr kumimoji="1" lang="en-US" altLang="zh-CN" sz="2400">
                <a:latin typeface="Arial" panose="020B0604020202020204" pitchFamily="34" charset="0"/>
                <a:ea typeface="楷体" panose="02010609060101010101" pitchFamily="49" charset="-122"/>
                <a:cs typeface="Arial" panose="020B0604020202020204" pitchFamily="34" charset="0"/>
              </a:rPr>
              <a:t>VAc，</a:t>
            </a:r>
            <a:r>
              <a:rPr kumimoji="1" lang="zh-CN" altLang="en-US" sz="2400">
                <a:latin typeface="Arial" panose="020B0604020202020204" pitchFamily="34" charset="0"/>
                <a:ea typeface="楷体" panose="02010609060101010101" pitchFamily="49" charset="-122"/>
                <a:cs typeface="Arial" panose="020B0604020202020204" pitchFamily="34" charset="0"/>
              </a:rPr>
              <a:t>自由基活性则相反。</a:t>
            </a:r>
            <a:endParaRPr kumimoji="1" lang="en-US" altLang="zh-CN" sz="24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5000"/>
              </a:lnSpc>
              <a:spcBef>
                <a:spcPct val="50000"/>
              </a:spcBef>
              <a:buFontTx/>
              <a:buNone/>
            </a:pPr>
            <a:endParaRPr kumimoji="1" lang="zh-CN" altLang="en-US" sz="2400">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单体活性和自由基活性的判断：</a:t>
            </a:r>
          </a:p>
          <a:p>
            <a:pPr algn="just" eaLnBrk="1" hangingPunct="1">
              <a:lnSpc>
                <a:spcPct val="125000"/>
              </a:lnSpc>
              <a:spcBef>
                <a:spcPct val="50000"/>
              </a:spcBef>
              <a:buClr>
                <a:srgbClr val="FF000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单体活性：不同单体对相同自由基的反应性；</a:t>
            </a:r>
          </a:p>
          <a:p>
            <a:pPr algn="just" eaLnBrk="1" hangingPunct="1">
              <a:lnSpc>
                <a:spcPct val="125000"/>
              </a:lnSpc>
              <a:spcBef>
                <a:spcPct val="50000"/>
              </a:spcBef>
              <a:buClr>
                <a:srgbClr val="FF000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自由基活性：不同自由基与相同单体的反应性。</a:t>
            </a:r>
          </a:p>
        </p:txBody>
      </p:sp>
      <p:sp>
        <p:nvSpPr>
          <p:cNvPr id="161796" name="Rectangle 3"/>
          <p:cNvSpPr>
            <a:spLocks noChangeArrowheads="1"/>
          </p:cNvSpPr>
          <p:nvPr/>
        </p:nvSpPr>
        <p:spPr bwMode="auto">
          <a:xfrm>
            <a:off x="323850" y="500063"/>
            <a:ext cx="4572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§4.8 </a:t>
            </a:r>
            <a:r>
              <a:rPr kumimoji="1" lang="zh-CN" altLang="en-US" sz="2400" b="1">
                <a:latin typeface="Arial" panose="020B0604020202020204" pitchFamily="34" charset="0"/>
                <a:ea typeface="楷体" panose="02010609060101010101" pitchFamily="49" charset="-122"/>
                <a:cs typeface="Arial" panose="020B0604020202020204" pitchFamily="34" charset="0"/>
              </a:rPr>
              <a:t>单体和自由基的活性</a:t>
            </a:r>
          </a:p>
        </p:txBody>
      </p:sp>
    </p:spTree>
  </p:cSld>
  <p:clrMapOvr>
    <a:masterClrMapping/>
  </p:clrMapOvr>
  <p:transition spd="slow"/>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281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DC501A3-7FE9-49F1-ADAE-3D3E3EF7BF49}"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120</a:t>
            </a:fld>
            <a:endParaRPr lang="en-US" altLang="zh-CN" sz="1400">
              <a:latin typeface="Times New Roman" panose="02020603050405020304" pitchFamily="18" charset="0"/>
              <a:ea typeface="宋体" panose="02010600030101010101" pitchFamily="2" charset="-122"/>
            </a:endParaRPr>
          </a:p>
        </p:txBody>
      </p:sp>
      <p:sp>
        <p:nvSpPr>
          <p:cNvPr id="162819" name="Text Box 2"/>
          <p:cNvSpPr txBox="1">
            <a:spLocks noChangeArrowheads="1"/>
          </p:cNvSpPr>
          <p:nvPr/>
        </p:nvSpPr>
        <p:spPr bwMode="auto">
          <a:xfrm>
            <a:off x="2195513" y="482600"/>
            <a:ext cx="6618287" cy="1662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单体相对活性</a:t>
            </a:r>
            <a:r>
              <a:rPr kumimoji="1" lang="en-US" altLang="zh-CN" sz="2400">
                <a:latin typeface="Arial" panose="020B0604020202020204" pitchFamily="34" charset="0"/>
                <a:ea typeface="楷体" panose="02010609060101010101" pitchFamily="49" charset="-122"/>
                <a:cs typeface="Arial" panose="020B0604020202020204" pitchFamily="34" charset="0"/>
              </a:rPr>
              <a:t>: </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r</a:t>
            </a:r>
            <a:r>
              <a:rPr kumimoji="1" lang="en-US" altLang="zh-CN" sz="2400">
                <a:solidFill>
                  <a:srgbClr val="A50021"/>
                </a:solidFill>
                <a:latin typeface="Arial" panose="020B0604020202020204" pitchFamily="34" charset="0"/>
                <a:ea typeface="楷体" panose="02010609060101010101" pitchFamily="49" charset="-122"/>
                <a:cs typeface="Arial" panose="020B0604020202020204" pitchFamily="34" charset="0"/>
              </a:rPr>
              <a:t>, </a:t>
            </a:r>
            <a:r>
              <a:rPr kumimoji="1" lang="zh-CN" altLang="en-US" sz="2400">
                <a:solidFill>
                  <a:srgbClr val="A50021"/>
                </a:solidFill>
                <a:latin typeface="Arial" panose="020B0604020202020204" pitchFamily="34" charset="0"/>
                <a:ea typeface="楷体" panose="02010609060101010101" pitchFamily="49" charset="-122"/>
                <a:cs typeface="Arial" panose="020B0604020202020204" pitchFamily="34" charset="0"/>
              </a:rPr>
              <a:t>竞聚率的倒数</a:t>
            </a:r>
            <a:endParaRPr kumimoji="1" lang="en-US" altLang="zh-CN" sz="2400">
              <a:solidFill>
                <a:srgbClr val="A50021"/>
              </a:solidFill>
              <a:latin typeface="Arial" panose="020B0604020202020204" pitchFamily="34" charset="0"/>
              <a:ea typeface="楷体" panose="02010609060101010101" pitchFamily="49" charset="-122"/>
              <a:cs typeface="Arial" panose="020B0604020202020204" pitchFamily="34" charset="0"/>
            </a:endParaRPr>
          </a:p>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zh-CN" altLang="en-US" sz="2400">
                <a:latin typeface="Arial" panose="020B0604020202020204" pitchFamily="34" charset="0"/>
                <a:ea typeface="楷体" panose="02010609060101010101" pitchFamily="49" charset="-122"/>
                <a:cs typeface="Arial" panose="020B0604020202020204" pitchFamily="34" charset="0"/>
              </a:rPr>
              <a:t>是不同单体与同一自由基的反应速率常数之比，衡量两单体的相对活性。</a:t>
            </a:r>
          </a:p>
        </p:txBody>
      </p:sp>
      <p:graphicFrame>
        <p:nvGraphicFramePr>
          <p:cNvPr id="162820" name="Object 3"/>
          <p:cNvGraphicFramePr>
            <a:graphicFrameLocks noChangeAspect="1"/>
          </p:cNvGraphicFramePr>
          <p:nvPr/>
        </p:nvGraphicFramePr>
        <p:xfrm>
          <a:off x="1985963" y="2224088"/>
          <a:ext cx="4471987" cy="1238250"/>
        </p:xfrm>
        <a:graphic>
          <a:graphicData uri="http://schemas.openxmlformats.org/presentationml/2006/ole">
            <mc:AlternateContent xmlns:mc="http://schemas.openxmlformats.org/markup-compatibility/2006">
              <mc:Choice xmlns:v="urn:schemas-microsoft-com:vml" Requires="v">
                <p:oleObj spid="_x0000_s162838" name="公式" r:id="rId3" imgW="1675673" imgH="444307" progId="Equation.3">
                  <p:embed/>
                </p:oleObj>
              </mc:Choice>
              <mc:Fallback>
                <p:oleObj name="公式" r:id="rId3" imgW="1675673" imgH="444307"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l="-6671" t="-8340" r="-6671" b="-8340"/>
                      <a:stretch>
                        <a:fillRect/>
                      </a:stretch>
                    </p:blipFill>
                    <p:spPr bwMode="auto">
                      <a:xfrm>
                        <a:off x="1985963" y="2224088"/>
                        <a:ext cx="4471987" cy="123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2821" name="Rectangle 4"/>
          <p:cNvSpPr>
            <a:spLocks noChangeArrowheads="1"/>
          </p:cNvSpPr>
          <p:nvPr/>
        </p:nvSpPr>
        <p:spPr bwMode="auto">
          <a:xfrm>
            <a:off x="2124075" y="3511550"/>
            <a:ext cx="4600575"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1/</a:t>
            </a: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r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越大，单体相对活性越大。</a:t>
            </a:r>
          </a:p>
        </p:txBody>
      </p:sp>
      <p:sp>
        <p:nvSpPr>
          <p:cNvPr id="162822" name="Rectangle 5"/>
          <p:cNvSpPr>
            <a:spLocks noChangeArrowheads="1"/>
          </p:cNvSpPr>
          <p:nvPr/>
        </p:nvSpPr>
        <p:spPr bwMode="auto">
          <a:xfrm>
            <a:off x="247650" y="482600"/>
            <a:ext cx="2438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solidFill>
                  <a:srgbClr val="FF0000"/>
                </a:solidFill>
                <a:latin typeface="楷体" panose="02010609060101010101" pitchFamily="49" charset="-122"/>
                <a:ea typeface="楷体" panose="02010609060101010101" pitchFamily="49" charset="-122"/>
              </a:rPr>
              <a:t>1</a:t>
            </a:r>
            <a:r>
              <a:rPr kumimoji="1" lang="en-US" altLang="zh-CN" sz="2400" b="1">
                <a:solidFill>
                  <a:srgbClr val="FF0000"/>
                </a:solidFill>
                <a:latin typeface="楷体" panose="02010609060101010101" pitchFamily="49" charset="-122"/>
                <a:ea typeface="楷体" panose="02010609060101010101" pitchFamily="49" charset="-122"/>
              </a:rPr>
              <a:t>)</a:t>
            </a:r>
            <a:r>
              <a:rPr kumimoji="1" lang="zh-CN" altLang="en-US" sz="2400" b="1">
                <a:solidFill>
                  <a:srgbClr val="FF0000"/>
                </a:solidFill>
                <a:latin typeface="楷体" panose="02010609060101010101" pitchFamily="49" charset="-122"/>
                <a:ea typeface="楷体" panose="02010609060101010101" pitchFamily="49" charset="-122"/>
              </a:rPr>
              <a:t>单体活性</a:t>
            </a:r>
          </a:p>
        </p:txBody>
      </p:sp>
      <p:sp>
        <p:nvSpPr>
          <p:cNvPr id="8" name="Text Box 2">
            <a:extLst>
              <a:ext uri="{FF2B5EF4-FFF2-40B4-BE49-F238E27FC236}">
                <a16:creationId xmlns:a16="http://schemas.microsoft.com/office/drawing/2014/main" id="{A3A53D75-6A93-4EC2-8372-97F1BF7B235D}"/>
              </a:ext>
            </a:extLst>
          </p:cNvPr>
          <p:cNvSpPr txBox="1">
            <a:spLocks noChangeArrowheads="1"/>
          </p:cNvSpPr>
          <p:nvPr/>
        </p:nvSpPr>
        <p:spPr bwMode="auto">
          <a:xfrm>
            <a:off x="701675" y="4706938"/>
            <a:ext cx="6678613"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50000"/>
              </a:lnSpc>
              <a:spcBef>
                <a:spcPct val="50000"/>
              </a:spcBef>
              <a:buFontTx/>
              <a:buNone/>
              <a:defRPr/>
            </a:pPr>
            <a:r>
              <a:rPr kumimoji="1" lang="en-US" altLang="zh-CN" sz="2400" dirty="0">
                <a:solidFill>
                  <a:srgbClr val="FF0000"/>
                </a:solidFill>
                <a:latin typeface="Arial" panose="020B0604020202020204" pitchFamily="34" charset="0"/>
                <a:ea typeface="楷体_GB2312" pitchFamily="49" charset="-122"/>
                <a:cs typeface="Arial" panose="020B0604020202020204" pitchFamily="34" charset="0"/>
              </a:rPr>
              <a:t>X: </a:t>
            </a:r>
            <a:r>
              <a:rPr kumimoji="1" lang="en-US" altLang="zh-CN" sz="2400" dirty="0">
                <a:latin typeface="Arial" panose="020B0604020202020204" pitchFamily="34" charset="0"/>
                <a:ea typeface="楷体_GB2312" pitchFamily="49" charset="-122"/>
                <a:cs typeface="Arial" panose="020B0604020202020204" pitchFamily="34" charset="0"/>
              </a:rPr>
              <a:t>C</a:t>
            </a:r>
            <a:r>
              <a:rPr kumimoji="1" lang="en-US" altLang="zh-CN" sz="2400" baseline="-30000" dirty="0">
                <a:latin typeface="Arial" panose="020B0604020202020204" pitchFamily="34" charset="0"/>
                <a:ea typeface="楷体_GB2312" pitchFamily="49" charset="-122"/>
                <a:cs typeface="Arial" panose="020B0604020202020204" pitchFamily="34" charset="0"/>
              </a:rPr>
              <a:t>6</a:t>
            </a:r>
            <a:r>
              <a:rPr kumimoji="1" lang="en-US" altLang="zh-CN" sz="2400" dirty="0">
                <a:latin typeface="Arial" panose="020B0604020202020204" pitchFamily="34" charset="0"/>
                <a:ea typeface="楷体_GB2312" pitchFamily="49" charset="-122"/>
                <a:cs typeface="Arial" panose="020B0604020202020204" pitchFamily="34" charset="0"/>
              </a:rPr>
              <a:t>H</a:t>
            </a:r>
            <a:r>
              <a:rPr kumimoji="1" lang="en-US" altLang="zh-CN" sz="2400" baseline="-30000" dirty="0">
                <a:latin typeface="Arial" panose="020B0604020202020204" pitchFamily="34" charset="0"/>
                <a:ea typeface="楷体_GB2312" pitchFamily="49" charset="-122"/>
                <a:cs typeface="Arial" panose="020B0604020202020204" pitchFamily="34" charset="0"/>
              </a:rPr>
              <a:t>5</a:t>
            </a:r>
            <a:r>
              <a:rPr kumimoji="1" lang="en-US" altLang="zh-CN" sz="2400" dirty="0">
                <a:latin typeface="Arial" panose="020B0604020202020204" pitchFamily="34" charset="0"/>
                <a:ea typeface="楷体_GB2312" pitchFamily="49" charset="-122"/>
                <a:cs typeface="Arial" panose="020B0604020202020204" pitchFamily="34" charset="0"/>
              </a:rPr>
              <a:t>-，CH</a:t>
            </a:r>
            <a:r>
              <a:rPr kumimoji="1" lang="en-US" altLang="zh-CN" sz="2400" baseline="-30000" dirty="0">
                <a:latin typeface="Arial" panose="020B0604020202020204" pitchFamily="34" charset="0"/>
                <a:ea typeface="楷体_GB2312" pitchFamily="49" charset="-122"/>
                <a:cs typeface="Arial" panose="020B0604020202020204" pitchFamily="34" charset="0"/>
              </a:rPr>
              <a:t>2</a:t>
            </a:r>
            <a:r>
              <a:rPr kumimoji="1" lang="en-US" altLang="zh-CN" sz="2400" dirty="0">
                <a:latin typeface="Arial" panose="020B0604020202020204" pitchFamily="34" charset="0"/>
                <a:ea typeface="楷体_GB2312" pitchFamily="49" charset="-122"/>
                <a:cs typeface="Arial" panose="020B0604020202020204" pitchFamily="34" charset="0"/>
              </a:rPr>
              <a:t>=CH- </a:t>
            </a:r>
            <a:r>
              <a:rPr kumimoji="1" lang="en-US" altLang="zh-CN"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-CN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-COOH，-COOR </a:t>
            </a:r>
          </a:p>
          <a:p>
            <a:pPr algn="just" eaLnBrk="1" hangingPunct="1">
              <a:lnSpc>
                <a:spcPct val="150000"/>
              </a:lnSpc>
              <a:spcBef>
                <a:spcPts val="0"/>
              </a:spcBef>
              <a:buFontTx/>
              <a:buNone/>
              <a:defRPr/>
            </a:pPr>
            <a:r>
              <a:rPr kumimoji="1" lang="en-US" altLang="zh-CN" sz="2400" dirty="0">
                <a:latin typeface="Arial" panose="020B0604020202020204" pitchFamily="34" charset="0"/>
                <a:ea typeface="楷体_GB2312" pitchFamily="49" charset="-122"/>
                <a:cs typeface="Arial" panose="020B0604020202020204" pitchFamily="34" charset="0"/>
              </a:rPr>
              <a:t>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-Cl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3200" dirty="0">
                <a:latin typeface="Arial" panose="020B0604020202020204" pitchFamily="34" charset="0"/>
                <a:ea typeface="楷体_GB2312" pitchFamily="49" charset="-122"/>
                <a:cs typeface="Arial" panose="020B0604020202020204" pitchFamily="34" charset="0"/>
              </a:rPr>
              <a:t> </a:t>
            </a:r>
            <a:r>
              <a:rPr kumimoji="1" lang="en-US" altLang="zh-CN" sz="2400" dirty="0">
                <a:latin typeface="Arial" panose="020B0604020202020204" pitchFamily="34" charset="0"/>
                <a:ea typeface="楷体_GB2312" pitchFamily="49" charset="-122"/>
                <a:cs typeface="Arial" panose="020B0604020202020204" pitchFamily="34" charset="0"/>
              </a:rPr>
              <a:t>-R </a:t>
            </a:r>
            <a:r>
              <a:rPr kumimoji="1" lang="en-US" altLang="zh-CN" sz="2400" b="1" dirty="0">
                <a:solidFill>
                  <a:srgbClr val="FF0000"/>
                </a:solidFill>
                <a:effectLst>
                  <a:outerShdw blurRad="38100" dist="38100" dir="2700000" algn="tl">
                    <a:srgbClr val="000000">
                      <a:alpha val="43137"/>
                    </a:srgbClr>
                  </a:outerShdw>
                </a:effectLst>
                <a:latin typeface="Arial" panose="020B0604020202020204" pitchFamily="34" charset="0"/>
                <a:ea typeface="楷体_GB2312" pitchFamily="49" charset="-122"/>
                <a:cs typeface="Arial" panose="020B0604020202020204" pitchFamily="34" charset="0"/>
              </a:rPr>
              <a:t>&gt;</a:t>
            </a:r>
            <a:r>
              <a:rPr kumimoji="1" lang="en-US" altLang="zh-CN" sz="2400" dirty="0">
                <a:latin typeface="Arial" panose="020B0604020202020204" pitchFamily="34" charset="0"/>
                <a:ea typeface="楷体_GB2312" pitchFamily="49" charset="-122"/>
                <a:cs typeface="Arial" panose="020B0604020202020204" pitchFamily="34" charset="0"/>
              </a:rPr>
              <a:t> -OR，H</a:t>
            </a:r>
          </a:p>
        </p:txBody>
      </p:sp>
      <p:sp>
        <p:nvSpPr>
          <p:cNvPr id="162824" name="Rectangle 4"/>
          <p:cNvSpPr>
            <a:spLocks noChangeArrowheads="1"/>
          </p:cNvSpPr>
          <p:nvPr/>
        </p:nvSpPr>
        <p:spPr bwMode="auto">
          <a:xfrm>
            <a:off x="628650" y="4103688"/>
            <a:ext cx="5556250"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5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乙烯基单体</a:t>
            </a:r>
            <a:r>
              <a:rPr kumimoji="1" lang="en-US" altLang="zh-CN" sz="2400" b="1">
                <a:solidFill>
                  <a:srgbClr val="FF0000"/>
                </a:solidFill>
                <a:latin typeface="楷体" panose="02010609060101010101" pitchFamily="49" charset="-122"/>
                <a:ea typeface="楷体" panose="02010609060101010101" pitchFamily="49" charset="-122"/>
              </a:rPr>
              <a:t>(CH</a:t>
            </a:r>
            <a:r>
              <a:rPr kumimoji="1" lang="en-US" altLang="zh-CN" sz="2400" b="1" baseline="-30000">
                <a:solidFill>
                  <a:srgbClr val="FF0000"/>
                </a:solidFill>
                <a:latin typeface="楷体" panose="02010609060101010101" pitchFamily="49" charset="-122"/>
                <a:ea typeface="楷体" panose="02010609060101010101" pitchFamily="49" charset="-122"/>
              </a:rPr>
              <a:t>2</a:t>
            </a:r>
            <a:r>
              <a:rPr kumimoji="1" lang="en-US" altLang="zh-CN" sz="2400" b="1">
                <a:solidFill>
                  <a:srgbClr val="FF0000"/>
                </a:solidFill>
                <a:latin typeface="楷体" panose="02010609060101010101" pitchFamily="49" charset="-122"/>
                <a:ea typeface="楷体" panose="02010609060101010101" pitchFamily="49" charset="-122"/>
              </a:rPr>
              <a:t>=CHX)</a:t>
            </a:r>
            <a:r>
              <a:rPr kumimoji="1" lang="zh-CN" altLang="en-US" sz="2400" b="1">
                <a:solidFill>
                  <a:srgbClr val="FF0000"/>
                </a:solidFill>
                <a:latin typeface="楷体" panose="02010609060101010101" pitchFamily="49" charset="-122"/>
                <a:ea typeface="楷体" panose="02010609060101010101" pitchFamily="49" charset="-122"/>
              </a:rPr>
              <a:t>的活性次序：</a:t>
            </a:r>
          </a:p>
        </p:txBody>
      </p:sp>
    </p:spTree>
  </p:cSld>
  <p:clrMapOvr>
    <a:masterClrMapping/>
  </p:clrMapOvr>
  <p:transition spd="slow"/>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42"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D128B0F7-0191-4EBF-A95D-ECBBEB662D4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121</a:t>
            </a:fld>
            <a:endParaRPr lang="en-US" altLang="zh-CN" sz="1400">
              <a:latin typeface="Times New Roman" panose="02020603050405020304" pitchFamily="18" charset="0"/>
              <a:ea typeface="宋体" panose="02010600030101010101" pitchFamily="2" charset="-122"/>
            </a:endParaRPr>
          </a:p>
        </p:txBody>
      </p:sp>
      <p:sp>
        <p:nvSpPr>
          <p:cNvPr id="163843" name="Text Box 2"/>
          <p:cNvSpPr txBox="1">
            <a:spLocks noChangeArrowheads="1"/>
          </p:cNvSpPr>
          <p:nvPr/>
        </p:nvSpPr>
        <p:spPr bwMode="auto">
          <a:xfrm>
            <a:off x="827088" y="3279775"/>
            <a:ext cx="7448550" cy="2103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若已知</a:t>
            </a:r>
            <a:r>
              <a:rPr kumimoji="1" lang="en-US" altLang="zh-CN" sz="2400">
                <a:latin typeface="楷体" panose="02010609060101010101" pitchFamily="49" charset="-122"/>
                <a:ea typeface="楷体" panose="02010609060101010101" pitchFamily="49" charset="-122"/>
              </a:rPr>
              <a:t>r</a:t>
            </a:r>
            <a:r>
              <a:rPr kumimoji="1" lang="en-US" altLang="zh-CN" sz="2400" baseline="-25000">
                <a:latin typeface="楷体" panose="02010609060101010101" pitchFamily="49" charset="-122"/>
                <a:ea typeface="楷体" panose="02010609060101010101" pitchFamily="49" charset="-122"/>
              </a:rPr>
              <a:t>1</a:t>
            </a:r>
            <a:r>
              <a:rPr kumimoji="1" lang="zh-CN" altLang="en-US" sz="2400">
                <a:latin typeface="楷体" panose="02010609060101010101" pitchFamily="49" charset="-122"/>
                <a:ea typeface="楷体" panose="02010609060101010101" pitchFamily="49" charset="-122"/>
              </a:rPr>
              <a:t>和</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p</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11</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p</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可求得</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12</a:t>
            </a:r>
            <a:r>
              <a:rPr kumimoji="1" lang="en-US" altLang="zh-CN" sz="240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由</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12</a:t>
            </a:r>
            <a:r>
              <a:rPr kumimoji="1" lang="zh-CN" altLang="en-US" sz="2400">
                <a:latin typeface="楷体" panose="02010609060101010101" pitchFamily="49" charset="-122"/>
                <a:ea typeface="楷体" panose="02010609060101010101" pitchFamily="49" charset="-122"/>
              </a:rPr>
              <a:t>值大小比较自由基活性的大小。</a:t>
            </a:r>
          </a:p>
          <a:p>
            <a:pPr eaLnBrk="1" hangingPunct="1">
              <a:lnSpc>
                <a:spcPct val="125000"/>
              </a:lnSpc>
              <a:spcBef>
                <a:spcPct val="50000"/>
              </a:spcBef>
              <a:buFontTx/>
              <a:buNone/>
            </a:pPr>
            <a:r>
              <a:rPr kumimoji="1" lang="zh-CN" altLang="en-US" sz="2400">
                <a:latin typeface="楷体" panose="02010609060101010101" pitchFamily="49" charset="-122"/>
                <a:ea typeface="楷体" panose="02010609060101010101" pitchFamily="49" charset="-122"/>
              </a:rPr>
              <a:t>不同自由基与同一单体反应，</a:t>
            </a:r>
            <a:r>
              <a:rPr kumimoji="1" lang="en-US" altLang="zh-CN" sz="2400">
                <a:latin typeface="楷体" panose="02010609060101010101" pitchFamily="49" charset="-122"/>
                <a:ea typeface="楷体" panose="02010609060101010101" pitchFamily="49" charset="-122"/>
              </a:rPr>
              <a:t>k</a:t>
            </a:r>
            <a:r>
              <a:rPr kumimoji="1" lang="en-US" altLang="zh-CN" sz="2400" baseline="-25000">
                <a:latin typeface="楷体" panose="02010609060101010101" pitchFamily="49" charset="-122"/>
                <a:ea typeface="楷体" panose="02010609060101010101" pitchFamily="49" charset="-122"/>
              </a:rPr>
              <a:t>12</a:t>
            </a:r>
            <a:r>
              <a:rPr kumimoji="1" lang="zh-CN" altLang="en-US" sz="2400">
                <a:latin typeface="楷体" panose="02010609060101010101" pitchFamily="49" charset="-122"/>
                <a:ea typeface="楷体" panose="02010609060101010101" pitchFamily="49" charset="-122"/>
              </a:rPr>
              <a:t>大的自由基先和该单体反应。</a:t>
            </a:r>
          </a:p>
        </p:txBody>
      </p:sp>
      <p:graphicFrame>
        <p:nvGraphicFramePr>
          <p:cNvPr id="163844" name="Object 3"/>
          <p:cNvGraphicFramePr>
            <a:graphicFrameLocks noChangeAspect="1"/>
          </p:cNvGraphicFramePr>
          <p:nvPr/>
        </p:nvGraphicFramePr>
        <p:xfrm>
          <a:off x="941388" y="1700213"/>
          <a:ext cx="1779587" cy="1409700"/>
        </p:xfrm>
        <a:graphic>
          <a:graphicData uri="http://schemas.openxmlformats.org/presentationml/2006/ole">
            <mc:AlternateContent xmlns:mc="http://schemas.openxmlformats.org/markup-compatibility/2006">
              <mc:Choice xmlns:v="urn:schemas-microsoft-com:vml" Requires="v">
                <p:oleObj spid="_x0000_s163875" name="公式" r:id="rId4" imgW="876300" imgH="685800" progId="Equation.3">
                  <p:embed/>
                </p:oleObj>
              </mc:Choice>
              <mc:Fallback>
                <p:oleObj name="公式" r:id="rId4" imgW="876300" imgH="685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388" y="1700213"/>
                        <a:ext cx="1779587"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45" name="Object 4"/>
          <p:cNvGraphicFramePr>
            <a:graphicFrameLocks noChangeAspect="1"/>
          </p:cNvGraphicFramePr>
          <p:nvPr/>
        </p:nvGraphicFramePr>
        <p:xfrm>
          <a:off x="755650" y="990600"/>
          <a:ext cx="5041900" cy="590550"/>
        </p:xfrm>
        <a:graphic>
          <a:graphicData uri="http://schemas.openxmlformats.org/presentationml/2006/ole">
            <mc:AlternateContent xmlns:mc="http://schemas.openxmlformats.org/markup-compatibility/2006">
              <mc:Choice xmlns:v="urn:schemas-microsoft-com:vml" Requires="v">
                <p:oleObj spid="_x0000_s163876" name="公式" r:id="rId6" imgW="2057400" imgH="241300" progId="Equation.3">
                  <p:embed/>
                </p:oleObj>
              </mc:Choice>
              <mc:Fallback>
                <p:oleObj name="公式" r:id="rId6" imgW="2057400" imgH="2413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650" y="990600"/>
                        <a:ext cx="504190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846" name="Rectangle 5"/>
          <p:cNvSpPr>
            <a:spLocks noChangeArrowheads="1"/>
          </p:cNvSpPr>
          <p:nvPr/>
        </p:nvSpPr>
        <p:spPr bwMode="auto">
          <a:xfrm>
            <a:off x="368300" y="412750"/>
            <a:ext cx="23526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2</a:t>
            </a:r>
            <a:r>
              <a:rPr kumimoji="1" lang="en-US" altLang="zh-CN" sz="2400" b="1">
                <a:solidFill>
                  <a:srgbClr val="FF0000"/>
                </a:solidFill>
                <a:latin typeface="楷体" panose="02010609060101010101" pitchFamily="49" charset="-122"/>
                <a:ea typeface="楷体" panose="02010609060101010101" pitchFamily="49" charset="-122"/>
              </a:rPr>
              <a:t>)</a:t>
            </a:r>
            <a:r>
              <a:rPr kumimoji="1" lang="zh-CN" altLang="en-US" sz="2400" b="1">
                <a:solidFill>
                  <a:srgbClr val="FF0000"/>
                </a:solidFill>
                <a:latin typeface="楷体" panose="02010609060101010101" pitchFamily="49" charset="-122"/>
                <a:ea typeface="楷体" panose="02010609060101010101" pitchFamily="49" charset="-122"/>
              </a:rPr>
              <a:t>自由基的活性</a:t>
            </a:r>
          </a:p>
        </p:txBody>
      </p:sp>
      <p:sp>
        <p:nvSpPr>
          <p:cNvPr id="163847" name="矩形 2"/>
          <p:cNvSpPr>
            <a:spLocks noChangeArrowheads="1"/>
          </p:cNvSpPr>
          <p:nvPr/>
        </p:nvSpPr>
        <p:spPr bwMode="auto">
          <a:xfrm>
            <a:off x="842963" y="5411788"/>
            <a:ext cx="7416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kumimoji="1" lang="zh-CN" altLang="en-US" sz="2400">
                <a:solidFill>
                  <a:srgbClr val="FF0000"/>
                </a:solidFill>
                <a:latin typeface="黑体" panose="02010609060101010101" pitchFamily="49" charset="-122"/>
                <a:ea typeface="黑体" panose="02010609060101010101" pitchFamily="49" charset="-122"/>
              </a:rPr>
              <a:t>活泼单体形成的自由基稳定，而活性低的单体形成的自由基活泼。</a:t>
            </a:r>
            <a:endParaRPr lang="zh-CN" altLang="en-US" sz="2400">
              <a:solidFill>
                <a:srgbClr val="FF0000"/>
              </a:solidFill>
              <a:latin typeface="黑体" panose="02010609060101010101" pitchFamily="49" charset="-122"/>
              <a:ea typeface="黑体" panose="02010609060101010101" pitchFamily="49" charset="-122"/>
            </a:endParaRPr>
          </a:p>
        </p:txBody>
      </p:sp>
      <p:sp>
        <p:nvSpPr>
          <p:cNvPr id="5" name="笑脸 4">
            <a:extLst>
              <a:ext uri="{FF2B5EF4-FFF2-40B4-BE49-F238E27FC236}">
                <a16:creationId xmlns:a16="http://schemas.microsoft.com/office/drawing/2014/main" id="{7921B563-3BC7-44CC-B593-D570D58C896A}"/>
              </a:ext>
            </a:extLst>
          </p:cNvPr>
          <p:cNvSpPr/>
          <p:nvPr/>
        </p:nvSpPr>
        <p:spPr>
          <a:xfrm>
            <a:off x="531813" y="5645150"/>
            <a:ext cx="307975" cy="360363"/>
          </a:xfrm>
          <a:prstGeom prst="smileyFac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589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65BA2B3C-C628-4377-A65E-007AA3EE782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122</a:t>
            </a:fld>
            <a:endParaRPr lang="en-US" altLang="zh-CN" sz="1400">
              <a:latin typeface="Times New Roman" panose="02020603050405020304" pitchFamily="18" charset="0"/>
              <a:ea typeface="宋体" panose="02010600030101010101" pitchFamily="2" charset="-122"/>
            </a:endParaRPr>
          </a:p>
        </p:txBody>
      </p:sp>
      <p:sp>
        <p:nvSpPr>
          <p:cNvPr id="165891" name="Text Box 2"/>
          <p:cNvSpPr txBox="1">
            <a:spLocks noChangeArrowheads="1"/>
          </p:cNvSpPr>
          <p:nvPr/>
        </p:nvSpPr>
        <p:spPr bwMode="auto">
          <a:xfrm>
            <a:off x="850900" y="1924050"/>
            <a:ext cx="7826375"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Clr>
                <a:srgbClr val="FF0000"/>
              </a:buClr>
              <a:buFont typeface="Wingdings" panose="05000000000000000000" pitchFamily="2" charset="2"/>
              <a:buChar char="Ø"/>
            </a:pPr>
            <a:r>
              <a:rPr kumimoji="1" lang="zh-CN" altLang="en-US" sz="2400">
                <a:latin typeface="楷体" panose="02010609060101010101" pitchFamily="49" charset="-122"/>
                <a:ea typeface="楷体" panose="02010609060101010101" pitchFamily="49" charset="-122"/>
              </a:rPr>
              <a:t>有共轭效应的单体活性大，而自由基活性小；</a:t>
            </a:r>
          </a:p>
          <a:p>
            <a:pPr algn="just" eaLnBrk="1" hangingPunct="1">
              <a:lnSpc>
                <a:spcPct val="125000"/>
              </a:lnSpc>
              <a:spcBef>
                <a:spcPct val="50000"/>
              </a:spcBef>
              <a:buClr>
                <a:srgbClr val="FF0000"/>
              </a:buClr>
              <a:buFont typeface="Wingdings" panose="05000000000000000000" pitchFamily="2" charset="2"/>
              <a:buChar char="Ø"/>
            </a:pPr>
            <a:r>
              <a:rPr kumimoji="1" lang="zh-CN" altLang="en-US" sz="2400">
                <a:latin typeface="楷体" panose="02010609060101010101" pitchFamily="49" charset="-122"/>
                <a:ea typeface="楷体" panose="02010609060101010101" pitchFamily="49" charset="-122"/>
              </a:rPr>
              <a:t>无共轭效应的单体不活泼，自由基活泼。</a:t>
            </a:r>
          </a:p>
          <a:p>
            <a:pPr algn="just" eaLnBrk="1" hangingPunct="1">
              <a:lnSpc>
                <a:spcPct val="125000"/>
              </a:lnSpc>
              <a:spcBef>
                <a:spcPct val="50000"/>
              </a:spcBef>
              <a:buFontTx/>
              <a:buNone/>
            </a:pPr>
            <a:r>
              <a:rPr kumimoji="1" lang="zh-CN" altLang="en-US" sz="2400">
                <a:latin typeface="Arial" panose="020B0604020202020204" pitchFamily="34" charset="0"/>
                <a:ea typeface="楷体" panose="02010609060101010101" pitchFamily="49" charset="-122"/>
                <a:cs typeface="Arial" panose="020B0604020202020204" pitchFamily="34" charset="0"/>
              </a:rPr>
              <a:t>如</a:t>
            </a:r>
            <a:r>
              <a:rPr kumimoji="1" lang="en-US" altLang="zh-CN" sz="2400">
                <a:latin typeface="Arial" panose="020B0604020202020204" pitchFamily="34" charset="0"/>
                <a:ea typeface="楷体" panose="02010609060101010101" pitchFamily="49" charset="-122"/>
                <a:cs typeface="Arial" panose="020B0604020202020204" pitchFamily="34" charset="0"/>
              </a:rPr>
              <a:t>St、BD</a:t>
            </a:r>
            <a:r>
              <a:rPr kumimoji="1" lang="zh-CN" altLang="en-US" sz="2400">
                <a:latin typeface="Arial" panose="020B0604020202020204" pitchFamily="34" charset="0"/>
                <a:ea typeface="楷体" panose="02010609060101010101" pitchFamily="49" charset="-122"/>
                <a:cs typeface="Arial" panose="020B0604020202020204" pitchFamily="34" charset="0"/>
              </a:rPr>
              <a:t>为共轭单体，单体活性大，而其自由基稳定；</a:t>
            </a:r>
            <a:r>
              <a:rPr kumimoji="1" lang="en-US" altLang="zh-CN" sz="2400">
                <a:latin typeface="Arial" panose="020B0604020202020204" pitchFamily="34" charset="0"/>
                <a:ea typeface="楷体" panose="02010609060101010101" pitchFamily="49" charset="-122"/>
                <a:cs typeface="Arial" panose="020B0604020202020204" pitchFamily="34" charset="0"/>
              </a:rPr>
              <a:t>VAc、VC</a:t>
            </a:r>
            <a:r>
              <a:rPr kumimoji="1" lang="zh-CN" altLang="en-US" sz="2400">
                <a:latin typeface="Arial" panose="020B0604020202020204" pitchFamily="34" charset="0"/>
                <a:ea typeface="楷体" panose="02010609060101010101" pitchFamily="49" charset="-122"/>
                <a:cs typeface="Arial" panose="020B0604020202020204" pitchFamily="34" charset="0"/>
              </a:rPr>
              <a:t>无共轭效应，自由基活泼，而单体稳定。</a:t>
            </a:r>
          </a:p>
        </p:txBody>
      </p:sp>
      <p:sp>
        <p:nvSpPr>
          <p:cNvPr id="165892" name="Rectangle 3"/>
          <p:cNvSpPr>
            <a:spLocks noChangeArrowheads="1"/>
          </p:cNvSpPr>
          <p:nvPr/>
        </p:nvSpPr>
        <p:spPr bwMode="auto">
          <a:xfrm>
            <a:off x="482600" y="496888"/>
            <a:ext cx="52927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kumimoji="1" lang="zh-CN" altLang="en-US" sz="2400" b="1">
                <a:solidFill>
                  <a:srgbClr val="FF0000"/>
                </a:solidFill>
                <a:latin typeface="楷体" panose="02010609060101010101" pitchFamily="49" charset="-122"/>
                <a:ea typeface="楷体" panose="02010609060101010101" pitchFamily="49" charset="-122"/>
              </a:rPr>
              <a:t>3</a:t>
            </a:r>
            <a:r>
              <a:rPr kumimoji="1" lang="en-US" altLang="zh-CN" sz="2400" b="1">
                <a:solidFill>
                  <a:srgbClr val="FF0000"/>
                </a:solidFill>
                <a:latin typeface="楷体" panose="02010609060101010101" pitchFamily="49" charset="-122"/>
                <a:ea typeface="楷体" panose="02010609060101010101" pitchFamily="49" charset="-122"/>
              </a:rPr>
              <a:t>) </a:t>
            </a:r>
            <a:r>
              <a:rPr kumimoji="1" lang="zh-CN" altLang="en-US" sz="2400" b="1">
                <a:solidFill>
                  <a:srgbClr val="FF0000"/>
                </a:solidFill>
                <a:latin typeface="楷体" panose="02010609060101010101" pitchFamily="49" charset="-122"/>
                <a:ea typeface="楷体" panose="02010609060101010101" pitchFamily="49" charset="-122"/>
              </a:rPr>
              <a:t>取代基对单体及自由基活性的影响</a:t>
            </a:r>
          </a:p>
        </p:txBody>
      </p:sp>
      <p:sp>
        <p:nvSpPr>
          <p:cNvPr id="165893" name="Rectangle 4"/>
          <p:cNvSpPr>
            <a:spLocks noChangeArrowheads="1"/>
          </p:cNvSpPr>
          <p:nvPr/>
        </p:nvSpPr>
        <p:spPr bwMode="auto">
          <a:xfrm>
            <a:off x="850900" y="1130300"/>
            <a:ext cx="53784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Clr>
                <a:srgbClr val="A50021"/>
              </a:buClr>
              <a:buSzPct val="90000"/>
              <a:buFont typeface="Arial" panose="020B0604020202020204" pitchFamily="34" charset="0"/>
              <a:buNone/>
            </a:pP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1.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共轭效应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(Resonance Effect)</a:t>
            </a:r>
          </a:p>
        </p:txBody>
      </p:sp>
      <p:sp>
        <p:nvSpPr>
          <p:cNvPr id="165894" name="Text Box 2"/>
          <p:cNvSpPr txBox="1">
            <a:spLocks noChangeArrowheads="1"/>
          </p:cNvSpPr>
          <p:nvPr/>
        </p:nvSpPr>
        <p:spPr bwMode="auto">
          <a:xfrm>
            <a:off x="858838" y="4365625"/>
            <a:ext cx="69342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SzPct val="90000"/>
              <a:buFont typeface="Arial" panose="020B0604020202020204" pitchFamily="34" charset="0"/>
              <a:buNone/>
            </a:pP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2. </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位阻效应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(Steric Hindrance Effect)</a:t>
            </a:r>
          </a:p>
        </p:txBody>
      </p:sp>
      <p:sp>
        <p:nvSpPr>
          <p:cNvPr id="165895" name="Rectangle 3"/>
          <p:cNvSpPr>
            <a:spLocks noChangeArrowheads="1"/>
          </p:cNvSpPr>
          <p:nvPr/>
        </p:nvSpPr>
        <p:spPr bwMode="auto">
          <a:xfrm>
            <a:off x="850900" y="4981575"/>
            <a:ext cx="82296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FF0000"/>
              </a:buClr>
              <a:buFont typeface="Wingdings" panose="05000000000000000000" pitchFamily="2" charset="2"/>
              <a:buChar char="Ø"/>
            </a:pPr>
            <a:r>
              <a:rPr kumimoji="1" lang="zh-CN" altLang="en-US" sz="2400">
                <a:latin typeface="Arial" panose="020B0604020202020204" pitchFamily="34" charset="0"/>
                <a:ea typeface="楷体" panose="02010609060101010101" pitchFamily="49" charset="-122"/>
                <a:cs typeface="Arial" panose="020B0604020202020204" pitchFamily="34" charset="0"/>
              </a:rPr>
              <a:t>  1，1－双取代空间效应不明显，使单体活性提高；</a:t>
            </a:r>
          </a:p>
          <a:p>
            <a:pPr eaLnBrk="1" hangingPunct="1">
              <a:lnSpc>
                <a:spcPct val="125000"/>
              </a:lnSpc>
              <a:spcBef>
                <a:spcPct val="50000"/>
              </a:spcBef>
              <a:buClr>
                <a:srgbClr val="FF0000"/>
              </a:buClr>
              <a:buFont typeface="Wingdings" panose="05000000000000000000" pitchFamily="2" charset="2"/>
              <a:buChar char="Ø"/>
            </a:pPr>
            <a:r>
              <a:rPr kumimoji="1" lang="zh-CN" altLang="en-US" sz="2400">
                <a:latin typeface="Arial" panose="020B0604020202020204" pitchFamily="34" charset="0"/>
                <a:ea typeface="楷体" panose="02010609060101010101" pitchFamily="49" charset="-122"/>
                <a:cs typeface="Arial" panose="020B0604020202020204" pitchFamily="34" charset="0"/>
              </a:rPr>
              <a:t>  1，2－双取代，有位阻，使</a:t>
            </a:r>
            <a:r>
              <a:rPr kumimoji="1" lang="en-US" altLang="zh-CN" sz="2400">
                <a:latin typeface="Arial" panose="020B0604020202020204" pitchFamily="34" charset="0"/>
                <a:ea typeface="楷体" panose="02010609060101010101" pitchFamily="49" charset="-122"/>
                <a:cs typeface="Arial" panose="020B0604020202020204" pitchFamily="34" charset="0"/>
              </a:rPr>
              <a:t>k</a:t>
            </a:r>
            <a:r>
              <a:rPr kumimoji="1" lang="en-US" altLang="zh-CN" sz="2400" baseline="-30000">
                <a:latin typeface="Arial" panose="020B0604020202020204" pitchFamily="34" charset="0"/>
                <a:ea typeface="楷体" panose="02010609060101010101" pitchFamily="49" charset="-122"/>
                <a:cs typeface="Arial" panose="020B0604020202020204" pitchFamily="34" charset="0"/>
              </a:rPr>
              <a:t>12</a:t>
            </a:r>
            <a:r>
              <a:rPr kumimoji="1" lang="zh-CN" altLang="en-US" sz="2400">
                <a:latin typeface="Arial" panose="020B0604020202020204" pitchFamily="34" charset="0"/>
                <a:ea typeface="楷体" panose="02010609060101010101" pitchFamily="49" charset="-122"/>
                <a:cs typeface="Arial" panose="020B0604020202020204" pitchFamily="34" charset="0"/>
              </a:rPr>
              <a:t>下降，自由基活性降低。</a:t>
            </a:r>
          </a:p>
        </p:txBody>
      </p:sp>
    </p:spTree>
  </p:cSld>
  <p:clrMapOvr>
    <a:masterClrMapping/>
  </p:clrMapOvr>
  <p:transition spd="slow"/>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6914"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F693603C-7CF4-4BE3-B994-7EE942F34A00}"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123</a:t>
            </a:fld>
            <a:endParaRPr lang="en-US" altLang="zh-CN" sz="1400">
              <a:latin typeface="Times New Roman" panose="02020603050405020304" pitchFamily="18" charset="0"/>
              <a:ea typeface="宋体" panose="02010600030101010101" pitchFamily="2" charset="-122"/>
            </a:endParaRPr>
          </a:p>
        </p:txBody>
      </p:sp>
      <p:sp>
        <p:nvSpPr>
          <p:cNvPr id="166915" name="Text Box 2"/>
          <p:cNvSpPr txBox="1">
            <a:spLocks noChangeArrowheads="1"/>
          </p:cNvSpPr>
          <p:nvPr/>
        </p:nvSpPr>
        <p:spPr bwMode="auto">
          <a:xfrm>
            <a:off x="628650" y="576263"/>
            <a:ext cx="44196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ct val="50000"/>
              </a:spcBef>
              <a:buSzPct val="90000"/>
              <a:buFont typeface="Arial" panose="020B0604020202020204" pitchFamily="34" charset="0"/>
              <a:buNone/>
            </a:pPr>
            <a:r>
              <a:rPr kumimoji="1" lang="en-US" altLang="zh-CN" sz="2400" b="1">
                <a:solidFill>
                  <a:srgbClr val="FF0000"/>
                </a:solidFill>
                <a:latin typeface="Arial" panose="020B0604020202020204" pitchFamily="34" charset="0"/>
                <a:ea typeface="楷体" panose="02010609060101010101" pitchFamily="49" charset="-122"/>
                <a:cs typeface="Arial" panose="020B0604020202020204" pitchFamily="34" charset="0"/>
              </a:rPr>
              <a:t>3.</a:t>
            </a:r>
            <a:r>
              <a:rPr kumimoji="1" lang="zh-CN" altLang="en-US" sz="2400" b="1">
                <a:solidFill>
                  <a:srgbClr val="FF0000"/>
                </a:solidFill>
                <a:latin typeface="Arial" panose="020B0604020202020204" pitchFamily="34" charset="0"/>
                <a:ea typeface="楷体" panose="02010609060101010101" pitchFamily="49" charset="-122"/>
                <a:cs typeface="Arial" panose="020B0604020202020204" pitchFamily="34" charset="0"/>
              </a:rPr>
              <a:t> 极性效应</a:t>
            </a:r>
            <a:r>
              <a:rPr kumimoji="1" lang="en-US" altLang="zh-CN" sz="2400">
                <a:solidFill>
                  <a:srgbClr val="FF0000"/>
                </a:solidFill>
                <a:latin typeface="Arial" panose="020B0604020202020204" pitchFamily="34" charset="0"/>
                <a:ea typeface="楷体" panose="02010609060101010101" pitchFamily="49" charset="-122"/>
                <a:cs typeface="Arial" panose="020B0604020202020204" pitchFamily="34" charset="0"/>
              </a:rPr>
              <a:t>(Polarity Effect)</a:t>
            </a:r>
          </a:p>
        </p:txBody>
      </p:sp>
      <p:graphicFrame>
        <p:nvGraphicFramePr>
          <p:cNvPr id="166916" name="Object 3"/>
          <p:cNvGraphicFramePr>
            <a:graphicFrameLocks noChangeAspect="1"/>
          </p:cNvGraphicFramePr>
          <p:nvPr/>
        </p:nvGraphicFramePr>
        <p:xfrm>
          <a:off x="2195513" y="3629025"/>
          <a:ext cx="1292225" cy="1698625"/>
        </p:xfrm>
        <a:graphic>
          <a:graphicData uri="http://schemas.openxmlformats.org/presentationml/2006/ole">
            <mc:AlternateContent xmlns:mc="http://schemas.openxmlformats.org/markup-compatibility/2006">
              <mc:Choice xmlns:v="urn:schemas-microsoft-com:vml" Requires="v">
                <p:oleObj spid="_x0000_s166945" name="CS ChemDraw Drawing" r:id="rId3" imgW="535940" imgH="703580" progId="ChemDraw.Document.5.0">
                  <p:embed/>
                </p:oleObj>
              </mc:Choice>
              <mc:Fallback>
                <p:oleObj name="CS ChemDraw Drawing" r:id="rId3" imgW="535940" imgH="703580" progId="ChemDraw.Document.5.0">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629025"/>
                        <a:ext cx="1292225" cy="169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6917" name="Object 4"/>
          <p:cNvGraphicFramePr>
            <a:graphicFrameLocks noChangeAspect="1"/>
          </p:cNvGraphicFramePr>
          <p:nvPr/>
        </p:nvGraphicFramePr>
        <p:xfrm>
          <a:off x="5064125" y="3629025"/>
          <a:ext cx="1285875" cy="1828800"/>
        </p:xfrm>
        <a:graphic>
          <a:graphicData uri="http://schemas.openxmlformats.org/presentationml/2006/ole">
            <mc:AlternateContent xmlns:mc="http://schemas.openxmlformats.org/markup-compatibility/2006">
              <mc:Choice xmlns:v="urn:schemas-microsoft-com:vml" Requires="v">
                <p:oleObj spid="_x0000_s166946" name="CS ChemDraw Drawing" r:id="rId5" imgW="530860" imgH="754380" progId="ChemDraw.Document.5.0">
                  <p:embed/>
                </p:oleObj>
              </mc:Choice>
              <mc:Fallback>
                <p:oleObj name="CS ChemDraw Drawing" r:id="rId5" imgW="530860" imgH="754380" progId="ChemDraw.Document.5.0">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64125" y="3629025"/>
                        <a:ext cx="12858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6918" name="Rectangle 5"/>
          <p:cNvSpPr>
            <a:spLocks noChangeArrowheads="1"/>
          </p:cNvSpPr>
          <p:nvPr/>
        </p:nvSpPr>
        <p:spPr bwMode="auto">
          <a:xfrm>
            <a:off x="833438" y="1268413"/>
            <a:ext cx="7696200" cy="2103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Clr>
                <a:srgbClr val="FF0000"/>
              </a:buClr>
              <a:buFont typeface="Wingdings" panose="05000000000000000000" pitchFamily="2" charset="2"/>
              <a:buChar char="Ø"/>
            </a:pPr>
            <a:r>
              <a:rPr kumimoji="1" lang="zh-CN" altLang="en-GB" sz="2400">
                <a:latin typeface="Arial" panose="020B0604020202020204" pitchFamily="34" charset="0"/>
                <a:ea typeface="楷体" panose="02010609060101010101" pitchFamily="49" charset="-122"/>
                <a:cs typeface="Arial" panose="020B0604020202020204" pitchFamily="34" charset="0"/>
              </a:rPr>
              <a:t>  </a:t>
            </a:r>
            <a:r>
              <a:rPr kumimoji="1" lang="zh-CN" altLang="en-US" sz="2400">
                <a:latin typeface="Arial" panose="020B0604020202020204" pitchFamily="34" charset="0"/>
                <a:ea typeface="楷体" panose="02010609060101010101" pitchFamily="49" charset="-122"/>
                <a:cs typeface="Arial" panose="020B0604020202020204" pitchFamily="34" charset="0"/>
              </a:rPr>
              <a:t>推电子基使烯类单体双键带负电性，而吸电子基则使其带正电性，极性相反的单体易共聚，有交替倾向。</a:t>
            </a:r>
          </a:p>
          <a:p>
            <a:pPr algn="just" eaLnBrk="1" hangingPunct="1">
              <a:lnSpc>
                <a:spcPct val="125000"/>
              </a:lnSpc>
              <a:spcBef>
                <a:spcPct val="50000"/>
              </a:spcBef>
              <a:buClr>
                <a:srgbClr val="FF0000"/>
              </a:buClr>
              <a:buFont typeface="Wingdings" panose="05000000000000000000" pitchFamily="2" charset="2"/>
              <a:buChar char="Ø"/>
            </a:pPr>
            <a:r>
              <a:rPr kumimoji="1" lang="zh-CN" altLang="en-GB" sz="2400">
                <a:latin typeface="Arial" panose="020B0604020202020204" pitchFamily="34" charset="0"/>
                <a:ea typeface="楷体" panose="02010609060101010101" pitchFamily="49" charset="-122"/>
                <a:cs typeface="Arial" panose="020B0604020202020204" pitchFamily="34" charset="0"/>
              </a:rPr>
              <a:t>  </a:t>
            </a:r>
            <a:r>
              <a:rPr kumimoji="1" lang="zh-CN" altLang="en-US" sz="2400">
                <a:latin typeface="Arial" panose="020B0604020202020204" pitchFamily="34" charset="0"/>
                <a:ea typeface="楷体" panose="02010609060101010101" pitchFamily="49" charset="-122"/>
                <a:cs typeface="Arial" panose="020B0604020202020204" pitchFamily="34" charset="0"/>
              </a:rPr>
              <a:t>一些难均聚的单体，如马来酸酐、反丁烯二酸二乙酯，能与极性相反的单体如苯乙烯、乙烯基醚类共聚。</a:t>
            </a:r>
          </a:p>
        </p:txBody>
      </p:sp>
    </p:spTree>
  </p:cSld>
  <p:clrMapOvr>
    <a:masterClrMapping/>
  </p:clrMapOvr>
  <p:transition spd="slow"/>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793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9F61AF9B-9434-4F69-B3B4-AD69AEB5B51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124</a:t>
            </a:fld>
            <a:endParaRPr lang="en-US" altLang="zh-CN" sz="1400">
              <a:latin typeface="Times New Roman" panose="02020603050405020304" pitchFamily="18" charset="0"/>
              <a:ea typeface="宋体" panose="02010600030101010101" pitchFamily="2" charset="-122"/>
            </a:endParaRPr>
          </a:p>
        </p:txBody>
      </p:sp>
      <p:sp>
        <p:nvSpPr>
          <p:cNvPr id="167939" name="Rectangle 2"/>
          <p:cNvSpPr>
            <a:spLocks noChangeArrowheads="1"/>
          </p:cNvSpPr>
          <p:nvPr/>
        </p:nvSpPr>
        <p:spPr bwMode="auto">
          <a:xfrm>
            <a:off x="4273550" y="957263"/>
            <a:ext cx="4524375"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371600" indent="-457200">
              <a:defRPr>
                <a:solidFill>
                  <a:schemeClr val="tx1"/>
                </a:solidFill>
                <a:latin typeface="Calibri" panose="020F0502020204030204" pitchFamily="34" charset="0"/>
              </a:defRPr>
            </a:lvl3pPr>
            <a:lvl4pPr marL="1828800" indent="-457200">
              <a:defRPr>
                <a:solidFill>
                  <a:schemeClr val="tx1"/>
                </a:solidFill>
                <a:latin typeface="Calibri" panose="020F0502020204030204" pitchFamily="34" charset="0"/>
              </a:defRPr>
            </a:lvl4pPr>
            <a:lvl5pPr marL="2286000" indent="-457200">
              <a:defRPr>
                <a:solidFill>
                  <a:schemeClr val="tx1"/>
                </a:solidFill>
                <a:latin typeface="Calibri" panose="020F0502020204030204" pitchFamily="34" charset="0"/>
              </a:defRPr>
            </a:lvl5pPr>
            <a:lvl6pPr marL="2743200" indent="-457200" defTabSz="457200" eaLnBrk="0" fontAlgn="base" hangingPunct="0">
              <a:spcBef>
                <a:spcPct val="0"/>
              </a:spcBef>
              <a:spcAft>
                <a:spcPct val="0"/>
              </a:spcAft>
              <a:defRPr>
                <a:solidFill>
                  <a:schemeClr val="tx1"/>
                </a:solidFill>
                <a:latin typeface="Calibri" panose="020F0502020204030204" pitchFamily="34" charset="0"/>
              </a:defRPr>
            </a:lvl6pPr>
            <a:lvl7pPr marL="3200400" indent="-457200" defTabSz="457200" eaLnBrk="0" fontAlgn="base" hangingPunct="0">
              <a:spcBef>
                <a:spcPct val="0"/>
              </a:spcBef>
              <a:spcAft>
                <a:spcPct val="0"/>
              </a:spcAft>
              <a:defRPr>
                <a:solidFill>
                  <a:schemeClr val="tx1"/>
                </a:solidFill>
                <a:latin typeface="Calibri" panose="020F0502020204030204" pitchFamily="34" charset="0"/>
              </a:defRPr>
            </a:lvl7pPr>
            <a:lvl8pPr marL="3657600" indent="-457200" defTabSz="457200" eaLnBrk="0" fontAlgn="base" hangingPunct="0">
              <a:spcBef>
                <a:spcPct val="0"/>
              </a:spcBef>
              <a:spcAft>
                <a:spcPct val="0"/>
              </a:spcAft>
              <a:defRPr>
                <a:solidFill>
                  <a:schemeClr val="tx1"/>
                </a:solidFill>
                <a:latin typeface="Calibri" panose="020F0502020204030204" pitchFamily="34" charset="0"/>
              </a:defRPr>
            </a:lvl8pPr>
            <a:lvl9pPr marL="4114800" indent="-4572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25000"/>
              </a:lnSpc>
              <a:spcBef>
                <a:spcPct val="50000"/>
              </a:spcBef>
            </a:pPr>
            <a:r>
              <a:rPr kumimoji="1" lang="en-US" altLang="zh-CN" sz="2400">
                <a:latin typeface="Arial" panose="020B0604020202020204" pitchFamily="34" charset="0"/>
                <a:ea typeface="楷体" panose="02010609060101010101" pitchFamily="49" charset="-122"/>
                <a:cs typeface="Arial" panose="020B0604020202020204" pitchFamily="34" charset="0"/>
              </a:rPr>
              <a:t>Q：</a:t>
            </a:r>
            <a:r>
              <a:rPr kumimoji="1" lang="zh-CN" altLang="en-US" sz="2400">
                <a:latin typeface="Arial" panose="020B0604020202020204" pitchFamily="34" charset="0"/>
                <a:ea typeface="楷体" panose="02010609060101010101" pitchFamily="49" charset="-122"/>
                <a:cs typeface="Arial" panose="020B0604020202020204" pitchFamily="34" charset="0"/>
              </a:rPr>
              <a:t>共轭因子，</a:t>
            </a:r>
            <a:r>
              <a:rPr kumimoji="1" lang="en-US" altLang="zh-CN" sz="2400">
                <a:latin typeface="Arial" panose="020B0604020202020204" pitchFamily="34" charset="0"/>
                <a:ea typeface="楷体" panose="02010609060101010101" pitchFamily="49" charset="-122"/>
                <a:cs typeface="Arial" panose="020B0604020202020204" pitchFamily="34" charset="0"/>
              </a:rPr>
              <a:t>e：</a:t>
            </a:r>
            <a:r>
              <a:rPr kumimoji="1" lang="zh-CN" altLang="en-US" sz="2400">
                <a:latin typeface="Arial" panose="020B0604020202020204" pitchFamily="34" charset="0"/>
                <a:ea typeface="楷体" panose="02010609060101010101" pitchFamily="49" charset="-122"/>
                <a:cs typeface="Arial" panose="020B0604020202020204" pitchFamily="34" charset="0"/>
              </a:rPr>
              <a:t>极性因子</a:t>
            </a:r>
          </a:p>
        </p:txBody>
      </p:sp>
      <p:sp>
        <p:nvSpPr>
          <p:cNvPr id="167940" name="Text Box 3"/>
          <p:cNvSpPr txBox="1">
            <a:spLocks noChangeArrowheads="1"/>
          </p:cNvSpPr>
          <p:nvPr/>
        </p:nvSpPr>
        <p:spPr bwMode="auto">
          <a:xfrm>
            <a:off x="2892425" y="328613"/>
            <a:ext cx="6191250"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FontTx/>
              <a:buNone/>
            </a:pPr>
            <a:r>
              <a:rPr kumimoji="1" lang="zh-CN" altLang="en-US" sz="2400" b="1">
                <a:latin typeface="楷体" panose="02010609060101010101" pitchFamily="49" charset="-122"/>
                <a:ea typeface="楷体" panose="02010609060101010101" pitchFamily="49" charset="-122"/>
              </a:rPr>
              <a:t>建立结构与共聚活性关系，估算竞聚率。</a:t>
            </a:r>
          </a:p>
        </p:txBody>
      </p:sp>
      <p:sp>
        <p:nvSpPr>
          <p:cNvPr id="167941" name="Rectangle 5"/>
          <p:cNvSpPr>
            <a:spLocks noChangeArrowheads="1"/>
          </p:cNvSpPr>
          <p:nvPr/>
        </p:nvSpPr>
        <p:spPr bwMode="auto">
          <a:xfrm>
            <a:off x="250825" y="328613"/>
            <a:ext cx="22193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zh-CN" sz="2400" b="1">
                <a:latin typeface="Arial" panose="020B0604020202020204" pitchFamily="34" charset="0"/>
                <a:ea typeface="楷体" panose="02010609060101010101" pitchFamily="49" charset="-122"/>
                <a:cs typeface="Arial" panose="020B0604020202020204" pitchFamily="34" charset="0"/>
              </a:rPr>
              <a:t>§4.9</a:t>
            </a:r>
            <a:r>
              <a:rPr kumimoji="1" lang="zh-CN" altLang="en-US" sz="2400" b="1">
                <a:latin typeface="Arial" panose="020B0604020202020204" pitchFamily="34" charset="0"/>
                <a:ea typeface="楷体" panose="02010609060101010101" pitchFamily="49" charset="-122"/>
                <a:cs typeface="Arial" panose="020B0604020202020204" pitchFamily="34" charset="0"/>
              </a:rPr>
              <a:t> </a:t>
            </a:r>
            <a:r>
              <a:rPr kumimoji="1" lang="en-US" altLang="zh-CN" sz="2400" b="1">
                <a:latin typeface="Arial" panose="020B0604020202020204" pitchFamily="34" charset="0"/>
                <a:ea typeface="楷体" panose="02010609060101010101" pitchFamily="49" charset="-122"/>
                <a:cs typeface="Arial" panose="020B0604020202020204" pitchFamily="34" charset="0"/>
              </a:rPr>
              <a:t>Q-e </a:t>
            </a:r>
            <a:r>
              <a:rPr kumimoji="1" lang="zh-CN" altLang="en-US" sz="2400" b="1">
                <a:latin typeface="Arial" panose="020B0604020202020204" pitchFamily="34" charset="0"/>
                <a:ea typeface="楷体" panose="02010609060101010101" pitchFamily="49" charset="-122"/>
                <a:cs typeface="Arial" panose="020B0604020202020204" pitchFamily="34" charset="0"/>
              </a:rPr>
              <a:t>概念</a:t>
            </a:r>
          </a:p>
        </p:txBody>
      </p:sp>
      <p:sp>
        <p:nvSpPr>
          <p:cNvPr id="167942" name="Rectangle 6"/>
          <p:cNvSpPr>
            <a:spLocks noChangeArrowheads="1"/>
          </p:cNvSpPr>
          <p:nvPr/>
        </p:nvSpPr>
        <p:spPr bwMode="auto">
          <a:xfrm>
            <a:off x="457200" y="946150"/>
            <a:ext cx="44577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Calibri" panose="020F0502020204030204" pitchFamily="34" charset="0"/>
              </a:defRPr>
            </a:lvl1pPr>
            <a:lvl2pPr marL="914400" indent="-457200">
              <a:defRPr>
                <a:solidFill>
                  <a:schemeClr val="tx1"/>
                </a:solidFill>
                <a:latin typeface="Calibri" panose="020F0502020204030204" pitchFamily="34" charset="0"/>
              </a:defRPr>
            </a:lvl2pPr>
            <a:lvl3pPr marL="1371600" indent="-457200">
              <a:defRPr>
                <a:solidFill>
                  <a:schemeClr val="tx1"/>
                </a:solidFill>
                <a:latin typeface="Calibri" panose="020F0502020204030204" pitchFamily="34" charset="0"/>
              </a:defRPr>
            </a:lvl3pPr>
            <a:lvl4pPr marL="1828800" indent="-457200">
              <a:defRPr>
                <a:solidFill>
                  <a:schemeClr val="tx1"/>
                </a:solidFill>
                <a:latin typeface="Calibri" panose="020F0502020204030204" pitchFamily="34" charset="0"/>
              </a:defRPr>
            </a:lvl4pPr>
            <a:lvl5pPr marL="2286000" indent="-457200">
              <a:defRPr>
                <a:solidFill>
                  <a:schemeClr val="tx1"/>
                </a:solidFill>
                <a:latin typeface="Calibri" panose="020F0502020204030204" pitchFamily="34" charset="0"/>
              </a:defRPr>
            </a:lvl5pPr>
            <a:lvl6pPr marL="2743200" indent="-457200" defTabSz="457200" eaLnBrk="0" fontAlgn="base" hangingPunct="0">
              <a:spcBef>
                <a:spcPct val="0"/>
              </a:spcBef>
              <a:spcAft>
                <a:spcPct val="0"/>
              </a:spcAft>
              <a:defRPr>
                <a:solidFill>
                  <a:schemeClr val="tx1"/>
                </a:solidFill>
                <a:latin typeface="Calibri" panose="020F0502020204030204" pitchFamily="34" charset="0"/>
              </a:defRPr>
            </a:lvl6pPr>
            <a:lvl7pPr marL="3200400" indent="-457200" defTabSz="457200" eaLnBrk="0" fontAlgn="base" hangingPunct="0">
              <a:spcBef>
                <a:spcPct val="0"/>
              </a:spcBef>
              <a:spcAft>
                <a:spcPct val="0"/>
              </a:spcAft>
              <a:defRPr>
                <a:solidFill>
                  <a:schemeClr val="tx1"/>
                </a:solidFill>
                <a:latin typeface="Calibri" panose="020F0502020204030204" pitchFamily="34" charset="0"/>
              </a:defRPr>
            </a:lvl7pPr>
            <a:lvl8pPr marL="3657600" indent="-457200" defTabSz="457200" eaLnBrk="0" fontAlgn="base" hangingPunct="0">
              <a:spcBef>
                <a:spcPct val="0"/>
              </a:spcBef>
              <a:spcAft>
                <a:spcPct val="0"/>
              </a:spcAft>
              <a:defRPr>
                <a:solidFill>
                  <a:schemeClr val="tx1"/>
                </a:solidFill>
                <a:latin typeface="Calibri" panose="020F0502020204030204" pitchFamily="34" charset="0"/>
              </a:defRPr>
            </a:lvl8pPr>
            <a:lvl9pPr marL="4114800" indent="-4572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125000"/>
              </a:lnSpc>
              <a:spcBef>
                <a:spcPct val="50000"/>
              </a:spcBef>
            </a:pPr>
            <a:r>
              <a:rPr kumimoji="1" lang="en-US" altLang="zh-CN" sz="2400">
                <a:latin typeface="Arial" panose="020B0604020202020204" pitchFamily="34" charset="0"/>
                <a:ea typeface="楷体" panose="02010609060101010101" pitchFamily="49" charset="-122"/>
                <a:cs typeface="Arial" panose="020B0604020202020204" pitchFamily="34" charset="0"/>
              </a:rPr>
              <a:t>1) Q-e </a:t>
            </a:r>
            <a:r>
              <a:rPr kumimoji="1" lang="zh-CN" altLang="en-US" sz="2400">
                <a:latin typeface="Arial" panose="020B0604020202020204" pitchFamily="34" charset="0"/>
                <a:ea typeface="楷体" panose="02010609060101010101" pitchFamily="49" charset="-122"/>
                <a:cs typeface="Arial" panose="020B0604020202020204" pitchFamily="34" charset="0"/>
              </a:rPr>
              <a:t>方程 </a:t>
            </a:r>
            <a:r>
              <a:rPr kumimoji="1" lang="en-US" altLang="zh-CN" sz="2400">
                <a:latin typeface="Arial" panose="020B0604020202020204" pitchFamily="34" charset="0"/>
                <a:ea typeface="楷体" panose="02010609060101010101" pitchFamily="49" charset="-122"/>
                <a:cs typeface="Arial" panose="020B0604020202020204" pitchFamily="34" charset="0"/>
              </a:rPr>
              <a:t>(Alfrey-Price)</a:t>
            </a:r>
            <a:endParaRPr kumimoji="1" lang="zh-CN" altLang="en-US" sz="2400">
              <a:latin typeface="Arial" panose="020B0604020202020204" pitchFamily="34" charset="0"/>
              <a:ea typeface="楷体" panose="02010609060101010101" pitchFamily="49" charset="-122"/>
              <a:cs typeface="Arial" panose="020B0604020202020204" pitchFamily="34" charset="0"/>
            </a:endParaRPr>
          </a:p>
        </p:txBody>
      </p:sp>
      <p:graphicFrame>
        <p:nvGraphicFramePr>
          <p:cNvPr id="167943" name="Object 15"/>
          <p:cNvGraphicFramePr>
            <a:graphicFrameLocks noChangeAspect="1"/>
          </p:cNvGraphicFramePr>
          <p:nvPr/>
        </p:nvGraphicFramePr>
        <p:xfrm>
          <a:off x="779463" y="1606550"/>
          <a:ext cx="4005262" cy="2349500"/>
        </p:xfrm>
        <a:graphic>
          <a:graphicData uri="http://schemas.openxmlformats.org/presentationml/2006/ole">
            <mc:AlternateContent xmlns:mc="http://schemas.openxmlformats.org/markup-compatibility/2006">
              <mc:Choice xmlns:v="urn:schemas-microsoft-com:vml" Requires="v">
                <p:oleObj spid="_x0000_s167988" name="公式" r:id="rId4" imgW="1409088" imgH="990170" progId="Equation.3">
                  <p:embed/>
                </p:oleObj>
              </mc:Choice>
              <mc:Fallback>
                <p:oleObj name="公式" r:id="rId4" imgW="1409088" imgH="99017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463" y="1606550"/>
                        <a:ext cx="4005262"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7944" name="矩形 2"/>
          <p:cNvSpPr>
            <a:spLocks noChangeArrowheads="1"/>
          </p:cNvSpPr>
          <p:nvPr/>
        </p:nvSpPr>
        <p:spPr bwMode="auto">
          <a:xfrm>
            <a:off x="628650" y="5759450"/>
            <a:ext cx="73802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共聚速率常数与共轭效应、极性效应联系起来。</a:t>
            </a:r>
          </a:p>
        </p:txBody>
      </p:sp>
      <p:sp>
        <p:nvSpPr>
          <p:cNvPr id="167945" name="Text Box 6"/>
          <p:cNvSpPr txBox="1">
            <a:spLocks noChangeArrowheads="1"/>
          </p:cNvSpPr>
          <p:nvPr/>
        </p:nvSpPr>
        <p:spPr bwMode="auto">
          <a:xfrm>
            <a:off x="768350" y="4214813"/>
            <a:ext cx="8001000" cy="846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00000"/>
              </a:lnSpc>
              <a:spcBef>
                <a:spcPts val="600"/>
              </a:spcBef>
              <a:buFontTx/>
              <a:buNone/>
            </a:pPr>
            <a:r>
              <a:rPr kumimoji="1" lang="en-US" altLang="zh-CN" sz="2200">
                <a:latin typeface="Arial" panose="020B0604020202020204" pitchFamily="34" charset="0"/>
                <a:ea typeface="楷体" panose="02010609060101010101" pitchFamily="49" charset="-122"/>
                <a:cs typeface="Arial" panose="020B0604020202020204" pitchFamily="34" charset="0"/>
              </a:rPr>
              <a:t>P</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i</a:t>
            </a:r>
            <a:r>
              <a:rPr kumimoji="1" lang="en-US" altLang="zh-CN" sz="2200">
                <a:latin typeface="Arial" panose="020B0604020202020204" pitchFamily="34" charset="0"/>
                <a:ea typeface="楷体" panose="02010609060101010101" pitchFamily="49" charset="-122"/>
                <a:cs typeface="Arial" panose="020B0604020202020204" pitchFamily="34" charset="0"/>
              </a:rPr>
              <a:t>、Q</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i</a:t>
            </a:r>
            <a:r>
              <a:rPr kumimoji="1" lang="en-US" altLang="zh-CN" sz="2200">
                <a:latin typeface="Arial" panose="020B0604020202020204" pitchFamily="34" charset="0"/>
                <a:ea typeface="楷体" panose="02010609060101010101" pitchFamily="49" charset="-122"/>
                <a:cs typeface="Arial" panose="020B0604020202020204" pitchFamily="34" charset="0"/>
              </a:rPr>
              <a:t>：</a:t>
            </a:r>
            <a:r>
              <a:rPr kumimoji="1" lang="zh-CN" altLang="en-US" sz="2200">
                <a:latin typeface="Arial" panose="020B0604020202020204" pitchFamily="34" charset="0"/>
                <a:ea typeface="楷体" panose="02010609060101010101" pitchFamily="49" charset="-122"/>
                <a:cs typeface="Arial" panose="020B0604020202020204" pitchFamily="34" charset="0"/>
              </a:rPr>
              <a:t>自由基      和单体      活性的共轭效应量度</a:t>
            </a:r>
          </a:p>
          <a:p>
            <a:pPr algn="just" eaLnBrk="1" hangingPunct="1">
              <a:lnSpc>
                <a:spcPct val="100000"/>
              </a:lnSpc>
              <a:spcBef>
                <a:spcPts val="600"/>
              </a:spcBef>
              <a:buFontTx/>
              <a:buNone/>
            </a:pPr>
            <a:r>
              <a:rPr kumimoji="1" lang="en-US" altLang="zh-CN" sz="2200">
                <a:latin typeface="Arial" panose="020B0604020202020204" pitchFamily="34" charset="0"/>
                <a:ea typeface="楷体" panose="02010609060101010101" pitchFamily="49" charset="-122"/>
                <a:cs typeface="Arial" panose="020B0604020202020204" pitchFamily="34" charset="0"/>
              </a:rPr>
              <a:t>e</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1</a:t>
            </a:r>
            <a:r>
              <a:rPr kumimoji="1" lang="en-US" altLang="zh-CN" sz="2200">
                <a:latin typeface="Arial" panose="020B0604020202020204" pitchFamily="34" charset="0"/>
                <a:ea typeface="楷体" panose="02010609060101010101" pitchFamily="49" charset="-122"/>
                <a:cs typeface="Arial" panose="020B0604020202020204" pitchFamily="34" charset="0"/>
              </a:rPr>
              <a:t>、e</a:t>
            </a:r>
            <a:r>
              <a:rPr kumimoji="1" lang="en-US" altLang="zh-CN" sz="2200" baseline="-30000">
                <a:latin typeface="Arial" panose="020B0604020202020204" pitchFamily="34" charset="0"/>
                <a:ea typeface="楷体" panose="02010609060101010101" pitchFamily="49" charset="-122"/>
                <a:cs typeface="Arial" panose="020B0604020202020204" pitchFamily="34" charset="0"/>
              </a:rPr>
              <a:t>2</a:t>
            </a:r>
            <a:r>
              <a:rPr kumimoji="1" lang="en-US" altLang="zh-CN" sz="2200">
                <a:latin typeface="Arial" panose="020B0604020202020204" pitchFamily="34" charset="0"/>
                <a:ea typeface="楷体" panose="02010609060101010101" pitchFamily="49" charset="-122"/>
                <a:cs typeface="Arial" panose="020B0604020202020204" pitchFamily="34" charset="0"/>
              </a:rPr>
              <a:t>：</a:t>
            </a:r>
            <a:r>
              <a:rPr kumimoji="1" lang="zh-CN" altLang="en-US" sz="2200">
                <a:latin typeface="Arial" panose="020B0604020202020204" pitchFamily="34" charset="0"/>
                <a:ea typeface="楷体" panose="02010609060101010101" pitchFamily="49" charset="-122"/>
                <a:cs typeface="Arial" panose="020B0604020202020204" pitchFamily="34" charset="0"/>
              </a:rPr>
              <a:t>分别为</a:t>
            </a:r>
            <a:r>
              <a:rPr kumimoji="1" lang="en-US" altLang="zh-CN" sz="2200">
                <a:latin typeface="Arial" panose="020B0604020202020204" pitchFamily="34" charset="0"/>
                <a:ea typeface="楷体" panose="02010609060101010101" pitchFamily="49" charset="-122"/>
                <a:cs typeface="Arial" panose="020B0604020202020204" pitchFamily="34" charset="0"/>
              </a:rPr>
              <a:t>M</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1</a:t>
            </a:r>
            <a:r>
              <a:rPr kumimoji="1" lang="zh-CN" altLang="en-US" sz="2200">
                <a:latin typeface="Arial" panose="020B0604020202020204" pitchFamily="34" charset="0"/>
                <a:ea typeface="楷体" panose="02010609060101010101" pitchFamily="49" charset="-122"/>
                <a:cs typeface="Arial" panose="020B0604020202020204" pitchFamily="34" charset="0"/>
              </a:rPr>
              <a:t>及其自由基、</a:t>
            </a:r>
            <a:r>
              <a:rPr kumimoji="1" lang="en-US" altLang="zh-CN" sz="2200">
                <a:latin typeface="Arial" panose="020B0604020202020204" pitchFamily="34" charset="0"/>
                <a:ea typeface="楷体" panose="02010609060101010101" pitchFamily="49" charset="-122"/>
                <a:cs typeface="Arial" panose="020B0604020202020204" pitchFamily="34" charset="0"/>
              </a:rPr>
              <a:t>M</a:t>
            </a:r>
            <a:r>
              <a:rPr kumimoji="1" lang="en-US" altLang="zh-CN" sz="2200" baseline="-25000">
                <a:latin typeface="Arial" panose="020B0604020202020204" pitchFamily="34" charset="0"/>
                <a:ea typeface="楷体" panose="02010609060101010101" pitchFamily="49" charset="-122"/>
                <a:cs typeface="Arial" panose="020B0604020202020204" pitchFamily="34" charset="0"/>
              </a:rPr>
              <a:t>2</a:t>
            </a:r>
            <a:r>
              <a:rPr kumimoji="1" lang="zh-CN" altLang="en-US" sz="2200">
                <a:latin typeface="Arial" panose="020B0604020202020204" pitchFamily="34" charset="0"/>
                <a:ea typeface="楷体" panose="02010609060101010101" pitchFamily="49" charset="-122"/>
                <a:cs typeface="Arial" panose="020B0604020202020204" pitchFamily="34" charset="0"/>
              </a:rPr>
              <a:t>及其自由基活性的极性度量。</a:t>
            </a:r>
          </a:p>
        </p:txBody>
      </p:sp>
      <p:graphicFrame>
        <p:nvGraphicFramePr>
          <p:cNvPr id="167946" name="Object 7"/>
          <p:cNvGraphicFramePr>
            <a:graphicFrameLocks noChangeAspect="1"/>
          </p:cNvGraphicFramePr>
          <p:nvPr/>
        </p:nvGraphicFramePr>
        <p:xfrm>
          <a:off x="2722563" y="4232275"/>
          <a:ext cx="457200" cy="433388"/>
        </p:xfrm>
        <a:graphic>
          <a:graphicData uri="http://schemas.openxmlformats.org/presentationml/2006/ole">
            <mc:AlternateContent xmlns:mc="http://schemas.openxmlformats.org/markup-compatibility/2006">
              <mc:Choice xmlns:v="urn:schemas-microsoft-com:vml" Requires="v">
                <p:oleObj spid="_x0000_s167989" name="公式" r:id="rId6" imgW="253890" imgH="241195" progId="Equation.3">
                  <p:embed/>
                </p:oleObj>
              </mc:Choice>
              <mc:Fallback>
                <p:oleObj name="公式" r:id="rId6" imgW="253890" imgH="241195"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22563" y="4232275"/>
                        <a:ext cx="457200" cy="433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7947" name="Object 8"/>
          <p:cNvGraphicFramePr>
            <a:graphicFrameLocks noChangeAspect="1"/>
          </p:cNvGraphicFramePr>
          <p:nvPr/>
        </p:nvGraphicFramePr>
        <p:xfrm>
          <a:off x="4073525" y="4237038"/>
          <a:ext cx="430213" cy="428625"/>
        </p:xfrm>
        <a:graphic>
          <a:graphicData uri="http://schemas.openxmlformats.org/presentationml/2006/ole">
            <mc:AlternateContent xmlns:mc="http://schemas.openxmlformats.org/markup-compatibility/2006">
              <mc:Choice xmlns:v="urn:schemas-microsoft-com:vml" Requires="v">
                <p:oleObj spid="_x0000_s167990" name="公式" r:id="rId8" imgW="228600" imgH="228600" progId="Equation.3">
                  <p:embed/>
                </p:oleObj>
              </mc:Choice>
              <mc:Fallback>
                <p:oleObj name="公式" r:id="rId8" imgW="228600" imgH="2286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3525" y="4237038"/>
                        <a:ext cx="4302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7948" name="矩形 3"/>
          <p:cNvSpPr>
            <a:spLocks noChangeArrowheads="1"/>
          </p:cNvSpPr>
          <p:nvPr/>
        </p:nvSpPr>
        <p:spPr bwMode="auto">
          <a:xfrm>
            <a:off x="4027488" y="5048250"/>
            <a:ext cx="474186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20000"/>
              </a:lnSpc>
              <a:spcBef>
                <a:spcPct val="0"/>
              </a:spcBef>
              <a:buFontTx/>
              <a:buNone/>
            </a:pPr>
            <a:r>
              <a:rPr kumimoji="1"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r>
              <a:rPr kumimoji="1"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假定：单体及其自由基的极性 </a:t>
            </a:r>
            <a:r>
              <a:rPr kumimoji="1"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e </a:t>
            </a:r>
            <a:r>
              <a:rPr kumimoji="1"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rPr>
              <a:t>值相同</a:t>
            </a:r>
            <a:r>
              <a:rPr kumimoji="1" lang="en-US" altLang="zh-CN" sz="2000">
                <a:solidFill>
                  <a:srgbClr val="FF0000"/>
                </a:solidFill>
                <a:latin typeface="Arial" panose="020B0604020202020204" pitchFamily="34" charset="0"/>
                <a:ea typeface="楷体" panose="02010609060101010101" pitchFamily="49" charset="-122"/>
                <a:cs typeface="Arial" panose="020B0604020202020204" pitchFamily="34" charset="0"/>
              </a:rPr>
              <a:t>)</a:t>
            </a:r>
            <a:endParaRPr kumimoji="1" lang="zh-CN" altLang="en-US" sz="2000">
              <a:solidFill>
                <a:srgbClr val="FF0000"/>
              </a:solidFill>
              <a:latin typeface="Arial" panose="020B0604020202020204" pitchFamily="34" charset="0"/>
              <a:ea typeface="楷体" panose="02010609060101010101" pitchFamily="49" charset="-122"/>
              <a:cs typeface="Arial" panose="020B0604020202020204" pitchFamily="34" charset="0"/>
            </a:endParaRPr>
          </a:p>
        </p:txBody>
      </p:sp>
    </p:spTree>
  </p:cSld>
  <p:clrMapOvr>
    <a:masterClrMapping/>
  </p:clrMapOvr>
  <p:transition spd="slow"/>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9986"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7A2CC944-729D-420F-A319-D1CE2D87CC83}"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125</a:t>
            </a:fld>
            <a:endParaRPr lang="en-US" altLang="zh-CN" sz="1400">
              <a:latin typeface="Times New Roman" panose="02020603050405020304" pitchFamily="18" charset="0"/>
              <a:ea typeface="宋体" panose="02010600030101010101" pitchFamily="2" charset="-122"/>
            </a:endParaRPr>
          </a:p>
        </p:txBody>
      </p:sp>
      <p:graphicFrame>
        <p:nvGraphicFramePr>
          <p:cNvPr id="169987" name="Object 2"/>
          <p:cNvGraphicFramePr>
            <a:graphicFrameLocks noChangeAspect="1"/>
          </p:cNvGraphicFramePr>
          <p:nvPr/>
        </p:nvGraphicFramePr>
        <p:xfrm>
          <a:off x="107950" y="442913"/>
          <a:ext cx="3362325" cy="1098550"/>
        </p:xfrm>
        <a:graphic>
          <a:graphicData uri="http://schemas.openxmlformats.org/presentationml/2006/ole">
            <mc:AlternateContent xmlns:mc="http://schemas.openxmlformats.org/markup-compatibility/2006">
              <mc:Choice xmlns:v="urn:schemas-microsoft-com:vml" Requires="v">
                <p:oleObj spid="_x0000_s170045" name="公式" r:id="rId3" imgW="1396394" imgH="444307" progId="Equation.3">
                  <p:embed/>
                </p:oleObj>
              </mc:Choice>
              <mc:Fallback>
                <p:oleObj name="公式" r:id="rId3" imgW="1396394" imgH="444307"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l="-6750" t="-8340" r="-6750" b="-8340"/>
                      <a:stretch>
                        <a:fillRect/>
                      </a:stretch>
                    </p:blipFill>
                    <p:spPr bwMode="auto">
                      <a:xfrm>
                        <a:off x="107950" y="442913"/>
                        <a:ext cx="336232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9988" name="Object 3"/>
          <p:cNvGraphicFramePr>
            <a:graphicFrameLocks noChangeAspect="1"/>
          </p:cNvGraphicFramePr>
          <p:nvPr/>
        </p:nvGraphicFramePr>
        <p:xfrm>
          <a:off x="3563938" y="1377950"/>
          <a:ext cx="4668837" cy="866775"/>
        </p:xfrm>
        <a:graphic>
          <a:graphicData uri="http://schemas.openxmlformats.org/presentationml/2006/ole">
            <mc:AlternateContent xmlns:mc="http://schemas.openxmlformats.org/markup-compatibility/2006">
              <mc:Choice xmlns:v="urn:schemas-microsoft-com:vml" Requires="v">
                <p:oleObj spid="_x0000_s170046" name="公式" r:id="rId5" imgW="1675673" imgH="444307" progId="Equation.3">
                  <p:embed/>
                </p:oleObj>
              </mc:Choice>
              <mc:Fallback>
                <p:oleObj name="公式" r:id="rId5" imgW="1675673" imgH="444307"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l="-2444" r="-2444"/>
                      <a:stretch>
                        <a:fillRect/>
                      </a:stretch>
                    </p:blipFill>
                    <p:spPr bwMode="auto">
                      <a:xfrm>
                        <a:off x="3563938" y="1377950"/>
                        <a:ext cx="4668837"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9989" name="Object 4"/>
          <p:cNvGraphicFramePr>
            <a:graphicFrameLocks noChangeAspect="1"/>
          </p:cNvGraphicFramePr>
          <p:nvPr/>
        </p:nvGraphicFramePr>
        <p:xfrm>
          <a:off x="3633788" y="2244725"/>
          <a:ext cx="4598987" cy="882650"/>
        </p:xfrm>
        <a:graphic>
          <a:graphicData uri="http://schemas.openxmlformats.org/presentationml/2006/ole">
            <mc:AlternateContent xmlns:mc="http://schemas.openxmlformats.org/markup-compatibility/2006">
              <mc:Choice xmlns:v="urn:schemas-microsoft-com:vml" Requires="v">
                <p:oleObj spid="_x0000_s170047" name="公式" r:id="rId7" imgW="1688367" imgH="444307" progId="Equation.3">
                  <p:embed/>
                </p:oleObj>
              </mc:Choice>
              <mc:Fallback>
                <p:oleObj name="公式" r:id="rId7" imgW="1688367" imgH="444307"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3788" y="2244725"/>
                        <a:ext cx="4598987"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9990" name="Object 5"/>
          <p:cNvGraphicFramePr>
            <a:graphicFrameLocks noChangeAspect="1"/>
          </p:cNvGraphicFramePr>
          <p:nvPr/>
        </p:nvGraphicFramePr>
        <p:xfrm>
          <a:off x="3609975" y="3194050"/>
          <a:ext cx="4748213" cy="608013"/>
        </p:xfrm>
        <a:graphic>
          <a:graphicData uri="http://schemas.openxmlformats.org/presentationml/2006/ole">
            <mc:AlternateContent xmlns:mc="http://schemas.openxmlformats.org/markup-compatibility/2006">
              <mc:Choice xmlns:v="urn:schemas-microsoft-com:vml" Requires="v">
                <p:oleObj spid="_x0000_s170048" name="公式" r:id="rId9" imgW="1523339" imgH="266584" progId="Equation.3">
                  <p:embed/>
                </p:oleObj>
              </mc:Choice>
              <mc:Fallback>
                <p:oleObj name="公式" r:id="rId9" imgW="1523339" imgH="266584"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09975" y="3194050"/>
                        <a:ext cx="4748213" cy="60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9991" name="Text Box 6"/>
          <p:cNvSpPr txBox="1">
            <a:spLocks noChangeArrowheads="1"/>
          </p:cNvSpPr>
          <p:nvPr/>
        </p:nvSpPr>
        <p:spPr bwMode="auto">
          <a:xfrm>
            <a:off x="528638" y="4349750"/>
            <a:ext cx="80645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1</a:t>
            </a:r>
            <a:r>
              <a:rPr kumimoji="1" lang="en-US" altLang="zh-CN" sz="2400">
                <a:latin typeface="Arial" panose="020B0604020202020204" pitchFamily="34" charset="0"/>
                <a:ea typeface="楷体" panose="02010609060101010101" pitchFamily="49" charset="-122"/>
                <a:cs typeface="Arial" panose="020B0604020202020204" pitchFamily="34" charset="0"/>
              </a:rPr>
              <a:t>、r</a:t>
            </a:r>
            <a:r>
              <a:rPr kumimoji="1" lang="en-US" altLang="zh-CN" sz="2400" baseline="-25000">
                <a:latin typeface="Arial" panose="020B0604020202020204" pitchFamily="34" charset="0"/>
                <a:ea typeface="楷体" panose="02010609060101010101" pitchFamily="49" charset="-122"/>
                <a:cs typeface="Arial" panose="020B0604020202020204" pitchFamily="34" charset="0"/>
              </a:rPr>
              <a:t>2</a:t>
            </a:r>
            <a:r>
              <a:rPr kumimoji="1" lang="zh-CN" altLang="en-US" sz="2400">
                <a:latin typeface="Arial" panose="020B0604020202020204" pitchFamily="34" charset="0"/>
                <a:ea typeface="楷体" panose="02010609060101010101" pitchFamily="49" charset="-122"/>
                <a:cs typeface="Arial" panose="020B0604020202020204" pitchFamily="34" charset="0"/>
              </a:rPr>
              <a:t>由实验求得，且规定</a:t>
            </a:r>
            <a:r>
              <a:rPr kumimoji="1" lang="en-US" altLang="zh-CN" sz="2400">
                <a:latin typeface="Arial" panose="020B0604020202020204" pitchFamily="34" charset="0"/>
                <a:ea typeface="楷体" panose="02010609060101010101" pitchFamily="49" charset="-122"/>
                <a:cs typeface="Arial" panose="020B0604020202020204" pitchFamily="34" charset="0"/>
              </a:rPr>
              <a:t>St</a:t>
            </a:r>
            <a:r>
              <a:rPr kumimoji="1" lang="zh-CN" altLang="en-US" sz="2400">
                <a:latin typeface="Arial" panose="020B0604020202020204" pitchFamily="34" charset="0"/>
                <a:ea typeface="楷体" panose="02010609060101010101" pitchFamily="49" charset="-122"/>
                <a:cs typeface="Arial" panose="020B0604020202020204" pitchFamily="34" charset="0"/>
              </a:rPr>
              <a:t>的</a:t>
            </a:r>
            <a:r>
              <a:rPr kumimoji="1" lang="en-US" altLang="zh-CN" sz="2400">
                <a:latin typeface="Arial" panose="020B0604020202020204" pitchFamily="34" charset="0"/>
                <a:ea typeface="楷体" panose="02010609060101010101" pitchFamily="49" charset="-122"/>
                <a:cs typeface="Arial" panose="020B0604020202020204" pitchFamily="34" charset="0"/>
              </a:rPr>
              <a:t>Q=1.0，e= -0.8，</a:t>
            </a:r>
            <a:r>
              <a:rPr kumimoji="1" lang="zh-CN" altLang="en-US" sz="2400">
                <a:latin typeface="Arial" panose="020B0604020202020204" pitchFamily="34" charset="0"/>
                <a:ea typeface="楷体" panose="02010609060101010101" pitchFamily="49" charset="-122"/>
                <a:cs typeface="Arial" panose="020B0604020202020204" pitchFamily="34" charset="0"/>
              </a:rPr>
              <a:t>由此可求得各单体的</a:t>
            </a:r>
            <a:r>
              <a:rPr kumimoji="1" lang="en-US" altLang="zh-CN" sz="2400">
                <a:latin typeface="Arial" panose="020B0604020202020204" pitchFamily="34" charset="0"/>
                <a:ea typeface="楷体" panose="02010609060101010101" pitchFamily="49" charset="-122"/>
                <a:cs typeface="Arial" panose="020B0604020202020204" pitchFamily="34" charset="0"/>
              </a:rPr>
              <a:t>Q、e</a:t>
            </a:r>
            <a:r>
              <a:rPr kumimoji="1" lang="zh-CN" altLang="en-US" sz="2400">
                <a:latin typeface="Arial" panose="020B0604020202020204" pitchFamily="34" charset="0"/>
                <a:ea typeface="楷体" panose="02010609060101010101" pitchFamily="49" charset="-122"/>
                <a:cs typeface="Arial" panose="020B0604020202020204" pitchFamily="34" charset="0"/>
              </a:rPr>
              <a:t>值。</a:t>
            </a:r>
          </a:p>
        </p:txBody>
      </p:sp>
      <p:sp>
        <p:nvSpPr>
          <p:cNvPr id="3" name="箭头: 虚尾 2">
            <a:extLst>
              <a:ext uri="{FF2B5EF4-FFF2-40B4-BE49-F238E27FC236}">
                <a16:creationId xmlns:a16="http://schemas.microsoft.com/office/drawing/2014/main" id="{5B0C3EF4-AA3F-4423-AD2C-A6681D893F1A}"/>
              </a:ext>
            </a:extLst>
          </p:cNvPr>
          <p:cNvSpPr/>
          <p:nvPr/>
        </p:nvSpPr>
        <p:spPr>
          <a:xfrm>
            <a:off x="2025650" y="2354263"/>
            <a:ext cx="1047750" cy="584200"/>
          </a:xfrm>
          <a:prstGeom prst="stripedRightArrow">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ransition spd="slow"/>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1010"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21E6CE7-DCBA-4E3C-BE79-D362EF8BD15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126</a:t>
            </a:fld>
            <a:endParaRPr lang="en-US" altLang="zh-CN" sz="1400">
              <a:latin typeface="Times New Roman" panose="02020603050405020304" pitchFamily="18" charset="0"/>
              <a:ea typeface="宋体" panose="02010600030101010101" pitchFamily="2" charset="-122"/>
            </a:endParaRPr>
          </a:p>
        </p:txBody>
      </p:sp>
      <p:sp>
        <p:nvSpPr>
          <p:cNvPr id="171011" name="Text Box 2"/>
          <p:cNvSpPr txBox="1">
            <a:spLocks noChangeArrowheads="1"/>
          </p:cNvSpPr>
          <p:nvPr/>
        </p:nvSpPr>
        <p:spPr bwMode="auto">
          <a:xfrm>
            <a:off x="755650" y="1074738"/>
            <a:ext cx="7991475" cy="246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预测单体竞聚率与计算单体的</a:t>
            </a:r>
            <a:r>
              <a:rPr kumimoji="1" lang="en-US" altLang="zh-CN" sz="2400">
                <a:latin typeface="Arial" panose="020B0604020202020204" pitchFamily="34" charset="0"/>
                <a:ea typeface="楷体" panose="02010609060101010101" pitchFamily="49" charset="-122"/>
                <a:cs typeface="Arial" panose="020B0604020202020204" pitchFamily="34" charset="0"/>
              </a:rPr>
              <a:t>Q-e</a:t>
            </a:r>
            <a:r>
              <a:rPr kumimoji="1" lang="zh-CN" altLang="en-US" sz="2400">
                <a:latin typeface="Arial" panose="020B0604020202020204" pitchFamily="34" charset="0"/>
                <a:ea typeface="楷体" panose="02010609060101010101" pitchFamily="49" charset="-122"/>
                <a:cs typeface="Arial" panose="020B0604020202020204" pitchFamily="34" charset="0"/>
              </a:rPr>
              <a:t>值；</a:t>
            </a:r>
          </a:p>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比较单体活性：</a:t>
            </a:r>
            <a:r>
              <a:rPr kumimoji="1" lang="en-US" altLang="zh-CN" sz="2400">
                <a:latin typeface="Arial" panose="020B0604020202020204" pitchFamily="34" charset="0"/>
                <a:ea typeface="楷体" panose="02010609060101010101" pitchFamily="49" charset="-122"/>
                <a:cs typeface="Arial" panose="020B0604020202020204" pitchFamily="34" charset="0"/>
              </a:rPr>
              <a:t>Q</a:t>
            </a:r>
            <a:r>
              <a:rPr kumimoji="1" lang="zh-CN" altLang="en-US" sz="2400">
                <a:latin typeface="Arial" panose="020B0604020202020204" pitchFamily="34" charset="0"/>
                <a:ea typeface="楷体" panose="02010609060101010101" pitchFamily="49" charset="-122"/>
                <a:cs typeface="Arial" panose="020B0604020202020204" pitchFamily="34" charset="0"/>
              </a:rPr>
              <a:t>值大，单体活性大；</a:t>
            </a:r>
          </a:p>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比较单体极性：</a:t>
            </a:r>
            <a:r>
              <a:rPr kumimoji="1" lang="en-US" altLang="zh-CN" sz="2400">
                <a:latin typeface="Arial" panose="020B0604020202020204" pitchFamily="34" charset="0"/>
                <a:ea typeface="楷体" panose="02010609060101010101" pitchFamily="49" charset="-122"/>
                <a:cs typeface="Arial" panose="020B0604020202020204" pitchFamily="34" charset="0"/>
              </a:rPr>
              <a:t>e&lt;0：</a:t>
            </a:r>
            <a:r>
              <a:rPr kumimoji="1" lang="zh-CN" altLang="en-US" sz="2400">
                <a:latin typeface="Arial" panose="020B0604020202020204" pitchFamily="34" charset="0"/>
                <a:ea typeface="楷体" panose="02010609060101010101" pitchFamily="49" charset="-122"/>
                <a:cs typeface="Arial" panose="020B0604020202020204" pitchFamily="34" charset="0"/>
              </a:rPr>
              <a:t>供电子基团；</a:t>
            </a:r>
            <a:r>
              <a:rPr kumimoji="1" lang="en-US" altLang="zh-CN" sz="2400">
                <a:latin typeface="Arial" panose="020B0604020202020204" pitchFamily="34" charset="0"/>
                <a:ea typeface="楷体" panose="02010609060101010101" pitchFamily="49" charset="-122"/>
                <a:cs typeface="Arial" panose="020B0604020202020204" pitchFamily="34" charset="0"/>
              </a:rPr>
              <a:t>e&gt;0：</a:t>
            </a:r>
            <a:r>
              <a:rPr kumimoji="1" lang="zh-CN" altLang="en-US" sz="2400">
                <a:latin typeface="Arial" panose="020B0604020202020204" pitchFamily="34" charset="0"/>
                <a:ea typeface="楷体" panose="02010609060101010101" pitchFamily="49" charset="-122"/>
                <a:cs typeface="Arial" panose="020B0604020202020204" pitchFamily="34" charset="0"/>
              </a:rPr>
              <a:t>吸电子基团；</a:t>
            </a:r>
          </a:p>
          <a:p>
            <a:pPr algn="just" eaLnBrk="1" hangingPunct="1">
              <a:lnSpc>
                <a:spcPct val="125000"/>
              </a:lnSpc>
              <a:spcBef>
                <a:spcPct val="50000"/>
              </a:spcBef>
              <a:buClr>
                <a:srgbClr val="FF0000"/>
              </a:buClr>
              <a:buFont typeface="Wingdings" panose="05000000000000000000" pitchFamily="2" charset="2"/>
              <a:buChar char="n"/>
            </a:pPr>
            <a:r>
              <a:rPr kumimoji="1" lang="zh-CN" altLang="en-US" sz="2400">
                <a:latin typeface="Arial" panose="020B0604020202020204" pitchFamily="34" charset="0"/>
                <a:ea typeface="楷体" panose="02010609060101010101" pitchFamily="49" charset="-122"/>
                <a:cs typeface="Arial" panose="020B0604020202020204" pitchFamily="34" charset="0"/>
              </a:rPr>
              <a:t> 根据</a:t>
            </a:r>
            <a:r>
              <a:rPr kumimoji="1" lang="en-US" altLang="zh-CN" sz="2400">
                <a:latin typeface="Arial" panose="020B0604020202020204" pitchFamily="34" charset="0"/>
                <a:ea typeface="楷体" panose="02010609060101010101" pitchFamily="49" charset="-122"/>
                <a:cs typeface="Arial" panose="020B0604020202020204" pitchFamily="34" charset="0"/>
              </a:rPr>
              <a:t>Q-e</a:t>
            </a:r>
            <a:r>
              <a:rPr kumimoji="1" lang="zh-CN" altLang="en-US" sz="2400">
                <a:latin typeface="Arial" panose="020B0604020202020204" pitchFamily="34" charset="0"/>
                <a:ea typeface="楷体" panose="02010609060101010101" pitchFamily="49" charset="-122"/>
                <a:cs typeface="Arial" panose="020B0604020202020204" pitchFamily="34" charset="0"/>
              </a:rPr>
              <a:t>值判别共聚行为：</a:t>
            </a:r>
          </a:p>
        </p:txBody>
      </p:sp>
      <p:sp>
        <p:nvSpPr>
          <p:cNvPr id="171012" name="Rectangle 3"/>
          <p:cNvSpPr>
            <a:spLocks noChangeArrowheads="1"/>
          </p:cNvSpPr>
          <p:nvPr/>
        </p:nvSpPr>
        <p:spPr bwMode="auto">
          <a:xfrm>
            <a:off x="395288" y="322263"/>
            <a:ext cx="35814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2</a:t>
            </a:r>
            <a:r>
              <a:rPr kumimoji="1" lang="en-US" altLang="zh-CN" sz="2400" b="1">
                <a:latin typeface="Arial" panose="020B0604020202020204" pitchFamily="34" charset="0"/>
                <a:ea typeface="楷体" panose="02010609060101010101" pitchFamily="49" charset="-122"/>
                <a:cs typeface="Arial" panose="020B0604020202020204" pitchFamily="34" charset="0"/>
              </a:rPr>
              <a:t>) Q-e</a:t>
            </a:r>
            <a:r>
              <a:rPr kumimoji="1" lang="zh-CN" altLang="en-US" sz="2400" b="1">
                <a:latin typeface="Arial" panose="020B0604020202020204" pitchFamily="34" charset="0"/>
                <a:ea typeface="楷体" panose="02010609060101010101" pitchFamily="49" charset="-122"/>
                <a:cs typeface="Arial" panose="020B0604020202020204" pitchFamily="34" charset="0"/>
              </a:rPr>
              <a:t>方程的作用</a:t>
            </a:r>
          </a:p>
        </p:txBody>
      </p:sp>
      <p:sp>
        <p:nvSpPr>
          <p:cNvPr id="171013" name="Rectangle 4"/>
          <p:cNvSpPr>
            <a:spLocks noChangeArrowheads="1"/>
          </p:cNvSpPr>
          <p:nvPr/>
        </p:nvSpPr>
        <p:spPr bwMode="auto">
          <a:xfrm>
            <a:off x="1187450" y="3641725"/>
            <a:ext cx="64087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25000"/>
              </a:lnSpc>
              <a:spcBef>
                <a:spcPct val="50000"/>
              </a:spcBef>
              <a:buClr>
                <a:srgbClr val="00B05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Q</a:t>
            </a:r>
            <a:r>
              <a:rPr kumimoji="1" lang="zh-CN" altLang="en-US" sz="2400">
                <a:latin typeface="Arial" panose="020B0604020202020204" pitchFamily="34" charset="0"/>
                <a:ea typeface="楷体" panose="02010609060101010101" pitchFamily="49" charset="-122"/>
                <a:cs typeface="Arial" panose="020B0604020202020204" pitchFamily="34" charset="0"/>
              </a:rPr>
              <a:t>值差别大，难共聚。</a:t>
            </a:r>
          </a:p>
          <a:p>
            <a:pPr eaLnBrk="1" hangingPunct="1">
              <a:lnSpc>
                <a:spcPct val="125000"/>
              </a:lnSpc>
              <a:spcBef>
                <a:spcPct val="50000"/>
              </a:spcBef>
              <a:buClr>
                <a:srgbClr val="00B050"/>
              </a:buClr>
              <a:buFont typeface="Wingdings" panose="05000000000000000000" pitchFamily="2" charset="2"/>
              <a:buChar char="u"/>
            </a:pPr>
            <a:r>
              <a:rPr kumimoji="1" lang="en-US" altLang="zh-CN" sz="2400">
                <a:latin typeface="Arial" panose="020B0604020202020204" pitchFamily="34" charset="0"/>
                <a:ea typeface="楷体" panose="02010609060101010101" pitchFamily="49" charset="-122"/>
                <a:cs typeface="Arial" panose="020B0604020202020204" pitchFamily="34" charset="0"/>
              </a:rPr>
              <a:t> Q、e </a:t>
            </a:r>
            <a:r>
              <a:rPr kumimoji="1" lang="zh-CN" altLang="en-US" sz="2400">
                <a:latin typeface="Arial" panose="020B0604020202020204" pitchFamily="34" charset="0"/>
                <a:ea typeface="楷体" panose="02010609060101010101" pitchFamily="49" charset="-122"/>
                <a:cs typeface="Arial" panose="020B0604020202020204" pitchFamily="34" charset="0"/>
              </a:rPr>
              <a:t>值相近的单体易共聚，为理想共聚。</a:t>
            </a:r>
          </a:p>
          <a:p>
            <a:pPr eaLnBrk="1" hangingPunct="1">
              <a:lnSpc>
                <a:spcPct val="125000"/>
              </a:lnSpc>
              <a:spcBef>
                <a:spcPct val="50000"/>
              </a:spcBef>
              <a:buClr>
                <a:srgbClr val="00B050"/>
              </a:buClr>
              <a:buFont typeface="Wingdings" panose="05000000000000000000" pitchFamily="2" charset="2"/>
              <a:buChar char="u"/>
            </a:pPr>
            <a:r>
              <a:rPr kumimoji="1" lang="zh-CN" altLang="en-US" sz="2400">
                <a:latin typeface="Arial" panose="020B0604020202020204" pitchFamily="34" charset="0"/>
                <a:ea typeface="楷体" panose="02010609060101010101" pitchFamily="49" charset="-122"/>
                <a:cs typeface="Arial" panose="020B0604020202020204" pitchFamily="34" charset="0"/>
              </a:rPr>
              <a:t> </a:t>
            </a:r>
            <a:r>
              <a:rPr kumimoji="1" lang="en-US" altLang="zh-CN" sz="2400">
                <a:latin typeface="Arial" panose="020B0604020202020204" pitchFamily="34" charset="0"/>
                <a:ea typeface="楷体" panose="02010609060101010101" pitchFamily="49" charset="-122"/>
                <a:cs typeface="Arial" panose="020B0604020202020204" pitchFamily="34" charset="0"/>
              </a:rPr>
              <a:t>e </a:t>
            </a:r>
            <a:r>
              <a:rPr kumimoji="1" lang="zh-CN" altLang="en-US" sz="2400">
                <a:latin typeface="Arial" panose="020B0604020202020204" pitchFamily="34" charset="0"/>
                <a:ea typeface="楷体" panose="02010609060101010101" pitchFamily="49" charset="-122"/>
                <a:cs typeface="Arial" panose="020B0604020202020204" pitchFamily="34" charset="0"/>
              </a:rPr>
              <a:t>值相差大的单体易交替共聚。</a:t>
            </a:r>
          </a:p>
        </p:txBody>
      </p:sp>
    </p:spTree>
  </p:cSld>
  <p:clrMapOvr>
    <a:masterClrMapping/>
  </p:clrMapOvr>
  <p:transition spd="slow"/>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47270F4-994B-43A8-878E-E17A10D997E8}"/>
              </a:ext>
            </a:extLst>
          </p:cNvPr>
          <p:cNvSpPr>
            <a:spLocks noGrp="1"/>
          </p:cNvSpPr>
          <p:nvPr>
            <p:ph type="sldNum" sz="quarter" idx="12"/>
          </p:nvPr>
        </p:nvSpPr>
        <p:spPr/>
        <p:txBody>
          <a:bodyPr/>
          <a:lstStyle/>
          <a:p>
            <a:pPr>
              <a:defRPr/>
            </a:pPr>
            <a:fld id="{11E9A41B-7DCD-4775-B154-B9B5AC3EA010}" type="slidenum">
              <a:rPr lang="zh-CN" altLang="en-US" smtClean="0"/>
              <a:pPr>
                <a:defRPr/>
              </a:pPr>
              <a:t>127</a:t>
            </a:fld>
            <a:endParaRPr lang="en-US" altLang="zh-CN"/>
          </a:p>
        </p:txBody>
      </p:sp>
      <p:pic>
        <p:nvPicPr>
          <p:cNvPr id="172035" name="图片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600" y="334963"/>
            <a:ext cx="8027988" cy="602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3058" name="灯片编号占位符 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1E2583A8-85CC-4E5D-AAD4-3CF46EF070D8}"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128</a:t>
            </a:fld>
            <a:endParaRPr lang="en-US" altLang="zh-CN" sz="1400">
              <a:latin typeface="Times New Roman" panose="02020603050405020304" pitchFamily="18" charset="0"/>
              <a:ea typeface="宋体" panose="02010600030101010101" pitchFamily="2" charset="-122"/>
            </a:endParaRPr>
          </a:p>
        </p:txBody>
      </p:sp>
      <p:sp>
        <p:nvSpPr>
          <p:cNvPr id="173059" name="Rectangle 2"/>
          <p:cNvSpPr>
            <a:spLocks noChangeArrowheads="1"/>
          </p:cNvSpPr>
          <p:nvPr/>
        </p:nvSpPr>
        <p:spPr bwMode="auto">
          <a:xfrm>
            <a:off x="395288" y="447675"/>
            <a:ext cx="5764212"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1" lang="zh-CN" altLang="en-US" sz="2400" b="1">
                <a:latin typeface="Arial" panose="020B0604020202020204" pitchFamily="34" charset="0"/>
                <a:ea typeface="楷体" panose="02010609060101010101" pitchFamily="49" charset="-122"/>
                <a:cs typeface="Arial" panose="020B0604020202020204" pitchFamily="34" charset="0"/>
              </a:rPr>
              <a:t>4.</a:t>
            </a:r>
            <a:r>
              <a:rPr kumimoji="1" lang="en-US" altLang="zh-CN" sz="2400" b="1">
                <a:latin typeface="Arial" panose="020B0604020202020204" pitchFamily="34" charset="0"/>
                <a:ea typeface="楷体" panose="02010609060101010101" pitchFamily="49" charset="-122"/>
                <a:cs typeface="Arial" panose="020B0604020202020204" pitchFamily="34" charset="0"/>
              </a:rPr>
              <a:t>10</a:t>
            </a:r>
            <a:r>
              <a:rPr kumimoji="1" lang="zh-CN" altLang="en-US" sz="2400" b="1">
                <a:latin typeface="Arial" panose="020B0604020202020204" pitchFamily="34" charset="0"/>
                <a:ea typeface="楷体" panose="02010609060101010101" pitchFamily="49" charset="-122"/>
                <a:cs typeface="Arial" panose="020B0604020202020204" pitchFamily="34" charset="0"/>
              </a:rPr>
              <a:t> 共聚速率</a:t>
            </a:r>
            <a:r>
              <a:rPr kumimoji="1" lang="en-US" altLang="zh-CN" sz="2400">
                <a:latin typeface="Arial" panose="020B0604020202020204" pitchFamily="34" charset="0"/>
                <a:ea typeface="楷体" panose="02010609060101010101" pitchFamily="49" charset="-122"/>
                <a:cs typeface="Arial" panose="020B0604020202020204" pitchFamily="34" charset="0"/>
              </a:rPr>
              <a:t>(Rate of Copolymerization)</a:t>
            </a:r>
          </a:p>
        </p:txBody>
      </p:sp>
      <p:sp>
        <p:nvSpPr>
          <p:cNvPr id="173060" name="Text Box 3"/>
          <p:cNvSpPr txBox="1">
            <a:spLocks noChangeArrowheads="1"/>
          </p:cNvSpPr>
          <p:nvPr/>
        </p:nvSpPr>
        <p:spPr bwMode="auto">
          <a:xfrm>
            <a:off x="409575" y="1217613"/>
            <a:ext cx="403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latin typeface="楷体" panose="02010609060101010101" pitchFamily="49" charset="-122"/>
                <a:ea typeface="楷体" panose="02010609060101010101" pitchFamily="49" charset="-122"/>
              </a:rPr>
              <a:t>1</a:t>
            </a:r>
            <a:r>
              <a:rPr lang="en-US" altLang="zh-CN" sz="2400" b="1">
                <a:latin typeface="楷体" panose="02010609060101010101" pitchFamily="49" charset="-122"/>
                <a:ea typeface="楷体" panose="02010609060101010101" pitchFamily="49" charset="-122"/>
              </a:rPr>
              <a:t>) </a:t>
            </a:r>
            <a:r>
              <a:rPr lang="zh-CN" altLang="en-US" sz="2400" b="1">
                <a:latin typeface="楷体" panose="02010609060101010101" pitchFamily="49" charset="-122"/>
                <a:ea typeface="楷体" panose="02010609060101010101" pitchFamily="49" charset="-122"/>
              </a:rPr>
              <a:t>化学控制终止 </a:t>
            </a:r>
          </a:p>
        </p:txBody>
      </p:sp>
      <p:graphicFrame>
        <p:nvGraphicFramePr>
          <p:cNvPr id="173061" name="Object 4"/>
          <p:cNvGraphicFramePr>
            <a:graphicFrameLocks noChangeAspect="1"/>
          </p:cNvGraphicFramePr>
          <p:nvPr/>
        </p:nvGraphicFramePr>
        <p:xfrm>
          <a:off x="514350" y="1806575"/>
          <a:ext cx="8001000" cy="998538"/>
        </p:xfrm>
        <a:graphic>
          <a:graphicData uri="http://schemas.openxmlformats.org/presentationml/2006/ole">
            <mc:AlternateContent xmlns:mc="http://schemas.openxmlformats.org/markup-compatibility/2006">
              <mc:Choice xmlns:v="urn:schemas-microsoft-com:vml" Requires="v">
                <p:oleObj spid="_x0000_s173104" name="公式" r:id="rId4" imgW="3657600" imgH="457200" progId="Equation.3">
                  <p:embed/>
                </p:oleObj>
              </mc:Choice>
              <mc:Fallback>
                <p:oleObj name="公式" r:id="rId4" imgW="3657600" imgH="457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4350" y="1806575"/>
                        <a:ext cx="8001000"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3062" name="Object 6"/>
          <p:cNvGraphicFramePr>
            <a:graphicFrameLocks noChangeAspect="1"/>
          </p:cNvGraphicFramePr>
          <p:nvPr/>
        </p:nvGraphicFramePr>
        <p:xfrm>
          <a:off x="1547813" y="3133725"/>
          <a:ext cx="7239000" cy="965200"/>
        </p:xfrm>
        <a:graphic>
          <a:graphicData uri="http://schemas.openxmlformats.org/presentationml/2006/ole">
            <mc:AlternateContent xmlns:mc="http://schemas.openxmlformats.org/markup-compatibility/2006">
              <mc:Choice xmlns:v="urn:schemas-microsoft-com:vml" Requires="v">
                <p:oleObj spid="_x0000_s173105" r:id="rId6" imgW="3860800" imgH="520700" progId="Equation.3">
                  <p:embed/>
                </p:oleObj>
              </mc:Choice>
              <mc:Fallback>
                <p:oleObj r:id="rId6" imgW="3860800" imgH="5207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47813" y="3133725"/>
                        <a:ext cx="7239000" cy="96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3063" name="Text Box 2"/>
          <p:cNvSpPr txBox="1">
            <a:spLocks noChangeArrowheads="1"/>
          </p:cNvSpPr>
          <p:nvPr/>
        </p:nvSpPr>
        <p:spPr bwMode="auto">
          <a:xfrm>
            <a:off x="492125" y="4376738"/>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50000"/>
              </a:spcBef>
              <a:buFontTx/>
              <a:buNone/>
            </a:pPr>
            <a:r>
              <a:rPr lang="zh-CN" altLang="en-US" sz="2400" b="1">
                <a:latin typeface="Arial" panose="020B0604020202020204" pitchFamily="34" charset="0"/>
                <a:ea typeface="楷体" panose="02010609060101010101" pitchFamily="49" charset="-122"/>
                <a:cs typeface="Arial" panose="020B0604020202020204" pitchFamily="34" charset="0"/>
              </a:rPr>
              <a:t>2</a:t>
            </a:r>
            <a:r>
              <a:rPr lang="en-US" altLang="zh-CN" sz="2400" b="1">
                <a:latin typeface="Arial" panose="020B0604020202020204" pitchFamily="34" charset="0"/>
                <a:ea typeface="楷体" panose="02010609060101010101" pitchFamily="49" charset="-122"/>
                <a:cs typeface="Arial" panose="020B0604020202020204" pitchFamily="34" charset="0"/>
              </a:rPr>
              <a:t>) </a:t>
            </a:r>
            <a:r>
              <a:rPr lang="zh-CN" altLang="en-US" sz="2400" b="1">
                <a:latin typeface="Arial" panose="020B0604020202020204" pitchFamily="34" charset="0"/>
                <a:ea typeface="楷体" panose="02010609060101010101" pitchFamily="49" charset="-122"/>
                <a:cs typeface="Arial" panose="020B0604020202020204" pitchFamily="34" charset="0"/>
              </a:rPr>
              <a:t>扩散控制终止 </a:t>
            </a:r>
          </a:p>
        </p:txBody>
      </p:sp>
      <p:graphicFrame>
        <p:nvGraphicFramePr>
          <p:cNvPr id="173064" name="Object 3"/>
          <p:cNvGraphicFramePr>
            <a:graphicFrameLocks noChangeAspect="1"/>
          </p:cNvGraphicFramePr>
          <p:nvPr/>
        </p:nvGraphicFramePr>
        <p:xfrm>
          <a:off x="492125" y="4999038"/>
          <a:ext cx="6230938" cy="1539875"/>
        </p:xfrm>
        <a:graphic>
          <a:graphicData uri="http://schemas.openxmlformats.org/presentationml/2006/ole">
            <mc:AlternateContent xmlns:mc="http://schemas.openxmlformats.org/markup-compatibility/2006">
              <mc:Choice xmlns:v="urn:schemas-microsoft-com:vml" Requires="v">
                <p:oleObj spid="_x0000_s173106" name="公式" r:id="rId8" imgW="2654300" imgH="660400" progId="Equation.3">
                  <p:embed/>
                </p:oleObj>
              </mc:Choice>
              <mc:Fallback>
                <p:oleObj name="公式" r:id="rId8" imgW="2654300" imgH="6604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125" y="4999038"/>
                        <a:ext cx="6230938"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5106"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A11BB216-A17D-43F4-AF6C-92DCDCB432A7}" type="slidenum">
              <a:rPr lang="zh-CN" altLang="en-US" sz="1400" smtClean="0">
                <a:latin typeface="Times New Roman" panose="02020603050405020304" pitchFamily="18" charset="0"/>
                <a:ea typeface="宋体" panose="02010600030101010101" pitchFamily="2" charset="-122"/>
              </a:rPr>
              <a:pPr fontAlgn="base">
                <a:lnSpc>
                  <a:spcPct val="100000"/>
                </a:lnSpc>
                <a:spcBef>
                  <a:spcPct val="0"/>
                </a:spcBef>
                <a:spcAft>
                  <a:spcPct val="0"/>
                </a:spcAft>
                <a:buFontTx/>
                <a:buNone/>
              </a:pPr>
              <a:t>129</a:t>
            </a:fld>
            <a:endParaRPr lang="en-US" altLang="zh-CN" sz="1400">
              <a:latin typeface="Times New Roman" panose="02020603050405020304" pitchFamily="18" charset="0"/>
              <a:ea typeface="宋体" panose="02010600030101010101" pitchFamily="2" charset="-122"/>
            </a:endParaRPr>
          </a:p>
        </p:txBody>
      </p:sp>
      <p:sp>
        <p:nvSpPr>
          <p:cNvPr id="286722" name="Rectangle 2">
            <a:extLst>
              <a:ext uri="{FF2B5EF4-FFF2-40B4-BE49-F238E27FC236}">
                <a16:creationId xmlns:a16="http://schemas.microsoft.com/office/drawing/2014/main" id="{5729BD48-4313-4153-98B7-A95BAF9D36B2}"/>
              </a:ext>
            </a:extLst>
          </p:cNvPr>
          <p:cNvSpPr>
            <a:spLocks noChangeArrowheads="1"/>
          </p:cNvSpPr>
          <p:nvPr/>
        </p:nvSpPr>
        <p:spPr bwMode="auto">
          <a:xfrm>
            <a:off x="468313" y="1403350"/>
            <a:ext cx="7272337" cy="2362200"/>
          </a:xfrm>
          <a:prstGeom prst="rect">
            <a:avLst/>
          </a:prstGeom>
          <a:noFill/>
          <a:ln w="9525">
            <a:noFill/>
            <a:miter lim="800000"/>
            <a:headEnd/>
            <a:tailEnd/>
          </a:ln>
          <a:effectLst/>
          <a:extLst/>
        </p:spPr>
        <p:txBody>
          <a:bodyPr anchor="ctr"/>
          <a:lstStyle>
            <a:lvl1pPr>
              <a:defRPr sz="2400">
                <a:solidFill>
                  <a:schemeClr val="tx1"/>
                </a:solidFill>
                <a:latin typeface="Times New Roman" panose="02020603050405020304" pitchFamily="18" charset="0"/>
                <a:ea typeface="宋体" panose="02010600030101010101" pitchFamily="2" charset="-122"/>
              </a:defRPr>
            </a:lvl1pPr>
            <a:lvl2pPr>
              <a:defRPr sz="2400">
                <a:solidFill>
                  <a:schemeClr val="tx1"/>
                </a:solidFill>
                <a:latin typeface="Times New Roman" panose="02020603050405020304" pitchFamily="18" charset="0"/>
                <a:ea typeface="宋体" panose="02010600030101010101" pitchFamily="2" charset="-122"/>
              </a:defRPr>
            </a:lvl2pPr>
            <a:lvl3pPr>
              <a:defRPr sz="2400">
                <a:solidFill>
                  <a:schemeClr val="tx1"/>
                </a:solidFill>
                <a:latin typeface="Times New Roman" panose="02020603050405020304" pitchFamily="18" charset="0"/>
                <a:ea typeface="宋体" panose="02010600030101010101" pitchFamily="2" charset="-122"/>
              </a:defRPr>
            </a:lvl3pPr>
            <a:lvl4pPr>
              <a:defRPr sz="2400">
                <a:solidFill>
                  <a:schemeClr val="tx1"/>
                </a:solidFill>
                <a:latin typeface="Times New Roman" panose="02020603050405020304" pitchFamily="18" charset="0"/>
                <a:ea typeface="宋体" panose="02010600030101010101" pitchFamily="2" charset="-122"/>
              </a:defRPr>
            </a:lvl4pPr>
            <a:lvl5pPr>
              <a:defRPr sz="2400">
                <a:solidFill>
                  <a:schemeClr val="tx1"/>
                </a:solidFill>
                <a:latin typeface="Times New Roman" panose="02020603050405020304" pitchFamily="18" charset="0"/>
                <a:ea typeface="宋体" panose="02010600030101010101" pitchFamily="2" charset="-122"/>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宋体" panose="02010600030101010101" pitchFamily="2" charset="-122"/>
              </a:defRPr>
            </a:lvl9pPr>
          </a:lstStyle>
          <a:p>
            <a:pPr marL="514350" indent="-514350" eaLnBrk="1" fontAlgn="auto" hangingPunct="1">
              <a:spcBef>
                <a:spcPts val="0"/>
              </a:spcBef>
              <a:spcAft>
                <a:spcPts val="0"/>
              </a:spcAft>
              <a:buFontTx/>
              <a:buAutoNum type="arabicParenR"/>
              <a:defRPr/>
            </a:pPr>
            <a:endParaRPr kumimoji="1" lang="en-US" altLang="zh-CN" sz="2800" dirty="0">
              <a:latin typeface="楷体" panose="02010609060101010101" pitchFamily="49" charset="-122"/>
              <a:ea typeface="楷体" panose="02010609060101010101" pitchFamily="49" charset="-122"/>
            </a:endParaRPr>
          </a:p>
          <a:p>
            <a:pPr eaLnBrk="1" fontAlgn="auto" hangingPunct="1">
              <a:spcBef>
                <a:spcPts val="0"/>
              </a:spcBef>
              <a:spcAft>
                <a:spcPts val="0"/>
              </a:spcAft>
              <a:defRPr/>
            </a:pPr>
            <a:r>
              <a:rPr kumimoji="1" lang="zh-CN" altLang="en-US" sz="2800" dirty="0">
                <a:latin typeface="楷体" panose="02010609060101010101" pitchFamily="49" charset="-122"/>
                <a:ea typeface="楷体" panose="02010609060101010101" pitchFamily="49" charset="-122"/>
              </a:rPr>
              <a:t>资料来源：</a:t>
            </a:r>
            <a:endParaRPr kumimoji="1" lang="en-US" altLang="zh-CN"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化工系</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高分子化学</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国家精品课程</a:t>
            </a:r>
            <a:r>
              <a:rPr kumimoji="1" lang="en-US" altLang="zh-CN" sz="2800" dirty="0">
                <a:latin typeface="楷体" panose="02010609060101010101" pitchFamily="49" charset="-122"/>
                <a:ea typeface="楷体" panose="02010609060101010101" pitchFamily="49" charset="-122"/>
              </a:rPr>
              <a:t>PPT</a:t>
            </a: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范志强教授</a:t>
            </a:r>
            <a:r>
              <a:rPr kumimoji="1" lang="en-US" altLang="zh-CN" sz="2800" dirty="0">
                <a:latin typeface="楷体" panose="02010609060101010101" pitchFamily="49" charset="-122"/>
                <a:ea typeface="楷体" panose="02010609060101010101" pitchFamily="49" charset="-122"/>
              </a:rPr>
              <a:t>PPT</a:t>
            </a:r>
            <a:r>
              <a:rPr kumimoji="1" lang="zh-CN" altLang="en-US" sz="2800" dirty="0">
                <a:latin typeface="楷体" panose="02010609060101010101" pitchFamily="49" charset="-122"/>
                <a:ea typeface="楷体" panose="02010609060101010101" pitchFamily="49" charset="-122"/>
              </a:rPr>
              <a:t>；</a:t>
            </a:r>
            <a:endParaRPr kumimoji="1" lang="en-US" altLang="zh-CN"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潘祖仁</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高分子化学</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增强版和第四版</a:t>
            </a:r>
            <a:endParaRPr kumimoji="1" lang="en-US" altLang="zh-CN"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r>
              <a:rPr kumimoji="1" lang="zh-CN" altLang="en-US" sz="2800" dirty="0">
                <a:latin typeface="楷体" panose="02010609060101010101" pitchFamily="49" charset="-122"/>
                <a:ea typeface="楷体" panose="02010609060101010101" pitchFamily="49" charset="-122"/>
              </a:rPr>
              <a:t>贾红兵</a:t>
            </a:r>
            <a:r>
              <a:rPr kumimoji="1" lang="en-US" altLang="zh-CN" sz="2800" dirty="0">
                <a:latin typeface="楷体" panose="02010609060101010101" pitchFamily="49" charset="-122"/>
                <a:ea typeface="楷体" panose="02010609060101010101" pitchFamily="49" charset="-122"/>
              </a:rPr>
              <a:t>《</a:t>
            </a:r>
            <a:r>
              <a:rPr kumimoji="1" lang="zh-CN" altLang="en-US" sz="2800" dirty="0">
                <a:latin typeface="楷体" panose="02010609060101010101" pitchFamily="49" charset="-122"/>
                <a:ea typeface="楷体" panose="02010609060101010101" pitchFamily="49" charset="-122"/>
              </a:rPr>
              <a:t>高分子化学导读与解题</a:t>
            </a:r>
            <a:r>
              <a:rPr kumimoji="1" lang="en-US" altLang="zh-CN" sz="2800" dirty="0">
                <a:latin typeface="楷体" panose="02010609060101010101" pitchFamily="49" charset="-122"/>
                <a:ea typeface="楷体" panose="02010609060101010101" pitchFamily="49" charset="-122"/>
              </a:rPr>
              <a:t>》</a:t>
            </a:r>
            <a:endParaRPr kumimoji="1" lang="zh-CN" altLang="en-US" sz="2800" dirty="0">
              <a:latin typeface="楷体" panose="02010609060101010101" pitchFamily="49" charset="-122"/>
              <a:ea typeface="楷体" panose="02010609060101010101" pitchFamily="49" charset="-122"/>
            </a:endParaRPr>
          </a:p>
          <a:p>
            <a:pPr marL="514350" indent="-514350" eaLnBrk="1" fontAlgn="auto" hangingPunct="1">
              <a:spcBef>
                <a:spcPts val="0"/>
              </a:spcBef>
              <a:spcAft>
                <a:spcPts val="0"/>
              </a:spcAft>
              <a:buFontTx/>
              <a:buAutoNum type="arabicParenR"/>
              <a:defRPr/>
            </a:pPr>
            <a:endParaRPr kumimoji="1" lang="en-US" altLang="zh-CN" sz="2800" dirty="0">
              <a:latin typeface="楷体" panose="02010609060101010101" pitchFamily="49" charset="-122"/>
              <a:ea typeface="楷体" panose="02010609060101010101" pitchFamily="49" charset="-122"/>
            </a:endParaRPr>
          </a:p>
        </p:txBody>
      </p:sp>
      <p:sp>
        <p:nvSpPr>
          <p:cNvPr id="8" name="Text Box 21">
            <a:extLst>
              <a:ext uri="{FF2B5EF4-FFF2-40B4-BE49-F238E27FC236}">
                <a16:creationId xmlns:a16="http://schemas.microsoft.com/office/drawing/2014/main" id="{14329ABA-B842-4BA9-A497-C54144AA943A}"/>
              </a:ext>
            </a:extLst>
          </p:cNvPr>
          <p:cNvSpPr txBox="1">
            <a:spLocks noChangeArrowheads="1"/>
          </p:cNvSpPr>
          <p:nvPr/>
        </p:nvSpPr>
        <p:spPr bwMode="auto">
          <a:xfrm>
            <a:off x="1908175" y="393700"/>
            <a:ext cx="54102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800000"/>
              </a:buClr>
              <a:buSzPct val="90000"/>
              <a:buFont typeface="Wingdings" panose="05000000000000000000" pitchFamily="2" charset="2"/>
              <a:buChar char="v"/>
              <a:defRPr kumimoji="1" sz="2800">
                <a:solidFill>
                  <a:schemeClr val="tx1"/>
                </a:solidFill>
                <a:latin typeface="Times New Roman" panose="02020603050405020304" pitchFamily="18" charset="0"/>
                <a:ea typeface="楷体_GB2312" pitchFamily="49" charset="-122"/>
              </a:defRPr>
            </a:lvl1pPr>
            <a:lvl2pPr marL="742950" indent="-28575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楷体_GB2312" pitchFamily="49" charset="-122"/>
              </a:defRPr>
            </a:lvl2pPr>
            <a:lvl3pPr marL="1143000" indent="-228600">
              <a:spcBef>
                <a:spcPct val="20000"/>
              </a:spcBef>
              <a:buClr>
                <a:srgbClr val="800000"/>
              </a:buClr>
              <a:buSzPct val="90000"/>
              <a:buFont typeface="Wingdings" panose="05000000000000000000" pitchFamily="2" charset="2"/>
              <a:buChar char="v"/>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rgbClr val="800000"/>
              </a:buClr>
              <a:buSzPct val="90000"/>
              <a:buFont typeface="Wingdings" panose="05000000000000000000" pitchFamily="2" charset="2"/>
              <a:buChar char="v"/>
              <a:defRPr kumimoji="1" sz="20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ct val="50000"/>
              </a:spcBef>
              <a:spcAft>
                <a:spcPts val="0"/>
              </a:spcAft>
              <a:buClrTx/>
              <a:buSzTx/>
              <a:buFontTx/>
              <a:buNone/>
              <a:defRPr/>
            </a:pPr>
            <a:r>
              <a:rPr kumimoji="0" lang="zh-CN" altLang="en-US" sz="4000" b="1" dirty="0">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高分子化学</a:t>
            </a:r>
          </a:p>
        </p:txBody>
      </p:sp>
      <p:cxnSp>
        <p:nvCxnSpPr>
          <p:cNvPr id="10" name="直接连接符 9">
            <a:extLst>
              <a:ext uri="{FF2B5EF4-FFF2-40B4-BE49-F238E27FC236}">
                <a16:creationId xmlns:a16="http://schemas.microsoft.com/office/drawing/2014/main" id="{B3081AB1-6CF0-48AD-BE72-7B5A3019EF4E}"/>
              </a:ext>
            </a:extLst>
          </p:cNvPr>
          <p:cNvCxnSpPr/>
          <p:nvPr/>
        </p:nvCxnSpPr>
        <p:spPr>
          <a:xfrm>
            <a:off x="131763" y="1268413"/>
            <a:ext cx="8783637" cy="0"/>
          </a:xfrm>
          <a:prstGeom prst="line">
            <a:avLst/>
          </a:prstGeom>
          <a:ln w="28575">
            <a:solidFill>
              <a:srgbClr val="90109E"/>
            </a:solidFill>
          </a:ln>
        </p:spPr>
        <p:style>
          <a:lnRef idx="1">
            <a:schemeClr val="accent2"/>
          </a:lnRef>
          <a:fillRef idx="0">
            <a:schemeClr val="accent2"/>
          </a:fillRef>
          <a:effectRef idx="0">
            <a:schemeClr val="accent2"/>
          </a:effectRef>
          <a:fontRef idx="minor">
            <a:schemeClr val="tx1"/>
          </a:fontRef>
        </p:style>
      </p:cxnSp>
    </p:spTree>
  </p:cSld>
  <p:clrMapOvr>
    <a:masterClrMapping/>
  </p:clrMapOvr>
  <p:transition spd="slow"/>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9781</TotalTime>
  <Words>8878</Words>
  <Application>Microsoft Office PowerPoint</Application>
  <PresentationFormat>全屏显示(4:3)</PresentationFormat>
  <Paragraphs>1279</Paragraphs>
  <Slides>129</Slides>
  <Notes>31</Notes>
  <HiddenSlides>2</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5</vt:i4>
      </vt:variant>
      <vt:variant>
        <vt:lpstr>幻灯片标题</vt:lpstr>
      </vt:variant>
      <vt:variant>
        <vt:i4>129</vt:i4>
      </vt:variant>
    </vt:vector>
  </HeadingPairs>
  <TitlesOfParts>
    <vt:vector size="153" baseType="lpstr">
      <vt:lpstr>等线</vt:lpstr>
      <vt:lpstr>等线 Light</vt:lpstr>
      <vt:lpstr>黑体</vt:lpstr>
      <vt:lpstr>华文楷体</vt:lpstr>
      <vt:lpstr>楷体</vt:lpstr>
      <vt:lpstr>楷体_GB2312</vt:lpstr>
      <vt:lpstr>隶书</vt:lpstr>
      <vt:lpstr>宋体</vt:lpstr>
      <vt:lpstr>Arial</vt:lpstr>
      <vt:lpstr>Calibri</vt:lpstr>
      <vt:lpstr>Calibri Light</vt:lpstr>
      <vt:lpstr>Cambria Math</vt:lpstr>
      <vt:lpstr>Century Schoolbook</vt:lpstr>
      <vt:lpstr>Lucida Sans Unicode</vt:lpstr>
      <vt:lpstr>Symbol</vt:lpstr>
      <vt:lpstr>Tahoma</vt:lpstr>
      <vt:lpstr>Times New Roman</vt:lpstr>
      <vt:lpstr>Wingdings</vt:lpstr>
      <vt:lpstr>Office Theme</vt:lpstr>
      <vt:lpstr>CS ChemDraw Drawing</vt:lpstr>
      <vt:lpstr>Graph</vt:lpstr>
      <vt:lpstr>公式</vt:lpstr>
      <vt:lpstr>Document</vt:lpstr>
      <vt:lpstr>Equation.3</vt:lpstr>
      <vt:lpstr>PowerPoint 演示文稿</vt:lpstr>
      <vt:lpstr>本章提纲和关键词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传统自由基共聚中聚合物链的增长过程：</vt:lpstr>
      <vt:lpstr>PowerPoint 演示文稿</vt:lpstr>
      <vt:lpstr>    </vt:lpstr>
      <vt:lpstr>PowerPoint 演示文稿</vt:lpstr>
      <vt:lpstr>PowerPoint 演示文稿</vt:lpstr>
      <vt:lpstr>链终止(双基终止)</vt:lpstr>
      <vt:lpstr>PowerPoint 演示文稿</vt:lpstr>
      <vt:lpstr>PowerPoint 演示文稿</vt:lpstr>
      <vt:lpstr>PowerPoint 演示文稿</vt:lpstr>
      <vt:lpstr>假定4: 反应处于稳态，体系中M1 和M2浓度分别保持不变, 自由基总浓度也保持不变。</vt:lpstr>
      <vt:lpstr>PowerPoint 演示文稿</vt:lpstr>
      <vt:lpstr>(d[M_1])/(d[M_2])=([M_1])/([M_2])•(r_1 [M_1]+[M_2])/(r_2 [M_2]+[M_1]) " "("4-2")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本章提纲和关键词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传统自由基共聚中聚合物链的序列及其长度：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浙江大学材化学院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高分子化学多媒体课件</dc:title>
  <dc:subject>第四章    自由基共聚合</dc:subject>
  <dc:creator>李伯耿、陈雪萍、罗英武、李宝芳、范宏</dc:creator>
  <dc:description>国家级精品课程，版权所有</dc:description>
  <cp:lastModifiedBy>朱健</cp:lastModifiedBy>
  <cp:revision>639</cp:revision>
  <cp:lastPrinted>2017-04-10T13:13:06Z</cp:lastPrinted>
  <dcterms:created xsi:type="dcterms:W3CDTF">1999-12-18T05:39:47Z</dcterms:created>
  <dcterms:modified xsi:type="dcterms:W3CDTF">2024-11-05T02:44:55Z</dcterms:modified>
</cp:coreProperties>
</file>