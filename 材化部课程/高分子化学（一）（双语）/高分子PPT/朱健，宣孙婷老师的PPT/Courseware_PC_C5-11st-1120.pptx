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62"/>
  </p:notesMasterIdLst>
  <p:handoutMasterIdLst>
    <p:handoutMasterId r:id="rId63"/>
  </p:handoutMasterIdLst>
  <p:sldIdLst>
    <p:sldId id="576" r:id="rId2"/>
    <p:sldId id="598" r:id="rId3"/>
    <p:sldId id="577" r:id="rId4"/>
    <p:sldId id="579" r:id="rId5"/>
    <p:sldId id="580" r:id="rId6"/>
    <p:sldId id="581" r:id="rId7"/>
    <p:sldId id="486" r:id="rId8"/>
    <p:sldId id="487" r:id="rId9"/>
    <p:sldId id="488" r:id="rId10"/>
    <p:sldId id="489" r:id="rId11"/>
    <p:sldId id="491" r:id="rId12"/>
    <p:sldId id="582" r:id="rId13"/>
    <p:sldId id="492" r:id="rId14"/>
    <p:sldId id="495" r:id="rId15"/>
    <p:sldId id="497" r:id="rId16"/>
    <p:sldId id="498" r:id="rId17"/>
    <p:sldId id="501" r:id="rId18"/>
    <p:sldId id="504" r:id="rId19"/>
    <p:sldId id="567" r:id="rId20"/>
    <p:sldId id="575" r:id="rId21"/>
    <p:sldId id="512" r:id="rId22"/>
    <p:sldId id="513" r:id="rId23"/>
    <p:sldId id="584" r:id="rId24"/>
    <p:sldId id="585" r:id="rId25"/>
    <p:sldId id="592" r:id="rId26"/>
    <p:sldId id="588" r:id="rId27"/>
    <p:sldId id="589" r:id="rId28"/>
    <p:sldId id="590" r:id="rId29"/>
    <p:sldId id="591" r:id="rId30"/>
    <p:sldId id="516" r:id="rId31"/>
    <p:sldId id="518" r:id="rId32"/>
    <p:sldId id="520" r:id="rId33"/>
    <p:sldId id="521" r:id="rId34"/>
    <p:sldId id="522" r:id="rId35"/>
    <p:sldId id="524" r:id="rId36"/>
    <p:sldId id="595" r:id="rId37"/>
    <p:sldId id="526" r:id="rId38"/>
    <p:sldId id="427" r:id="rId39"/>
    <p:sldId id="432" r:id="rId40"/>
    <p:sldId id="431" r:id="rId41"/>
    <p:sldId id="430" r:id="rId42"/>
    <p:sldId id="429" r:id="rId43"/>
    <p:sldId id="428" r:id="rId44"/>
    <p:sldId id="433" r:id="rId45"/>
    <p:sldId id="436" r:id="rId46"/>
    <p:sldId id="435" r:id="rId47"/>
    <p:sldId id="434" r:id="rId48"/>
    <p:sldId id="437" r:id="rId49"/>
    <p:sldId id="438" r:id="rId50"/>
    <p:sldId id="528" r:id="rId51"/>
    <p:sldId id="529" r:id="rId52"/>
    <p:sldId id="530" r:id="rId53"/>
    <p:sldId id="532" r:id="rId54"/>
    <p:sldId id="535" r:id="rId55"/>
    <p:sldId id="536" r:id="rId56"/>
    <p:sldId id="537" r:id="rId57"/>
    <p:sldId id="538" r:id="rId58"/>
    <p:sldId id="539" r:id="rId59"/>
    <p:sldId id="540" r:id="rId60"/>
    <p:sldId id="544" r:id="rId61"/>
  </p:sldIdLst>
  <p:sldSz cx="9144000" cy="6858000" type="screen4x3"/>
  <p:notesSz cx="6858000" cy="9144000"/>
  <p:defaultTextStyle>
    <a:defPPr>
      <a:defRPr lang="en-US"/>
    </a:defPPr>
    <a:lvl1pPr algn="l" rtl="0" eaLnBrk="0" fontAlgn="base" hangingPunct="0">
      <a:spcBef>
        <a:spcPct val="0"/>
      </a:spcBef>
      <a:spcAft>
        <a:spcPct val="0"/>
      </a:spcAft>
      <a:defRPr kumimoji="1" sz="2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2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928">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FFFF"/>
    <a:srgbClr val="3366FF"/>
    <a:srgbClr val="9900CC"/>
    <a:srgbClr val="AFFFE6"/>
    <a:srgbClr val="0033CC"/>
    <a:srgbClr val="006666"/>
    <a:srgbClr val="A7E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05" autoAdjust="0"/>
    <p:restoredTop sz="90824" autoAdjust="0"/>
  </p:normalViewPr>
  <p:slideViewPr>
    <p:cSldViewPr>
      <p:cViewPr varScale="1">
        <p:scale>
          <a:sx n="117" d="100"/>
          <a:sy n="117" d="100"/>
        </p:scale>
        <p:origin x="651" y="62"/>
      </p:cViewPr>
      <p:guideLst>
        <p:guide orient="horz" pos="292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33" d="100"/>
          <a:sy n="33" d="100"/>
        </p:scale>
        <p:origin x="-162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image" Target="../media/image2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526A925-87FE-4181-9F57-16ABCE9B99B6}"/>
              </a:ext>
            </a:extLst>
          </p:cNvPr>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defRPr sz="1200">
                <a:ea typeface="宋体" pitchFamily="2" charset="-122"/>
              </a:defRPr>
            </a:lvl1pPr>
          </a:lstStyle>
          <a:p>
            <a:pPr>
              <a:defRPr/>
            </a:pPr>
            <a:endParaRPr lang="zh-CN" altLang="en-US"/>
          </a:p>
        </p:txBody>
      </p:sp>
      <p:sp>
        <p:nvSpPr>
          <p:cNvPr id="5123" name="Rectangle 3">
            <a:extLst>
              <a:ext uri="{FF2B5EF4-FFF2-40B4-BE49-F238E27FC236}">
                <a16:creationId xmlns:a16="http://schemas.microsoft.com/office/drawing/2014/main" id="{2D21FA54-70BE-4BD6-A69C-A003468D0D96}"/>
              </a:ext>
            </a:extLst>
          </p:cNvPr>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sz="1200">
                <a:ea typeface="宋体" pitchFamily="2" charset="-122"/>
              </a:defRPr>
            </a:lvl1pPr>
          </a:lstStyle>
          <a:p>
            <a:pPr>
              <a:defRPr/>
            </a:pPr>
            <a:endParaRPr lang="en-US" altLang="zh-CN"/>
          </a:p>
        </p:txBody>
      </p:sp>
      <p:sp>
        <p:nvSpPr>
          <p:cNvPr id="5124" name="Rectangle 4">
            <a:extLst>
              <a:ext uri="{FF2B5EF4-FFF2-40B4-BE49-F238E27FC236}">
                <a16:creationId xmlns:a16="http://schemas.microsoft.com/office/drawing/2014/main" id="{A212B453-C38E-4513-861E-D8E7612FED0E}"/>
              </a:ext>
            </a:extLst>
          </p:cNvPr>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l" eaLnBrk="1" hangingPunct="1">
              <a:lnSpc>
                <a:spcPct val="100000"/>
              </a:lnSpc>
              <a:spcBef>
                <a:spcPct val="0"/>
              </a:spcBef>
              <a:defRPr sz="1200">
                <a:ea typeface="宋体" pitchFamily="2" charset="-122"/>
              </a:defRPr>
            </a:lvl1pPr>
          </a:lstStyle>
          <a:p>
            <a:pPr>
              <a:defRPr/>
            </a:pPr>
            <a:endParaRPr lang="en-US" altLang="zh-CN"/>
          </a:p>
        </p:txBody>
      </p:sp>
      <p:sp>
        <p:nvSpPr>
          <p:cNvPr id="5125" name="Rectangle 5">
            <a:extLst>
              <a:ext uri="{FF2B5EF4-FFF2-40B4-BE49-F238E27FC236}">
                <a16:creationId xmlns:a16="http://schemas.microsoft.com/office/drawing/2014/main" id="{DAE33045-8B04-47DA-ADF3-7EBA39B88F9D}"/>
              </a:ext>
            </a:extLst>
          </p:cNvPr>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02F179D-B88F-4F8E-AEA1-55BD9C59E2A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EE61541-409F-42A8-8961-21B20C0261F3}"/>
              </a:ext>
            </a:extLst>
          </p:cNvPr>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defRPr sz="1200">
                <a:ea typeface="宋体" pitchFamily="2" charset="-122"/>
              </a:defRPr>
            </a:lvl1pPr>
          </a:lstStyle>
          <a:p>
            <a:pPr>
              <a:defRPr/>
            </a:pPr>
            <a:endParaRPr lang="zh-CN" altLang="en-US"/>
          </a:p>
        </p:txBody>
      </p:sp>
      <p:sp>
        <p:nvSpPr>
          <p:cNvPr id="4099" name="Rectangle 3">
            <a:extLst>
              <a:ext uri="{FF2B5EF4-FFF2-40B4-BE49-F238E27FC236}">
                <a16:creationId xmlns:a16="http://schemas.microsoft.com/office/drawing/2014/main" id="{F748C08C-DC72-4AEA-9740-96B3C128FF3C}"/>
              </a:ext>
            </a:extLst>
          </p:cNvPr>
          <p:cNvSpPr>
            <a:spLocks noGrp="1" noChangeArrowheads="1"/>
          </p:cNvSpPr>
          <p:nvPr>
            <p:ph type="dt"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sz="1200">
                <a:ea typeface="宋体" pitchFamily="2" charset="-122"/>
              </a:defRPr>
            </a:lvl1pPr>
          </a:lstStyle>
          <a:p>
            <a:pPr>
              <a:defRPr/>
            </a:pPr>
            <a:endParaRPr lang="en-US" altLang="zh-CN"/>
          </a:p>
        </p:txBody>
      </p:sp>
      <p:sp>
        <p:nvSpPr>
          <p:cNvPr id="14340"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24EDDA2A-5AEA-404F-93F8-BCBA63696395}"/>
              </a:ext>
            </a:extLst>
          </p:cNvPr>
          <p:cNvSpPr>
            <a:spLocks noGrp="1" noChangeArrowheads="1"/>
          </p:cNvSpPr>
          <p:nvPr>
            <p:ph type="body" sz="quarter" idx="3"/>
          </p:nvPr>
        </p:nvSpPr>
        <p:spPr bwMode="auto">
          <a:xfrm>
            <a:off x="914400" y="4343400"/>
            <a:ext cx="5029200" cy="41148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a:extLst>
              <a:ext uri="{FF2B5EF4-FFF2-40B4-BE49-F238E27FC236}">
                <a16:creationId xmlns:a16="http://schemas.microsoft.com/office/drawing/2014/main" id="{591D7562-D2EA-4343-B4F6-819E00BCD31E}"/>
              </a:ext>
            </a:extLst>
          </p:cNvPr>
          <p:cNvSpPr>
            <a:spLocks noGrp="1" noChangeArrowheads="1"/>
          </p:cNvSpPr>
          <p:nvPr>
            <p:ph type="ftr" sz="quarter" idx="4"/>
          </p:nvPr>
        </p:nvSpPr>
        <p:spPr bwMode="auto">
          <a:xfrm>
            <a:off x="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l" eaLnBrk="1" hangingPunct="1">
              <a:lnSpc>
                <a:spcPct val="100000"/>
              </a:lnSpc>
              <a:spcBef>
                <a:spcPct val="0"/>
              </a:spcBef>
              <a:defRPr sz="1200">
                <a:ea typeface="宋体" pitchFamily="2" charset="-122"/>
              </a:defRPr>
            </a:lvl1pPr>
          </a:lstStyle>
          <a:p>
            <a:pPr>
              <a:defRPr/>
            </a:pPr>
            <a:endParaRPr lang="en-US" altLang="zh-CN"/>
          </a:p>
        </p:txBody>
      </p:sp>
      <p:sp>
        <p:nvSpPr>
          <p:cNvPr id="4103" name="Rectangle 7">
            <a:extLst>
              <a:ext uri="{FF2B5EF4-FFF2-40B4-BE49-F238E27FC236}">
                <a16:creationId xmlns:a16="http://schemas.microsoft.com/office/drawing/2014/main" id="{21E99D6D-FBCA-43A3-8FF7-1D6BE1EEC36D}"/>
              </a:ext>
            </a:extLst>
          </p:cNvPr>
          <p:cNvSpPr>
            <a:spLocks noGrp="1" noChangeArrowheads="1"/>
          </p:cNvSpPr>
          <p:nvPr>
            <p:ph type="sldNum" sz="quarter" idx="5"/>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45A51E9-3F6C-4524-A147-6A8A815DF73C}"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a:ln/>
        </p:spPr>
      </p:sp>
      <p:sp>
        <p:nvSpPr>
          <p:cNvPr id="1945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eaLnBrk="1" hangingPunct="1"/>
            <a:r>
              <a:rPr lang="zh-CN" altLang="en-US" b="1">
                <a:ea typeface="楷体_GB2312" pitchFamily="49" charset="-122"/>
              </a:rPr>
              <a:t>前几章我们已定量描述了聚合反应规律，例如自由基聚合</a:t>
            </a:r>
            <a:endParaRPr lang="zh-CN" altLang="en-US"/>
          </a:p>
        </p:txBody>
      </p:sp>
      <p:sp>
        <p:nvSpPr>
          <p:cNvPr id="1946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1A022360-FF86-4C9D-A9FF-D7B05570BD7B}" type="slidenum">
              <a:rPr lang="zh-CN" altLang="en-US" sz="1200" smtClean="0">
                <a:latin typeface="等线" panose="02010600030101010101" pitchFamily="2" charset="-122"/>
                <a:ea typeface="等线" panose="02010600030101010101" pitchFamily="2" charset="-122"/>
              </a:rPr>
              <a:pPr/>
              <a:t>4</a:t>
            </a:fld>
            <a:endParaRPr lang="en-US" altLang="zh-CN" sz="1200">
              <a:latin typeface="等线" panose="02010600030101010101" pitchFamily="2" charset="-122"/>
              <a:ea typeface="等线"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ChangeArrowheads="1" noTextEdit="1"/>
          </p:cNvSpPr>
          <p:nvPr>
            <p:ph type="sldImg"/>
          </p:nvPr>
        </p:nvSpPr>
        <p:spPr>
          <a:ln/>
        </p:spPr>
      </p:sp>
      <p:sp>
        <p:nvSpPr>
          <p:cNvPr id="4710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动物乳汁中的含磷蛋白为基体的动物胶黏剂。采用自然发酵法、加酸凝固法或凝乳素法制得酪蛋白，再与碳酸钠、硅酸钠、硼砂、氨水、磷酸钠、消石灰等配制而成。用于木材、织物、纸张、陶瓷等材料的胶接。 　　</a:t>
            </a:r>
          </a:p>
        </p:txBody>
      </p:sp>
      <p:sp>
        <p:nvSpPr>
          <p:cNvPr id="4710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8ED9DD36-2F3F-4005-AFB7-79410EFC985D}" type="slidenum">
              <a:rPr lang="zh-CN" altLang="en-US" sz="1200" smtClean="0"/>
              <a:pPr/>
              <a:t>30</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34CDA73-17D0-498C-A533-022AED0FA18E}"/>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5" name="矩形 4">
            <a:extLst>
              <a:ext uri="{FF2B5EF4-FFF2-40B4-BE49-F238E27FC236}">
                <a16:creationId xmlns:a16="http://schemas.microsoft.com/office/drawing/2014/main" id="{777AAFBF-713F-4597-8713-E1308586E35C}"/>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6" name="矩形 5">
            <a:extLst>
              <a:ext uri="{FF2B5EF4-FFF2-40B4-BE49-F238E27FC236}">
                <a16:creationId xmlns:a16="http://schemas.microsoft.com/office/drawing/2014/main" id="{17A4CA83-FA0D-456B-BEDA-F1B208316BDA}"/>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7" name="矩形 6">
            <a:extLst>
              <a:ext uri="{FF2B5EF4-FFF2-40B4-BE49-F238E27FC236}">
                <a16:creationId xmlns:a16="http://schemas.microsoft.com/office/drawing/2014/main" id="{16B97795-1434-42BE-9320-1367D1567B45}"/>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10" name="直接连接符 9">
            <a:extLst>
              <a:ext uri="{FF2B5EF4-FFF2-40B4-BE49-F238E27FC236}">
                <a16:creationId xmlns:a16="http://schemas.microsoft.com/office/drawing/2014/main" id="{F033811A-62C9-4DA2-BB31-5A74AB378EAC}"/>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1" name="直接连接符 10">
            <a:extLst>
              <a:ext uri="{FF2B5EF4-FFF2-40B4-BE49-F238E27FC236}">
                <a16:creationId xmlns:a16="http://schemas.microsoft.com/office/drawing/2014/main" id="{F70FEE23-D4BC-4D91-92EC-DEDFF49BDCBD}"/>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2" name="直接连接符 11">
            <a:extLst>
              <a:ext uri="{FF2B5EF4-FFF2-40B4-BE49-F238E27FC236}">
                <a16:creationId xmlns:a16="http://schemas.microsoft.com/office/drawing/2014/main" id="{2EA41A0F-A8AA-4292-BDDD-B1760EA82DB4}"/>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3" name="直接连接符 12">
            <a:extLst>
              <a:ext uri="{FF2B5EF4-FFF2-40B4-BE49-F238E27FC236}">
                <a16:creationId xmlns:a16="http://schemas.microsoft.com/office/drawing/2014/main" id="{7F7AB1F2-33E1-442E-BCAC-830CC1BE9160}"/>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4" name="直接连接符 13">
            <a:extLst>
              <a:ext uri="{FF2B5EF4-FFF2-40B4-BE49-F238E27FC236}">
                <a16:creationId xmlns:a16="http://schemas.microsoft.com/office/drawing/2014/main" id="{63287AC4-7551-4AFC-AFB2-BA3FF3EE4AE9}"/>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5" name="直接连接符 14">
            <a:extLst>
              <a:ext uri="{FF2B5EF4-FFF2-40B4-BE49-F238E27FC236}">
                <a16:creationId xmlns:a16="http://schemas.microsoft.com/office/drawing/2014/main" id="{A12C6FAD-2CAA-4CA5-BACA-80A5742511D3}"/>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6" name="矩形 15">
            <a:extLst>
              <a:ext uri="{FF2B5EF4-FFF2-40B4-BE49-F238E27FC236}">
                <a16:creationId xmlns:a16="http://schemas.microsoft.com/office/drawing/2014/main" id="{AA45418F-2E5F-441A-858A-7A9AB834A381}"/>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7" name="椭圆 16">
            <a:extLst>
              <a:ext uri="{FF2B5EF4-FFF2-40B4-BE49-F238E27FC236}">
                <a16:creationId xmlns:a16="http://schemas.microsoft.com/office/drawing/2014/main" id="{BA23CCD7-2617-4335-B74F-00F2B12BF6B3}"/>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8" name="椭圆 17">
            <a:extLst>
              <a:ext uri="{FF2B5EF4-FFF2-40B4-BE49-F238E27FC236}">
                <a16:creationId xmlns:a16="http://schemas.microsoft.com/office/drawing/2014/main" id="{ADBB92E6-5337-4507-867F-CF1D498DDA18}"/>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9" name="椭圆 18">
            <a:extLst>
              <a:ext uri="{FF2B5EF4-FFF2-40B4-BE49-F238E27FC236}">
                <a16:creationId xmlns:a16="http://schemas.microsoft.com/office/drawing/2014/main" id="{1ADB22AC-4E2D-4665-A95B-ADA37A3A788C}"/>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20" name="椭圆 19">
            <a:extLst>
              <a:ext uri="{FF2B5EF4-FFF2-40B4-BE49-F238E27FC236}">
                <a16:creationId xmlns:a16="http://schemas.microsoft.com/office/drawing/2014/main" id="{E2DF0C1A-DC0A-4C31-B54E-9B57C8CB8813}"/>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21" name="椭圆 20">
            <a:extLst>
              <a:ext uri="{FF2B5EF4-FFF2-40B4-BE49-F238E27FC236}">
                <a16:creationId xmlns:a16="http://schemas.microsoft.com/office/drawing/2014/main" id="{E339A312-5399-4B3F-A85F-33CB972FD8C3}"/>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22" name="日期占位符 27">
            <a:extLst>
              <a:ext uri="{FF2B5EF4-FFF2-40B4-BE49-F238E27FC236}">
                <a16:creationId xmlns:a16="http://schemas.microsoft.com/office/drawing/2014/main" id="{DC8EFCF9-90E1-4290-BBF7-BAC5BBCBFD53}"/>
              </a:ext>
            </a:extLst>
          </p:cNvPr>
          <p:cNvSpPr>
            <a:spLocks noGrp="1"/>
          </p:cNvSpPr>
          <p:nvPr>
            <p:ph type="dt" sz="half" idx="10"/>
          </p:nvPr>
        </p:nvSpPr>
        <p:spPr bwMode="auto">
          <a:xfrm rot="5400000">
            <a:off x="7764463" y="1174750"/>
            <a:ext cx="2286000" cy="381000"/>
          </a:xfrm>
        </p:spPr>
        <p:txBody>
          <a:bodyPr/>
          <a:lstStyle>
            <a:lvl1pPr>
              <a:defRPr/>
            </a:lvl1pPr>
          </a:lstStyle>
          <a:p>
            <a:pPr>
              <a:defRPr/>
            </a:pPr>
            <a:endParaRPr lang="en-US" altLang="zh-CN"/>
          </a:p>
        </p:txBody>
      </p:sp>
      <p:sp>
        <p:nvSpPr>
          <p:cNvPr id="23" name="页脚占位符 16">
            <a:extLst>
              <a:ext uri="{FF2B5EF4-FFF2-40B4-BE49-F238E27FC236}">
                <a16:creationId xmlns:a16="http://schemas.microsoft.com/office/drawing/2014/main" id="{9835C28E-D744-4303-AE84-662CEF17D743}"/>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ltLang="zh-CN"/>
          </a:p>
        </p:txBody>
      </p:sp>
      <p:sp>
        <p:nvSpPr>
          <p:cNvPr id="24" name="灯片编号占位符 28">
            <a:extLst>
              <a:ext uri="{FF2B5EF4-FFF2-40B4-BE49-F238E27FC236}">
                <a16:creationId xmlns:a16="http://schemas.microsoft.com/office/drawing/2014/main" id="{1657DA23-306A-4A48-AB02-6E5E330587E1}"/>
              </a:ext>
            </a:extLst>
          </p:cNvPr>
          <p:cNvSpPr>
            <a:spLocks noGrp="1"/>
          </p:cNvSpPr>
          <p:nvPr>
            <p:ph type="sldNum" sz="quarter" idx="12"/>
          </p:nvPr>
        </p:nvSpPr>
        <p:spPr bwMode="auto">
          <a:xfrm>
            <a:off x="1325563" y="4929188"/>
            <a:ext cx="609600" cy="517525"/>
          </a:xfrm>
        </p:spPr>
        <p:txBody>
          <a:bodyPr/>
          <a:lstStyle>
            <a:lvl1pPr>
              <a:defRPr/>
            </a:lvl1pPr>
          </a:lstStyle>
          <a:p>
            <a:pPr>
              <a:defRPr/>
            </a:pPr>
            <a:fld id="{3CB0DB1E-1277-460C-B253-11235D5F5CD8}" type="slidenum">
              <a:rPr lang="zh-CN" altLang="en-US"/>
              <a:pPr>
                <a:defRPr/>
              </a:pPr>
              <a:t>‹#›</a:t>
            </a:fld>
            <a:endParaRPr lang="en-US" altLang="zh-CN"/>
          </a:p>
        </p:txBody>
      </p:sp>
    </p:spTree>
    <p:extLst>
      <p:ext uri="{BB962C8B-B14F-4D97-AF65-F5344CB8AC3E}">
        <p14:creationId xmlns:p14="http://schemas.microsoft.com/office/powerpoint/2010/main" val="1396037463"/>
      </p:ext>
    </p:extLst>
  </p:cSld>
  <p:clrMapOvr>
    <a:overrideClrMapping bg1="lt1" tx1="dk1" bg2="lt2" tx2="dk2" accent1="accent1" accent2="accent2" accent3="accent3" accent4="accent4" accent5="accent5" accent6="accent6" hlink="hlink" folHlink="folHlink"/>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8" name="内容占位符 7"/>
          <p:cNvSpPr>
            <a:spLocks noGrp="1"/>
          </p:cNvSpPr>
          <p:nvPr>
            <p:ph sz="quarter" idx="1"/>
          </p:nvPr>
        </p:nvSpPr>
        <p:spPr>
          <a:xfrm>
            <a:off x="457200" y="1600200"/>
            <a:ext cx="7467600" cy="48737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6">
            <a:extLst>
              <a:ext uri="{FF2B5EF4-FFF2-40B4-BE49-F238E27FC236}">
                <a16:creationId xmlns:a16="http://schemas.microsoft.com/office/drawing/2014/main" id="{9DAD4487-EAD4-4536-BC2E-17B123CF8405}"/>
              </a:ext>
            </a:extLst>
          </p:cNvPr>
          <p:cNvSpPr>
            <a:spLocks noGrp="1"/>
          </p:cNvSpPr>
          <p:nvPr>
            <p:ph type="dt" sz="half" idx="10"/>
          </p:nvPr>
        </p:nvSpPr>
        <p:spPr/>
        <p:txBody>
          <a:bodyPr rtlCol="0"/>
          <a:lstStyle>
            <a:lvl1pPr>
              <a:defRPr/>
            </a:lvl1pPr>
          </a:lstStyle>
          <a:p>
            <a:pPr>
              <a:defRPr/>
            </a:pPr>
            <a:endParaRPr lang="en-US" altLang="zh-CN"/>
          </a:p>
        </p:txBody>
      </p:sp>
      <p:sp>
        <p:nvSpPr>
          <p:cNvPr id="5" name="灯片编号占位符 8">
            <a:extLst>
              <a:ext uri="{FF2B5EF4-FFF2-40B4-BE49-F238E27FC236}">
                <a16:creationId xmlns:a16="http://schemas.microsoft.com/office/drawing/2014/main" id="{04A5DEF1-E7B0-41F7-BA94-278572199C86}"/>
              </a:ext>
            </a:extLst>
          </p:cNvPr>
          <p:cNvSpPr>
            <a:spLocks noGrp="1"/>
          </p:cNvSpPr>
          <p:nvPr>
            <p:ph type="sldNum" sz="quarter" idx="11"/>
          </p:nvPr>
        </p:nvSpPr>
        <p:spPr/>
        <p:txBody>
          <a:bodyPr/>
          <a:lstStyle>
            <a:lvl1pPr>
              <a:defRPr/>
            </a:lvl1pPr>
          </a:lstStyle>
          <a:p>
            <a:pPr>
              <a:defRPr/>
            </a:pPr>
            <a:fld id="{BD220521-0400-4795-A8AF-EB1B54F0C51A}" type="slidenum">
              <a:rPr lang="zh-CN" altLang="en-US"/>
              <a:pPr>
                <a:defRPr/>
              </a:pPr>
              <a:t>‹#›</a:t>
            </a:fld>
            <a:endParaRPr lang="en-US" altLang="zh-CN"/>
          </a:p>
        </p:txBody>
      </p:sp>
      <p:sp>
        <p:nvSpPr>
          <p:cNvPr id="6" name="页脚占位符 9">
            <a:extLst>
              <a:ext uri="{FF2B5EF4-FFF2-40B4-BE49-F238E27FC236}">
                <a16:creationId xmlns:a16="http://schemas.microsoft.com/office/drawing/2014/main" id="{E359E2D5-D93F-4F1F-9446-657B46D1E82E}"/>
              </a:ext>
            </a:extLst>
          </p:cNvPr>
          <p:cNvSpPr>
            <a:spLocks noGrp="1"/>
          </p:cNvSpPr>
          <p:nvPr>
            <p:ph type="ftr" sz="quarter" idx="12"/>
          </p:nvPr>
        </p:nvSpPr>
        <p:spPr/>
        <p:txBody>
          <a:bodyPr rtlCol="0"/>
          <a:lstStyle>
            <a:lvl1pPr>
              <a:defRPr/>
            </a:lvl1pPr>
          </a:lstStyle>
          <a:p>
            <a:pPr>
              <a:defRPr/>
            </a:pPr>
            <a:endParaRPr lang="en-US" altLang="zh-CN"/>
          </a:p>
        </p:txBody>
      </p:sp>
    </p:spTree>
    <p:extLst>
      <p:ext uri="{BB962C8B-B14F-4D97-AF65-F5344CB8AC3E}">
        <p14:creationId xmlns:p14="http://schemas.microsoft.com/office/powerpoint/2010/main" val="3826989764"/>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46104ED-35ED-4971-9FCB-D03DC88B5F5C}"/>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5" name="矩形 4">
            <a:extLst>
              <a:ext uri="{FF2B5EF4-FFF2-40B4-BE49-F238E27FC236}">
                <a16:creationId xmlns:a16="http://schemas.microsoft.com/office/drawing/2014/main" id="{2E62C79D-A2F7-44AB-8286-F0FEB57D2C7A}"/>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6" name="矩形 5">
            <a:extLst>
              <a:ext uri="{FF2B5EF4-FFF2-40B4-BE49-F238E27FC236}">
                <a16:creationId xmlns:a16="http://schemas.microsoft.com/office/drawing/2014/main" id="{F77D47A5-DF82-4618-9257-220CD2E11DC7}"/>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7" name="矩形 6">
            <a:extLst>
              <a:ext uri="{FF2B5EF4-FFF2-40B4-BE49-F238E27FC236}">
                <a16:creationId xmlns:a16="http://schemas.microsoft.com/office/drawing/2014/main" id="{B4A0DD17-1B0F-44FD-82A8-823C58D14557}"/>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8" name="直接连接符 7">
            <a:extLst>
              <a:ext uri="{FF2B5EF4-FFF2-40B4-BE49-F238E27FC236}">
                <a16:creationId xmlns:a16="http://schemas.microsoft.com/office/drawing/2014/main" id="{4B49339D-A74B-4826-96C6-B07DB9821BBD}"/>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9" name="直接连接符 8">
            <a:extLst>
              <a:ext uri="{FF2B5EF4-FFF2-40B4-BE49-F238E27FC236}">
                <a16:creationId xmlns:a16="http://schemas.microsoft.com/office/drawing/2014/main" id="{1D21E78E-3810-47AD-B7BD-B8AFEFCE7CFE}"/>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0" name="直接连接符 9">
            <a:extLst>
              <a:ext uri="{FF2B5EF4-FFF2-40B4-BE49-F238E27FC236}">
                <a16:creationId xmlns:a16="http://schemas.microsoft.com/office/drawing/2014/main" id="{7EE601F0-E68F-4EC6-8541-50F8B2406532}"/>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1" name="直接连接符 10">
            <a:extLst>
              <a:ext uri="{FF2B5EF4-FFF2-40B4-BE49-F238E27FC236}">
                <a16:creationId xmlns:a16="http://schemas.microsoft.com/office/drawing/2014/main" id="{F7954224-5516-4F10-9979-8F67DFEEE0EF}"/>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2" name="直接连接符 11">
            <a:extLst>
              <a:ext uri="{FF2B5EF4-FFF2-40B4-BE49-F238E27FC236}">
                <a16:creationId xmlns:a16="http://schemas.microsoft.com/office/drawing/2014/main" id="{ABA190C0-48B5-4455-B64C-C36AA571A3D7}"/>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3" name="矩形 12">
            <a:extLst>
              <a:ext uri="{FF2B5EF4-FFF2-40B4-BE49-F238E27FC236}">
                <a16:creationId xmlns:a16="http://schemas.microsoft.com/office/drawing/2014/main" id="{554A20F2-F296-4CBB-B440-21F7659E79B4}"/>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4" name="椭圆 13">
            <a:extLst>
              <a:ext uri="{FF2B5EF4-FFF2-40B4-BE49-F238E27FC236}">
                <a16:creationId xmlns:a16="http://schemas.microsoft.com/office/drawing/2014/main" id="{6E90ECE3-E625-4A18-8E84-52A395A3CC9C}"/>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5" name="椭圆 14">
            <a:extLst>
              <a:ext uri="{FF2B5EF4-FFF2-40B4-BE49-F238E27FC236}">
                <a16:creationId xmlns:a16="http://schemas.microsoft.com/office/drawing/2014/main" id="{C343CB50-19D3-41B7-84B7-A9704992D72E}"/>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6" name="椭圆 15">
            <a:extLst>
              <a:ext uri="{FF2B5EF4-FFF2-40B4-BE49-F238E27FC236}">
                <a16:creationId xmlns:a16="http://schemas.microsoft.com/office/drawing/2014/main" id="{4CE35C99-A40A-4818-A895-AE54FC1BCF4D}"/>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7" name="椭圆 16">
            <a:extLst>
              <a:ext uri="{FF2B5EF4-FFF2-40B4-BE49-F238E27FC236}">
                <a16:creationId xmlns:a16="http://schemas.microsoft.com/office/drawing/2014/main" id="{EBAE7E5F-C8DF-45B1-95CD-15185D627B6A}"/>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8" name="椭圆 17">
            <a:extLst>
              <a:ext uri="{FF2B5EF4-FFF2-40B4-BE49-F238E27FC236}">
                <a16:creationId xmlns:a16="http://schemas.microsoft.com/office/drawing/2014/main" id="{4F9A0311-8354-479C-BEFB-5F1AC8F00B64}"/>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19" name="直接连接符 18">
            <a:extLst>
              <a:ext uri="{FF2B5EF4-FFF2-40B4-BE49-F238E27FC236}">
                <a16:creationId xmlns:a16="http://schemas.microsoft.com/office/drawing/2014/main" id="{259FB634-F08F-4993-95FA-C4CBD0661F28}"/>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20" name="日期占位符 3">
            <a:extLst>
              <a:ext uri="{FF2B5EF4-FFF2-40B4-BE49-F238E27FC236}">
                <a16:creationId xmlns:a16="http://schemas.microsoft.com/office/drawing/2014/main" id="{D1A2ACF5-5276-4FE3-8A58-8AC38A03AAAA}"/>
              </a:ext>
            </a:extLst>
          </p:cNvPr>
          <p:cNvSpPr>
            <a:spLocks noGrp="1"/>
          </p:cNvSpPr>
          <p:nvPr>
            <p:ph type="dt" sz="half" idx="10"/>
          </p:nvPr>
        </p:nvSpPr>
        <p:spPr bwMode="auto">
          <a:xfrm rot="5400000">
            <a:off x="7762875" y="1169988"/>
            <a:ext cx="2286000" cy="381000"/>
          </a:xfrm>
        </p:spPr>
        <p:txBody>
          <a:bodyPr/>
          <a:lstStyle>
            <a:lvl1pPr>
              <a:defRPr/>
            </a:lvl1pPr>
          </a:lstStyle>
          <a:p>
            <a:pPr>
              <a:defRPr/>
            </a:pPr>
            <a:endParaRPr lang="en-US" altLang="zh-CN"/>
          </a:p>
        </p:txBody>
      </p:sp>
      <p:sp>
        <p:nvSpPr>
          <p:cNvPr id="21" name="页脚占位符 4">
            <a:extLst>
              <a:ext uri="{FF2B5EF4-FFF2-40B4-BE49-F238E27FC236}">
                <a16:creationId xmlns:a16="http://schemas.microsoft.com/office/drawing/2014/main" id="{DAF419CB-3C6B-41A2-9383-5A360F8F8B5D}"/>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ltLang="zh-CN"/>
          </a:p>
        </p:txBody>
      </p:sp>
      <p:sp>
        <p:nvSpPr>
          <p:cNvPr id="22" name="灯片编号占位符 5">
            <a:extLst>
              <a:ext uri="{FF2B5EF4-FFF2-40B4-BE49-F238E27FC236}">
                <a16:creationId xmlns:a16="http://schemas.microsoft.com/office/drawing/2014/main" id="{54CF3A5A-42CC-4F9A-A62A-E2B02397E217}"/>
              </a:ext>
            </a:extLst>
          </p:cNvPr>
          <p:cNvSpPr>
            <a:spLocks noGrp="1"/>
          </p:cNvSpPr>
          <p:nvPr>
            <p:ph type="sldNum" sz="quarter" idx="12"/>
          </p:nvPr>
        </p:nvSpPr>
        <p:spPr bwMode="auto">
          <a:xfrm>
            <a:off x="1339850" y="4929188"/>
            <a:ext cx="609600" cy="517525"/>
          </a:xfrm>
        </p:spPr>
        <p:txBody>
          <a:bodyPr/>
          <a:lstStyle>
            <a:lvl1pPr>
              <a:defRPr/>
            </a:lvl1pPr>
          </a:lstStyle>
          <a:p>
            <a:pPr>
              <a:defRPr/>
            </a:pPr>
            <a:fld id="{D9180423-34AD-4277-8171-85F7512EA127}" type="slidenum">
              <a:rPr lang="zh-CN" altLang="en-US"/>
              <a:pPr>
                <a:defRPr/>
              </a:pPr>
              <a:t>‹#›</a:t>
            </a:fld>
            <a:endParaRPr lang="en-US" altLang="zh-CN"/>
          </a:p>
        </p:txBody>
      </p:sp>
    </p:spTree>
    <p:extLst>
      <p:ext uri="{BB962C8B-B14F-4D97-AF65-F5344CB8AC3E}">
        <p14:creationId xmlns:p14="http://schemas.microsoft.com/office/powerpoint/2010/main" val="68952396"/>
      </p:ext>
    </p:extLst>
  </p:cSld>
  <p:clrMapOvr>
    <a:overrideClrMapping bg1="dk1" tx1="lt1" bg2="dk2" tx2="lt2" accent1="accent1" accent2="accent2" accent3="accent3" accent4="accent4" accent5="accent5" accent6="accent6" hlink="hlink" folHlink="folHlink"/>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13">
            <a:extLst>
              <a:ext uri="{FF2B5EF4-FFF2-40B4-BE49-F238E27FC236}">
                <a16:creationId xmlns:a16="http://schemas.microsoft.com/office/drawing/2014/main" id="{4D3864B6-D013-4752-BBF0-7B0214A4104C}"/>
              </a:ext>
            </a:extLst>
          </p:cNvPr>
          <p:cNvSpPr>
            <a:spLocks noGrp="1"/>
          </p:cNvSpPr>
          <p:nvPr>
            <p:ph type="dt" sz="half" idx="10"/>
          </p:nvPr>
        </p:nvSpPr>
        <p:spPr/>
        <p:txBody>
          <a:bodyPr/>
          <a:lstStyle>
            <a:lvl1pPr>
              <a:defRPr/>
            </a:lvl1pPr>
          </a:lstStyle>
          <a:p>
            <a:pPr>
              <a:defRPr/>
            </a:pPr>
            <a:endParaRPr lang="en-US" altLang="zh-CN"/>
          </a:p>
        </p:txBody>
      </p:sp>
      <p:sp>
        <p:nvSpPr>
          <p:cNvPr id="6" name="页脚占位符 2">
            <a:extLst>
              <a:ext uri="{FF2B5EF4-FFF2-40B4-BE49-F238E27FC236}">
                <a16:creationId xmlns:a16="http://schemas.microsoft.com/office/drawing/2014/main" id="{CABEF7F2-158D-499B-9B1D-8E63AD87FEB4}"/>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22">
            <a:extLst>
              <a:ext uri="{FF2B5EF4-FFF2-40B4-BE49-F238E27FC236}">
                <a16:creationId xmlns:a16="http://schemas.microsoft.com/office/drawing/2014/main" id="{D46863C3-F5B9-47FA-B434-A6D4DED66D22}"/>
              </a:ext>
            </a:extLst>
          </p:cNvPr>
          <p:cNvSpPr>
            <a:spLocks noGrp="1"/>
          </p:cNvSpPr>
          <p:nvPr>
            <p:ph type="sldNum" sz="quarter" idx="12"/>
          </p:nvPr>
        </p:nvSpPr>
        <p:spPr/>
        <p:txBody>
          <a:bodyPr/>
          <a:lstStyle>
            <a:lvl1pPr>
              <a:defRPr/>
            </a:lvl1pPr>
          </a:lstStyle>
          <a:p>
            <a:pPr>
              <a:defRPr/>
            </a:pPr>
            <a:fld id="{F53B485E-D86C-496D-8303-CE9201274760}" type="slidenum">
              <a:rPr lang="zh-CN" altLang="en-US"/>
              <a:pPr>
                <a:defRPr/>
              </a:pPr>
              <a:t>‹#›</a:t>
            </a:fld>
            <a:endParaRPr lang="en-US" altLang="zh-CN"/>
          </a:p>
        </p:txBody>
      </p:sp>
    </p:spTree>
    <p:extLst>
      <p:ext uri="{BB962C8B-B14F-4D97-AF65-F5344CB8AC3E}">
        <p14:creationId xmlns:p14="http://schemas.microsoft.com/office/powerpoint/2010/main" val="4167720314"/>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p>
        </p:txBody>
      </p:sp>
      <p:sp>
        <p:nvSpPr>
          <p:cNvPr id="7" name="日期占位符 13">
            <a:extLst>
              <a:ext uri="{FF2B5EF4-FFF2-40B4-BE49-F238E27FC236}">
                <a16:creationId xmlns:a16="http://schemas.microsoft.com/office/drawing/2014/main" id="{4CE10BE4-8687-4AA1-A9E6-3ED71D7FEAA1}"/>
              </a:ext>
            </a:extLst>
          </p:cNvPr>
          <p:cNvSpPr>
            <a:spLocks noGrp="1"/>
          </p:cNvSpPr>
          <p:nvPr>
            <p:ph type="dt" sz="half" idx="10"/>
          </p:nvPr>
        </p:nvSpPr>
        <p:spPr/>
        <p:txBody>
          <a:bodyPr/>
          <a:lstStyle>
            <a:lvl1pPr>
              <a:defRPr/>
            </a:lvl1pPr>
          </a:lstStyle>
          <a:p>
            <a:pPr>
              <a:defRPr/>
            </a:pPr>
            <a:endParaRPr lang="en-US" altLang="zh-CN"/>
          </a:p>
        </p:txBody>
      </p:sp>
      <p:sp>
        <p:nvSpPr>
          <p:cNvPr id="8" name="页脚占位符 2">
            <a:extLst>
              <a:ext uri="{FF2B5EF4-FFF2-40B4-BE49-F238E27FC236}">
                <a16:creationId xmlns:a16="http://schemas.microsoft.com/office/drawing/2014/main" id="{C4EA3675-2965-4F14-80CD-006D73AA0501}"/>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22">
            <a:extLst>
              <a:ext uri="{FF2B5EF4-FFF2-40B4-BE49-F238E27FC236}">
                <a16:creationId xmlns:a16="http://schemas.microsoft.com/office/drawing/2014/main" id="{1F8638CC-477B-4101-93C6-BE43E30FEB2A}"/>
              </a:ext>
            </a:extLst>
          </p:cNvPr>
          <p:cNvSpPr>
            <a:spLocks noGrp="1"/>
          </p:cNvSpPr>
          <p:nvPr>
            <p:ph type="sldNum" sz="quarter" idx="12"/>
          </p:nvPr>
        </p:nvSpPr>
        <p:spPr/>
        <p:txBody>
          <a:bodyPr/>
          <a:lstStyle>
            <a:lvl1pPr>
              <a:defRPr/>
            </a:lvl1pPr>
          </a:lstStyle>
          <a:p>
            <a:pPr>
              <a:defRPr/>
            </a:pPr>
            <a:fld id="{F28152B7-E501-4B13-BAE5-66AA291CB82E}" type="slidenum">
              <a:rPr lang="zh-CN" altLang="en-US"/>
              <a:pPr>
                <a:defRPr/>
              </a:pPr>
              <a:t>‹#›</a:t>
            </a:fld>
            <a:endParaRPr lang="en-US" altLang="zh-CN"/>
          </a:p>
        </p:txBody>
      </p:sp>
    </p:spTree>
    <p:extLst>
      <p:ext uri="{BB962C8B-B14F-4D97-AF65-F5344CB8AC3E}">
        <p14:creationId xmlns:p14="http://schemas.microsoft.com/office/powerpoint/2010/main" val="902766175"/>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5">
            <a:extLst>
              <a:ext uri="{FF2B5EF4-FFF2-40B4-BE49-F238E27FC236}">
                <a16:creationId xmlns:a16="http://schemas.microsoft.com/office/drawing/2014/main" id="{D88C3377-DA5C-4C88-8A99-0D094CF73C1E}"/>
              </a:ext>
            </a:extLst>
          </p:cNvPr>
          <p:cNvSpPr>
            <a:spLocks noGrp="1"/>
          </p:cNvSpPr>
          <p:nvPr>
            <p:ph type="dt" sz="half" idx="10"/>
          </p:nvPr>
        </p:nvSpPr>
        <p:spPr/>
        <p:txBody>
          <a:bodyPr rtlCol="0"/>
          <a:lstStyle>
            <a:lvl1pPr>
              <a:defRPr/>
            </a:lvl1pPr>
          </a:lstStyle>
          <a:p>
            <a:pPr>
              <a:defRPr/>
            </a:pPr>
            <a:endParaRPr lang="en-US" altLang="zh-CN"/>
          </a:p>
        </p:txBody>
      </p:sp>
      <p:sp>
        <p:nvSpPr>
          <p:cNvPr id="4" name="灯片编号占位符 6">
            <a:extLst>
              <a:ext uri="{FF2B5EF4-FFF2-40B4-BE49-F238E27FC236}">
                <a16:creationId xmlns:a16="http://schemas.microsoft.com/office/drawing/2014/main" id="{FE15FC83-D89C-4B60-8D6D-D1EE40AE9CE3}"/>
              </a:ext>
            </a:extLst>
          </p:cNvPr>
          <p:cNvSpPr>
            <a:spLocks noGrp="1"/>
          </p:cNvSpPr>
          <p:nvPr>
            <p:ph type="sldNum" sz="quarter" idx="11"/>
          </p:nvPr>
        </p:nvSpPr>
        <p:spPr/>
        <p:txBody>
          <a:bodyPr/>
          <a:lstStyle>
            <a:lvl1pPr>
              <a:defRPr/>
            </a:lvl1pPr>
          </a:lstStyle>
          <a:p>
            <a:pPr>
              <a:defRPr/>
            </a:pPr>
            <a:fld id="{B6CF39E2-54B2-4581-A340-5F261FAD7DCA}" type="slidenum">
              <a:rPr lang="zh-CN" altLang="en-US"/>
              <a:pPr>
                <a:defRPr/>
              </a:pPr>
              <a:t>‹#›</a:t>
            </a:fld>
            <a:endParaRPr lang="en-US" altLang="zh-CN"/>
          </a:p>
        </p:txBody>
      </p:sp>
      <p:sp>
        <p:nvSpPr>
          <p:cNvPr id="5" name="页脚占位符 7">
            <a:extLst>
              <a:ext uri="{FF2B5EF4-FFF2-40B4-BE49-F238E27FC236}">
                <a16:creationId xmlns:a16="http://schemas.microsoft.com/office/drawing/2014/main" id="{BA7F2FCE-8EB3-4ADB-8573-D3FA8232BDC4}"/>
              </a:ext>
            </a:extLst>
          </p:cNvPr>
          <p:cNvSpPr>
            <a:spLocks noGrp="1"/>
          </p:cNvSpPr>
          <p:nvPr>
            <p:ph type="ftr" sz="quarter" idx="12"/>
          </p:nvPr>
        </p:nvSpPr>
        <p:spPr/>
        <p:txBody>
          <a:bodyPr rtlCol="0"/>
          <a:lstStyle>
            <a:lvl1pPr>
              <a:defRPr/>
            </a:lvl1pPr>
          </a:lstStyle>
          <a:p>
            <a:pPr>
              <a:defRPr/>
            </a:pPr>
            <a:endParaRPr lang="en-US" altLang="zh-CN"/>
          </a:p>
        </p:txBody>
      </p:sp>
    </p:spTree>
    <p:extLst>
      <p:ext uri="{BB962C8B-B14F-4D97-AF65-F5344CB8AC3E}">
        <p14:creationId xmlns:p14="http://schemas.microsoft.com/office/powerpoint/2010/main" val="2020294898"/>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3">
            <a:extLst>
              <a:ext uri="{FF2B5EF4-FFF2-40B4-BE49-F238E27FC236}">
                <a16:creationId xmlns:a16="http://schemas.microsoft.com/office/drawing/2014/main" id="{67299215-8F80-4BE9-BBCF-8A996822134B}"/>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
            <a:extLst>
              <a:ext uri="{FF2B5EF4-FFF2-40B4-BE49-F238E27FC236}">
                <a16:creationId xmlns:a16="http://schemas.microsoft.com/office/drawing/2014/main" id="{3128A06F-18EF-4467-952B-5AA715C3F221}"/>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22">
            <a:extLst>
              <a:ext uri="{FF2B5EF4-FFF2-40B4-BE49-F238E27FC236}">
                <a16:creationId xmlns:a16="http://schemas.microsoft.com/office/drawing/2014/main" id="{1D88A017-A604-4EA8-BB61-642B887996B1}"/>
              </a:ext>
            </a:extLst>
          </p:cNvPr>
          <p:cNvSpPr>
            <a:spLocks noGrp="1"/>
          </p:cNvSpPr>
          <p:nvPr>
            <p:ph type="sldNum" sz="quarter" idx="12"/>
          </p:nvPr>
        </p:nvSpPr>
        <p:spPr/>
        <p:txBody>
          <a:bodyPr/>
          <a:lstStyle>
            <a:lvl1pPr>
              <a:defRPr/>
            </a:lvl1pPr>
          </a:lstStyle>
          <a:p>
            <a:pPr>
              <a:defRPr/>
            </a:pPr>
            <a:fld id="{DC1916C4-F25A-460A-BD3D-7E45631DFCD7}" type="slidenum">
              <a:rPr lang="zh-CN" altLang="en-US"/>
              <a:pPr>
                <a:defRPr/>
              </a:pPr>
              <a:t>‹#›</a:t>
            </a:fld>
            <a:endParaRPr lang="en-US" altLang="zh-CN"/>
          </a:p>
        </p:txBody>
      </p:sp>
    </p:spTree>
    <p:extLst>
      <p:ext uri="{BB962C8B-B14F-4D97-AF65-F5344CB8AC3E}">
        <p14:creationId xmlns:p14="http://schemas.microsoft.com/office/powerpoint/2010/main" val="1604608318"/>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5" name="直接连接符 4">
            <a:extLst>
              <a:ext uri="{FF2B5EF4-FFF2-40B4-BE49-F238E27FC236}">
                <a16:creationId xmlns:a16="http://schemas.microsoft.com/office/drawing/2014/main" id="{F1D117C2-7D1C-4D47-B14F-B867F846A5D1}"/>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dirty="0"/>
          </a:p>
        </p:txBody>
      </p:sp>
      <p:sp>
        <p:nvSpPr>
          <p:cNvPr id="6" name="直接连接符 5">
            <a:extLst>
              <a:ext uri="{FF2B5EF4-FFF2-40B4-BE49-F238E27FC236}">
                <a16:creationId xmlns:a16="http://schemas.microsoft.com/office/drawing/2014/main" id="{351DDF62-B70D-4F84-87B2-8055C00DF6A4}"/>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dirty="0"/>
          </a:p>
        </p:txBody>
      </p:sp>
      <p:sp>
        <p:nvSpPr>
          <p:cNvPr id="7" name="直接连接符 16"/>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直接连接符 17"/>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917D1B60-EC55-4A2C-B817-208B3ED064B9}"/>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10" name="直接连接符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椭圆 10">
            <a:extLst>
              <a:ext uri="{FF2B5EF4-FFF2-40B4-BE49-F238E27FC236}">
                <a16:creationId xmlns:a16="http://schemas.microsoft.com/office/drawing/2014/main" id="{DA75741B-A9C6-4774-82AC-920855366F57}"/>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2" name="日期占位符 20">
            <a:extLst>
              <a:ext uri="{FF2B5EF4-FFF2-40B4-BE49-F238E27FC236}">
                <a16:creationId xmlns:a16="http://schemas.microsoft.com/office/drawing/2014/main" id="{F33244BB-21EE-4154-8751-192EA42F4736}"/>
              </a:ext>
            </a:extLst>
          </p:cNvPr>
          <p:cNvSpPr>
            <a:spLocks noGrp="1"/>
          </p:cNvSpPr>
          <p:nvPr>
            <p:ph type="dt" sz="half" idx="10"/>
          </p:nvPr>
        </p:nvSpPr>
        <p:spPr/>
        <p:txBody>
          <a:bodyPr rtlCol="0"/>
          <a:lstStyle>
            <a:lvl1pPr>
              <a:defRPr/>
            </a:lvl1pPr>
          </a:lstStyle>
          <a:p>
            <a:pPr>
              <a:defRPr/>
            </a:pPr>
            <a:endParaRPr lang="en-US" altLang="zh-CN"/>
          </a:p>
        </p:txBody>
      </p:sp>
      <p:sp>
        <p:nvSpPr>
          <p:cNvPr id="13" name="灯片编号占位符 21">
            <a:extLst>
              <a:ext uri="{FF2B5EF4-FFF2-40B4-BE49-F238E27FC236}">
                <a16:creationId xmlns:a16="http://schemas.microsoft.com/office/drawing/2014/main" id="{84D1EE7A-E937-4AF2-8199-132F3A554665}"/>
              </a:ext>
            </a:extLst>
          </p:cNvPr>
          <p:cNvSpPr>
            <a:spLocks noGrp="1"/>
          </p:cNvSpPr>
          <p:nvPr>
            <p:ph type="sldNum" sz="quarter" idx="11"/>
          </p:nvPr>
        </p:nvSpPr>
        <p:spPr/>
        <p:txBody>
          <a:bodyPr/>
          <a:lstStyle>
            <a:lvl1pPr>
              <a:defRPr/>
            </a:lvl1pPr>
          </a:lstStyle>
          <a:p>
            <a:pPr>
              <a:defRPr/>
            </a:pPr>
            <a:fld id="{5000AACC-45F0-47D9-A193-291F3A14BBC4}" type="slidenum">
              <a:rPr lang="zh-CN" altLang="en-US"/>
              <a:pPr>
                <a:defRPr/>
              </a:pPr>
              <a:t>‹#›</a:t>
            </a:fld>
            <a:endParaRPr lang="en-US" altLang="zh-CN"/>
          </a:p>
        </p:txBody>
      </p:sp>
      <p:sp>
        <p:nvSpPr>
          <p:cNvPr id="14" name="页脚占位符 22">
            <a:extLst>
              <a:ext uri="{FF2B5EF4-FFF2-40B4-BE49-F238E27FC236}">
                <a16:creationId xmlns:a16="http://schemas.microsoft.com/office/drawing/2014/main" id="{5CCBA512-C392-4F2F-B726-64DD18243D5A}"/>
              </a:ext>
            </a:extLst>
          </p:cNvPr>
          <p:cNvSpPr>
            <a:spLocks noGrp="1"/>
          </p:cNvSpPr>
          <p:nvPr>
            <p:ph type="ftr" sz="quarter" idx="12"/>
          </p:nvPr>
        </p:nvSpPr>
        <p:spPr/>
        <p:txBody>
          <a:bodyPr rtlCol="0"/>
          <a:lstStyle>
            <a:lvl1pPr>
              <a:defRPr/>
            </a:lvl1pPr>
          </a:lstStyle>
          <a:p>
            <a:pPr>
              <a:defRPr/>
            </a:pPr>
            <a:endParaRPr lang="en-US" altLang="zh-CN"/>
          </a:p>
        </p:txBody>
      </p:sp>
    </p:spTree>
    <p:extLst>
      <p:ext uri="{BB962C8B-B14F-4D97-AF65-F5344CB8AC3E}">
        <p14:creationId xmlns:p14="http://schemas.microsoft.com/office/powerpoint/2010/main" val="921480203"/>
      </p:ext>
    </p:extLst>
  </p:cSld>
  <p:clrMapOvr>
    <a:overrideClrMapping bg1="lt1" tx1="dk1" bg2="lt2" tx2="dk2" accent1="accent1" accent2="accent2" accent3="accent3" accent4="accent4" accent5="accent5" accent6="accent6" hlink="hlink" folHlink="folHlink"/>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直接连接符 4">
            <a:extLst>
              <a:ext uri="{FF2B5EF4-FFF2-40B4-BE49-F238E27FC236}">
                <a16:creationId xmlns:a16="http://schemas.microsoft.com/office/drawing/2014/main" id="{DD7EF014-8983-4AF8-A6C8-066B103AFF3F}"/>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6" name="椭圆 5">
            <a:extLst>
              <a:ext uri="{FF2B5EF4-FFF2-40B4-BE49-F238E27FC236}">
                <a16:creationId xmlns:a16="http://schemas.microsoft.com/office/drawing/2014/main" id="{1D04FF3F-9364-4954-BD7F-CE938A75D3BF}"/>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7" name="直接连接符 16"/>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矩形 7">
            <a:extLst>
              <a:ext uri="{FF2B5EF4-FFF2-40B4-BE49-F238E27FC236}">
                <a16:creationId xmlns:a16="http://schemas.microsoft.com/office/drawing/2014/main" id="{0ACEFFED-F799-47A7-99BE-90A70C9A5B99}"/>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9" name="直接连接符 18"/>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直接连接符 9">
            <a:extLst>
              <a:ext uri="{FF2B5EF4-FFF2-40B4-BE49-F238E27FC236}">
                <a16:creationId xmlns:a16="http://schemas.microsoft.com/office/drawing/2014/main" id="{AD6FEDA7-1B7A-4678-A9BA-13C494FFA72B}"/>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dirty="0"/>
          </a:p>
        </p:txBody>
      </p:sp>
      <p:sp>
        <p:nvSpPr>
          <p:cNvPr id="11" name="直接连接符 20"/>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p>
        </p:txBody>
      </p:sp>
      <p:sp>
        <p:nvSpPr>
          <p:cNvPr id="12" name="日期占位符 16">
            <a:extLst>
              <a:ext uri="{FF2B5EF4-FFF2-40B4-BE49-F238E27FC236}">
                <a16:creationId xmlns:a16="http://schemas.microsoft.com/office/drawing/2014/main" id="{6C9E71A2-F90A-40D7-A68A-0DFDC06524F0}"/>
              </a:ext>
            </a:extLst>
          </p:cNvPr>
          <p:cNvSpPr>
            <a:spLocks noGrp="1"/>
          </p:cNvSpPr>
          <p:nvPr>
            <p:ph type="dt" sz="half" idx="10"/>
          </p:nvPr>
        </p:nvSpPr>
        <p:spPr/>
        <p:txBody>
          <a:bodyPr rtlCol="0"/>
          <a:lstStyle>
            <a:lvl1pPr>
              <a:defRPr/>
            </a:lvl1pPr>
          </a:lstStyle>
          <a:p>
            <a:pPr>
              <a:defRPr/>
            </a:pPr>
            <a:endParaRPr lang="en-US" altLang="zh-CN"/>
          </a:p>
        </p:txBody>
      </p:sp>
      <p:sp>
        <p:nvSpPr>
          <p:cNvPr id="13" name="灯片编号占位符 17">
            <a:extLst>
              <a:ext uri="{FF2B5EF4-FFF2-40B4-BE49-F238E27FC236}">
                <a16:creationId xmlns:a16="http://schemas.microsoft.com/office/drawing/2014/main" id="{A86FFF75-102B-43EF-BFDB-2AC519B89AF7}"/>
              </a:ext>
            </a:extLst>
          </p:cNvPr>
          <p:cNvSpPr>
            <a:spLocks noGrp="1"/>
          </p:cNvSpPr>
          <p:nvPr>
            <p:ph type="sldNum" sz="quarter" idx="11"/>
          </p:nvPr>
        </p:nvSpPr>
        <p:spPr/>
        <p:txBody>
          <a:bodyPr/>
          <a:lstStyle>
            <a:lvl1pPr>
              <a:defRPr/>
            </a:lvl1pPr>
          </a:lstStyle>
          <a:p>
            <a:pPr>
              <a:defRPr/>
            </a:pPr>
            <a:fld id="{93DDC3DF-5AC7-48AC-9DA1-32507BBA9028}" type="slidenum">
              <a:rPr lang="zh-CN" altLang="en-US"/>
              <a:pPr>
                <a:defRPr/>
              </a:pPr>
              <a:t>‹#›</a:t>
            </a:fld>
            <a:endParaRPr lang="en-US" altLang="zh-CN"/>
          </a:p>
        </p:txBody>
      </p:sp>
      <p:sp>
        <p:nvSpPr>
          <p:cNvPr id="14" name="页脚占位符 20">
            <a:extLst>
              <a:ext uri="{FF2B5EF4-FFF2-40B4-BE49-F238E27FC236}">
                <a16:creationId xmlns:a16="http://schemas.microsoft.com/office/drawing/2014/main" id="{12039D5C-02DD-43F7-87D0-8A517873BACF}"/>
              </a:ext>
            </a:extLst>
          </p:cNvPr>
          <p:cNvSpPr>
            <a:spLocks noGrp="1"/>
          </p:cNvSpPr>
          <p:nvPr>
            <p:ph type="ftr" sz="quarter" idx="12"/>
          </p:nvPr>
        </p:nvSpPr>
        <p:spPr/>
        <p:txBody>
          <a:bodyPr rtlCol="0"/>
          <a:lstStyle>
            <a:lvl1pPr>
              <a:defRPr/>
            </a:lvl1pPr>
          </a:lstStyle>
          <a:p>
            <a:pPr>
              <a:defRPr/>
            </a:pPr>
            <a:endParaRPr lang="en-US" altLang="zh-CN"/>
          </a:p>
        </p:txBody>
      </p:sp>
    </p:spTree>
    <p:extLst>
      <p:ext uri="{BB962C8B-B14F-4D97-AF65-F5344CB8AC3E}">
        <p14:creationId xmlns:p14="http://schemas.microsoft.com/office/powerpoint/2010/main" val="2312483550"/>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13">
            <a:extLst>
              <a:ext uri="{FF2B5EF4-FFF2-40B4-BE49-F238E27FC236}">
                <a16:creationId xmlns:a16="http://schemas.microsoft.com/office/drawing/2014/main" id="{9E329B15-63C5-4DCC-BF9A-28143A1D518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
            <a:extLst>
              <a:ext uri="{FF2B5EF4-FFF2-40B4-BE49-F238E27FC236}">
                <a16:creationId xmlns:a16="http://schemas.microsoft.com/office/drawing/2014/main" id="{C648F349-043B-484B-9A86-DBE2BD5A2EE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2">
            <a:extLst>
              <a:ext uri="{FF2B5EF4-FFF2-40B4-BE49-F238E27FC236}">
                <a16:creationId xmlns:a16="http://schemas.microsoft.com/office/drawing/2014/main" id="{D09BF2B9-0B37-40C2-9DCF-3068303576BA}"/>
              </a:ext>
            </a:extLst>
          </p:cNvPr>
          <p:cNvSpPr>
            <a:spLocks noGrp="1"/>
          </p:cNvSpPr>
          <p:nvPr>
            <p:ph type="sldNum" sz="quarter" idx="12"/>
          </p:nvPr>
        </p:nvSpPr>
        <p:spPr/>
        <p:txBody>
          <a:bodyPr/>
          <a:lstStyle>
            <a:lvl1pPr>
              <a:defRPr/>
            </a:lvl1pPr>
          </a:lstStyle>
          <a:p>
            <a:pPr>
              <a:defRPr/>
            </a:pPr>
            <a:fld id="{A3B35581-D330-49AD-A2EB-8D56E19B7DE2}" type="slidenum">
              <a:rPr lang="zh-CN" altLang="en-US"/>
              <a:pPr>
                <a:defRPr/>
              </a:pPr>
              <a:t>‹#›</a:t>
            </a:fld>
            <a:endParaRPr lang="en-US" altLang="zh-CN"/>
          </a:p>
        </p:txBody>
      </p:sp>
    </p:spTree>
    <p:extLst>
      <p:ext uri="{BB962C8B-B14F-4D97-AF65-F5344CB8AC3E}">
        <p14:creationId xmlns:p14="http://schemas.microsoft.com/office/powerpoint/2010/main" val="3283758243"/>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13">
            <a:extLst>
              <a:ext uri="{FF2B5EF4-FFF2-40B4-BE49-F238E27FC236}">
                <a16:creationId xmlns:a16="http://schemas.microsoft.com/office/drawing/2014/main" id="{AB925FB7-E3F8-46EE-8823-F94B40FB77B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2">
            <a:extLst>
              <a:ext uri="{FF2B5EF4-FFF2-40B4-BE49-F238E27FC236}">
                <a16:creationId xmlns:a16="http://schemas.microsoft.com/office/drawing/2014/main" id="{2D93B696-2912-4AA3-9D53-AA0FECCC1C2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22">
            <a:extLst>
              <a:ext uri="{FF2B5EF4-FFF2-40B4-BE49-F238E27FC236}">
                <a16:creationId xmlns:a16="http://schemas.microsoft.com/office/drawing/2014/main" id="{7A603919-E3A4-48DE-B03B-8E69AEE1EF28}"/>
              </a:ext>
            </a:extLst>
          </p:cNvPr>
          <p:cNvSpPr>
            <a:spLocks noGrp="1"/>
          </p:cNvSpPr>
          <p:nvPr>
            <p:ph type="sldNum" sz="quarter" idx="12"/>
          </p:nvPr>
        </p:nvSpPr>
        <p:spPr/>
        <p:txBody>
          <a:bodyPr/>
          <a:lstStyle>
            <a:lvl1pPr>
              <a:defRPr/>
            </a:lvl1pPr>
          </a:lstStyle>
          <a:p>
            <a:pPr>
              <a:defRPr/>
            </a:pPr>
            <a:fld id="{B573DFBD-4E81-49B7-9E3B-F594B7BFC849}" type="slidenum">
              <a:rPr lang="zh-CN" altLang="en-US"/>
              <a:pPr>
                <a:defRPr/>
              </a:pPr>
              <a:t>‹#›</a:t>
            </a:fld>
            <a:endParaRPr lang="en-US" altLang="zh-CN"/>
          </a:p>
        </p:txBody>
      </p:sp>
    </p:spTree>
    <p:extLst>
      <p:ext uri="{BB962C8B-B14F-4D97-AF65-F5344CB8AC3E}">
        <p14:creationId xmlns:p14="http://schemas.microsoft.com/office/powerpoint/2010/main" val="493280353"/>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093788" y="284163"/>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05000"/>
            <a:ext cx="3810000" cy="41910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联机映像占位符 3"/>
          <p:cNvSpPr>
            <a:spLocks noGrp="1"/>
          </p:cNvSpPr>
          <p:nvPr>
            <p:ph type="clipArt" sz="half" idx="2"/>
          </p:nvPr>
        </p:nvSpPr>
        <p:spPr>
          <a:xfrm>
            <a:off x="4648200" y="1905000"/>
            <a:ext cx="3810000" cy="4191000"/>
          </a:xfrm>
        </p:spPr>
        <p:txBody>
          <a:bodyPr rtlCol="0">
            <a:normAutofit/>
          </a:bodyPr>
          <a:lstStyle/>
          <a:p>
            <a:pPr lvl="0"/>
            <a:endParaRPr lang="zh-CN" altLang="en-US" noProof="0"/>
          </a:p>
        </p:txBody>
      </p:sp>
      <p:sp>
        <p:nvSpPr>
          <p:cNvPr id="5" name="灯片编号占位符 4">
            <a:extLst>
              <a:ext uri="{FF2B5EF4-FFF2-40B4-BE49-F238E27FC236}">
                <a16:creationId xmlns:a16="http://schemas.microsoft.com/office/drawing/2014/main" id="{20FEA285-10A3-4E13-AE25-572C5A652B51}"/>
              </a:ext>
            </a:extLst>
          </p:cNvPr>
          <p:cNvSpPr>
            <a:spLocks noGrp="1"/>
          </p:cNvSpPr>
          <p:nvPr>
            <p:ph type="sldNum" sz="quarter" idx="10"/>
          </p:nvPr>
        </p:nvSpPr>
        <p:spPr>
          <a:xfrm>
            <a:off x="6553200" y="6248400"/>
            <a:ext cx="1905000" cy="457200"/>
          </a:xfrm>
        </p:spPr>
        <p:txBody>
          <a:bodyPr/>
          <a:lstStyle>
            <a:lvl1pPr>
              <a:defRPr/>
            </a:lvl1pPr>
          </a:lstStyle>
          <a:p>
            <a:pPr>
              <a:defRPr/>
            </a:pPr>
            <a:fld id="{4DCDB012-294B-4C23-844D-2CFC048B81A4}" type="slidenum">
              <a:rPr lang="zh-CN" altLang="en-US"/>
              <a:pPr>
                <a:defRPr/>
              </a:pPr>
              <a:t>‹#›</a:t>
            </a:fld>
            <a:endParaRPr lang="en-US" altLang="zh-CN"/>
          </a:p>
        </p:txBody>
      </p:sp>
      <p:sp>
        <p:nvSpPr>
          <p:cNvPr id="6" name="日期占位符 5">
            <a:extLst>
              <a:ext uri="{FF2B5EF4-FFF2-40B4-BE49-F238E27FC236}">
                <a16:creationId xmlns:a16="http://schemas.microsoft.com/office/drawing/2014/main" id="{F3D40CE9-1455-4C93-8941-BA7B5FDFDDB2}"/>
              </a:ext>
            </a:extLst>
          </p:cNvPr>
          <p:cNvSpPr>
            <a:spLocks noGrp="1"/>
          </p:cNvSpPr>
          <p:nvPr>
            <p:ph type="dt" sz="half" idx="11"/>
          </p:nvPr>
        </p:nvSpPr>
        <p:spPr>
          <a:xfrm>
            <a:off x="685800" y="6248400"/>
            <a:ext cx="1905000" cy="457200"/>
          </a:xfrm>
        </p:spPr>
        <p:txBody>
          <a:bodyPr/>
          <a:lstStyle>
            <a:lvl1pPr>
              <a:defRPr/>
            </a:lvl1pPr>
          </a:lstStyle>
          <a:p>
            <a:pPr>
              <a:defRPr/>
            </a:pPr>
            <a:endParaRPr lang="en-US" altLang="zh-CN"/>
          </a:p>
        </p:txBody>
      </p:sp>
      <p:sp>
        <p:nvSpPr>
          <p:cNvPr id="7" name="页脚占位符 6">
            <a:extLst>
              <a:ext uri="{FF2B5EF4-FFF2-40B4-BE49-F238E27FC236}">
                <a16:creationId xmlns:a16="http://schemas.microsoft.com/office/drawing/2014/main" id="{CB7AD657-4820-4123-8644-6BB95FE98690}"/>
              </a:ext>
            </a:extLst>
          </p:cNvPr>
          <p:cNvSpPr>
            <a:spLocks noGrp="1"/>
          </p:cNvSpPr>
          <p:nvPr>
            <p:ph type="ftr" sz="quarter" idx="12"/>
          </p:nvPr>
        </p:nvSpPr>
        <p:spPr>
          <a:xfrm>
            <a:off x="3124200" y="6248400"/>
            <a:ext cx="2895600" cy="457200"/>
          </a:xfrm>
        </p:spPr>
        <p:txBody>
          <a:bodyPr/>
          <a:lstStyle>
            <a:lvl1pPr>
              <a:defRPr/>
            </a:lvl1pPr>
          </a:lstStyle>
          <a:p>
            <a:pPr>
              <a:defRPr/>
            </a:pPr>
            <a:endParaRPr lang="en-US" altLang="zh-CN"/>
          </a:p>
        </p:txBody>
      </p:sp>
    </p:spTree>
    <p:extLst>
      <p:ext uri="{BB962C8B-B14F-4D97-AF65-F5344CB8AC3E}">
        <p14:creationId xmlns:p14="http://schemas.microsoft.com/office/powerpoint/2010/main" val="190290047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6" name="直接连接符 15">
            <a:extLst>
              <a:ext uri="{FF2B5EF4-FFF2-40B4-BE49-F238E27FC236}">
                <a16:creationId xmlns:a16="http://schemas.microsoft.com/office/drawing/2014/main" id="{56CE0714-5D38-45BE-B013-BBDD5A7177BB}"/>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dirty="0"/>
          </a:p>
        </p:txBody>
      </p:sp>
      <p:sp>
        <p:nvSpPr>
          <p:cNvPr id="22" name="标题占位符 21">
            <a:extLst>
              <a:ext uri="{FF2B5EF4-FFF2-40B4-BE49-F238E27FC236}">
                <a16:creationId xmlns:a16="http://schemas.microsoft.com/office/drawing/2014/main" id="{156AF534-497D-46E1-9BF8-7089FC65C914}"/>
              </a:ext>
            </a:extLst>
          </p:cNvPr>
          <p:cNvSpPr>
            <a:spLocks noGrp="1"/>
          </p:cNvSpPr>
          <p:nvPr>
            <p:ph type="title"/>
          </p:nvPr>
        </p:nvSpPr>
        <p:spPr>
          <a:xfrm>
            <a:off x="457200" y="274638"/>
            <a:ext cx="7467600" cy="1143000"/>
          </a:xfrm>
          <a:prstGeom prst="rect">
            <a:avLst/>
          </a:prstGeom>
        </p:spPr>
        <p:txBody>
          <a:bodyPr vert="horz" anchor="b">
            <a:normAutofit/>
          </a:bodyPr>
          <a:lstStyle/>
          <a:p>
            <a:r>
              <a:rPr lang="zh-CN" altLang="en-US"/>
              <a:t>单击此处编辑母版标题样式</a:t>
            </a:r>
            <a:endParaRPr lang="en-US"/>
          </a:p>
        </p:txBody>
      </p:sp>
      <p:sp>
        <p:nvSpPr>
          <p:cNvPr id="1028" name="文本占位符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 name="日期占位符 13">
            <a:extLst>
              <a:ext uri="{FF2B5EF4-FFF2-40B4-BE49-F238E27FC236}">
                <a16:creationId xmlns:a16="http://schemas.microsoft.com/office/drawing/2014/main" id="{284B9713-F3EE-4187-867D-C79958269FF0}"/>
              </a:ext>
            </a:extLst>
          </p:cNvPr>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lnSpc>
                <a:spcPct val="120000"/>
              </a:lnSpc>
              <a:spcBef>
                <a:spcPct val="50000"/>
              </a:spcBef>
              <a:defRPr kumimoji="0" sz="1200">
                <a:solidFill>
                  <a:schemeClr val="tx2"/>
                </a:solidFill>
                <a:ea typeface="宋体" pitchFamily="2" charset="-122"/>
              </a:defRPr>
            </a:lvl1pPr>
          </a:lstStyle>
          <a:p>
            <a:pPr>
              <a:defRPr/>
            </a:pPr>
            <a:endParaRPr lang="en-US" altLang="zh-CN"/>
          </a:p>
        </p:txBody>
      </p:sp>
      <p:sp>
        <p:nvSpPr>
          <p:cNvPr id="3" name="页脚占位符 2">
            <a:extLst>
              <a:ext uri="{FF2B5EF4-FFF2-40B4-BE49-F238E27FC236}">
                <a16:creationId xmlns:a16="http://schemas.microsoft.com/office/drawing/2014/main" id="{23665AD3-0699-4563-B891-EBAC77E7160D}"/>
              </a:ext>
            </a:extLst>
          </p:cNvPr>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lnSpc>
                <a:spcPct val="120000"/>
              </a:lnSpc>
              <a:spcBef>
                <a:spcPct val="50000"/>
              </a:spcBef>
              <a:defRPr kumimoji="0" sz="1200">
                <a:solidFill>
                  <a:schemeClr val="tx2"/>
                </a:solidFill>
                <a:ea typeface="宋体" pitchFamily="2" charset="-122"/>
              </a:defRPr>
            </a:lvl1pPr>
          </a:lstStyle>
          <a:p>
            <a:pPr>
              <a:defRPr/>
            </a:pPr>
            <a:endParaRPr lang="en-US" altLang="zh-CN"/>
          </a:p>
        </p:txBody>
      </p:sp>
      <p:sp>
        <p:nvSpPr>
          <p:cNvPr id="7" name="直接连接符 6">
            <a:extLst>
              <a:ext uri="{FF2B5EF4-FFF2-40B4-BE49-F238E27FC236}">
                <a16:creationId xmlns:a16="http://schemas.microsoft.com/office/drawing/2014/main" id="{2FE4CC66-2425-40C5-BCFA-613706815749}"/>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just" eaLnBrk="1" hangingPunct="1">
              <a:lnSpc>
                <a:spcPct val="120000"/>
              </a:lnSpc>
              <a:spcBef>
                <a:spcPct val="50000"/>
              </a:spcBef>
              <a:defRPr/>
            </a:pPr>
            <a:endParaRPr kumimoji="0" lang="en-US"/>
          </a:p>
        </p:txBody>
      </p:sp>
      <p:sp>
        <p:nvSpPr>
          <p:cNvPr id="1032" name="直接连接符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矩形 9">
            <a:extLst>
              <a:ext uri="{FF2B5EF4-FFF2-40B4-BE49-F238E27FC236}">
                <a16:creationId xmlns:a16="http://schemas.microsoft.com/office/drawing/2014/main" id="{B0D6CBD0-37B8-4BF0-814D-47F88E611A6F}"/>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a:p>
        </p:txBody>
      </p:sp>
      <p:sp>
        <p:nvSpPr>
          <p:cNvPr id="1034" name="直接连接符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椭圆 11">
            <a:extLst>
              <a:ext uri="{FF2B5EF4-FFF2-40B4-BE49-F238E27FC236}">
                <a16:creationId xmlns:a16="http://schemas.microsoft.com/office/drawing/2014/main" id="{3CC3D35F-7C69-4D30-A38A-A2519D97FDE6}"/>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lnSpc>
                <a:spcPct val="120000"/>
              </a:lnSpc>
              <a:spcBef>
                <a:spcPct val="50000"/>
              </a:spcBef>
              <a:defRPr/>
            </a:pPr>
            <a:endParaRPr kumimoji="0" lang="en-US" dirty="0"/>
          </a:p>
        </p:txBody>
      </p:sp>
      <p:sp>
        <p:nvSpPr>
          <p:cNvPr id="23" name="灯片编号占位符 22">
            <a:extLst>
              <a:ext uri="{FF2B5EF4-FFF2-40B4-BE49-F238E27FC236}">
                <a16:creationId xmlns:a16="http://schemas.microsoft.com/office/drawing/2014/main" id="{F451275F-5711-4AB7-BAFA-824F326E8A98}"/>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120000"/>
              </a:lnSpc>
              <a:spcBef>
                <a:spcPct val="50000"/>
              </a:spcBef>
              <a:defRPr kumimoji="0" sz="1400" b="1">
                <a:solidFill>
                  <a:srgbClr val="FFFFFF"/>
                </a:solidFill>
              </a:defRPr>
            </a:lvl1pPr>
          </a:lstStyle>
          <a:p>
            <a:pPr>
              <a:defRPr/>
            </a:pPr>
            <a:fld id="{67ACFEC7-AFF0-4DC5-8279-DE12551D5362}"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367" r:id="rId1"/>
    <p:sldLayoutId id="2147484368" r:id="rId2"/>
    <p:sldLayoutId id="2147484369" r:id="rId3"/>
    <p:sldLayoutId id="2147484370" r:id="rId4"/>
    <p:sldLayoutId id="2147484371" r:id="rId5"/>
    <p:sldLayoutId id="2147484372" r:id="rId6"/>
    <p:sldLayoutId id="2147484373" r:id="rId7"/>
    <p:sldLayoutId id="2147484374" r:id="rId8"/>
    <p:sldLayoutId id="2147484375" r:id="rId9"/>
    <p:sldLayoutId id="2147484376" r:id="rId10"/>
    <p:sldLayoutId id="2147484377" r:id="rId11"/>
    <p:sldLayoutId id="2147484378" r:id="rId12"/>
  </p:sldLayoutIdLst>
  <p:transition spd="med">
    <p:zoom/>
  </p:transition>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7.wmf"/><Relationship Id="rId3" Type="http://schemas.openxmlformats.org/officeDocument/2006/relationships/notesSlide" Target="../notesSlides/notesSlide1.xml"/><Relationship Id="rId7" Type="http://schemas.openxmlformats.org/officeDocument/2006/relationships/image" Target="../media/image4.wmf"/><Relationship Id="rId12"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6.wmf"/><Relationship Id="rId5" Type="http://schemas.openxmlformats.org/officeDocument/2006/relationships/image" Target="../media/image3.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5.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wmf"/><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22.png"/><Relationship Id="rId5" Type="http://schemas.openxmlformats.org/officeDocument/2006/relationships/oleObject" Target="../embeddings/oleObject8.bin"/><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23.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51.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53.wmf"/><Relationship Id="rId5" Type="http://schemas.openxmlformats.org/officeDocument/2006/relationships/oleObject" Target="../embeddings/oleObject12.bin"/><Relationship Id="rId4" Type="http://schemas.openxmlformats.org/officeDocument/2006/relationships/image" Target="../media/image52.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7" name="Rectangle 17"/>
          <p:cNvSpPr>
            <a:spLocks noChangeArrowheads="1"/>
          </p:cNvSpPr>
          <p:nvPr/>
        </p:nvSpPr>
        <p:spPr bwMode="auto">
          <a:xfrm>
            <a:off x="513556" y="2526810"/>
            <a:ext cx="8020050"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b="1" dirty="0">
                <a:ea typeface="楷体_GB2312" pitchFamily="49" charset="-122"/>
              </a:rPr>
              <a:t>§</a:t>
            </a:r>
            <a:r>
              <a:rPr lang="zh-CN" altLang="zh-CN" sz="4400" b="1" dirty="0">
                <a:ea typeface="楷体_GB2312" pitchFamily="49" charset="-122"/>
              </a:rPr>
              <a:t> </a:t>
            </a:r>
            <a:r>
              <a:rPr lang="en-US" altLang="zh-CN" sz="4400" b="1" dirty="0">
                <a:ea typeface="楷体_GB2312" pitchFamily="49" charset="-122"/>
              </a:rPr>
              <a:t>5</a:t>
            </a:r>
            <a:r>
              <a:rPr lang="zh-CN" altLang="zh-CN" sz="4400" dirty="0">
                <a:ea typeface="楷体_GB2312" pitchFamily="49" charset="-122"/>
              </a:rPr>
              <a:t>   </a:t>
            </a:r>
            <a:r>
              <a:rPr lang="zh-CN" altLang="en-US" sz="4400" dirty="0">
                <a:ea typeface="楷体_GB2312" pitchFamily="49" charset="-122"/>
              </a:rPr>
              <a:t>聚合方法</a:t>
            </a:r>
          </a:p>
          <a:p>
            <a:pPr algn="ctr" eaLnBrk="1" hangingPunct="1">
              <a:spcBef>
                <a:spcPct val="20000"/>
              </a:spcBef>
              <a:spcAft>
                <a:spcPct val="50000"/>
              </a:spcAft>
            </a:pPr>
            <a:r>
              <a:rPr lang="en-US" altLang="zh-CN" sz="4400" dirty="0">
                <a:ea typeface="楷体_GB2312" pitchFamily="49" charset="-122"/>
              </a:rPr>
              <a:t>Polymerization process</a:t>
            </a:r>
            <a:endParaRPr lang="zh-CN" altLang="en-US" sz="4400" dirty="0">
              <a:ea typeface="楷体_GB2312" pitchFamily="49" charset="-122"/>
            </a:endParaRPr>
          </a:p>
        </p:txBody>
      </p:sp>
      <p:sp>
        <p:nvSpPr>
          <p:cNvPr id="3" name="Text Box 21">
            <a:extLst>
              <a:ext uri="{FF2B5EF4-FFF2-40B4-BE49-F238E27FC236}">
                <a16:creationId xmlns:a16="http://schemas.microsoft.com/office/drawing/2014/main" id="{D0CE232E-30DE-40E0-9434-25C0CBB9E81F}"/>
              </a:ext>
            </a:extLst>
          </p:cNvPr>
          <p:cNvSpPr txBox="1">
            <a:spLocks noChangeArrowheads="1"/>
          </p:cNvSpPr>
          <p:nvPr/>
        </p:nvSpPr>
        <p:spPr bwMode="auto">
          <a:xfrm>
            <a:off x="1908175" y="393700"/>
            <a:ext cx="54102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800000"/>
              </a:buClr>
              <a:buSzPct val="90000"/>
              <a:buFont typeface="Wingdings" panose="05000000000000000000" pitchFamily="2" charset="2"/>
              <a:buChar char="v"/>
              <a:defRPr kumimoji="1" sz="2800">
                <a:solidFill>
                  <a:schemeClr val="tx1"/>
                </a:solidFill>
                <a:latin typeface="Times New Roman" panose="02020603050405020304" pitchFamily="18" charset="0"/>
                <a:ea typeface="楷体_GB2312" pitchFamily="49" charset="-122"/>
              </a:defRPr>
            </a:lvl1pPr>
            <a:lvl2pPr marL="742950" indent="-28575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楷体_GB2312" pitchFamily="49" charset="-122"/>
              </a:defRPr>
            </a:lvl2pPr>
            <a:lvl3pPr marL="1143000" indent="-22860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ct val="50000"/>
              </a:spcBef>
              <a:spcAft>
                <a:spcPts val="0"/>
              </a:spcAft>
              <a:buClrTx/>
              <a:buSzTx/>
              <a:buFontTx/>
              <a:buNone/>
              <a:defRPr/>
            </a:pPr>
            <a:r>
              <a:rPr kumimoji="0" lang="zh-CN" altLang="en-US" sz="40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高分子化学</a:t>
            </a:r>
          </a:p>
        </p:txBody>
      </p:sp>
      <p:cxnSp>
        <p:nvCxnSpPr>
          <p:cNvPr id="4" name="直接连接符 3">
            <a:extLst>
              <a:ext uri="{FF2B5EF4-FFF2-40B4-BE49-F238E27FC236}">
                <a16:creationId xmlns:a16="http://schemas.microsoft.com/office/drawing/2014/main" id="{7698D039-D180-4434-9AAE-6F9A44CBB3E0}"/>
              </a:ext>
            </a:extLst>
          </p:cNvPr>
          <p:cNvCxnSpPr/>
          <p:nvPr/>
        </p:nvCxnSpPr>
        <p:spPr>
          <a:xfrm>
            <a:off x="131763" y="1268413"/>
            <a:ext cx="8783637" cy="0"/>
          </a:xfrm>
          <a:prstGeom prst="line">
            <a:avLst/>
          </a:prstGeom>
          <a:ln w="28575">
            <a:solidFill>
              <a:srgbClr val="90109E"/>
            </a:solidFill>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51B5E97C-FC28-4961-969D-B1C2287CF56D}"/>
              </a:ext>
            </a:extLst>
          </p:cNvPr>
          <p:cNvSpPr>
            <a:spLocks noGrp="1"/>
          </p:cNvSpPr>
          <p:nvPr>
            <p:ph type="sldNum" sz="quarter" idx="12"/>
          </p:nvPr>
        </p:nvSpPr>
        <p:spPr/>
        <p:txBody>
          <a:bodyPr/>
          <a:lstStyle/>
          <a:p>
            <a:pPr>
              <a:defRPr/>
            </a:pPr>
            <a:fld id="{F53B485E-D86C-496D-8303-CE9201274760}" type="slidenum">
              <a:rPr lang="zh-CN" altLang="en-US" smtClean="0"/>
              <a:pPr>
                <a:defRPr/>
              </a:pPr>
              <a:t>2</a:t>
            </a:fld>
            <a:endParaRPr lang="en-US" altLang="zh-CN"/>
          </a:p>
        </p:txBody>
      </p:sp>
      <p:sp>
        <p:nvSpPr>
          <p:cNvPr id="6" name="矩形 5">
            <a:extLst>
              <a:ext uri="{FF2B5EF4-FFF2-40B4-BE49-F238E27FC236}">
                <a16:creationId xmlns:a16="http://schemas.microsoft.com/office/drawing/2014/main" id="{767D0EC3-D271-4B3C-8BC2-9338C843335B}"/>
              </a:ext>
            </a:extLst>
          </p:cNvPr>
          <p:cNvSpPr/>
          <p:nvPr/>
        </p:nvSpPr>
        <p:spPr>
          <a:xfrm>
            <a:off x="23529" y="188640"/>
            <a:ext cx="9145016" cy="6635791"/>
          </a:xfrm>
          <a:prstGeom prst="rect">
            <a:avLst/>
          </a:prstGeom>
        </p:spPr>
        <p:txBody>
          <a:bodyPr wrap="square">
            <a:spAutoFit/>
          </a:bodyPr>
          <a:lstStyle/>
          <a:p>
            <a:pPr indent="266700" algn="just">
              <a:lnSpc>
                <a:spcPct val="125000"/>
              </a:lnSpc>
              <a:spcAft>
                <a:spcPts val="0"/>
              </a:spcAft>
            </a:pPr>
            <a:r>
              <a:rPr lang="zh-CN" altLang="en-US" sz="1800" kern="100" dirty="0">
                <a:latin typeface="Arial" panose="020B0604020202020204" pitchFamily="34" charset="0"/>
                <a:cs typeface="宋体" panose="02010600030101010101" pitchFamily="2" charset="-122"/>
              </a:rPr>
              <a:t>分组认领任务（每组</a:t>
            </a:r>
            <a:r>
              <a:rPr lang="en-US" altLang="zh-CN" sz="1800" kern="100" dirty="0">
                <a:latin typeface="Arial" panose="020B0604020202020204" pitchFamily="34" charset="0"/>
                <a:cs typeface="宋体" panose="02010600030101010101" pitchFamily="2" charset="-122"/>
              </a:rPr>
              <a:t>5-6</a:t>
            </a:r>
            <a:r>
              <a:rPr lang="zh-CN" altLang="en-US" sz="1800" kern="100" dirty="0">
                <a:latin typeface="Arial" panose="020B0604020202020204" pitchFamily="34" charset="0"/>
                <a:cs typeface="宋体" panose="02010600030101010101" pitchFamily="2" charset="-122"/>
              </a:rPr>
              <a:t>人），</a:t>
            </a:r>
            <a:r>
              <a:rPr lang="zh-CN" altLang="zh-CN" sz="1800" kern="100" dirty="0">
                <a:latin typeface="Arial" panose="020B0604020202020204" pitchFamily="34" charset="0"/>
                <a:cs typeface="宋体" panose="02010600030101010101" pitchFamily="2" charset="-122"/>
              </a:rPr>
              <a:t>组长统筹小组成员各自认领</a:t>
            </a:r>
            <a:r>
              <a:rPr lang="en-US" altLang="zh-CN" sz="1800" kern="100" dirty="0">
                <a:latin typeface="Arial" panose="020B0604020202020204" pitchFamily="34" charset="0"/>
                <a:cs typeface="宋体" panose="02010600030101010101" pitchFamily="2" charset="-122"/>
              </a:rPr>
              <a:t>1-2</a:t>
            </a:r>
            <a:r>
              <a:rPr lang="zh-CN" altLang="zh-CN" sz="1800" kern="100" dirty="0">
                <a:latin typeface="Arial" panose="020B0604020202020204" pitchFamily="34" charset="0"/>
                <a:cs typeface="宋体" panose="02010600030101010101" pitchFamily="2" charset="-122"/>
              </a:rPr>
              <a:t>个知识点，进行文献收集，并做好</a:t>
            </a:r>
            <a:r>
              <a:rPr lang="en-US" altLang="zh-CN" sz="1800" kern="100" dirty="0">
                <a:latin typeface="Arial" panose="020B0604020202020204" pitchFamily="34" charset="0"/>
                <a:cs typeface="宋体" panose="02010600030101010101" pitchFamily="2" charset="-122"/>
              </a:rPr>
              <a:t>PPT</a:t>
            </a:r>
            <a:r>
              <a:rPr lang="zh-CN" altLang="zh-CN" sz="1800" kern="100" dirty="0">
                <a:latin typeface="Arial" panose="020B0604020202020204" pitchFamily="34" charset="0"/>
                <a:cs typeface="宋体" panose="02010600030101010101" pitchFamily="2" charset="-122"/>
              </a:rPr>
              <a:t>，由组长进行统稿，优化。</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en-US" altLang="zh-CN" sz="1800" kern="100" dirty="0">
                <a:latin typeface="宋体" panose="02010600030101010101" pitchFamily="2" charset="-122"/>
                <a:ea typeface="微软雅黑" panose="020B0503020204020204" pitchFamily="34" charset="-122"/>
                <a:cs typeface="宋体" panose="02010600030101010101" pitchFamily="2" charset="-122"/>
              </a:rPr>
              <a:t>11.20</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algn="just">
              <a:lnSpc>
                <a:spcPct val="125000"/>
              </a:lnSpc>
              <a:spcAft>
                <a:spcPts val="0"/>
              </a:spcAft>
            </a:pPr>
            <a:r>
              <a:rPr lang="zh-CN" altLang="zh-CN" sz="1800" kern="100" dirty="0">
                <a:latin typeface="Arial" panose="020B0604020202020204" pitchFamily="34" charset="0"/>
                <a:cs typeface="宋体" panose="02010600030101010101" pitchFamily="2" charset="-122"/>
              </a:rPr>
              <a:t>布置作业，每页</a:t>
            </a:r>
            <a:r>
              <a:rPr lang="en-US" altLang="zh-CN" sz="1800" kern="100" dirty="0">
                <a:latin typeface="Arial" panose="020B0604020202020204" pitchFamily="34" charset="0"/>
                <a:cs typeface="宋体" panose="02010600030101010101" pitchFamily="2" charset="-122"/>
              </a:rPr>
              <a:t>PPT</a:t>
            </a:r>
            <a:r>
              <a:rPr lang="zh-CN" altLang="zh-CN" sz="1800" kern="100" dirty="0">
                <a:latin typeface="Arial" panose="020B0604020202020204" pitchFamily="34" charset="0"/>
                <a:cs typeface="宋体" panose="02010600030101010101" pitchFamily="2" charset="-122"/>
              </a:rPr>
              <a:t>要有对应的文字讲稿，要有相应的资料的引用，如知网、硕博论文、知乎、百度、文献、视频等。收集完整分，准备提交作业。</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en-US" altLang="zh-CN" sz="1800" kern="100" dirty="0">
                <a:latin typeface="宋体" panose="02010600030101010101" pitchFamily="2" charset="-122"/>
                <a:ea typeface="微软雅黑" panose="020B0503020204020204" pitchFamily="34" charset="-122"/>
                <a:cs typeface="宋体" panose="02010600030101010101" pitchFamily="2" charset="-122"/>
              </a:rPr>
              <a:t>11.27</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algn="just">
              <a:lnSpc>
                <a:spcPct val="125000"/>
              </a:lnSpc>
              <a:spcAft>
                <a:spcPts val="0"/>
              </a:spcAft>
            </a:pPr>
            <a:r>
              <a:rPr lang="zh-CN" altLang="zh-CN" sz="1800" kern="100" dirty="0">
                <a:latin typeface="Arial" panose="020B0604020202020204" pitchFamily="34" charset="0"/>
                <a:cs typeface="宋体" panose="02010600030101010101" pitchFamily="2" charset="-122"/>
              </a:rPr>
              <a:t>提交第一次收集的资料和整理的</a:t>
            </a:r>
            <a:r>
              <a:rPr lang="en-US" altLang="zh-CN" sz="1800" kern="100" dirty="0">
                <a:latin typeface="Arial" panose="020B0604020202020204" pitchFamily="34" charset="0"/>
                <a:cs typeface="宋体" panose="02010600030101010101" pitchFamily="2" charset="-122"/>
              </a:rPr>
              <a:t>PPT</a:t>
            </a:r>
            <a:r>
              <a:rPr lang="zh-CN" altLang="zh-CN" sz="1800" kern="100" dirty="0">
                <a:latin typeface="Arial" panose="020B0604020202020204" pitchFamily="34" charset="0"/>
                <a:cs typeface="宋体" panose="02010600030101010101" pitchFamily="2" charset="-122"/>
              </a:rPr>
              <a:t>，我来逐个指导修改，同学们再次更新</a:t>
            </a:r>
            <a:r>
              <a:rPr lang="en-US" altLang="zh-CN" sz="1800" kern="100" dirty="0">
                <a:latin typeface="Arial" panose="020B0604020202020204" pitchFamily="34" charset="0"/>
                <a:cs typeface="宋体" panose="02010600030101010101" pitchFamily="2" charset="-122"/>
              </a:rPr>
              <a:t>PPT</a:t>
            </a:r>
            <a:r>
              <a:rPr lang="zh-CN" altLang="zh-CN" sz="1800" kern="100" dirty="0">
                <a:latin typeface="Arial" panose="020B0604020202020204" pitchFamily="34" charset="0"/>
                <a:cs typeface="宋体" panose="02010600030101010101" pitchFamily="2" charset="-122"/>
              </a:rPr>
              <a:t>和资料。</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en-US" altLang="zh-CN" sz="1800" kern="100" dirty="0">
                <a:latin typeface="宋体" panose="02010600030101010101" pitchFamily="2" charset="-122"/>
                <a:ea typeface="微软雅黑" panose="020B0503020204020204" pitchFamily="34" charset="-122"/>
                <a:cs typeface="宋体" panose="02010600030101010101" pitchFamily="2" charset="-122"/>
              </a:rPr>
              <a:t>12.4</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algn="just">
              <a:lnSpc>
                <a:spcPct val="125000"/>
              </a:lnSpc>
              <a:spcAft>
                <a:spcPts val="0"/>
              </a:spcAft>
            </a:pPr>
            <a:r>
              <a:rPr lang="zh-CN" altLang="zh-CN" sz="1800" kern="100" dirty="0">
                <a:latin typeface="Arial" panose="020B0604020202020204" pitchFamily="34" charset="0"/>
                <a:cs typeface="宋体" panose="02010600030101010101" pitchFamily="2" charset="-122"/>
              </a:rPr>
              <a:t>提交第二稿，</a:t>
            </a:r>
            <a:r>
              <a:rPr lang="en-US" altLang="zh-CN" sz="1800" kern="100" dirty="0">
                <a:latin typeface="Arial" panose="020B0604020202020204" pitchFamily="34" charset="0"/>
                <a:cs typeface="宋体" panose="02010600030101010101" pitchFamily="2" charset="-122"/>
              </a:rPr>
              <a:t>PPT</a:t>
            </a:r>
            <a:r>
              <a:rPr lang="zh-CN" altLang="zh-CN" sz="1800" kern="100" dirty="0">
                <a:latin typeface="Arial" panose="020B0604020202020204" pitchFamily="34" charset="0"/>
                <a:cs typeface="宋体" panose="02010600030101010101" pitchFamily="2" charset="-122"/>
              </a:rPr>
              <a:t>和文字稿。并安排时间，线上</a:t>
            </a:r>
            <a:r>
              <a:rPr lang="zh-CN" altLang="en-US" sz="1800" kern="100" dirty="0">
                <a:latin typeface="Arial" panose="020B0604020202020204" pitchFamily="34" charset="0"/>
                <a:cs typeface="宋体" panose="02010600030101010101" pitchFamily="2" charset="-122"/>
              </a:rPr>
              <a:t>线下结合</a:t>
            </a:r>
            <a:r>
              <a:rPr lang="zh-CN" altLang="zh-CN" sz="1800" kern="100" dirty="0">
                <a:latin typeface="Arial" panose="020B0604020202020204" pitchFamily="34" charset="0"/>
                <a:cs typeface="宋体" panose="02010600030101010101" pitchFamily="2" charset="-122"/>
              </a:rPr>
              <a:t>讨论，进一步提意见，并指导修改</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en-US" altLang="zh-CN" sz="1800" kern="100" dirty="0">
                <a:latin typeface="宋体" panose="02010600030101010101" pitchFamily="2" charset="-122"/>
                <a:ea typeface="微软雅黑" panose="020B0503020204020204" pitchFamily="34" charset="-122"/>
                <a:cs typeface="宋体" panose="02010600030101010101" pitchFamily="2" charset="-122"/>
              </a:rPr>
              <a:t>12.11</a:t>
            </a:r>
          </a:p>
          <a:p>
            <a:pPr algn="just">
              <a:lnSpc>
                <a:spcPct val="125000"/>
              </a:lnSpc>
              <a:spcAft>
                <a:spcPts val="0"/>
              </a:spcAft>
            </a:pPr>
            <a:r>
              <a:rPr lang="zh-CN" altLang="en-US" sz="1800" kern="100" dirty="0">
                <a:latin typeface="宋体" panose="02010600030101010101" pitchFamily="2" charset="-122"/>
                <a:cs typeface="Times New Roman" panose="02020603050405020304" pitchFamily="18" charset="0"/>
              </a:rPr>
              <a:t>提交第三稿，</a:t>
            </a:r>
            <a:r>
              <a:rPr lang="en-US" altLang="zh-CN" sz="1800" kern="100" dirty="0">
                <a:latin typeface="Arial" panose="020B0604020202020204" pitchFamily="34" charset="0"/>
                <a:cs typeface="宋体" panose="02010600030101010101" pitchFamily="2" charset="-122"/>
              </a:rPr>
              <a:t>PPT</a:t>
            </a:r>
            <a:r>
              <a:rPr lang="zh-CN" altLang="zh-CN" sz="1800" kern="100" dirty="0">
                <a:latin typeface="Arial" panose="020B0604020202020204" pitchFamily="34" charset="0"/>
                <a:cs typeface="宋体" panose="02010600030101010101" pitchFamily="2" charset="-122"/>
              </a:rPr>
              <a:t>和文字稿。并安排时间，线上</a:t>
            </a:r>
            <a:r>
              <a:rPr lang="zh-CN" altLang="en-US" sz="1800" kern="100" dirty="0">
                <a:latin typeface="Arial" panose="020B0604020202020204" pitchFamily="34" charset="0"/>
                <a:cs typeface="宋体" panose="02010600030101010101" pitchFamily="2" charset="-122"/>
              </a:rPr>
              <a:t>线下结合</a:t>
            </a:r>
            <a:r>
              <a:rPr lang="zh-CN" altLang="zh-CN" sz="1800" kern="100" dirty="0">
                <a:latin typeface="Arial" panose="020B0604020202020204" pitchFamily="34" charset="0"/>
                <a:cs typeface="宋体" panose="02010600030101010101" pitchFamily="2" charset="-122"/>
              </a:rPr>
              <a:t>讨论，进一步提意见，并指导修改</a:t>
            </a:r>
            <a:endParaRPr lang="zh-CN" altLang="zh-CN" sz="1800" kern="100" dirty="0">
              <a:latin typeface="宋体" panose="02010600030101010101" pitchFamily="2" charset="-122"/>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en-US" altLang="zh-CN" sz="1800" kern="100" dirty="0">
                <a:latin typeface="宋体" panose="02010600030101010101" pitchFamily="2" charset="-122"/>
                <a:ea typeface="微软雅黑" panose="020B0503020204020204" pitchFamily="34" charset="-122"/>
                <a:cs typeface="宋体" panose="02010600030101010101" pitchFamily="2" charset="-122"/>
              </a:rPr>
              <a:t>12.18</a:t>
            </a:r>
          </a:p>
          <a:p>
            <a:pPr algn="just">
              <a:lnSpc>
                <a:spcPct val="125000"/>
              </a:lnSpc>
              <a:spcAft>
                <a:spcPts val="0"/>
              </a:spcAft>
            </a:pPr>
            <a:r>
              <a:rPr lang="zh-CN" altLang="en-US" sz="1800" kern="100" dirty="0">
                <a:latin typeface="Arial" panose="020B0604020202020204" pitchFamily="34" charset="0"/>
                <a:cs typeface="宋体" panose="02010600030101010101" pitchFamily="2" charset="-122"/>
              </a:rPr>
              <a:t>录制演讲视频（</a:t>
            </a:r>
            <a:r>
              <a:rPr lang="en-US" altLang="zh-CN" sz="1800" kern="100" dirty="0">
                <a:latin typeface="Arial" panose="020B0604020202020204" pitchFamily="34" charset="0"/>
                <a:cs typeface="宋体" panose="02010600030101010101" pitchFamily="2" charset="-122"/>
              </a:rPr>
              <a:t>15-20 min</a:t>
            </a:r>
            <a:r>
              <a:rPr lang="zh-CN" altLang="en-US" sz="1800" kern="100" dirty="0">
                <a:latin typeface="Arial" panose="020B0604020202020204" pitchFamily="34" charset="0"/>
                <a:cs typeface="宋体" panose="02010600030101010101" pitchFamily="2" charset="-122"/>
              </a:rPr>
              <a:t>）上传智慧树系统，师生共同进行第一轮评分</a:t>
            </a:r>
            <a:r>
              <a:rPr lang="zh-CN" altLang="zh-CN" sz="1800" kern="100" dirty="0">
                <a:latin typeface="Arial" panose="020B0604020202020204" pitchFamily="34" charset="0"/>
                <a:cs typeface="宋体" panose="02010600030101010101" pitchFamily="2" charset="-122"/>
              </a:rPr>
              <a:t>。</a:t>
            </a:r>
            <a:endParaRPr lang="zh-CN" altLang="zh-CN" sz="1800" kern="100" dirty="0">
              <a:latin typeface="Arial" panose="020B0604020202020204" pitchFamily="34" charset="0"/>
              <a:ea typeface="微软雅黑" panose="020B0503020204020204" pitchFamily="34" charset="-122"/>
              <a:cs typeface="Times New Roman" panose="02020603050405020304" pitchFamily="18" charset="0"/>
            </a:endParaRPr>
          </a:p>
          <a:p>
            <a:pPr algn="just">
              <a:lnSpc>
                <a:spcPct val="125000"/>
              </a:lnSpc>
              <a:spcAft>
                <a:spcPts val="0"/>
              </a:spcAft>
            </a:pPr>
            <a:r>
              <a:rPr lang="en-US" altLang="zh-CN" sz="1800" dirty="0"/>
              <a:t>12.25</a:t>
            </a:r>
          </a:p>
          <a:p>
            <a:pPr algn="just">
              <a:lnSpc>
                <a:spcPct val="125000"/>
              </a:lnSpc>
              <a:spcAft>
                <a:spcPts val="0"/>
              </a:spcAft>
            </a:pPr>
            <a:r>
              <a:rPr lang="zh-CN" altLang="en-US" sz="1800" kern="100" dirty="0">
                <a:latin typeface="Arial" panose="020B0604020202020204" pitchFamily="34" charset="0"/>
                <a:cs typeface="宋体" panose="02010600030101010101" pitchFamily="2" charset="-122"/>
              </a:rPr>
              <a:t>优选成员开展现场交流</a:t>
            </a:r>
            <a:r>
              <a:rPr lang="zh-CN" altLang="zh-CN" sz="1800" kern="100" dirty="0">
                <a:latin typeface="Arial" panose="020B0604020202020204" pitchFamily="34" charset="0"/>
                <a:cs typeface="宋体" panose="02010600030101010101" pitchFamily="2" charset="-122"/>
              </a:rPr>
              <a:t>。</a:t>
            </a:r>
            <a:r>
              <a:rPr lang="zh-CN" altLang="en-US" sz="1800" kern="100" dirty="0">
                <a:latin typeface="Arial" panose="020B0604020202020204" pitchFamily="34" charset="0"/>
                <a:cs typeface="宋体" panose="02010600030101010101" pitchFamily="2" charset="-122"/>
              </a:rPr>
              <a:t>选择至少</a:t>
            </a:r>
            <a:r>
              <a:rPr lang="en-US" altLang="zh-CN" sz="1800" kern="100" dirty="0">
                <a:latin typeface="Arial" panose="020B0604020202020204" pitchFamily="34" charset="0"/>
                <a:cs typeface="宋体" panose="02010600030101010101" pitchFamily="2" charset="-122"/>
              </a:rPr>
              <a:t>3</a:t>
            </a:r>
            <a:r>
              <a:rPr lang="zh-CN" altLang="en-US" sz="1800" kern="100" dirty="0">
                <a:latin typeface="Arial" panose="020B0604020202020204" pitchFamily="34" charset="0"/>
                <a:cs typeface="宋体" panose="02010600030101010101" pitchFamily="2" charset="-122"/>
              </a:rPr>
              <a:t>组在课堂上汇报（每一组汇报时间不超过</a:t>
            </a:r>
            <a:r>
              <a:rPr lang="en-US" altLang="zh-CN" sz="1800" kern="100" dirty="0">
                <a:latin typeface="Arial" panose="020B0604020202020204" pitchFamily="34" charset="0"/>
                <a:cs typeface="宋体" panose="02010600030101010101" pitchFamily="2" charset="-122"/>
              </a:rPr>
              <a:t>20 min</a:t>
            </a:r>
            <a:r>
              <a:rPr lang="zh-CN" altLang="en-US" sz="1800" kern="100" dirty="0">
                <a:latin typeface="Arial" panose="020B0604020202020204" pitchFamily="34" charset="0"/>
                <a:cs typeface="宋体" panose="02010600030101010101" pitchFamily="2" charset="-122"/>
              </a:rPr>
              <a:t>，可在师生评分基础上加分</a:t>
            </a:r>
            <a:r>
              <a:rPr lang="en-US" altLang="zh-CN" sz="1800" kern="100" dirty="0">
                <a:latin typeface="Arial" panose="020B0604020202020204" pitchFamily="34" charset="0"/>
                <a:cs typeface="宋体" panose="02010600030101010101" pitchFamily="2" charset="-122"/>
              </a:rPr>
              <a:t>30%</a:t>
            </a:r>
            <a:r>
              <a:rPr lang="zh-CN" altLang="en-US" sz="1800" kern="100" dirty="0">
                <a:latin typeface="Arial" panose="020B0604020202020204" pitchFamily="34" charset="0"/>
                <a:cs typeface="宋体" panose="02010600030101010101" pitchFamily="2" charset="-122"/>
              </a:rPr>
              <a:t>）。首先由各个小组主动报名参加汇报，若报名组数过多，则按照第一轮评分排序选择。</a:t>
            </a:r>
            <a:endParaRPr lang="zh-CN" altLang="en-US" sz="1800" dirty="0"/>
          </a:p>
        </p:txBody>
      </p:sp>
    </p:spTree>
    <p:extLst>
      <p:ext uri="{BB962C8B-B14F-4D97-AF65-F5344CB8AC3E}">
        <p14:creationId xmlns:p14="http://schemas.microsoft.com/office/powerpoint/2010/main" val="3019947746"/>
      </p:ext>
    </p:extLst>
  </p:cSld>
  <p:clrMapOvr>
    <a:masterClrMapping/>
  </p:clrMapOvr>
  <p:transition spd="med">
    <p:zo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C6994338-C9AB-4B11-BCD9-A1C3DE048683}"/>
              </a:ext>
            </a:extLst>
          </p:cNvPr>
          <p:cNvSpPr>
            <a:spLocks noGrp="1"/>
          </p:cNvSpPr>
          <p:nvPr>
            <p:ph type="title"/>
          </p:nvPr>
        </p:nvSpPr>
        <p:spPr>
          <a:xfrm>
            <a:off x="2219988" y="332656"/>
            <a:ext cx="4248150" cy="792162"/>
          </a:xfrm>
        </p:spPr>
        <p:txBody>
          <a:bodyPr/>
          <a:lstStyle/>
          <a:p>
            <a:pPr eaLnBrk="1" hangingPunct="1">
              <a:defRPr/>
            </a:pPr>
            <a:r>
              <a:rPr lang="zh-CN" altLang="en-US" sz="3600" b="1" dirty="0">
                <a:solidFill>
                  <a:schemeClr val="tx1"/>
                </a:solidFill>
                <a:latin typeface="楷体" panose="02010609060101010101" pitchFamily="49" charset="-122"/>
                <a:ea typeface="楷体" panose="02010609060101010101" pitchFamily="49" charset="-122"/>
              </a:rPr>
              <a:t>本章提纲和关键词</a:t>
            </a:r>
          </a:p>
        </p:txBody>
      </p:sp>
      <p:sp>
        <p:nvSpPr>
          <p:cNvPr id="17411" name="内容占位符 2"/>
          <p:cNvSpPr>
            <a:spLocks noGrp="1"/>
          </p:cNvSpPr>
          <p:nvPr>
            <p:ph sz="half" idx="1"/>
          </p:nvPr>
        </p:nvSpPr>
        <p:spPr>
          <a:xfrm>
            <a:off x="2123728" y="1988840"/>
            <a:ext cx="4213225" cy="3168650"/>
          </a:xfrm>
        </p:spPr>
        <p:txBody>
          <a:bodyPr/>
          <a:lstStyle/>
          <a:p>
            <a:pPr marL="0" indent="0" eaLnBrk="1" hangingPunct="1">
              <a:buFont typeface="Arial" panose="020B0604020202020204" pitchFamily="34" charset="0"/>
              <a:buNone/>
            </a:pPr>
            <a:r>
              <a:rPr lang="en-US" altLang="zh-CN" sz="2800" dirty="0">
                <a:latin typeface="Arial" panose="020B0604020202020204" pitchFamily="34" charset="0"/>
                <a:ea typeface="楷体" panose="02010609060101010101" pitchFamily="49" charset="-122"/>
                <a:cs typeface="Arial" panose="020B0604020202020204" pitchFamily="34" charset="0"/>
              </a:rPr>
              <a:t>5</a:t>
            </a:r>
            <a:r>
              <a:rPr lang="zh-CN" altLang="en-US" sz="2800" dirty="0">
                <a:latin typeface="Arial" panose="020B0604020202020204" pitchFamily="34" charset="0"/>
                <a:ea typeface="楷体" panose="02010609060101010101" pitchFamily="49" charset="-122"/>
                <a:cs typeface="Arial" panose="020B0604020202020204" pitchFamily="34" charset="0"/>
              </a:rPr>
              <a:t>.1   聚合方法概述</a:t>
            </a:r>
          </a:p>
          <a:p>
            <a:pPr marL="0" indent="0" eaLnBrk="1" hangingPunct="1">
              <a:buFont typeface="Arial" panose="020B0604020202020204" pitchFamily="34" charset="0"/>
              <a:buNone/>
            </a:pPr>
            <a:r>
              <a:rPr kumimoji="1" lang="en-US" altLang="zh-CN" sz="2800" dirty="0">
                <a:latin typeface="Arial" panose="020B0604020202020204" pitchFamily="34" charset="0"/>
                <a:ea typeface="楷体" panose="02010609060101010101" pitchFamily="49" charset="-122"/>
                <a:cs typeface="Arial" panose="020B0604020202020204" pitchFamily="34" charset="0"/>
              </a:rPr>
              <a:t>5</a:t>
            </a:r>
            <a:r>
              <a:rPr kumimoji="1" lang="zh-CN" altLang="en-US" sz="2800" dirty="0">
                <a:latin typeface="Arial" panose="020B0604020202020204" pitchFamily="34" charset="0"/>
                <a:ea typeface="楷体" panose="02010609060101010101" pitchFamily="49" charset="-122"/>
                <a:cs typeface="Arial" panose="020B0604020202020204" pitchFamily="34" charset="0"/>
              </a:rPr>
              <a:t>.2   本体聚合</a:t>
            </a:r>
            <a:endParaRPr kumimoji="1" lang="en-US" altLang="zh-CN" sz="2800" dirty="0">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kumimoji="1" lang="en-US" altLang="zh-CN" sz="2800" dirty="0">
                <a:latin typeface="Arial" panose="020B0604020202020204" pitchFamily="34" charset="0"/>
                <a:ea typeface="楷体" panose="02010609060101010101" pitchFamily="49" charset="-122"/>
                <a:cs typeface="Arial" panose="020B0604020202020204" pitchFamily="34" charset="0"/>
              </a:rPr>
              <a:t>5.3   </a:t>
            </a:r>
            <a:r>
              <a:rPr kumimoji="1" lang="zh-CN" altLang="en-US" sz="2800" dirty="0">
                <a:latin typeface="Arial" panose="020B0604020202020204" pitchFamily="34" charset="0"/>
                <a:ea typeface="楷体" panose="02010609060101010101" pitchFamily="49" charset="-122"/>
                <a:cs typeface="Arial" panose="020B0604020202020204" pitchFamily="34" charset="0"/>
              </a:rPr>
              <a:t>溶液聚合</a:t>
            </a:r>
          </a:p>
          <a:p>
            <a:pPr marL="0" indent="0" eaLnBrk="1" hangingPunct="1">
              <a:buFont typeface="Arial" panose="020B0604020202020204" pitchFamily="34" charset="0"/>
              <a:buNone/>
            </a:pPr>
            <a:r>
              <a:rPr lang="en-US" altLang="zh-CN" sz="2800" dirty="0">
                <a:latin typeface="Arial" panose="020B0604020202020204" pitchFamily="34" charset="0"/>
                <a:ea typeface="楷体" panose="02010609060101010101" pitchFamily="49" charset="-122"/>
                <a:cs typeface="Arial" panose="020B0604020202020204" pitchFamily="34" charset="0"/>
              </a:rPr>
              <a:t>5.4   </a:t>
            </a:r>
            <a:r>
              <a:rPr lang="zh-CN" altLang="en-US" sz="2800" dirty="0">
                <a:latin typeface="Arial" panose="020B0604020202020204" pitchFamily="34" charset="0"/>
                <a:ea typeface="楷体" panose="02010609060101010101" pitchFamily="49" charset="-122"/>
                <a:cs typeface="Arial" panose="020B0604020202020204" pitchFamily="34" charset="0"/>
              </a:rPr>
              <a:t>悬浮聚合</a:t>
            </a:r>
          </a:p>
          <a:p>
            <a:pPr marL="0" indent="0" eaLnBrk="1" hangingPunct="1">
              <a:buFont typeface="Arial" panose="020B0604020202020204" pitchFamily="34" charset="0"/>
              <a:buNone/>
            </a:pPr>
            <a:r>
              <a:rPr lang="en-US" altLang="zh-CN" sz="2800" dirty="0">
                <a:latin typeface="Arial" panose="020B0604020202020204" pitchFamily="34" charset="0"/>
                <a:ea typeface="楷体" panose="02010609060101010101" pitchFamily="49" charset="-122"/>
                <a:cs typeface="Arial" panose="020B0604020202020204" pitchFamily="34" charset="0"/>
              </a:rPr>
              <a:t>5.5   </a:t>
            </a:r>
            <a:r>
              <a:rPr lang="zh-CN" altLang="en-US" sz="2800" dirty="0">
                <a:latin typeface="Arial" panose="020B0604020202020204" pitchFamily="34" charset="0"/>
                <a:ea typeface="楷体" panose="02010609060101010101" pitchFamily="49" charset="-122"/>
                <a:cs typeface="Arial" panose="020B0604020202020204" pitchFamily="34" charset="0"/>
              </a:rPr>
              <a:t>乳液聚合</a:t>
            </a:r>
          </a:p>
          <a:p>
            <a:pPr marL="0" indent="0" eaLnBrk="1" hangingPunct="1">
              <a:buFont typeface="Arial" panose="020B0604020202020204" pitchFamily="34" charset="0"/>
              <a:buNone/>
            </a:pPr>
            <a:endParaRPr lang="en-US" altLang="zh-CN" sz="2800" b="1" dirty="0">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endParaRPr lang="zh-CN" altLang="en-US" sz="2800" b="1" dirty="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1741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75F26DD5-A8C2-42EA-AE58-FF13DA0B537F}" type="slidenum">
              <a:rPr kumimoji="0" lang="zh-CN" altLang="en-US" sz="1400" smtClean="0">
                <a:solidFill>
                  <a:srgbClr val="FFFFFF"/>
                </a:solidFill>
              </a:rPr>
              <a:pPr/>
              <a:t>3</a:t>
            </a:fld>
            <a:endParaRPr kumimoji="0" lang="en-US" altLang="zh-CN" sz="1400">
              <a:solidFill>
                <a:srgbClr val="FFFFFF"/>
              </a:solidFill>
            </a:endParaRPr>
          </a:p>
        </p:txBody>
      </p:sp>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60" name="Rectangle 3076">
            <a:extLst>
              <a:ext uri="{FF2B5EF4-FFF2-40B4-BE49-F238E27FC236}">
                <a16:creationId xmlns:a16="http://schemas.microsoft.com/office/drawing/2014/main" id="{41D718A5-A03B-4C04-B9A9-24AEA29ABD3E}"/>
              </a:ext>
            </a:extLst>
          </p:cNvPr>
          <p:cNvSpPr>
            <a:spLocks noChangeArrowheads="1"/>
          </p:cNvSpPr>
          <p:nvPr/>
        </p:nvSpPr>
        <p:spPr bwMode="auto">
          <a:xfrm>
            <a:off x="914400" y="4171950"/>
            <a:ext cx="3124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800000"/>
              </a:buClr>
              <a:buSzPct val="90000"/>
              <a:buFont typeface="Wingdings" panose="05000000000000000000" pitchFamily="2" charset="2"/>
              <a:buChar char="v"/>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marL="742950" indent="-285750">
              <a:spcBef>
                <a:spcPct val="20000"/>
              </a:spcBef>
              <a:buClr>
                <a:srgbClr val="800000"/>
              </a:buClr>
              <a:buSzPct val="90000"/>
              <a:buFont typeface="Wingdings" panose="05000000000000000000" pitchFamily="2" charset="2"/>
              <a:buChar char="v"/>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marL="11430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800000"/>
              </a:buClr>
              <a:buSzPct val="90000"/>
              <a:buFont typeface="Wingdings" panose="05000000000000000000" pitchFamily="2" charset="2"/>
              <a:buChar char="v"/>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800000"/>
              </a:buClr>
              <a:buSzPct val="90000"/>
              <a:buFont typeface="Wingdings" panose="05000000000000000000" pitchFamily="2" charset="2"/>
              <a:buChar char="v"/>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lr>
                <a:srgbClr val="800000"/>
              </a:buClr>
              <a:buSzPct val="90000"/>
              <a:buFont typeface="Wingdings" panose="05000000000000000000" pitchFamily="2" charset="2"/>
              <a:buChar char="v"/>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lr>
                <a:srgbClr val="800000"/>
              </a:buClr>
              <a:buSzPct val="90000"/>
              <a:buFont typeface="Wingdings" panose="05000000000000000000" pitchFamily="2" charset="2"/>
              <a:buChar char="v"/>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lr>
                <a:srgbClr val="800000"/>
              </a:buClr>
              <a:buSzPct val="90000"/>
              <a:buFont typeface="Wingdings" panose="05000000000000000000" pitchFamily="2" charset="2"/>
              <a:buChar char="v"/>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lr>
                <a:srgbClr val="800000"/>
              </a:buClr>
              <a:buSzPct val="90000"/>
              <a:buFont typeface="Wingdings" panose="05000000000000000000" pitchFamily="2" charset="2"/>
              <a:buChar char="v"/>
              <a:defRPr kumimoji="1">
                <a:solidFill>
                  <a:schemeClr val="tx1"/>
                </a:solidFill>
                <a:latin typeface="Times New Roman" panose="02020603050405020304" pitchFamily="18" charset="0"/>
                <a:ea typeface="宋体" panose="02010600030101010101" pitchFamily="2" charset="-122"/>
              </a:defRPr>
            </a:lvl9pPr>
          </a:lstStyle>
          <a:p>
            <a:pPr eaLnBrk="1" fontAlgn="auto" hangingPunct="1">
              <a:spcAft>
                <a:spcPts val="0"/>
              </a:spcAft>
              <a:buFont typeface="Wingdings" panose="05000000000000000000" pitchFamily="2" charset="2"/>
              <a:buNone/>
              <a:defRPr/>
            </a:pPr>
            <a:endParaRPr lang="zh-CN" altLang="en-US"/>
          </a:p>
        </p:txBody>
      </p:sp>
      <p:graphicFrame>
        <p:nvGraphicFramePr>
          <p:cNvPr id="18435" name="Object 3080"/>
          <p:cNvGraphicFramePr>
            <a:graphicFrameLocks noChangeAspect="1"/>
          </p:cNvGraphicFramePr>
          <p:nvPr/>
        </p:nvGraphicFramePr>
        <p:xfrm>
          <a:off x="3133725" y="1722438"/>
          <a:ext cx="3752850" cy="723900"/>
        </p:xfrm>
        <a:graphic>
          <a:graphicData uri="http://schemas.openxmlformats.org/presentationml/2006/ole">
            <mc:AlternateContent xmlns:mc="http://schemas.openxmlformats.org/markup-compatibility/2006">
              <mc:Choice xmlns:v="urn:schemas-microsoft-com:vml" Requires="v">
                <p:oleObj spid="_x0000_s18501" name="公式" r:id="rId4" imgW="1447800" imgH="279400" progId="Equation.3">
                  <p:embed/>
                </p:oleObj>
              </mc:Choice>
              <mc:Fallback>
                <p:oleObj name="公式" r:id="rId4" imgW="1447800" imgH="279400" progId="Equation.3">
                  <p:embed/>
                  <p:pic>
                    <p:nvPicPr>
                      <p:cNvPr id="0" name="Object 30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3725" y="1722438"/>
                        <a:ext cx="37528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6" name="Object 3082"/>
          <p:cNvGraphicFramePr>
            <a:graphicFrameLocks noChangeAspect="1"/>
          </p:cNvGraphicFramePr>
          <p:nvPr/>
        </p:nvGraphicFramePr>
        <p:xfrm>
          <a:off x="3613150" y="4379913"/>
          <a:ext cx="3808413" cy="1022350"/>
        </p:xfrm>
        <a:graphic>
          <a:graphicData uri="http://schemas.openxmlformats.org/presentationml/2006/ole">
            <mc:AlternateContent xmlns:mc="http://schemas.openxmlformats.org/markup-compatibility/2006">
              <mc:Choice xmlns:v="urn:schemas-microsoft-com:vml" Requires="v">
                <p:oleObj spid="_x0000_s18502" name="公式" r:id="rId6" imgW="1701800" imgH="457200" progId="Equation.3">
                  <p:embed/>
                </p:oleObj>
              </mc:Choice>
              <mc:Fallback>
                <p:oleObj name="公式" r:id="rId6" imgW="1701800" imgH="457200" progId="Equation.3">
                  <p:embed/>
                  <p:pic>
                    <p:nvPicPr>
                      <p:cNvPr id="0" name="Object 308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13150" y="4379913"/>
                        <a:ext cx="3808413"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7" name="Object 3084"/>
          <p:cNvGraphicFramePr>
            <a:graphicFrameLocks noChangeAspect="1"/>
          </p:cNvGraphicFramePr>
          <p:nvPr/>
        </p:nvGraphicFramePr>
        <p:xfrm>
          <a:off x="768350" y="3282950"/>
          <a:ext cx="7762875" cy="1069975"/>
        </p:xfrm>
        <a:graphic>
          <a:graphicData uri="http://schemas.openxmlformats.org/presentationml/2006/ole">
            <mc:AlternateContent xmlns:mc="http://schemas.openxmlformats.org/markup-compatibility/2006">
              <mc:Choice xmlns:v="urn:schemas-microsoft-com:vml" Requires="v">
                <p:oleObj spid="_x0000_s18503" name="公式" r:id="rId8" imgW="3594100" imgH="495300" progId="Equation.3">
                  <p:embed/>
                </p:oleObj>
              </mc:Choice>
              <mc:Fallback>
                <p:oleObj name="公式" r:id="rId8" imgW="3594100" imgH="495300" progId="Equation.3">
                  <p:embed/>
                  <p:pic>
                    <p:nvPicPr>
                      <p:cNvPr id="0" name="Object 30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350" y="3282950"/>
                        <a:ext cx="776287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8" name="Text Box 3085"/>
          <p:cNvSpPr txBox="1">
            <a:spLocks noChangeArrowheads="1"/>
          </p:cNvSpPr>
          <p:nvPr/>
        </p:nvSpPr>
        <p:spPr bwMode="auto">
          <a:xfrm>
            <a:off x="381000" y="457200"/>
            <a:ext cx="8763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Arial" panose="020B0604020202020204" pitchFamily="34" charset="0"/>
                <a:ea typeface="楷体_GB2312" pitchFamily="49" charset="-122"/>
                <a:cs typeface="Arial" panose="020B0604020202020204" pitchFamily="34" charset="0"/>
              </a:rPr>
              <a:t>§ </a:t>
            </a:r>
            <a:r>
              <a:rPr lang="zh-CN" altLang="en-US" sz="2400" b="1" dirty="0">
                <a:latin typeface="Arial" panose="020B0604020202020204" pitchFamily="34" charset="0"/>
                <a:ea typeface="楷体" panose="02010609060101010101" pitchFamily="49" charset="-122"/>
                <a:cs typeface="Arial" panose="020B0604020202020204" pitchFamily="34" charset="0"/>
              </a:rPr>
              <a:t>5.1 聚合方法概述</a:t>
            </a:r>
          </a:p>
        </p:txBody>
      </p:sp>
      <p:sp>
        <p:nvSpPr>
          <p:cNvPr id="18439" name="Text Box 3086"/>
          <p:cNvSpPr txBox="1">
            <a:spLocks noChangeArrowheads="1"/>
          </p:cNvSpPr>
          <p:nvPr/>
        </p:nvSpPr>
        <p:spPr bwMode="auto">
          <a:xfrm>
            <a:off x="381000" y="1836738"/>
            <a:ext cx="426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rgbClr val="FF0000"/>
              </a:buClr>
              <a:buSzPct val="100000"/>
              <a:buFont typeface="Wingdings" panose="05000000000000000000" pitchFamily="2" charset="2"/>
              <a:buChar char="u"/>
            </a:pPr>
            <a:r>
              <a:rPr lang="zh-CN" altLang="en-US" sz="2400" b="1">
                <a:latin typeface="等线" panose="02010600030101010101" pitchFamily="2" charset="-122"/>
                <a:ea typeface="楷体_GB2312" pitchFamily="49" charset="-122"/>
              </a:rPr>
              <a:t>  </a:t>
            </a:r>
            <a:r>
              <a:rPr lang="zh-CN" altLang="en-US" sz="2400">
                <a:latin typeface="楷体" panose="02010609060101010101" pitchFamily="49" charset="-122"/>
                <a:ea typeface="楷体" panose="02010609060101010101" pitchFamily="49" charset="-122"/>
              </a:rPr>
              <a:t>聚合速率方程</a:t>
            </a:r>
          </a:p>
        </p:txBody>
      </p:sp>
      <p:sp>
        <p:nvSpPr>
          <p:cNvPr id="18440" name="Text Box 3087"/>
          <p:cNvSpPr txBox="1">
            <a:spLocks noChangeArrowheads="1"/>
          </p:cNvSpPr>
          <p:nvPr/>
        </p:nvSpPr>
        <p:spPr bwMode="auto">
          <a:xfrm>
            <a:off x="381000" y="4584700"/>
            <a:ext cx="44958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0000"/>
              </a:buClr>
              <a:buSzPct val="100000"/>
              <a:buFont typeface="Wingdings" panose="05000000000000000000" pitchFamily="2" charset="2"/>
              <a:buChar char="u"/>
            </a:pPr>
            <a:r>
              <a:rPr lang="zh-CN" altLang="en-US" sz="2400">
                <a:latin typeface="楷体" panose="02010609060101010101" pitchFamily="49" charset="-122"/>
                <a:ea typeface="楷体" panose="02010609060101010101" pitchFamily="49" charset="-122"/>
              </a:rPr>
              <a:t>共聚物组成方程</a:t>
            </a:r>
          </a:p>
        </p:txBody>
      </p:sp>
      <p:sp>
        <p:nvSpPr>
          <p:cNvPr id="18441" name="Text Box 3088"/>
          <p:cNvSpPr txBox="1">
            <a:spLocks noChangeArrowheads="1"/>
          </p:cNvSpPr>
          <p:nvPr/>
        </p:nvSpPr>
        <p:spPr bwMode="auto">
          <a:xfrm>
            <a:off x="381000" y="2636838"/>
            <a:ext cx="338613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rgbClr val="FF0000"/>
              </a:buClr>
              <a:buSzPct val="100000"/>
              <a:buFont typeface="Wingdings" panose="05000000000000000000" pitchFamily="2" charset="2"/>
              <a:buChar char="u"/>
            </a:pPr>
            <a:r>
              <a:rPr lang="zh-CN" altLang="en-US" sz="2400" b="1">
                <a:latin typeface="等线" panose="02010600030101010101" pitchFamily="2" charset="-122"/>
                <a:ea typeface="楷体_GB2312" pitchFamily="49" charset="-122"/>
              </a:rPr>
              <a:t>  </a:t>
            </a:r>
            <a:r>
              <a:rPr lang="zh-CN" altLang="en-US" sz="2400">
                <a:latin typeface="楷体" panose="02010609060101010101" pitchFamily="49" charset="-122"/>
                <a:ea typeface="楷体" panose="02010609060101010101" pitchFamily="49" charset="-122"/>
              </a:rPr>
              <a:t>数均聚合度</a:t>
            </a:r>
          </a:p>
        </p:txBody>
      </p:sp>
      <p:sp>
        <p:nvSpPr>
          <p:cNvPr id="18442" name="Text Box 3090"/>
          <p:cNvSpPr txBox="1">
            <a:spLocks noChangeArrowheads="1"/>
          </p:cNvSpPr>
          <p:nvPr/>
        </p:nvSpPr>
        <p:spPr bwMode="auto">
          <a:xfrm>
            <a:off x="303772" y="1258094"/>
            <a:ext cx="40322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rgbClr val="A50021"/>
              </a:buClr>
              <a:buSzPct val="90000"/>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自由基聚合：</a:t>
            </a:r>
          </a:p>
        </p:txBody>
      </p:sp>
      <p:graphicFrame>
        <p:nvGraphicFramePr>
          <p:cNvPr id="18443" name="Object 4"/>
          <p:cNvGraphicFramePr>
            <a:graphicFrameLocks noChangeAspect="1"/>
          </p:cNvGraphicFramePr>
          <p:nvPr/>
        </p:nvGraphicFramePr>
        <p:xfrm>
          <a:off x="2941638" y="5773738"/>
          <a:ext cx="3413125" cy="758825"/>
        </p:xfrm>
        <a:graphic>
          <a:graphicData uri="http://schemas.openxmlformats.org/presentationml/2006/ole">
            <mc:AlternateContent xmlns:mc="http://schemas.openxmlformats.org/markup-compatibility/2006">
              <mc:Choice xmlns:v="urn:schemas-microsoft-com:vml" Requires="v">
                <p:oleObj spid="_x0000_s18504" name="公式" r:id="rId10" imgW="1993900" imgH="444500" progId="Equation.3">
                  <p:embed/>
                </p:oleObj>
              </mc:Choice>
              <mc:Fallback>
                <p:oleObj name="公式" r:id="rId10" imgW="1993900" imgH="4445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41638" y="5773738"/>
                        <a:ext cx="34131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4" name="Object 5"/>
          <p:cNvGraphicFramePr>
            <a:graphicFrameLocks noChangeAspect="1"/>
          </p:cNvGraphicFramePr>
          <p:nvPr/>
        </p:nvGraphicFramePr>
        <p:xfrm>
          <a:off x="6732588" y="5789613"/>
          <a:ext cx="2135187" cy="792162"/>
        </p:xfrm>
        <a:graphic>
          <a:graphicData uri="http://schemas.openxmlformats.org/presentationml/2006/ole">
            <mc:AlternateContent xmlns:mc="http://schemas.openxmlformats.org/markup-compatibility/2006">
              <mc:Choice xmlns:v="urn:schemas-microsoft-com:vml" Requires="v">
                <p:oleObj spid="_x0000_s18505" name="公式" r:id="rId12" imgW="1193800" imgH="444500" progId="Equation.3">
                  <p:embed/>
                </p:oleObj>
              </mc:Choice>
              <mc:Fallback>
                <p:oleObj name="公式" r:id="rId12" imgW="1193800" imgH="4445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32588" y="5789613"/>
                        <a:ext cx="21351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5" name="Text Box 3087"/>
          <p:cNvSpPr txBox="1">
            <a:spLocks noChangeArrowheads="1"/>
          </p:cNvSpPr>
          <p:nvPr/>
        </p:nvSpPr>
        <p:spPr bwMode="auto">
          <a:xfrm>
            <a:off x="347663" y="5826125"/>
            <a:ext cx="44958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0000"/>
              </a:buClr>
              <a:buSzPct val="100000"/>
              <a:buFont typeface="Wingdings" panose="05000000000000000000" pitchFamily="2" charset="2"/>
              <a:buChar char="u"/>
            </a:pPr>
            <a:r>
              <a:rPr lang="zh-CN" altLang="en-US" sz="2400">
                <a:latin typeface="楷体" panose="02010609060101010101" pitchFamily="49" charset="-122"/>
                <a:ea typeface="楷体" panose="02010609060101010101" pitchFamily="49" charset="-122"/>
              </a:rPr>
              <a:t>链段序列分布</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10"/>
          <p:cNvSpPr>
            <a:spLocks noChangeArrowheads="1"/>
          </p:cNvSpPr>
          <p:nvPr/>
        </p:nvSpPr>
        <p:spPr bwMode="auto">
          <a:xfrm>
            <a:off x="493906" y="1499934"/>
            <a:ext cx="8616950" cy="3005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长链：链引发反应所消耗的单体可忽略不计；</a:t>
            </a:r>
            <a:endParaRPr lang="en-US" altLang="zh-CN" sz="2400" b="1" dirty="0">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等活性：链自由基的活性与链长无关；</a:t>
            </a:r>
            <a:endParaRPr lang="en-US" altLang="zh-CN" sz="2400" b="1" dirty="0">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稳态假定：链引发速度与链终止速度相等，自由基浓度不随时间变化；</a:t>
            </a:r>
            <a:endParaRPr lang="en-US" altLang="zh-CN" sz="2400" b="1" dirty="0">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不可逆：无解聚现象。</a:t>
            </a:r>
          </a:p>
        </p:txBody>
      </p:sp>
      <p:sp>
        <p:nvSpPr>
          <p:cNvPr id="20483" name="Rectangle 24"/>
          <p:cNvSpPr>
            <a:spLocks noChangeArrowheads="1"/>
          </p:cNvSpPr>
          <p:nvPr/>
        </p:nvSpPr>
        <p:spPr bwMode="auto">
          <a:xfrm>
            <a:off x="304800" y="5084763"/>
            <a:ext cx="5105400" cy="10668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0000" rIns="270000"/>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低转化率的聚合体系；</a:t>
            </a:r>
            <a:endParaRPr lang="en-US" altLang="zh-CN" sz="2400" b="1" dirty="0">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高转化率的稀溶液聚合体系。</a:t>
            </a:r>
          </a:p>
        </p:txBody>
      </p:sp>
      <p:sp>
        <p:nvSpPr>
          <p:cNvPr id="20484" name="Text Box 27"/>
          <p:cNvSpPr txBox="1">
            <a:spLocks noChangeArrowheads="1"/>
          </p:cNvSpPr>
          <p:nvPr/>
        </p:nvSpPr>
        <p:spPr bwMode="auto">
          <a:xfrm>
            <a:off x="376378" y="757431"/>
            <a:ext cx="47244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pPr>
            <a:r>
              <a:rPr lang="zh-CN" altLang="en-US" sz="2400" b="1" dirty="0">
                <a:solidFill>
                  <a:srgbClr val="FF0000"/>
                </a:solidFill>
                <a:latin typeface="楷体" panose="02010609060101010101" pitchFamily="49" charset="-122"/>
                <a:ea typeface="楷体" panose="02010609060101010101" pitchFamily="49" charset="-122"/>
              </a:rPr>
              <a:t>建立这些方程应用了哪些假定？</a:t>
            </a:r>
          </a:p>
        </p:txBody>
      </p:sp>
      <p:sp>
        <p:nvSpPr>
          <p:cNvPr id="20485" name="Rectangle 28"/>
          <p:cNvSpPr>
            <a:spLocks noChangeArrowheads="1"/>
          </p:cNvSpPr>
          <p:nvPr/>
        </p:nvSpPr>
        <p:spPr bwMode="auto">
          <a:xfrm>
            <a:off x="376378" y="4518711"/>
            <a:ext cx="3897312"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pPr>
            <a:r>
              <a:rPr lang="zh-CN" altLang="en-US" sz="2400" b="1" dirty="0">
                <a:solidFill>
                  <a:srgbClr val="FF0000"/>
                </a:solidFill>
                <a:latin typeface="楷体" panose="02010609060101010101" pitchFamily="49" charset="-122"/>
                <a:ea typeface="楷体" panose="02010609060101010101" pitchFamily="49" charset="-122"/>
              </a:rPr>
              <a:t>满足后两个假定的通常是：</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ppt_x"/>
                                          </p:val>
                                        </p:tav>
                                        <p:tav tm="100000">
                                          <p:val>
                                            <p:strVal val="#ppt_x"/>
                                          </p:val>
                                        </p:tav>
                                      </p:tavLst>
                                    </p:anim>
                                    <p:anim calcmode="lin" valueType="num">
                                      <p:cBhvr additive="base">
                                        <p:cTn id="8" dur="500" fill="hold"/>
                                        <p:tgtEl>
                                          <p:spTgt spid="2048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5"/>
                                        </p:tgtEl>
                                        <p:attrNameLst>
                                          <p:attrName>style.visibility</p:attrName>
                                        </p:attrNameLst>
                                      </p:cBhvr>
                                      <p:to>
                                        <p:strVal val="visible"/>
                                      </p:to>
                                    </p:set>
                                    <p:anim calcmode="lin" valueType="num">
                                      <p:cBhvr additive="base">
                                        <p:cTn id="11" dur="500" fill="hold"/>
                                        <p:tgtEl>
                                          <p:spTgt spid="20485"/>
                                        </p:tgtEl>
                                        <p:attrNameLst>
                                          <p:attrName>ppt_x</p:attrName>
                                        </p:attrNameLst>
                                      </p:cBhvr>
                                      <p:tavLst>
                                        <p:tav tm="0">
                                          <p:val>
                                            <p:strVal val="#ppt_x"/>
                                          </p:val>
                                        </p:tav>
                                        <p:tav tm="100000">
                                          <p:val>
                                            <p:strVal val="#ppt_x"/>
                                          </p:val>
                                        </p:tav>
                                      </p:tavLst>
                                    </p:anim>
                                    <p:anim calcmode="lin" valueType="num">
                                      <p:cBhvr additive="base">
                                        <p:cTn id="12"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5"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灯片编号占位符 4"/>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6D457BC1-6CEF-4D7E-8BAF-8AD8BF6716C3}" type="slidenum">
              <a:rPr kumimoji="0" lang="zh-CN" altLang="en-US" sz="1400" smtClean="0">
                <a:solidFill>
                  <a:srgbClr val="FFFFFF"/>
                </a:solidFill>
              </a:rPr>
              <a:pPr/>
              <a:t>6</a:t>
            </a:fld>
            <a:endParaRPr kumimoji="0" lang="en-US" altLang="zh-CN" sz="1400">
              <a:solidFill>
                <a:srgbClr val="FFFFFF"/>
              </a:solidFill>
            </a:endParaRPr>
          </a:p>
        </p:txBody>
      </p:sp>
      <p:sp>
        <p:nvSpPr>
          <p:cNvPr id="21507" name="Rectangle 4"/>
          <p:cNvSpPr>
            <a:spLocks noChangeArrowheads="1"/>
          </p:cNvSpPr>
          <p:nvPr/>
        </p:nvSpPr>
        <p:spPr bwMode="auto">
          <a:xfrm>
            <a:off x="107949" y="1290778"/>
            <a:ext cx="87852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buClr>
                <a:srgbClr val="FF3399"/>
              </a:buClr>
              <a:buSzPct val="90000"/>
              <a:buFont typeface="Monotype Sorts"/>
              <a:buNone/>
            </a:pPr>
            <a:r>
              <a:rPr lang="zh-CN" altLang="en-US" sz="2400" b="1" dirty="0">
                <a:ea typeface="楷体_GB2312" pitchFamily="49" charset="-122"/>
              </a:rPr>
              <a:t>    </a:t>
            </a:r>
            <a:r>
              <a:rPr lang="zh-CN" altLang="en-US" sz="2400" b="1" dirty="0">
                <a:latin typeface="楷体" panose="02010609060101010101" pitchFamily="49" charset="-122"/>
                <a:ea typeface="楷体" panose="02010609060101010101" pitchFamily="49" charset="-122"/>
              </a:rPr>
              <a:t>工业聚合反应，不可能只进行到很低的转化率，也</a:t>
            </a:r>
            <a:r>
              <a:rPr lang="zh-CN" altLang="en-US" sz="2400" b="1" dirty="0">
                <a:solidFill>
                  <a:srgbClr val="FF0000"/>
                </a:solidFill>
                <a:latin typeface="楷体" panose="02010609060101010101" pitchFamily="49" charset="-122"/>
                <a:ea typeface="楷体" panose="02010609060101010101" pitchFamily="49" charset="-122"/>
              </a:rPr>
              <a:t>很少在稀溶液体系中进行。</a:t>
            </a:r>
          </a:p>
        </p:txBody>
      </p:sp>
      <p:sp>
        <p:nvSpPr>
          <p:cNvPr id="21508" name="Rectangle 6"/>
          <p:cNvSpPr>
            <a:spLocks noChangeArrowheads="1"/>
          </p:cNvSpPr>
          <p:nvPr/>
        </p:nvSpPr>
        <p:spPr bwMode="auto">
          <a:xfrm>
            <a:off x="862012" y="2825205"/>
            <a:ext cx="72390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聚合速率慢，设备利用率低</a:t>
            </a:r>
            <a:endParaRPr lang="en-US" altLang="zh-CN" sz="2400" b="1" dirty="0">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易发生向溶剂的链转移，聚合物分子量偏低</a:t>
            </a:r>
            <a:endParaRPr lang="en-US" altLang="zh-CN" sz="2400" b="1" dirty="0">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SzPct val="90000"/>
              <a:buFont typeface="Wingdings" panose="05000000000000000000" pitchFamily="2" charset="2"/>
              <a:buChar char="u"/>
            </a:pPr>
            <a:r>
              <a:rPr lang="zh-CN" altLang="en-US" sz="2400" b="1" dirty="0">
                <a:latin typeface="楷体" panose="02010609060101010101" pitchFamily="49" charset="-122"/>
                <a:ea typeface="楷体" panose="02010609060101010101" pitchFamily="49" charset="-122"/>
              </a:rPr>
              <a:t>溶剂回收麻烦，能耗大</a:t>
            </a:r>
          </a:p>
        </p:txBody>
      </p:sp>
      <p:sp>
        <p:nvSpPr>
          <p:cNvPr id="21509" name="Rectangle 14"/>
          <p:cNvSpPr>
            <a:spLocks noChangeArrowheads="1"/>
          </p:cNvSpPr>
          <p:nvPr/>
        </p:nvSpPr>
        <p:spPr bwMode="auto">
          <a:xfrm>
            <a:off x="683568" y="2350665"/>
            <a:ext cx="173196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pPr>
            <a:r>
              <a:rPr lang="zh-CN" altLang="en-US" sz="2400" b="1" dirty="0">
                <a:solidFill>
                  <a:srgbClr val="FF0000"/>
                </a:solidFill>
                <a:latin typeface="楷体" panose="02010609060101010101" pitchFamily="49" charset="-122"/>
                <a:ea typeface="楷体" panose="02010609060101010101" pitchFamily="49" charset="-122"/>
              </a:rPr>
              <a:t>这是因为：</a:t>
            </a:r>
          </a:p>
        </p:txBody>
      </p:sp>
      <p:sp>
        <p:nvSpPr>
          <p:cNvPr id="21510" name="Text Box 21"/>
          <p:cNvSpPr txBox="1">
            <a:spLocks noChangeArrowheads="1"/>
          </p:cNvSpPr>
          <p:nvPr/>
        </p:nvSpPr>
        <p:spPr bwMode="auto">
          <a:xfrm>
            <a:off x="539552" y="4725144"/>
            <a:ext cx="43672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dirty="0">
                <a:latin typeface="楷体" panose="02010609060101010101" pitchFamily="49" charset="-122"/>
                <a:ea typeface="楷体" panose="02010609060101010101" pitchFamily="49" charset="-122"/>
              </a:rPr>
              <a:t>一个工业实用的聚合反应：</a:t>
            </a:r>
          </a:p>
        </p:txBody>
      </p:sp>
      <p:sp>
        <p:nvSpPr>
          <p:cNvPr id="21511" name="矩形 1"/>
          <p:cNvSpPr>
            <a:spLocks noChangeArrowheads="1"/>
          </p:cNvSpPr>
          <p:nvPr/>
        </p:nvSpPr>
        <p:spPr bwMode="auto">
          <a:xfrm>
            <a:off x="900112" y="5301208"/>
            <a:ext cx="72009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buClr>
                <a:srgbClr val="FF0000"/>
              </a:buClr>
              <a:buSzPct val="90000"/>
            </a:pPr>
            <a:r>
              <a:rPr lang="zh-CN" altLang="en-US" sz="2000" b="1" dirty="0">
                <a:latin typeface="楷体" panose="02010609060101010101" pitchFamily="49" charset="-122"/>
                <a:ea typeface="楷体" panose="02010609060101010101" pitchFamily="49" charset="-122"/>
              </a:rPr>
              <a:t>消除聚合体系</a:t>
            </a:r>
            <a:r>
              <a:rPr lang="zh-CN" altLang="en-US" sz="2000" b="1" u="sng" dirty="0">
                <a:latin typeface="楷体" panose="02010609060101010101" pitchFamily="49" charset="-122"/>
                <a:ea typeface="楷体" panose="02010609060101010101" pitchFamily="49" charset="-122"/>
              </a:rPr>
              <a:t>粘度</a:t>
            </a:r>
            <a:r>
              <a:rPr lang="zh-CN" altLang="en-US" sz="2000" b="1" dirty="0">
                <a:latin typeface="楷体" panose="02010609060101010101" pitchFamily="49" charset="-122"/>
                <a:ea typeface="楷体" panose="02010609060101010101" pitchFamily="49" charset="-122"/>
              </a:rPr>
              <a:t>过高所造成的影响，</a:t>
            </a:r>
            <a:endParaRPr lang="en-US" altLang="zh-CN" sz="2000" b="1" dirty="0">
              <a:latin typeface="楷体" panose="02010609060101010101" pitchFamily="49" charset="-122"/>
              <a:ea typeface="楷体" panose="02010609060101010101" pitchFamily="49" charset="-122"/>
            </a:endParaRPr>
          </a:p>
          <a:p>
            <a:pPr eaLnBrk="1" hangingPunct="1">
              <a:lnSpc>
                <a:spcPct val="135000"/>
              </a:lnSpc>
              <a:spcBef>
                <a:spcPct val="50000"/>
              </a:spcBef>
              <a:buClr>
                <a:srgbClr val="FF0000"/>
              </a:buClr>
              <a:buSzPct val="90000"/>
            </a:pPr>
            <a:r>
              <a:rPr lang="zh-CN" altLang="en-US" sz="2000" b="1" dirty="0">
                <a:latin typeface="楷体" panose="02010609060101010101" pitchFamily="49" charset="-122"/>
                <a:ea typeface="楷体" panose="02010609060101010101" pitchFamily="49" charset="-122"/>
              </a:rPr>
              <a:t>如</a:t>
            </a:r>
            <a:r>
              <a:rPr lang="zh-CN" altLang="en-US" sz="2000" b="1" dirty="0">
                <a:latin typeface="Arial" panose="020B0604020202020204" pitchFamily="34" charset="0"/>
                <a:ea typeface="楷体" panose="02010609060101010101" pitchFamily="49" charset="-122"/>
                <a:cs typeface="Arial" panose="020B0604020202020204" pitchFamily="34" charset="0"/>
              </a:rPr>
              <a:t>自加速现象，消除温度累积的影响</a:t>
            </a:r>
            <a:endParaRPr lang="en-US" altLang="zh-CN" sz="2000" b="1"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additive="base">
                                        <p:cTn id="7" dur="500" fill="hold"/>
                                        <p:tgtEl>
                                          <p:spTgt spid="21508"/>
                                        </p:tgtEl>
                                        <p:attrNameLst>
                                          <p:attrName>ppt_x</p:attrName>
                                        </p:attrNameLst>
                                      </p:cBhvr>
                                      <p:tavLst>
                                        <p:tav tm="0">
                                          <p:val>
                                            <p:strVal val="#ppt_x"/>
                                          </p:val>
                                        </p:tav>
                                        <p:tav tm="100000">
                                          <p:val>
                                            <p:strVal val="#ppt_x"/>
                                          </p:val>
                                        </p:tav>
                                      </p:tavLst>
                                    </p:anim>
                                    <p:anim calcmode="lin" valueType="num">
                                      <p:cBhvr additive="base">
                                        <p:cTn id="8"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10"/>
                                        </p:tgtEl>
                                        <p:attrNameLst>
                                          <p:attrName>style.visibility</p:attrName>
                                        </p:attrNameLst>
                                      </p:cBhvr>
                                      <p:to>
                                        <p:strVal val="visible"/>
                                      </p:to>
                                    </p:set>
                                    <p:anim calcmode="lin" valueType="num">
                                      <p:cBhvr additive="base">
                                        <p:cTn id="13" dur="500" fill="hold"/>
                                        <p:tgtEl>
                                          <p:spTgt spid="21510"/>
                                        </p:tgtEl>
                                        <p:attrNameLst>
                                          <p:attrName>ppt_x</p:attrName>
                                        </p:attrNameLst>
                                      </p:cBhvr>
                                      <p:tavLst>
                                        <p:tav tm="0">
                                          <p:val>
                                            <p:strVal val="#ppt_x"/>
                                          </p:val>
                                        </p:tav>
                                        <p:tav tm="100000">
                                          <p:val>
                                            <p:strVal val="#ppt_x"/>
                                          </p:val>
                                        </p:tav>
                                      </p:tavLst>
                                    </p:anim>
                                    <p:anim calcmode="lin" valueType="num">
                                      <p:cBhvr additive="base">
                                        <p:cTn id="14" dur="500" fill="hold"/>
                                        <p:tgtEl>
                                          <p:spTgt spid="2151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1511"/>
                                        </p:tgtEl>
                                        <p:attrNameLst>
                                          <p:attrName>style.visibility</p:attrName>
                                        </p:attrNameLst>
                                      </p:cBhvr>
                                      <p:to>
                                        <p:strVal val="visible"/>
                                      </p:to>
                                    </p:set>
                                    <p:anim calcmode="lin" valueType="num">
                                      <p:cBhvr additive="base">
                                        <p:cTn id="17" dur="500" fill="hold"/>
                                        <p:tgtEl>
                                          <p:spTgt spid="21511"/>
                                        </p:tgtEl>
                                        <p:attrNameLst>
                                          <p:attrName>ppt_x</p:attrName>
                                        </p:attrNameLst>
                                      </p:cBhvr>
                                      <p:tavLst>
                                        <p:tav tm="0">
                                          <p:val>
                                            <p:strVal val="#ppt_x"/>
                                          </p:val>
                                        </p:tav>
                                        <p:tav tm="100000">
                                          <p:val>
                                            <p:strVal val="#ppt_x"/>
                                          </p:val>
                                        </p:tav>
                                      </p:tavLst>
                                    </p:anim>
                                    <p:anim calcmode="lin" valueType="num">
                                      <p:cBhvr additive="base">
                                        <p:cTn id="18"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p:bldP spid="21510" grpId="0"/>
      <p:bldP spid="21511"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1" name="Text Box 2"/>
          <p:cNvSpPr txBox="1">
            <a:spLocks noChangeArrowheads="1"/>
          </p:cNvSpPr>
          <p:nvPr/>
        </p:nvSpPr>
        <p:spPr bwMode="auto">
          <a:xfrm>
            <a:off x="496119" y="1267618"/>
            <a:ext cx="8569325"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nSpc>
                <a:spcPct val="130000"/>
              </a:lnSpc>
              <a:spcBef>
                <a:spcPct val="0"/>
              </a:spcBef>
              <a:buClrTx/>
              <a:buSzTx/>
              <a:buFontTx/>
              <a:buNone/>
            </a:pPr>
            <a:r>
              <a:rPr lang="zh-CN" altLang="en-US" b="1">
                <a:solidFill>
                  <a:srgbClr val="FF0000"/>
                </a:solidFill>
                <a:latin typeface="楷体" panose="02010609060101010101" pitchFamily="49" charset="-122"/>
                <a:ea typeface="楷体" panose="02010609060101010101" pitchFamily="49" charset="-122"/>
              </a:rPr>
              <a:t>聚合方法：</a:t>
            </a:r>
            <a:r>
              <a:rPr lang="zh-CN" altLang="en-US" b="1">
                <a:latin typeface="楷体" panose="02010609060101010101" pitchFamily="49" charset="-122"/>
                <a:ea typeface="楷体" panose="02010609060101010101" pitchFamily="49" charset="-122"/>
              </a:rPr>
              <a:t>将单体转化为聚合物的实施方法。</a:t>
            </a:r>
          </a:p>
          <a:p>
            <a:pPr>
              <a:lnSpc>
                <a:spcPct val="130000"/>
              </a:lnSpc>
              <a:spcBef>
                <a:spcPct val="0"/>
              </a:spcBef>
              <a:buClrTx/>
              <a:buSzTx/>
              <a:buFontTx/>
              <a:buNone/>
            </a:pPr>
            <a:r>
              <a:rPr lang="zh-CN" altLang="en-US" b="1">
                <a:latin typeface="楷体" panose="02010609060101010101" pitchFamily="49" charset="-122"/>
                <a:ea typeface="楷体" panose="02010609060101010101" pitchFamily="49" charset="-122"/>
              </a:rPr>
              <a:t>根据所用单体的物性分为：</a:t>
            </a:r>
            <a:r>
              <a:rPr lang="zh-CN" altLang="en-US" b="1">
                <a:solidFill>
                  <a:srgbClr val="FF0000"/>
                </a:solidFill>
                <a:latin typeface="楷体" panose="02010609060101010101" pitchFamily="49" charset="-122"/>
                <a:ea typeface="楷体" panose="02010609060101010101" pitchFamily="49" charset="-122"/>
              </a:rPr>
              <a:t>气相聚合、液相聚合和固相聚合</a:t>
            </a:r>
            <a:r>
              <a:rPr lang="zh-CN" altLang="en-US">
                <a:solidFill>
                  <a:srgbClr val="FF0000"/>
                </a:solidFill>
                <a:latin typeface="楷体" panose="02010609060101010101" pitchFamily="49" charset="-122"/>
                <a:ea typeface="楷体" panose="02010609060101010101" pitchFamily="49" charset="-122"/>
              </a:rPr>
              <a:t>。</a:t>
            </a:r>
          </a:p>
          <a:p>
            <a:pPr>
              <a:lnSpc>
                <a:spcPct val="130000"/>
              </a:lnSpc>
              <a:spcBef>
                <a:spcPct val="0"/>
              </a:spcBef>
              <a:buClrTx/>
              <a:buSzTx/>
              <a:buFontTx/>
              <a:buNone/>
            </a:pPr>
            <a:endParaRPr lang="zh-CN" altLang="en-US">
              <a:latin typeface="楷体" panose="02010609060101010101" pitchFamily="49" charset="-122"/>
              <a:ea typeface="楷体" panose="02010609060101010101" pitchFamily="49" charset="-122"/>
            </a:endParaRPr>
          </a:p>
          <a:p>
            <a:pPr>
              <a:lnSpc>
                <a:spcPct val="130000"/>
              </a:lnSpc>
              <a:spcBef>
                <a:spcPct val="0"/>
              </a:spcBef>
              <a:buClrTx/>
              <a:buSzTx/>
              <a:buFont typeface="Symbol" panose="05050102010706020507" pitchFamily="18" charset="2"/>
              <a:buChar char="·"/>
            </a:pPr>
            <a:r>
              <a:rPr lang="zh-CN" altLang="en-US" b="1">
                <a:latin typeface="楷体" panose="02010609060101010101" pitchFamily="49" charset="-122"/>
                <a:ea typeface="楷体" panose="02010609060101010101" pitchFamily="49" charset="-122"/>
              </a:rPr>
              <a:t>  </a:t>
            </a:r>
            <a:r>
              <a:rPr lang="zh-CN" altLang="en-US" b="1">
                <a:solidFill>
                  <a:srgbClr val="FF0000"/>
                </a:solidFill>
                <a:latin typeface="楷体" panose="02010609060101010101" pitchFamily="49" charset="-122"/>
                <a:ea typeface="楷体" panose="02010609060101010101" pitchFamily="49" charset="-122"/>
              </a:rPr>
              <a:t>气相聚合</a:t>
            </a:r>
            <a:r>
              <a:rPr lang="en-US" altLang="zh-CN" b="1">
                <a:solidFill>
                  <a:srgbClr val="FF0000"/>
                </a:solidFill>
                <a:latin typeface="楷体" panose="02010609060101010101" pitchFamily="49" charset="-122"/>
                <a:ea typeface="楷体" panose="02010609060101010101" pitchFamily="49" charset="-122"/>
              </a:rPr>
              <a:t>: </a:t>
            </a:r>
            <a:r>
              <a:rPr lang="zh-CN" altLang="en-US" b="1">
                <a:latin typeface="楷体" panose="02010609060101010101" pitchFamily="49" charset="-122"/>
                <a:ea typeface="楷体" panose="02010609060101010101" pitchFamily="49" charset="-122"/>
              </a:rPr>
              <a:t>单体以气态形式加入，在聚合物固相或熔体中进行的聚合反应 。                                         </a:t>
            </a:r>
          </a:p>
          <a:p>
            <a:pPr>
              <a:lnSpc>
                <a:spcPct val="130000"/>
              </a:lnSpc>
              <a:spcBef>
                <a:spcPct val="0"/>
              </a:spcBef>
              <a:buClrTx/>
              <a:buSzTx/>
              <a:buFontTx/>
              <a:buNone/>
            </a:pPr>
            <a:r>
              <a:rPr lang="zh-CN" altLang="en-US" b="1">
                <a:solidFill>
                  <a:srgbClr val="FF0000"/>
                </a:solidFill>
                <a:latin typeface="楷体" panose="02010609060101010101" pitchFamily="49" charset="-122"/>
                <a:ea typeface="楷体" panose="02010609060101010101" pitchFamily="49" charset="-122"/>
              </a:rPr>
              <a:t>例：乙烯的高压气相聚合；</a:t>
            </a:r>
          </a:p>
          <a:p>
            <a:pPr>
              <a:lnSpc>
                <a:spcPct val="130000"/>
              </a:lnSpc>
              <a:spcBef>
                <a:spcPct val="60000"/>
              </a:spcBef>
              <a:buClrTx/>
              <a:buSzTx/>
              <a:buFont typeface="Symbol" panose="05050102010706020507" pitchFamily="18" charset="2"/>
              <a:buChar char="·"/>
            </a:pPr>
            <a:r>
              <a:rPr lang="zh-CN" altLang="en-US" b="1">
                <a:latin typeface="楷体" panose="02010609060101010101" pitchFamily="49" charset="-122"/>
                <a:ea typeface="楷体" panose="02010609060101010101" pitchFamily="49" charset="-122"/>
              </a:rPr>
              <a:t>  </a:t>
            </a:r>
            <a:r>
              <a:rPr lang="zh-CN" altLang="en-US" b="1">
                <a:solidFill>
                  <a:srgbClr val="FF0000"/>
                </a:solidFill>
                <a:latin typeface="楷体" panose="02010609060101010101" pitchFamily="49" charset="-122"/>
                <a:ea typeface="楷体" panose="02010609060101010101" pitchFamily="49" charset="-122"/>
              </a:rPr>
              <a:t>固相聚合</a:t>
            </a:r>
            <a:r>
              <a:rPr lang="en-US" altLang="zh-CN" b="1">
                <a:solidFill>
                  <a:srgbClr val="FF0000"/>
                </a:solidFill>
                <a:latin typeface="楷体" panose="02010609060101010101" pitchFamily="49" charset="-122"/>
                <a:ea typeface="楷体" panose="02010609060101010101" pitchFamily="49" charset="-122"/>
              </a:rPr>
              <a:t>: </a:t>
            </a:r>
            <a:r>
              <a:rPr lang="zh-CN" altLang="en-US" b="1">
                <a:latin typeface="楷体" panose="02010609060101010101" pitchFamily="49" charset="-122"/>
                <a:ea typeface="楷体" panose="02010609060101010101" pitchFamily="49" charset="-122"/>
              </a:rPr>
              <a:t>单体和聚合物均呈固态。</a:t>
            </a:r>
          </a:p>
          <a:p>
            <a:pPr>
              <a:lnSpc>
                <a:spcPct val="130000"/>
              </a:lnSpc>
              <a:spcBef>
                <a:spcPct val="0"/>
              </a:spcBef>
              <a:buClrTx/>
              <a:buSzTx/>
              <a:buFont typeface="Symbol" panose="05050102010706020507" pitchFamily="18" charset="2"/>
              <a:buNone/>
            </a:pPr>
            <a:r>
              <a:rPr lang="zh-CN" altLang="en-US" b="1">
                <a:solidFill>
                  <a:srgbClr val="FF0000"/>
                </a:solidFill>
                <a:latin typeface="楷体" panose="02010609060101010101" pitchFamily="49" charset="-122"/>
                <a:ea typeface="楷体" panose="02010609060101010101" pitchFamily="49" charset="-122"/>
              </a:rPr>
              <a:t>多用辐射引发方式进行固相聚合反应</a:t>
            </a:r>
          </a:p>
        </p:txBody>
      </p:sp>
      <p:sp>
        <p:nvSpPr>
          <p:cNvPr id="22532" name="矩形 1"/>
          <p:cNvSpPr>
            <a:spLocks noChangeArrowheads="1"/>
          </p:cNvSpPr>
          <p:nvPr/>
        </p:nvSpPr>
        <p:spPr bwMode="auto">
          <a:xfrm>
            <a:off x="467544" y="5733256"/>
            <a:ext cx="27384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b="1">
                <a:latin typeface="楷体" panose="02010609060101010101" pitchFamily="49" charset="-122"/>
                <a:ea typeface="楷体" panose="02010609060101010101" pitchFamily="49" charset="-122"/>
              </a:rPr>
              <a:t>液相聚合用途最广。</a:t>
            </a:r>
            <a:endParaRPr lang="en-US" altLang="zh-CN" b="1">
              <a:latin typeface="楷体" panose="02010609060101010101" pitchFamily="49" charset="-122"/>
              <a:ea typeface="楷体" panose="02010609060101010101" pitchFamily="49" charset="-122"/>
            </a:endParaRPr>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DC59A701-DD71-49EC-8FA6-A7A8744A6A71}" type="slidenum">
              <a:rPr lang="zh-CN" altLang="en-US" sz="1400" smtClean="0">
                <a:solidFill>
                  <a:srgbClr val="FFFFFF"/>
                </a:solidFill>
                <a:latin typeface="Times New Roman" panose="02020603050405020304" pitchFamily="18" charset="0"/>
              </a:rPr>
              <a:pPr>
                <a:spcBef>
                  <a:spcPct val="50000"/>
                </a:spcBef>
                <a:buClrTx/>
                <a:buSzTx/>
                <a:buFontTx/>
                <a:buNone/>
              </a:pPr>
              <a:t>8</a:t>
            </a:fld>
            <a:endParaRPr lang="en-US" altLang="zh-CN" sz="1400">
              <a:solidFill>
                <a:srgbClr val="FFFFFF"/>
              </a:solidFill>
              <a:latin typeface="Times New Roman" panose="02020603050405020304" pitchFamily="18" charset="0"/>
            </a:endParaRPr>
          </a:p>
        </p:txBody>
      </p:sp>
      <p:sp>
        <p:nvSpPr>
          <p:cNvPr id="23555" name="Rectangle 2"/>
          <p:cNvSpPr>
            <a:spLocks noChangeArrowheads="1"/>
          </p:cNvSpPr>
          <p:nvPr/>
        </p:nvSpPr>
        <p:spPr bwMode="auto">
          <a:xfrm>
            <a:off x="321137" y="576262"/>
            <a:ext cx="6608762" cy="533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nSpc>
                <a:spcPct val="120000"/>
              </a:lnSpc>
              <a:spcBef>
                <a:spcPct val="0"/>
              </a:spcBef>
              <a:buClrTx/>
              <a:buSzTx/>
              <a:buFontTx/>
              <a:buNone/>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自由基聚合的实施方法：</a:t>
            </a:r>
          </a:p>
          <a:p>
            <a:pPr>
              <a:lnSpc>
                <a:spcPct val="180000"/>
              </a:lnSpc>
              <a:spcBef>
                <a:spcPct val="0"/>
              </a:spcBef>
              <a:buClrTx/>
              <a:buSzTx/>
              <a:buFontTx/>
              <a:buNone/>
            </a:pP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80000"/>
              </a:lnSpc>
              <a:spcBef>
                <a:spcPct val="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本体聚合</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Bulk polymerization</a:t>
            </a:r>
          </a:p>
          <a:p>
            <a:pPr>
              <a:lnSpc>
                <a:spcPct val="180000"/>
              </a:lnSpc>
              <a:spcBef>
                <a:spcPct val="0"/>
              </a:spcBef>
              <a:buClrTx/>
              <a:buSzTx/>
              <a:buFontTx/>
              <a:buNone/>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进一步分为：气相、液相和固相本体聚合</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80000"/>
              </a:lnSpc>
              <a:spcBef>
                <a:spcPct val="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溶液聚合</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Solution polymerization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80000"/>
              </a:lnSpc>
              <a:spcBef>
                <a:spcPct val="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悬浮聚合</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Suspension polymerization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80000"/>
              </a:lnSpc>
              <a:spcBef>
                <a:spcPct val="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乳液聚合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Emulsion polymerization</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Bef>
                <a:spcPct val="0"/>
              </a:spcBef>
              <a:buClrTx/>
              <a:buSzTx/>
              <a:buFontTx/>
              <a:buNone/>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Bef>
                <a:spcPct val="0"/>
              </a:spcBef>
              <a:buClrTx/>
              <a:buSzTx/>
              <a:buFontTx/>
              <a:buNone/>
            </a:pP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556" name="Line 3"/>
          <p:cNvSpPr>
            <a:spLocks noChangeShapeType="1"/>
          </p:cNvSpPr>
          <p:nvPr/>
        </p:nvSpPr>
        <p:spPr bwMode="auto">
          <a:xfrm>
            <a:off x="6011863" y="2205038"/>
            <a:ext cx="771525" cy="78263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23557" name="Line 4"/>
          <p:cNvSpPr>
            <a:spLocks noChangeShapeType="1"/>
          </p:cNvSpPr>
          <p:nvPr/>
        </p:nvSpPr>
        <p:spPr bwMode="auto">
          <a:xfrm flipV="1">
            <a:off x="6011863" y="2987675"/>
            <a:ext cx="771525" cy="51276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23558" name="Line 5"/>
          <p:cNvSpPr>
            <a:spLocks noChangeShapeType="1"/>
          </p:cNvSpPr>
          <p:nvPr/>
        </p:nvSpPr>
        <p:spPr bwMode="auto">
          <a:xfrm>
            <a:off x="6011863" y="4113213"/>
            <a:ext cx="792162" cy="358775"/>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23559" name="Line 6"/>
          <p:cNvSpPr>
            <a:spLocks noChangeShapeType="1"/>
          </p:cNvSpPr>
          <p:nvPr/>
        </p:nvSpPr>
        <p:spPr bwMode="auto">
          <a:xfrm flipV="1">
            <a:off x="6011863" y="4471988"/>
            <a:ext cx="790575" cy="396875"/>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23560" name="Text Box 7"/>
          <p:cNvSpPr txBox="1">
            <a:spLocks noChangeArrowheads="1"/>
          </p:cNvSpPr>
          <p:nvPr/>
        </p:nvSpPr>
        <p:spPr bwMode="auto">
          <a:xfrm>
            <a:off x="6884988" y="2773363"/>
            <a:ext cx="122396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21600" bIns="1080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lnSpc>
                <a:spcPct val="120000"/>
              </a:lnSpc>
              <a:spcBef>
                <a:spcPct val="50000"/>
              </a:spcBef>
              <a:buClrTx/>
              <a:buSzTx/>
              <a:buFontTx/>
              <a:buNone/>
            </a:pPr>
            <a:r>
              <a:rPr lang="zh-CN" altLang="en-US" sz="2200">
                <a:solidFill>
                  <a:srgbClr val="FF0000"/>
                </a:solidFill>
                <a:latin typeface="Times New Roman" panose="02020603050405020304" pitchFamily="18" charset="0"/>
                <a:ea typeface="黑体" panose="02010609060101010101" pitchFamily="49" charset="-122"/>
              </a:rPr>
              <a:t>均相体系</a:t>
            </a:r>
          </a:p>
        </p:txBody>
      </p:sp>
      <p:sp>
        <p:nvSpPr>
          <p:cNvPr id="23561" name="Text Box 8"/>
          <p:cNvSpPr txBox="1">
            <a:spLocks noChangeArrowheads="1"/>
          </p:cNvSpPr>
          <p:nvPr/>
        </p:nvSpPr>
        <p:spPr bwMode="auto">
          <a:xfrm>
            <a:off x="6904038" y="4276725"/>
            <a:ext cx="143351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0800" rIns="21600" bIns="1080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20000"/>
              </a:lnSpc>
              <a:spcBef>
                <a:spcPct val="50000"/>
              </a:spcBef>
              <a:buClrTx/>
              <a:buSzTx/>
              <a:buFontTx/>
              <a:buNone/>
            </a:pPr>
            <a:r>
              <a:rPr lang="zh-CN" altLang="en-US" sz="2200">
                <a:solidFill>
                  <a:srgbClr val="FF0000"/>
                </a:solidFill>
                <a:latin typeface="Times New Roman" panose="02020603050405020304" pitchFamily="18" charset="0"/>
                <a:ea typeface="黑体" panose="02010609060101010101" pitchFamily="49" charset="-122"/>
              </a:rPr>
              <a:t>非均相体系</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 calcmode="lin" valueType="num">
                                      <p:cBhvr additive="base">
                                        <p:cTn id="7" dur="500" fill="hold"/>
                                        <p:tgtEl>
                                          <p:spTgt spid="23556"/>
                                        </p:tgtEl>
                                        <p:attrNameLst>
                                          <p:attrName>ppt_x</p:attrName>
                                        </p:attrNameLst>
                                      </p:cBhvr>
                                      <p:tavLst>
                                        <p:tav tm="0">
                                          <p:val>
                                            <p:strVal val="#ppt_x"/>
                                          </p:val>
                                        </p:tav>
                                        <p:tav tm="100000">
                                          <p:val>
                                            <p:strVal val="#ppt_x"/>
                                          </p:val>
                                        </p:tav>
                                      </p:tavLst>
                                    </p:anim>
                                    <p:anim calcmode="lin" valueType="num">
                                      <p:cBhvr additive="base">
                                        <p:cTn id="8" dur="500" fill="hold"/>
                                        <p:tgtEl>
                                          <p:spTgt spid="2355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57"/>
                                        </p:tgtEl>
                                        <p:attrNameLst>
                                          <p:attrName>style.visibility</p:attrName>
                                        </p:attrNameLst>
                                      </p:cBhvr>
                                      <p:to>
                                        <p:strVal val="visible"/>
                                      </p:to>
                                    </p:set>
                                    <p:anim calcmode="lin" valueType="num">
                                      <p:cBhvr additive="base">
                                        <p:cTn id="11" dur="500" fill="hold"/>
                                        <p:tgtEl>
                                          <p:spTgt spid="23557"/>
                                        </p:tgtEl>
                                        <p:attrNameLst>
                                          <p:attrName>ppt_x</p:attrName>
                                        </p:attrNameLst>
                                      </p:cBhvr>
                                      <p:tavLst>
                                        <p:tav tm="0">
                                          <p:val>
                                            <p:strVal val="#ppt_x"/>
                                          </p:val>
                                        </p:tav>
                                        <p:tav tm="100000">
                                          <p:val>
                                            <p:strVal val="#ppt_x"/>
                                          </p:val>
                                        </p:tav>
                                      </p:tavLst>
                                    </p:anim>
                                    <p:anim calcmode="lin" valueType="num">
                                      <p:cBhvr additive="base">
                                        <p:cTn id="12" dur="500" fill="hold"/>
                                        <p:tgtEl>
                                          <p:spTgt spid="2355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560"/>
                                        </p:tgtEl>
                                        <p:attrNameLst>
                                          <p:attrName>style.visibility</p:attrName>
                                        </p:attrNameLst>
                                      </p:cBhvr>
                                      <p:to>
                                        <p:strVal val="visible"/>
                                      </p:to>
                                    </p:set>
                                    <p:anim calcmode="lin" valueType="num">
                                      <p:cBhvr additive="base">
                                        <p:cTn id="15" dur="500" fill="hold"/>
                                        <p:tgtEl>
                                          <p:spTgt spid="23560"/>
                                        </p:tgtEl>
                                        <p:attrNameLst>
                                          <p:attrName>ppt_x</p:attrName>
                                        </p:attrNameLst>
                                      </p:cBhvr>
                                      <p:tavLst>
                                        <p:tav tm="0">
                                          <p:val>
                                            <p:strVal val="#ppt_x"/>
                                          </p:val>
                                        </p:tav>
                                        <p:tav tm="100000">
                                          <p:val>
                                            <p:strVal val="#ppt_x"/>
                                          </p:val>
                                        </p:tav>
                                      </p:tavLst>
                                    </p:anim>
                                    <p:anim calcmode="lin" valueType="num">
                                      <p:cBhvr additive="base">
                                        <p:cTn id="16" dur="500" fill="hold"/>
                                        <p:tgtEl>
                                          <p:spTgt spid="23560"/>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3558"/>
                                        </p:tgtEl>
                                        <p:attrNameLst>
                                          <p:attrName>style.visibility</p:attrName>
                                        </p:attrNameLst>
                                      </p:cBhvr>
                                      <p:to>
                                        <p:strVal val="visible"/>
                                      </p:to>
                                    </p:set>
                                    <p:anim calcmode="lin" valueType="num">
                                      <p:cBhvr additive="base">
                                        <p:cTn id="21" dur="500" fill="hold"/>
                                        <p:tgtEl>
                                          <p:spTgt spid="23558"/>
                                        </p:tgtEl>
                                        <p:attrNameLst>
                                          <p:attrName>ppt_x</p:attrName>
                                        </p:attrNameLst>
                                      </p:cBhvr>
                                      <p:tavLst>
                                        <p:tav tm="0">
                                          <p:val>
                                            <p:strVal val="#ppt_x"/>
                                          </p:val>
                                        </p:tav>
                                        <p:tav tm="100000">
                                          <p:val>
                                            <p:strVal val="#ppt_x"/>
                                          </p:val>
                                        </p:tav>
                                      </p:tavLst>
                                    </p:anim>
                                    <p:anim calcmode="lin" valueType="num">
                                      <p:cBhvr additive="base">
                                        <p:cTn id="22" dur="500" fill="hold"/>
                                        <p:tgtEl>
                                          <p:spTgt spid="2355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3559"/>
                                        </p:tgtEl>
                                        <p:attrNameLst>
                                          <p:attrName>style.visibility</p:attrName>
                                        </p:attrNameLst>
                                      </p:cBhvr>
                                      <p:to>
                                        <p:strVal val="visible"/>
                                      </p:to>
                                    </p:set>
                                    <p:anim calcmode="lin" valueType="num">
                                      <p:cBhvr additive="base">
                                        <p:cTn id="25" dur="500" fill="hold"/>
                                        <p:tgtEl>
                                          <p:spTgt spid="23559"/>
                                        </p:tgtEl>
                                        <p:attrNameLst>
                                          <p:attrName>ppt_x</p:attrName>
                                        </p:attrNameLst>
                                      </p:cBhvr>
                                      <p:tavLst>
                                        <p:tav tm="0">
                                          <p:val>
                                            <p:strVal val="#ppt_x"/>
                                          </p:val>
                                        </p:tav>
                                        <p:tav tm="100000">
                                          <p:val>
                                            <p:strVal val="#ppt_x"/>
                                          </p:val>
                                        </p:tav>
                                      </p:tavLst>
                                    </p:anim>
                                    <p:anim calcmode="lin" valueType="num">
                                      <p:cBhvr additive="base">
                                        <p:cTn id="26" dur="500" fill="hold"/>
                                        <p:tgtEl>
                                          <p:spTgt spid="2355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3561"/>
                                        </p:tgtEl>
                                        <p:attrNameLst>
                                          <p:attrName>style.visibility</p:attrName>
                                        </p:attrNameLst>
                                      </p:cBhvr>
                                      <p:to>
                                        <p:strVal val="visible"/>
                                      </p:to>
                                    </p:set>
                                    <p:anim calcmode="lin" valueType="num">
                                      <p:cBhvr additive="base">
                                        <p:cTn id="29" dur="500" fill="hold"/>
                                        <p:tgtEl>
                                          <p:spTgt spid="23561"/>
                                        </p:tgtEl>
                                        <p:attrNameLst>
                                          <p:attrName>ppt_x</p:attrName>
                                        </p:attrNameLst>
                                      </p:cBhvr>
                                      <p:tavLst>
                                        <p:tav tm="0">
                                          <p:val>
                                            <p:strVal val="#ppt_x"/>
                                          </p:val>
                                        </p:tav>
                                        <p:tav tm="100000">
                                          <p:val>
                                            <p:strVal val="#ppt_x"/>
                                          </p:val>
                                        </p:tav>
                                      </p:tavLst>
                                    </p:anim>
                                    <p:anim calcmode="lin" valueType="num">
                                      <p:cBhvr additive="base">
                                        <p:cTn id="30" dur="500" fill="hold"/>
                                        <p:tgtEl>
                                          <p:spTgt spid="235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0" grpId="0"/>
      <p:bldP spid="23561"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Line 3"/>
          <p:cNvSpPr>
            <a:spLocks noChangeShapeType="1"/>
          </p:cNvSpPr>
          <p:nvPr/>
        </p:nvSpPr>
        <p:spPr bwMode="auto">
          <a:xfrm flipV="1">
            <a:off x="1295206" y="2012280"/>
            <a:ext cx="2489200" cy="0"/>
          </a:xfrm>
          <a:prstGeom prst="line">
            <a:avLst/>
          </a:prstGeom>
          <a:noFill/>
          <a:ln w="158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79" name="Text Box 4"/>
          <p:cNvSpPr txBox="1">
            <a:spLocks noChangeArrowheads="1"/>
          </p:cNvSpPr>
          <p:nvPr/>
        </p:nvSpPr>
        <p:spPr bwMode="auto">
          <a:xfrm>
            <a:off x="1290444" y="1582068"/>
            <a:ext cx="259238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lnSpc>
                <a:spcPct val="120000"/>
              </a:lnSpc>
              <a:spcBef>
                <a:spcPct val="50000"/>
              </a:spcBef>
              <a:buClrTx/>
              <a:buSzTx/>
              <a:buFontTx/>
              <a:buNone/>
            </a:pPr>
            <a:r>
              <a:rPr lang="zh-CN" altLang="en-US" sz="1600" b="1">
                <a:latin typeface="楷体" panose="02010609060101010101" pitchFamily="49" charset="-122"/>
                <a:ea typeface="楷体" panose="02010609060101010101" pitchFamily="49" charset="-122"/>
              </a:rPr>
              <a:t>引发剂、热、光、辐照</a:t>
            </a:r>
          </a:p>
        </p:txBody>
      </p:sp>
      <p:sp>
        <p:nvSpPr>
          <p:cNvPr id="24580" name="Text Box 5"/>
          <p:cNvSpPr txBox="1">
            <a:spLocks noChangeArrowheads="1"/>
          </p:cNvSpPr>
          <p:nvPr/>
        </p:nvSpPr>
        <p:spPr bwMode="auto">
          <a:xfrm>
            <a:off x="4457506" y="1340768"/>
            <a:ext cx="3640138"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nSpc>
                <a:spcPct val="120000"/>
              </a:lnSpc>
              <a:spcBef>
                <a:spcPct val="0"/>
              </a:spcBef>
              <a:buClrTx/>
              <a:buSzTx/>
              <a:buFontTx/>
              <a:buNone/>
            </a:pPr>
            <a:r>
              <a:rPr lang="zh-CN" altLang="en-US" sz="2200" b="1" dirty="0">
                <a:latin typeface="楷体" panose="02010609060101010101" pitchFamily="49" charset="-122"/>
                <a:ea typeface="楷体" panose="02010609060101010101" pitchFamily="49" charset="-122"/>
              </a:rPr>
              <a:t>无溶剂，无稀释剂；                                                             或加入少量色料、增塑剂、润滑剂、分子量调节剂等</a:t>
            </a:r>
          </a:p>
        </p:txBody>
      </p:sp>
      <p:sp>
        <p:nvSpPr>
          <p:cNvPr id="24581" name="AutoShape 6">
            <a:extLst>
              <a:ext uri="{FF2B5EF4-FFF2-40B4-BE49-F238E27FC236}">
                <a16:creationId xmlns:a16="http://schemas.microsoft.com/office/drawing/2014/main" id="{11679820-6ABE-4F3D-9AA5-71466E4BFADC}"/>
              </a:ext>
            </a:extLst>
          </p:cNvPr>
          <p:cNvSpPr>
            <a:spLocks/>
          </p:cNvSpPr>
          <p:nvPr/>
        </p:nvSpPr>
        <p:spPr bwMode="auto">
          <a:xfrm>
            <a:off x="4176519" y="1572543"/>
            <a:ext cx="228600" cy="838200"/>
          </a:xfrm>
          <a:prstGeom prst="leftBrace">
            <a:avLst>
              <a:gd name="adj1" fmla="val 3055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20000"/>
              </a:lnSpc>
              <a:spcBef>
                <a:spcPct val="50000"/>
              </a:spcBef>
              <a:buClrTx/>
              <a:buSzTx/>
              <a:buFontTx/>
              <a:buNone/>
              <a:defRPr/>
            </a:pPr>
            <a:endParaRPr lang="zh-CN" altLang="en-US" sz="2200" b="1" dirty="0">
              <a:effectLst>
                <a:outerShdw blurRad="38100" dist="38100" dir="2700000" algn="tl">
                  <a:srgbClr val="000000">
                    <a:alpha val="43137"/>
                  </a:srgbClr>
                </a:outerShdw>
              </a:effectLst>
              <a:latin typeface="Times New Roman" panose="02020603050405020304" pitchFamily="18" charset="0"/>
            </a:endParaRPr>
          </a:p>
        </p:txBody>
      </p:sp>
      <p:sp>
        <p:nvSpPr>
          <p:cNvPr id="24582" name="Text Box 7"/>
          <p:cNvSpPr txBox="1">
            <a:spLocks noChangeArrowheads="1"/>
          </p:cNvSpPr>
          <p:nvPr/>
        </p:nvSpPr>
        <p:spPr bwMode="auto">
          <a:xfrm>
            <a:off x="2559907" y="2921000"/>
            <a:ext cx="552608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20000"/>
              </a:lnSpc>
              <a:spcBef>
                <a:spcPct val="0"/>
              </a:spcBef>
              <a:buClrTx/>
              <a:buSzTx/>
              <a:buFontTx/>
              <a:buNone/>
            </a:pPr>
            <a:r>
              <a:rPr lang="zh-CN" altLang="en-US" sz="2200" b="1" dirty="0">
                <a:latin typeface="楷体" panose="02010609060101010101" pitchFamily="49" charset="-122"/>
                <a:ea typeface="楷体" panose="02010609060101010101" pitchFamily="49" charset="-122"/>
              </a:rPr>
              <a:t>气态、液态、固态单体均可进行本体聚合</a:t>
            </a:r>
          </a:p>
        </p:txBody>
      </p:sp>
      <p:sp>
        <p:nvSpPr>
          <p:cNvPr id="24583" name="Rectangle 9"/>
          <p:cNvSpPr>
            <a:spLocks noChangeArrowheads="1"/>
          </p:cNvSpPr>
          <p:nvPr/>
        </p:nvSpPr>
        <p:spPr bwMode="auto">
          <a:xfrm>
            <a:off x="797207" y="3660105"/>
            <a:ext cx="7281863"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200" b="1" dirty="0">
                <a:solidFill>
                  <a:srgbClr val="FF0000"/>
                </a:solidFill>
                <a:latin typeface="楷体" panose="02010609060101010101" pitchFamily="49" charset="-122"/>
                <a:ea typeface="楷体" panose="02010609060101010101" pitchFamily="49" charset="-122"/>
              </a:rPr>
              <a:t>优点：</a:t>
            </a:r>
          </a:p>
          <a:p>
            <a:pPr>
              <a:spcBef>
                <a:spcPct val="0"/>
              </a:spcBef>
              <a:buClrTx/>
              <a:buSzTx/>
              <a:buFontTx/>
              <a:buNone/>
            </a:pPr>
            <a:r>
              <a:rPr lang="zh-CN" altLang="en-US" sz="2200" b="1" dirty="0">
                <a:solidFill>
                  <a:srgbClr val="FF0000"/>
                </a:solidFill>
                <a:latin typeface="楷体" panose="02010609060101010101" pitchFamily="49" charset="-122"/>
                <a:ea typeface="楷体" panose="02010609060101010101" pitchFamily="49" charset="-122"/>
              </a:rPr>
              <a:t>    产品纯度高，分子量大，可以直接制备成品或半成品</a:t>
            </a:r>
          </a:p>
          <a:p>
            <a:pPr>
              <a:spcBef>
                <a:spcPct val="0"/>
              </a:spcBef>
              <a:buClrTx/>
              <a:buSzTx/>
              <a:buFontTx/>
              <a:buNone/>
            </a:pPr>
            <a:r>
              <a:rPr lang="en-US" altLang="zh-CN" sz="2200" b="1" dirty="0">
                <a:latin typeface="楷体" panose="02010609060101010101" pitchFamily="49" charset="-122"/>
                <a:ea typeface="楷体" panose="02010609060101010101" pitchFamily="49" charset="-122"/>
              </a:rPr>
              <a:t>    </a:t>
            </a:r>
            <a:r>
              <a:rPr lang="zh-CN" altLang="en-US" sz="2200" b="1" dirty="0">
                <a:latin typeface="楷体" panose="02010609060101010101" pitchFamily="49" charset="-122"/>
                <a:ea typeface="楷体" panose="02010609060101010101" pitchFamily="49" charset="-122"/>
              </a:rPr>
              <a:t>如一些塑料镜片</a:t>
            </a:r>
            <a:endParaRPr lang="en-US" altLang="zh-CN" sz="2200" b="1" dirty="0">
              <a:latin typeface="楷体" panose="02010609060101010101" pitchFamily="49" charset="-122"/>
              <a:ea typeface="楷体" panose="02010609060101010101" pitchFamily="49" charset="-122"/>
            </a:endParaRPr>
          </a:p>
          <a:p>
            <a:pPr>
              <a:spcBef>
                <a:spcPct val="0"/>
              </a:spcBef>
              <a:buClrTx/>
              <a:buSzTx/>
              <a:buFontTx/>
              <a:buNone/>
            </a:pPr>
            <a:endParaRPr lang="en-US" altLang="zh-CN" sz="2200" b="1" dirty="0">
              <a:latin typeface="楷体" panose="02010609060101010101" pitchFamily="49" charset="-122"/>
              <a:ea typeface="楷体" panose="02010609060101010101" pitchFamily="49" charset="-122"/>
            </a:endParaRPr>
          </a:p>
          <a:p>
            <a:pPr>
              <a:spcBef>
                <a:spcPct val="0"/>
              </a:spcBef>
              <a:buClrTx/>
              <a:buSzTx/>
              <a:buFontTx/>
              <a:buNone/>
            </a:pPr>
            <a:r>
              <a:rPr lang="zh-CN" altLang="en-US" sz="2200" b="1" dirty="0">
                <a:latin typeface="楷体" panose="02010609060101010101" pitchFamily="49" charset="-122"/>
                <a:ea typeface="楷体" panose="02010609060101010101" pitchFamily="49" charset="-122"/>
              </a:rPr>
              <a:t>缺点：</a:t>
            </a:r>
          </a:p>
          <a:p>
            <a:pPr>
              <a:spcBef>
                <a:spcPct val="0"/>
              </a:spcBef>
              <a:buClrTx/>
              <a:buSzTx/>
              <a:buFontTx/>
              <a:buNone/>
            </a:pPr>
            <a:r>
              <a:rPr lang="zh-CN" altLang="en-US" sz="2200" b="1" dirty="0">
                <a:latin typeface="楷体" panose="02010609060101010101" pitchFamily="49" charset="-122"/>
                <a:ea typeface="楷体" panose="02010609060101010101" pitchFamily="49" charset="-122"/>
              </a:rPr>
              <a:t>    聚合热不易散发</a:t>
            </a:r>
            <a:r>
              <a:rPr lang="en-US" altLang="zh-CN" sz="2200" b="1" dirty="0">
                <a:latin typeface="楷体" panose="02010609060101010101" pitchFamily="49" charset="-122"/>
                <a:ea typeface="楷体" panose="02010609060101010101" pitchFamily="49" charset="-122"/>
              </a:rPr>
              <a:t>(</a:t>
            </a:r>
            <a:r>
              <a:rPr lang="zh-CN" altLang="en-US" sz="2200" b="1" dirty="0">
                <a:latin typeface="楷体" panose="02010609060101010101" pitchFamily="49" charset="-122"/>
                <a:ea typeface="楷体" panose="02010609060101010101" pitchFamily="49" charset="-122"/>
              </a:rPr>
              <a:t>聚合不能太快</a:t>
            </a:r>
            <a:r>
              <a:rPr lang="en-US" altLang="zh-CN" sz="2200" b="1" dirty="0">
                <a:latin typeface="楷体" panose="02010609060101010101" pitchFamily="49" charset="-122"/>
                <a:ea typeface="楷体" panose="02010609060101010101" pitchFamily="49" charset="-122"/>
              </a:rPr>
              <a:t>)</a:t>
            </a:r>
            <a:r>
              <a:rPr lang="zh-CN" altLang="en-US" sz="2200" b="1" dirty="0">
                <a:latin typeface="楷体" panose="02010609060101010101" pitchFamily="49" charset="-122"/>
                <a:ea typeface="楷体" panose="02010609060101010101" pitchFamily="49" charset="-122"/>
              </a:rPr>
              <a:t>。</a:t>
            </a:r>
          </a:p>
        </p:txBody>
      </p:sp>
      <p:sp>
        <p:nvSpPr>
          <p:cNvPr id="24584" name="Text Box 15"/>
          <p:cNvSpPr txBox="1">
            <a:spLocks noChangeArrowheads="1"/>
          </p:cNvSpPr>
          <p:nvPr/>
        </p:nvSpPr>
        <p:spPr bwMode="auto">
          <a:xfrm>
            <a:off x="250825" y="334963"/>
            <a:ext cx="554513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ea typeface="楷体" panose="02010609060101010101" pitchFamily="49" charset="-122"/>
                <a:cs typeface="Times New Roman" panose="02020603050405020304" pitchFamily="18" charset="0"/>
              </a:rPr>
              <a:t>§ </a:t>
            </a:r>
            <a:r>
              <a:rPr lang="zh-CN" altLang="en-US" sz="2400" b="1">
                <a:ea typeface="楷体" panose="02010609060101010101" pitchFamily="49" charset="-122"/>
                <a:cs typeface="Times New Roman" panose="02020603050405020304" pitchFamily="18" charset="0"/>
              </a:rPr>
              <a:t>5.2  本体聚合 </a:t>
            </a:r>
            <a:r>
              <a:rPr lang="en-US" altLang="zh-CN" sz="2400" b="1">
                <a:ea typeface="楷体" panose="02010609060101010101" pitchFamily="49" charset="-122"/>
                <a:cs typeface="Times New Roman" panose="02020603050405020304" pitchFamily="18" charset="0"/>
              </a:rPr>
              <a:t>(Bulk polymerization)</a:t>
            </a:r>
            <a:endParaRPr lang="zh-CN" altLang="en-US" sz="2400" b="1">
              <a:ea typeface="楷体" panose="02010609060101010101" pitchFamily="49" charset="-122"/>
              <a:cs typeface="Times New Roman" panose="02020603050405020304" pitchFamily="18" charset="0"/>
            </a:endParaRPr>
          </a:p>
        </p:txBody>
      </p:sp>
      <p:sp>
        <p:nvSpPr>
          <p:cNvPr id="24585" name="矩形 1"/>
          <p:cNvSpPr>
            <a:spLocks noChangeArrowheads="1"/>
          </p:cNvSpPr>
          <p:nvPr/>
        </p:nvSpPr>
        <p:spPr bwMode="auto">
          <a:xfrm>
            <a:off x="798319" y="1813843"/>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rPr>
              <a:t>M</a:t>
            </a:r>
            <a:endParaRPr lang="zh-CN" altLang="en-US">
              <a:solidFill>
                <a:srgbClr val="FF0000"/>
              </a:solidFill>
            </a:endParaRPr>
          </a:p>
        </p:txBody>
      </p:sp>
      <p:sp>
        <p:nvSpPr>
          <p:cNvPr id="24586" name="矩形 11"/>
          <p:cNvSpPr>
            <a:spLocks noChangeArrowheads="1"/>
          </p:cNvSpPr>
          <p:nvPr/>
        </p:nvSpPr>
        <p:spPr bwMode="auto">
          <a:xfrm>
            <a:off x="3784406" y="1775743"/>
            <a:ext cx="341313"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rPr>
              <a:t>P</a:t>
            </a:r>
            <a:endParaRPr lang="zh-CN" altLang="en-US">
              <a:solidFill>
                <a:srgbClr val="FF0000"/>
              </a:solidFill>
            </a:endParaRP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28B61226-94F8-4417-BBA0-A8C5FA806FF6}" type="slidenum">
              <a:rPr lang="zh-CN" altLang="en-US" sz="1400" smtClean="0">
                <a:solidFill>
                  <a:srgbClr val="FFFFFF"/>
                </a:solidFill>
                <a:latin typeface="Times New Roman" panose="02020603050405020304" pitchFamily="18" charset="0"/>
              </a:rPr>
              <a:pPr>
                <a:spcBef>
                  <a:spcPct val="50000"/>
                </a:spcBef>
                <a:buClrTx/>
                <a:buSzTx/>
                <a:buFontTx/>
                <a:buNone/>
              </a:pPr>
              <a:t>10</a:t>
            </a:fld>
            <a:endParaRPr lang="en-US" altLang="zh-CN" sz="1400">
              <a:solidFill>
                <a:srgbClr val="FFFFFF"/>
              </a:solidFill>
              <a:latin typeface="Times New Roman" panose="02020603050405020304" pitchFamily="18" charset="0"/>
            </a:endParaRPr>
          </a:p>
        </p:txBody>
      </p:sp>
      <p:sp>
        <p:nvSpPr>
          <p:cNvPr id="25603" name="Rectangle 2"/>
          <p:cNvSpPr>
            <a:spLocks noChangeArrowheads="1"/>
          </p:cNvSpPr>
          <p:nvPr/>
        </p:nvSpPr>
        <p:spPr bwMode="auto">
          <a:xfrm>
            <a:off x="611560" y="500080"/>
            <a:ext cx="7754937" cy="578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nSpc>
                <a:spcPct val="12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本体聚合按聚合物能否溶于单体中，分为：</a:t>
            </a:r>
          </a:p>
          <a:p>
            <a:pPr>
              <a:lnSpc>
                <a:spcPct val="120000"/>
              </a:lnSpc>
              <a:spcBef>
                <a:spcPct val="0"/>
              </a:spcBef>
              <a:buClrTx/>
              <a:buSzTx/>
              <a:buFontTx/>
              <a:buNone/>
            </a:pPr>
            <a:endParaRPr lang="zh-CN" altLang="en-US" sz="2200" b="1" dirty="0">
              <a:solidFill>
                <a:srgbClr val="0033CC"/>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均相聚合 (</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Homogeneous polymerization )</a:t>
            </a:r>
            <a:r>
              <a:rPr lang="en-US" altLang="zh-CN" sz="2200" b="1" dirty="0">
                <a:solidFill>
                  <a:srgbClr val="339933"/>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20000"/>
              </a:lnSpc>
              <a:spcBef>
                <a:spcPct val="0"/>
              </a:spcBef>
              <a:buClrTx/>
              <a:buSzTx/>
              <a:buFontTx/>
              <a:buNone/>
            </a:pP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生成的聚合物溶解于单体中，形成了均相体系；</a:t>
            </a:r>
          </a:p>
          <a:p>
            <a:pPr>
              <a:lnSpc>
                <a:spcPct val="120000"/>
              </a:lnSpc>
              <a:spcBef>
                <a:spcPct val="0"/>
              </a:spcBef>
              <a:buClrTx/>
              <a:buSzTx/>
              <a:buFontTx/>
              <a:buNone/>
            </a:pP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例： </a:t>
            </a:r>
            <a:r>
              <a:rPr lang="en-US" altLang="zh-CN" sz="2200" b="1" dirty="0" err="1">
                <a:latin typeface="Times New Roman" panose="02020603050405020304" pitchFamily="18" charset="0"/>
                <a:ea typeface="楷体" panose="02010609060101010101" pitchFamily="49" charset="-122"/>
                <a:cs typeface="Times New Roman" panose="02020603050405020304" pitchFamily="18" charset="0"/>
              </a:rPr>
              <a:t>St、MMA、VAc</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等单体的聚合</a:t>
            </a:r>
          </a:p>
          <a:p>
            <a:pPr>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特点：产物纯度高，且透明度很好，并适合于灌模</a:t>
            </a:r>
          </a:p>
          <a:p>
            <a:pPr>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成型聚合，制造一定规格型号的铸件或板材。</a:t>
            </a:r>
          </a:p>
          <a:p>
            <a:pPr>
              <a:lnSpc>
                <a:spcPct val="120000"/>
              </a:lnSpc>
              <a:spcBef>
                <a:spcPct val="0"/>
              </a:spcBef>
              <a:buClrTx/>
              <a:buSzTx/>
              <a:buFontTx/>
              <a:buNone/>
            </a:pPr>
            <a:endParaRPr lang="zh-CN" altLang="en-US" sz="2200" b="1" dirty="0">
              <a:solidFill>
                <a:srgbClr val="9A25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沉淀聚合</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非均相聚合，</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Heterogeneous polymerization)</a:t>
            </a:r>
          </a:p>
          <a:p>
            <a:pPr>
              <a:lnSpc>
                <a:spcPct val="120000"/>
              </a:lnSpc>
              <a:spcBef>
                <a:spcPct val="0"/>
              </a:spcBef>
              <a:buClrTx/>
              <a:buSzTx/>
              <a:buFontTx/>
              <a:buNone/>
            </a:pP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聚合时，生成的聚合物不溶于单体而不断析出，</a:t>
            </a:r>
          </a:p>
          <a:p>
            <a:pPr>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呈不透明白色不规则的颗粒状，纯度也很高。</a:t>
            </a:r>
          </a:p>
          <a:p>
            <a:pPr>
              <a:lnSpc>
                <a:spcPct val="120000"/>
              </a:lnSpc>
              <a:spcBef>
                <a:spcPct val="0"/>
              </a:spcBef>
              <a:buClrTx/>
              <a:buSzTx/>
              <a:buFontTx/>
              <a:buNone/>
            </a:pP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例：</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VC、VDC、AN</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等单体的聚合</a:t>
            </a: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F3722EEB-7E7F-44B7-A41F-1ADFF5D9CB03}" type="slidenum">
              <a:rPr lang="zh-CN" altLang="en-US" sz="1400" smtClean="0">
                <a:solidFill>
                  <a:srgbClr val="FFFFFF"/>
                </a:solidFill>
                <a:latin typeface="Times New Roman" panose="02020603050405020304" pitchFamily="18" charset="0"/>
              </a:rPr>
              <a:pPr>
                <a:spcBef>
                  <a:spcPct val="50000"/>
                </a:spcBef>
                <a:buClrTx/>
                <a:buSzTx/>
                <a:buFontTx/>
                <a:buNone/>
              </a:pPr>
              <a:t>11</a:t>
            </a:fld>
            <a:endParaRPr lang="en-US" altLang="zh-CN" sz="1400">
              <a:solidFill>
                <a:srgbClr val="FFFFFF"/>
              </a:solidFill>
              <a:latin typeface="Times New Roman" panose="02020603050405020304" pitchFamily="18" charset="0"/>
            </a:endParaRPr>
          </a:p>
        </p:txBody>
      </p:sp>
      <p:sp>
        <p:nvSpPr>
          <p:cNvPr id="21507" name="Text Box 2">
            <a:extLst>
              <a:ext uri="{FF2B5EF4-FFF2-40B4-BE49-F238E27FC236}">
                <a16:creationId xmlns:a16="http://schemas.microsoft.com/office/drawing/2014/main" id="{5FD9ACE0-0542-4B95-A83F-15CE0570528B}"/>
              </a:ext>
            </a:extLst>
          </p:cNvPr>
          <p:cNvSpPr txBox="1">
            <a:spLocks noChangeArrowheads="1"/>
          </p:cNvSpPr>
          <p:nvPr/>
        </p:nvSpPr>
        <p:spPr bwMode="auto">
          <a:xfrm>
            <a:off x="587376" y="1389975"/>
            <a:ext cx="7847012" cy="422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defRPr/>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聚合过程的传热措施</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defRPr/>
            </a:pPr>
            <a:endParaRPr lang="zh-CN" altLang="en-US" sz="2200" dirty="0">
              <a:solidFill>
                <a:srgbClr val="6600CC"/>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defRPr/>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当反应开始后，停止加热，甚至冷却，排除多余的热量；</a:t>
            </a:r>
          </a:p>
          <a:p>
            <a:pPr algn="just">
              <a:lnSpc>
                <a:spcPct val="120000"/>
              </a:lnSpc>
              <a:spcBef>
                <a:spcPct val="0"/>
              </a:spcBef>
              <a:buClrTx/>
              <a:buSzTx/>
              <a:buFontTx/>
              <a:buNone/>
              <a:defRPr/>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聚合分阶段进行，逐步升温，使热量有较充分时间散发；</a:t>
            </a:r>
          </a:p>
          <a:p>
            <a:pPr algn="just">
              <a:lnSpc>
                <a:spcPct val="120000"/>
              </a:lnSpc>
              <a:spcBef>
                <a:spcPct val="0"/>
              </a:spcBef>
              <a:buClrTx/>
              <a:buSzTx/>
              <a:buFontTx/>
              <a:buNone/>
              <a:defRPr/>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预聚时搅拌</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defRPr/>
            </a:pP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defRPr/>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工业上本体聚合可以</a:t>
            </a:r>
            <a:r>
              <a:rPr lang="zh-CN" altLang="en-US" sz="2200" b="1" dirty="0">
                <a:highlight>
                  <a:srgbClr val="FFFF00"/>
                </a:highlight>
                <a:latin typeface="Times New Roman" panose="02020603050405020304" pitchFamily="18" charset="0"/>
                <a:ea typeface="楷体" panose="02010609060101010101" pitchFamily="49" charset="-122"/>
                <a:cs typeface="Times New Roman" panose="02020603050405020304" pitchFamily="18" charset="0"/>
              </a:rPr>
              <a:t>间歇法</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和</a:t>
            </a:r>
            <a:r>
              <a:rPr lang="zh-CN" altLang="en-US" sz="2200" b="1" dirty="0">
                <a:highlight>
                  <a:srgbClr val="FFFF00"/>
                </a:highlight>
                <a:latin typeface="Times New Roman" panose="02020603050405020304" pitchFamily="18" charset="0"/>
                <a:ea typeface="楷体" panose="02010609060101010101" pitchFamily="49" charset="-122"/>
                <a:cs typeface="Times New Roman" panose="02020603050405020304" pitchFamily="18" charset="0"/>
              </a:rPr>
              <a:t>连续法</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生产，可浇铸脱模</a:t>
            </a:r>
          </a:p>
          <a:p>
            <a:pPr algn="just">
              <a:lnSpc>
                <a:spcPct val="140000"/>
              </a:lnSpc>
              <a:spcBef>
                <a:spcPct val="0"/>
              </a:spcBef>
              <a:buClrTx/>
              <a:buSzTx/>
              <a:buFontTx/>
              <a:buNone/>
              <a:defRPr/>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制板材、型材，也可由熔融体挤塑，造粒或成粉料等</a:t>
            </a:r>
          </a:p>
          <a:p>
            <a:pPr marL="342900" indent="-342900" algn="just">
              <a:lnSpc>
                <a:spcPct val="140000"/>
              </a:lnSpc>
              <a:spcBef>
                <a:spcPct val="0"/>
              </a:spcBef>
              <a:buClrTx/>
              <a:buSzTx/>
              <a:buFont typeface="Symbol" panose="05050102010706020507" pitchFamily="18" charset="2"/>
              <a:buChar char="·"/>
              <a:defRPr/>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本体聚合方法主要用于生产</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PVC</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塑料、</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PMMA、</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透明</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PS</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塑 </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40000"/>
              </a:lnSpc>
              <a:spcBef>
                <a:spcPct val="0"/>
              </a:spcBef>
              <a:buClrTx/>
              <a:buSzTx/>
              <a:buFont typeface="Wingdings" panose="05000000000000000000" pitchFamily="2" charset="2"/>
              <a:buNone/>
              <a:defRPr/>
            </a:pP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料，高压聚乙烯</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(LDPE)</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等。</a:t>
            </a:r>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CA990492-A9A1-43D1-A0E1-4C74A9111796}" type="slidenum">
              <a:rPr kumimoji="0" lang="zh-CN" altLang="en-US" sz="1400" smtClean="0">
                <a:solidFill>
                  <a:srgbClr val="FFFFFF"/>
                </a:solidFill>
              </a:rPr>
              <a:pPr/>
              <a:t>12</a:t>
            </a:fld>
            <a:endParaRPr kumimoji="0" lang="en-US" altLang="zh-CN" sz="1400">
              <a:solidFill>
                <a:srgbClr val="FFFFFF"/>
              </a:solidFill>
            </a:endParaRPr>
          </a:p>
        </p:txBody>
      </p:sp>
      <p:sp>
        <p:nvSpPr>
          <p:cNvPr id="26627" name="Text Box 2">
            <a:extLst>
              <a:ext uri="{FF2B5EF4-FFF2-40B4-BE49-F238E27FC236}">
                <a16:creationId xmlns:a16="http://schemas.microsoft.com/office/drawing/2014/main" id="{FD4DD2F1-012E-44B2-BFAF-C3A94B73D9FF}"/>
              </a:ext>
            </a:extLst>
          </p:cNvPr>
          <p:cNvSpPr txBox="1">
            <a:spLocks noChangeArrowheads="1"/>
          </p:cNvSpPr>
          <p:nvPr/>
        </p:nvSpPr>
        <p:spPr bwMode="auto">
          <a:xfrm>
            <a:off x="1004589" y="2561300"/>
            <a:ext cx="3657600" cy="320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fontAlgn="base">
              <a:spcBef>
                <a:spcPct val="0"/>
              </a:spcBef>
              <a:spcAft>
                <a:spcPct val="0"/>
              </a:spcAft>
              <a:defRPr>
                <a:solidFill>
                  <a:schemeClr val="tx1"/>
                </a:solidFill>
                <a:latin typeface="等线" pitchFamily="2" charset="-122"/>
                <a:ea typeface="等线" pitchFamily="2" charset="-122"/>
              </a:defRPr>
            </a:lvl6pPr>
            <a:lvl7pPr marL="2971800" indent="-228600" fontAlgn="base">
              <a:spcBef>
                <a:spcPct val="0"/>
              </a:spcBef>
              <a:spcAft>
                <a:spcPct val="0"/>
              </a:spcAft>
              <a:defRPr>
                <a:solidFill>
                  <a:schemeClr val="tx1"/>
                </a:solidFill>
                <a:latin typeface="等线" pitchFamily="2" charset="-122"/>
                <a:ea typeface="等线" pitchFamily="2" charset="-122"/>
              </a:defRPr>
            </a:lvl7pPr>
            <a:lvl8pPr marL="3429000" indent="-228600" fontAlgn="base">
              <a:spcBef>
                <a:spcPct val="0"/>
              </a:spcBef>
              <a:spcAft>
                <a:spcPct val="0"/>
              </a:spcAft>
              <a:defRPr>
                <a:solidFill>
                  <a:schemeClr val="tx1"/>
                </a:solidFill>
                <a:latin typeface="等线" pitchFamily="2" charset="-122"/>
                <a:ea typeface="等线" pitchFamily="2" charset="-122"/>
              </a:defRPr>
            </a:lvl8pPr>
            <a:lvl9pPr marL="3886200" indent="-228600" fontAlgn="base">
              <a:spcBef>
                <a:spcPct val="0"/>
              </a:spcBef>
              <a:spcAft>
                <a:spcPct val="0"/>
              </a:spcAft>
              <a:defRPr>
                <a:solidFill>
                  <a:schemeClr val="tx1"/>
                </a:solidFill>
                <a:latin typeface="等线" pitchFamily="2" charset="-122"/>
                <a:ea typeface="等线" pitchFamily="2" charset="-122"/>
              </a:defRPr>
            </a:lvl9pPr>
          </a:lstStyle>
          <a:p>
            <a:pPr eaLnBrk="1" hangingPunct="1">
              <a:lnSpc>
                <a:spcPct val="135000"/>
              </a:lnSpc>
              <a:spcBef>
                <a:spcPct val="50000"/>
              </a:spcBef>
              <a:defRPr/>
            </a:pPr>
            <a:r>
              <a:rPr lang="zh-CN" altLang="en-US" sz="2000" b="1" dirty="0">
                <a:latin typeface="楷体" panose="02010609060101010101" pitchFamily="49" charset="-122"/>
                <a:ea typeface="楷体" panose="02010609060101010101" pitchFamily="49" charset="-122"/>
                <a:sym typeface="Symbol" panose="05050102010706020507" pitchFamily="18" charset="2"/>
              </a:rPr>
              <a:t>强化传热的反应器设计：</a:t>
            </a:r>
          </a:p>
          <a:p>
            <a:pPr marL="285750" indent="-285750" eaLnBrk="1" hangingPunct="1">
              <a:lnSpc>
                <a:spcPct val="125000"/>
              </a:lnSpc>
              <a:spcBef>
                <a:spcPct val="50000"/>
              </a:spcBef>
              <a:buClr>
                <a:srgbClr val="FF0000"/>
              </a:buClr>
              <a:buSzPct val="90000"/>
              <a:buFont typeface="Wingdings" panose="05000000000000000000" pitchFamily="2" charset="2"/>
              <a:buChar char="u"/>
              <a:defRPr/>
            </a:pPr>
            <a:r>
              <a:rPr lang="zh-CN" altLang="en-US" sz="2000" b="1" dirty="0">
                <a:latin typeface="楷体" panose="02010609060101010101" pitchFamily="49" charset="-122"/>
                <a:ea typeface="楷体" panose="02010609060101010101" pitchFamily="49" charset="-122"/>
              </a:rPr>
              <a:t>多釜串联或釜塔串联</a:t>
            </a:r>
            <a:endParaRPr lang="en-US" altLang="zh-CN" sz="2000" b="1" dirty="0">
              <a:latin typeface="楷体" panose="02010609060101010101" pitchFamily="49" charset="-122"/>
              <a:ea typeface="楷体" panose="02010609060101010101" pitchFamily="49" charset="-122"/>
            </a:endParaRPr>
          </a:p>
          <a:p>
            <a:pPr marL="285750" indent="-285750" eaLnBrk="1" hangingPunct="1">
              <a:lnSpc>
                <a:spcPct val="125000"/>
              </a:lnSpc>
              <a:spcBef>
                <a:spcPct val="50000"/>
              </a:spcBef>
              <a:buClr>
                <a:srgbClr val="FF0000"/>
              </a:buClr>
              <a:buSzPct val="90000"/>
              <a:buFont typeface="Wingdings" panose="05000000000000000000" pitchFamily="2" charset="2"/>
              <a:buChar char="u"/>
              <a:defRPr/>
            </a:pPr>
            <a:r>
              <a:rPr lang="zh-CN" altLang="en-US" sz="2000" b="1" dirty="0">
                <a:latin typeface="楷体" panose="02010609060101010101" pitchFamily="49" charset="-122"/>
                <a:ea typeface="楷体" panose="02010609060101010101" pitchFamily="49" charset="-122"/>
              </a:rPr>
              <a:t>螺杆导流筒反应器</a:t>
            </a:r>
            <a:endParaRPr lang="en-US" altLang="zh-CN" sz="2000" b="1" dirty="0">
              <a:latin typeface="楷体" panose="02010609060101010101" pitchFamily="49" charset="-122"/>
              <a:ea typeface="楷体" panose="02010609060101010101" pitchFamily="49" charset="-122"/>
            </a:endParaRPr>
          </a:p>
          <a:p>
            <a:pPr marL="285750" indent="-285750" eaLnBrk="1" hangingPunct="1">
              <a:lnSpc>
                <a:spcPct val="125000"/>
              </a:lnSpc>
              <a:spcBef>
                <a:spcPct val="50000"/>
              </a:spcBef>
              <a:buClr>
                <a:srgbClr val="FF0000"/>
              </a:buClr>
              <a:buSzPct val="90000"/>
              <a:buFont typeface="Wingdings" panose="05000000000000000000" pitchFamily="2" charset="2"/>
              <a:buChar char="u"/>
              <a:defRPr/>
            </a:pPr>
            <a:r>
              <a:rPr lang="zh-CN" altLang="en-US" sz="2000" b="1" dirty="0">
                <a:latin typeface="楷体" panose="02010609060101010101" pitchFamily="49" charset="-122"/>
                <a:ea typeface="楷体" panose="02010609060101010101" pitchFamily="49" charset="-122"/>
              </a:rPr>
              <a:t>釜顶回流冷凝</a:t>
            </a:r>
            <a:endParaRPr lang="en-US" altLang="zh-CN" sz="2000" b="1" dirty="0">
              <a:latin typeface="楷体" panose="02010609060101010101" pitchFamily="49" charset="-122"/>
              <a:ea typeface="楷体" panose="02010609060101010101" pitchFamily="49" charset="-122"/>
            </a:endParaRPr>
          </a:p>
          <a:p>
            <a:pPr marL="285750" indent="-285750" eaLnBrk="1" hangingPunct="1">
              <a:lnSpc>
                <a:spcPct val="125000"/>
              </a:lnSpc>
              <a:spcBef>
                <a:spcPct val="50000"/>
              </a:spcBef>
              <a:buClr>
                <a:srgbClr val="FF0000"/>
              </a:buClr>
              <a:buSzPct val="90000"/>
              <a:buFont typeface="Wingdings" panose="05000000000000000000" pitchFamily="2" charset="2"/>
              <a:buChar char="u"/>
              <a:defRPr/>
            </a:pPr>
            <a:r>
              <a:rPr lang="zh-CN" altLang="en-US" sz="2000" b="1" dirty="0">
                <a:latin typeface="楷体" panose="02010609060101010101" pitchFamily="49" charset="-122"/>
                <a:ea typeface="楷体" panose="02010609060101010101" pitchFamily="49" charset="-122"/>
              </a:rPr>
              <a:t>釜外循环</a:t>
            </a:r>
            <a:endParaRPr lang="en-US" altLang="zh-CN" sz="2000" b="1" dirty="0">
              <a:latin typeface="楷体" panose="02010609060101010101" pitchFamily="49" charset="-122"/>
              <a:ea typeface="楷体" panose="02010609060101010101" pitchFamily="49" charset="-122"/>
            </a:endParaRPr>
          </a:p>
          <a:p>
            <a:pPr marL="285750" indent="-285750" eaLnBrk="1" hangingPunct="1">
              <a:lnSpc>
                <a:spcPct val="125000"/>
              </a:lnSpc>
              <a:spcBef>
                <a:spcPct val="50000"/>
              </a:spcBef>
              <a:buClr>
                <a:srgbClr val="FF0000"/>
              </a:buClr>
              <a:buSzPct val="90000"/>
              <a:buFont typeface="Wingdings" panose="05000000000000000000" pitchFamily="2" charset="2"/>
              <a:buChar char="u"/>
              <a:defRPr/>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endParaRPr lang="zh-CN" altLang="en-US" sz="2000" b="1" dirty="0">
              <a:latin typeface="楷体" panose="02010609060101010101" pitchFamily="49" charset="-122"/>
              <a:ea typeface="楷体" panose="02010609060101010101" pitchFamily="49" charset="-122"/>
            </a:endParaRPr>
          </a:p>
        </p:txBody>
      </p:sp>
      <p:pic>
        <p:nvPicPr>
          <p:cNvPr id="276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2126457"/>
            <a:ext cx="2738437" cy="3886200"/>
          </a:xfrm>
          <a:prstGeom prst="rect">
            <a:avLst/>
          </a:prstGeom>
          <a:noFill/>
          <a:ln>
            <a:noFill/>
          </a:ln>
          <a:effectLst/>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3" name="Rectangle 5"/>
          <p:cNvSpPr>
            <a:spLocks noChangeArrowheads="1"/>
          </p:cNvSpPr>
          <p:nvPr/>
        </p:nvSpPr>
        <p:spPr bwMode="auto">
          <a:xfrm>
            <a:off x="539552" y="1124744"/>
            <a:ext cx="7391400" cy="100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b="1" dirty="0">
                <a:solidFill>
                  <a:schemeClr val="tx2"/>
                </a:solidFill>
                <a:latin typeface="等线" panose="02010600030101010101" pitchFamily="2" charset="-122"/>
                <a:ea typeface="楷体_GB2312" pitchFamily="49" charset="-122"/>
                <a:sym typeface="Symbol" panose="05050102010706020507" pitchFamily="18" charset="2"/>
              </a:rPr>
              <a:t>        </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本体聚合如传热问题得以解决，凝胶效应还能被用来制备超高分子量聚合物</a:t>
            </a:r>
            <a:r>
              <a:rPr lang="en-US" altLang="zh-CN"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(UHMW Polymer)。</a:t>
            </a:r>
            <a:endPar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p:txBody>
      </p:sp>
    </p:spTree>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1C77198D-E1B4-436D-98A9-517DDDE16E18}" type="slidenum">
              <a:rPr lang="zh-CN" altLang="en-US" sz="1400" smtClean="0">
                <a:solidFill>
                  <a:srgbClr val="FFFFFF"/>
                </a:solidFill>
                <a:latin typeface="Times New Roman" panose="02020603050405020304" pitchFamily="18" charset="0"/>
              </a:rPr>
              <a:pPr>
                <a:spcBef>
                  <a:spcPct val="50000"/>
                </a:spcBef>
                <a:buClrTx/>
                <a:buSzTx/>
                <a:buFontTx/>
                <a:buNone/>
              </a:pPr>
              <a:t>13</a:t>
            </a:fld>
            <a:endParaRPr lang="en-US" altLang="zh-CN" sz="1400">
              <a:solidFill>
                <a:srgbClr val="FFFFFF"/>
              </a:solidFill>
              <a:latin typeface="Times New Roman" panose="02020603050405020304" pitchFamily="18" charset="0"/>
            </a:endParaRPr>
          </a:p>
        </p:txBody>
      </p:sp>
      <p:sp>
        <p:nvSpPr>
          <p:cNvPr id="28675" name="Text Box 2"/>
          <p:cNvSpPr txBox="1">
            <a:spLocks noChangeArrowheads="1"/>
          </p:cNvSpPr>
          <p:nvPr/>
        </p:nvSpPr>
        <p:spPr bwMode="auto">
          <a:xfrm>
            <a:off x="395288" y="1238251"/>
            <a:ext cx="7239000" cy="189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20000"/>
              </a:lnSpc>
              <a:spcBef>
                <a:spcPct val="0"/>
              </a:spcBef>
              <a:buClrTx/>
              <a:buSzTx/>
              <a:buFontTx/>
              <a:buNone/>
            </a:pPr>
            <a:r>
              <a:rPr lang="zh-CN" altLang="en-US" sz="2100" b="1" dirty="0">
                <a:latin typeface="楷体" panose="02010609060101010101" pitchFamily="49" charset="-122"/>
                <a:ea typeface="楷体" panose="02010609060101010101" pitchFamily="49" charset="-122"/>
              </a:rPr>
              <a:t>把单体和引发剂溶解在溶剂中进行聚合的方法</a:t>
            </a:r>
          </a:p>
          <a:p>
            <a:pPr algn="just">
              <a:lnSpc>
                <a:spcPct val="120000"/>
              </a:lnSpc>
              <a:spcBef>
                <a:spcPts val="1200"/>
              </a:spcBef>
              <a:buClrTx/>
              <a:buSzTx/>
              <a:buFontTx/>
              <a:buNone/>
            </a:pPr>
            <a:r>
              <a:rPr lang="zh-CN" altLang="en-US" sz="2100" b="1" dirty="0">
                <a:solidFill>
                  <a:srgbClr val="FF0000"/>
                </a:solidFill>
                <a:latin typeface="楷体" panose="02010609060101010101" pitchFamily="49" charset="-122"/>
                <a:ea typeface="楷体" panose="02010609060101010101" pitchFamily="49" charset="-122"/>
              </a:rPr>
              <a:t>均相聚合 —— 生成的聚合物溶于溶剂</a:t>
            </a:r>
          </a:p>
          <a:p>
            <a:pPr algn="just">
              <a:lnSpc>
                <a:spcPct val="120000"/>
              </a:lnSpc>
              <a:spcBef>
                <a:spcPct val="0"/>
              </a:spcBef>
              <a:buClrTx/>
              <a:buSzTx/>
              <a:buFontTx/>
              <a:buNone/>
            </a:pPr>
            <a:r>
              <a:rPr lang="zh-CN" altLang="en-US" sz="2100" b="1" dirty="0">
                <a:solidFill>
                  <a:srgbClr val="FF0000"/>
                </a:solidFill>
                <a:latin typeface="楷体" panose="02010609060101010101" pitchFamily="49" charset="-122"/>
                <a:ea typeface="楷体" panose="02010609060101010101" pitchFamily="49" charset="-122"/>
              </a:rPr>
              <a:t>非均相聚合 —— 生成的聚合物不溶于溶剂</a:t>
            </a:r>
          </a:p>
          <a:p>
            <a:pPr eaLnBrk="1" hangingPunct="1">
              <a:spcBef>
                <a:spcPct val="50000"/>
              </a:spcBef>
              <a:buClrTx/>
              <a:buSzTx/>
              <a:buFontTx/>
              <a:buNone/>
            </a:pPr>
            <a:endParaRPr lang="zh-CN" altLang="en-US" sz="2100" dirty="0">
              <a:latin typeface="楷体" panose="02010609060101010101" pitchFamily="49" charset="-122"/>
              <a:ea typeface="楷体" panose="02010609060101010101" pitchFamily="49" charset="-122"/>
            </a:endParaRPr>
          </a:p>
        </p:txBody>
      </p:sp>
      <p:sp>
        <p:nvSpPr>
          <p:cNvPr id="28676" name="Text Box 4"/>
          <p:cNvSpPr txBox="1">
            <a:spLocks noChangeArrowheads="1"/>
          </p:cNvSpPr>
          <p:nvPr/>
        </p:nvSpPr>
        <p:spPr bwMode="auto">
          <a:xfrm>
            <a:off x="315913" y="2679700"/>
            <a:ext cx="53340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100" b="1">
                <a:latin typeface="楷体" panose="02010609060101010101" pitchFamily="49" charset="-122"/>
                <a:ea typeface="楷体" panose="02010609060101010101" pitchFamily="49" charset="-122"/>
              </a:rPr>
              <a:t>工艺流程：</a:t>
            </a:r>
          </a:p>
          <a:p>
            <a:pPr algn="just">
              <a:spcBef>
                <a:spcPct val="0"/>
              </a:spcBef>
              <a:buClrTx/>
              <a:buSzTx/>
              <a:buFontTx/>
              <a:buNone/>
            </a:pPr>
            <a:endParaRPr lang="zh-CN" altLang="en-US" sz="2100" b="1">
              <a:latin typeface="楷体" panose="02010609060101010101" pitchFamily="49" charset="-122"/>
              <a:ea typeface="楷体" panose="02010609060101010101" pitchFamily="49" charset="-122"/>
            </a:endParaRPr>
          </a:p>
          <a:p>
            <a:pPr algn="just">
              <a:spcBef>
                <a:spcPct val="0"/>
              </a:spcBef>
              <a:buClrTx/>
              <a:buSzTx/>
              <a:buFontTx/>
              <a:buNone/>
            </a:pPr>
            <a:r>
              <a:rPr lang="zh-CN" altLang="en-US" sz="2100" b="1">
                <a:latin typeface="楷体" panose="02010609060101010101" pitchFamily="49" charset="-122"/>
                <a:ea typeface="楷体" panose="02010609060101010101" pitchFamily="49" charset="-122"/>
              </a:rPr>
              <a:t>单体＋引发剂＋溶剂</a:t>
            </a:r>
          </a:p>
        </p:txBody>
      </p:sp>
      <p:sp>
        <p:nvSpPr>
          <p:cNvPr id="28677" name="Line 5"/>
          <p:cNvSpPr>
            <a:spLocks noChangeShapeType="1"/>
          </p:cNvSpPr>
          <p:nvPr/>
        </p:nvSpPr>
        <p:spPr bwMode="auto">
          <a:xfrm>
            <a:off x="3055938" y="35814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8" name="Line 6"/>
          <p:cNvSpPr>
            <a:spLocks noChangeShapeType="1"/>
          </p:cNvSpPr>
          <p:nvPr/>
        </p:nvSpPr>
        <p:spPr bwMode="auto">
          <a:xfrm flipV="1">
            <a:off x="3989388" y="3124200"/>
            <a:ext cx="5334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9" name="Line 7"/>
          <p:cNvSpPr>
            <a:spLocks noChangeShapeType="1"/>
          </p:cNvSpPr>
          <p:nvPr/>
        </p:nvSpPr>
        <p:spPr bwMode="auto">
          <a:xfrm>
            <a:off x="3989388" y="3657600"/>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0" name="Text Box 8"/>
          <p:cNvSpPr txBox="1">
            <a:spLocks noChangeArrowheads="1"/>
          </p:cNvSpPr>
          <p:nvPr/>
        </p:nvSpPr>
        <p:spPr bwMode="auto">
          <a:xfrm>
            <a:off x="3055938" y="3181350"/>
            <a:ext cx="8572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b="1">
                <a:latin typeface="楷体" panose="02010609060101010101" pitchFamily="49" charset="-122"/>
                <a:ea typeface="楷体" panose="02010609060101010101" pitchFamily="49" charset="-122"/>
              </a:rPr>
              <a:t>聚合</a:t>
            </a:r>
          </a:p>
        </p:txBody>
      </p:sp>
      <p:sp>
        <p:nvSpPr>
          <p:cNvPr id="23561" name="Rectangle 9"/>
          <p:cNvSpPr>
            <a:spLocks noChangeArrowheads="1"/>
          </p:cNvSpPr>
          <p:nvPr/>
        </p:nvSpPr>
        <p:spPr bwMode="auto">
          <a:xfrm>
            <a:off x="4598988" y="2867025"/>
            <a:ext cx="3429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100" b="1">
                <a:latin typeface="楷体" panose="02010609060101010101" pitchFamily="49" charset="-122"/>
                <a:ea typeface="楷体" panose="02010609060101010101" pitchFamily="49" charset="-122"/>
              </a:rPr>
              <a:t>聚合物沉淀 </a:t>
            </a:r>
            <a:r>
              <a:rPr lang="zh-CN" altLang="en-US" sz="2100" b="1">
                <a:latin typeface="楷体" panose="02010609060101010101" pitchFamily="49" charset="-122"/>
                <a:ea typeface="楷体" panose="02010609060101010101" pitchFamily="49" charset="-122"/>
                <a:sym typeface="Symbol" panose="05050102010706020507" pitchFamily="18" charset="2"/>
              </a:rPr>
              <a:t></a:t>
            </a:r>
            <a:r>
              <a:rPr lang="zh-CN" altLang="en-US" sz="2100" b="1">
                <a:latin typeface="楷体" panose="02010609060101010101" pitchFamily="49" charset="-122"/>
                <a:ea typeface="楷体" panose="02010609060101010101" pitchFamily="49" charset="-122"/>
              </a:rPr>
              <a:t> 过滤</a:t>
            </a:r>
          </a:p>
        </p:txBody>
      </p:sp>
      <p:sp>
        <p:nvSpPr>
          <p:cNvPr id="28682" name="Text Box 10"/>
          <p:cNvSpPr txBox="1">
            <a:spLocks noChangeArrowheads="1"/>
          </p:cNvSpPr>
          <p:nvPr/>
        </p:nvSpPr>
        <p:spPr bwMode="auto">
          <a:xfrm>
            <a:off x="3227388" y="3581400"/>
            <a:ext cx="381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a:latin typeface="Times New Roman" panose="02020603050405020304" pitchFamily="18" charset="0"/>
                <a:sym typeface="Symbol" panose="05050102010706020507" pitchFamily="18" charset="2"/>
              </a:rPr>
              <a:t></a:t>
            </a:r>
            <a:endParaRPr lang="zh-CN" altLang="en-US" sz="2100">
              <a:latin typeface="Times New Roman" panose="02020603050405020304" pitchFamily="18" charset="0"/>
            </a:endParaRPr>
          </a:p>
        </p:txBody>
      </p:sp>
      <p:sp>
        <p:nvSpPr>
          <p:cNvPr id="23563" name="Text Box 11"/>
          <p:cNvSpPr txBox="1">
            <a:spLocks noChangeArrowheads="1"/>
          </p:cNvSpPr>
          <p:nvPr/>
        </p:nvSpPr>
        <p:spPr bwMode="auto">
          <a:xfrm>
            <a:off x="4598988" y="3657600"/>
            <a:ext cx="17716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a:solidFill>
                  <a:srgbClr val="FF0000"/>
                </a:solidFill>
                <a:latin typeface="楷体" panose="02010609060101010101" pitchFamily="49" charset="-122"/>
                <a:ea typeface="楷体" panose="02010609060101010101" pitchFamily="49" charset="-122"/>
              </a:rPr>
              <a:t>（</a:t>
            </a:r>
            <a:r>
              <a:rPr lang="zh-CN" altLang="en-US" sz="2100" b="1">
                <a:solidFill>
                  <a:srgbClr val="FF0000"/>
                </a:solidFill>
                <a:latin typeface="楷体" panose="02010609060101010101" pitchFamily="49" charset="-122"/>
                <a:ea typeface="楷体" panose="02010609060101010101" pitchFamily="49" charset="-122"/>
              </a:rPr>
              <a:t>均相</a:t>
            </a:r>
            <a:r>
              <a:rPr lang="zh-CN" altLang="en-US" sz="2100">
                <a:solidFill>
                  <a:srgbClr val="FF0000"/>
                </a:solidFill>
                <a:latin typeface="楷体" panose="02010609060101010101" pitchFamily="49" charset="-122"/>
                <a:ea typeface="楷体" panose="02010609060101010101" pitchFamily="49" charset="-122"/>
              </a:rPr>
              <a:t>）</a:t>
            </a:r>
          </a:p>
        </p:txBody>
      </p:sp>
      <p:sp>
        <p:nvSpPr>
          <p:cNvPr id="23564" name="Text Box 12"/>
          <p:cNvSpPr txBox="1">
            <a:spLocks noChangeArrowheads="1"/>
          </p:cNvSpPr>
          <p:nvPr/>
        </p:nvSpPr>
        <p:spPr bwMode="auto">
          <a:xfrm>
            <a:off x="6923088" y="2849563"/>
            <a:ext cx="17907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a:solidFill>
                  <a:srgbClr val="FF0000"/>
                </a:solidFill>
                <a:latin typeface="楷体" panose="02010609060101010101" pitchFamily="49" charset="-122"/>
                <a:ea typeface="楷体" panose="02010609060101010101" pitchFamily="49" charset="-122"/>
              </a:rPr>
              <a:t>（</a:t>
            </a:r>
            <a:r>
              <a:rPr lang="zh-CN" altLang="en-US" sz="2100" b="1">
                <a:solidFill>
                  <a:srgbClr val="FF0000"/>
                </a:solidFill>
                <a:latin typeface="楷体" panose="02010609060101010101" pitchFamily="49" charset="-122"/>
                <a:ea typeface="楷体" panose="02010609060101010101" pitchFamily="49" charset="-122"/>
              </a:rPr>
              <a:t>非均相</a:t>
            </a:r>
            <a:r>
              <a:rPr lang="zh-CN" altLang="en-US" sz="2100">
                <a:solidFill>
                  <a:srgbClr val="FF0000"/>
                </a:solidFill>
                <a:latin typeface="楷体" panose="02010609060101010101" pitchFamily="49" charset="-122"/>
                <a:ea typeface="楷体" panose="02010609060101010101" pitchFamily="49" charset="-122"/>
              </a:rPr>
              <a:t>）</a:t>
            </a:r>
          </a:p>
        </p:txBody>
      </p:sp>
      <p:sp>
        <p:nvSpPr>
          <p:cNvPr id="23565" name="Rectangle 13"/>
          <p:cNvSpPr>
            <a:spLocks noChangeArrowheads="1"/>
          </p:cNvSpPr>
          <p:nvPr/>
        </p:nvSpPr>
        <p:spPr bwMode="auto">
          <a:xfrm>
            <a:off x="4446588" y="4048125"/>
            <a:ext cx="356711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100">
                <a:latin typeface="楷体" panose="02010609060101010101" pitchFamily="49" charset="-122"/>
                <a:ea typeface="楷体" panose="02010609060101010101" pitchFamily="49" charset="-122"/>
              </a:rPr>
              <a:t> </a:t>
            </a:r>
            <a:r>
              <a:rPr lang="zh-CN" altLang="en-US" sz="2100" b="1">
                <a:latin typeface="楷体" panose="02010609060101010101" pitchFamily="49" charset="-122"/>
                <a:ea typeface="楷体" panose="02010609060101010101" pitchFamily="49" charset="-122"/>
              </a:rPr>
              <a:t>聚合物溶液 </a:t>
            </a:r>
            <a:r>
              <a:rPr lang="zh-CN" altLang="en-US" sz="2100" b="1">
                <a:latin typeface="楷体" panose="02010609060101010101" pitchFamily="49" charset="-122"/>
                <a:ea typeface="楷体" panose="02010609060101010101" pitchFamily="49" charset="-122"/>
                <a:sym typeface="Symbol" panose="05050102010706020507" pitchFamily="18" charset="2"/>
              </a:rPr>
              <a:t></a:t>
            </a:r>
            <a:r>
              <a:rPr lang="zh-CN" altLang="en-US" sz="2100" b="1">
                <a:latin typeface="楷体" panose="02010609060101010101" pitchFamily="49" charset="-122"/>
                <a:ea typeface="楷体" panose="02010609060101010101" pitchFamily="49" charset="-122"/>
              </a:rPr>
              <a:t> 直接做涂料</a:t>
            </a:r>
          </a:p>
        </p:txBody>
      </p:sp>
      <p:sp>
        <p:nvSpPr>
          <p:cNvPr id="23566" name="Rectangle 14"/>
          <p:cNvSpPr>
            <a:spLocks noChangeArrowheads="1"/>
          </p:cNvSpPr>
          <p:nvPr/>
        </p:nvSpPr>
        <p:spPr bwMode="auto">
          <a:xfrm>
            <a:off x="4217988" y="5153025"/>
            <a:ext cx="152558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100" b="1">
                <a:latin typeface="楷体" panose="02010609060101010101" pitchFamily="49" charset="-122"/>
                <a:ea typeface="楷体" panose="02010609060101010101" pitchFamily="49" charset="-122"/>
              </a:rPr>
              <a:t>固体聚合物</a:t>
            </a:r>
          </a:p>
        </p:txBody>
      </p:sp>
      <p:sp>
        <p:nvSpPr>
          <p:cNvPr id="23567" name="Text Box 15"/>
          <p:cNvSpPr txBox="1">
            <a:spLocks noChangeArrowheads="1"/>
          </p:cNvSpPr>
          <p:nvPr/>
        </p:nvSpPr>
        <p:spPr bwMode="auto">
          <a:xfrm>
            <a:off x="4979988" y="4495800"/>
            <a:ext cx="189388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100" b="1">
                <a:latin typeface="楷体" panose="02010609060101010101" pitchFamily="49" charset="-122"/>
                <a:ea typeface="楷体" panose="02010609060101010101" pitchFamily="49" charset="-122"/>
              </a:rPr>
              <a:t>加入沉淀剂</a:t>
            </a:r>
          </a:p>
        </p:txBody>
      </p:sp>
      <p:sp>
        <p:nvSpPr>
          <p:cNvPr id="23568" name="Line 16"/>
          <p:cNvSpPr>
            <a:spLocks noChangeShapeType="1"/>
          </p:cNvSpPr>
          <p:nvPr/>
        </p:nvSpPr>
        <p:spPr bwMode="auto">
          <a:xfrm>
            <a:off x="4979988" y="44196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9" name="Text Box 17"/>
          <p:cNvSpPr txBox="1">
            <a:spLocks noChangeArrowheads="1"/>
          </p:cNvSpPr>
          <p:nvPr/>
        </p:nvSpPr>
        <p:spPr bwMode="auto">
          <a:xfrm>
            <a:off x="4662488" y="6126163"/>
            <a:ext cx="40386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100" b="1">
                <a:latin typeface="楷体" panose="02010609060101010101" pitchFamily="49" charset="-122"/>
                <a:ea typeface="楷体" panose="02010609060101010101" pitchFamily="49" charset="-122"/>
              </a:rPr>
              <a:t>过滤 </a:t>
            </a:r>
            <a:r>
              <a:rPr lang="zh-CN" altLang="en-US" sz="2100" b="1">
                <a:latin typeface="楷体" panose="02010609060101010101" pitchFamily="49" charset="-122"/>
                <a:ea typeface="楷体" panose="02010609060101010101" pitchFamily="49" charset="-122"/>
                <a:sym typeface="Symbol" panose="05050102010706020507" pitchFamily="18" charset="2"/>
              </a:rPr>
              <a:t></a:t>
            </a:r>
            <a:r>
              <a:rPr lang="zh-CN" altLang="en-US" sz="2100" b="1">
                <a:latin typeface="楷体" panose="02010609060101010101" pitchFamily="49" charset="-122"/>
                <a:ea typeface="楷体" panose="02010609060101010101" pitchFamily="49" charset="-122"/>
              </a:rPr>
              <a:t> 洗涤 </a:t>
            </a:r>
            <a:r>
              <a:rPr lang="zh-CN" altLang="en-US" sz="2100" b="1">
                <a:latin typeface="楷体" panose="02010609060101010101" pitchFamily="49" charset="-122"/>
                <a:ea typeface="楷体" panose="02010609060101010101" pitchFamily="49" charset="-122"/>
                <a:sym typeface="Symbol" panose="05050102010706020507" pitchFamily="18" charset="2"/>
              </a:rPr>
              <a:t></a:t>
            </a:r>
            <a:r>
              <a:rPr lang="zh-CN" altLang="en-US" sz="2100" b="1">
                <a:latin typeface="楷体" panose="02010609060101010101" pitchFamily="49" charset="-122"/>
                <a:ea typeface="楷体" panose="02010609060101010101" pitchFamily="49" charset="-122"/>
              </a:rPr>
              <a:t> 干燥 </a:t>
            </a:r>
            <a:r>
              <a:rPr lang="zh-CN" altLang="en-US" sz="2100" b="1">
                <a:latin typeface="楷体" panose="02010609060101010101" pitchFamily="49" charset="-122"/>
                <a:ea typeface="楷体" panose="02010609060101010101" pitchFamily="49" charset="-122"/>
                <a:sym typeface="Symbol" panose="05050102010706020507" pitchFamily="18" charset="2"/>
              </a:rPr>
              <a:t></a:t>
            </a:r>
            <a:r>
              <a:rPr lang="zh-CN" altLang="en-US" sz="2100" b="1">
                <a:latin typeface="楷体" panose="02010609060101010101" pitchFamily="49" charset="-122"/>
                <a:ea typeface="楷体" panose="02010609060101010101" pitchFamily="49" charset="-122"/>
              </a:rPr>
              <a:t> 产物</a:t>
            </a:r>
          </a:p>
        </p:txBody>
      </p:sp>
      <p:sp>
        <p:nvSpPr>
          <p:cNvPr id="23570" name="Line 18"/>
          <p:cNvSpPr>
            <a:spLocks noChangeShapeType="1"/>
          </p:cNvSpPr>
          <p:nvPr/>
        </p:nvSpPr>
        <p:spPr bwMode="auto">
          <a:xfrm>
            <a:off x="4979988" y="55626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1" name="Text Box 15"/>
          <p:cNvSpPr txBox="1">
            <a:spLocks noChangeArrowheads="1"/>
          </p:cNvSpPr>
          <p:nvPr/>
        </p:nvSpPr>
        <p:spPr bwMode="auto">
          <a:xfrm>
            <a:off x="420688" y="614363"/>
            <a:ext cx="6985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ea typeface="楷体" panose="02010609060101010101" pitchFamily="49" charset="-122"/>
                <a:cs typeface="Times New Roman" panose="02020603050405020304" pitchFamily="18" charset="0"/>
              </a:rPr>
              <a:t>§ </a:t>
            </a:r>
            <a:r>
              <a:rPr lang="zh-CN" altLang="en-US" sz="2400" b="1" dirty="0">
                <a:ea typeface="楷体" panose="02010609060101010101" pitchFamily="49" charset="-122"/>
                <a:cs typeface="Times New Roman" panose="02020603050405020304" pitchFamily="18" charset="0"/>
              </a:rPr>
              <a:t>5.</a:t>
            </a:r>
            <a:r>
              <a:rPr lang="en-US" altLang="zh-CN" sz="2400" b="1" dirty="0">
                <a:ea typeface="楷体" panose="02010609060101010101" pitchFamily="49" charset="-122"/>
                <a:cs typeface="Times New Roman" panose="02020603050405020304" pitchFamily="18" charset="0"/>
              </a:rPr>
              <a:t>3</a:t>
            </a:r>
            <a:r>
              <a:rPr lang="zh-CN" altLang="en-US" sz="2400" b="1" dirty="0">
                <a:ea typeface="楷体" panose="02010609060101010101" pitchFamily="49" charset="-122"/>
                <a:cs typeface="Times New Roman" panose="02020603050405020304" pitchFamily="18" charset="0"/>
              </a:rPr>
              <a:t>  溶液聚合 </a:t>
            </a:r>
            <a:r>
              <a:rPr lang="en-US" altLang="zh-CN" sz="2400" b="1" dirty="0">
                <a:ea typeface="楷体" panose="02010609060101010101" pitchFamily="49" charset="-122"/>
                <a:cs typeface="Times New Roman" panose="02020603050405020304" pitchFamily="18" charset="0"/>
              </a:rPr>
              <a:t>(Solution polymerization)</a:t>
            </a:r>
            <a:endParaRPr lang="zh-CN" altLang="en-US" sz="2400" b="1" dirty="0">
              <a:ea typeface="楷体" panose="02010609060101010101" pitchFamily="49" charset="-122"/>
              <a:cs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61"/>
                                        </p:tgtEl>
                                        <p:attrNameLst>
                                          <p:attrName>style.visibility</p:attrName>
                                        </p:attrNameLst>
                                      </p:cBhvr>
                                      <p:to>
                                        <p:strVal val="visible"/>
                                      </p:to>
                                    </p:set>
                                    <p:anim calcmode="lin" valueType="num">
                                      <p:cBhvr additive="base">
                                        <p:cTn id="7" dur="500" fill="hold"/>
                                        <p:tgtEl>
                                          <p:spTgt spid="23561"/>
                                        </p:tgtEl>
                                        <p:attrNameLst>
                                          <p:attrName>ppt_x</p:attrName>
                                        </p:attrNameLst>
                                      </p:cBhvr>
                                      <p:tavLst>
                                        <p:tav tm="0">
                                          <p:val>
                                            <p:strVal val="#ppt_x"/>
                                          </p:val>
                                        </p:tav>
                                        <p:tav tm="100000">
                                          <p:val>
                                            <p:strVal val="#ppt_x"/>
                                          </p:val>
                                        </p:tav>
                                      </p:tavLst>
                                    </p:anim>
                                    <p:anim calcmode="lin" valueType="num">
                                      <p:cBhvr additive="base">
                                        <p:cTn id="8" dur="500" fill="hold"/>
                                        <p:tgtEl>
                                          <p:spTgt spid="235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564"/>
                                        </p:tgtEl>
                                        <p:attrNameLst>
                                          <p:attrName>style.visibility</p:attrName>
                                        </p:attrNameLst>
                                      </p:cBhvr>
                                      <p:to>
                                        <p:strVal val="visible"/>
                                      </p:to>
                                    </p:set>
                                    <p:anim calcmode="lin" valueType="num">
                                      <p:cBhvr additive="base">
                                        <p:cTn id="11" dur="500" fill="hold"/>
                                        <p:tgtEl>
                                          <p:spTgt spid="23564"/>
                                        </p:tgtEl>
                                        <p:attrNameLst>
                                          <p:attrName>ppt_x</p:attrName>
                                        </p:attrNameLst>
                                      </p:cBhvr>
                                      <p:tavLst>
                                        <p:tav tm="0">
                                          <p:val>
                                            <p:strVal val="#ppt_x"/>
                                          </p:val>
                                        </p:tav>
                                        <p:tav tm="100000">
                                          <p:val>
                                            <p:strVal val="#ppt_x"/>
                                          </p:val>
                                        </p:tav>
                                      </p:tavLst>
                                    </p:anim>
                                    <p:anim calcmode="lin" valueType="num">
                                      <p:cBhvr additive="base">
                                        <p:cTn id="12" dur="500" fill="hold"/>
                                        <p:tgtEl>
                                          <p:spTgt spid="23564"/>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5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6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3568"/>
                                        </p:tgtEl>
                                        <p:attrNameLst>
                                          <p:attrName>style.visibility</p:attrName>
                                        </p:attrNameLst>
                                      </p:cBhvr>
                                      <p:to>
                                        <p:strVal val="visible"/>
                                      </p:to>
                                    </p:set>
                                    <p:anim calcmode="lin" valueType="num">
                                      <p:cBhvr additive="base">
                                        <p:cTn id="23" dur="500" fill="hold"/>
                                        <p:tgtEl>
                                          <p:spTgt spid="23568"/>
                                        </p:tgtEl>
                                        <p:attrNameLst>
                                          <p:attrName>ppt_x</p:attrName>
                                        </p:attrNameLst>
                                      </p:cBhvr>
                                      <p:tavLst>
                                        <p:tav tm="0">
                                          <p:val>
                                            <p:strVal val="#ppt_x"/>
                                          </p:val>
                                        </p:tav>
                                        <p:tav tm="100000">
                                          <p:val>
                                            <p:strVal val="#ppt_x"/>
                                          </p:val>
                                        </p:tav>
                                      </p:tavLst>
                                    </p:anim>
                                    <p:anim calcmode="lin" valueType="num">
                                      <p:cBhvr additive="base">
                                        <p:cTn id="24" dur="500" fill="hold"/>
                                        <p:tgtEl>
                                          <p:spTgt spid="2356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3567"/>
                                        </p:tgtEl>
                                        <p:attrNameLst>
                                          <p:attrName>style.visibility</p:attrName>
                                        </p:attrNameLst>
                                      </p:cBhvr>
                                      <p:to>
                                        <p:strVal val="visible"/>
                                      </p:to>
                                    </p:set>
                                    <p:anim calcmode="lin" valueType="num">
                                      <p:cBhvr additive="base">
                                        <p:cTn id="27" dur="500" fill="hold"/>
                                        <p:tgtEl>
                                          <p:spTgt spid="23567"/>
                                        </p:tgtEl>
                                        <p:attrNameLst>
                                          <p:attrName>ppt_x</p:attrName>
                                        </p:attrNameLst>
                                      </p:cBhvr>
                                      <p:tavLst>
                                        <p:tav tm="0">
                                          <p:val>
                                            <p:strVal val="#ppt_x"/>
                                          </p:val>
                                        </p:tav>
                                        <p:tav tm="100000">
                                          <p:val>
                                            <p:strVal val="#ppt_x"/>
                                          </p:val>
                                        </p:tav>
                                      </p:tavLst>
                                    </p:anim>
                                    <p:anim calcmode="lin" valueType="num">
                                      <p:cBhvr additive="base">
                                        <p:cTn id="28" dur="500" fill="hold"/>
                                        <p:tgtEl>
                                          <p:spTgt spid="2356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3566"/>
                                        </p:tgtEl>
                                        <p:attrNameLst>
                                          <p:attrName>style.visibility</p:attrName>
                                        </p:attrNameLst>
                                      </p:cBhvr>
                                      <p:to>
                                        <p:strVal val="visible"/>
                                      </p:to>
                                    </p:set>
                                    <p:anim calcmode="lin" valueType="num">
                                      <p:cBhvr additive="base">
                                        <p:cTn id="31" dur="500" fill="hold"/>
                                        <p:tgtEl>
                                          <p:spTgt spid="23566"/>
                                        </p:tgtEl>
                                        <p:attrNameLst>
                                          <p:attrName>ppt_x</p:attrName>
                                        </p:attrNameLst>
                                      </p:cBhvr>
                                      <p:tavLst>
                                        <p:tav tm="0">
                                          <p:val>
                                            <p:strVal val="#ppt_x"/>
                                          </p:val>
                                        </p:tav>
                                        <p:tav tm="100000">
                                          <p:val>
                                            <p:strVal val="#ppt_x"/>
                                          </p:val>
                                        </p:tav>
                                      </p:tavLst>
                                    </p:anim>
                                    <p:anim calcmode="lin" valueType="num">
                                      <p:cBhvr additive="base">
                                        <p:cTn id="32" dur="500" fill="hold"/>
                                        <p:tgtEl>
                                          <p:spTgt spid="2356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3570"/>
                                        </p:tgtEl>
                                        <p:attrNameLst>
                                          <p:attrName>style.visibility</p:attrName>
                                        </p:attrNameLst>
                                      </p:cBhvr>
                                      <p:to>
                                        <p:strVal val="visible"/>
                                      </p:to>
                                    </p:set>
                                    <p:anim calcmode="lin" valueType="num">
                                      <p:cBhvr additive="base">
                                        <p:cTn id="35" dur="500" fill="hold"/>
                                        <p:tgtEl>
                                          <p:spTgt spid="23570"/>
                                        </p:tgtEl>
                                        <p:attrNameLst>
                                          <p:attrName>ppt_x</p:attrName>
                                        </p:attrNameLst>
                                      </p:cBhvr>
                                      <p:tavLst>
                                        <p:tav tm="0">
                                          <p:val>
                                            <p:strVal val="#ppt_x"/>
                                          </p:val>
                                        </p:tav>
                                        <p:tav tm="100000">
                                          <p:val>
                                            <p:strVal val="#ppt_x"/>
                                          </p:val>
                                        </p:tav>
                                      </p:tavLst>
                                    </p:anim>
                                    <p:anim calcmode="lin" valueType="num">
                                      <p:cBhvr additive="base">
                                        <p:cTn id="36" dur="500" fill="hold"/>
                                        <p:tgtEl>
                                          <p:spTgt spid="2357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3569"/>
                                        </p:tgtEl>
                                        <p:attrNameLst>
                                          <p:attrName>style.visibility</p:attrName>
                                        </p:attrNameLst>
                                      </p:cBhvr>
                                      <p:to>
                                        <p:strVal val="visible"/>
                                      </p:to>
                                    </p:set>
                                    <p:anim calcmode="lin" valueType="num">
                                      <p:cBhvr additive="base">
                                        <p:cTn id="39" dur="500" fill="hold"/>
                                        <p:tgtEl>
                                          <p:spTgt spid="23569"/>
                                        </p:tgtEl>
                                        <p:attrNameLst>
                                          <p:attrName>ppt_x</p:attrName>
                                        </p:attrNameLst>
                                      </p:cBhvr>
                                      <p:tavLst>
                                        <p:tav tm="0">
                                          <p:val>
                                            <p:strVal val="#ppt_x"/>
                                          </p:val>
                                        </p:tav>
                                        <p:tav tm="100000">
                                          <p:val>
                                            <p:strVal val="#ppt_x"/>
                                          </p:val>
                                        </p:tav>
                                      </p:tavLst>
                                    </p:anim>
                                    <p:anim calcmode="lin" valueType="num">
                                      <p:cBhvr additive="base">
                                        <p:cTn id="40" dur="500" fill="hold"/>
                                        <p:tgtEl>
                                          <p:spTgt spid="235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p:bldP spid="23563" grpId="0"/>
      <p:bldP spid="23564" grpId="0"/>
      <p:bldP spid="23565" grpId="0"/>
      <p:bldP spid="23566" grpId="0"/>
      <p:bldP spid="23567" grpId="0"/>
      <p:bldP spid="23569"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E89D48CA-EB80-4D37-B53A-DDA963D67F06}" type="slidenum">
              <a:rPr lang="zh-CN" altLang="en-US" sz="1400" smtClean="0">
                <a:solidFill>
                  <a:srgbClr val="FFFFFF"/>
                </a:solidFill>
                <a:latin typeface="Times New Roman" panose="02020603050405020304" pitchFamily="18" charset="0"/>
              </a:rPr>
              <a:pPr>
                <a:spcBef>
                  <a:spcPct val="50000"/>
                </a:spcBef>
                <a:buClrTx/>
                <a:buSzTx/>
                <a:buFontTx/>
                <a:buNone/>
              </a:pPr>
              <a:t>14</a:t>
            </a:fld>
            <a:endParaRPr lang="en-US" altLang="zh-CN" sz="1400">
              <a:solidFill>
                <a:srgbClr val="FFFFFF"/>
              </a:solidFill>
              <a:latin typeface="Times New Roman" panose="02020603050405020304" pitchFamily="18" charset="0"/>
            </a:endParaRPr>
          </a:p>
        </p:txBody>
      </p:sp>
      <p:sp>
        <p:nvSpPr>
          <p:cNvPr id="29699" name="Text Box 2"/>
          <p:cNvSpPr txBox="1">
            <a:spLocks noChangeArrowheads="1"/>
          </p:cNvSpPr>
          <p:nvPr/>
        </p:nvSpPr>
        <p:spPr bwMode="auto">
          <a:xfrm>
            <a:off x="611560" y="836712"/>
            <a:ext cx="8064500" cy="56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20000"/>
              </a:lnSpc>
              <a:spcBef>
                <a:spcPct val="0"/>
              </a:spcBef>
              <a:buClrTx/>
              <a:buSzTx/>
              <a:buFontTx/>
              <a:buNone/>
            </a:pPr>
            <a:r>
              <a:rPr lang="zh-CN" altLang="en-US" sz="21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溶液聚合的优点：</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1）由于溶剂可以吸收热量，降低反应速度，使反应缓和，</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      温度较易控制</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2）体系粘度小，可以搅拌，聚合热易散发，所得聚合物分子</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      量分布较均匀</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3）体系中聚合物浓度低，不易发生链自由基向大分子转移，</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      故不易生成支化或交联产物。</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4）可以通过溶剂的用量来控制产物的分子量，对制造低分子量</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       的聚合物具有特殊意义。</a:t>
            </a:r>
          </a:p>
          <a:p>
            <a:pPr algn="just">
              <a:lnSpc>
                <a:spcPct val="120000"/>
              </a:lnSpc>
              <a:spcBef>
                <a:spcPct val="0"/>
              </a:spcBef>
              <a:buClrTx/>
              <a:buSzTx/>
              <a:buFontTx/>
              <a:buNone/>
            </a:pPr>
            <a:endParaRPr lang="zh-CN" altLang="en-US" sz="1000" b="1" dirty="0">
              <a:solidFill>
                <a:srgbClr val="6600CC"/>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1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缺点：</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100" b="1" dirty="0">
                <a:latin typeface="Times New Roman" panose="02020603050405020304" pitchFamily="18" charset="0"/>
                <a:ea typeface="楷体" panose="02010609060101010101" pitchFamily="49" charset="-122"/>
                <a:cs typeface="Times New Roman" panose="02020603050405020304" pitchFamily="18" charset="0"/>
              </a:rPr>
              <a:t>M] </a:t>
            </a: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低，</a:t>
            </a:r>
            <a:r>
              <a:rPr lang="en-US" altLang="zh-CN" sz="2100"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sz="2100" b="1" baseline="-25000"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小，设备利用效率和生产能力较低。</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2）可能发生向溶剂链转移，致使聚合物分子量较低。</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3）后处理麻烦，溶剂分离回收费用高，特别是聚合物中残存</a:t>
            </a:r>
          </a:p>
          <a:p>
            <a:pPr algn="just">
              <a:lnSpc>
                <a:spcPct val="120000"/>
              </a:lnSpc>
              <a:spcBef>
                <a:spcPct val="0"/>
              </a:spcBef>
              <a:buClrTx/>
              <a:buSzTx/>
              <a:buFontTx/>
              <a:buNone/>
            </a:pPr>
            <a:r>
              <a:rPr lang="zh-CN" altLang="en-US" sz="2100" b="1" dirty="0">
                <a:latin typeface="Times New Roman" panose="02020603050405020304" pitchFamily="18" charset="0"/>
                <a:ea typeface="楷体" panose="02010609060101010101" pitchFamily="49" charset="-122"/>
                <a:cs typeface="Times New Roman" panose="02020603050405020304" pitchFamily="18" charset="0"/>
              </a:rPr>
              <a:t>      的溶剂会影响聚合物的纯度。</a:t>
            </a: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467544" y="1329729"/>
            <a:ext cx="7991475"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000" b="1" dirty="0">
                <a:latin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借助于搅拌、分散剂把溶有引发剂的单体以微球形式悬浮分散在介质中进行聚合的方法</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要求单体不溶解或略微溶于介质</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30000"/>
              </a:spcBef>
              <a:buClrTx/>
              <a:buSzTx/>
              <a:buFontTx/>
              <a:buNone/>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     动力学与本体聚合相似，可视为极多小单位</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小颗粒</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的本体聚合，同样也有均相聚合和沉淀聚合之分。</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St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MMA</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的悬浮聚合属于均相聚合，</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VC</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的悬浮聚合则属于沉淀聚合。</a:t>
            </a:r>
          </a:p>
        </p:txBody>
      </p:sp>
      <p:sp>
        <p:nvSpPr>
          <p:cNvPr id="30723" name="Text Box 3"/>
          <p:cNvSpPr txBox="1">
            <a:spLocks noChangeArrowheads="1"/>
          </p:cNvSpPr>
          <p:nvPr/>
        </p:nvSpPr>
        <p:spPr bwMode="auto">
          <a:xfrm>
            <a:off x="371475" y="3147220"/>
            <a:ext cx="8280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000" b="1" dirty="0">
                <a:solidFill>
                  <a:srgbClr val="FF0000"/>
                </a:solidFill>
                <a:latin typeface="楷体" panose="02010609060101010101" pitchFamily="49" charset="-122"/>
                <a:ea typeface="楷体" panose="02010609060101010101" pitchFamily="49" charset="-122"/>
              </a:rPr>
              <a:t>悬浮聚合的工艺过程：</a:t>
            </a:r>
          </a:p>
          <a:p>
            <a:pPr algn="just">
              <a:spcBef>
                <a:spcPct val="0"/>
              </a:spcBef>
              <a:buClrTx/>
              <a:buSzTx/>
              <a:buFontTx/>
              <a:buNone/>
            </a:pPr>
            <a:endParaRPr lang="zh-CN" altLang="en-US" sz="2000" b="1" dirty="0">
              <a:solidFill>
                <a:srgbClr val="6600CC"/>
              </a:solidFill>
              <a:latin typeface="Times New Roman" panose="02020603050405020304" pitchFamily="18" charset="0"/>
            </a:endParaRPr>
          </a:p>
          <a:p>
            <a:pPr algn="just">
              <a:spcBef>
                <a:spcPct val="0"/>
              </a:spcBef>
              <a:buClrTx/>
              <a:buSzTx/>
              <a:buFontTx/>
              <a:buNone/>
            </a:pP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单体＋引发剂</a:t>
            </a:r>
            <a:r>
              <a:rPr lang="en-US" altLang="zh-CN" sz="2000" b="1" dirty="0">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水</a:t>
            </a:r>
            <a:r>
              <a:rPr lang="en-US" altLang="zh-CN" sz="2000" b="1" dirty="0">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 分散剂  </a:t>
            </a:r>
            <a:r>
              <a:rPr lang="zh-CN" altLang="en-US" sz="2000" b="1" dirty="0">
                <a:latin typeface="Times New Roman" panose="02020603050405020304" pitchFamily="18" charset="0"/>
              </a:rPr>
              <a:t>                        </a:t>
            </a:r>
            <a:r>
              <a:rPr lang="zh-CN" altLang="en-US" sz="2000" b="1" dirty="0">
                <a:latin typeface="楷体" panose="02010609060101010101" pitchFamily="49" charset="-122"/>
                <a:ea typeface="楷体" panose="02010609060101010101" pitchFamily="49" charset="-122"/>
              </a:rPr>
              <a:t>珠状聚合</a:t>
            </a:r>
          </a:p>
          <a:p>
            <a:pPr algn="just">
              <a:spcBef>
                <a:spcPct val="0"/>
              </a:spcBef>
              <a:buClrTx/>
              <a:buSzTx/>
              <a:buFontTx/>
              <a:buNone/>
            </a:pPr>
            <a:r>
              <a:rPr lang="zh-CN" altLang="en-US" sz="2000" b="1" dirty="0">
                <a:latin typeface="Times New Roman" panose="02020603050405020304" pitchFamily="18" charset="0"/>
              </a:rPr>
              <a:t>                                          </a:t>
            </a:r>
            <a:r>
              <a:rPr lang="zh-CN" altLang="en-US" sz="2000" b="1" dirty="0">
                <a:latin typeface="楷体" panose="02010609060101010101" pitchFamily="49" charset="-122"/>
                <a:ea typeface="楷体" panose="02010609060101010101" pitchFamily="49" charset="-122"/>
              </a:rPr>
              <a:t>  </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稳定剂</a:t>
            </a:r>
            <a:r>
              <a:rPr lang="en-US" altLang="zh-CN" sz="2000" b="1" dirty="0">
                <a:latin typeface="楷体" panose="02010609060101010101" pitchFamily="49" charset="-122"/>
                <a:ea typeface="楷体" panose="02010609060101010101" pitchFamily="49" charset="-122"/>
              </a:rPr>
              <a:t>)</a:t>
            </a:r>
            <a:endParaRPr lang="zh-CN" altLang="en-US" sz="2000" b="1" dirty="0">
              <a:latin typeface="楷体" panose="02010609060101010101" pitchFamily="49" charset="-122"/>
              <a:ea typeface="楷体" panose="02010609060101010101" pitchFamily="49" charset="-122"/>
            </a:endParaRPr>
          </a:p>
          <a:p>
            <a:pPr algn="just">
              <a:spcBef>
                <a:spcPct val="0"/>
              </a:spcBef>
              <a:buClrTx/>
              <a:buSzTx/>
              <a:buFontTx/>
              <a:buNone/>
            </a:pPr>
            <a:endParaRPr lang="zh-CN" altLang="en-US" sz="2000" b="1" dirty="0">
              <a:latin typeface="Times New Roman" panose="02020603050405020304" pitchFamily="18" charset="0"/>
            </a:endParaRPr>
          </a:p>
          <a:p>
            <a:pPr algn="just">
              <a:spcBef>
                <a:spcPct val="0"/>
              </a:spcBef>
              <a:buClrTx/>
              <a:buSzTx/>
              <a:buFontTx/>
              <a:buNone/>
            </a:pPr>
            <a:r>
              <a:rPr lang="zh-CN" altLang="en-US" sz="2000" b="1" dirty="0">
                <a:latin typeface="Times New Roman" panose="02020603050405020304" pitchFamily="18" charset="0"/>
              </a:rPr>
              <a:t>           </a:t>
            </a:r>
            <a:r>
              <a:rPr lang="zh-CN" altLang="en-US" sz="2000" b="1" dirty="0">
                <a:latin typeface="楷体" panose="02010609060101010101" pitchFamily="49" charset="-122"/>
                <a:ea typeface="楷体" panose="02010609060101010101" pitchFamily="49" charset="-122"/>
              </a:rPr>
              <a:t>过滤</a:t>
            </a:r>
            <a:r>
              <a:rPr lang="zh-CN" altLang="en-US" sz="2000" b="1" dirty="0">
                <a:latin typeface="Times New Roman" panose="02020603050405020304" pitchFamily="18" charset="0"/>
              </a:rPr>
              <a:t>        </a:t>
            </a:r>
            <a:r>
              <a:rPr lang="zh-CN" altLang="en-US" sz="2000" b="1" dirty="0">
                <a:latin typeface="楷体" panose="02010609060101010101" pitchFamily="49" charset="-122"/>
                <a:ea typeface="楷体" panose="02010609060101010101" pitchFamily="49" charset="-122"/>
              </a:rPr>
              <a:t>洗涤</a:t>
            </a:r>
            <a:r>
              <a:rPr lang="zh-CN" altLang="en-US" sz="2000" b="1" dirty="0">
                <a:latin typeface="Times New Roman" panose="02020603050405020304" pitchFamily="18" charset="0"/>
              </a:rPr>
              <a:t>       </a:t>
            </a:r>
            <a:r>
              <a:rPr lang="zh-CN" altLang="en-US" sz="2000" b="1" dirty="0">
                <a:latin typeface="楷体" panose="02010609060101010101" pitchFamily="49" charset="-122"/>
                <a:ea typeface="楷体" panose="02010609060101010101" pitchFamily="49" charset="-122"/>
              </a:rPr>
              <a:t>干燥</a:t>
            </a:r>
            <a:r>
              <a:rPr lang="zh-CN" altLang="en-US" sz="2000" b="1" dirty="0">
                <a:latin typeface="Times New Roman" panose="02020603050405020304" pitchFamily="18" charset="0"/>
              </a:rPr>
              <a:t>        粒状</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透明</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或     粉末状</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不透明</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  树脂</a:t>
            </a:r>
          </a:p>
        </p:txBody>
      </p:sp>
      <p:sp>
        <p:nvSpPr>
          <p:cNvPr id="30724" name="Line 4"/>
          <p:cNvSpPr>
            <a:spLocks noChangeShapeType="1"/>
          </p:cNvSpPr>
          <p:nvPr/>
        </p:nvSpPr>
        <p:spPr bwMode="auto">
          <a:xfrm>
            <a:off x="4568825" y="3954463"/>
            <a:ext cx="1219200"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5" name="Text Box 5"/>
          <p:cNvSpPr txBox="1">
            <a:spLocks noChangeArrowheads="1"/>
          </p:cNvSpPr>
          <p:nvPr/>
        </p:nvSpPr>
        <p:spPr bwMode="auto">
          <a:xfrm>
            <a:off x="4859338" y="3525838"/>
            <a:ext cx="1066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900" b="1">
                <a:latin typeface="楷体" panose="02010609060101010101" pitchFamily="49" charset="-122"/>
                <a:ea typeface="楷体" panose="02010609060101010101" pitchFamily="49" charset="-122"/>
              </a:rPr>
              <a:t>搅拌</a:t>
            </a:r>
            <a:endParaRPr lang="zh-CN" altLang="en-US" b="1">
              <a:latin typeface="楷体" panose="02010609060101010101" pitchFamily="49" charset="-122"/>
              <a:ea typeface="楷体" panose="02010609060101010101" pitchFamily="49" charset="-122"/>
            </a:endParaRPr>
          </a:p>
        </p:txBody>
      </p:sp>
      <p:sp>
        <p:nvSpPr>
          <p:cNvPr id="30726" name="Line 7"/>
          <p:cNvSpPr>
            <a:spLocks noChangeShapeType="1"/>
          </p:cNvSpPr>
          <p:nvPr/>
        </p:nvSpPr>
        <p:spPr bwMode="auto">
          <a:xfrm>
            <a:off x="2143125" y="5000625"/>
            <a:ext cx="7620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7" name="Line 8"/>
          <p:cNvSpPr>
            <a:spLocks noChangeShapeType="1"/>
          </p:cNvSpPr>
          <p:nvPr/>
        </p:nvSpPr>
        <p:spPr bwMode="auto">
          <a:xfrm flipV="1">
            <a:off x="3071813" y="5000625"/>
            <a:ext cx="79216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8" name="Text Box 12"/>
          <p:cNvSpPr txBox="1">
            <a:spLocks noChangeArrowheads="1"/>
          </p:cNvSpPr>
          <p:nvPr/>
        </p:nvSpPr>
        <p:spPr bwMode="auto">
          <a:xfrm>
            <a:off x="785813" y="5929313"/>
            <a:ext cx="6858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后处理：</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脱除</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PVC</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中残留的单体氯乙烯</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(&lt; 1 ppm)</a:t>
            </a:r>
          </a:p>
        </p:txBody>
      </p:sp>
      <p:sp>
        <p:nvSpPr>
          <p:cNvPr id="30729" name="Line 4"/>
          <p:cNvSpPr>
            <a:spLocks noChangeShapeType="1"/>
          </p:cNvSpPr>
          <p:nvPr/>
        </p:nvSpPr>
        <p:spPr bwMode="auto">
          <a:xfrm>
            <a:off x="785813" y="5000625"/>
            <a:ext cx="1219200"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0" name="Text Box 15"/>
          <p:cNvSpPr txBox="1">
            <a:spLocks noChangeArrowheads="1"/>
          </p:cNvSpPr>
          <p:nvPr/>
        </p:nvSpPr>
        <p:spPr bwMode="auto">
          <a:xfrm>
            <a:off x="406642" y="655041"/>
            <a:ext cx="6985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ea typeface="楷体" panose="02010609060101010101" pitchFamily="49" charset="-122"/>
                <a:cs typeface="Times New Roman" panose="02020603050405020304" pitchFamily="18" charset="0"/>
              </a:rPr>
              <a:t>§ </a:t>
            </a:r>
            <a:r>
              <a:rPr lang="zh-CN" altLang="en-US" sz="2400" b="1" dirty="0">
                <a:ea typeface="楷体" panose="02010609060101010101" pitchFamily="49" charset="-122"/>
                <a:cs typeface="Times New Roman" panose="02020603050405020304" pitchFamily="18" charset="0"/>
              </a:rPr>
              <a:t>5.</a:t>
            </a:r>
            <a:r>
              <a:rPr lang="en-US" altLang="zh-CN" sz="2400" b="1" dirty="0">
                <a:ea typeface="楷体" panose="02010609060101010101" pitchFamily="49" charset="-122"/>
                <a:cs typeface="Times New Roman" panose="02020603050405020304" pitchFamily="18" charset="0"/>
              </a:rPr>
              <a:t>4</a:t>
            </a:r>
            <a:r>
              <a:rPr lang="zh-CN" altLang="en-US" sz="2400" b="1" dirty="0">
                <a:ea typeface="楷体" panose="02010609060101010101" pitchFamily="49" charset="-122"/>
                <a:cs typeface="Times New Roman" panose="02020603050405020304" pitchFamily="18" charset="0"/>
              </a:rPr>
              <a:t>  悬浮聚合</a:t>
            </a:r>
            <a:r>
              <a:rPr lang="en-US" altLang="zh-CN" sz="2400" b="1" dirty="0">
                <a:ea typeface="楷体" panose="02010609060101010101" pitchFamily="49" charset="-122"/>
                <a:cs typeface="Times New Roman" panose="02020603050405020304" pitchFamily="18" charset="0"/>
              </a:rPr>
              <a:t>(Suspension polymerization)</a:t>
            </a:r>
            <a:endParaRPr lang="zh-CN" altLang="en-US" sz="2400" b="1" dirty="0">
              <a:ea typeface="楷体" panose="02010609060101010101" pitchFamily="49" charset="-122"/>
              <a:cs typeface="Times New Roman" panose="02020603050405020304" pitchFamily="18" charset="0"/>
            </a:endParaRPr>
          </a:p>
        </p:txBody>
      </p:sp>
      <p:sp>
        <p:nvSpPr>
          <p:cNvPr id="30731" name="矩形 2"/>
          <p:cNvSpPr>
            <a:spLocks noChangeArrowheads="1"/>
          </p:cNvSpPr>
          <p:nvPr/>
        </p:nvSpPr>
        <p:spPr bwMode="auto">
          <a:xfrm>
            <a:off x="4068763" y="5041900"/>
            <a:ext cx="17192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zh-CN" altLang="en-US" sz="2000" b="1">
                <a:ea typeface="楷体" panose="02010609060101010101" pitchFamily="49" charset="-122"/>
                <a:cs typeface="Times New Roman" panose="02020603050405020304" pitchFamily="18" charset="0"/>
              </a:rPr>
              <a:t>(均相)                                                                            </a:t>
            </a:r>
            <a:r>
              <a:rPr lang="en-US" altLang="zh-CN" sz="2000" b="1">
                <a:ea typeface="楷体" panose="02010609060101010101" pitchFamily="49" charset="-122"/>
                <a:cs typeface="Times New Roman" panose="02020603050405020304" pitchFamily="18" charset="0"/>
              </a:rPr>
              <a:t>PSt、PMMA </a:t>
            </a:r>
            <a:endParaRPr lang="zh-CN" altLang="en-US" sz="2000">
              <a:ea typeface="楷体" panose="02010609060101010101" pitchFamily="49" charset="-122"/>
              <a:cs typeface="Times New Roman" panose="02020603050405020304" pitchFamily="18" charset="0"/>
            </a:endParaRPr>
          </a:p>
        </p:txBody>
      </p:sp>
      <p:sp>
        <p:nvSpPr>
          <p:cNvPr id="30732" name="矩形 13"/>
          <p:cNvSpPr>
            <a:spLocks noChangeArrowheads="1"/>
          </p:cNvSpPr>
          <p:nvPr/>
        </p:nvSpPr>
        <p:spPr bwMode="auto">
          <a:xfrm>
            <a:off x="6365875" y="5103813"/>
            <a:ext cx="1720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zh-CN" altLang="en-US" sz="2000" b="1">
                <a:ea typeface="楷体" panose="02010609060101010101" pitchFamily="49" charset="-122"/>
                <a:cs typeface="Times New Roman" panose="02020603050405020304" pitchFamily="18" charset="0"/>
              </a:rPr>
              <a:t>(非均相)                                                                                </a:t>
            </a:r>
            <a:r>
              <a:rPr lang="en-US" altLang="zh-CN" sz="2000" b="1">
                <a:ea typeface="楷体" panose="02010609060101010101" pitchFamily="49" charset="-122"/>
                <a:cs typeface="Times New Roman" panose="02020603050405020304" pitchFamily="18" charset="0"/>
              </a:rPr>
              <a:t>PVC </a:t>
            </a:r>
            <a:endParaRPr lang="zh-CN" altLang="en-US" sz="2000">
              <a:ea typeface="楷体" panose="02010609060101010101" pitchFamily="49" charset="-122"/>
              <a:cs typeface="Times New Roman" panose="02020603050405020304" pitchFamily="18" charset="0"/>
            </a:endParaRPr>
          </a:p>
        </p:txBody>
      </p:sp>
      <p:sp>
        <p:nvSpPr>
          <p:cNvPr id="30733" name="矩形 14"/>
          <p:cNvSpPr>
            <a:spLocks noChangeArrowheads="1"/>
          </p:cNvSpPr>
          <p:nvPr/>
        </p:nvSpPr>
        <p:spPr bwMode="auto">
          <a:xfrm>
            <a:off x="714375" y="5103813"/>
            <a:ext cx="1719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sz="2000" b="1">
                <a:ea typeface="楷体" panose="02010609060101010101" pitchFamily="49" charset="-122"/>
                <a:cs typeface="Times New Roman" panose="02020603050405020304" pitchFamily="18" charset="0"/>
              </a:rPr>
              <a:t>(离心分离)</a:t>
            </a:r>
            <a:endParaRPr lang="zh-CN" altLang="en-US" sz="2000">
              <a:ea typeface="楷体" panose="02010609060101010101" pitchFamily="49" charset="-122"/>
              <a:cs typeface="Times New Roman" panose="02020603050405020304" pitchFamily="18" charset="0"/>
            </a:endParaRPr>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 Box 1026"/>
          <p:cNvSpPr txBox="1">
            <a:spLocks noChangeArrowheads="1"/>
          </p:cNvSpPr>
          <p:nvPr/>
        </p:nvSpPr>
        <p:spPr bwMode="auto">
          <a:xfrm>
            <a:off x="539750" y="552450"/>
            <a:ext cx="807085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100" b="1">
                <a:latin typeface="Times New Roman" panose="02020603050405020304" pitchFamily="18" charset="0"/>
                <a:ea typeface="楷体" panose="02010609060101010101" pitchFamily="49" charset="-122"/>
                <a:cs typeface="Times New Roman" panose="02020603050405020304" pitchFamily="18" charset="0"/>
              </a:rPr>
              <a:t>悬浮均相聚合产品可制成透明珠状，沉淀聚合产品则呈不透明粉状；粒子直径在 0.01～5 </a:t>
            </a:r>
            <a:r>
              <a:rPr lang="en-US" altLang="zh-CN" sz="2100" b="1">
                <a:latin typeface="Times New Roman" panose="02020603050405020304" pitchFamily="18" charset="0"/>
                <a:ea typeface="楷体" panose="02010609060101010101" pitchFamily="49" charset="-122"/>
                <a:cs typeface="Times New Roman" panose="02020603050405020304" pitchFamily="18" charset="0"/>
              </a:rPr>
              <a:t>mm(</a:t>
            </a:r>
            <a:r>
              <a:rPr lang="zh-CN" altLang="en-US" sz="2100" b="1">
                <a:latin typeface="Times New Roman" panose="02020603050405020304" pitchFamily="18" charset="0"/>
                <a:ea typeface="楷体" panose="02010609060101010101" pitchFamily="49" charset="-122"/>
                <a:cs typeface="Times New Roman" panose="02020603050405020304" pitchFamily="18" charset="0"/>
              </a:rPr>
              <a:t>常见0.05 ～ 2 </a:t>
            </a:r>
            <a:r>
              <a:rPr lang="en-US" altLang="zh-CN" sz="2100" b="1">
                <a:latin typeface="Times New Roman" panose="02020603050405020304" pitchFamily="18" charset="0"/>
                <a:ea typeface="楷体" panose="02010609060101010101" pitchFamily="49" charset="-122"/>
                <a:cs typeface="Times New Roman" panose="02020603050405020304" pitchFamily="18" charset="0"/>
              </a:rPr>
              <a:t>mm)，</a:t>
            </a:r>
            <a:r>
              <a:rPr lang="zh-CN" altLang="en-US" sz="2100" b="1">
                <a:latin typeface="Times New Roman" panose="02020603050405020304" pitchFamily="18" charset="0"/>
                <a:ea typeface="楷体" panose="02010609060101010101" pitchFamily="49" charset="-122"/>
                <a:cs typeface="Times New Roman" panose="02020603050405020304" pitchFamily="18" charset="0"/>
              </a:rPr>
              <a:t>随搅拌速度和分散剂用量而定。</a:t>
            </a:r>
          </a:p>
        </p:txBody>
      </p:sp>
      <p:sp>
        <p:nvSpPr>
          <p:cNvPr id="31747" name="Text Box 1027"/>
          <p:cNvSpPr txBox="1">
            <a:spLocks noChangeArrowheads="1"/>
          </p:cNvSpPr>
          <p:nvPr/>
        </p:nvSpPr>
        <p:spPr bwMode="auto">
          <a:xfrm>
            <a:off x="1028700" y="1687513"/>
            <a:ext cx="670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搅拌速度</a:t>
            </a:r>
            <a:r>
              <a:rPr lang="zh-CN" altLang="en-US" sz="2000" b="1">
                <a:latin typeface="楷体" panose="02010609060101010101" pitchFamily="49" charset="-122"/>
                <a:ea typeface="楷体" panose="02010609060101010101" pitchFamily="49" charset="-122"/>
              </a:rPr>
              <a:t>和</a:t>
            </a:r>
            <a:r>
              <a:rPr lang="zh-CN" altLang="en-US" sz="2000" b="1">
                <a:solidFill>
                  <a:srgbClr val="FF0000"/>
                </a:solidFill>
                <a:latin typeface="楷体" panose="02010609060101010101" pitchFamily="49" charset="-122"/>
                <a:ea typeface="楷体" panose="02010609060101010101" pitchFamily="49" charset="-122"/>
              </a:rPr>
              <a:t>搅拌器类型</a:t>
            </a:r>
            <a:r>
              <a:rPr lang="zh-CN" altLang="en-US" sz="2000" b="1">
                <a:latin typeface="楷体" panose="02010609060101010101" pitchFamily="49" charset="-122"/>
                <a:ea typeface="楷体" panose="02010609060101010101" pitchFamily="49" charset="-122"/>
              </a:rPr>
              <a:t>是悬浮聚合的一个很重要的因素</a:t>
            </a:r>
            <a:endParaRPr lang="zh-CN" altLang="en-US" sz="2000">
              <a:latin typeface="楷体" panose="02010609060101010101" pitchFamily="49" charset="-122"/>
              <a:ea typeface="楷体" panose="02010609060101010101" pitchFamily="49" charset="-122"/>
            </a:endParaRPr>
          </a:p>
        </p:txBody>
      </p:sp>
      <p:sp>
        <p:nvSpPr>
          <p:cNvPr id="31748" name="Text Box 1028"/>
          <p:cNvSpPr txBox="1">
            <a:spLocks noChangeArrowheads="1"/>
          </p:cNvSpPr>
          <p:nvPr/>
        </p:nvSpPr>
        <p:spPr bwMode="auto">
          <a:xfrm>
            <a:off x="3200400" y="3200400"/>
            <a:ext cx="1828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900">
                <a:latin typeface="Times New Roman" panose="02020603050405020304" pitchFamily="18" charset="0"/>
              </a:rPr>
              <a:t>搅拌（切应力）</a:t>
            </a:r>
          </a:p>
        </p:txBody>
      </p:sp>
      <p:pic>
        <p:nvPicPr>
          <p:cNvPr id="20486" name="Picture 1029">
            <a:extLst>
              <a:ext uri="{FF2B5EF4-FFF2-40B4-BE49-F238E27FC236}">
                <a16:creationId xmlns:a16="http://schemas.microsoft.com/office/drawing/2014/main" id="{769B86BC-C4B6-4F6A-B435-D71564B20CE4}"/>
              </a:ext>
            </a:extLst>
          </p:cNvPr>
          <p:cNvPicPr>
            <a:picLocks noChangeAspect="1" noChangeArrowheads="1"/>
          </p:cNvPicPr>
          <p:nvPr/>
        </p:nvPicPr>
        <p:blipFill>
          <a:blip r:embed="rId2"/>
          <a:srcRect/>
          <a:stretch>
            <a:fillRect/>
          </a:stretch>
        </p:blipFill>
        <p:spPr bwMode="auto">
          <a:xfrm>
            <a:off x="1905000" y="2352675"/>
            <a:ext cx="4953000" cy="4048125"/>
          </a:xfrm>
          <a:prstGeom prst="rect">
            <a:avLst/>
          </a:prstGeom>
          <a:solidFill>
            <a:schemeClr val="bg1">
              <a:lumMod val="95000"/>
            </a:schemeClr>
          </a:solidFill>
          <a:ln>
            <a:noFill/>
          </a:ln>
        </p:spPr>
      </p:pic>
      <p:sp>
        <p:nvSpPr>
          <p:cNvPr id="31750" name="Text Box 1030"/>
          <p:cNvSpPr txBox="1">
            <a:spLocks noChangeArrowheads="1"/>
          </p:cNvSpPr>
          <p:nvPr/>
        </p:nvSpPr>
        <p:spPr bwMode="auto">
          <a:xfrm>
            <a:off x="5181600" y="30480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800" b="1">
                <a:latin typeface="楷体" panose="02010609060101010101" pitchFamily="49" charset="-122"/>
                <a:ea typeface="楷体" panose="02010609060101010101" pitchFamily="49" charset="-122"/>
              </a:rPr>
              <a:t>击散</a:t>
            </a:r>
            <a:endParaRPr lang="zh-CN" altLang="en-US" b="1">
              <a:latin typeface="楷体" panose="02010609060101010101" pitchFamily="49" charset="-122"/>
              <a:ea typeface="楷体" panose="02010609060101010101" pitchFamily="49" charset="-122"/>
            </a:endParaRPr>
          </a:p>
        </p:txBody>
      </p:sp>
      <p:sp>
        <p:nvSpPr>
          <p:cNvPr id="31751" name="Text Box 1031"/>
          <p:cNvSpPr txBox="1">
            <a:spLocks noChangeArrowheads="1"/>
          </p:cNvSpPr>
          <p:nvPr/>
        </p:nvSpPr>
        <p:spPr bwMode="auto">
          <a:xfrm>
            <a:off x="6858000" y="2830513"/>
            <a:ext cx="152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800" b="1">
                <a:latin typeface="楷体" panose="02010609060101010101" pitchFamily="49" charset="-122"/>
                <a:ea typeface="楷体" panose="02010609060101010101" pitchFamily="49" charset="-122"/>
              </a:rPr>
              <a:t>表面张力</a:t>
            </a:r>
            <a:endParaRPr lang="zh-CN" altLang="en-US" b="1">
              <a:latin typeface="楷体" panose="02010609060101010101" pitchFamily="49" charset="-122"/>
              <a:ea typeface="楷体" panose="02010609060101010101" pitchFamily="49" charset="-122"/>
            </a:endParaRPr>
          </a:p>
        </p:txBody>
      </p:sp>
      <p:sp>
        <p:nvSpPr>
          <p:cNvPr id="31752" name="Text Box 1032"/>
          <p:cNvSpPr txBox="1">
            <a:spLocks noChangeArrowheads="1"/>
          </p:cNvSpPr>
          <p:nvPr/>
        </p:nvSpPr>
        <p:spPr bwMode="auto">
          <a:xfrm>
            <a:off x="4572000" y="4419600"/>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900" b="1">
                <a:latin typeface="楷体" panose="02010609060101010101" pitchFamily="49" charset="-122"/>
                <a:ea typeface="楷体" panose="02010609060101010101" pitchFamily="49" charset="-122"/>
              </a:rPr>
              <a:t>粘合</a:t>
            </a:r>
            <a:endParaRPr lang="zh-CN" altLang="en-US" b="1">
              <a:latin typeface="楷体" panose="02010609060101010101" pitchFamily="49" charset="-122"/>
              <a:ea typeface="楷体" panose="02010609060101010101" pitchFamily="49" charset="-122"/>
            </a:endParaRPr>
          </a:p>
        </p:txBody>
      </p:sp>
      <p:sp>
        <p:nvSpPr>
          <p:cNvPr id="31753" name="Text Box 1033"/>
          <p:cNvSpPr txBox="1">
            <a:spLocks noChangeArrowheads="1"/>
          </p:cNvSpPr>
          <p:nvPr/>
        </p:nvSpPr>
        <p:spPr bwMode="auto">
          <a:xfrm>
            <a:off x="6910388" y="4275138"/>
            <a:ext cx="1982787"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900" b="1">
                <a:latin typeface="楷体" panose="02010609060101010101" pitchFamily="49" charset="-122"/>
                <a:ea typeface="楷体" panose="02010609060101010101" pitchFamily="49" charset="-122"/>
              </a:rPr>
              <a:t>稳定剂－分散剂</a:t>
            </a:r>
            <a:endParaRPr lang="zh-CN" altLang="en-US" b="1">
              <a:latin typeface="楷体" panose="02010609060101010101" pitchFamily="49" charset="-122"/>
              <a:ea typeface="楷体" panose="02010609060101010101" pitchFamily="49" charset="-122"/>
            </a:endParaRPr>
          </a:p>
        </p:txBody>
      </p:sp>
      <p:sp>
        <p:nvSpPr>
          <p:cNvPr id="31754" name="Text Box 1034"/>
          <p:cNvSpPr txBox="1">
            <a:spLocks noChangeArrowheads="1"/>
          </p:cNvSpPr>
          <p:nvPr/>
        </p:nvSpPr>
        <p:spPr bwMode="auto">
          <a:xfrm>
            <a:off x="2133600" y="28575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900" b="1">
                <a:latin typeface="楷体" panose="02010609060101010101" pitchFamily="49" charset="-122"/>
                <a:ea typeface="楷体" panose="02010609060101010101" pitchFamily="49" charset="-122"/>
              </a:rPr>
              <a:t>单体</a:t>
            </a:r>
            <a:endParaRPr lang="zh-CN" altLang="en-US" b="1">
              <a:latin typeface="楷体" panose="02010609060101010101" pitchFamily="49" charset="-122"/>
              <a:ea typeface="楷体" panose="02010609060101010101" pitchFamily="49" charset="-122"/>
            </a:endParaRPr>
          </a:p>
        </p:txBody>
      </p:sp>
      <p:pic>
        <p:nvPicPr>
          <p:cNvPr id="31755" name="Picture 1035" descr="PS ion exchang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038" y="5432425"/>
            <a:ext cx="2087562"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Text Box 1036">
            <a:extLst>
              <a:ext uri="{FF2B5EF4-FFF2-40B4-BE49-F238E27FC236}">
                <a16:creationId xmlns:a16="http://schemas.microsoft.com/office/drawing/2014/main" id="{60D37CC3-1D2D-407A-B518-56E4C70B8869}"/>
              </a:ext>
            </a:extLst>
          </p:cNvPr>
          <p:cNvSpPr txBox="1">
            <a:spLocks noChangeArrowheads="1"/>
          </p:cNvSpPr>
          <p:nvPr/>
        </p:nvSpPr>
        <p:spPr bwMode="auto">
          <a:xfrm>
            <a:off x="1852613" y="6350000"/>
            <a:ext cx="3914775" cy="342900"/>
          </a:xfrm>
          <a:prstGeom prst="rect">
            <a:avLst/>
          </a:prstGeom>
          <a:noFill/>
          <a:ln>
            <a:noFill/>
          </a:ln>
        </p:spPr>
        <p:txBody>
          <a:bodyPr wrap="none" lIns="21600" tIns="10800" rIns="21600" bIns="1080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20000"/>
              </a:lnSpc>
              <a:spcBef>
                <a:spcPct val="50000"/>
              </a:spcBef>
              <a:buClrTx/>
              <a:buSzTx/>
              <a:buFontTx/>
              <a:buNone/>
              <a:defRPr/>
            </a:pPr>
            <a:r>
              <a:rPr lang="zh-CN" altLang="en-US" sz="20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悬浮聚合制备的离子交换树脂颗粒</a:t>
            </a: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EB3FDA43-DDA3-4937-A2FC-77A986E216B2}" type="slidenum">
              <a:rPr lang="zh-CN" altLang="en-US" sz="1400" smtClean="0">
                <a:solidFill>
                  <a:srgbClr val="FFFFFF"/>
                </a:solidFill>
                <a:latin typeface="Times New Roman" panose="02020603050405020304" pitchFamily="18" charset="0"/>
              </a:rPr>
              <a:pPr>
                <a:spcBef>
                  <a:spcPct val="50000"/>
                </a:spcBef>
                <a:buClrTx/>
                <a:buSzTx/>
                <a:buFontTx/>
                <a:buNone/>
              </a:pPr>
              <a:t>17</a:t>
            </a:fld>
            <a:endParaRPr lang="en-US" altLang="zh-CN" sz="1400">
              <a:solidFill>
                <a:srgbClr val="FFFFFF"/>
              </a:solidFill>
              <a:latin typeface="Times New Roman" panose="02020603050405020304" pitchFamily="18" charset="0"/>
            </a:endParaRPr>
          </a:p>
        </p:txBody>
      </p:sp>
      <p:sp>
        <p:nvSpPr>
          <p:cNvPr id="32771" name="Text Box 1026"/>
          <p:cNvSpPr txBox="1">
            <a:spLocks noChangeArrowheads="1"/>
          </p:cNvSpPr>
          <p:nvPr/>
        </p:nvSpPr>
        <p:spPr bwMode="auto">
          <a:xfrm>
            <a:off x="899592" y="1196752"/>
            <a:ext cx="7024688" cy="473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6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稳定剂，两大类：</a:t>
            </a:r>
          </a:p>
          <a:p>
            <a:pPr algn="just">
              <a:lnSpc>
                <a:spcPct val="16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水溶性有机高分子物质</a:t>
            </a:r>
          </a:p>
          <a:p>
            <a:pPr algn="just">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水溶性有机高分子是表面活性物质，具有降低表面张力的作用，从而起保护膜作用。</a:t>
            </a:r>
          </a:p>
          <a:p>
            <a:pPr algn="just">
              <a:lnSpc>
                <a:spcPct val="18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不溶于水的无机粉末</a:t>
            </a:r>
          </a:p>
          <a:p>
            <a:pPr algn="just">
              <a:lnSpc>
                <a:spcPct val="120000"/>
              </a:lnSpc>
              <a:spcBef>
                <a:spcPct val="0"/>
              </a:spcBef>
              <a:buClrTx/>
              <a:buSzTx/>
              <a:buFontTx/>
              <a:buNone/>
            </a:pP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MgCO</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、CaCO</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、BaCO</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、CaSO</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、Ca</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(PO</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滑石粉</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分散作用：细粉末吸附在液滴表面，起机械隔离作用。</a:t>
            </a:r>
          </a:p>
          <a:p>
            <a:pPr algn="just">
              <a:lnSpc>
                <a:spcPct val="15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聚合后要洗去。</a:t>
            </a: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CD3D0E29-C2CF-4A84-A9B4-0E386DD9550F}" type="slidenum">
              <a:rPr lang="zh-CN" altLang="en-US" sz="1400" smtClean="0">
                <a:solidFill>
                  <a:srgbClr val="FFFFFF"/>
                </a:solidFill>
                <a:latin typeface="Times New Roman" panose="02020603050405020304" pitchFamily="18" charset="0"/>
              </a:rPr>
              <a:pPr>
                <a:spcBef>
                  <a:spcPct val="50000"/>
                </a:spcBef>
                <a:buClrTx/>
                <a:buSzTx/>
                <a:buFontTx/>
                <a:buNone/>
              </a:pPr>
              <a:t>18</a:t>
            </a:fld>
            <a:endParaRPr lang="en-US" altLang="zh-CN" sz="1400">
              <a:solidFill>
                <a:srgbClr val="FFFFFF"/>
              </a:solidFill>
              <a:latin typeface="Times New Roman" panose="02020603050405020304" pitchFamily="18" charset="0"/>
            </a:endParaRPr>
          </a:p>
        </p:txBody>
      </p:sp>
      <p:sp>
        <p:nvSpPr>
          <p:cNvPr id="33795" name="Text Box 2"/>
          <p:cNvSpPr txBox="1">
            <a:spLocks noChangeArrowheads="1"/>
          </p:cNvSpPr>
          <p:nvPr/>
        </p:nvSpPr>
        <p:spPr bwMode="auto">
          <a:xfrm>
            <a:off x="468313" y="762000"/>
            <a:ext cx="8104187"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悬浮聚合最大的优点：</a:t>
            </a:r>
          </a:p>
          <a:p>
            <a:pPr algn="just">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体系粘度低，可搅拌，聚合热容易散发，过程易于控制，分子量及其分布比较稳定。另外，省去溶剂可降低成本。</a:t>
            </a: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产物呈珠状，便于洗涤、过滤，操作简便，并可直接使用。</a:t>
            </a:r>
          </a:p>
          <a:p>
            <a:pPr algn="just">
              <a:lnSpc>
                <a:spcPct val="120000"/>
              </a:lnSpc>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由于具有这些优点，工业生产上应用得较多，主要生产离子交换树脂，可发性聚苯乙烯 </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(EPS)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颗粒和</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PVC</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粉料等。</a:t>
            </a:r>
          </a:p>
          <a:p>
            <a:pPr algn="just">
              <a:lnSpc>
                <a:spcPct val="120000"/>
              </a:lnSpc>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主要缺点：</a:t>
            </a:r>
          </a:p>
          <a:p>
            <a:pPr algn="just">
              <a:lnSpc>
                <a:spcPct val="12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由于分散剂的加入，产品纯度较本体聚合的低一些。</a:t>
            </a:r>
          </a:p>
          <a:p>
            <a:pPr algn="just">
              <a:lnSpc>
                <a:spcPct val="120000"/>
              </a:lnSpc>
              <a:spcBef>
                <a:spcPct val="0"/>
              </a:spcBef>
              <a:buClrTx/>
              <a:buSzTx/>
              <a:buFontTx/>
              <a:buNone/>
            </a:pPr>
            <a:endParaRPr lang="zh-CN" altLang="en-US" sz="2200">
              <a:solidFill>
                <a:srgbClr val="0033CC"/>
              </a:solidFill>
              <a:latin typeface="Times New Roman" panose="02020603050405020304" pitchFamily="18" charset="0"/>
              <a:cs typeface="Times New Roman" panose="02020603050405020304" pitchFamily="18" charset="0"/>
            </a:endParaRP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F71C0C0D-804D-4AD0-85B7-6EB0FB3D30EF}" type="slidenum">
              <a:rPr lang="zh-CN" altLang="en-US" sz="1400" smtClean="0">
                <a:solidFill>
                  <a:srgbClr val="FFFFFF"/>
                </a:solidFill>
                <a:latin typeface="Times New Roman" panose="02020603050405020304" pitchFamily="18" charset="0"/>
              </a:rPr>
              <a:pPr>
                <a:spcBef>
                  <a:spcPct val="50000"/>
                </a:spcBef>
                <a:buClrTx/>
                <a:buSzTx/>
                <a:buFontTx/>
                <a:buNone/>
              </a:pPr>
              <a:t>19</a:t>
            </a:fld>
            <a:endParaRPr lang="en-US" altLang="zh-CN" sz="1400">
              <a:solidFill>
                <a:srgbClr val="FFFFFF"/>
              </a:solidFill>
              <a:latin typeface="Times New Roman" panose="02020603050405020304" pitchFamily="18" charset="0"/>
            </a:endParaRPr>
          </a:p>
        </p:txBody>
      </p:sp>
      <p:pic>
        <p:nvPicPr>
          <p:cNvPr id="34819" name="Picture 4" descr="PVC particl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8563" y="4697413"/>
            <a:ext cx="208915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5" descr="PVC particl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4697413"/>
            <a:ext cx="208915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7" descr="suspension polym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8238" y="665163"/>
            <a:ext cx="432435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 Box 8"/>
          <p:cNvSpPr txBox="1">
            <a:spLocks noChangeArrowheads="1"/>
          </p:cNvSpPr>
          <p:nvPr/>
        </p:nvSpPr>
        <p:spPr bwMode="auto">
          <a:xfrm>
            <a:off x="2449513" y="188913"/>
            <a:ext cx="40163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20000"/>
              </a:lnSpc>
              <a:spcBef>
                <a:spcPct val="5000"/>
              </a:spcBef>
              <a:buClrTx/>
              <a:buSzTx/>
              <a:buFontTx/>
              <a:buNone/>
            </a:pPr>
            <a:r>
              <a:rPr lang="zh-CN" altLang="en-US" sz="2200" b="1">
                <a:solidFill>
                  <a:srgbClr val="FF0000"/>
                </a:solidFill>
                <a:latin typeface="楷体" panose="02010609060101010101" pitchFamily="49" charset="-122"/>
                <a:ea typeface="楷体" panose="02010609060101010101" pitchFamily="49" charset="-122"/>
              </a:rPr>
              <a:t>氯乙烯悬浮聚合产物颗粒的形成</a:t>
            </a:r>
          </a:p>
        </p:txBody>
      </p:sp>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灯片编号占位符 1"/>
          <p:cNvSpPr>
            <a:spLocks noGrp="1"/>
          </p:cNvSpPr>
          <p:nvPr>
            <p:ph type="sldNum" sz="quarter" idx="12"/>
          </p:nvPr>
        </p:nvSpPr>
        <p:spPr bwMode="auto">
          <a:xfrm>
            <a:off x="8123238" y="5511800"/>
            <a:ext cx="609600" cy="520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D2F25352-78C3-4E63-995A-5EA94C965CB2}" type="slidenum">
              <a:rPr lang="zh-CN" altLang="en-US" sz="1400" smtClean="0">
                <a:solidFill>
                  <a:srgbClr val="FFFFFF"/>
                </a:solidFill>
                <a:latin typeface="Times New Roman" panose="02020603050405020304" pitchFamily="18" charset="0"/>
              </a:rPr>
              <a:pPr>
                <a:spcBef>
                  <a:spcPct val="50000"/>
                </a:spcBef>
                <a:buClrTx/>
                <a:buSzTx/>
                <a:buFontTx/>
                <a:buNone/>
              </a:pPr>
              <a:t>20</a:t>
            </a:fld>
            <a:endParaRPr lang="en-US" altLang="zh-CN" sz="1400">
              <a:solidFill>
                <a:srgbClr val="FFFFFF"/>
              </a:solidFill>
              <a:latin typeface="Times New Roman" panose="02020603050405020304" pitchFamily="18" charset="0"/>
            </a:endParaRPr>
          </a:p>
        </p:txBody>
      </p:sp>
      <p:sp>
        <p:nvSpPr>
          <p:cNvPr id="3" name="流程图: 延期 2">
            <a:extLst>
              <a:ext uri="{FF2B5EF4-FFF2-40B4-BE49-F238E27FC236}">
                <a16:creationId xmlns:a16="http://schemas.microsoft.com/office/drawing/2014/main" id="{51FB2EAD-7C57-461B-9E4F-E56130090B48}"/>
              </a:ext>
            </a:extLst>
          </p:cNvPr>
          <p:cNvSpPr/>
          <p:nvPr/>
        </p:nvSpPr>
        <p:spPr>
          <a:xfrm rot="16200000">
            <a:off x="2375694" y="1521619"/>
            <a:ext cx="360362" cy="1295400"/>
          </a:xfrm>
          <a:prstGeom prst="flowChartDelay">
            <a:avLst/>
          </a:prstGeom>
          <a:solidFill>
            <a:srgbClr val="AFFFE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流程图: 延期 4">
            <a:extLst>
              <a:ext uri="{FF2B5EF4-FFF2-40B4-BE49-F238E27FC236}">
                <a16:creationId xmlns:a16="http://schemas.microsoft.com/office/drawing/2014/main" id="{AA7DD7A8-2572-4780-A21C-9E7C56859E2D}"/>
              </a:ext>
            </a:extLst>
          </p:cNvPr>
          <p:cNvSpPr/>
          <p:nvPr/>
        </p:nvSpPr>
        <p:spPr>
          <a:xfrm rot="5400000">
            <a:off x="1871662" y="2457451"/>
            <a:ext cx="1368425" cy="1295400"/>
          </a:xfrm>
          <a:prstGeom prst="flowChartDelay">
            <a:avLst/>
          </a:prstGeom>
          <a:solidFill>
            <a:srgbClr val="AFFFE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圆角矩形 5">
            <a:extLst>
              <a:ext uri="{FF2B5EF4-FFF2-40B4-BE49-F238E27FC236}">
                <a16:creationId xmlns:a16="http://schemas.microsoft.com/office/drawing/2014/main" id="{4A56317F-02DF-4A97-B854-7A2B4EBD2983}"/>
              </a:ext>
            </a:extLst>
          </p:cNvPr>
          <p:cNvSpPr/>
          <p:nvPr/>
        </p:nvSpPr>
        <p:spPr>
          <a:xfrm>
            <a:off x="2339975" y="981075"/>
            <a:ext cx="431800" cy="6477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8" name="直接连接符 7">
            <a:extLst>
              <a:ext uri="{FF2B5EF4-FFF2-40B4-BE49-F238E27FC236}">
                <a16:creationId xmlns:a16="http://schemas.microsoft.com/office/drawing/2014/main" id="{F87AB0CA-A309-4D64-8E76-31DF81DDDA61}"/>
              </a:ext>
            </a:extLst>
          </p:cNvPr>
          <p:cNvCxnSpPr>
            <a:stCxn id="6" idx="2"/>
          </p:cNvCxnSpPr>
          <p:nvPr/>
        </p:nvCxnSpPr>
        <p:spPr>
          <a:xfrm>
            <a:off x="2555875" y="1628775"/>
            <a:ext cx="0" cy="17287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新月形 9">
            <a:extLst>
              <a:ext uri="{FF2B5EF4-FFF2-40B4-BE49-F238E27FC236}">
                <a16:creationId xmlns:a16="http://schemas.microsoft.com/office/drawing/2014/main" id="{4ECCFACD-1315-4C54-A763-280D07428617}"/>
              </a:ext>
            </a:extLst>
          </p:cNvPr>
          <p:cNvSpPr/>
          <p:nvPr/>
        </p:nvSpPr>
        <p:spPr>
          <a:xfrm rot="16200000">
            <a:off x="2339976" y="2924175"/>
            <a:ext cx="431800" cy="720725"/>
          </a:xfrm>
          <a:prstGeom prst="moon">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圆角右箭头 10">
            <a:extLst>
              <a:ext uri="{FF2B5EF4-FFF2-40B4-BE49-F238E27FC236}">
                <a16:creationId xmlns:a16="http://schemas.microsoft.com/office/drawing/2014/main" id="{46F71E10-1FD0-4C1C-8E90-6BFD290C3373}"/>
              </a:ext>
            </a:extLst>
          </p:cNvPr>
          <p:cNvSpPr/>
          <p:nvPr/>
        </p:nvSpPr>
        <p:spPr>
          <a:xfrm rot="5400000">
            <a:off x="1712118" y="1443832"/>
            <a:ext cx="760413" cy="438150"/>
          </a:xfrm>
          <a:prstGeom prst="bentArrow">
            <a:avLst>
              <a:gd name="adj1" fmla="val 25000"/>
              <a:gd name="adj2" fmla="val 26379"/>
              <a:gd name="adj3" fmla="val 36032"/>
              <a:gd name="adj4" fmla="val 43750"/>
            </a:avLst>
          </a:prstGeom>
          <a:solidFill>
            <a:srgbClr val="3366FF"/>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tx1"/>
              </a:solidFill>
            </a:endParaRPr>
          </a:p>
        </p:txBody>
      </p:sp>
      <p:sp>
        <p:nvSpPr>
          <p:cNvPr id="24585" name="TextBox 11">
            <a:extLst>
              <a:ext uri="{FF2B5EF4-FFF2-40B4-BE49-F238E27FC236}">
                <a16:creationId xmlns:a16="http://schemas.microsoft.com/office/drawing/2014/main" id="{DBA18416-7570-43FD-A51E-4ED2D0ADBD4E}"/>
              </a:ext>
            </a:extLst>
          </p:cNvPr>
          <p:cNvSpPr txBox="1">
            <a:spLocks noChangeArrowheads="1"/>
          </p:cNvSpPr>
          <p:nvPr/>
        </p:nvSpPr>
        <p:spPr bwMode="auto">
          <a:xfrm>
            <a:off x="107950" y="739775"/>
            <a:ext cx="1800225" cy="830263"/>
          </a:xfrm>
          <a:prstGeom prst="rect">
            <a:avLst/>
          </a:prstGeom>
          <a:solidFill>
            <a:schemeClr val="bg1">
              <a:lumMod val="95000"/>
            </a:schemeClr>
          </a:solidFill>
          <a:ln w="9525">
            <a:noFill/>
            <a:miter lim="800000"/>
            <a:headEnd/>
            <a:tailEnd/>
          </a:ln>
        </p:spPr>
        <p:txBody>
          <a:bodyPr>
            <a:spAutoFit/>
          </a:bodyPr>
          <a:lstStyle>
            <a:lvl1pPr eaLnBrk="0" hangingPunct="0">
              <a:defRPr kumimoji="1" sz="2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sz="1600" b="1" dirty="0">
                <a:latin typeface="楷体" panose="02010609060101010101" pitchFamily="49" charset="-122"/>
                <a:ea typeface="楷体" panose="02010609060101010101" pitchFamily="49" charset="-122"/>
              </a:rPr>
              <a:t>苯乙烯，水，</a:t>
            </a:r>
            <a:endParaRPr lang="en-US" altLang="zh-CN" sz="1600" b="1" dirty="0">
              <a:latin typeface="楷体" panose="02010609060101010101" pitchFamily="49" charset="-122"/>
              <a:ea typeface="楷体" panose="02010609060101010101" pitchFamily="49" charset="-122"/>
            </a:endParaRPr>
          </a:p>
          <a:p>
            <a:pPr eaLnBrk="1" hangingPunct="1">
              <a:defRPr/>
            </a:pPr>
            <a:r>
              <a:rPr lang="zh-CN" altLang="en-US" sz="1600" b="1" dirty="0">
                <a:latin typeface="楷体" panose="02010609060101010101" pitchFamily="49" charset="-122"/>
                <a:ea typeface="楷体" panose="02010609060101010101" pitchFamily="49" charset="-122"/>
              </a:rPr>
              <a:t>引发剂，分散剂，</a:t>
            </a:r>
            <a:endParaRPr lang="en-US" altLang="zh-CN" sz="1600" b="1" dirty="0">
              <a:latin typeface="楷体" panose="02010609060101010101" pitchFamily="49" charset="-122"/>
              <a:ea typeface="楷体" panose="02010609060101010101" pitchFamily="49" charset="-122"/>
            </a:endParaRPr>
          </a:p>
          <a:p>
            <a:pPr eaLnBrk="1" hangingPunct="1">
              <a:defRPr/>
            </a:pPr>
            <a:r>
              <a:rPr lang="zh-CN" altLang="en-US" sz="1600" b="1" dirty="0">
                <a:latin typeface="楷体" panose="02010609060101010101" pitchFamily="49" charset="-122"/>
                <a:ea typeface="楷体" panose="02010609060101010101" pitchFamily="49" charset="-122"/>
              </a:rPr>
              <a:t>发泡剂</a:t>
            </a:r>
          </a:p>
        </p:txBody>
      </p:sp>
      <p:sp>
        <p:nvSpPr>
          <p:cNvPr id="13" name="右箭头 12">
            <a:extLst>
              <a:ext uri="{FF2B5EF4-FFF2-40B4-BE49-F238E27FC236}">
                <a16:creationId xmlns:a16="http://schemas.microsoft.com/office/drawing/2014/main" id="{297882E2-2BF7-470B-AAB0-26D5CEB3DF8F}"/>
              </a:ext>
            </a:extLst>
          </p:cNvPr>
          <p:cNvSpPr/>
          <p:nvPr/>
        </p:nvSpPr>
        <p:spPr>
          <a:xfrm>
            <a:off x="3563938" y="2133600"/>
            <a:ext cx="1584325" cy="2873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35851" name="图片 13" descr="EPS-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86375" y="974725"/>
            <a:ext cx="3252788"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TextBox 14"/>
          <p:cNvSpPr txBox="1">
            <a:spLocks noChangeArrowheads="1"/>
          </p:cNvSpPr>
          <p:nvPr/>
        </p:nvSpPr>
        <p:spPr bwMode="auto">
          <a:xfrm>
            <a:off x="3635375" y="1701800"/>
            <a:ext cx="13128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zh-CN" altLang="en-US" sz="2200" b="1">
                <a:solidFill>
                  <a:srgbClr val="FF0000"/>
                </a:solidFill>
                <a:latin typeface="楷体" panose="02010609060101010101" pitchFamily="49" charset="-122"/>
                <a:ea typeface="楷体" panose="02010609060101010101" pitchFamily="49" charset="-122"/>
              </a:rPr>
              <a:t>悬浮聚合</a:t>
            </a:r>
          </a:p>
        </p:txBody>
      </p:sp>
      <p:sp>
        <p:nvSpPr>
          <p:cNvPr id="35853" name="TextBox 15"/>
          <p:cNvSpPr txBox="1">
            <a:spLocks noChangeArrowheads="1"/>
          </p:cNvSpPr>
          <p:nvPr/>
        </p:nvSpPr>
        <p:spPr bwMode="auto">
          <a:xfrm>
            <a:off x="5070475" y="544513"/>
            <a:ext cx="35861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可发性聚苯乙烯 </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(EPS)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珠粒</a:t>
            </a:r>
          </a:p>
        </p:txBody>
      </p:sp>
      <p:sp>
        <p:nvSpPr>
          <p:cNvPr id="35854" name="TextBox 18"/>
          <p:cNvSpPr txBox="1">
            <a:spLocks noChangeArrowheads="1"/>
          </p:cNvSpPr>
          <p:nvPr/>
        </p:nvSpPr>
        <p:spPr bwMode="auto">
          <a:xfrm>
            <a:off x="6951663" y="3406775"/>
            <a:ext cx="13192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zh-CN" altLang="en-US" sz="2200" b="1">
                <a:solidFill>
                  <a:srgbClr val="FF0000"/>
                </a:solidFill>
                <a:latin typeface="楷体" panose="02010609060101010101" pitchFamily="49" charset="-122"/>
                <a:ea typeface="楷体" panose="02010609060101010101" pitchFamily="49" charset="-122"/>
              </a:rPr>
              <a:t>模压成型</a:t>
            </a:r>
          </a:p>
        </p:txBody>
      </p:sp>
      <p:pic>
        <p:nvPicPr>
          <p:cNvPr id="35855" name="图片 19" descr="EPS-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86375" y="3959225"/>
            <a:ext cx="31750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6" name="TextBox 20"/>
          <p:cNvSpPr txBox="1">
            <a:spLocks noChangeArrowheads="1"/>
          </p:cNvSpPr>
          <p:nvPr/>
        </p:nvSpPr>
        <p:spPr bwMode="auto">
          <a:xfrm>
            <a:off x="3729038" y="2476500"/>
            <a:ext cx="10350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预发泡</a:t>
            </a:r>
          </a:p>
        </p:txBody>
      </p:sp>
      <p:sp>
        <p:nvSpPr>
          <p:cNvPr id="2" name="箭头: 下 1">
            <a:extLst>
              <a:ext uri="{FF2B5EF4-FFF2-40B4-BE49-F238E27FC236}">
                <a16:creationId xmlns:a16="http://schemas.microsoft.com/office/drawing/2014/main" id="{9122A0E0-75DC-4550-AC86-C156359F5514}"/>
              </a:ext>
            </a:extLst>
          </p:cNvPr>
          <p:cNvSpPr/>
          <p:nvPr/>
        </p:nvSpPr>
        <p:spPr>
          <a:xfrm>
            <a:off x="6519863" y="3370263"/>
            <a:ext cx="431800" cy="5032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6C1FB7CD-FB92-4BDC-A6F3-A2E1CB2E3F6B}" type="slidenum">
              <a:rPr lang="zh-CN" altLang="en-US" sz="1400" smtClean="0">
                <a:solidFill>
                  <a:srgbClr val="FFFFFF"/>
                </a:solidFill>
                <a:latin typeface="Times New Roman" panose="02020603050405020304" pitchFamily="18" charset="0"/>
              </a:rPr>
              <a:pPr>
                <a:spcBef>
                  <a:spcPct val="50000"/>
                </a:spcBef>
                <a:buClrTx/>
                <a:buSzTx/>
                <a:buFontTx/>
                <a:buNone/>
              </a:pPr>
              <a:t>21</a:t>
            </a:fld>
            <a:endParaRPr lang="en-US" altLang="zh-CN" sz="1400">
              <a:solidFill>
                <a:srgbClr val="FFFFFF"/>
              </a:solidFill>
              <a:latin typeface="Times New Roman" panose="02020603050405020304" pitchFamily="18" charset="0"/>
            </a:endParaRPr>
          </a:p>
        </p:txBody>
      </p:sp>
      <p:sp>
        <p:nvSpPr>
          <p:cNvPr id="36867" name="Text Box 2"/>
          <p:cNvSpPr txBox="1">
            <a:spLocks noChangeArrowheads="1"/>
          </p:cNvSpPr>
          <p:nvPr/>
        </p:nvSpPr>
        <p:spPr bwMode="auto">
          <a:xfrm>
            <a:off x="539552" y="1268760"/>
            <a:ext cx="80645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endParaRPr lang="en-US" altLang="zh-CN" sz="1000" b="1" dirty="0">
              <a:latin typeface="楷体_GB2312" pitchFamily="49" charset="-122"/>
              <a:ea typeface="楷体_GB2312" pitchFamily="49" charset="-122"/>
            </a:endParaRPr>
          </a:p>
          <a:p>
            <a:pPr algn="just">
              <a:spcBef>
                <a:spcPct val="0"/>
              </a:spcBef>
              <a:buClrTx/>
              <a:buSzTx/>
              <a:buFontTx/>
              <a:buNone/>
            </a:pPr>
            <a:endParaRPr lang="en-US" altLang="zh-CN" sz="900" b="1" dirty="0">
              <a:solidFill>
                <a:srgbClr val="006666"/>
              </a:solidFill>
              <a:latin typeface="Times New Roman" panose="02020603050405020304" pitchFamily="18" charset="0"/>
            </a:endParaRPr>
          </a:p>
          <a:p>
            <a:pPr>
              <a:spcBef>
                <a:spcPct val="0"/>
              </a:spcBef>
              <a:buClrTx/>
              <a:buSzTx/>
              <a:buFontTx/>
              <a:buNone/>
            </a:pPr>
            <a:endParaRPr lang="en-US" altLang="zh-CN" sz="900" b="1" dirty="0">
              <a:latin typeface="Times New Roman" panose="02020603050405020304" pitchFamily="18" charset="0"/>
            </a:endParaRPr>
          </a:p>
          <a:p>
            <a:pPr>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rPr>
              <a:t>乳液聚合</a:t>
            </a:r>
            <a:r>
              <a:rPr lang="en-US" altLang="zh-CN" sz="2200" b="1" dirty="0">
                <a:latin typeface="Times New Roman" panose="02020603050405020304" pitchFamily="18" charset="0"/>
                <a:ea typeface="楷体" panose="02010609060101010101" pitchFamily="49" charset="-122"/>
              </a:rPr>
              <a:t>: </a:t>
            </a:r>
            <a:r>
              <a:rPr lang="zh-CN" altLang="en-US" sz="2200" b="1" dirty="0">
                <a:latin typeface="Times New Roman" panose="02020603050405020304" pitchFamily="18" charset="0"/>
                <a:ea typeface="楷体" panose="02010609060101010101" pitchFamily="49" charset="-122"/>
              </a:rPr>
              <a:t>在乳化剂作用和强烈搅拌下，将单体分散在介质中</a:t>
            </a:r>
            <a:r>
              <a:rPr lang="en-US" altLang="zh-CN" sz="2200" b="1" dirty="0">
                <a:latin typeface="Times New Roman" panose="02020603050405020304" pitchFamily="18" charset="0"/>
                <a:ea typeface="楷体" panose="02010609060101010101" pitchFamily="49" charset="-122"/>
              </a:rPr>
              <a:t>(</a:t>
            </a:r>
          </a:p>
          <a:p>
            <a:pPr>
              <a:spcBef>
                <a:spcPct val="0"/>
              </a:spcBef>
              <a:buClrTx/>
              <a:buSzTx/>
              <a:buFontTx/>
              <a:buNone/>
            </a:pPr>
            <a:r>
              <a:rPr lang="en-US" altLang="zh-CN" sz="2200" b="1" dirty="0">
                <a:latin typeface="Times New Roman" panose="02020603050405020304" pitchFamily="18" charset="0"/>
                <a:ea typeface="楷体" panose="02010609060101010101" pitchFamily="49" charset="-122"/>
              </a:rPr>
              <a:t>                  </a:t>
            </a:r>
            <a:r>
              <a:rPr lang="zh-CN" altLang="en-US" sz="2200" b="1" dirty="0">
                <a:latin typeface="Times New Roman" panose="02020603050405020304" pitchFamily="18" charset="0"/>
                <a:ea typeface="楷体" panose="02010609060101010101" pitchFamily="49" charset="-122"/>
              </a:rPr>
              <a:t>一般是水</a:t>
            </a:r>
            <a:r>
              <a:rPr lang="en-US" altLang="zh-CN" sz="2200" b="1" dirty="0">
                <a:latin typeface="Times New Roman" panose="02020603050405020304" pitchFamily="18" charset="0"/>
                <a:ea typeface="楷体" panose="02010609060101010101" pitchFamily="49" charset="-122"/>
              </a:rPr>
              <a:t>)</a:t>
            </a:r>
            <a:r>
              <a:rPr lang="zh-CN" altLang="en-US" sz="2200" b="1" dirty="0">
                <a:latin typeface="Times New Roman" panose="02020603050405020304" pitchFamily="18" charset="0"/>
                <a:ea typeface="楷体" panose="02010609060101010101" pitchFamily="49" charset="-122"/>
              </a:rPr>
              <a:t>成非均相的乳液体系聚合。</a:t>
            </a:r>
          </a:p>
          <a:p>
            <a:pPr>
              <a:spcBef>
                <a:spcPct val="0"/>
              </a:spcBef>
              <a:buClrTx/>
              <a:buSzTx/>
              <a:buFontTx/>
              <a:buNone/>
            </a:pPr>
            <a:endParaRPr lang="en-US" altLang="zh-CN" sz="2200" b="1" dirty="0">
              <a:latin typeface="Times New Roman" panose="02020603050405020304" pitchFamily="18" charset="0"/>
              <a:ea typeface="楷体" panose="02010609060101010101" pitchFamily="49" charset="-122"/>
            </a:endParaRPr>
          </a:p>
          <a:p>
            <a:pPr>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rPr>
              <a:t>乳液聚合有特殊的反应机理</a:t>
            </a:r>
            <a:endParaRPr lang="en-US" altLang="zh-CN" sz="2200" b="1" dirty="0">
              <a:solidFill>
                <a:srgbClr val="FF0000"/>
              </a:solidFill>
              <a:latin typeface="Times New Roman" panose="02020603050405020304" pitchFamily="18" charset="0"/>
              <a:ea typeface="楷体" panose="02010609060101010101" pitchFamily="49" charset="-122"/>
            </a:endParaRPr>
          </a:p>
          <a:p>
            <a:pPr>
              <a:spcBef>
                <a:spcPct val="0"/>
              </a:spcBef>
              <a:buClrTx/>
              <a:buSzTx/>
              <a:buFontTx/>
              <a:buNone/>
            </a:pPr>
            <a:endParaRPr lang="en-US" altLang="zh-CN" sz="1000" b="1" dirty="0">
              <a:latin typeface="Times New Roman" panose="02020603050405020304" pitchFamily="18" charset="0"/>
              <a:ea typeface="楷体" panose="02010609060101010101" pitchFamily="49" charset="-122"/>
            </a:endParaRPr>
          </a:p>
          <a:p>
            <a:pPr>
              <a:lnSpc>
                <a:spcPts val="3200"/>
              </a:lnSpc>
              <a:spcBef>
                <a:spcPct val="0"/>
              </a:spcBef>
              <a:buClrTx/>
              <a:buSzTx/>
              <a:buFontTx/>
              <a:buNone/>
            </a:pPr>
            <a:r>
              <a:rPr lang="en-US" altLang="zh-CN" sz="2200" b="1" dirty="0">
                <a:latin typeface="Times New Roman" panose="02020603050405020304" pitchFamily="18" charset="0"/>
                <a:ea typeface="楷体" panose="02010609060101010101" pitchFamily="49" charset="-122"/>
              </a:rPr>
              <a:t>        </a:t>
            </a:r>
            <a:r>
              <a:rPr lang="zh-CN" altLang="en-US" sz="2200" b="1" dirty="0">
                <a:latin typeface="Times New Roman" panose="02020603050405020304" pitchFamily="18" charset="0"/>
                <a:ea typeface="楷体" panose="02010609060101010101" pitchFamily="49" charset="-122"/>
              </a:rPr>
              <a:t>由于有乳化剂的存在，聚合体系在停止搅拌后仍处于稳定状态。乳液聚合物粒子直径为0.05～0.15 </a:t>
            </a:r>
            <a:r>
              <a:rPr lang="zh-CN" altLang="en-US" sz="2200" b="1" dirty="0">
                <a:latin typeface="Times New Roman" panose="02020603050405020304" pitchFamily="18" charset="0"/>
                <a:ea typeface="楷体" panose="02010609060101010101" pitchFamily="49" charset="-122"/>
                <a:sym typeface="Symbol" panose="05050102010706020507" pitchFamily="18" charset="2"/>
              </a:rPr>
              <a:t></a:t>
            </a:r>
            <a:r>
              <a:rPr lang="en-US" altLang="zh-CN" sz="2200" b="1" dirty="0">
                <a:latin typeface="Times New Roman" panose="02020603050405020304" pitchFamily="18" charset="0"/>
                <a:ea typeface="楷体" panose="02010609060101010101" pitchFamily="49" charset="-122"/>
                <a:sym typeface="Symbol" panose="05050102010706020507" pitchFamily="18" charset="2"/>
              </a:rPr>
              <a:t>m</a:t>
            </a:r>
            <a:r>
              <a:rPr lang="zh-CN" altLang="en-US" sz="2200" b="1" dirty="0">
                <a:latin typeface="Times New Roman" panose="02020603050405020304" pitchFamily="18" charset="0"/>
                <a:ea typeface="楷体" panose="02010609060101010101" pitchFamily="49" charset="-122"/>
              </a:rPr>
              <a:t>，比悬浮聚合的粒子（50～2000 </a:t>
            </a:r>
            <a:r>
              <a:rPr lang="zh-CN" altLang="en-US" sz="2200" b="1" dirty="0">
                <a:latin typeface="Times New Roman" panose="02020603050405020304" pitchFamily="18" charset="0"/>
                <a:ea typeface="楷体" panose="02010609060101010101" pitchFamily="49" charset="-122"/>
                <a:sym typeface="Symbol" panose="05050102010706020507" pitchFamily="18" charset="2"/>
              </a:rPr>
              <a:t></a:t>
            </a:r>
            <a:r>
              <a:rPr lang="en-US" altLang="zh-CN" sz="2200" b="1" dirty="0">
                <a:latin typeface="Times New Roman" panose="02020603050405020304" pitchFamily="18" charset="0"/>
                <a:ea typeface="楷体" panose="02010609060101010101" pitchFamily="49" charset="-122"/>
                <a:sym typeface="Symbol" panose="05050102010706020507" pitchFamily="18" charset="2"/>
              </a:rPr>
              <a:t>m</a:t>
            </a:r>
            <a:r>
              <a:rPr lang="zh-CN" altLang="en-US" sz="2200" b="1" dirty="0">
                <a:latin typeface="Times New Roman" panose="02020603050405020304" pitchFamily="18" charset="0"/>
                <a:ea typeface="楷体" panose="02010609060101010101" pitchFamily="49" charset="-122"/>
              </a:rPr>
              <a:t>）要小得多，</a:t>
            </a:r>
            <a:r>
              <a:rPr lang="zh-CN" altLang="en-US" sz="2200" b="1" dirty="0">
                <a:solidFill>
                  <a:srgbClr val="FF0000"/>
                </a:solidFill>
                <a:latin typeface="Times New Roman" panose="02020603050405020304" pitchFamily="18" charset="0"/>
                <a:ea typeface="楷体" panose="02010609060101010101" pitchFamily="49" charset="-122"/>
              </a:rPr>
              <a:t>得到的聚合物称 “胶乳”</a:t>
            </a:r>
            <a:r>
              <a:rPr lang="en-US" altLang="zh-CN" sz="2200" b="1" dirty="0">
                <a:solidFill>
                  <a:srgbClr val="FF0000"/>
                </a:solidFill>
                <a:latin typeface="Times New Roman" panose="02020603050405020304" pitchFamily="18" charset="0"/>
                <a:ea typeface="楷体" panose="02010609060101010101" pitchFamily="49" charset="-122"/>
              </a:rPr>
              <a:t>.</a:t>
            </a:r>
          </a:p>
          <a:p>
            <a:pPr>
              <a:spcBef>
                <a:spcPct val="0"/>
              </a:spcBef>
              <a:buClrTx/>
              <a:buSzTx/>
              <a:buFontTx/>
              <a:buNone/>
            </a:pPr>
            <a:endParaRPr lang="zh-CN" altLang="en-US" sz="1000" b="1" dirty="0">
              <a:solidFill>
                <a:srgbClr val="6600CC"/>
              </a:solidFill>
              <a:latin typeface="Times New Roman" panose="02020603050405020304" pitchFamily="18" charset="0"/>
              <a:ea typeface="楷体" panose="02010609060101010101" pitchFamily="49" charset="-122"/>
            </a:endParaRPr>
          </a:p>
          <a:p>
            <a:pPr>
              <a:lnSpc>
                <a:spcPct val="150000"/>
              </a:lnSpc>
              <a:spcBef>
                <a:spcPct val="30000"/>
              </a:spcBef>
              <a:buClrTx/>
              <a:buSzTx/>
              <a:buFontTx/>
              <a:buNone/>
            </a:pPr>
            <a:r>
              <a:rPr lang="zh-CN" altLang="en-US" sz="2000" b="1" dirty="0">
                <a:latin typeface="Times New Roman" panose="02020603050405020304" pitchFamily="18" charset="0"/>
                <a:ea typeface="楷体" panose="02010609060101010101" pitchFamily="49" charset="-122"/>
              </a:rPr>
              <a:t>可采用两种方法使聚合物从聚合乳液中分离出来</a:t>
            </a:r>
            <a:r>
              <a:rPr lang="en-US" altLang="zh-CN" sz="2000" b="1" dirty="0">
                <a:latin typeface="Times New Roman" panose="02020603050405020304" pitchFamily="18" charset="0"/>
                <a:ea typeface="楷体" panose="02010609060101010101" pitchFamily="49" charset="-122"/>
              </a:rPr>
              <a:t>:</a:t>
            </a:r>
            <a:endParaRPr lang="zh-CN" altLang="en-US" sz="2000" b="1" dirty="0">
              <a:latin typeface="Times New Roman" panose="02020603050405020304" pitchFamily="18" charset="0"/>
              <a:ea typeface="楷体" panose="02010609060101010101" pitchFamily="49" charset="-122"/>
            </a:endParaRPr>
          </a:p>
          <a:p>
            <a:pPr>
              <a:lnSpc>
                <a:spcPct val="150000"/>
              </a:lnSpc>
              <a:spcBef>
                <a:spcPct val="0"/>
              </a:spcBef>
              <a:buClrTx/>
              <a:buSzTx/>
              <a:buFontTx/>
              <a:buNone/>
            </a:pPr>
            <a:r>
              <a:rPr lang="zh-CN" altLang="en-US" sz="2000" b="1" dirty="0">
                <a:latin typeface="Times New Roman" panose="02020603050405020304" pitchFamily="18" charset="0"/>
                <a:ea typeface="楷体" panose="02010609060101010101" pitchFamily="49" charset="-122"/>
              </a:rPr>
              <a:t>1</a:t>
            </a:r>
            <a:r>
              <a:rPr lang="en-US" altLang="zh-CN" sz="2000" b="1" dirty="0">
                <a:latin typeface="Times New Roman" panose="02020603050405020304" pitchFamily="18" charset="0"/>
                <a:ea typeface="楷体" panose="02010609060101010101" pitchFamily="49" charset="-122"/>
              </a:rPr>
              <a:t>)</a:t>
            </a:r>
            <a:r>
              <a:rPr lang="zh-CN" altLang="en-US" sz="2000" b="1" dirty="0">
                <a:latin typeface="Times New Roman" panose="02020603050405020304" pitchFamily="18" charset="0"/>
                <a:ea typeface="楷体" panose="02010609060101010101" pitchFamily="49" charset="-122"/>
              </a:rPr>
              <a:t> 加入电解质 ，使胶粒状的聚合物凝聚成块状物并沉出</a:t>
            </a:r>
            <a:r>
              <a:rPr lang="en-US" altLang="zh-CN" sz="2000" b="1" dirty="0">
                <a:latin typeface="Times New Roman" panose="02020603050405020304" pitchFamily="18" charset="0"/>
                <a:ea typeface="楷体" panose="02010609060101010101" pitchFamily="49" charset="-122"/>
              </a:rPr>
              <a:t>;</a:t>
            </a:r>
            <a:endParaRPr lang="zh-CN" altLang="en-US" sz="2000" b="1" dirty="0">
              <a:latin typeface="Times New Roman" panose="02020603050405020304" pitchFamily="18" charset="0"/>
              <a:ea typeface="楷体" panose="02010609060101010101" pitchFamily="49" charset="-122"/>
            </a:endParaRPr>
          </a:p>
          <a:p>
            <a:pPr>
              <a:lnSpc>
                <a:spcPct val="150000"/>
              </a:lnSpc>
              <a:spcBef>
                <a:spcPct val="0"/>
              </a:spcBef>
              <a:buClrTx/>
              <a:buSzTx/>
              <a:buFontTx/>
              <a:buNone/>
            </a:pPr>
            <a:r>
              <a:rPr lang="zh-CN" altLang="en-US" sz="2000" b="1" dirty="0">
                <a:latin typeface="Times New Roman" panose="02020603050405020304" pitchFamily="18" charset="0"/>
                <a:ea typeface="楷体" panose="02010609060101010101" pitchFamily="49" charset="-122"/>
              </a:rPr>
              <a:t>2</a:t>
            </a:r>
            <a:r>
              <a:rPr lang="en-US" altLang="zh-CN" sz="2000" b="1" dirty="0">
                <a:latin typeface="Times New Roman" panose="02020603050405020304" pitchFamily="18" charset="0"/>
                <a:ea typeface="楷体" panose="02010609060101010101" pitchFamily="49" charset="-122"/>
              </a:rPr>
              <a:t>)</a:t>
            </a:r>
            <a:r>
              <a:rPr lang="zh-CN" altLang="en-US" sz="2000" b="1" dirty="0">
                <a:latin typeface="Times New Roman" panose="02020603050405020304" pitchFamily="18" charset="0"/>
                <a:ea typeface="楷体" panose="02010609060101010101" pitchFamily="49" charset="-122"/>
              </a:rPr>
              <a:t> 直接用高速离心机分离胶粒。</a:t>
            </a:r>
          </a:p>
        </p:txBody>
      </p:sp>
      <p:sp>
        <p:nvSpPr>
          <p:cNvPr id="36868" name="Text Box 15"/>
          <p:cNvSpPr txBox="1">
            <a:spLocks noChangeArrowheads="1"/>
          </p:cNvSpPr>
          <p:nvPr/>
        </p:nvSpPr>
        <p:spPr bwMode="auto">
          <a:xfrm>
            <a:off x="323528" y="548680"/>
            <a:ext cx="6985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ea typeface="楷体" panose="02010609060101010101" pitchFamily="49" charset="-122"/>
                <a:cs typeface="Times New Roman" panose="02020603050405020304" pitchFamily="18" charset="0"/>
              </a:rPr>
              <a:t>§ </a:t>
            </a:r>
            <a:r>
              <a:rPr lang="zh-CN" altLang="en-US" sz="2400" b="1" dirty="0">
                <a:ea typeface="楷体" panose="02010609060101010101" pitchFamily="49" charset="-122"/>
                <a:cs typeface="Times New Roman" panose="02020603050405020304" pitchFamily="18" charset="0"/>
              </a:rPr>
              <a:t>5.</a:t>
            </a:r>
            <a:r>
              <a:rPr lang="en-US" altLang="zh-CN" sz="2400" b="1" dirty="0">
                <a:ea typeface="楷体" panose="02010609060101010101" pitchFamily="49" charset="-122"/>
                <a:cs typeface="Times New Roman" panose="02020603050405020304" pitchFamily="18" charset="0"/>
              </a:rPr>
              <a:t>5</a:t>
            </a:r>
            <a:r>
              <a:rPr lang="zh-CN" altLang="en-US" sz="2400" b="1" dirty="0">
                <a:ea typeface="楷体" panose="02010609060101010101" pitchFamily="49" charset="-122"/>
                <a:cs typeface="Times New Roman" panose="02020603050405020304" pitchFamily="18" charset="0"/>
              </a:rPr>
              <a:t>  乳液聚合 </a:t>
            </a:r>
            <a:r>
              <a:rPr lang="en-US" altLang="zh-CN" sz="2400" b="1" dirty="0">
                <a:ea typeface="楷体" panose="02010609060101010101" pitchFamily="49" charset="-122"/>
                <a:cs typeface="Times New Roman" panose="02020603050405020304" pitchFamily="18" charset="0"/>
              </a:rPr>
              <a:t>(Emulsion polymerization)</a:t>
            </a:r>
            <a:endParaRPr lang="zh-CN" altLang="en-US" sz="2400" b="1" dirty="0">
              <a:ea typeface="楷体" panose="02010609060101010101" pitchFamily="49" charset="-122"/>
              <a:cs typeface="Times New Roman" panose="02020603050405020304" pitchFamily="18" charset="0"/>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7DA8F1AF-781E-48B1-B5C7-FCC17A7203BC}" type="slidenum">
              <a:rPr lang="zh-CN" altLang="en-US" sz="1400" smtClean="0">
                <a:solidFill>
                  <a:srgbClr val="FFFFFF"/>
                </a:solidFill>
                <a:latin typeface="Times New Roman" panose="02020603050405020304" pitchFamily="18" charset="0"/>
              </a:rPr>
              <a:pPr>
                <a:spcBef>
                  <a:spcPct val="50000"/>
                </a:spcBef>
                <a:buClrTx/>
                <a:buSzTx/>
                <a:buFontTx/>
                <a:buNone/>
              </a:pPr>
              <a:t>22</a:t>
            </a:fld>
            <a:endParaRPr lang="en-US" altLang="zh-CN" sz="1400">
              <a:solidFill>
                <a:srgbClr val="FFFFFF"/>
              </a:solidFill>
              <a:latin typeface="Times New Roman" panose="02020603050405020304" pitchFamily="18" charset="0"/>
            </a:endParaRPr>
          </a:p>
        </p:txBody>
      </p:sp>
      <p:sp>
        <p:nvSpPr>
          <p:cNvPr id="37891" name="Text Box 1026"/>
          <p:cNvSpPr txBox="1">
            <a:spLocks noChangeArrowheads="1"/>
          </p:cNvSpPr>
          <p:nvPr/>
        </p:nvSpPr>
        <p:spPr bwMode="auto">
          <a:xfrm>
            <a:off x="385763" y="620688"/>
            <a:ext cx="8353425" cy="593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1 乳液聚合反应体系的成分与组成</a:t>
            </a:r>
          </a:p>
          <a:p>
            <a:pPr algn="just">
              <a:spcBef>
                <a:spcPct val="0"/>
              </a:spcBef>
              <a:buClrTx/>
              <a:buSzTx/>
              <a:buFontTx/>
              <a:buNone/>
            </a:pP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buFont typeface="Wingdings" panose="05000000000000000000" pitchFamily="2" charset="2"/>
              <a:buNone/>
            </a:pPr>
            <a:r>
              <a:rPr lang="en-US" altLang="zh-CN" sz="2000" dirty="0">
                <a:solidFill>
                  <a:srgbClr val="FF0000"/>
                </a:solidFill>
                <a:latin typeface="Arial" panose="020B0604020202020204" pitchFamily="34" charset="0"/>
                <a:cs typeface="Arial" panose="020B0604020202020204" pitchFamily="34" charset="0"/>
              </a:rPr>
              <a:t>Main components</a:t>
            </a:r>
            <a:r>
              <a:rPr lang="zh-CN" altLang="en-US" sz="2000" dirty="0">
                <a:solidFill>
                  <a:srgbClr val="FF0000"/>
                </a:solidFill>
                <a:latin typeface="Arial" panose="020B0604020202020204" pitchFamily="34" charset="0"/>
                <a:cs typeface="Arial" panose="020B0604020202020204" pitchFamily="34" charset="0"/>
              </a:rPr>
              <a:t>：</a:t>
            </a:r>
            <a:endParaRPr lang="en-US" altLang="zh-CN" sz="2000" dirty="0">
              <a:solidFill>
                <a:srgbClr val="FF0000"/>
              </a:solidFill>
              <a:latin typeface="Arial" panose="020B0604020202020204" pitchFamily="34" charset="0"/>
              <a:cs typeface="Arial" panose="020B0604020202020204" pitchFamily="34" charset="0"/>
            </a:endParaRPr>
          </a:p>
          <a:p>
            <a:pPr algn="just">
              <a:buFont typeface="Wingdings" panose="05000000000000000000" pitchFamily="2" charset="2"/>
              <a:buNone/>
            </a:pPr>
            <a:r>
              <a:rPr lang="en-US" altLang="zh-CN" sz="2000" dirty="0">
                <a:latin typeface="Arial" panose="020B0604020202020204" pitchFamily="34" charset="0"/>
                <a:cs typeface="Arial" panose="020B0604020202020204" pitchFamily="34" charset="0"/>
              </a:rPr>
              <a:t>Monomer, Water,</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Emulsifier, Water-soluble initiators</a:t>
            </a:r>
          </a:p>
          <a:p>
            <a:pPr algn="just">
              <a:spcBef>
                <a:spcPct val="0"/>
              </a:spcBef>
              <a:buClrTx/>
              <a:buSzTx/>
              <a:buFontTx/>
              <a:buNone/>
            </a:pPr>
            <a:endPar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单体：</a:t>
            </a:r>
            <a:endPar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不溶于水或在水中溶解度&lt;10%的单体，占总重量的30～60%</a:t>
            </a:r>
          </a:p>
          <a:p>
            <a:pPr algn="just">
              <a:spcBef>
                <a:spcPct val="3000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分散介质 </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水</a:t>
            </a:r>
            <a:endPar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3000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必须用蒸馏水或去离子水，避免水中的微量金属离子与乳化剂作用，破坏乳液稳定性，占聚合体系重量的 70～40%。</a:t>
            </a:r>
          </a:p>
          <a:p>
            <a:pPr algn="just">
              <a:lnSpc>
                <a:spcPct val="120000"/>
              </a:lnSpc>
              <a:spcBef>
                <a:spcPct val="0"/>
              </a:spcBef>
              <a:buClrTx/>
              <a:buSzTx/>
              <a:buFontTx/>
              <a:buNone/>
            </a:pPr>
            <a:endPar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引发剂</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产生自由基</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引发链增长反应</a:t>
            </a:r>
            <a:endPar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000" b="1" dirty="0">
                <a:latin typeface="Arial" panose="020B0604020202020204" pitchFamily="34" charset="0"/>
                <a:ea typeface="楷体" panose="02010609060101010101" pitchFamily="49" charset="-122"/>
                <a:cs typeface="Arial" panose="020B0604020202020204" pitchFamily="34" charset="0"/>
              </a:rPr>
              <a:t>    呈水溶性或一组分呈水溶性，通常用能溶于水的氧化－还原引发剂，</a:t>
            </a:r>
          </a:p>
          <a:p>
            <a:pPr algn="just">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如：</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H</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sz="2200" b="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－Fe</a:t>
            </a:r>
            <a:r>
              <a:rPr lang="en-US" altLang="zh-CN" sz="2200" b="1" baseline="30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体系，</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OHP(</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异丙苯过氧化氢</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Fe</a:t>
            </a:r>
            <a:r>
              <a:rPr lang="en-US" altLang="zh-CN" sz="2200" b="1" baseline="30000" dirty="0">
                <a:latin typeface="Times New Roman" panose="02020603050405020304" pitchFamily="18" charset="0"/>
                <a:ea typeface="楷体" panose="02010609060101010101" pitchFamily="49" charset="-122"/>
                <a:cs typeface="Times New Roman" panose="02020603050405020304" pitchFamily="18" charset="0"/>
              </a:rPr>
              <a:t>2+</a:t>
            </a:r>
          </a:p>
          <a:p>
            <a:pPr algn="just">
              <a:lnSpc>
                <a:spcPct val="120000"/>
              </a:lnSpc>
              <a:spcBef>
                <a:spcPct val="0"/>
              </a:spcBef>
              <a:buClrTx/>
              <a:buSzTx/>
              <a:buFontTx/>
              <a:buNone/>
            </a:pPr>
            <a:endParaRPr lang="en-US" altLang="zh-CN" sz="11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用量为单体的0.1～0.3%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油溶性引发剂为0.1～1.0%</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D9D5B98B-5C46-4FC8-AB0A-C94CFEFB4AF2}" type="slidenum">
              <a:rPr kumimoji="0" lang="zh-CN" altLang="en-US" sz="1400" smtClean="0">
                <a:solidFill>
                  <a:srgbClr val="FFFFFF"/>
                </a:solidFill>
              </a:rPr>
              <a:pPr/>
              <a:t>23</a:t>
            </a:fld>
            <a:endParaRPr kumimoji="0" lang="en-US" altLang="zh-CN" sz="1400">
              <a:solidFill>
                <a:srgbClr val="FFFFFF"/>
              </a:solidFill>
            </a:endParaRPr>
          </a:p>
        </p:txBody>
      </p:sp>
      <p:sp>
        <p:nvSpPr>
          <p:cNvPr id="38915" name="Rectangle 5"/>
          <p:cNvSpPr>
            <a:spLocks noChangeArrowheads="1"/>
          </p:cNvSpPr>
          <p:nvPr/>
        </p:nvSpPr>
        <p:spPr bwMode="auto">
          <a:xfrm>
            <a:off x="4999112" y="2349178"/>
            <a:ext cx="2667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rgbClr val="800000"/>
              </a:buClr>
              <a:buSzPct val="90000"/>
              <a:buFont typeface="Wingdings" panose="05000000000000000000" pitchFamily="2" charset="2"/>
              <a:buNone/>
            </a:pPr>
            <a:r>
              <a:rPr lang="zh-CN" altLang="en-US" sz="2000" b="1">
                <a:latin typeface="楷体" panose="02010609060101010101" pitchFamily="49" charset="-122"/>
                <a:ea typeface="楷体" panose="02010609060101010101" pitchFamily="49" charset="-122"/>
              </a:rPr>
              <a:t>亲水的极性基团</a:t>
            </a:r>
          </a:p>
          <a:p>
            <a:pPr eaLnBrk="1" hangingPunct="1">
              <a:spcBef>
                <a:spcPct val="50000"/>
              </a:spcBef>
              <a:buClr>
                <a:srgbClr val="800000"/>
              </a:buClr>
              <a:buSzPct val="90000"/>
              <a:buFont typeface="Wingdings" panose="05000000000000000000" pitchFamily="2" charset="2"/>
              <a:buNone/>
            </a:pPr>
            <a:r>
              <a:rPr lang="zh-CN" altLang="en-US" sz="2000" b="1">
                <a:latin typeface="楷体" panose="02010609060101010101" pitchFamily="49" charset="-122"/>
                <a:ea typeface="楷体" panose="02010609060101010101" pitchFamily="49" charset="-122"/>
              </a:rPr>
              <a:t>亲油的非极性基团</a:t>
            </a:r>
          </a:p>
        </p:txBody>
      </p:sp>
      <p:sp>
        <p:nvSpPr>
          <p:cNvPr id="38916" name="AutoShape 6"/>
          <p:cNvSpPr>
            <a:spLocks/>
          </p:cNvSpPr>
          <p:nvPr/>
        </p:nvSpPr>
        <p:spPr bwMode="auto">
          <a:xfrm>
            <a:off x="4770512" y="2417440"/>
            <a:ext cx="228600" cy="762000"/>
          </a:xfrm>
          <a:prstGeom prst="leftBrace">
            <a:avLst>
              <a:gd name="adj1" fmla="val 27778"/>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等线" panose="02010600030101010101" pitchFamily="2" charset="-122"/>
              <a:ea typeface="等线" panose="02010600030101010101" pitchFamily="2" charset="-122"/>
            </a:endParaRPr>
          </a:p>
        </p:txBody>
      </p:sp>
      <p:sp>
        <p:nvSpPr>
          <p:cNvPr id="38917" name="Rectangle 7"/>
          <p:cNvSpPr>
            <a:spLocks noChangeArrowheads="1"/>
          </p:cNvSpPr>
          <p:nvPr/>
        </p:nvSpPr>
        <p:spPr bwMode="auto">
          <a:xfrm>
            <a:off x="579512" y="3408040"/>
            <a:ext cx="3048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rgbClr val="800000"/>
              </a:buClr>
              <a:buSzPct val="90000"/>
              <a:buFont typeface="Wingdings" panose="05000000000000000000" pitchFamily="2" charset="2"/>
              <a:buNone/>
            </a:pPr>
            <a:r>
              <a:rPr lang="zh-CN" altLang="en-US" sz="2400" b="1">
                <a:latin typeface="楷体" panose="02010609060101010101" pitchFamily="49" charset="-122"/>
                <a:ea typeface="楷体" panose="02010609060101010101" pitchFamily="49" charset="-122"/>
              </a:rPr>
              <a:t>如长链脂肪酸钠盐：</a:t>
            </a:r>
          </a:p>
        </p:txBody>
      </p:sp>
      <p:pic>
        <p:nvPicPr>
          <p:cNvPr id="38918"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9912" y="3484240"/>
            <a:ext cx="2206625"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9" name="Text Box 10"/>
          <p:cNvSpPr txBox="1">
            <a:spLocks noChangeArrowheads="1"/>
          </p:cNvSpPr>
          <p:nvPr/>
        </p:nvSpPr>
        <p:spPr bwMode="auto">
          <a:xfrm>
            <a:off x="3779912" y="3789040"/>
            <a:ext cx="1973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0000CC"/>
                </a:solidFill>
                <a:latin typeface="楷体" panose="02010609060101010101" pitchFamily="49" charset="-122"/>
                <a:ea typeface="楷体" panose="02010609060101010101" pitchFamily="49" charset="-122"/>
              </a:rPr>
              <a:t>亲油基（烷基）</a:t>
            </a:r>
            <a:endParaRPr lang="zh-CN" altLang="en-US" b="1">
              <a:solidFill>
                <a:srgbClr val="0000CC"/>
              </a:solidFill>
              <a:latin typeface="楷体" panose="02010609060101010101" pitchFamily="49" charset="-122"/>
              <a:ea typeface="楷体" panose="02010609060101010101" pitchFamily="49" charset="-122"/>
            </a:endParaRPr>
          </a:p>
        </p:txBody>
      </p:sp>
      <p:sp>
        <p:nvSpPr>
          <p:cNvPr id="38920" name="Text Box 11"/>
          <p:cNvSpPr txBox="1">
            <a:spLocks noChangeArrowheads="1"/>
          </p:cNvSpPr>
          <p:nvPr/>
        </p:nvSpPr>
        <p:spPr bwMode="auto">
          <a:xfrm>
            <a:off x="6065912" y="3484240"/>
            <a:ext cx="2228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latin typeface="楷体" panose="02010609060101010101" pitchFamily="49" charset="-122"/>
                <a:ea typeface="楷体" panose="02010609060101010101" pitchFamily="49" charset="-122"/>
              </a:rPr>
              <a:t>亲水基（羧酸钠）</a:t>
            </a:r>
          </a:p>
        </p:txBody>
      </p:sp>
      <p:sp>
        <p:nvSpPr>
          <p:cNvPr id="38921" name="Rectangle 12"/>
          <p:cNvSpPr>
            <a:spLocks noChangeArrowheads="1"/>
          </p:cNvSpPr>
          <p:nvPr/>
        </p:nvSpPr>
        <p:spPr bwMode="auto">
          <a:xfrm>
            <a:off x="963687" y="2593653"/>
            <a:ext cx="35401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乳化剂分子通常由两部分组成</a:t>
            </a:r>
          </a:p>
        </p:txBody>
      </p:sp>
      <p:sp>
        <p:nvSpPr>
          <p:cNvPr id="38922" name="Rectangle 14"/>
          <p:cNvSpPr>
            <a:spLocks noChangeArrowheads="1"/>
          </p:cNvSpPr>
          <p:nvPr/>
        </p:nvSpPr>
        <p:spPr bwMode="auto">
          <a:xfrm>
            <a:off x="819477" y="1195387"/>
            <a:ext cx="6973888"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b="1" dirty="0">
                <a:latin typeface="楷体" panose="02010609060101010101" pitchFamily="49" charset="-122"/>
                <a:ea typeface="楷体" panose="02010609060101010101" pitchFamily="49" charset="-122"/>
              </a:rPr>
              <a:t>是一类可使互不相容的油和水转变成难以分层的乳液的物质，是表面活性剂。</a:t>
            </a:r>
          </a:p>
        </p:txBody>
      </p:sp>
      <p:sp>
        <p:nvSpPr>
          <p:cNvPr id="38923" name="Text Box 15"/>
          <p:cNvSpPr txBox="1">
            <a:spLocks noChangeArrowheads="1"/>
          </p:cNvSpPr>
          <p:nvPr/>
        </p:nvSpPr>
        <p:spPr bwMode="auto">
          <a:xfrm>
            <a:off x="430213" y="327025"/>
            <a:ext cx="38862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4) </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乳化剂</a:t>
            </a:r>
            <a:r>
              <a:rPr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(Emulsifier)：</a:t>
            </a:r>
            <a:endPar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38924" name="Text Box 1026"/>
          <p:cNvSpPr txBox="1">
            <a:spLocks noChangeArrowheads="1"/>
          </p:cNvSpPr>
          <p:nvPr/>
        </p:nvSpPr>
        <p:spPr bwMode="auto">
          <a:xfrm>
            <a:off x="838200" y="3925888"/>
            <a:ext cx="8135938" cy="229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30000"/>
              </a:lnSpc>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乳化剂的作用</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1</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降低界面张力，促进单体分散成细小的液滴；</a:t>
            </a:r>
          </a:p>
          <a:p>
            <a:pPr algn="just">
              <a:lnSpc>
                <a:spcPct val="13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在液滴表面形成保护层，防止其凝聚，使乳液稳定</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形成胶束，并使部分油（单体）溶于胶束内</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1AEAF081-F058-4A90-A8DB-9AD31F62E71C}" type="slidenum">
              <a:rPr kumimoji="0" lang="zh-CN" altLang="en-US" sz="1400" smtClean="0">
                <a:solidFill>
                  <a:srgbClr val="FFFFFF"/>
                </a:solidFill>
              </a:rPr>
              <a:pPr/>
              <a:t>24</a:t>
            </a:fld>
            <a:endParaRPr kumimoji="0" lang="en-US" altLang="zh-CN" sz="1400">
              <a:solidFill>
                <a:srgbClr val="FFFFFF"/>
              </a:solidFill>
            </a:endParaRPr>
          </a:p>
        </p:txBody>
      </p:sp>
      <p:sp>
        <p:nvSpPr>
          <p:cNvPr id="39939" name="Rectangle 9"/>
          <p:cNvSpPr>
            <a:spLocks noChangeArrowheads="1"/>
          </p:cNvSpPr>
          <p:nvPr/>
        </p:nvSpPr>
        <p:spPr bwMode="auto">
          <a:xfrm>
            <a:off x="1403648" y="5157192"/>
            <a:ext cx="6161087" cy="70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45000"/>
              </a:spcBef>
              <a:buClr>
                <a:srgbClr val="FF3399"/>
              </a:buClr>
              <a:buSzPct val="90000"/>
              <a:buFont typeface="Monotype Sorts"/>
              <a:buNone/>
            </a:pPr>
            <a:r>
              <a:rPr lang="zh-CN" altLang="zh-CN" sz="2000" b="1" dirty="0">
                <a:latin typeface="Arial" panose="020B0604020202020204" pitchFamily="34" charset="0"/>
                <a:ea typeface="楷体" panose="02010609060101010101" pitchFamily="49" charset="-122"/>
                <a:cs typeface="Arial" panose="020B0604020202020204" pitchFamily="34" charset="0"/>
              </a:rPr>
              <a:t>乳液聚合体系一般呈O</a:t>
            </a:r>
            <a:r>
              <a:rPr lang="zh-CN" altLang="en-US" sz="2000" b="1" dirty="0">
                <a:latin typeface="Arial" panose="020B0604020202020204" pitchFamily="34" charset="0"/>
                <a:ea typeface="楷体" panose="02010609060101010101" pitchFamily="49" charset="-122"/>
                <a:cs typeface="Arial" panose="020B0604020202020204" pitchFamily="34" charset="0"/>
              </a:rPr>
              <a:t>/</a:t>
            </a:r>
            <a:r>
              <a:rPr lang="en-US" altLang="zh-CN" sz="2000" b="1" dirty="0">
                <a:latin typeface="Arial" panose="020B0604020202020204" pitchFamily="34" charset="0"/>
                <a:ea typeface="楷体" panose="02010609060101010101" pitchFamily="49" charset="-122"/>
                <a:cs typeface="Arial" panose="020B0604020202020204" pitchFamily="34" charset="0"/>
              </a:rPr>
              <a:t>W(</a:t>
            </a:r>
            <a:r>
              <a:rPr lang="zh-CN" altLang="en-US" sz="2000" b="1" dirty="0">
                <a:latin typeface="Arial" panose="020B0604020202020204" pitchFamily="34" charset="0"/>
                <a:ea typeface="楷体" panose="02010609060101010101" pitchFamily="49" charset="-122"/>
                <a:cs typeface="Arial" panose="020B0604020202020204" pitchFamily="34" charset="0"/>
              </a:rPr>
              <a:t>水包油，</a:t>
            </a:r>
            <a:r>
              <a:rPr lang="zh-CN" altLang="en-US" sz="2000" dirty="0">
                <a:ea typeface="楷体" panose="02010609060101010101" pitchFamily="49" charset="-122"/>
                <a:cs typeface="Arial" panose="020B0604020202020204" pitchFamily="34" charset="0"/>
              </a:rPr>
              <a:t>油分散在水中</a:t>
            </a:r>
            <a:r>
              <a:rPr lang="en-US" altLang="zh-CN" sz="2000" b="1" dirty="0">
                <a:latin typeface="Arial" panose="020B0604020202020204" pitchFamily="34" charset="0"/>
                <a:ea typeface="楷体" panose="02010609060101010101" pitchFamily="49" charset="-122"/>
                <a:cs typeface="Arial" panose="020B0604020202020204" pitchFamily="34" charset="0"/>
              </a:rPr>
              <a:t>)，HLB</a:t>
            </a:r>
            <a:r>
              <a:rPr lang="zh-CN" altLang="en-US" sz="2000" b="1" dirty="0">
                <a:latin typeface="Arial" panose="020B0604020202020204" pitchFamily="34" charset="0"/>
                <a:ea typeface="楷体" panose="02010609060101010101" pitchFamily="49" charset="-122"/>
                <a:cs typeface="Arial" panose="020B0604020202020204" pitchFamily="34" charset="0"/>
              </a:rPr>
              <a:t>值在</a:t>
            </a:r>
            <a:r>
              <a:rPr lang="zh-CN" altLang="zh-CN" sz="2000" b="1" dirty="0">
                <a:latin typeface="Arial" panose="020B0604020202020204" pitchFamily="34" charset="0"/>
                <a:ea typeface="楷体" panose="02010609060101010101" pitchFamily="49" charset="-122"/>
                <a:cs typeface="Arial" panose="020B0604020202020204" pitchFamily="34" charset="0"/>
              </a:rPr>
              <a:t> 8～18范围内</a:t>
            </a:r>
            <a:endParaRPr lang="zh-CN" altLang="en-US" sz="2000" b="1" dirty="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53280" name="Group 32">
            <a:extLst>
              <a:ext uri="{FF2B5EF4-FFF2-40B4-BE49-F238E27FC236}">
                <a16:creationId xmlns:a16="http://schemas.microsoft.com/office/drawing/2014/main" id="{D5DF9BBD-6623-4927-A2CF-2DB1F846F375}"/>
              </a:ext>
            </a:extLst>
          </p:cNvPr>
          <p:cNvGraphicFramePr>
            <a:graphicFrameLocks noGrp="1"/>
          </p:cNvGraphicFramePr>
          <p:nvPr>
            <p:extLst>
              <p:ext uri="{D42A27DB-BD31-4B8C-83A1-F6EECF244321}">
                <p14:modId xmlns:p14="http://schemas.microsoft.com/office/powerpoint/2010/main" val="899656085"/>
              </p:ext>
            </p:extLst>
          </p:nvPr>
        </p:nvGraphicFramePr>
        <p:xfrm>
          <a:off x="1449685" y="2511152"/>
          <a:ext cx="5867400" cy="2286000"/>
        </p:xfrm>
        <a:graphic>
          <a:graphicData uri="http://schemas.openxmlformats.org/drawingml/2006/table">
            <a:tbl>
              <a:tblPr/>
              <a:tblGrid>
                <a:gridCol w="2933700">
                  <a:extLst>
                    <a:ext uri="{9D8B030D-6E8A-4147-A177-3AD203B41FA5}">
                      <a16:colId xmlns:a16="http://schemas.microsoft.com/office/drawing/2014/main" val="20000"/>
                    </a:ext>
                  </a:extLst>
                </a:gridCol>
                <a:gridCol w="2933700">
                  <a:extLst>
                    <a:ext uri="{9D8B030D-6E8A-4147-A177-3AD203B41FA5}">
                      <a16:colId xmlns:a16="http://schemas.microsoft.com/office/drawing/2014/main" val="20001"/>
                    </a:ext>
                  </a:extLst>
                </a:gridCol>
              </a:tblGrid>
              <a:tr h="422275">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en-US" altLang="zh-CN" sz="2400" b="1" i="0" u="none" strike="noStrike" cap="none" normalizeH="0" baseline="0" dirty="0">
                          <a:ln>
                            <a:noFill/>
                          </a:ln>
                          <a:solidFill>
                            <a:srgbClr val="FF0000"/>
                          </a:solidFill>
                          <a:effectLst/>
                          <a:latin typeface="Arial" panose="020B0604020202020204" pitchFamily="34" charset="0"/>
                          <a:ea typeface="楷体" panose="02010609060101010101" pitchFamily="49" charset="-122"/>
                          <a:cs typeface="Arial" panose="020B0604020202020204" pitchFamily="34" charset="0"/>
                        </a:rPr>
                        <a:t>HLB</a:t>
                      </a:r>
                      <a:r>
                        <a:rPr kumimoji="1" lang="zh-CN" altLang="en-US" sz="2400" b="1" i="0" u="none" strike="noStrike" cap="none" normalizeH="0" baseline="0" dirty="0">
                          <a:ln>
                            <a:noFill/>
                          </a:ln>
                          <a:solidFill>
                            <a:srgbClr val="FF0000"/>
                          </a:solidFill>
                          <a:effectLst/>
                          <a:latin typeface="Arial" panose="020B0604020202020204" pitchFamily="34" charset="0"/>
                          <a:ea typeface="楷体" panose="02010609060101010101" pitchFamily="49" charset="-122"/>
                          <a:cs typeface="Arial" panose="020B0604020202020204" pitchFamily="34" charset="0"/>
                        </a:rPr>
                        <a:t>值范围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zh-CN" altLang="en-US" sz="2400" b="1" i="0" u="none" strike="noStrike" cap="none" normalizeH="0" baseline="0" dirty="0">
                          <a:ln>
                            <a:noFill/>
                          </a:ln>
                          <a:solidFill>
                            <a:srgbClr val="FF0000"/>
                          </a:solidFill>
                          <a:effectLst/>
                          <a:latin typeface="Arial" panose="020B0604020202020204" pitchFamily="34" charset="0"/>
                          <a:ea typeface="楷体" panose="02010609060101010101" pitchFamily="49" charset="-122"/>
                          <a:cs typeface="Arial" panose="020B0604020202020204" pitchFamily="34" charset="0"/>
                        </a:rPr>
                        <a:t>应用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88">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zh-CN" altLang="en-US" sz="2400" b="1" i="0" u="none" strike="noStrike" cap="none" normalizeH="0" baseline="0" dirty="0">
                          <a:ln>
                            <a:noFill/>
                          </a:ln>
                          <a:solidFill>
                            <a:schemeClr val="tx1"/>
                          </a:solidFill>
                          <a:effectLst/>
                          <a:latin typeface="Arial" panose="020B0604020202020204" pitchFamily="34" charset="0"/>
                          <a:ea typeface="楷体" panose="02010609060101010101" pitchFamily="49" charset="-122"/>
                          <a:cs typeface="Arial" panose="020B0604020202020204" pitchFamily="34" charset="0"/>
                        </a:rPr>
                        <a:t>1.5～3.0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zh-CN" altLang="en-US" sz="2400" b="1" i="0" u="none" strike="noStrike" cap="none" normalizeH="0" baseline="0" dirty="0">
                          <a:ln>
                            <a:noFill/>
                          </a:ln>
                          <a:solidFill>
                            <a:schemeClr val="tx1"/>
                          </a:solidFill>
                          <a:effectLst/>
                          <a:latin typeface="Arial" panose="020B0604020202020204" pitchFamily="34" charset="0"/>
                          <a:ea typeface="楷体" panose="02010609060101010101" pitchFamily="49" charset="-122"/>
                          <a:cs typeface="Arial" panose="020B0604020202020204" pitchFamily="34" charset="0"/>
                        </a:rPr>
                        <a:t>消泡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2438">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zh-CN" altLang="en-US" sz="2400" b="1" i="0" u="none" strike="noStrike" cap="none" normalizeH="0" baseline="0" dirty="0">
                          <a:ln>
                            <a:noFill/>
                          </a:ln>
                          <a:solidFill>
                            <a:schemeClr val="tx1"/>
                          </a:solidFill>
                          <a:effectLst/>
                          <a:latin typeface="Arial" panose="020B0604020202020204" pitchFamily="34" charset="0"/>
                          <a:ea typeface="楷体" panose="02010609060101010101" pitchFamily="49" charset="-122"/>
                          <a:cs typeface="Arial" panose="020B0604020202020204" pitchFamily="34" charset="0"/>
                        </a:rPr>
                        <a:t>3.0～6.0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en-US" altLang="zh-CN" sz="2400" b="1" i="0" u="none" strike="noStrike" cap="none" normalizeH="0" baseline="0" dirty="0">
                          <a:ln>
                            <a:noFill/>
                          </a:ln>
                          <a:solidFill>
                            <a:schemeClr val="tx1"/>
                          </a:solidFill>
                          <a:effectLst/>
                          <a:latin typeface="Arial" panose="020B0604020202020204" pitchFamily="34" charset="0"/>
                          <a:ea typeface="楷体" panose="02010609060101010101" pitchFamily="49" charset="-122"/>
                          <a:cs typeface="Arial" panose="020B0604020202020204" pitchFamily="34" charset="0"/>
                        </a:rPr>
                        <a:t>W/O</a:t>
                      </a:r>
                      <a:r>
                        <a:rPr kumimoji="1" lang="zh-CN" altLang="en-US" sz="2400" b="1" i="0" u="none" strike="noStrike" cap="none" normalizeH="0" baseline="0" dirty="0">
                          <a:ln>
                            <a:noFill/>
                          </a:ln>
                          <a:solidFill>
                            <a:schemeClr val="tx1"/>
                          </a:solidFill>
                          <a:effectLst/>
                          <a:latin typeface="Arial" panose="020B0604020202020204" pitchFamily="34" charset="0"/>
                          <a:ea typeface="楷体" panose="02010609060101010101" pitchFamily="49" charset="-122"/>
                          <a:cs typeface="Arial" panose="020B0604020202020204" pitchFamily="34" charset="0"/>
                        </a:rPr>
                        <a:t>型乳化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0688">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zh-CN" altLang="en-US" sz="2400" b="1" i="0" u="none" strike="noStrike" cap="none" normalizeH="0" baseline="0">
                          <a:ln>
                            <a:noFill/>
                          </a:ln>
                          <a:solidFill>
                            <a:schemeClr val="tx1"/>
                          </a:solidFill>
                          <a:effectLst/>
                          <a:latin typeface="Arial" panose="020B0604020202020204" pitchFamily="34" charset="0"/>
                          <a:ea typeface="楷体" panose="02010609060101010101" pitchFamily="49" charset="-122"/>
                          <a:cs typeface="Arial" panose="020B0604020202020204" pitchFamily="34" charset="0"/>
                        </a:rPr>
                        <a:t>7～9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zh-CN" altLang="en-US" sz="2400" b="1" i="0" u="none" strike="noStrike" cap="none" normalizeH="0" baseline="0" dirty="0">
                          <a:ln>
                            <a:noFill/>
                          </a:ln>
                          <a:solidFill>
                            <a:schemeClr val="tx1"/>
                          </a:solidFill>
                          <a:effectLst/>
                          <a:latin typeface="Arial" panose="020B0604020202020204" pitchFamily="34" charset="0"/>
                          <a:ea typeface="楷体" panose="02010609060101010101" pitchFamily="49" charset="-122"/>
                          <a:cs typeface="Arial" panose="020B0604020202020204" pitchFamily="34" charset="0"/>
                        </a:rPr>
                        <a:t>润湿、渗透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2275">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zh-CN" altLang="en-US" sz="2400" b="1" i="0" u="none" strike="noStrike" cap="none" normalizeH="0" baseline="0" dirty="0">
                          <a:ln>
                            <a:noFill/>
                          </a:ln>
                          <a:solidFill>
                            <a:schemeClr val="tx1"/>
                          </a:solidFill>
                          <a:effectLst/>
                          <a:highlight>
                            <a:srgbClr val="FFFF00"/>
                          </a:highlight>
                          <a:latin typeface="Arial" panose="020B0604020202020204" pitchFamily="34" charset="0"/>
                          <a:ea typeface="楷体" panose="02010609060101010101" pitchFamily="49" charset="-122"/>
                          <a:cs typeface="Arial" panose="020B0604020202020204" pitchFamily="34" charset="0"/>
                        </a:rPr>
                        <a:t>8～18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800000"/>
                        </a:buClr>
                        <a:buSzPct val="90000"/>
                        <a:buFont typeface="Wingdings" panose="05000000000000000000" pitchFamily="2" charset="2"/>
                        <a:defRPr kumimoji="1" sz="24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1pPr>
                      <a:lvl2pPr>
                        <a:spcBef>
                          <a:spcPct val="20000"/>
                        </a:spcBef>
                        <a:buClr>
                          <a:srgbClr val="800000"/>
                        </a:buClr>
                        <a:buSzPct val="90000"/>
                        <a:buFont typeface="Wingdings" panose="05000000000000000000" pitchFamily="2" charset="2"/>
                        <a:defRPr kumimoji="1" sz="2000">
                          <a:solidFill>
                            <a:schemeClr val="tx1"/>
                          </a:solidFill>
                          <a:effectLst>
                            <a:outerShdw blurRad="38100" dist="38100" dir="2700000" algn="tl">
                              <a:srgbClr val="C0C0C0"/>
                            </a:outerShdw>
                          </a:effectLst>
                          <a:latin typeface="Times New Roman" panose="02020603050405020304" pitchFamily="18" charset="0"/>
                          <a:ea typeface="楷体_GB2312" pitchFamily="49" charset="-122"/>
                        </a:defRPr>
                      </a:lvl2pPr>
                      <a:lvl3pPr>
                        <a:spcBef>
                          <a:spcPct val="20000"/>
                        </a:spcBef>
                        <a:buClr>
                          <a:srgbClr val="800000"/>
                        </a:buClr>
                        <a:buSzPct val="9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rgbClr val="800000"/>
                        </a:buClr>
                        <a:buSzPct val="9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20000"/>
                        </a:spcAft>
                        <a:buClr>
                          <a:srgbClr val="800000"/>
                        </a:buClr>
                        <a:buSzPct val="90000"/>
                        <a:buFont typeface="Wingdings" panose="05000000000000000000" pitchFamily="2" charset="2"/>
                        <a:buNone/>
                        <a:tabLst/>
                      </a:pPr>
                      <a:r>
                        <a:rPr kumimoji="1" lang="en-US" altLang="zh-CN" sz="2400" b="1" i="0" u="none" strike="noStrike" cap="none" normalizeH="0" baseline="0" dirty="0">
                          <a:ln>
                            <a:noFill/>
                          </a:ln>
                          <a:solidFill>
                            <a:schemeClr val="tx1"/>
                          </a:solidFill>
                          <a:effectLst/>
                          <a:highlight>
                            <a:srgbClr val="FFFF00"/>
                          </a:highlight>
                          <a:latin typeface="Arial" panose="020B0604020202020204" pitchFamily="34" charset="0"/>
                          <a:ea typeface="楷体" panose="02010609060101010101" pitchFamily="49" charset="-122"/>
                          <a:cs typeface="Arial" panose="020B0604020202020204" pitchFamily="34" charset="0"/>
                        </a:rPr>
                        <a:t>O/W</a:t>
                      </a:r>
                      <a:r>
                        <a:rPr kumimoji="1" lang="zh-CN" altLang="en-US" sz="2400" b="1" i="0" u="none" strike="noStrike" cap="none" normalizeH="0" baseline="0" dirty="0">
                          <a:ln>
                            <a:noFill/>
                          </a:ln>
                          <a:solidFill>
                            <a:schemeClr val="tx1"/>
                          </a:solidFill>
                          <a:effectLst/>
                          <a:highlight>
                            <a:srgbClr val="FFFF00"/>
                          </a:highlight>
                          <a:latin typeface="Arial" panose="020B0604020202020204" pitchFamily="34" charset="0"/>
                          <a:ea typeface="楷体" panose="02010609060101010101" pitchFamily="49" charset="-122"/>
                          <a:cs typeface="Arial" panose="020B0604020202020204" pitchFamily="34" charset="0"/>
                        </a:rPr>
                        <a:t>型乳化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941" name="Text Box 16"/>
          <p:cNvSpPr txBox="1">
            <a:spLocks noChangeArrowheads="1"/>
          </p:cNvSpPr>
          <p:nvPr/>
        </p:nvSpPr>
        <p:spPr bwMode="auto">
          <a:xfrm>
            <a:off x="498773" y="1414190"/>
            <a:ext cx="8305800" cy="86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35000"/>
              </a:spcBef>
              <a:buClr>
                <a:srgbClr val="800000"/>
              </a:buClr>
              <a:buSzPct val="90000"/>
              <a:buFont typeface="Wingdings" panose="05000000000000000000" pitchFamily="2" charset="2"/>
              <a:buNone/>
            </a:pP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亲水亲油平衡值 ( </a:t>
            </a: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HLB )：</a:t>
            </a:r>
            <a:r>
              <a:rPr lang="zh-CN" altLang="en-US" sz="2000" b="1">
                <a:latin typeface="Arial" panose="020B0604020202020204" pitchFamily="34" charset="0"/>
                <a:ea typeface="楷体" panose="02010609060101010101" pitchFamily="49" charset="-122"/>
                <a:cs typeface="Arial" panose="020B0604020202020204" pitchFamily="34" charset="0"/>
              </a:rPr>
              <a:t>衡量亲水基和亲油基对</a:t>
            </a:r>
            <a:r>
              <a:rPr lang="zh-CN" altLang="zh-CN" sz="2000" b="1">
                <a:latin typeface="Arial" panose="020B0604020202020204" pitchFamily="34" charset="0"/>
                <a:ea typeface="楷体" panose="02010609060101010101" pitchFamily="49" charset="-122"/>
                <a:cs typeface="Arial" panose="020B0604020202020204" pitchFamily="34" charset="0"/>
              </a:rPr>
              <a:t>乳化剂（表面活性剂）</a:t>
            </a:r>
            <a:r>
              <a:rPr lang="zh-CN" altLang="en-US" sz="2000" b="1">
                <a:latin typeface="Arial" panose="020B0604020202020204" pitchFamily="34" charset="0"/>
                <a:ea typeface="楷体" panose="02010609060101010101" pitchFamily="49" charset="-122"/>
                <a:cs typeface="Arial" panose="020B0604020202020204" pitchFamily="34" charset="0"/>
              </a:rPr>
              <a:t>性质的贡献。</a:t>
            </a:r>
            <a:r>
              <a:rPr lang="zh-CN" altLang="zh-CN" sz="2000" b="1">
                <a:latin typeface="Arial" panose="020B0604020202020204" pitchFamily="34" charset="0"/>
                <a:ea typeface="楷体" panose="02010609060101010101" pitchFamily="49" charset="-122"/>
                <a:cs typeface="Arial" panose="020B0604020202020204" pitchFamily="34" charset="0"/>
              </a:rPr>
              <a:t>HLB值越大，表明亲水性越大。HLB值不同，用途也不同。</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7EFD0638-A594-4AAC-9AF3-CEF9C372250D}" type="slidenum">
              <a:rPr lang="zh-CN" altLang="en-US" sz="1400" smtClean="0">
                <a:solidFill>
                  <a:srgbClr val="FFFFFF"/>
                </a:solidFill>
                <a:latin typeface="Times New Roman" panose="02020603050405020304" pitchFamily="18" charset="0"/>
              </a:rPr>
              <a:pPr>
                <a:spcBef>
                  <a:spcPct val="50000"/>
                </a:spcBef>
                <a:buClrTx/>
                <a:buSzTx/>
                <a:buFontTx/>
                <a:buNone/>
              </a:pPr>
              <a:t>25</a:t>
            </a:fld>
            <a:endParaRPr lang="en-US" altLang="zh-CN" sz="1400">
              <a:solidFill>
                <a:srgbClr val="FFFFFF"/>
              </a:solidFill>
              <a:latin typeface="Times New Roman" panose="02020603050405020304" pitchFamily="18" charset="0"/>
            </a:endParaRPr>
          </a:p>
        </p:txBody>
      </p:sp>
      <p:sp>
        <p:nvSpPr>
          <p:cNvPr id="40963" name="Text Box 1026"/>
          <p:cNvSpPr txBox="1">
            <a:spLocks noChangeArrowheads="1"/>
          </p:cNvSpPr>
          <p:nvPr/>
        </p:nvSpPr>
        <p:spPr bwMode="auto">
          <a:xfrm>
            <a:off x="625475" y="1865313"/>
            <a:ext cx="7691438" cy="253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50000"/>
              </a:lnSpc>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如肥皂－高级脂肪酸钠盐</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RCOONa</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溶于水中达一定浓度后可形成胶束，其中乳化剂离解后的阴离子部分进入水相。</a:t>
            </a:r>
            <a:endParaRPr lang="en-US" altLang="zh-CN" sz="2000" b="1">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zh-CN" altLang="en-US" sz="2000" b="1">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zh-CN" altLang="en-US" sz="2000" b="1">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en-US" altLang="zh-CN" sz="900" b="1">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胶束呈片状或球状，极性基部分面向水中，非极性基部分向内聚集</a:t>
            </a:r>
          </a:p>
          <a:p>
            <a:pPr eaLnBrk="1" hangingPunct="1">
              <a:spcBef>
                <a:spcPct val="50000"/>
              </a:spcBef>
              <a:buClrTx/>
              <a:buSzTx/>
              <a:buFontTx/>
              <a:buNone/>
            </a:pP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0964" name="Picture 10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674938"/>
            <a:ext cx="35052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Text Box 1030"/>
          <p:cNvSpPr txBox="1">
            <a:spLocks noChangeArrowheads="1"/>
          </p:cNvSpPr>
          <p:nvPr/>
        </p:nvSpPr>
        <p:spPr bwMode="auto">
          <a:xfrm>
            <a:off x="696913" y="5173663"/>
            <a:ext cx="36814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乳化剂胶束 直径4～6</a:t>
            </a:r>
            <a:r>
              <a:rPr lang="en-US" altLang="zh-CN" sz="2000" b="1">
                <a:solidFill>
                  <a:srgbClr val="FF0000"/>
                </a:solidFill>
                <a:latin typeface="楷体" panose="02010609060101010101" pitchFamily="49" charset="-122"/>
                <a:ea typeface="楷体" panose="02010609060101010101" pitchFamily="49" charset="-122"/>
              </a:rPr>
              <a:t> nm</a:t>
            </a:r>
          </a:p>
        </p:txBody>
      </p:sp>
      <p:sp>
        <p:nvSpPr>
          <p:cNvPr id="40966" name="Text Box 1032"/>
          <p:cNvSpPr txBox="1">
            <a:spLocks noChangeArrowheads="1"/>
          </p:cNvSpPr>
          <p:nvPr/>
        </p:nvSpPr>
        <p:spPr bwMode="auto">
          <a:xfrm>
            <a:off x="690563" y="5627688"/>
            <a:ext cx="75390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         每个胶束约由50～100个肥皂阴离子所构成。不同乳化剂形成胶束的最低浓度 — </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临界胶束浓度</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CMC </a:t>
            </a:r>
            <a:r>
              <a:rPr lang="en-US" altLang="zh-CN" sz="16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(Critical Micellization Concentration)</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不同。</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CMC</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越小，表示乳化剂的乳化能力越强。</a:t>
            </a:r>
          </a:p>
        </p:txBody>
      </p:sp>
      <p:pic>
        <p:nvPicPr>
          <p:cNvPr id="32775" name="图片 9" descr="micelles-sphere.jpg">
            <a:extLst>
              <a:ext uri="{FF2B5EF4-FFF2-40B4-BE49-F238E27FC236}">
                <a16:creationId xmlns:a16="http://schemas.microsoft.com/office/drawing/2014/main" id="{5D1D5967-130F-4C2A-82D8-A2EA9B77BD68}"/>
              </a:ext>
            </a:extLst>
          </p:cNvPr>
          <p:cNvPicPr>
            <a:picLocks noChangeAspect="1"/>
          </p:cNvPicPr>
          <p:nvPr/>
        </p:nvPicPr>
        <p:blipFill>
          <a:blip r:embed="rId3"/>
          <a:srcRect/>
          <a:stretch>
            <a:fillRect/>
          </a:stretch>
        </p:blipFill>
        <p:spPr bwMode="auto">
          <a:xfrm>
            <a:off x="1582738" y="3903663"/>
            <a:ext cx="1225550" cy="1216025"/>
          </a:xfrm>
          <a:prstGeom prst="rect">
            <a:avLst/>
          </a:prstGeom>
          <a:solidFill>
            <a:schemeClr val="bg1">
              <a:lumMod val="95000"/>
            </a:schemeClr>
          </a:solidFill>
          <a:ln>
            <a:noFill/>
          </a:ln>
        </p:spPr>
      </p:pic>
      <p:pic>
        <p:nvPicPr>
          <p:cNvPr id="40968" name="图片 10" descr="micelles-bilayer.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4135438"/>
            <a:ext cx="30924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34">
            <a:extLst>
              <a:ext uri="{FF2B5EF4-FFF2-40B4-BE49-F238E27FC236}">
                <a16:creationId xmlns:a16="http://schemas.microsoft.com/office/drawing/2014/main" id="{574268E3-ECC1-4E84-A3C3-95176E5D9F17}"/>
              </a:ext>
            </a:extLst>
          </p:cNvPr>
          <p:cNvSpPr txBox="1">
            <a:spLocks noChangeArrowheads="1"/>
          </p:cNvSpPr>
          <p:nvPr/>
        </p:nvSpPr>
        <p:spPr bwMode="auto">
          <a:xfrm>
            <a:off x="431800" y="363538"/>
            <a:ext cx="8280400" cy="150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fontAlgn="base">
              <a:spcBef>
                <a:spcPct val="0"/>
              </a:spcBef>
              <a:spcAft>
                <a:spcPct val="0"/>
              </a:spcAft>
              <a:defRPr>
                <a:solidFill>
                  <a:schemeClr val="tx1"/>
                </a:solidFill>
                <a:latin typeface="等线" pitchFamily="2" charset="-122"/>
                <a:ea typeface="等线" pitchFamily="2" charset="-122"/>
              </a:defRPr>
            </a:lvl6pPr>
            <a:lvl7pPr marL="2971800" indent="-228600" fontAlgn="base">
              <a:spcBef>
                <a:spcPct val="0"/>
              </a:spcBef>
              <a:spcAft>
                <a:spcPct val="0"/>
              </a:spcAft>
              <a:defRPr>
                <a:solidFill>
                  <a:schemeClr val="tx1"/>
                </a:solidFill>
                <a:latin typeface="等线" pitchFamily="2" charset="-122"/>
                <a:ea typeface="等线" pitchFamily="2" charset="-122"/>
              </a:defRPr>
            </a:lvl7pPr>
            <a:lvl8pPr marL="3429000" indent="-228600" fontAlgn="base">
              <a:spcBef>
                <a:spcPct val="0"/>
              </a:spcBef>
              <a:spcAft>
                <a:spcPct val="0"/>
              </a:spcAft>
              <a:defRPr>
                <a:solidFill>
                  <a:schemeClr val="tx1"/>
                </a:solidFill>
                <a:latin typeface="等线" pitchFamily="2" charset="-122"/>
                <a:ea typeface="等线" pitchFamily="2" charset="-122"/>
              </a:defRPr>
            </a:lvl8pPr>
            <a:lvl9pPr marL="3886200" indent="-228600" fontAlgn="base">
              <a:spcBef>
                <a:spcPct val="0"/>
              </a:spcBef>
              <a:spcAft>
                <a:spcPct val="0"/>
              </a:spcAft>
              <a:defRPr>
                <a:solidFill>
                  <a:schemeClr val="tx1"/>
                </a:solidFill>
                <a:latin typeface="等线" pitchFamily="2" charset="-122"/>
                <a:ea typeface="等线" pitchFamily="2" charset="-122"/>
              </a:defRPr>
            </a:lvl9pPr>
          </a:lstStyle>
          <a:p>
            <a:pPr marL="285750" indent="-285750" eaLnBrk="1" hangingPunct="1">
              <a:lnSpc>
                <a:spcPct val="125000"/>
              </a:lnSpc>
              <a:spcBef>
                <a:spcPct val="35000"/>
              </a:spcBef>
              <a:buClr>
                <a:srgbClr val="FF0000"/>
              </a:buClr>
              <a:buSzPct val="90000"/>
              <a:buFont typeface="Wingdings" panose="05000000000000000000" pitchFamily="2" charset="2"/>
              <a:buChar char="u"/>
              <a:defRPr/>
            </a:pPr>
            <a:r>
              <a:rPr lang="zh-CN" altLang="en-US" b="1" dirty="0">
                <a:solidFill>
                  <a:srgbClr val="A50021"/>
                </a:solidFill>
                <a:ea typeface="楷体_GB2312" pitchFamily="49" charset="-122"/>
              </a:rPr>
              <a:t> </a:t>
            </a:r>
            <a:r>
              <a:rPr lang="zh-CN" altLang="en-US" sz="2000" b="1" dirty="0">
                <a:solidFill>
                  <a:srgbClr val="FF0000"/>
                </a:solidFill>
                <a:latin typeface="楷体" panose="02010609060101010101" pitchFamily="49" charset="-122"/>
                <a:ea typeface="楷体" panose="02010609060101010101" pitchFamily="49" charset="-122"/>
              </a:rPr>
              <a:t>乳化剂在水中的情况：</a:t>
            </a:r>
          </a:p>
          <a:p>
            <a:pPr eaLnBrk="1" hangingPunct="1">
              <a:lnSpc>
                <a:spcPct val="125000"/>
              </a:lnSpc>
              <a:spcBef>
                <a:spcPct val="35000"/>
              </a:spcBef>
              <a:buClr>
                <a:srgbClr val="800000"/>
              </a:buClr>
              <a:buSzPct val="90000"/>
              <a:buFont typeface="Wingdings" panose="05000000000000000000" pitchFamily="2" charset="2"/>
              <a:buNone/>
              <a:defRPr/>
            </a:pPr>
            <a:r>
              <a:rPr lang="zh-CN" altLang="en-US" sz="2000" b="1" dirty="0">
                <a:solidFill>
                  <a:srgbClr val="FF0000"/>
                </a:solidFill>
                <a:latin typeface="楷体" panose="02010609060101010101" pitchFamily="49" charset="-122"/>
                <a:ea typeface="楷体" panose="02010609060101010101" pitchFamily="49" charset="-122"/>
              </a:rPr>
              <a:t> 乳化剂浓度很低时，</a:t>
            </a:r>
            <a:r>
              <a:rPr lang="zh-CN" altLang="en-US" sz="2000" b="1" dirty="0">
                <a:latin typeface="楷体" panose="02010609060101010101" pitchFamily="49" charset="-122"/>
                <a:ea typeface="楷体" panose="02010609060101010101" pitchFamily="49" charset="-122"/>
              </a:rPr>
              <a:t>分子分散状态溶解在水中</a:t>
            </a:r>
          </a:p>
          <a:p>
            <a:pPr eaLnBrk="1" hangingPunct="1">
              <a:lnSpc>
                <a:spcPct val="125000"/>
              </a:lnSpc>
              <a:spcBef>
                <a:spcPct val="35000"/>
              </a:spcBef>
              <a:buClr>
                <a:srgbClr val="800000"/>
              </a:buClr>
              <a:buSzPct val="90000"/>
              <a:buFont typeface="Wingdings" panose="05000000000000000000" pitchFamily="2" charset="2"/>
              <a:buNone/>
              <a:defRPr/>
            </a:pPr>
            <a:r>
              <a:rPr lang="zh-CN" altLang="en-US" sz="2000" b="1" dirty="0">
                <a:solidFill>
                  <a:srgbClr val="A50021"/>
                </a:solidFill>
                <a:latin typeface="楷体" panose="02010609060101010101" pitchFamily="49" charset="-122"/>
                <a:ea typeface="楷体" panose="02010609060101010101" pitchFamily="49" charset="-122"/>
              </a:rPr>
              <a:t> </a:t>
            </a:r>
            <a:r>
              <a:rPr lang="zh-CN" altLang="en-US" sz="2000" b="1" dirty="0">
                <a:solidFill>
                  <a:srgbClr val="FF0000"/>
                </a:solidFill>
                <a:latin typeface="楷体" panose="02010609060101010101" pitchFamily="49" charset="-122"/>
                <a:ea typeface="楷体" panose="02010609060101010101" pitchFamily="49" charset="-122"/>
              </a:rPr>
              <a:t>达到一定浓度时，</a:t>
            </a:r>
            <a:r>
              <a:rPr lang="zh-CN" altLang="en-US" sz="2000" b="1" dirty="0">
                <a:latin typeface="楷体" panose="02010609060101010101" pitchFamily="49" charset="-122"/>
                <a:ea typeface="楷体" panose="02010609060101010101" pitchFamily="49" charset="-122"/>
              </a:rPr>
              <a:t>乳化剂形成聚集体</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约50～150个分子</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，称为胶束。</a:t>
            </a:r>
            <a:endParaRPr lang="zh-CN" altLang="en-US" sz="2000" dirty="0">
              <a:latin typeface="楷体" panose="02010609060101010101" pitchFamily="49" charset="-122"/>
              <a:ea typeface="楷体" panose="02010609060101010101" pitchFamily="49" charset="-122"/>
            </a:endParaRPr>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E40BB2D4-01C6-48F7-B95A-8D1DE792044C}" type="slidenum">
              <a:rPr kumimoji="0" lang="zh-CN" altLang="en-US" sz="1400" smtClean="0">
                <a:solidFill>
                  <a:srgbClr val="FFFFFF"/>
                </a:solidFill>
              </a:rPr>
              <a:pPr/>
              <a:t>26</a:t>
            </a:fld>
            <a:endParaRPr kumimoji="0" lang="en-US" altLang="zh-CN" sz="1400">
              <a:solidFill>
                <a:srgbClr val="FFFFFF"/>
              </a:solidFill>
            </a:endParaRPr>
          </a:p>
        </p:txBody>
      </p:sp>
      <p:sp>
        <p:nvSpPr>
          <p:cNvPr id="41987" name="Rectangle 5"/>
          <p:cNvSpPr>
            <a:spLocks noChangeArrowheads="1"/>
          </p:cNvSpPr>
          <p:nvPr/>
        </p:nvSpPr>
        <p:spPr bwMode="auto">
          <a:xfrm>
            <a:off x="381000" y="1504950"/>
            <a:ext cx="8458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rgbClr val="FF0000"/>
              </a:buClr>
              <a:buSzPct val="80000"/>
              <a:buFont typeface="Wingdings" panose="05000000000000000000" pitchFamily="2" charset="2"/>
              <a:buChar char="u"/>
            </a:pPr>
            <a:r>
              <a:rPr lang="zh-CN"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阴离子乳化剂</a:t>
            </a:r>
            <a:r>
              <a:rPr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A</a:t>
            </a:r>
            <a:r>
              <a:rPr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nionic Emulsifier)</a:t>
            </a:r>
            <a:r>
              <a:rPr lang="zh-CN" altLang="zh-CN" sz="2400" b="1">
                <a:latin typeface="Arial" panose="020B0604020202020204" pitchFamily="34" charset="0"/>
                <a:ea typeface="楷体" panose="02010609060101010101" pitchFamily="49" charset="-122"/>
                <a:cs typeface="Arial" panose="020B0604020202020204" pitchFamily="34" charset="0"/>
              </a:rPr>
              <a:t>：活性部分为阴离子</a:t>
            </a:r>
            <a:endParaRPr lang="zh-CN" altLang="en-US" sz="2400" b="1">
              <a:latin typeface="Arial" panose="020B0604020202020204" pitchFamily="34" charset="0"/>
              <a:ea typeface="楷体" panose="02010609060101010101" pitchFamily="49" charset="-122"/>
              <a:cs typeface="Arial" panose="020B0604020202020204" pitchFamily="34" charset="0"/>
            </a:endParaRPr>
          </a:p>
        </p:txBody>
      </p:sp>
      <p:sp>
        <p:nvSpPr>
          <p:cNvPr id="41988" name="Rectangle 8"/>
          <p:cNvSpPr>
            <a:spLocks noChangeArrowheads="1"/>
          </p:cNvSpPr>
          <p:nvPr/>
        </p:nvSpPr>
        <p:spPr bwMode="auto">
          <a:xfrm>
            <a:off x="533400" y="4343400"/>
            <a:ext cx="375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000" b="1">
                <a:latin typeface="楷体" panose="02010609060101010101" pitchFamily="49" charset="-122"/>
                <a:ea typeface="楷体" panose="02010609060101010101" pitchFamily="49" charset="-122"/>
              </a:rPr>
              <a:t>常用的阴离子乳化剂</a:t>
            </a:r>
            <a:r>
              <a:rPr lang="zh-CN" altLang="en-US" sz="2000" b="1">
                <a:latin typeface="楷体" panose="02010609060101010101" pitchFamily="49" charset="-122"/>
                <a:ea typeface="楷体" panose="02010609060101010101" pitchFamily="49" charset="-122"/>
              </a:rPr>
              <a:t>：</a:t>
            </a:r>
          </a:p>
        </p:txBody>
      </p:sp>
      <p:sp>
        <p:nvSpPr>
          <p:cNvPr id="41989" name="AutoShape 10"/>
          <p:cNvSpPr>
            <a:spLocks noChangeArrowheads="1"/>
          </p:cNvSpPr>
          <p:nvPr/>
        </p:nvSpPr>
        <p:spPr bwMode="auto">
          <a:xfrm>
            <a:off x="533400" y="4791075"/>
            <a:ext cx="6553200" cy="1447800"/>
          </a:xfrm>
          <a:prstGeom prst="wedgeRoundRectCallout">
            <a:avLst>
              <a:gd name="adj1" fmla="val -61917"/>
              <a:gd name="adj2" fmla="val -28509"/>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FF0000"/>
              </a:buClr>
              <a:buSzPct val="80000"/>
              <a:buFont typeface="Wingdings" panose="05000000000000000000" pitchFamily="2" charset="2"/>
              <a:buChar char="u"/>
            </a:pPr>
            <a:r>
              <a:rPr lang="zh-CN" altLang="en-US" sz="2000" b="1">
                <a:latin typeface="楷体" panose="02010609060101010101" pitchFamily="49" charset="-122"/>
                <a:ea typeface="楷体" panose="02010609060101010101" pitchFamily="49" charset="-122"/>
              </a:rPr>
              <a:t>烷基、烷基芳基的羧酸盐，如硬脂酸钠</a:t>
            </a:r>
            <a:endParaRPr lang="en-US" altLang="zh-CN" sz="2000" b="1">
              <a:latin typeface="楷体" panose="02010609060101010101" pitchFamily="49" charset="-122"/>
              <a:ea typeface="楷体" panose="02010609060101010101" pitchFamily="49" charset="-122"/>
            </a:endParaRPr>
          </a:p>
          <a:p>
            <a:pPr eaLnBrk="1" hangingPunct="1">
              <a:spcBef>
                <a:spcPct val="50000"/>
              </a:spcBef>
              <a:buClr>
                <a:srgbClr val="FF0000"/>
              </a:buClr>
              <a:buSzPct val="80000"/>
              <a:buFont typeface="Wingdings" panose="05000000000000000000" pitchFamily="2" charset="2"/>
              <a:buChar char="u"/>
            </a:pPr>
            <a:r>
              <a:rPr lang="zh-CN" altLang="en-US" sz="2000" b="1">
                <a:latin typeface="楷体" panose="02010609060101010101" pitchFamily="49" charset="-122"/>
                <a:ea typeface="楷体" panose="02010609060101010101" pitchFamily="49" charset="-122"/>
              </a:rPr>
              <a:t>硫酸盐，如十二烷基硫酸钠</a:t>
            </a:r>
            <a:endParaRPr lang="en-US" altLang="zh-CN" sz="2000" b="1">
              <a:latin typeface="楷体" panose="02010609060101010101" pitchFamily="49" charset="-122"/>
              <a:ea typeface="楷体" panose="02010609060101010101" pitchFamily="49" charset="-122"/>
            </a:endParaRPr>
          </a:p>
          <a:p>
            <a:pPr eaLnBrk="1" hangingPunct="1">
              <a:spcBef>
                <a:spcPct val="50000"/>
              </a:spcBef>
              <a:buClr>
                <a:srgbClr val="FF0000"/>
              </a:buClr>
              <a:buSzPct val="80000"/>
              <a:buFont typeface="Wingdings" panose="05000000000000000000" pitchFamily="2" charset="2"/>
              <a:buChar char="u"/>
            </a:pPr>
            <a:r>
              <a:rPr lang="zh-CN" altLang="en-US" sz="2000" b="1">
                <a:latin typeface="楷体" panose="02010609060101010101" pitchFamily="49" charset="-122"/>
                <a:ea typeface="楷体" panose="02010609060101010101" pitchFamily="49" charset="-122"/>
              </a:rPr>
              <a:t>磺酸盐，如十二、十四烷基磺酸钠</a:t>
            </a:r>
          </a:p>
        </p:txBody>
      </p:sp>
      <p:graphicFrame>
        <p:nvGraphicFramePr>
          <p:cNvPr id="41990" name="Object 16"/>
          <p:cNvGraphicFramePr>
            <a:graphicFrameLocks noChangeAspect="1"/>
          </p:cNvGraphicFramePr>
          <p:nvPr/>
        </p:nvGraphicFramePr>
        <p:xfrm>
          <a:off x="1600200" y="2286000"/>
          <a:ext cx="6029325" cy="1695450"/>
        </p:xfrm>
        <a:graphic>
          <a:graphicData uri="http://schemas.openxmlformats.org/presentationml/2006/ole">
            <mc:AlternateContent xmlns:mc="http://schemas.openxmlformats.org/markup-compatibility/2006">
              <mc:Choice xmlns:v="urn:schemas-microsoft-com:vml" Requires="v">
                <p:oleObj spid="_x0000_s42009" name="位图图像" r:id="rId3" imgW="6028571" imgH="1695687" progId="Paint.Picture">
                  <p:embed/>
                </p:oleObj>
              </mc:Choice>
              <mc:Fallback>
                <p:oleObj name="位图图像" r:id="rId3" imgW="6028571" imgH="1695687" progId="Paint.Picture">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286000"/>
                        <a:ext cx="6029325"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1" name="Oval 17"/>
          <p:cNvSpPr>
            <a:spLocks noChangeArrowheads="1"/>
          </p:cNvSpPr>
          <p:nvPr/>
        </p:nvSpPr>
        <p:spPr bwMode="auto">
          <a:xfrm>
            <a:off x="6019800" y="2057400"/>
            <a:ext cx="1828800" cy="1905000"/>
          </a:xfrm>
          <a:prstGeom prst="ellipse">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等线" panose="02010600030101010101" pitchFamily="2" charset="-122"/>
              <a:ea typeface="等线" panose="02010600030101010101" pitchFamily="2" charset="-122"/>
            </a:endParaRPr>
          </a:p>
        </p:txBody>
      </p:sp>
      <p:sp>
        <p:nvSpPr>
          <p:cNvPr id="41992" name="Arc 18"/>
          <p:cNvSpPr>
            <a:spLocks/>
          </p:cNvSpPr>
          <p:nvPr/>
        </p:nvSpPr>
        <p:spPr bwMode="auto">
          <a:xfrm flipH="1">
            <a:off x="1447800" y="2667000"/>
            <a:ext cx="471488" cy="762000"/>
          </a:xfrm>
          <a:custGeom>
            <a:avLst/>
            <a:gdLst>
              <a:gd name="T0" fmla="*/ 2147483646 w 22277"/>
              <a:gd name="T1" fmla="*/ 0 h 43200"/>
              <a:gd name="T2" fmla="*/ 0 w 22277"/>
              <a:gd name="T3" fmla="*/ 2147483646 h 43200"/>
              <a:gd name="T4" fmla="*/ 2147483646 w 22277"/>
              <a:gd name="T5" fmla="*/ 2147483646 h 43200"/>
              <a:gd name="T6" fmla="*/ 0 60000 65536"/>
              <a:gd name="T7" fmla="*/ 0 60000 65536"/>
              <a:gd name="T8" fmla="*/ 0 60000 65536"/>
            </a:gdLst>
            <a:ahLst/>
            <a:cxnLst>
              <a:cxn ang="T6">
                <a:pos x="T0" y="T1"/>
              </a:cxn>
              <a:cxn ang="T7">
                <a:pos x="T2" y="T3"/>
              </a:cxn>
              <a:cxn ang="T8">
                <a:pos x="T4" y="T5"/>
              </a:cxn>
            </a:cxnLst>
            <a:rect l="0" t="0" r="r" b="b"/>
            <a:pathLst>
              <a:path w="22277" h="43200" fill="none" extrusionOk="0">
                <a:moveTo>
                  <a:pt x="676" y="0"/>
                </a:moveTo>
                <a:cubicBezTo>
                  <a:pt x="12606" y="0"/>
                  <a:pt x="22277" y="9670"/>
                  <a:pt x="22277" y="21600"/>
                </a:cubicBezTo>
                <a:cubicBezTo>
                  <a:pt x="22277" y="33529"/>
                  <a:pt x="12606" y="43200"/>
                  <a:pt x="677" y="43200"/>
                </a:cubicBezTo>
                <a:cubicBezTo>
                  <a:pt x="451" y="43200"/>
                  <a:pt x="225" y="43196"/>
                  <a:pt x="-1" y="43189"/>
                </a:cubicBezTo>
              </a:path>
              <a:path w="22277" h="43200" stroke="0" extrusionOk="0">
                <a:moveTo>
                  <a:pt x="676" y="0"/>
                </a:moveTo>
                <a:cubicBezTo>
                  <a:pt x="12606" y="0"/>
                  <a:pt x="22277" y="9670"/>
                  <a:pt x="22277" y="21600"/>
                </a:cubicBezTo>
                <a:cubicBezTo>
                  <a:pt x="22277" y="33529"/>
                  <a:pt x="12606" y="43200"/>
                  <a:pt x="677" y="43200"/>
                </a:cubicBezTo>
                <a:cubicBezTo>
                  <a:pt x="451" y="43200"/>
                  <a:pt x="225" y="43196"/>
                  <a:pt x="-1" y="43189"/>
                </a:cubicBezTo>
                <a:lnTo>
                  <a:pt x="677" y="21600"/>
                </a:lnTo>
                <a:lnTo>
                  <a:pt x="676" y="0"/>
                </a:lnTo>
                <a:close/>
              </a:path>
            </a:pathLst>
          </a:cu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3" name="Line 19"/>
          <p:cNvSpPr>
            <a:spLocks noChangeShapeType="1"/>
          </p:cNvSpPr>
          <p:nvPr/>
        </p:nvSpPr>
        <p:spPr bwMode="auto">
          <a:xfrm>
            <a:off x="1905000" y="2667000"/>
            <a:ext cx="41910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994" name="Line 20"/>
          <p:cNvSpPr>
            <a:spLocks noChangeShapeType="1"/>
          </p:cNvSpPr>
          <p:nvPr/>
        </p:nvSpPr>
        <p:spPr bwMode="auto">
          <a:xfrm>
            <a:off x="1905000" y="3429000"/>
            <a:ext cx="41910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995" name="Rectangle 21"/>
          <p:cNvSpPr>
            <a:spLocks noChangeArrowheads="1"/>
          </p:cNvSpPr>
          <p:nvPr/>
        </p:nvSpPr>
        <p:spPr bwMode="auto">
          <a:xfrm>
            <a:off x="3429000" y="35052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疏水基</a:t>
            </a:r>
          </a:p>
        </p:txBody>
      </p:sp>
      <p:sp>
        <p:nvSpPr>
          <p:cNvPr id="41996" name="Rectangle 22"/>
          <p:cNvSpPr>
            <a:spLocks noChangeArrowheads="1"/>
          </p:cNvSpPr>
          <p:nvPr/>
        </p:nvSpPr>
        <p:spPr bwMode="auto">
          <a:xfrm>
            <a:off x="6477000" y="33528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亲水基</a:t>
            </a:r>
          </a:p>
        </p:txBody>
      </p:sp>
      <p:sp>
        <p:nvSpPr>
          <p:cNvPr id="37901" name="Text Box 23">
            <a:extLst>
              <a:ext uri="{FF2B5EF4-FFF2-40B4-BE49-F238E27FC236}">
                <a16:creationId xmlns:a16="http://schemas.microsoft.com/office/drawing/2014/main" id="{C7346827-FD43-458B-BCE9-226C0C6333C3}"/>
              </a:ext>
            </a:extLst>
          </p:cNvPr>
          <p:cNvSpPr txBox="1">
            <a:spLocks noChangeArrowheads="1"/>
          </p:cNvSpPr>
          <p:nvPr/>
        </p:nvSpPr>
        <p:spPr bwMode="auto">
          <a:xfrm>
            <a:off x="341313" y="228600"/>
            <a:ext cx="708660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fontAlgn="base">
              <a:spcBef>
                <a:spcPct val="0"/>
              </a:spcBef>
              <a:spcAft>
                <a:spcPct val="0"/>
              </a:spcAft>
              <a:defRPr>
                <a:solidFill>
                  <a:schemeClr val="tx1"/>
                </a:solidFill>
                <a:latin typeface="等线" pitchFamily="2" charset="-122"/>
                <a:ea typeface="等线" pitchFamily="2" charset="-122"/>
              </a:defRPr>
            </a:lvl6pPr>
            <a:lvl7pPr marL="2971800" indent="-228600" fontAlgn="base">
              <a:spcBef>
                <a:spcPct val="0"/>
              </a:spcBef>
              <a:spcAft>
                <a:spcPct val="0"/>
              </a:spcAft>
              <a:defRPr>
                <a:solidFill>
                  <a:schemeClr val="tx1"/>
                </a:solidFill>
                <a:latin typeface="等线" pitchFamily="2" charset="-122"/>
                <a:ea typeface="等线" pitchFamily="2" charset="-122"/>
              </a:defRPr>
            </a:lvl7pPr>
            <a:lvl8pPr marL="3429000" indent="-228600" fontAlgn="base">
              <a:spcBef>
                <a:spcPct val="0"/>
              </a:spcBef>
              <a:spcAft>
                <a:spcPct val="0"/>
              </a:spcAft>
              <a:defRPr>
                <a:solidFill>
                  <a:schemeClr val="tx1"/>
                </a:solidFill>
                <a:latin typeface="等线" pitchFamily="2" charset="-122"/>
                <a:ea typeface="等线" pitchFamily="2" charset="-122"/>
              </a:defRPr>
            </a:lvl8pPr>
            <a:lvl9pPr marL="3886200" indent="-228600" fontAlgn="base">
              <a:spcBef>
                <a:spcPct val="0"/>
              </a:spcBef>
              <a:spcAft>
                <a:spcPct val="0"/>
              </a:spcAft>
              <a:defRPr>
                <a:solidFill>
                  <a:schemeClr val="tx1"/>
                </a:solidFill>
                <a:latin typeface="等线" pitchFamily="2" charset="-122"/>
                <a:ea typeface="等线" pitchFamily="2" charset="-122"/>
              </a:defRPr>
            </a:lvl9pPr>
          </a:lstStyle>
          <a:p>
            <a:pPr marL="342900" indent="-342900" eaLnBrk="1" hangingPunct="1">
              <a:lnSpc>
                <a:spcPct val="125000"/>
              </a:lnSpc>
              <a:spcBef>
                <a:spcPct val="20000"/>
              </a:spcBef>
              <a:buClr>
                <a:srgbClr val="FF0000"/>
              </a:buClr>
              <a:buSzPct val="90000"/>
              <a:buFont typeface="Wingdings" panose="05000000000000000000" pitchFamily="2" charset="2"/>
              <a:buChar char="u"/>
              <a:defRPr/>
            </a:pPr>
            <a:r>
              <a:rPr lang="zh-CN" altLang="zh-CN" sz="2400" b="1" dirty="0">
                <a:solidFill>
                  <a:srgbClr val="FF0000"/>
                </a:solidFill>
                <a:latin typeface="楷体" panose="02010609060101010101" pitchFamily="49" charset="-122"/>
                <a:ea typeface="楷体" panose="02010609060101010101" pitchFamily="49" charset="-122"/>
              </a:rPr>
              <a:t>乳化剂的分类：</a:t>
            </a:r>
            <a:endParaRPr lang="en-US" altLang="zh-CN" sz="2400" b="1" dirty="0">
              <a:solidFill>
                <a:srgbClr val="FF0000"/>
              </a:solidFill>
              <a:latin typeface="楷体" panose="02010609060101010101" pitchFamily="49" charset="-122"/>
              <a:ea typeface="楷体" panose="02010609060101010101" pitchFamily="49" charset="-122"/>
            </a:endParaRPr>
          </a:p>
          <a:p>
            <a:pPr eaLnBrk="1" hangingPunct="1">
              <a:lnSpc>
                <a:spcPct val="125000"/>
              </a:lnSpc>
              <a:spcBef>
                <a:spcPct val="20000"/>
              </a:spcBef>
              <a:buClr>
                <a:srgbClr val="FF0000"/>
              </a:buClr>
              <a:buSzPct val="90000"/>
              <a:defRPr/>
            </a:pPr>
            <a:r>
              <a:rPr lang="en-US" altLang="zh-CN" sz="2000" b="1" dirty="0">
                <a:latin typeface="楷体" panose="02010609060101010101" pitchFamily="49" charset="-122"/>
                <a:ea typeface="楷体" panose="02010609060101010101" pitchFamily="49" charset="-122"/>
              </a:rPr>
              <a:t>     </a:t>
            </a:r>
            <a:r>
              <a:rPr lang="zh-CN" altLang="zh-CN" sz="2000" b="1" dirty="0">
                <a:latin typeface="楷体" panose="02010609060101010101" pitchFamily="49" charset="-122"/>
                <a:ea typeface="楷体" panose="02010609060101010101" pitchFamily="49" charset="-122"/>
              </a:rPr>
              <a:t>按乳化剂分子在水中离解后活性部分的状态分</a:t>
            </a:r>
            <a:r>
              <a:rPr lang="en-US" altLang="zh-CN" sz="2000" b="1" dirty="0">
                <a:latin typeface="楷体" panose="02010609060101010101" pitchFamily="49" charset="-122"/>
                <a:ea typeface="楷体" panose="02010609060101010101" pitchFamily="49" charset="-122"/>
              </a:rPr>
              <a:t>:</a:t>
            </a:r>
            <a:endParaRPr lang="zh-CN" altLang="en-US" sz="2000" b="1" dirty="0">
              <a:latin typeface="楷体" panose="02010609060101010101" pitchFamily="49" charset="-122"/>
              <a:ea typeface="楷体" panose="02010609060101010101" pitchFamily="49" charset="-122"/>
            </a:endParaRPr>
          </a:p>
        </p:txBody>
      </p:sp>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CB232420-3A2C-499E-A7AA-626D3034699C}" type="slidenum">
              <a:rPr kumimoji="0" lang="zh-CN" altLang="en-US" sz="1400" smtClean="0">
                <a:solidFill>
                  <a:srgbClr val="FFFFFF"/>
                </a:solidFill>
              </a:rPr>
              <a:pPr/>
              <a:t>27</a:t>
            </a:fld>
            <a:endParaRPr kumimoji="0" lang="en-US" altLang="zh-CN" sz="1400">
              <a:solidFill>
                <a:srgbClr val="FFFFFF"/>
              </a:solidFill>
            </a:endParaRPr>
          </a:p>
        </p:txBody>
      </p:sp>
      <p:sp>
        <p:nvSpPr>
          <p:cNvPr id="43011" name="Text Box 9"/>
          <p:cNvSpPr txBox="1">
            <a:spLocks noChangeArrowheads="1"/>
          </p:cNvSpPr>
          <p:nvPr/>
        </p:nvSpPr>
        <p:spPr bwMode="auto">
          <a:xfrm>
            <a:off x="611188" y="3213100"/>
            <a:ext cx="8134350" cy="206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35000"/>
              </a:spcBef>
              <a:buClr>
                <a:srgbClr val="800000"/>
              </a:buClr>
              <a:buSzPct val="90000"/>
              <a:buFont typeface="Wingdings" panose="05000000000000000000" pitchFamily="2" charset="2"/>
              <a:buNone/>
            </a:pPr>
            <a:r>
              <a:rPr lang="zh-CN"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三相平衡点：</a:t>
            </a:r>
            <a:r>
              <a:rPr lang="zh-CN" altLang="zh-CN" sz="2400" b="1">
                <a:latin typeface="Arial" panose="020B0604020202020204" pitchFamily="34" charset="0"/>
                <a:ea typeface="楷体" panose="02010609060101010101" pitchFamily="49" charset="-122"/>
                <a:cs typeface="Arial" panose="020B0604020202020204" pitchFamily="34" charset="0"/>
              </a:rPr>
              <a:t>指乳化剂处于分子溶解状态、胶束及凝胶三相平衡时的温度</a:t>
            </a:r>
            <a:r>
              <a:rPr lang="zh-CN" altLang="en-US" sz="2400" b="1">
                <a:latin typeface="Arial" panose="020B0604020202020204" pitchFamily="34" charset="0"/>
                <a:ea typeface="楷体" panose="02010609060101010101" pitchFamily="49" charset="-122"/>
                <a:cs typeface="Arial" panose="020B0604020202020204" pitchFamily="34" charset="0"/>
              </a:rPr>
              <a:t>。</a:t>
            </a:r>
            <a:endParaRPr lang="en-US" altLang="zh-CN" sz="2400" b="1">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35000"/>
              </a:spcBef>
              <a:buClr>
                <a:srgbClr val="800000"/>
              </a:buClr>
              <a:buSzPct val="90000"/>
              <a:buFont typeface="Wingdings" panose="05000000000000000000" pitchFamily="2" charset="2"/>
              <a:buNone/>
            </a:pPr>
            <a:r>
              <a:rPr lang="zh-CN" altLang="zh-CN" sz="2400" b="1">
                <a:latin typeface="Arial" panose="020B0604020202020204" pitchFamily="34" charset="0"/>
                <a:ea typeface="楷体" panose="02010609060101010101" pitchFamily="49" charset="-122"/>
                <a:cs typeface="Arial" panose="020B0604020202020204" pitchFamily="34" charset="0"/>
              </a:rPr>
              <a:t>高于此温度，溶解度突增，凝胶消失，乳化剂只以分子溶解和胶束两种状态存在。</a:t>
            </a:r>
            <a:endParaRPr lang="en-US" altLang="zh-CN" sz="2400" b="1">
              <a:latin typeface="Arial" panose="020B0604020202020204" pitchFamily="34" charset="0"/>
              <a:ea typeface="楷体" panose="02010609060101010101" pitchFamily="49" charset="-122"/>
              <a:cs typeface="Arial" panose="020B0604020202020204" pitchFamily="34" charset="0"/>
            </a:endParaRPr>
          </a:p>
        </p:txBody>
      </p:sp>
      <p:sp>
        <p:nvSpPr>
          <p:cNvPr id="43012" name="Text Box 10"/>
          <p:cNvSpPr txBox="1">
            <a:spLocks noChangeArrowheads="1"/>
          </p:cNvSpPr>
          <p:nvPr/>
        </p:nvSpPr>
        <p:spPr bwMode="auto">
          <a:xfrm>
            <a:off x="611188" y="1268413"/>
            <a:ext cx="8351837"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zh-CN" sz="2400" b="1">
                <a:latin typeface="楷体" panose="02010609060101010101" pitchFamily="49" charset="-122"/>
                <a:ea typeface="楷体" panose="02010609060101010101" pitchFamily="49" charset="-122"/>
              </a:rPr>
              <a:t>阴离子乳化剂体系在碱性溶液中较稳定，但遇酸、金属盐、硬水会失稳，且在</a:t>
            </a:r>
            <a:r>
              <a:rPr lang="zh-CN" altLang="zh-CN" sz="2400" b="1">
                <a:solidFill>
                  <a:srgbClr val="FF0000"/>
                </a:solidFill>
                <a:latin typeface="楷体" panose="02010609060101010101" pitchFamily="49" charset="-122"/>
                <a:ea typeface="楷体" panose="02010609060101010101" pitchFamily="49" charset="-122"/>
              </a:rPr>
              <a:t>三相平衡点</a:t>
            </a:r>
            <a:r>
              <a:rPr lang="zh-CN" altLang="zh-CN" sz="2400" b="1">
                <a:latin typeface="楷体" panose="02010609060101010101" pitchFamily="49" charset="-122"/>
                <a:ea typeface="楷体" panose="02010609060101010101" pitchFamily="49" charset="-122"/>
              </a:rPr>
              <a:t>以下将以凝胶析出，失去乳化能力</a:t>
            </a:r>
            <a:r>
              <a:rPr lang="zh-CN" altLang="zh-CN" sz="2400" b="1">
                <a:latin typeface="等线" panose="02010600030101010101" pitchFamily="2" charset="-122"/>
                <a:ea typeface="楷体_GB2312" pitchFamily="49" charset="-122"/>
              </a:rPr>
              <a:t>。</a:t>
            </a:r>
            <a:endParaRPr lang="zh-CN" altLang="en-US" sz="2400" b="1">
              <a:latin typeface="等线" panose="02010600030101010101" pitchFamily="2" charset="-122"/>
              <a:ea typeface="楷体_GB2312" pitchFamily="49" charset="-122"/>
            </a:endParaRPr>
          </a:p>
        </p:txBody>
      </p:sp>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D683D34B-BF60-4E92-AB94-DF4BFA31D261}" type="slidenum">
              <a:rPr kumimoji="0" lang="zh-CN" altLang="en-US" sz="1400" smtClean="0">
                <a:solidFill>
                  <a:srgbClr val="FFFFFF"/>
                </a:solidFill>
              </a:rPr>
              <a:pPr/>
              <a:t>28</a:t>
            </a:fld>
            <a:endParaRPr kumimoji="0" lang="en-US" altLang="zh-CN" sz="1400">
              <a:solidFill>
                <a:srgbClr val="FFFFFF"/>
              </a:solidFill>
            </a:endParaRPr>
          </a:p>
        </p:txBody>
      </p:sp>
      <p:graphicFrame>
        <p:nvGraphicFramePr>
          <p:cNvPr id="44035" name="Object 12"/>
          <p:cNvGraphicFramePr>
            <a:graphicFrameLocks noChangeAspect="1"/>
          </p:cNvGraphicFramePr>
          <p:nvPr/>
        </p:nvGraphicFramePr>
        <p:xfrm>
          <a:off x="1524000" y="1524000"/>
          <a:ext cx="6324600" cy="1401763"/>
        </p:xfrm>
        <a:graphic>
          <a:graphicData uri="http://schemas.openxmlformats.org/presentationml/2006/ole">
            <mc:AlternateContent xmlns:mc="http://schemas.openxmlformats.org/markup-compatibility/2006">
              <mc:Choice xmlns:v="urn:schemas-microsoft-com:vml" Requires="v">
                <p:oleObj spid="_x0000_s44073" name="位图图像" r:id="rId3" imgW="6447619" imgH="1428949" progId="Paint.Picture">
                  <p:embed/>
                </p:oleObj>
              </mc:Choice>
              <mc:Fallback>
                <p:oleObj name="位图图像" r:id="rId3" imgW="6447619" imgH="1428949" progId="Paint.Picture">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524000"/>
                        <a:ext cx="6324600" cy="14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36" name="Oval 14"/>
          <p:cNvSpPr>
            <a:spLocks noChangeArrowheads="1"/>
          </p:cNvSpPr>
          <p:nvPr/>
        </p:nvSpPr>
        <p:spPr bwMode="auto">
          <a:xfrm>
            <a:off x="6019800" y="1143000"/>
            <a:ext cx="1828800" cy="1905000"/>
          </a:xfrm>
          <a:prstGeom prst="ellipse">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等线" panose="02010600030101010101" pitchFamily="2" charset="-122"/>
              <a:ea typeface="等线" panose="02010600030101010101" pitchFamily="2" charset="-122"/>
            </a:endParaRPr>
          </a:p>
        </p:txBody>
      </p:sp>
      <p:sp>
        <p:nvSpPr>
          <p:cNvPr id="44037" name="Arc 15"/>
          <p:cNvSpPr>
            <a:spLocks/>
          </p:cNvSpPr>
          <p:nvPr/>
        </p:nvSpPr>
        <p:spPr bwMode="auto">
          <a:xfrm flipH="1">
            <a:off x="1447800" y="1752600"/>
            <a:ext cx="471488" cy="762000"/>
          </a:xfrm>
          <a:custGeom>
            <a:avLst/>
            <a:gdLst>
              <a:gd name="T0" fmla="*/ 2147483646 w 22277"/>
              <a:gd name="T1" fmla="*/ 0 h 43200"/>
              <a:gd name="T2" fmla="*/ 0 w 22277"/>
              <a:gd name="T3" fmla="*/ 2147483646 h 43200"/>
              <a:gd name="T4" fmla="*/ 2147483646 w 22277"/>
              <a:gd name="T5" fmla="*/ 2147483646 h 43200"/>
              <a:gd name="T6" fmla="*/ 0 60000 65536"/>
              <a:gd name="T7" fmla="*/ 0 60000 65536"/>
              <a:gd name="T8" fmla="*/ 0 60000 65536"/>
            </a:gdLst>
            <a:ahLst/>
            <a:cxnLst>
              <a:cxn ang="T6">
                <a:pos x="T0" y="T1"/>
              </a:cxn>
              <a:cxn ang="T7">
                <a:pos x="T2" y="T3"/>
              </a:cxn>
              <a:cxn ang="T8">
                <a:pos x="T4" y="T5"/>
              </a:cxn>
            </a:cxnLst>
            <a:rect l="0" t="0" r="r" b="b"/>
            <a:pathLst>
              <a:path w="22277" h="43200" fill="none" extrusionOk="0">
                <a:moveTo>
                  <a:pt x="676" y="0"/>
                </a:moveTo>
                <a:cubicBezTo>
                  <a:pt x="12606" y="0"/>
                  <a:pt x="22277" y="9670"/>
                  <a:pt x="22277" y="21600"/>
                </a:cubicBezTo>
                <a:cubicBezTo>
                  <a:pt x="22277" y="33529"/>
                  <a:pt x="12606" y="43200"/>
                  <a:pt x="677" y="43200"/>
                </a:cubicBezTo>
                <a:cubicBezTo>
                  <a:pt x="451" y="43200"/>
                  <a:pt x="225" y="43196"/>
                  <a:pt x="-1" y="43189"/>
                </a:cubicBezTo>
              </a:path>
              <a:path w="22277" h="43200" stroke="0" extrusionOk="0">
                <a:moveTo>
                  <a:pt x="676" y="0"/>
                </a:moveTo>
                <a:cubicBezTo>
                  <a:pt x="12606" y="0"/>
                  <a:pt x="22277" y="9670"/>
                  <a:pt x="22277" y="21600"/>
                </a:cubicBezTo>
                <a:cubicBezTo>
                  <a:pt x="22277" y="33529"/>
                  <a:pt x="12606" y="43200"/>
                  <a:pt x="677" y="43200"/>
                </a:cubicBezTo>
                <a:cubicBezTo>
                  <a:pt x="451" y="43200"/>
                  <a:pt x="225" y="43196"/>
                  <a:pt x="-1" y="43189"/>
                </a:cubicBezTo>
                <a:lnTo>
                  <a:pt x="677" y="21600"/>
                </a:lnTo>
                <a:lnTo>
                  <a:pt x="676" y="0"/>
                </a:lnTo>
                <a:close/>
              </a:path>
            </a:pathLst>
          </a:cu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8" name="Line 16"/>
          <p:cNvSpPr>
            <a:spLocks noChangeShapeType="1"/>
          </p:cNvSpPr>
          <p:nvPr/>
        </p:nvSpPr>
        <p:spPr bwMode="auto">
          <a:xfrm>
            <a:off x="1905000" y="1752600"/>
            <a:ext cx="41910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39" name="Line 17"/>
          <p:cNvSpPr>
            <a:spLocks noChangeShapeType="1"/>
          </p:cNvSpPr>
          <p:nvPr/>
        </p:nvSpPr>
        <p:spPr bwMode="auto">
          <a:xfrm>
            <a:off x="1905000" y="2514600"/>
            <a:ext cx="41910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0" name="Rectangle 18"/>
          <p:cNvSpPr>
            <a:spLocks noChangeArrowheads="1"/>
          </p:cNvSpPr>
          <p:nvPr/>
        </p:nvSpPr>
        <p:spPr bwMode="auto">
          <a:xfrm>
            <a:off x="3429000" y="25908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疏水基</a:t>
            </a:r>
          </a:p>
        </p:txBody>
      </p:sp>
      <p:sp>
        <p:nvSpPr>
          <p:cNvPr id="44041" name="Rectangle 19"/>
          <p:cNvSpPr>
            <a:spLocks noChangeArrowheads="1"/>
          </p:cNvSpPr>
          <p:nvPr/>
        </p:nvSpPr>
        <p:spPr bwMode="auto">
          <a:xfrm>
            <a:off x="7848600" y="25146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亲水基</a:t>
            </a:r>
          </a:p>
        </p:txBody>
      </p:sp>
      <p:graphicFrame>
        <p:nvGraphicFramePr>
          <p:cNvPr id="44042" name="Object 20"/>
          <p:cNvGraphicFramePr>
            <a:graphicFrameLocks noChangeAspect="1"/>
          </p:cNvGraphicFramePr>
          <p:nvPr/>
        </p:nvGraphicFramePr>
        <p:xfrm>
          <a:off x="1752600" y="4953000"/>
          <a:ext cx="6554788" cy="1009650"/>
        </p:xfrm>
        <a:graphic>
          <a:graphicData uri="http://schemas.openxmlformats.org/presentationml/2006/ole">
            <mc:AlternateContent xmlns:mc="http://schemas.openxmlformats.org/markup-compatibility/2006">
              <mc:Choice xmlns:v="urn:schemas-microsoft-com:vml" Requires="v">
                <p:oleObj spid="_x0000_s44074" name="位图图像" r:id="rId5" imgW="6935168" imgH="1009791" progId="Paint.Picture">
                  <p:embed/>
                </p:oleObj>
              </mc:Choice>
              <mc:Fallback>
                <p:oleObj name="位图图像" r:id="rId5" imgW="6935168" imgH="1009791" progId="Paint.Picture">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4953000"/>
                        <a:ext cx="6554788"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43" name="Oval 22"/>
          <p:cNvSpPr>
            <a:spLocks noChangeArrowheads="1"/>
          </p:cNvSpPr>
          <p:nvPr/>
        </p:nvSpPr>
        <p:spPr bwMode="auto">
          <a:xfrm>
            <a:off x="5943600" y="4572000"/>
            <a:ext cx="2362200" cy="1828800"/>
          </a:xfrm>
          <a:prstGeom prst="ellipse">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等线" panose="02010600030101010101" pitchFamily="2" charset="-122"/>
              <a:ea typeface="等线" panose="02010600030101010101" pitchFamily="2" charset="-122"/>
            </a:endParaRPr>
          </a:p>
        </p:txBody>
      </p:sp>
      <p:sp>
        <p:nvSpPr>
          <p:cNvPr id="44044" name="Arc 23"/>
          <p:cNvSpPr>
            <a:spLocks/>
          </p:cNvSpPr>
          <p:nvPr/>
        </p:nvSpPr>
        <p:spPr bwMode="auto">
          <a:xfrm flipH="1">
            <a:off x="1447800" y="5105400"/>
            <a:ext cx="471488" cy="762000"/>
          </a:xfrm>
          <a:custGeom>
            <a:avLst/>
            <a:gdLst>
              <a:gd name="T0" fmla="*/ 2147483646 w 22277"/>
              <a:gd name="T1" fmla="*/ 0 h 43200"/>
              <a:gd name="T2" fmla="*/ 0 w 22277"/>
              <a:gd name="T3" fmla="*/ 2147483646 h 43200"/>
              <a:gd name="T4" fmla="*/ 2147483646 w 22277"/>
              <a:gd name="T5" fmla="*/ 2147483646 h 43200"/>
              <a:gd name="T6" fmla="*/ 0 60000 65536"/>
              <a:gd name="T7" fmla="*/ 0 60000 65536"/>
              <a:gd name="T8" fmla="*/ 0 60000 65536"/>
            </a:gdLst>
            <a:ahLst/>
            <a:cxnLst>
              <a:cxn ang="T6">
                <a:pos x="T0" y="T1"/>
              </a:cxn>
              <a:cxn ang="T7">
                <a:pos x="T2" y="T3"/>
              </a:cxn>
              <a:cxn ang="T8">
                <a:pos x="T4" y="T5"/>
              </a:cxn>
            </a:cxnLst>
            <a:rect l="0" t="0" r="r" b="b"/>
            <a:pathLst>
              <a:path w="22277" h="43200" fill="none" extrusionOk="0">
                <a:moveTo>
                  <a:pt x="676" y="0"/>
                </a:moveTo>
                <a:cubicBezTo>
                  <a:pt x="12606" y="0"/>
                  <a:pt x="22277" y="9670"/>
                  <a:pt x="22277" y="21600"/>
                </a:cubicBezTo>
                <a:cubicBezTo>
                  <a:pt x="22277" y="33529"/>
                  <a:pt x="12606" y="43200"/>
                  <a:pt x="677" y="43200"/>
                </a:cubicBezTo>
                <a:cubicBezTo>
                  <a:pt x="451" y="43200"/>
                  <a:pt x="225" y="43196"/>
                  <a:pt x="-1" y="43189"/>
                </a:cubicBezTo>
              </a:path>
              <a:path w="22277" h="43200" stroke="0" extrusionOk="0">
                <a:moveTo>
                  <a:pt x="676" y="0"/>
                </a:moveTo>
                <a:cubicBezTo>
                  <a:pt x="12606" y="0"/>
                  <a:pt x="22277" y="9670"/>
                  <a:pt x="22277" y="21600"/>
                </a:cubicBezTo>
                <a:cubicBezTo>
                  <a:pt x="22277" y="33529"/>
                  <a:pt x="12606" y="43200"/>
                  <a:pt x="677" y="43200"/>
                </a:cubicBezTo>
                <a:cubicBezTo>
                  <a:pt x="451" y="43200"/>
                  <a:pt x="225" y="43196"/>
                  <a:pt x="-1" y="43189"/>
                </a:cubicBezTo>
                <a:lnTo>
                  <a:pt x="677" y="21600"/>
                </a:lnTo>
                <a:lnTo>
                  <a:pt x="676" y="0"/>
                </a:lnTo>
                <a:close/>
              </a:path>
            </a:pathLst>
          </a:cu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5" name="Line 24"/>
          <p:cNvSpPr>
            <a:spLocks noChangeShapeType="1"/>
          </p:cNvSpPr>
          <p:nvPr/>
        </p:nvSpPr>
        <p:spPr bwMode="auto">
          <a:xfrm>
            <a:off x="1905000" y="5105400"/>
            <a:ext cx="41910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6" name="Line 25"/>
          <p:cNvSpPr>
            <a:spLocks noChangeShapeType="1"/>
          </p:cNvSpPr>
          <p:nvPr/>
        </p:nvSpPr>
        <p:spPr bwMode="auto">
          <a:xfrm>
            <a:off x="1905000" y="5867400"/>
            <a:ext cx="41910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7" name="Rectangle 26"/>
          <p:cNvSpPr>
            <a:spLocks noChangeArrowheads="1"/>
          </p:cNvSpPr>
          <p:nvPr/>
        </p:nvSpPr>
        <p:spPr bwMode="auto">
          <a:xfrm>
            <a:off x="3429000" y="59436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疏水基</a:t>
            </a:r>
          </a:p>
        </p:txBody>
      </p:sp>
      <p:sp>
        <p:nvSpPr>
          <p:cNvPr id="44048" name="Rectangle 27"/>
          <p:cNvSpPr>
            <a:spLocks noChangeArrowheads="1"/>
          </p:cNvSpPr>
          <p:nvPr/>
        </p:nvSpPr>
        <p:spPr bwMode="auto">
          <a:xfrm>
            <a:off x="6705600" y="59436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亲水基</a:t>
            </a:r>
          </a:p>
        </p:txBody>
      </p:sp>
      <p:sp>
        <p:nvSpPr>
          <p:cNvPr id="44049" name="Text Box 28"/>
          <p:cNvSpPr txBox="1">
            <a:spLocks noChangeArrowheads="1"/>
          </p:cNvSpPr>
          <p:nvPr/>
        </p:nvSpPr>
        <p:spPr bwMode="auto">
          <a:xfrm>
            <a:off x="609600" y="477838"/>
            <a:ext cx="8458200"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35000"/>
              </a:spcBef>
              <a:buClr>
                <a:srgbClr val="FF0000"/>
              </a:buClr>
              <a:buSzPct val="80000"/>
              <a:buFont typeface="Wingdings" panose="05000000000000000000" pitchFamily="2" charset="2"/>
              <a:buChar char="u"/>
            </a:pP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阳离子乳化剂</a:t>
            </a: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(Cationic Emulsifier)</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b="1">
                <a:latin typeface="Arial" panose="020B0604020202020204" pitchFamily="34" charset="0"/>
                <a:ea typeface="楷体" panose="02010609060101010101" pitchFamily="49" charset="-122"/>
                <a:cs typeface="Arial" panose="020B0604020202020204" pitchFamily="34" charset="0"/>
              </a:rPr>
              <a:t>活性部分为阳离子</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sp>
        <p:nvSpPr>
          <p:cNvPr id="40978" name="Text Box 29">
            <a:extLst>
              <a:ext uri="{FF2B5EF4-FFF2-40B4-BE49-F238E27FC236}">
                <a16:creationId xmlns:a16="http://schemas.microsoft.com/office/drawing/2014/main" id="{27FA3D4E-5326-49DB-B95A-93D362D558FE}"/>
              </a:ext>
            </a:extLst>
          </p:cNvPr>
          <p:cNvSpPr txBox="1">
            <a:spLocks noChangeArrowheads="1"/>
          </p:cNvSpPr>
          <p:nvPr/>
        </p:nvSpPr>
        <p:spPr bwMode="auto">
          <a:xfrm>
            <a:off x="609600" y="3368675"/>
            <a:ext cx="7543800" cy="96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eaLnBrk="1" hangingPunct="1">
              <a:lnSpc>
                <a:spcPct val="125000"/>
              </a:lnSpc>
              <a:spcBef>
                <a:spcPct val="35000"/>
              </a:spcBef>
              <a:buClr>
                <a:schemeClr val="accent1"/>
              </a:buClr>
              <a:buSzPct val="80000"/>
              <a:buFont typeface="Monotype Sorts" pitchFamily="2" charset="2"/>
              <a:buNone/>
              <a:defRPr/>
            </a:pPr>
            <a:r>
              <a:rPr lang="zh-CN" altLang="en-US" sz="2000" b="1" dirty="0">
                <a:latin typeface="Arial" panose="020B0604020202020204" pitchFamily="34" charset="0"/>
                <a:ea typeface="楷体" panose="02010609060101010101" pitchFamily="49" charset="-122"/>
                <a:cs typeface="Arial" panose="020B0604020202020204" pitchFamily="34" charset="0"/>
              </a:rPr>
              <a:t>极性基团为胺盐，乳化能力较弱</a:t>
            </a:r>
          </a:p>
          <a:p>
            <a:pPr marL="342900" indent="-342900" eaLnBrk="1" hangingPunct="1">
              <a:lnSpc>
                <a:spcPct val="125000"/>
              </a:lnSpc>
              <a:spcBef>
                <a:spcPct val="35000"/>
              </a:spcBef>
              <a:buClr>
                <a:srgbClr val="FF0000"/>
              </a:buClr>
              <a:buSzPct val="80000"/>
              <a:buFont typeface="Wingdings" panose="05000000000000000000" pitchFamily="2" charset="2"/>
              <a:buChar char="u"/>
              <a:defRPr/>
            </a:pPr>
            <a:r>
              <a:rPr lang="zh-CN" altLang="en-US" sz="2000" b="1" dirty="0">
                <a:solidFill>
                  <a:srgbClr val="FF0000"/>
                </a:solidFill>
                <a:latin typeface="Arial" panose="020B0604020202020204" pitchFamily="34" charset="0"/>
                <a:ea typeface="楷体" panose="02010609060101010101" pitchFamily="49" charset="-122"/>
                <a:cs typeface="Arial" panose="020B0604020202020204" pitchFamily="34" charset="0"/>
              </a:rPr>
              <a:t>两性乳化剂</a:t>
            </a:r>
            <a:r>
              <a:rPr lang="en-US" altLang="zh-CN" sz="2000" b="1" dirty="0">
                <a:solidFill>
                  <a:srgbClr val="FF0000"/>
                </a:solidFill>
                <a:latin typeface="Arial" panose="020B0604020202020204" pitchFamily="34" charset="0"/>
                <a:ea typeface="楷体" panose="02010609060101010101" pitchFamily="49" charset="-122"/>
                <a:cs typeface="Arial" panose="020B0604020202020204" pitchFamily="34" charset="0"/>
              </a:rPr>
              <a:t>(Amphiprotic Emulsifier)：</a:t>
            </a:r>
            <a:r>
              <a:rPr lang="zh-CN" altLang="en-US" sz="2000" b="1" dirty="0">
                <a:latin typeface="Arial" panose="020B0604020202020204" pitchFamily="34" charset="0"/>
                <a:ea typeface="楷体" panose="02010609060101010101" pitchFamily="49" charset="-122"/>
                <a:cs typeface="Arial" panose="020B0604020202020204" pitchFamily="34" charset="0"/>
              </a:rPr>
              <a:t>如内铵盐</a:t>
            </a:r>
            <a:endParaRPr lang="zh-CN" altLang="en-US" sz="2000"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fld id="{2D47B872-3B8B-40C4-B1FF-B997DC8ED881}" type="slidenum">
              <a:rPr kumimoji="0" lang="zh-CN" altLang="en-US" sz="1400" smtClean="0">
                <a:solidFill>
                  <a:srgbClr val="FFFFFF"/>
                </a:solidFill>
              </a:rPr>
              <a:pPr/>
              <a:t>29</a:t>
            </a:fld>
            <a:endParaRPr kumimoji="0" lang="en-US" altLang="zh-CN" sz="1400">
              <a:solidFill>
                <a:srgbClr val="FFFFFF"/>
              </a:solidFill>
            </a:endParaRPr>
          </a:p>
        </p:txBody>
      </p:sp>
      <p:graphicFrame>
        <p:nvGraphicFramePr>
          <p:cNvPr id="45059" name="Object 1031"/>
          <p:cNvGraphicFramePr>
            <a:graphicFrameLocks noChangeAspect="1"/>
          </p:cNvGraphicFramePr>
          <p:nvPr/>
        </p:nvGraphicFramePr>
        <p:xfrm>
          <a:off x="838200" y="2362200"/>
          <a:ext cx="7240588" cy="433388"/>
        </p:xfrm>
        <a:graphic>
          <a:graphicData uri="http://schemas.openxmlformats.org/presentationml/2006/ole">
            <mc:AlternateContent xmlns:mc="http://schemas.openxmlformats.org/markup-compatibility/2006">
              <mc:Choice xmlns:v="urn:schemas-microsoft-com:vml" Requires="v">
                <p:oleObj spid="_x0000_s45079" name="Equation" r:id="rId3" imgW="3746500" imgH="228600" progId="Equation.3">
                  <p:embed/>
                </p:oleObj>
              </mc:Choice>
              <mc:Fallback>
                <p:oleObj name="Equation" r:id="rId3" imgW="3746500" imgH="228600" progId="Equation.3">
                  <p:embed/>
                  <p:pic>
                    <p:nvPicPr>
                      <p:cNvPr id="0" name="Object 10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362200"/>
                        <a:ext cx="7240588"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0" name="Oval 1033"/>
          <p:cNvSpPr>
            <a:spLocks noChangeArrowheads="1"/>
          </p:cNvSpPr>
          <p:nvPr/>
        </p:nvSpPr>
        <p:spPr bwMode="auto">
          <a:xfrm>
            <a:off x="3962400" y="1905000"/>
            <a:ext cx="4191000" cy="1219200"/>
          </a:xfrm>
          <a:prstGeom prst="ellipse">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等线" panose="02010600030101010101" pitchFamily="2" charset="-122"/>
              <a:ea typeface="等线" panose="02010600030101010101" pitchFamily="2" charset="-122"/>
            </a:endParaRPr>
          </a:p>
        </p:txBody>
      </p:sp>
      <p:sp>
        <p:nvSpPr>
          <p:cNvPr id="45061" name="Arc 1034"/>
          <p:cNvSpPr>
            <a:spLocks/>
          </p:cNvSpPr>
          <p:nvPr/>
        </p:nvSpPr>
        <p:spPr bwMode="auto">
          <a:xfrm flipH="1">
            <a:off x="685800" y="2133600"/>
            <a:ext cx="471488" cy="762000"/>
          </a:xfrm>
          <a:custGeom>
            <a:avLst/>
            <a:gdLst>
              <a:gd name="T0" fmla="*/ 2147483646 w 22277"/>
              <a:gd name="T1" fmla="*/ 0 h 43200"/>
              <a:gd name="T2" fmla="*/ 0 w 22277"/>
              <a:gd name="T3" fmla="*/ 2147483646 h 43200"/>
              <a:gd name="T4" fmla="*/ 2147483646 w 22277"/>
              <a:gd name="T5" fmla="*/ 2147483646 h 43200"/>
              <a:gd name="T6" fmla="*/ 0 60000 65536"/>
              <a:gd name="T7" fmla="*/ 0 60000 65536"/>
              <a:gd name="T8" fmla="*/ 0 60000 65536"/>
            </a:gdLst>
            <a:ahLst/>
            <a:cxnLst>
              <a:cxn ang="T6">
                <a:pos x="T0" y="T1"/>
              </a:cxn>
              <a:cxn ang="T7">
                <a:pos x="T2" y="T3"/>
              </a:cxn>
              <a:cxn ang="T8">
                <a:pos x="T4" y="T5"/>
              </a:cxn>
            </a:cxnLst>
            <a:rect l="0" t="0" r="r" b="b"/>
            <a:pathLst>
              <a:path w="22277" h="43200" fill="none" extrusionOk="0">
                <a:moveTo>
                  <a:pt x="676" y="0"/>
                </a:moveTo>
                <a:cubicBezTo>
                  <a:pt x="12606" y="0"/>
                  <a:pt x="22277" y="9670"/>
                  <a:pt x="22277" y="21600"/>
                </a:cubicBezTo>
                <a:cubicBezTo>
                  <a:pt x="22277" y="33529"/>
                  <a:pt x="12606" y="43200"/>
                  <a:pt x="677" y="43200"/>
                </a:cubicBezTo>
                <a:cubicBezTo>
                  <a:pt x="451" y="43200"/>
                  <a:pt x="225" y="43196"/>
                  <a:pt x="-1" y="43189"/>
                </a:cubicBezTo>
              </a:path>
              <a:path w="22277" h="43200" stroke="0" extrusionOk="0">
                <a:moveTo>
                  <a:pt x="676" y="0"/>
                </a:moveTo>
                <a:cubicBezTo>
                  <a:pt x="12606" y="0"/>
                  <a:pt x="22277" y="9670"/>
                  <a:pt x="22277" y="21600"/>
                </a:cubicBezTo>
                <a:cubicBezTo>
                  <a:pt x="22277" y="33529"/>
                  <a:pt x="12606" y="43200"/>
                  <a:pt x="677" y="43200"/>
                </a:cubicBezTo>
                <a:cubicBezTo>
                  <a:pt x="451" y="43200"/>
                  <a:pt x="225" y="43196"/>
                  <a:pt x="-1" y="43189"/>
                </a:cubicBezTo>
                <a:lnTo>
                  <a:pt x="677" y="21600"/>
                </a:lnTo>
                <a:lnTo>
                  <a:pt x="676" y="0"/>
                </a:lnTo>
                <a:close/>
              </a:path>
            </a:pathLst>
          </a:cu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2" name="Line 1035"/>
          <p:cNvSpPr>
            <a:spLocks noChangeShapeType="1"/>
          </p:cNvSpPr>
          <p:nvPr/>
        </p:nvSpPr>
        <p:spPr bwMode="auto">
          <a:xfrm>
            <a:off x="1143000" y="2133600"/>
            <a:ext cx="32004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5063" name="Line 1036"/>
          <p:cNvSpPr>
            <a:spLocks noChangeShapeType="1"/>
          </p:cNvSpPr>
          <p:nvPr/>
        </p:nvSpPr>
        <p:spPr bwMode="auto">
          <a:xfrm>
            <a:off x="1143000" y="2895600"/>
            <a:ext cx="3200400" cy="0"/>
          </a:xfrm>
          <a:prstGeom prst="line">
            <a:avLst/>
          </a:prstGeom>
          <a:noFill/>
          <a:ln w="254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5064" name="Rectangle 1037"/>
          <p:cNvSpPr>
            <a:spLocks noChangeArrowheads="1"/>
          </p:cNvSpPr>
          <p:nvPr/>
        </p:nvSpPr>
        <p:spPr bwMode="auto">
          <a:xfrm>
            <a:off x="2362200" y="29718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疏水基</a:t>
            </a:r>
          </a:p>
        </p:txBody>
      </p:sp>
      <p:sp>
        <p:nvSpPr>
          <p:cNvPr id="45065" name="Rectangle 1038"/>
          <p:cNvSpPr>
            <a:spLocks noChangeArrowheads="1"/>
          </p:cNvSpPr>
          <p:nvPr/>
        </p:nvSpPr>
        <p:spPr bwMode="auto">
          <a:xfrm>
            <a:off x="5562600" y="27432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楷体" panose="02010609060101010101" pitchFamily="49" charset="-122"/>
                <a:ea typeface="楷体" panose="02010609060101010101" pitchFamily="49" charset="-122"/>
              </a:rPr>
              <a:t>亲水基</a:t>
            </a:r>
          </a:p>
        </p:txBody>
      </p:sp>
      <p:sp>
        <p:nvSpPr>
          <p:cNvPr id="45066" name="Text Box 1039"/>
          <p:cNvSpPr txBox="1">
            <a:spLocks noChangeArrowheads="1"/>
          </p:cNvSpPr>
          <p:nvPr/>
        </p:nvSpPr>
        <p:spPr bwMode="auto">
          <a:xfrm>
            <a:off x="573088" y="3632200"/>
            <a:ext cx="76962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20000"/>
              </a:spcBef>
              <a:buClr>
                <a:srgbClr val="800000"/>
              </a:buClr>
              <a:buSzPct val="90000"/>
              <a:buFont typeface="Wingdings" panose="05000000000000000000" pitchFamily="2" charset="2"/>
              <a:buNone/>
            </a:pPr>
            <a:r>
              <a:rPr lang="zh-CN" altLang="en-US" b="1">
                <a:latin typeface="等线" panose="02010600030101010101" pitchFamily="2" charset="-122"/>
                <a:ea typeface="楷体_GB2312" pitchFamily="49" charset="-122"/>
              </a:rPr>
              <a:t>        </a:t>
            </a:r>
            <a:r>
              <a:rPr lang="zh-CN" altLang="en-US" sz="2000" b="1">
                <a:latin typeface="Arial" panose="020B0604020202020204" pitchFamily="34" charset="0"/>
                <a:ea typeface="楷体" panose="02010609060101010101" pitchFamily="49" charset="-122"/>
                <a:cs typeface="Arial" panose="020B0604020202020204" pitchFamily="34" charset="0"/>
              </a:rPr>
              <a:t>非离子乳化剂对</a:t>
            </a:r>
            <a:r>
              <a:rPr lang="en-US" altLang="zh-CN" sz="2000" b="1">
                <a:latin typeface="Arial" panose="020B0604020202020204" pitchFamily="34" charset="0"/>
                <a:ea typeface="楷体" panose="02010609060101010101" pitchFamily="49" charset="-122"/>
                <a:cs typeface="Arial" panose="020B0604020202020204" pitchFamily="34" charset="0"/>
              </a:rPr>
              <a:t>pH</a:t>
            </a:r>
            <a:r>
              <a:rPr lang="zh-CN" altLang="zh-CN" sz="2000" b="1">
                <a:latin typeface="Arial" panose="020B0604020202020204" pitchFamily="34" charset="0"/>
                <a:ea typeface="楷体" panose="02010609060101010101" pitchFamily="49" charset="-122"/>
                <a:cs typeface="Arial" panose="020B0604020202020204" pitchFamily="34" charset="0"/>
              </a:rPr>
              <a:t>变化不敏感，</a:t>
            </a:r>
            <a:r>
              <a:rPr lang="zh-CN" altLang="en-US" sz="2000" b="1">
                <a:latin typeface="等线" panose="02010600030101010101" pitchFamily="2" charset="-122"/>
                <a:ea typeface="楷体" panose="02010609060101010101" pitchFamily="49" charset="-122"/>
                <a:cs typeface="Times New Roman" panose="02020603050405020304" pitchFamily="18" charset="0"/>
              </a:rPr>
              <a:t>微酸性环境中反而稳定</a:t>
            </a:r>
            <a:r>
              <a:rPr lang="zh-CN" altLang="zh-CN" sz="2000" b="1">
                <a:latin typeface="Arial" panose="020B0604020202020204" pitchFamily="34" charset="0"/>
                <a:ea typeface="楷体" panose="02010609060101010101" pitchFamily="49" charset="-122"/>
                <a:cs typeface="Arial" panose="020B0604020202020204" pitchFamily="34" charset="0"/>
              </a:rPr>
              <a:t>；但乳化能力不如阴离子型，一般不单独使用，常与阴离子型乳化剂合用</a:t>
            </a:r>
            <a:r>
              <a:rPr lang="en-US" altLang="zh-CN" sz="2000" b="1">
                <a:latin typeface="Arial" panose="020B0604020202020204" pitchFamily="34" charset="0"/>
                <a:ea typeface="楷体" panose="02010609060101010101" pitchFamily="49" charset="-122"/>
                <a:cs typeface="Arial" panose="020B0604020202020204" pitchFamily="34" charset="0"/>
              </a:rPr>
              <a:t>(</a:t>
            </a:r>
            <a:r>
              <a:rPr lang="zh-CN" altLang="zh-CN" sz="2000" b="1">
                <a:latin typeface="Arial" panose="020B0604020202020204" pitchFamily="34" charset="0"/>
                <a:ea typeface="楷体" panose="02010609060101010101" pitchFamily="49" charset="-122"/>
                <a:cs typeface="Arial" panose="020B0604020202020204" pitchFamily="34" charset="0"/>
              </a:rPr>
              <a:t>以改善纯阴离子乳化体系对</a:t>
            </a:r>
            <a:r>
              <a:rPr lang="zh-CN" altLang="en-US" sz="2000" b="1">
                <a:latin typeface="Arial" panose="020B0604020202020204" pitchFamily="34" charset="0"/>
                <a:ea typeface="楷体" panose="02010609060101010101" pitchFamily="49" charset="-122"/>
                <a:cs typeface="Arial" panose="020B0604020202020204" pitchFamily="34" charset="0"/>
              </a:rPr>
              <a:t>p</a:t>
            </a:r>
            <a:r>
              <a:rPr lang="en-US" altLang="zh-CN" sz="2000" b="1">
                <a:latin typeface="Arial" panose="020B0604020202020204" pitchFamily="34" charset="0"/>
                <a:ea typeface="楷体" panose="02010609060101010101" pitchFamily="49" charset="-122"/>
                <a:cs typeface="Arial" panose="020B0604020202020204" pitchFamily="34" charset="0"/>
              </a:rPr>
              <a:t>H </a:t>
            </a:r>
            <a:r>
              <a:rPr lang="zh-CN" altLang="en-US" sz="2000" b="1">
                <a:latin typeface="Arial" panose="020B0604020202020204" pitchFamily="34" charset="0"/>
                <a:ea typeface="楷体" panose="02010609060101010101" pitchFamily="49" charset="-122"/>
                <a:cs typeface="Arial" panose="020B0604020202020204" pitchFamily="34" charset="0"/>
              </a:rPr>
              <a:t>值、电解质等的敏感性</a:t>
            </a:r>
            <a:r>
              <a:rPr lang="en-US" altLang="zh-CN" sz="2000" b="1">
                <a:latin typeface="Arial" panose="020B0604020202020204" pitchFamily="34" charset="0"/>
                <a:ea typeface="楷体" panose="02010609060101010101" pitchFamily="49" charset="-122"/>
                <a:cs typeface="Arial" panose="020B0604020202020204" pitchFamily="34" charset="0"/>
              </a:rPr>
              <a:t>)</a:t>
            </a:r>
            <a:r>
              <a:rPr lang="zh-CN" altLang="zh-CN" sz="2000" b="1">
                <a:latin typeface="Arial" panose="020B0604020202020204" pitchFamily="34" charset="0"/>
                <a:ea typeface="楷体" panose="02010609060101010101" pitchFamily="49" charset="-122"/>
                <a:cs typeface="Arial" panose="020B0604020202020204" pitchFamily="34" charset="0"/>
              </a:rPr>
              <a:t>。</a:t>
            </a:r>
            <a:endParaRPr lang="en-US" altLang="zh-CN" sz="2000" b="1">
              <a:latin typeface="Arial" panose="020B0604020202020204" pitchFamily="34" charset="0"/>
              <a:ea typeface="楷体" panose="02010609060101010101" pitchFamily="49" charset="-122"/>
              <a:cs typeface="Arial" panose="020B0604020202020204" pitchFamily="34" charset="0"/>
            </a:endParaRPr>
          </a:p>
          <a:p>
            <a:pPr eaLnBrk="1" hangingPunct="1">
              <a:lnSpc>
                <a:spcPct val="135000"/>
              </a:lnSpc>
              <a:spcBef>
                <a:spcPct val="20000"/>
              </a:spcBef>
              <a:buClr>
                <a:srgbClr val="800000"/>
              </a:buClr>
              <a:buSzPct val="90000"/>
              <a:buFont typeface="Wingdings" panose="05000000000000000000" pitchFamily="2" charset="2"/>
              <a:buNone/>
            </a:pPr>
            <a:r>
              <a:rPr lang="zh-CN" altLang="en-US" sz="2000" b="1">
                <a:latin typeface="Arial" panose="020B0604020202020204" pitchFamily="34" charset="0"/>
                <a:ea typeface="楷体" panose="02010609060101010101" pitchFamily="49" charset="-122"/>
                <a:cs typeface="Arial" panose="020B0604020202020204" pitchFamily="34" charset="0"/>
              </a:rPr>
              <a:t>        非离子乳化剂无三相平衡点，却有一个</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浊点</a:t>
            </a:r>
            <a:r>
              <a:rPr lang="en-US" altLang="zh-CN" sz="2000" b="1">
                <a:latin typeface="Arial" panose="020B0604020202020204" pitchFamily="34" charset="0"/>
                <a:ea typeface="楷体" panose="02010609060101010101" pitchFamily="49" charset="-122"/>
                <a:cs typeface="Arial" panose="020B0604020202020204" pitchFamily="34" charset="0"/>
              </a:rPr>
              <a:t>(</a:t>
            </a:r>
            <a:r>
              <a:rPr lang="zh-CN" altLang="en-US" sz="2000" b="1">
                <a:latin typeface="Arial" panose="020B0604020202020204" pitchFamily="34" charset="0"/>
                <a:ea typeface="楷体" panose="02010609060101010101" pitchFamily="49" charset="-122"/>
                <a:cs typeface="Arial" panose="020B0604020202020204" pitchFamily="34" charset="0"/>
              </a:rPr>
              <a:t>非离子乳液体系随温度升高开始分相时的温度</a:t>
            </a:r>
            <a:r>
              <a:rPr lang="en-US" altLang="zh-CN" sz="2000" b="1">
                <a:latin typeface="Arial" panose="020B0604020202020204" pitchFamily="34" charset="0"/>
                <a:ea typeface="楷体" panose="02010609060101010101" pitchFamily="49" charset="-122"/>
                <a:cs typeface="Arial" panose="020B0604020202020204" pitchFamily="34" charset="0"/>
              </a:rPr>
              <a:t>)</a:t>
            </a:r>
            <a:r>
              <a:rPr lang="zh-CN" altLang="en-US" sz="2000" b="1">
                <a:latin typeface="Arial" panose="020B0604020202020204" pitchFamily="34" charset="0"/>
                <a:ea typeface="楷体" panose="02010609060101010101" pitchFamily="49" charset="-122"/>
                <a:cs typeface="Arial" panose="020B0604020202020204" pitchFamily="34" charset="0"/>
              </a:rPr>
              <a:t>。</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sp>
        <p:nvSpPr>
          <p:cNvPr id="41995" name="Text Box 1041">
            <a:extLst>
              <a:ext uri="{FF2B5EF4-FFF2-40B4-BE49-F238E27FC236}">
                <a16:creationId xmlns:a16="http://schemas.microsoft.com/office/drawing/2014/main" id="{BC86F570-5EE6-46EC-8129-E138CE377385}"/>
              </a:ext>
            </a:extLst>
          </p:cNvPr>
          <p:cNvSpPr txBox="1">
            <a:spLocks noChangeArrowheads="1"/>
          </p:cNvSpPr>
          <p:nvPr/>
        </p:nvSpPr>
        <p:spPr bwMode="auto">
          <a:xfrm>
            <a:off x="573088" y="719931"/>
            <a:ext cx="7772400" cy="135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itchFamily="2" charset="-122"/>
                <a:ea typeface="等线" pitchFamily="2" charset="-122"/>
              </a:defRPr>
            </a:lvl1pPr>
            <a:lvl2pPr marL="742950" indent="-285750">
              <a:defRPr>
                <a:solidFill>
                  <a:schemeClr val="tx1"/>
                </a:solidFill>
                <a:latin typeface="等线" pitchFamily="2" charset="-122"/>
                <a:ea typeface="等线" pitchFamily="2" charset="-122"/>
              </a:defRPr>
            </a:lvl2pPr>
            <a:lvl3pPr marL="1143000" indent="-228600">
              <a:defRPr>
                <a:solidFill>
                  <a:schemeClr val="tx1"/>
                </a:solidFill>
                <a:latin typeface="等线" pitchFamily="2" charset="-122"/>
                <a:ea typeface="等线" pitchFamily="2" charset="-122"/>
              </a:defRPr>
            </a:lvl3pPr>
            <a:lvl4pPr marL="1600200" indent="-228600">
              <a:defRPr>
                <a:solidFill>
                  <a:schemeClr val="tx1"/>
                </a:solidFill>
                <a:latin typeface="等线" pitchFamily="2" charset="-122"/>
                <a:ea typeface="等线" pitchFamily="2" charset="-122"/>
              </a:defRPr>
            </a:lvl4pPr>
            <a:lvl5pPr marL="2057400" indent="-228600">
              <a:defRPr>
                <a:solidFill>
                  <a:schemeClr val="tx1"/>
                </a:solidFill>
                <a:latin typeface="等线" pitchFamily="2" charset="-122"/>
                <a:ea typeface="等线" pitchFamily="2" charset="-122"/>
              </a:defRPr>
            </a:lvl5pPr>
            <a:lvl6pPr marL="2514600" indent="-228600" eaLnBrk="0" fontAlgn="base" hangingPunct="0">
              <a:spcBef>
                <a:spcPct val="0"/>
              </a:spcBef>
              <a:spcAft>
                <a:spcPct val="0"/>
              </a:spcAft>
              <a:defRPr>
                <a:solidFill>
                  <a:schemeClr val="tx1"/>
                </a:solidFill>
                <a:latin typeface="等线" pitchFamily="2" charset="-122"/>
                <a:ea typeface="等线" pitchFamily="2" charset="-122"/>
              </a:defRPr>
            </a:lvl6pPr>
            <a:lvl7pPr marL="2971800" indent="-228600" eaLnBrk="0" fontAlgn="base" hangingPunct="0">
              <a:spcBef>
                <a:spcPct val="0"/>
              </a:spcBef>
              <a:spcAft>
                <a:spcPct val="0"/>
              </a:spcAft>
              <a:defRPr>
                <a:solidFill>
                  <a:schemeClr val="tx1"/>
                </a:solidFill>
                <a:latin typeface="等线" pitchFamily="2" charset="-122"/>
                <a:ea typeface="等线" pitchFamily="2" charset="-122"/>
              </a:defRPr>
            </a:lvl7pPr>
            <a:lvl8pPr marL="3429000" indent="-228600" eaLnBrk="0" fontAlgn="base" hangingPunct="0">
              <a:spcBef>
                <a:spcPct val="0"/>
              </a:spcBef>
              <a:spcAft>
                <a:spcPct val="0"/>
              </a:spcAft>
              <a:defRPr>
                <a:solidFill>
                  <a:schemeClr val="tx1"/>
                </a:solidFill>
                <a:latin typeface="等线" pitchFamily="2" charset="-122"/>
                <a:ea typeface="等线" pitchFamily="2" charset="-122"/>
              </a:defRPr>
            </a:lvl8pPr>
            <a:lvl9pPr marL="3886200" indent="-228600" eaLnBrk="0" fontAlgn="base" hangingPunct="0">
              <a:spcBef>
                <a:spcPct val="0"/>
              </a:spcBef>
              <a:spcAft>
                <a:spcPct val="0"/>
              </a:spcAft>
              <a:defRPr>
                <a:solidFill>
                  <a:schemeClr val="tx1"/>
                </a:solidFill>
                <a:latin typeface="等线" pitchFamily="2" charset="-122"/>
                <a:ea typeface="等线" pitchFamily="2" charset="-122"/>
              </a:defRPr>
            </a:lvl9pPr>
          </a:lstStyle>
          <a:p>
            <a:pPr marL="342900" indent="-342900" eaLnBrk="1" hangingPunct="1">
              <a:lnSpc>
                <a:spcPct val="125000"/>
              </a:lnSpc>
              <a:spcBef>
                <a:spcPct val="35000"/>
              </a:spcBef>
              <a:buClr>
                <a:srgbClr val="FF0000"/>
              </a:buClr>
              <a:buSzPct val="80000"/>
              <a:buFont typeface="Wingdings" panose="05000000000000000000" pitchFamily="2" charset="2"/>
              <a:buChar char="u"/>
              <a:defRPr/>
            </a:pPr>
            <a:r>
              <a:rPr lang="zh-CN" altLang="en-US" sz="2000" b="1" dirty="0">
                <a:solidFill>
                  <a:srgbClr val="FF0000"/>
                </a:solidFill>
                <a:latin typeface="Arial" panose="020B0604020202020204" pitchFamily="34" charset="0"/>
                <a:ea typeface="楷体" panose="02010609060101010101" pitchFamily="49" charset="-122"/>
                <a:cs typeface="Arial" panose="020B0604020202020204" pitchFamily="34" charset="0"/>
              </a:rPr>
              <a:t>非离子乳化剂</a:t>
            </a:r>
            <a:r>
              <a:rPr lang="en-US" altLang="zh-CN" sz="2000" b="1" dirty="0">
                <a:solidFill>
                  <a:srgbClr val="FF0000"/>
                </a:solidFill>
                <a:latin typeface="Arial" panose="020B0604020202020204" pitchFamily="34" charset="0"/>
                <a:ea typeface="楷体" panose="02010609060101010101" pitchFamily="49" charset="-122"/>
                <a:cs typeface="Arial" panose="020B0604020202020204" pitchFamily="34" charset="0"/>
              </a:rPr>
              <a:t>(Non-ionic Emulsifier )</a:t>
            </a:r>
          </a:p>
          <a:p>
            <a:pPr eaLnBrk="1" hangingPunct="1">
              <a:lnSpc>
                <a:spcPct val="125000"/>
              </a:lnSpc>
              <a:spcBef>
                <a:spcPct val="35000"/>
              </a:spcBef>
              <a:buClr>
                <a:srgbClr val="FF0000"/>
              </a:buClr>
              <a:buSzPct val="80000"/>
              <a:defRPr/>
            </a:pPr>
            <a:r>
              <a:rPr lang="zh-CN" altLang="en-US" sz="2000" b="1" dirty="0">
                <a:latin typeface="Arial" panose="020B0604020202020204" pitchFamily="34" charset="0"/>
                <a:ea typeface="楷体" panose="02010609060101010101" pitchFamily="49" charset="-122"/>
                <a:cs typeface="Arial" panose="020B0604020202020204" pitchFamily="34" charset="0"/>
              </a:rPr>
              <a:t>活性部分呈分子状态，如环氧乙烷聚合物，或与环氧丙烷共聚物、</a:t>
            </a:r>
            <a:r>
              <a:rPr lang="en-US" altLang="zh-CN" sz="2000" b="1" dirty="0">
                <a:latin typeface="Arial" panose="020B0604020202020204" pitchFamily="34" charset="0"/>
                <a:ea typeface="楷体" panose="02010609060101010101" pitchFamily="49" charset="-122"/>
                <a:cs typeface="Arial" panose="020B0604020202020204" pitchFamily="34" charset="0"/>
              </a:rPr>
              <a:t>PVA</a:t>
            </a:r>
            <a:r>
              <a:rPr lang="zh-CN" altLang="en-US" sz="2000" b="1" dirty="0">
                <a:latin typeface="Arial" panose="020B0604020202020204" pitchFamily="34" charset="0"/>
                <a:ea typeface="楷体" panose="02010609060101010101" pitchFamily="49" charset="-122"/>
                <a:cs typeface="Arial" panose="020B0604020202020204" pitchFamily="34" charset="0"/>
              </a:rPr>
              <a:t>等。</a:t>
            </a:r>
            <a:endParaRPr lang="zh-CN" altLang="en-US" sz="2000"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4DB25B66-E211-4297-929C-F1AE2E4FC38C}" type="slidenum">
              <a:rPr lang="zh-CN" altLang="en-US" sz="1400" smtClean="0">
                <a:solidFill>
                  <a:srgbClr val="FFFFFF"/>
                </a:solidFill>
                <a:latin typeface="Times New Roman" panose="02020603050405020304" pitchFamily="18" charset="0"/>
              </a:rPr>
              <a:pPr>
                <a:spcBef>
                  <a:spcPct val="50000"/>
                </a:spcBef>
                <a:buClrTx/>
                <a:buSzTx/>
                <a:buFontTx/>
                <a:buNone/>
              </a:pPr>
              <a:t>30</a:t>
            </a:fld>
            <a:endParaRPr lang="en-US" altLang="zh-CN" sz="1400">
              <a:solidFill>
                <a:srgbClr val="FFFFFF"/>
              </a:solidFill>
              <a:latin typeface="Times New Roman" panose="02020603050405020304" pitchFamily="18" charset="0"/>
            </a:endParaRPr>
          </a:p>
        </p:txBody>
      </p:sp>
      <p:sp>
        <p:nvSpPr>
          <p:cNvPr id="46083" name="Text Box 1026"/>
          <p:cNvSpPr txBox="1">
            <a:spLocks noChangeArrowheads="1"/>
          </p:cNvSpPr>
          <p:nvPr/>
        </p:nvSpPr>
        <p:spPr bwMode="auto">
          <a:xfrm>
            <a:off x="852488" y="904875"/>
            <a:ext cx="74676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2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稳定剂</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保护胶乳，以防止分散的胶乳析出和沉淀</a:t>
            </a: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典型的稳定剂有明胶，酪素等，用量为2～5</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wt</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20000"/>
              </a:lnSpc>
              <a:spcBef>
                <a:spcPct val="0"/>
              </a:spcBef>
              <a:buClrTx/>
              <a:buSzTx/>
              <a:buFontTx/>
              <a:buNone/>
            </a:pPr>
            <a:endParaRPr lang="zh-CN" altLang="en-US" sz="11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表面能力调节剂</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控制胶粒粒度大小和保持乳液的稳定性</a:t>
            </a:r>
            <a:endPar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通常是含有5～10碳原子的脂肪醇类，如：乙醇，辛醇，</a:t>
            </a: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用量为0.1～0.5</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wt</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20000"/>
              </a:lnSpc>
              <a:spcBef>
                <a:spcPct val="0"/>
              </a:spcBef>
              <a:buClrTx/>
              <a:buSzTx/>
              <a:buFontTx/>
              <a:buNone/>
            </a:pPr>
            <a:endParaRPr lang="zh-CN" altLang="en-US" sz="11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6084" name="Text Box 1026"/>
          <p:cNvSpPr txBox="1">
            <a:spLocks noChangeArrowheads="1"/>
          </p:cNvSpPr>
          <p:nvPr/>
        </p:nvSpPr>
        <p:spPr bwMode="auto">
          <a:xfrm>
            <a:off x="852488" y="3024188"/>
            <a:ext cx="8077200"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nSpc>
                <a:spcPct val="110000"/>
              </a:lnSpc>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调节剂：</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控制分子量和减少聚合物链支化的作用</a:t>
            </a:r>
            <a:endParaRPr lang="en-US" altLang="zh-CN" sz="220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如：</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CCl</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4</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，RSH(</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一般用</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C</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4</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以上者，常用十二碳硫醇</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nSpc>
                <a:spcPct val="160000"/>
              </a:lnSpc>
              <a:spcBef>
                <a:spcPct val="0"/>
              </a:spcBef>
              <a:buClrTx/>
              <a:buSzTx/>
              <a:buFontTx/>
              <a:buNone/>
            </a:pPr>
            <a:r>
              <a:rPr lang="zh-CN" altLang="en-US" sz="2200">
                <a:latin typeface="Times New Roman" panose="02020603050405020304" pitchFamily="18" charset="0"/>
                <a:ea typeface="楷体" panose="02010609060101010101" pitchFamily="49" charset="-122"/>
                <a:cs typeface="Times New Roman" panose="02020603050405020304" pitchFamily="18" charset="0"/>
              </a:rPr>
              <a:t>          </a:t>
            </a:r>
          </a:p>
          <a:p>
            <a:pPr algn="just">
              <a:lnSpc>
                <a:spcPct val="12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缓冲剂</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维持体系的</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pH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值和引发剂的分解速率</a:t>
            </a:r>
            <a:endPar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稳定乳液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(磷酸盐，碳酸盐，醋酸盐等)</a:t>
            </a:r>
          </a:p>
          <a:p>
            <a:pPr algn="just">
              <a:lnSpc>
                <a:spcPct val="120000"/>
              </a:lnSpc>
              <a:spcBef>
                <a:spcPct val="0"/>
              </a:spcBef>
              <a:buClrTx/>
              <a:buSzTx/>
              <a:buFontTx/>
              <a:buNone/>
            </a:pPr>
            <a:r>
              <a:rPr lang="zh-CN" altLang="en-US" sz="2200">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46085" name="矩形 4"/>
          <p:cNvSpPr>
            <a:spLocks noChangeArrowheads="1"/>
          </p:cNvSpPr>
          <p:nvPr/>
        </p:nvSpPr>
        <p:spPr bwMode="auto">
          <a:xfrm>
            <a:off x="269875" y="309563"/>
            <a:ext cx="3022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b="1">
                <a:solidFill>
                  <a:srgbClr val="FF0000"/>
                </a:solidFill>
                <a:ea typeface="楷体" panose="02010609060101010101" pitchFamily="49" charset="-122"/>
                <a:cs typeface="Times New Roman" panose="02020603050405020304" pitchFamily="18" charset="0"/>
              </a:rPr>
              <a:t>乳液聚合的其他组分：</a:t>
            </a: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04CD6FFE-649F-4E76-86E0-A803965A91F6}" type="slidenum">
              <a:rPr lang="zh-CN" altLang="en-US" sz="1400" smtClean="0">
                <a:solidFill>
                  <a:srgbClr val="FFFFFF"/>
                </a:solidFill>
                <a:latin typeface="Times New Roman" panose="02020603050405020304" pitchFamily="18" charset="0"/>
              </a:rPr>
              <a:pPr>
                <a:spcBef>
                  <a:spcPct val="50000"/>
                </a:spcBef>
                <a:buClrTx/>
                <a:buSzTx/>
                <a:buFontTx/>
                <a:buNone/>
              </a:pPr>
              <a:t>31</a:t>
            </a:fld>
            <a:endParaRPr lang="en-US" altLang="zh-CN" sz="1400">
              <a:solidFill>
                <a:srgbClr val="FFFFFF"/>
              </a:solidFill>
              <a:latin typeface="Times New Roman" panose="02020603050405020304" pitchFamily="18" charset="0"/>
            </a:endParaRPr>
          </a:p>
        </p:txBody>
      </p:sp>
      <p:sp>
        <p:nvSpPr>
          <p:cNvPr id="48131" name="Text Box 1026"/>
          <p:cNvSpPr txBox="1">
            <a:spLocks noChangeArrowheads="1"/>
          </p:cNvSpPr>
          <p:nvPr/>
        </p:nvSpPr>
        <p:spPr bwMode="auto">
          <a:xfrm>
            <a:off x="684213" y="446088"/>
            <a:ext cx="7924800"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en-US" altLang="zh-CN" sz="2200" b="1">
                <a:latin typeface="Times New Roman" panose="02020603050405020304" pitchFamily="18" charset="0"/>
                <a:ea typeface="楷体" panose="02010609060101010101" pitchFamily="49" charset="-122"/>
                <a:cs typeface="Times New Roman" panose="02020603050405020304" pitchFamily="18" charset="0"/>
              </a:rPr>
              <a:t>5</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5.</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2  乳液聚合的反应历程及动力学</a:t>
            </a:r>
            <a:endParaRPr lang="zh-CN" altLang="en-US" sz="220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zh-CN" altLang="en-US" sz="220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典型乳液聚合</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采用水溶性引发剂</a:t>
            </a:r>
            <a:endPar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典型配方：</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St，H</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O，K</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S</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O</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8 </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皂体系</a:t>
            </a:r>
            <a:endParaRPr lang="zh-CN" altLang="en-US" sz="21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4DB761BC-002A-4F35-BE93-F9C4203E4B1C}"/>
              </a:ext>
            </a:extLst>
          </p:cNvPr>
          <p:cNvSpPr/>
          <p:nvPr/>
        </p:nvSpPr>
        <p:spPr>
          <a:xfrm>
            <a:off x="5397500" y="3214688"/>
            <a:ext cx="3211513" cy="430212"/>
          </a:xfrm>
          <a:prstGeom prst="rect">
            <a:avLst/>
          </a:prstGeom>
        </p:spPr>
        <p:txBody>
          <a:bodyPr wrap="none">
            <a:spAutoFit/>
          </a:bodyPr>
          <a:lstStyle/>
          <a:p>
            <a:pPr>
              <a:defRPr/>
            </a:pPr>
            <a:r>
              <a:rPr lang="zh-CN" altLang="en-US" b="1" dirty="0">
                <a:solidFill>
                  <a:srgbClr val="FF0000"/>
                </a:solidFill>
                <a:effectLst>
                  <a:outerShdw blurRad="38100" dist="38100" dir="2700000" algn="tl">
                    <a:srgbClr val="000000">
                      <a:alpha val="43137"/>
                    </a:srgbClr>
                  </a:outerShdw>
                </a:effectLst>
              </a:rPr>
              <a:t>微悬浮聚合</a:t>
            </a:r>
            <a:r>
              <a:rPr lang="en-US" altLang="zh-CN" b="1" dirty="0">
                <a:solidFill>
                  <a:srgbClr val="FF0000"/>
                </a:solidFill>
                <a:effectLst>
                  <a:outerShdw blurRad="38100" dist="38100" dir="2700000" algn="tl">
                    <a:srgbClr val="000000">
                      <a:alpha val="43137"/>
                    </a:srgbClr>
                  </a:outerShdw>
                </a:effectLst>
              </a:rPr>
              <a:t>(</a:t>
            </a:r>
            <a:r>
              <a:rPr lang="zh-CN" altLang="en-US" b="1" dirty="0">
                <a:solidFill>
                  <a:srgbClr val="FF0000"/>
                </a:solidFill>
                <a:effectLst>
                  <a:outerShdw blurRad="38100" dist="38100" dir="2700000" algn="tl">
                    <a:srgbClr val="000000">
                      <a:alpha val="43137"/>
                    </a:srgbClr>
                  </a:outerShdw>
                </a:effectLst>
              </a:rPr>
              <a:t>细乳液聚合</a:t>
            </a:r>
            <a:r>
              <a:rPr lang="en-US" altLang="zh-CN" b="1" dirty="0">
                <a:solidFill>
                  <a:srgbClr val="FF0000"/>
                </a:solidFill>
                <a:effectLst>
                  <a:outerShdw blurRad="38100" dist="38100" dir="2700000" algn="tl">
                    <a:srgbClr val="000000">
                      <a:alpha val="43137"/>
                    </a:srgbClr>
                  </a:outerShdw>
                </a:effectLst>
              </a:rPr>
              <a:t>)</a:t>
            </a:r>
            <a:endParaRPr lang="zh-CN" altLang="en-US" b="1" dirty="0">
              <a:solidFill>
                <a:srgbClr val="FF0000"/>
              </a:solidFill>
              <a:effectLst>
                <a:outerShdw blurRad="38100" dist="38100" dir="2700000" algn="tl">
                  <a:srgbClr val="000000">
                    <a:alpha val="43137"/>
                  </a:srgbClr>
                </a:outerShdw>
              </a:effectLst>
            </a:endParaRPr>
          </a:p>
        </p:txBody>
      </p:sp>
      <p:sp>
        <p:nvSpPr>
          <p:cNvPr id="48133" name="矩形 2"/>
          <p:cNvSpPr>
            <a:spLocks noChangeArrowheads="1"/>
          </p:cNvSpPr>
          <p:nvPr/>
        </p:nvSpPr>
        <p:spPr bwMode="auto">
          <a:xfrm>
            <a:off x="684213" y="3946525"/>
            <a:ext cx="805497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just">
              <a:lnSpc>
                <a:spcPct val="120000"/>
              </a:lnSpc>
              <a:buFont typeface="Arial" panose="020B0604020202020204" pitchFamily="34" charset="0"/>
              <a:buChar char="•"/>
            </a:pPr>
            <a:r>
              <a:rPr lang="zh-CN" altLang="en-US" sz="2000" b="1">
                <a:solidFill>
                  <a:srgbClr val="0000CC"/>
                </a:solidFill>
                <a:ea typeface="楷体" panose="02010609060101010101" pitchFamily="49" charset="-122"/>
                <a:cs typeface="Times New Roman" panose="02020603050405020304" pitchFamily="18" charset="0"/>
                <a:sym typeface="Symbol" panose="05050102010706020507" pitchFamily="18" charset="2"/>
              </a:rPr>
              <a:t>  </a:t>
            </a:r>
            <a:r>
              <a:rPr lang="zh-CN" altLang="en-US" sz="2000" b="1">
                <a:solidFill>
                  <a:srgbClr val="0000CC"/>
                </a:solidFill>
                <a:ea typeface="楷体" panose="02010609060101010101" pitchFamily="49" charset="-122"/>
                <a:cs typeface="Times New Roman" panose="02020603050405020304" pitchFamily="18" charset="0"/>
              </a:rPr>
              <a:t>聚合大部分在单体液滴内进行。聚合机理与本体、悬浮聚合相同，</a:t>
            </a:r>
          </a:p>
          <a:p>
            <a:pPr algn="just">
              <a:lnSpc>
                <a:spcPct val="120000"/>
              </a:lnSpc>
            </a:pPr>
            <a:r>
              <a:rPr lang="zh-CN" altLang="en-US" sz="2000" b="1">
                <a:solidFill>
                  <a:srgbClr val="0000CC"/>
                </a:solidFill>
                <a:ea typeface="楷体" panose="02010609060101010101" pitchFamily="49" charset="-122"/>
                <a:cs typeface="Times New Roman" panose="02020603050405020304" pitchFamily="18" charset="0"/>
              </a:rPr>
              <a:t>   形成的聚合物粒子与原始液滴大小基本相同</a:t>
            </a:r>
            <a:r>
              <a:rPr lang="en-US" altLang="zh-CN" sz="2000" b="1">
                <a:solidFill>
                  <a:srgbClr val="0000CC"/>
                </a:solidFill>
                <a:ea typeface="楷体" panose="02010609060101010101" pitchFamily="49" charset="-122"/>
                <a:cs typeface="Times New Roman" panose="02020603050405020304" pitchFamily="18" charset="0"/>
              </a:rPr>
              <a:t>(</a:t>
            </a:r>
            <a:r>
              <a:rPr lang="zh-CN" altLang="en-US" sz="2000" b="1">
                <a:solidFill>
                  <a:srgbClr val="0000CC"/>
                </a:solidFill>
                <a:ea typeface="楷体" panose="02010609060101010101" pitchFamily="49" charset="-122"/>
                <a:cs typeface="Times New Roman" panose="02020603050405020304" pitchFamily="18" charset="0"/>
              </a:rPr>
              <a:t>0.</a:t>
            </a:r>
            <a:r>
              <a:rPr lang="en-US" altLang="zh-CN" sz="2000" b="1">
                <a:solidFill>
                  <a:srgbClr val="0000CC"/>
                </a:solidFill>
                <a:ea typeface="楷体" panose="02010609060101010101" pitchFamily="49" charset="-122"/>
                <a:cs typeface="Times New Roman" panose="02020603050405020304" pitchFamily="18" charset="0"/>
              </a:rPr>
              <a:t>2</a:t>
            </a:r>
            <a:r>
              <a:rPr lang="zh-CN" altLang="en-US" sz="2000" b="1">
                <a:solidFill>
                  <a:srgbClr val="0000CC"/>
                </a:solidFill>
                <a:ea typeface="楷体" panose="02010609060101010101" pitchFamily="49" charset="-122"/>
                <a:cs typeface="Times New Roman" panose="02020603050405020304" pitchFamily="18" charset="0"/>
              </a:rPr>
              <a:t>～</a:t>
            </a:r>
            <a:r>
              <a:rPr lang="en-US" altLang="zh-CN" sz="2000" b="1">
                <a:solidFill>
                  <a:srgbClr val="0000CC"/>
                </a:solidFill>
                <a:ea typeface="楷体" panose="02010609060101010101" pitchFamily="49" charset="-122"/>
                <a:cs typeface="Times New Roman" panose="02020603050405020304" pitchFamily="18" charset="0"/>
              </a:rPr>
              <a:t>1.5</a:t>
            </a:r>
            <a:r>
              <a:rPr lang="zh-CN" altLang="en-US" sz="2000" b="1">
                <a:solidFill>
                  <a:srgbClr val="0000CC"/>
                </a:solidFill>
                <a:ea typeface="楷体" panose="02010609060101010101" pitchFamily="49" charset="-122"/>
                <a:cs typeface="Times New Roman" panose="02020603050405020304" pitchFamily="18" charset="0"/>
              </a:rPr>
              <a:t> </a:t>
            </a:r>
            <a:r>
              <a:rPr lang="zh-CN" altLang="en-US" sz="2000" b="1">
                <a:solidFill>
                  <a:srgbClr val="0000CC"/>
                </a:solidFill>
                <a:ea typeface="楷体" panose="02010609060101010101" pitchFamily="49" charset="-122"/>
                <a:cs typeface="Times New Roman" panose="02020603050405020304" pitchFamily="18" charset="0"/>
                <a:sym typeface="Symbol" panose="05050102010706020507" pitchFamily="18" charset="2"/>
              </a:rPr>
              <a:t></a:t>
            </a:r>
            <a:r>
              <a:rPr lang="en-US" altLang="zh-CN" sz="2000" b="1">
                <a:solidFill>
                  <a:srgbClr val="0000CC"/>
                </a:solidFill>
                <a:ea typeface="楷体" panose="02010609060101010101" pitchFamily="49" charset="-122"/>
                <a:cs typeface="Times New Roman" panose="02020603050405020304" pitchFamily="18" charset="0"/>
                <a:sym typeface="Symbol" panose="05050102010706020507" pitchFamily="18" charset="2"/>
              </a:rPr>
              <a:t>m</a:t>
            </a:r>
            <a:r>
              <a:rPr lang="en-US" altLang="zh-CN" sz="2000" b="1">
                <a:solidFill>
                  <a:srgbClr val="0000CC"/>
                </a:solidFill>
                <a:ea typeface="楷体" panose="02010609060101010101" pitchFamily="49" charset="-122"/>
                <a:cs typeface="Times New Roman" panose="02020603050405020304" pitchFamily="18" charset="0"/>
              </a:rPr>
              <a:t>)</a:t>
            </a:r>
            <a:r>
              <a:rPr lang="zh-CN" altLang="en-US" sz="2000" b="1">
                <a:solidFill>
                  <a:srgbClr val="0000CC"/>
                </a:solidFill>
                <a:ea typeface="楷体" panose="02010609060101010101" pitchFamily="49" charset="-122"/>
                <a:cs typeface="Times New Roman" panose="02020603050405020304" pitchFamily="18" charset="0"/>
              </a:rPr>
              <a:t>，特殊复合</a:t>
            </a:r>
            <a:endParaRPr lang="en-US" altLang="zh-CN" sz="2000" b="1">
              <a:solidFill>
                <a:srgbClr val="0000CC"/>
              </a:solidFill>
              <a:ea typeface="楷体" panose="02010609060101010101" pitchFamily="49" charset="-122"/>
              <a:cs typeface="Times New Roman" panose="02020603050405020304" pitchFamily="18" charset="0"/>
            </a:endParaRPr>
          </a:p>
          <a:p>
            <a:pPr algn="just">
              <a:lnSpc>
                <a:spcPct val="120000"/>
              </a:lnSpc>
            </a:pPr>
            <a:r>
              <a:rPr lang="en-US" altLang="zh-CN" sz="2000" b="1">
                <a:solidFill>
                  <a:srgbClr val="0000CC"/>
                </a:solidFill>
                <a:ea typeface="楷体" panose="02010609060101010101" pitchFamily="49" charset="-122"/>
                <a:cs typeface="Times New Roman" panose="02020603050405020304" pitchFamily="18" charset="0"/>
              </a:rPr>
              <a:t>   </a:t>
            </a:r>
            <a:r>
              <a:rPr lang="zh-CN" altLang="en-US" sz="2000" b="1">
                <a:solidFill>
                  <a:srgbClr val="0000CC"/>
                </a:solidFill>
                <a:ea typeface="楷体" panose="02010609060101010101" pitchFamily="49" charset="-122"/>
                <a:cs typeface="Times New Roman" panose="02020603050405020304" pitchFamily="18" charset="0"/>
              </a:rPr>
              <a:t>乳化剂体系。</a:t>
            </a:r>
          </a:p>
          <a:p>
            <a:pPr algn="just">
              <a:lnSpc>
                <a:spcPct val="120000"/>
              </a:lnSpc>
            </a:pPr>
            <a:endParaRPr lang="zh-CN" altLang="en-US" sz="2000" b="1">
              <a:solidFill>
                <a:srgbClr val="0000CC"/>
              </a:solidFill>
              <a:ea typeface="楷体" panose="02010609060101010101" pitchFamily="49" charset="-122"/>
              <a:cs typeface="Times New Roman" panose="02020603050405020304" pitchFamily="18" charset="0"/>
            </a:endParaRPr>
          </a:p>
          <a:p>
            <a:pPr algn="just">
              <a:lnSpc>
                <a:spcPct val="120000"/>
              </a:lnSpc>
              <a:buFont typeface="Arial" panose="020B0604020202020204" pitchFamily="34" charset="0"/>
              <a:buChar char="•"/>
            </a:pPr>
            <a:r>
              <a:rPr lang="zh-CN" altLang="en-US" sz="2000" b="1">
                <a:solidFill>
                  <a:srgbClr val="0000CC"/>
                </a:solidFill>
                <a:ea typeface="楷体" panose="02010609060101010101" pitchFamily="49" charset="-122"/>
                <a:cs typeface="Times New Roman" panose="02020603050405020304" pitchFamily="18" charset="0"/>
                <a:sym typeface="Symbol" panose="05050102010706020507" pitchFamily="18" charset="2"/>
              </a:rPr>
              <a:t>  </a:t>
            </a:r>
            <a:r>
              <a:rPr lang="zh-CN" altLang="en-US" sz="2000" b="1">
                <a:solidFill>
                  <a:srgbClr val="0000CC"/>
                </a:solidFill>
                <a:ea typeface="楷体" panose="02010609060101010101" pitchFamily="49" charset="-122"/>
                <a:cs typeface="Times New Roman" panose="02020603050405020304" pitchFamily="18" charset="0"/>
              </a:rPr>
              <a:t>有一部分自由基在水相中引发聚合，还会形成相当数量</a:t>
            </a:r>
          </a:p>
          <a:p>
            <a:pPr algn="just">
              <a:lnSpc>
                <a:spcPct val="120000"/>
              </a:lnSpc>
            </a:pPr>
            <a:r>
              <a:rPr lang="zh-CN" altLang="en-US" sz="2000" b="1">
                <a:solidFill>
                  <a:srgbClr val="0000CC"/>
                </a:solidFill>
                <a:ea typeface="楷体" panose="02010609060101010101" pitchFamily="49" charset="-122"/>
                <a:cs typeface="Times New Roman" panose="02020603050405020304" pitchFamily="18" charset="0"/>
              </a:rPr>
              <a:t>   </a:t>
            </a:r>
            <a:r>
              <a:rPr lang="en-US" altLang="zh-CN" sz="2000" b="1">
                <a:solidFill>
                  <a:srgbClr val="0000CC"/>
                </a:solidFill>
                <a:ea typeface="楷体" panose="02010609060101010101" pitchFamily="49" charset="-122"/>
                <a:cs typeface="Times New Roman" panose="02020603050405020304" pitchFamily="18" charset="0"/>
              </a:rPr>
              <a:t>(</a:t>
            </a:r>
            <a:r>
              <a:rPr lang="zh-CN" altLang="en-US" sz="2000" b="1">
                <a:solidFill>
                  <a:srgbClr val="0000CC"/>
                </a:solidFill>
                <a:ea typeface="楷体" panose="02010609060101010101" pitchFamily="49" charset="-122"/>
                <a:cs typeface="Times New Roman" panose="02020603050405020304" pitchFamily="18" charset="0"/>
              </a:rPr>
              <a:t>～50%</a:t>
            </a:r>
            <a:r>
              <a:rPr lang="en-US" altLang="zh-CN" sz="2000" b="1">
                <a:solidFill>
                  <a:srgbClr val="0000CC"/>
                </a:solidFill>
                <a:ea typeface="楷体" panose="02010609060101010101" pitchFamily="49" charset="-122"/>
                <a:cs typeface="Times New Roman" panose="02020603050405020304" pitchFamily="18" charset="0"/>
              </a:rPr>
              <a:t>)</a:t>
            </a:r>
            <a:r>
              <a:rPr lang="zh-CN" altLang="en-US" sz="2000" b="1">
                <a:solidFill>
                  <a:srgbClr val="0000CC"/>
                </a:solidFill>
                <a:ea typeface="楷体" panose="02010609060101010101" pitchFamily="49" charset="-122"/>
                <a:cs typeface="Times New Roman" panose="02020603050405020304" pitchFamily="18" charset="0"/>
              </a:rPr>
              <a:t>粒径 &lt; 0.5</a:t>
            </a:r>
            <a:r>
              <a:rPr lang="zh-CN" altLang="en-US" sz="2000" b="1">
                <a:solidFill>
                  <a:srgbClr val="0000CC"/>
                </a:solidFill>
                <a:ea typeface="楷体" panose="02010609060101010101" pitchFamily="49" charset="-122"/>
                <a:cs typeface="Times New Roman" panose="02020603050405020304" pitchFamily="18" charset="0"/>
                <a:sym typeface="Symbol" panose="05050102010706020507" pitchFamily="18" charset="2"/>
              </a:rPr>
              <a:t></a:t>
            </a:r>
            <a:r>
              <a:rPr lang="en-US" altLang="zh-CN" sz="2000" b="1">
                <a:solidFill>
                  <a:srgbClr val="0000CC"/>
                </a:solidFill>
                <a:ea typeface="楷体" panose="02010609060101010101" pitchFamily="49" charset="-122"/>
                <a:cs typeface="Times New Roman" panose="02020603050405020304" pitchFamily="18" charset="0"/>
                <a:sym typeface="Symbol" panose="05050102010706020507" pitchFamily="18" charset="2"/>
              </a:rPr>
              <a:t>m</a:t>
            </a:r>
            <a:r>
              <a:rPr lang="zh-CN" altLang="en-US" sz="2000" b="1">
                <a:solidFill>
                  <a:srgbClr val="0000CC"/>
                </a:solidFill>
                <a:ea typeface="楷体" panose="02010609060101010101" pitchFamily="49" charset="-122"/>
                <a:cs typeface="Times New Roman" panose="02020603050405020304" pitchFamily="18" charset="0"/>
              </a:rPr>
              <a:t>的稳定聚合物胶乳 ，例</a:t>
            </a:r>
            <a:r>
              <a:rPr lang="en-US" altLang="zh-CN" sz="2000" b="1">
                <a:solidFill>
                  <a:srgbClr val="0000CC"/>
                </a:solidFill>
                <a:ea typeface="楷体" panose="02010609060101010101" pitchFamily="49" charset="-122"/>
                <a:cs typeface="Times New Roman" panose="02020603050405020304" pitchFamily="18" charset="0"/>
              </a:rPr>
              <a:t>:</a:t>
            </a:r>
            <a:r>
              <a:rPr lang="zh-CN" altLang="en-US" sz="2000" b="1">
                <a:solidFill>
                  <a:srgbClr val="0000CC"/>
                </a:solidFill>
                <a:ea typeface="楷体" panose="02010609060101010101" pitchFamily="49" charset="-122"/>
                <a:cs typeface="Times New Roman" panose="02020603050405020304" pitchFamily="18" charset="0"/>
              </a:rPr>
              <a:t> </a:t>
            </a:r>
            <a:r>
              <a:rPr lang="en-US" altLang="zh-CN" sz="2000" b="1">
                <a:solidFill>
                  <a:srgbClr val="0000CC"/>
                </a:solidFill>
                <a:ea typeface="楷体" panose="02010609060101010101" pitchFamily="49" charset="-122"/>
                <a:cs typeface="Times New Roman" panose="02020603050405020304" pitchFamily="18" charset="0"/>
              </a:rPr>
              <a:t>VAc</a:t>
            </a:r>
            <a:r>
              <a:rPr lang="zh-CN" altLang="en-US" sz="2000" b="1">
                <a:solidFill>
                  <a:srgbClr val="0000CC"/>
                </a:solidFill>
                <a:ea typeface="楷体" panose="02010609060101010101" pitchFamily="49" charset="-122"/>
                <a:cs typeface="Times New Roman" panose="02020603050405020304" pitchFamily="18" charset="0"/>
              </a:rPr>
              <a:t>乳液聚合</a:t>
            </a:r>
            <a:endParaRPr lang="en-US" altLang="zh-CN" sz="2000" b="1">
              <a:solidFill>
                <a:srgbClr val="0000CC"/>
              </a:solidFill>
              <a:ea typeface="楷体" panose="02010609060101010101" pitchFamily="49" charset="-122"/>
              <a:cs typeface="Times New Roman" panose="02020603050405020304" pitchFamily="18" charset="0"/>
            </a:endParaRPr>
          </a:p>
          <a:p>
            <a:pPr algn="just">
              <a:lnSpc>
                <a:spcPct val="120000"/>
              </a:lnSpc>
            </a:pPr>
            <a:r>
              <a:rPr lang="zh-CN" altLang="en-US" sz="2000" b="1">
                <a:solidFill>
                  <a:srgbClr val="0000CC"/>
                </a:solidFill>
                <a:ea typeface="楷体" panose="02010609060101010101" pitchFamily="49" charset="-122"/>
                <a:cs typeface="Times New Roman" panose="02020603050405020304" pitchFamily="18" charset="0"/>
              </a:rPr>
              <a:t>   </a:t>
            </a:r>
            <a:r>
              <a:rPr lang="en-US" altLang="zh-CN" sz="2000" b="1">
                <a:solidFill>
                  <a:srgbClr val="0000CC"/>
                </a:solidFill>
                <a:ea typeface="楷体" panose="02010609060101010101" pitchFamily="49" charset="-122"/>
                <a:cs typeface="Times New Roman" panose="02020603050405020304" pitchFamily="18" charset="0"/>
              </a:rPr>
              <a:t>(</a:t>
            </a:r>
            <a:r>
              <a:rPr lang="zh-CN" altLang="en-US" sz="2000" b="1">
                <a:solidFill>
                  <a:srgbClr val="0000CC"/>
                </a:solidFill>
                <a:ea typeface="楷体" panose="02010609060101010101" pitchFamily="49" charset="-122"/>
                <a:cs typeface="Times New Roman" panose="02020603050405020304" pitchFamily="18" charset="0"/>
              </a:rPr>
              <a:t>也称为细乳液聚合  </a:t>
            </a:r>
            <a:r>
              <a:rPr lang="en-US" altLang="zh-CN" sz="2000" b="1">
                <a:solidFill>
                  <a:srgbClr val="0000CC"/>
                </a:solidFill>
                <a:ea typeface="楷体" panose="02010609060101010101" pitchFamily="49" charset="-122"/>
                <a:cs typeface="Times New Roman" panose="02020603050405020304" pitchFamily="18" charset="0"/>
              </a:rPr>
              <a:t>miniemulsion polymerization)</a:t>
            </a:r>
            <a:endParaRPr lang="zh-CN" altLang="en-US" sz="2000" b="1">
              <a:solidFill>
                <a:srgbClr val="0000CC"/>
              </a:solidFill>
              <a:ea typeface="楷体" panose="02010609060101010101" pitchFamily="49" charset="-122"/>
              <a:cs typeface="Times New Roman" panose="02020603050405020304" pitchFamily="18" charset="0"/>
            </a:endParaRPr>
          </a:p>
        </p:txBody>
      </p:sp>
      <p:sp>
        <p:nvSpPr>
          <p:cNvPr id="48134" name="矩形 3"/>
          <p:cNvSpPr>
            <a:spLocks noChangeArrowheads="1"/>
          </p:cNvSpPr>
          <p:nvPr/>
        </p:nvSpPr>
        <p:spPr bwMode="auto">
          <a:xfrm>
            <a:off x="684213" y="2738438"/>
            <a:ext cx="69834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just"/>
            <a:r>
              <a:rPr lang="zh-CN" altLang="en-US" sz="2000" b="1">
                <a:solidFill>
                  <a:srgbClr val="0000CC"/>
                </a:solidFill>
                <a:ea typeface="楷体" panose="02010609060101010101" pitchFamily="49" charset="-122"/>
                <a:cs typeface="Times New Roman" panose="02020603050405020304" pitchFamily="18" charset="0"/>
              </a:rPr>
              <a:t>使用非水溶性引发剂</a:t>
            </a:r>
            <a:r>
              <a:rPr lang="en-US" altLang="zh-CN" sz="2000" b="1">
                <a:solidFill>
                  <a:srgbClr val="0000CC"/>
                </a:solidFill>
                <a:ea typeface="楷体" panose="02010609060101010101" pitchFamily="49" charset="-122"/>
                <a:cs typeface="Times New Roman" panose="02020603050405020304" pitchFamily="18" charset="0"/>
              </a:rPr>
              <a:t>(AIBN，BPO，OHP)</a:t>
            </a:r>
            <a:r>
              <a:rPr lang="zh-CN" altLang="en-US" sz="2000" b="1">
                <a:solidFill>
                  <a:srgbClr val="0000CC"/>
                </a:solidFill>
                <a:ea typeface="楷体" panose="02010609060101010101" pitchFamily="49" charset="-122"/>
                <a:cs typeface="Times New Roman" panose="02020603050405020304" pitchFamily="18" charset="0"/>
              </a:rPr>
              <a:t>的乳液聚合</a:t>
            </a:r>
          </a:p>
        </p:txBody>
      </p:sp>
      <p:sp>
        <p:nvSpPr>
          <p:cNvPr id="3" name="矩形 2">
            <a:extLst>
              <a:ext uri="{FF2B5EF4-FFF2-40B4-BE49-F238E27FC236}">
                <a16:creationId xmlns:a16="http://schemas.microsoft.com/office/drawing/2014/main" id="{2700FF1F-D5D9-44BC-A173-5192A95BD3EF}"/>
              </a:ext>
            </a:extLst>
          </p:cNvPr>
          <p:cNvSpPr/>
          <p:nvPr/>
        </p:nvSpPr>
        <p:spPr>
          <a:xfrm>
            <a:off x="611188" y="2492375"/>
            <a:ext cx="8208962" cy="4249738"/>
          </a:xfrm>
          <a:prstGeom prst="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bwMode="auto">
          <a:xfrm>
            <a:off x="8129588" y="6076950"/>
            <a:ext cx="609600" cy="520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FF5CCF04-D605-4CAC-A0BE-0D6A688A7A2E}" type="slidenum">
              <a:rPr lang="zh-CN" altLang="en-US" sz="1400" smtClean="0">
                <a:solidFill>
                  <a:srgbClr val="FFFFFF"/>
                </a:solidFill>
                <a:latin typeface="Times New Roman" panose="02020603050405020304" pitchFamily="18" charset="0"/>
              </a:rPr>
              <a:pPr>
                <a:spcBef>
                  <a:spcPct val="50000"/>
                </a:spcBef>
                <a:buClrTx/>
                <a:buSzTx/>
                <a:buFontTx/>
                <a:buNone/>
              </a:pPr>
              <a:t>32</a:t>
            </a:fld>
            <a:endParaRPr lang="en-US" altLang="zh-CN" sz="1400">
              <a:solidFill>
                <a:srgbClr val="FFFFFF"/>
              </a:solidFill>
              <a:latin typeface="Times New Roman" panose="02020603050405020304" pitchFamily="18" charset="0"/>
            </a:endParaRPr>
          </a:p>
        </p:txBody>
      </p:sp>
      <p:sp>
        <p:nvSpPr>
          <p:cNvPr id="49155" name="Text Box 2052"/>
          <p:cNvSpPr txBox="1">
            <a:spLocks noChangeArrowheads="1"/>
          </p:cNvSpPr>
          <p:nvPr/>
        </p:nvSpPr>
        <p:spPr bwMode="auto">
          <a:xfrm>
            <a:off x="2714625" y="1700213"/>
            <a:ext cx="32766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b="1">
                <a:latin typeface="楷体" panose="02010609060101010101" pitchFamily="49" charset="-122"/>
                <a:ea typeface="楷体" panose="02010609060101010101" pitchFamily="49" charset="-122"/>
              </a:rPr>
              <a:t>加入非水溶性单体苯乙烯</a:t>
            </a:r>
            <a:endParaRPr lang="zh-CN" altLang="en-US" b="1">
              <a:latin typeface="楷体" panose="02010609060101010101" pitchFamily="49" charset="-122"/>
              <a:ea typeface="楷体" panose="02010609060101010101" pitchFamily="49" charset="-122"/>
            </a:endParaRPr>
          </a:p>
        </p:txBody>
      </p:sp>
      <p:sp>
        <p:nvSpPr>
          <p:cNvPr id="49156" name="Line 2053"/>
          <p:cNvSpPr>
            <a:spLocks noChangeShapeType="1"/>
          </p:cNvSpPr>
          <p:nvPr/>
        </p:nvSpPr>
        <p:spPr bwMode="auto">
          <a:xfrm>
            <a:off x="4429125" y="2128838"/>
            <a:ext cx="0" cy="685800"/>
          </a:xfrm>
          <a:prstGeom prst="line">
            <a:avLst/>
          </a:prstGeom>
          <a:noFill/>
          <a:ln w="444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57" name="Text Box 2054"/>
          <p:cNvSpPr txBox="1">
            <a:spLocks noChangeArrowheads="1"/>
          </p:cNvSpPr>
          <p:nvPr/>
        </p:nvSpPr>
        <p:spPr bwMode="auto">
          <a:xfrm>
            <a:off x="4152900" y="3186113"/>
            <a:ext cx="838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b="1">
                <a:latin typeface="楷体" panose="02010609060101010101" pitchFamily="49" charset="-122"/>
                <a:ea typeface="楷体" panose="02010609060101010101" pitchFamily="49" charset="-122"/>
              </a:rPr>
              <a:t>搅拌</a:t>
            </a:r>
            <a:endParaRPr lang="zh-CN" altLang="en-US" b="1">
              <a:latin typeface="楷体" panose="02010609060101010101" pitchFamily="49" charset="-122"/>
              <a:ea typeface="楷体" panose="02010609060101010101" pitchFamily="49" charset="-122"/>
            </a:endParaRPr>
          </a:p>
        </p:txBody>
      </p:sp>
      <p:sp>
        <p:nvSpPr>
          <p:cNvPr id="49158" name="Line 2055"/>
          <p:cNvSpPr>
            <a:spLocks noChangeShapeType="1"/>
          </p:cNvSpPr>
          <p:nvPr/>
        </p:nvSpPr>
        <p:spPr bwMode="auto">
          <a:xfrm flipH="1">
            <a:off x="2852738" y="2914650"/>
            <a:ext cx="1433512" cy="757238"/>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59" name="Text Box 2056"/>
          <p:cNvSpPr txBox="1">
            <a:spLocks noChangeArrowheads="1"/>
          </p:cNvSpPr>
          <p:nvPr/>
        </p:nvSpPr>
        <p:spPr bwMode="auto">
          <a:xfrm>
            <a:off x="1166813" y="3414713"/>
            <a:ext cx="1619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b="1">
                <a:latin typeface="楷体" panose="02010609060101010101" pitchFamily="49" charset="-122"/>
                <a:ea typeface="楷体" panose="02010609060101010101" pitchFamily="49" charset="-122"/>
              </a:rPr>
              <a:t>单体液滴</a:t>
            </a:r>
          </a:p>
        </p:txBody>
      </p:sp>
      <p:sp>
        <p:nvSpPr>
          <p:cNvPr id="49160" name="Line 2057"/>
          <p:cNvSpPr>
            <a:spLocks noChangeShapeType="1"/>
          </p:cNvSpPr>
          <p:nvPr/>
        </p:nvSpPr>
        <p:spPr bwMode="auto">
          <a:xfrm>
            <a:off x="4643438" y="2914650"/>
            <a:ext cx="1928812" cy="684213"/>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1" name="Text Box 2058"/>
          <p:cNvSpPr txBox="1">
            <a:spLocks noChangeArrowheads="1"/>
          </p:cNvSpPr>
          <p:nvPr/>
        </p:nvSpPr>
        <p:spPr bwMode="auto">
          <a:xfrm>
            <a:off x="5357813" y="2628900"/>
            <a:ext cx="2971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b="1">
                <a:solidFill>
                  <a:srgbClr val="FF0000"/>
                </a:solidFill>
                <a:latin typeface="楷体" panose="02010609060101010101" pitchFamily="49" charset="-122"/>
                <a:ea typeface="楷体" panose="02010609060101010101" pitchFamily="49" charset="-122"/>
              </a:rPr>
              <a:t>小部分单体进入胶束</a:t>
            </a:r>
          </a:p>
        </p:txBody>
      </p:sp>
      <p:sp>
        <p:nvSpPr>
          <p:cNvPr id="49162" name="Text Box 2060"/>
          <p:cNvSpPr txBox="1">
            <a:spLocks noChangeArrowheads="1"/>
          </p:cNvSpPr>
          <p:nvPr/>
        </p:nvSpPr>
        <p:spPr bwMode="auto">
          <a:xfrm>
            <a:off x="3635896" y="5380038"/>
            <a:ext cx="5184775"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b="1" dirty="0">
                <a:solidFill>
                  <a:srgbClr val="FF0000"/>
                </a:solidFill>
                <a:latin typeface="楷体" panose="02010609060101010101" pitchFamily="49" charset="-122"/>
                <a:ea typeface="楷体" panose="02010609060101010101" pitchFamily="49" charset="-122"/>
              </a:rPr>
              <a:t>增溶作用：</a:t>
            </a:r>
            <a:endParaRPr lang="en-US" altLang="zh-CN" sz="2100" b="1" dirty="0">
              <a:solidFill>
                <a:srgbClr val="FF0000"/>
              </a:solidFill>
              <a:latin typeface="楷体" panose="02010609060101010101" pitchFamily="49" charset="-122"/>
              <a:ea typeface="楷体" panose="02010609060101010101" pitchFamily="49" charset="-122"/>
            </a:endParaRPr>
          </a:p>
          <a:p>
            <a:pPr eaLnBrk="1" hangingPunct="1">
              <a:spcBef>
                <a:spcPct val="50000"/>
              </a:spcBef>
              <a:buClrTx/>
              <a:buSzTx/>
              <a:buFontTx/>
              <a:buNone/>
            </a:pPr>
            <a:r>
              <a:rPr lang="zh-CN" altLang="en-US" sz="2100" b="1" dirty="0">
                <a:latin typeface="楷体" panose="02010609060101010101" pitchFamily="49" charset="-122"/>
                <a:ea typeface="楷体" panose="02010609060101010101" pitchFamily="49" charset="-122"/>
              </a:rPr>
              <a:t>胶束的存在增大了单体在水中的溶解度</a:t>
            </a:r>
            <a:endParaRPr lang="zh-CN" altLang="en-US" b="1" dirty="0">
              <a:latin typeface="楷体" panose="02010609060101010101" pitchFamily="49" charset="-122"/>
              <a:ea typeface="楷体" panose="02010609060101010101" pitchFamily="49" charset="-122"/>
            </a:endParaRPr>
          </a:p>
        </p:txBody>
      </p:sp>
      <p:sp>
        <p:nvSpPr>
          <p:cNvPr id="49163" name="Text Box 2062"/>
          <p:cNvSpPr txBox="1">
            <a:spLocks noChangeArrowheads="1"/>
          </p:cNvSpPr>
          <p:nvPr/>
        </p:nvSpPr>
        <p:spPr bwMode="auto">
          <a:xfrm>
            <a:off x="6518275" y="5072063"/>
            <a:ext cx="2143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en-US" altLang="zh-CN" sz="1800" b="1">
                <a:latin typeface="Times New Roman" panose="02020603050405020304" pitchFamily="18" charset="0"/>
                <a:ea typeface="楷体" panose="02010609060101010101" pitchFamily="49" charset="-122"/>
                <a:cs typeface="Times New Roman" panose="02020603050405020304" pitchFamily="18" charset="0"/>
              </a:rPr>
              <a:t>(</a:t>
            </a:r>
            <a:r>
              <a:rPr lang="zh-CN" altLang="en-US" sz="1800" b="1">
                <a:latin typeface="Times New Roman" panose="02020603050405020304" pitchFamily="18" charset="0"/>
                <a:ea typeface="楷体" panose="02010609060101010101" pitchFamily="49" charset="-122"/>
                <a:cs typeface="Times New Roman" panose="02020603050405020304" pitchFamily="18" charset="0"/>
              </a:rPr>
              <a:t>直径6～10 </a:t>
            </a:r>
            <a:r>
              <a:rPr lang="en-US" altLang="zh-CN" sz="18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49164" name="TextBox 15"/>
          <p:cNvSpPr txBox="1">
            <a:spLocks noChangeArrowheads="1"/>
          </p:cNvSpPr>
          <p:nvPr/>
        </p:nvSpPr>
        <p:spPr bwMode="auto">
          <a:xfrm>
            <a:off x="2852738" y="1217613"/>
            <a:ext cx="3155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zh-CN" altLang="en-US" b="1">
                <a:solidFill>
                  <a:srgbClr val="FF0000"/>
                </a:solidFill>
                <a:latin typeface="楷体" panose="02010609060101010101" pitchFamily="49" charset="-122"/>
                <a:ea typeface="楷体" panose="02010609060101010101" pitchFamily="49" charset="-122"/>
              </a:rPr>
              <a:t>水 </a:t>
            </a:r>
            <a:r>
              <a:rPr lang="en-US" altLang="zh-CN" b="1">
                <a:solidFill>
                  <a:srgbClr val="FF0000"/>
                </a:solidFill>
                <a:latin typeface="楷体" panose="02010609060101010101" pitchFamily="49" charset="-122"/>
                <a:ea typeface="楷体" panose="02010609060101010101" pitchFamily="49" charset="-122"/>
              </a:rPr>
              <a:t>+ </a:t>
            </a:r>
            <a:r>
              <a:rPr lang="zh-CN" altLang="en-US" b="1">
                <a:solidFill>
                  <a:srgbClr val="FF0000"/>
                </a:solidFill>
                <a:latin typeface="楷体" panose="02010609060101010101" pitchFamily="49" charset="-122"/>
                <a:ea typeface="楷体" panose="02010609060101010101" pitchFamily="49" charset="-122"/>
              </a:rPr>
              <a:t>乳化剂 </a:t>
            </a:r>
            <a:r>
              <a:rPr lang="en-US" altLang="zh-CN" b="1">
                <a:solidFill>
                  <a:srgbClr val="FF0000"/>
                </a:solidFill>
                <a:latin typeface="楷体" panose="02010609060101010101" pitchFamily="49" charset="-122"/>
                <a:ea typeface="楷体" panose="02010609060101010101" pitchFamily="49" charset="-122"/>
              </a:rPr>
              <a:t>+ </a:t>
            </a:r>
            <a:r>
              <a:rPr lang="zh-CN" altLang="en-US" b="1">
                <a:solidFill>
                  <a:srgbClr val="FF0000"/>
                </a:solidFill>
                <a:latin typeface="楷体" panose="02010609060101010101" pitchFamily="49" charset="-122"/>
                <a:ea typeface="楷体" panose="02010609060101010101" pitchFamily="49" charset="-122"/>
              </a:rPr>
              <a:t>胶束</a:t>
            </a:r>
          </a:p>
        </p:txBody>
      </p:sp>
      <p:sp>
        <p:nvSpPr>
          <p:cNvPr id="49165" name="TextBox 16"/>
          <p:cNvSpPr txBox="1">
            <a:spLocks noChangeArrowheads="1"/>
          </p:cNvSpPr>
          <p:nvPr/>
        </p:nvSpPr>
        <p:spPr bwMode="auto">
          <a:xfrm>
            <a:off x="6715125" y="3343275"/>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zh-CN" altLang="en-US" b="1">
                <a:latin typeface="楷体" panose="02010609060101010101" pitchFamily="49" charset="-122"/>
                <a:ea typeface="楷体" panose="02010609060101010101" pitchFamily="49" charset="-122"/>
              </a:rPr>
              <a:t>增溶胶束</a:t>
            </a:r>
            <a:endParaRPr lang="zh-CN" altLang="en-US" sz="2200">
              <a:latin typeface="楷体" panose="02010609060101010101" pitchFamily="49" charset="-122"/>
              <a:ea typeface="楷体" panose="02010609060101010101" pitchFamily="49" charset="-122"/>
            </a:endParaRPr>
          </a:p>
        </p:txBody>
      </p:sp>
      <p:pic>
        <p:nvPicPr>
          <p:cNvPr id="49166" name="图片 17" descr="micelle-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2200" y="3946525"/>
            <a:ext cx="1693863"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7" name="图片 18" descr="micelle-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15125" y="3771900"/>
            <a:ext cx="1290638"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8" name="Text Box 2058"/>
          <p:cNvSpPr txBox="1">
            <a:spLocks noChangeArrowheads="1"/>
          </p:cNvSpPr>
          <p:nvPr/>
        </p:nvSpPr>
        <p:spPr bwMode="auto">
          <a:xfrm>
            <a:off x="428625" y="2700338"/>
            <a:ext cx="2971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100" b="1">
                <a:solidFill>
                  <a:srgbClr val="FF0000"/>
                </a:solidFill>
                <a:latin typeface="楷体" panose="02010609060101010101" pitchFamily="49" charset="-122"/>
                <a:ea typeface="楷体" panose="02010609060101010101" pitchFamily="49" charset="-122"/>
              </a:rPr>
              <a:t>大部分单体分散成液滴</a:t>
            </a:r>
          </a:p>
        </p:txBody>
      </p:sp>
      <p:cxnSp>
        <p:nvCxnSpPr>
          <p:cNvPr id="22" name="直接连接符 21">
            <a:extLst>
              <a:ext uri="{FF2B5EF4-FFF2-40B4-BE49-F238E27FC236}">
                <a16:creationId xmlns:a16="http://schemas.microsoft.com/office/drawing/2014/main" id="{DBF31C43-401E-4A03-A73C-DBF937E7191F}"/>
              </a:ext>
            </a:extLst>
          </p:cNvPr>
          <p:cNvCxnSpPr/>
          <p:nvPr/>
        </p:nvCxnSpPr>
        <p:spPr>
          <a:xfrm rot="10800000" flipV="1">
            <a:off x="5732463" y="4384675"/>
            <a:ext cx="1571625" cy="42862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9170" name="TextBox 22"/>
          <p:cNvSpPr txBox="1">
            <a:spLocks noChangeArrowheads="1"/>
          </p:cNvSpPr>
          <p:nvPr/>
        </p:nvSpPr>
        <p:spPr bwMode="auto">
          <a:xfrm>
            <a:off x="5275263" y="45751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en-US" altLang="zh-CN" sz="2800" b="1">
                <a:latin typeface="Times New Roman" panose="02020603050405020304" pitchFamily="18" charset="0"/>
                <a:cs typeface="Times New Roman" panose="02020603050405020304" pitchFamily="18" charset="0"/>
              </a:rPr>
              <a:t>St</a:t>
            </a:r>
            <a:endParaRPr lang="zh-CN" altLang="en-US" sz="2800" b="1">
              <a:latin typeface="Times New Roman" panose="02020603050405020304" pitchFamily="18" charset="0"/>
              <a:cs typeface="Times New Roman" panose="02020603050405020304" pitchFamily="18" charset="0"/>
            </a:endParaRPr>
          </a:p>
        </p:txBody>
      </p:sp>
      <p:sp>
        <p:nvSpPr>
          <p:cNvPr id="49171" name="Text Box 2062"/>
          <p:cNvSpPr txBox="1">
            <a:spLocks noChangeArrowheads="1"/>
          </p:cNvSpPr>
          <p:nvPr/>
        </p:nvSpPr>
        <p:spPr bwMode="auto">
          <a:xfrm>
            <a:off x="1068388" y="5627688"/>
            <a:ext cx="2143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en-US" altLang="zh-CN" sz="1800" b="1">
                <a:latin typeface="Times New Roman" panose="02020603050405020304" pitchFamily="18" charset="0"/>
                <a:ea typeface="楷体" panose="02010609060101010101" pitchFamily="49" charset="-122"/>
                <a:cs typeface="Times New Roman" panose="02020603050405020304" pitchFamily="18" charset="0"/>
              </a:rPr>
              <a:t>(</a:t>
            </a:r>
            <a:r>
              <a:rPr lang="zh-CN" altLang="en-US" sz="1800" b="1">
                <a:latin typeface="Times New Roman" panose="02020603050405020304" pitchFamily="18" charset="0"/>
                <a:ea typeface="楷体" panose="02010609060101010101" pitchFamily="49" charset="-122"/>
                <a:cs typeface="Times New Roman" panose="02020603050405020304" pitchFamily="18" charset="0"/>
              </a:rPr>
              <a:t>直径 10</a:t>
            </a:r>
            <a:r>
              <a:rPr lang="en-US" altLang="zh-CN" sz="1800" b="1">
                <a:latin typeface="Times New Roman" panose="02020603050405020304" pitchFamily="18" charset="0"/>
                <a:ea typeface="楷体" panose="02010609060101010101" pitchFamily="49" charset="-122"/>
                <a:cs typeface="Times New Roman" panose="02020603050405020304" pitchFamily="18" charset="0"/>
              </a:rPr>
              <a:t>00</a:t>
            </a:r>
            <a:r>
              <a:rPr lang="zh-CN" altLang="en-US" sz="18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18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2" name="矩形 1">
            <a:extLst>
              <a:ext uri="{FF2B5EF4-FFF2-40B4-BE49-F238E27FC236}">
                <a16:creationId xmlns:a16="http://schemas.microsoft.com/office/drawing/2014/main" id="{DB9371B8-C48A-443F-83F3-F5D280C3B978}"/>
              </a:ext>
            </a:extLst>
          </p:cNvPr>
          <p:cNvSpPr/>
          <p:nvPr/>
        </p:nvSpPr>
        <p:spPr>
          <a:xfrm>
            <a:off x="1746250" y="4797425"/>
            <a:ext cx="481013" cy="17621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9173" name="矩形 2"/>
          <p:cNvSpPr>
            <a:spLocks noChangeArrowheads="1"/>
          </p:cNvSpPr>
          <p:nvPr/>
        </p:nvSpPr>
        <p:spPr bwMode="auto">
          <a:xfrm>
            <a:off x="179512" y="546100"/>
            <a:ext cx="75612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just">
              <a:lnSpc>
                <a:spcPct val="150000"/>
              </a:lnSpc>
            </a:pPr>
            <a:r>
              <a:rPr lang="zh-CN" altLang="en-US" b="1">
                <a:ea typeface="楷体" panose="02010609060101010101" pitchFamily="49" charset="-122"/>
                <a:cs typeface="Times New Roman" panose="02020603050405020304" pitchFamily="18" charset="0"/>
              </a:rPr>
              <a:t>典型乳液聚合的机理</a:t>
            </a:r>
            <a:r>
              <a:rPr lang="en-US" altLang="zh-CN" b="1" dirty="0">
                <a:ea typeface="楷体" panose="02010609060101010101" pitchFamily="49" charset="-122"/>
                <a:cs typeface="Times New Roman" panose="02020603050405020304" pitchFamily="18" charset="0"/>
              </a:rPr>
              <a:t>:  </a:t>
            </a:r>
            <a:r>
              <a:rPr lang="zh-CN" altLang="en-US" b="1" dirty="0">
                <a:solidFill>
                  <a:srgbClr val="FF0000"/>
                </a:solidFill>
                <a:ea typeface="楷体" panose="02010609060101010101" pitchFamily="49" charset="-122"/>
                <a:cs typeface="Times New Roman" panose="02020603050405020304" pitchFamily="18" charset="0"/>
              </a:rPr>
              <a:t>乳液聚合在胶束中进行</a:t>
            </a:r>
            <a:r>
              <a:rPr lang="zh-CN" altLang="en-US" dirty="0">
                <a:solidFill>
                  <a:srgbClr val="FF0000"/>
                </a:solidFill>
                <a:ea typeface="楷体" panose="02010609060101010101" pitchFamily="49" charset="-122"/>
                <a:cs typeface="Times New Roman" panose="02020603050405020304" pitchFamily="18" charset="0"/>
              </a:rPr>
              <a:t> </a:t>
            </a:r>
            <a:endParaRPr lang="zh-CN" altLang="en-US" b="1" dirty="0">
              <a:solidFill>
                <a:srgbClr val="FF0000"/>
              </a:solidFill>
              <a:ea typeface="楷体" panose="02010609060101010101" pitchFamily="49" charset="-122"/>
              <a:cs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1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1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1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1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6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17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91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1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1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17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1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167"/>
                                        </p:tgtEl>
                                        <p:attrNameLst>
                                          <p:attrName>style.visibility</p:attrName>
                                        </p:attrNameLst>
                                      </p:cBhvr>
                                      <p:to>
                                        <p:strVal val="visible"/>
                                      </p:to>
                                    </p:set>
                                  </p:childTnLst>
                                </p:cTn>
                              </p:par>
                            </p:childTnLst>
                          </p:cTn>
                        </p:par>
                        <p:par>
                          <p:cTn id="33" fill="hold" nodeType="afterGroup">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49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9" grpId="0"/>
      <p:bldP spid="49161" grpId="0"/>
      <p:bldP spid="49162" grpId="0"/>
      <p:bldP spid="49163" grpId="0"/>
      <p:bldP spid="49165" grpId="0"/>
      <p:bldP spid="49168" grpId="0"/>
      <p:bldP spid="49170" grpId="0"/>
      <p:bldP spid="49171"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6165B432-CC64-448E-BD8D-96062CA05826}" type="slidenum">
              <a:rPr lang="zh-CN" altLang="en-US" sz="1400" smtClean="0">
                <a:solidFill>
                  <a:srgbClr val="FFFFFF"/>
                </a:solidFill>
                <a:latin typeface="Times New Roman" panose="02020603050405020304" pitchFamily="18" charset="0"/>
              </a:rPr>
              <a:pPr>
                <a:spcBef>
                  <a:spcPct val="50000"/>
                </a:spcBef>
                <a:buClrTx/>
                <a:buSzTx/>
                <a:buFontTx/>
                <a:buNone/>
              </a:pPr>
              <a:t>33</a:t>
            </a:fld>
            <a:endParaRPr lang="en-US" altLang="zh-CN" sz="1400">
              <a:solidFill>
                <a:srgbClr val="FFFFFF"/>
              </a:solidFill>
              <a:latin typeface="Times New Roman" panose="02020603050405020304" pitchFamily="18" charset="0"/>
            </a:endParaRPr>
          </a:p>
        </p:txBody>
      </p:sp>
      <p:sp>
        <p:nvSpPr>
          <p:cNvPr id="50179" name="Text Box 2"/>
          <p:cNvSpPr txBox="1">
            <a:spLocks noChangeArrowheads="1"/>
          </p:cNvSpPr>
          <p:nvPr/>
        </p:nvSpPr>
        <p:spPr bwMode="auto">
          <a:xfrm>
            <a:off x="477838" y="549275"/>
            <a:ext cx="7632700" cy="293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4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由单体、水、乳化剂、水溶性引发剂组成的乳液体系，实际上存在</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三相</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40000"/>
              </a:lnSpc>
              <a:spcBef>
                <a:spcPct val="0"/>
              </a:spcBef>
              <a:buClrTx/>
              <a:buSzTx/>
              <a:buFontTx/>
              <a:buNone/>
            </a:pPr>
            <a:r>
              <a:rPr lang="en-US" altLang="zh-CN" sz="2200" b="1">
                <a:latin typeface="Times New Roman" panose="02020603050405020304" pitchFamily="18" charset="0"/>
                <a:ea typeface="楷体" panose="02010609060101010101" pitchFamily="49" charset="-122"/>
                <a:cs typeface="Times New Roman" panose="02020603050405020304" pitchFamily="18" charset="0"/>
              </a:rPr>
              <a:t>A.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水相：溶解有引发剂、少量单体、乳化剂</a:t>
            </a:r>
          </a:p>
          <a:p>
            <a:pPr algn="just">
              <a:lnSpc>
                <a:spcPct val="140000"/>
              </a:lnSpc>
              <a:spcBef>
                <a:spcPct val="0"/>
              </a:spcBef>
              <a:buClrTx/>
              <a:buSzTx/>
              <a:buFontTx/>
              <a:buNone/>
            </a:pPr>
            <a:r>
              <a:rPr lang="en-US" altLang="zh-CN" sz="2200" b="1">
                <a:latin typeface="Times New Roman" panose="02020603050405020304" pitchFamily="18" charset="0"/>
                <a:ea typeface="楷体" panose="02010609060101010101" pitchFamily="49" charset="-122"/>
                <a:cs typeface="Times New Roman" panose="02020603050405020304" pitchFamily="18" charset="0"/>
              </a:rPr>
              <a:t>B.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单体微珠：直径 0.5～1</a:t>
            </a:r>
            <a:r>
              <a:rPr lang="zh-CN" altLang="en-US" sz="22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2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m</a:t>
            </a:r>
            <a:endParaRPr lang="zh-CN" altLang="en-US" sz="22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p>
            <a:pPr algn="just">
              <a:lnSpc>
                <a:spcPct val="140000"/>
              </a:lnSpc>
              <a:spcBef>
                <a:spcPct val="0"/>
              </a:spcBef>
              <a:buClrTx/>
              <a:buSzTx/>
              <a:buFontTx/>
              <a:buNone/>
            </a:pPr>
            <a:r>
              <a:rPr lang="en-US" altLang="zh-CN" sz="2200" b="1">
                <a:latin typeface="Times New Roman" panose="02020603050405020304" pitchFamily="18" charset="0"/>
                <a:ea typeface="楷体" panose="02010609060101010101" pitchFamily="49" charset="-122"/>
                <a:cs typeface="Times New Roman" panose="02020603050405020304" pitchFamily="18" charset="0"/>
              </a:rPr>
              <a:t>C.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胶束：未增溶胶束  4～6 </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nm</a:t>
            </a:r>
          </a:p>
          <a:p>
            <a:pPr algn="just">
              <a:lnSpc>
                <a:spcPct val="14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增溶胶束  6～10 </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nm</a:t>
            </a:r>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018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2708275"/>
            <a:ext cx="4200525"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02"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836613"/>
            <a:ext cx="7704137" cy="278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51CA4C12-3C1B-4058-AEDD-651FD402680D}" type="slidenum">
              <a:rPr lang="zh-CN" altLang="en-US" sz="1400" smtClean="0">
                <a:solidFill>
                  <a:srgbClr val="FFFFFF"/>
                </a:solidFill>
                <a:latin typeface="Times New Roman" panose="02020603050405020304" pitchFamily="18" charset="0"/>
              </a:rPr>
              <a:pPr>
                <a:spcBef>
                  <a:spcPct val="50000"/>
                </a:spcBef>
                <a:buClrTx/>
                <a:buSzTx/>
                <a:buFontTx/>
                <a:buNone/>
              </a:pPr>
              <a:t>34</a:t>
            </a:fld>
            <a:endParaRPr lang="en-US" altLang="zh-CN" sz="1400">
              <a:solidFill>
                <a:srgbClr val="FFFFFF"/>
              </a:solidFill>
              <a:latin typeface="Times New Roman" panose="02020603050405020304" pitchFamily="18" charset="0"/>
            </a:endParaRPr>
          </a:p>
        </p:txBody>
      </p:sp>
      <p:sp>
        <p:nvSpPr>
          <p:cNvPr id="51204" name="Text Box 1027"/>
          <p:cNvSpPr txBox="1">
            <a:spLocks noChangeArrowheads="1"/>
          </p:cNvSpPr>
          <p:nvPr/>
        </p:nvSpPr>
        <p:spPr bwMode="auto">
          <a:xfrm>
            <a:off x="207963" y="217488"/>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b="1">
                <a:solidFill>
                  <a:srgbClr val="FF0000"/>
                </a:solidFill>
                <a:latin typeface="楷体" panose="02010609060101010101" pitchFamily="49" charset="-122"/>
                <a:ea typeface="楷体" panose="02010609060101010101" pitchFamily="49" charset="-122"/>
              </a:rPr>
              <a:t>乳液聚合过程</a:t>
            </a:r>
            <a:endParaRPr lang="zh-CN" altLang="en-US">
              <a:solidFill>
                <a:srgbClr val="FF0000"/>
              </a:solidFill>
              <a:latin typeface="楷体" panose="02010609060101010101" pitchFamily="49" charset="-122"/>
              <a:ea typeface="楷体" panose="02010609060101010101" pitchFamily="49" charset="-122"/>
            </a:endParaRPr>
          </a:p>
        </p:txBody>
      </p:sp>
      <p:sp>
        <p:nvSpPr>
          <p:cNvPr id="51205" name="Text Box 1028"/>
          <p:cNvSpPr txBox="1">
            <a:spLocks noChangeArrowheads="1"/>
          </p:cNvSpPr>
          <p:nvPr/>
        </p:nvSpPr>
        <p:spPr bwMode="auto">
          <a:xfrm>
            <a:off x="228600" y="3286125"/>
            <a:ext cx="1828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5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胶束  </a:t>
            </a:r>
          </a:p>
          <a:p>
            <a:pPr algn="ctr" eaLnBrk="1" hangingPunct="1">
              <a:spcBef>
                <a:spcPct val="5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直径4～6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51206" name="Text Box 1029"/>
          <p:cNvSpPr txBox="1">
            <a:spLocks noChangeArrowheads="1"/>
          </p:cNvSpPr>
          <p:nvPr/>
        </p:nvSpPr>
        <p:spPr bwMode="auto">
          <a:xfrm>
            <a:off x="2209800" y="3454400"/>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增溶胶束</a:t>
            </a:r>
          </a:p>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5～10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51207" name="Text Box 1030"/>
          <p:cNvSpPr txBox="1">
            <a:spLocks noChangeArrowheads="1"/>
          </p:cNvSpPr>
          <p:nvPr/>
        </p:nvSpPr>
        <p:spPr bwMode="auto">
          <a:xfrm>
            <a:off x="3630613" y="3079750"/>
            <a:ext cx="1295400"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不断增大</a:t>
            </a:r>
          </a:p>
          <a:p>
            <a:pP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成核过程</a:t>
            </a:r>
            <a:r>
              <a:rPr lang="zh-CN" altLang="en-US">
                <a:solidFill>
                  <a:srgbClr val="FF0000"/>
                </a:solidFill>
                <a:latin typeface="楷体" panose="02010609060101010101" pitchFamily="49" charset="-122"/>
                <a:ea typeface="楷体" panose="02010609060101010101" pitchFamily="49" charset="-122"/>
              </a:rPr>
              <a:t> </a:t>
            </a:r>
          </a:p>
        </p:txBody>
      </p:sp>
      <p:sp>
        <p:nvSpPr>
          <p:cNvPr id="51208" name="Text Box 1031"/>
          <p:cNvSpPr txBox="1">
            <a:spLocks noChangeArrowheads="1"/>
          </p:cNvSpPr>
          <p:nvPr/>
        </p:nvSpPr>
        <p:spPr bwMode="auto">
          <a:xfrm>
            <a:off x="3359150" y="2395538"/>
            <a:ext cx="1665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胶粒内聚合</a:t>
            </a:r>
            <a:endParaRPr lang="zh-CN" altLang="en-US" b="1">
              <a:solidFill>
                <a:srgbClr val="FF0000"/>
              </a:solidFill>
              <a:latin typeface="楷体" panose="02010609060101010101" pitchFamily="49" charset="-122"/>
              <a:ea typeface="楷体" panose="02010609060101010101" pitchFamily="49" charset="-122"/>
            </a:endParaRPr>
          </a:p>
        </p:txBody>
      </p:sp>
      <p:sp>
        <p:nvSpPr>
          <p:cNvPr id="51209" name="Text Box 1032"/>
          <p:cNvSpPr txBox="1">
            <a:spLocks noChangeArrowheads="1"/>
          </p:cNvSpPr>
          <p:nvPr/>
        </p:nvSpPr>
        <p:spPr bwMode="auto">
          <a:xfrm>
            <a:off x="4787900" y="3429000"/>
            <a:ext cx="1368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50000"/>
              </a:spcBef>
              <a:buClrTx/>
              <a:buSzTx/>
              <a:buFontTx/>
              <a:buNone/>
            </a:pPr>
            <a:r>
              <a:rPr lang="en-US" altLang="zh-CN" sz="2000" b="1">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颗粒 </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乳胶粒</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1210" name="Text Box 1033"/>
          <p:cNvSpPr txBox="1">
            <a:spLocks noChangeArrowheads="1"/>
          </p:cNvSpPr>
          <p:nvPr/>
        </p:nvSpPr>
        <p:spPr bwMode="auto">
          <a:xfrm>
            <a:off x="6732588" y="3573463"/>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聚合物胶粒</a:t>
            </a:r>
            <a:endParaRPr lang="zh-CN" altLang="en-US" b="1">
              <a:solidFill>
                <a:srgbClr val="FF0000"/>
              </a:solidFill>
              <a:latin typeface="楷体" panose="02010609060101010101" pitchFamily="49" charset="-122"/>
              <a:ea typeface="楷体" panose="02010609060101010101" pitchFamily="49" charset="-122"/>
            </a:endParaRPr>
          </a:p>
        </p:txBody>
      </p:sp>
      <p:sp>
        <p:nvSpPr>
          <p:cNvPr id="51211" name="Text Box 1034"/>
          <p:cNvSpPr txBox="1">
            <a:spLocks noChangeArrowheads="1"/>
          </p:cNvSpPr>
          <p:nvPr/>
        </p:nvSpPr>
        <p:spPr bwMode="auto">
          <a:xfrm>
            <a:off x="4572000" y="4221163"/>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en-US" altLang="zh-CN" sz="2000" b="1">
                <a:latin typeface="Times New Roman" panose="02020603050405020304" pitchFamily="18" charset="0"/>
              </a:rPr>
              <a:t>C% </a:t>
            </a:r>
            <a:r>
              <a:rPr lang="en-US" altLang="zh-CN" sz="2000" b="1">
                <a:latin typeface="Times New Roman" panose="02020603050405020304" pitchFamily="18" charset="0"/>
                <a:sym typeface="Symbol" panose="05050102010706020507" pitchFamily="18" charset="2"/>
              </a:rPr>
              <a:t></a:t>
            </a:r>
            <a:r>
              <a:rPr lang="en-US" altLang="zh-CN" sz="2000" b="1">
                <a:latin typeface="Times New Roman" panose="02020603050405020304" pitchFamily="18" charset="0"/>
              </a:rPr>
              <a:t> 3%，20～40 nm</a:t>
            </a:r>
            <a:endParaRPr lang="en-US" altLang="zh-CN" b="1">
              <a:latin typeface="Times New Roman" panose="02020603050405020304" pitchFamily="18" charset="0"/>
            </a:endParaRPr>
          </a:p>
        </p:txBody>
      </p:sp>
      <p:sp>
        <p:nvSpPr>
          <p:cNvPr id="51212" name="Text Box 1035"/>
          <p:cNvSpPr txBox="1">
            <a:spLocks noChangeArrowheads="1"/>
          </p:cNvSpPr>
          <p:nvPr/>
        </p:nvSpPr>
        <p:spPr bwMode="auto">
          <a:xfrm>
            <a:off x="3563938" y="908050"/>
            <a:ext cx="403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单体微珠，直径 ～10</a:t>
            </a:r>
            <a:r>
              <a:rPr lang="en-US" altLang="zh-CN" sz="2000" b="1" baseline="30000">
                <a:latin typeface="Times New Roman" panose="02020603050405020304" pitchFamily="18" charset="0"/>
                <a:ea typeface="楷体" panose="02010609060101010101" pitchFamily="49" charset="-122"/>
                <a:cs typeface="Times New Roman" panose="02020603050405020304" pitchFamily="18" charset="0"/>
              </a:rPr>
              <a:t>3</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1213" name="Text Box 1037"/>
          <p:cNvSpPr txBox="1">
            <a:spLocks noChangeArrowheads="1"/>
          </p:cNvSpPr>
          <p:nvPr/>
        </p:nvSpPr>
        <p:spPr bwMode="auto">
          <a:xfrm>
            <a:off x="395288" y="4797425"/>
            <a:ext cx="54768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spcBef>
                <a:spcPct val="5000"/>
              </a:spcBef>
              <a:buClrTx/>
              <a:buSzTx/>
              <a:buFontTx/>
              <a:buNone/>
            </a:pPr>
            <a:r>
              <a:rPr lang="zh-CN" altLang="en-US" sz="2200" b="1">
                <a:solidFill>
                  <a:srgbClr val="FF0000"/>
                </a:solidFill>
                <a:latin typeface="楷体" panose="02010609060101010101" pitchFamily="49" charset="-122"/>
                <a:ea typeface="楷体" panose="02010609060101010101" pitchFamily="49" charset="-122"/>
              </a:rPr>
              <a:t>乳液聚合的场所：胶束</a:t>
            </a:r>
            <a:r>
              <a:rPr lang="en-US" altLang="zh-CN" sz="2200" b="1">
                <a:solidFill>
                  <a:srgbClr val="FF0000"/>
                </a:solidFill>
                <a:latin typeface="楷体" panose="02010609060101010101" pitchFamily="49" charset="-122"/>
                <a:ea typeface="楷体" panose="02010609060101010101" pitchFamily="49" charset="-122"/>
              </a:rPr>
              <a:t>(</a:t>
            </a:r>
            <a:r>
              <a:rPr lang="zh-CN" altLang="en-US" sz="2200" b="1">
                <a:solidFill>
                  <a:srgbClr val="FF0000"/>
                </a:solidFill>
                <a:latin typeface="楷体" panose="02010609060101010101" pitchFamily="49" charset="-122"/>
                <a:ea typeface="楷体" panose="02010609060101010101" pitchFamily="49" charset="-122"/>
              </a:rPr>
              <a:t>而非单体液滴内</a:t>
            </a:r>
            <a:r>
              <a:rPr lang="en-US" altLang="zh-CN" sz="2200" b="1">
                <a:solidFill>
                  <a:srgbClr val="FF0000"/>
                </a:solidFill>
                <a:latin typeface="楷体" panose="02010609060101010101" pitchFamily="49" charset="-122"/>
                <a:ea typeface="楷体" panose="02010609060101010101" pitchFamily="49" charset="-122"/>
              </a:rPr>
              <a:t>)</a:t>
            </a:r>
            <a:endParaRPr lang="zh-CN" altLang="en-US" sz="2200" b="1">
              <a:solidFill>
                <a:srgbClr val="FF0000"/>
              </a:solidFill>
              <a:latin typeface="楷体" panose="02010609060101010101" pitchFamily="49" charset="-122"/>
              <a:ea typeface="楷体" panose="02010609060101010101" pitchFamily="49" charset="-122"/>
            </a:endParaRPr>
          </a:p>
        </p:txBody>
      </p:sp>
      <p:sp>
        <p:nvSpPr>
          <p:cNvPr id="51214" name="TextBox 13"/>
          <p:cNvSpPr txBox="1">
            <a:spLocks noChangeArrowheads="1"/>
          </p:cNvSpPr>
          <p:nvPr/>
        </p:nvSpPr>
        <p:spPr bwMode="auto">
          <a:xfrm>
            <a:off x="355600" y="5373688"/>
            <a:ext cx="76723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spcBef>
                <a:spcPct val="35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原因：</a:t>
            </a:r>
            <a:r>
              <a:rPr lang="zh-CN" altLang="en-US" sz="2000" b="1">
                <a:latin typeface="楷体" panose="02010609060101010101" pitchFamily="49" charset="-122"/>
                <a:ea typeface="楷体" panose="02010609060101010101" pitchFamily="49" charset="-122"/>
              </a:rPr>
              <a:t>胶束总表面积为单体液滴总表面积的</a:t>
            </a:r>
            <a:r>
              <a:rPr lang="en-US" altLang="zh-CN" sz="2000" b="1">
                <a:latin typeface="楷体" panose="02010609060101010101" pitchFamily="49" charset="-122"/>
                <a:ea typeface="楷体" panose="02010609060101010101" pitchFamily="49" charset="-122"/>
              </a:rPr>
              <a:t>100</a:t>
            </a:r>
            <a:r>
              <a:rPr lang="en-US" altLang="zh-CN" sz="2000">
                <a:latin typeface="等线" panose="02010600030101010101" pitchFamily="2" charset="-122"/>
                <a:ea typeface="等线" panose="02010600030101010101" pitchFamily="2" charset="-122"/>
              </a:rPr>
              <a:t>~</a:t>
            </a:r>
            <a:r>
              <a:rPr lang="zh-CN" altLang="en-US" sz="2000" b="1">
                <a:latin typeface="楷体" panose="02010609060101010101" pitchFamily="49" charset="-122"/>
                <a:ea typeface="楷体" panose="02010609060101010101" pitchFamily="49" charset="-122"/>
              </a:rPr>
              <a:t>1000倍，因而初级自由基优先进入胶束，引发胶束内的聚合反应</a:t>
            </a:r>
            <a:r>
              <a:rPr lang="zh-CN" altLang="en-US" sz="2000">
                <a:latin typeface="楷体" panose="02010609060101010101" pitchFamily="49" charset="-122"/>
                <a:ea typeface="楷体" panose="02010609060101010101" pitchFamily="49" charset="-122"/>
              </a:rPr>
              <a:t>。</a:t>
            </a: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D099EB78-9145-4E4B-BD09-BA78D937FE04}" type="slidenum">
              <a:rPr lang="zh-CN" altLang="en-US" sz="1400" smtClean="0">
                <a:solidFill>
                  <a:srgbClr val="FFFFFF"/>
                </a:solidFill>
                <a:latin typeface="Times New Roman" panose="02020603050405020304" pitchFamily="18" charset="0"/>
              </a:rPr>
              <a:pPr>
                <a:spcBef>
                  <a:spcPct val="50000"/>
                </a:spcBef>
                <a:buClrTx/>
                <a:buSzTx/>
                <a:buFontTx/>
                <a:buNone/>
              </a:pPr>
              <a:t>35</a:t>
            </a:fld>
            <a:endParaRPr lang="en-US" altLang="zh-CN" sz="1400">
              <a:solidFill>
                <a:srgbClr val="FFFFFF"/>
              </a:solidFill>
              <a:latin typeface="Times New Roman" panose="02020603050405020304" pitchFamily="18" charset="0"/>
            </a:endParaRPr>
          </a:p>
        </p:txBody>
      </p:sp>
      <p:sp>
        <p:nvSpPr>
          <p:cNvPr id="52227" name="Text Box 2"/>
          <p:cNvSpPr txBox="1">
            <a:spLocks noChangeArrowheads="1"/>
          </p:cNvSpPr>
          <p:nvPr/>
        </p:nvSpPr>
        <p:spPr bwMode="auto">
          <a:xfrm>
            <a:off x="250825" y="258763"/>
            <a:ext cx="7010400"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乳液聚合过程大致分为三个阶段</a:t>
            </a:r>
          </a:p>
          <a:p>
            <a:pPr algn="just">
              <a:spcBef>
                <a:spcPct val="0"/>
              </a:spcBef>
              <a:buClrTx/>
              <a:buSzTx/>
              <a:buFontTx/>
              <a:buNone/>
            </a:pPr>
            <a:endParaRPr lang="zh-CN" altLang="en-US" sz="220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阶段 </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 :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乳胶粒生成期，</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成核过程 </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p>
          <a:p>
            <a:pPr algn="just">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自由基由水相进入到胶束内的过程</a:t>
            </a:r>
            <a:endParaRPr lang="zh-CN" altLang="en-US" sz="220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zh-CN" altLang="en-US" sz="120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从引发聚合开始，直至胶束变成胶粒。</a:t>
            </a:r>
          </a:p>
        </p:txBody>
      </p:sp>
      <p:sp>
        <p:nvSpPr>
          <p:cNvPr id="52228" name="Text Box 3"/>
          <p:cNvSpPr txBox="1">
            <a:spLocks noChangeArrowheads="1"/>
          </p:cNvSpPr>
          <p:nvPr/>
        </p:nvSpPr>
        <p:spPr bwMode="auto">
          <a:xfrm>
            <a:off x="1187450" y="2228850"/>
            <a:ext cx="68580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20000"/>
              </a:lnSpc>
              <a:spcBef>
                <a:spcPct val="0"/>
              </a:spcBef>
              <a:buClrTx/>
              <a:buSzTx/>
              <a:buFontTx/>
              <a:buNone/>
            </a:pPr>
            <a:r>
              <a:rPr lang="zh-CN" altLang="en-US" sz="2200" b="1">
                <a:solidFill>
                  <a:srgbClr val="FF0000"/>
                </a:solidFill>
                <a:latin typeface="楷体" panose="02010609060101010101" pitchFamily="49" charset="-122"/>
                <a:ea typeface="楷体" panose="02010609060101010101" pitchFamily="49" charset="-122"/>
              </a:rPr>
              <a:t>体系由水相，单体液滴，胶束，乳胶粒四相组成</a:t>
            </a:r>
            <a:endParaRPr lang="zh-CN" altLang="en-US" sz="2200">
              <a:solidFill>
                <a:srgbClr val="FF0000"/>
              </a:solidFill>
              <a:latin typeface="楷体" panose="02010609060101010101" pitchFamily="49" charset="-122"/>
              <a:ea typeface="楷体" panose="02010609060101010101" pitchFamily="49" charset="-122"/>
            </a:endParaRPr>
          </a:p>
        </p:txBody>
      </p:sp>
      <p:sp>
        <p:nvSpPr>
          <p:cNvPr id="52229" name="TextBox 5"/>
          <p:cNvSpPr txBox="1">
            <a:spLocks noChangeArrowheads="1"/>
          </p:cNvSpPr>
          <p:nvPr/>
        </p:nvSpPr>
        <p:spPr bwMode="auto">
          <a:xfrm>
            <a:off x="1187450" y="2835275"/>
            <a:ext cx="7413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20000"/>
              </a:lnSpc>
              <a:spcBef>
                <a:spcPct val="5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成核过程的动力</a:t>
            </a:r>
            <a:r>
              <a:rPr lang="en-US" altLang="zh-CN" sz="2000" b="1">
                <a:solidFill>
                  <a:srgbClr val="FF0000"/>
                </a:solidFill>
                <a:latin typeface="楷体" panose="02010609060101010101" pitchFamily="49" charset="-122"/>
                <a:ea typeface="楷体" panose="02010609060101010101" pitchFamily="49" charset="-122"/>
              </a:rPr>
              <a:t>: </a:t>
            </a:r>
            <a:r>
              <a:rPr lang="zh-CN" altLang="en-US" sz="2000" b="1">
                <a:latin typeface="楷体" panose="02010609060101010101" pitchFamily="49" charset="-122"/>
                <a:ea typeface="楷体" panose="02010609060101010101" pitchFamily="49" charset="-122"/>
              </a:rPr>
              <a:t>胶束表面积远大于单体液滴表面积</a:t>
            </a:r>
            <a:r>
              <a:rPr lang="en-US" altLang="zh-CN" sz="2000" b="1">
                <a:latin typeface="楷体" panose="02010609060101010101" pitchFamily="49" charset="-122"/>
                <a:ea typeface="楷体" panose="02010609060101010101" pitchFamily="49" charset="-122"/>
              </a:rPr>
              <a:t>(</a:t>
            </a:r>
            <a:r>
              <a:rPr lang="zh-CN" altLang="en-US" sz="2000" b="1">
                <a:latin typeface="楷体" panose="02010609060101010101" pitchFamily="49" charset="-122"/>
                <a:ea typeface="楷体" panose="02010609060101010101" pitchFamily="49" charset="-122"/>
              </a:rPr>
              <a:t>几率因素</a:t>
            </a:r>
            <a:r>
              <a:rPr lang="en-US" altLang="zh-CN" sz="2000" b="1">
                <a:latin typeface="楷体" panose="02010609060101010101" pitchFamily="49" charset="-122"/>
                <a:ea typeface="楷体" panose="02010609060101010101" pitchFamily="49" charset="-122"/>
              </a:rPr>
              <a:t>)</a:t>
            </a:r>
            <a:endParaRPr lang="zh-CN" altLang="en-US" sz="2000" b="1">
              <a:latin typeface="楷体" panose="02010609060101010101" pitchFamily="49" charset="-122"/>
              <a:ea typeface="楷体" panose="02010609060101010101" pitchFamily="49" charset="-122"/>
            </a:endParaRPr>
          </a:p>
        </p:txBody>
      </p:sp>
      <p:pic>
        <p:nvPicPr>
          <p:cNvPr id="52230"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3459163"/>
            <a:ext cx="7704138" cy="278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Text Box 1028"/>
          <p:cNvSpPr txBox="1">
            <a:spLocks noChangeArrowheads="1"/>
          </p:cNvSpPr>
          <p:nvPr/>
        </p:nvSpPr>
        <p:spPr bwMode="auto">
          <a:xfrm>
            <a:off x="388938" y="5908675"/>
            <a:ext cx="1828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5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胶束  </a:t>
            </a:r>
          </a:p>
          <a:p>
            <a:pPr algn="ctr" eaLnBrk="1" hangingPunct="1">
              <a:spcBef>
                <a:spcPct val="5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直径4～6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52232" name="Text Box 1029"/>
          <p:cNvSpPr txBox="1">
            <a:spLocks noChangeArrowheads="1"/>
          </p:cNvSpPr>
          <p:nvPr/>
        </p:nvSpPr>
        <p:spPr bwMode="auto">
          <a:xfrm>
            <a:off x="2370138" y="6076950"/>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增溶胶束</a:t>
            </a:r>
          </a:p>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5～10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52233" name="Text Box 1030"/>
          <p:cNvSpPr txBox="1">
            <a:spLocks noChangeArrowheads="1"/>
          </p:cNvSpPr>
          <p:nvPr/>
        </p:nvSpPr>
        <p:spPr bwMode="auto">
          <a:xfrm>
            <a:off x="3790950" y="5702300"/>
            <a:ext cx="1295400"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不断增大</a:t>
            </a:r>
          </a:p>
          <a:p>
            <a:pP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成核过程</a:t>
            </a:r>
            <a:r>
              <a:rPr lang="zh-CN" altLang="en-US">
                <a:solidFill>
                  <a:srgbClr val="FF0000"/>
                </a:solidFill>
                <a:latin typeface="楷体" panose="02010609060101010101" pitchFamily="49" charset="-122"/>
                <a:ea typeface="楷体" panose="02010609060101010101" pitchFamily="49" charset="-122"/>
              </a:rPr>
              <a:t> </a:t>
            </a:r>
          </a:p>
        </p:txBody>
      </p:sp>
      <p:sp>
        <p:nvSpPr>
          <p:cNvPr id="52234" name="Text Box 1031"/>
          <p:cNvSpPr txBox="1">
            <a:spLocks noChangeArrowheads="1"/>
          </p:cNvSpPr>
          <p:nvPr/>
        </p:nvSpPr>
        <p:spPr bwMode="auto">
          <a:xfrm>
            <a:off x="3519488" y="5018088"/>
            <a:ext cx="1665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胶粒内聚合</a:t>
            </a:r>
            <a:endParaRPr lang="zh-CN" altLang="en-US" b="1">
              <a:solidFill>
                <a:srgbClr val="FF0000"/>
              </a:solidFill>
              <a:latin typeface="楷体" panose="02010609060101010101" pitchFamily="49" charset="-122"/>
              <a:ea typeface="楷体" panose="02010609060101010101" pitchFamily="49" charset="-122"/>
            </a:endParaRPr>
          </a:p>
        </p:txBody>
      </p:sp>
      <p:sp>
        <p:nvSpPr>
          <p:cNvPr id="52235" name="Text Box 1032"/>
          <p:cNvSpPr txBox="1">
            <a:spLocks noChangeArrowheads="1"/>
          </p:cNvSpPr>
          <p:nvPr/>
        </p:nvSpPr>
        <p:spPr bwMode="auto">
          <a:xfrm>
            <a:off x="4948238" y="6051550"/>
            <a:ext cx="1368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50000"/>
              </a:spcBef>
              <a:buClrTx/>
              <a:buSzTx/>
              <a:buFontTx/>
              <a:buNone/>
            </a:pPr>
            <a:r>
              <a:rPr lang="en-US" altLang="zh-CN" sz="2000" b="1">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颗粒 </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乳胶粒</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2236" name="Text Box 1033"/>
          <p:cNvSpPr txBox="1">
            <a:spLocks noChangeArrowheads="1"/>
          </p:cNvSpPr>
          <p:nvPr/>
        </p:nvSpPr>
        <p:spPr bwMode="auto">
          <a:xfrm>
            <a:off x="6892925" y="6196013"/>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聚合物胶粒</a:t>
            </a:r>
            <a:endParaRPr lang="zh-CN" altLang="en-US" b="1">
              <a:solidFill>
                <a:srgbClr val="FF0000"/>
              </a:solidFill>
              <a:latin typeface="楷体" panose="02010609060101010101" pitchFamily="49" charset="-122"/>
              <a:ea typeface="楷体" panose="02010609060101010101" pitchFamily="49" charset="-122"/>
            </a:endParaRPr>
          </a:p>
        </p:txBody>
      </p:sp>
      <p:sp>
        <p:nvSpPr>
          <p:cNvPr id="52237" name="Text Box 1035"/>
          <p:cNvSpPr txBox="1">
            <a:spLocks noChangeArrowheads="1"/>
          </p:cNvSpPr>
          <p:nvPr/>
        </p:nvSpPr>
        <p:spPr bwMode="auto">
          <a:xfrm>
            <a:off x="3724275" y="3530600"/>
            <a:ext cx="403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单体微珠，直径 ～10</a:t>
            </a:r>
            <a:r>
              <a:rPr lang="en-US" altLang="zh-CN" sz="2000" b="1" baseline="30000">
                <a:latin typeface="Times New Roman" panose="02020603050405020304" pitchFamily="18" charset="0"/>
                <a:ea typeface="楷体" panose="02010609060101010101" pitchFamily="49" charset="-122"/>
                <a:cs typeface="Times New Roman" panose="02020603050405020304" pitchFamily="18" charset="0"/>
              </a:rPr>
              <a:t>3</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bwMode="auto">
          <a:xfrm>
            <a:off x="8202613" y="2301875"/>
            <a:ext cx="609600" cy="520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29243A3D-174C-41A6-A62E-7776597EC722}" type="slidenum">
              <a:rPr lang="zh-CN" altLang="en-US" sz="1400" smtClean="0">
                <a:solidFill>
                  <a:srgbClr val="FFFFFF"/>
                </a:solidFill>
                <a:latin typeface="Times New Roman" panose="02020603050405020304" pitchFamily="18" charset="0"/>
              </a:rPr>
              <a:pPr>
                <a:spcBef>
                  <a:spcPct val="50000"/>
                </a:spcBef>
                <a:buClrTx/>
                <a:buSzTx/>
                <a:buFontTx/>
                <a:buNone/>
              </a:pPr>
              <a:t>36</a:t>
            </a:fld>
            <a:endParaRPr lang="en-US" altLang="zh-CN" sz="1400">
              <a:solidFill>
                <a:srgbClr val="FFFFFF"/>
              </a:solidFill>
              <a:latin typeface="Times New Roman" panose="02020603050405020304" pitchFamily="18" charset="0"/>
            </a:endParaRPr>
          </a:p>
        </p:txBody>
      </p:sp>
      <p:sp>
        <p:nvSpPr>
          <p:cNvPr id="53251" name="Text Box 5"/>
          <p:cNvSpPr txBox="1">
            <a:spLocks noChangeArrowheads="1"/>
          </p:cNvSpPr>
          <p:nvPr/>
        </p:nvSpPr>
        <p:spPr bwMode="auto">
          <a:xfrm>
            <a:off x="323850" y="333375"/>
            <a:ext cx="835025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阶段</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II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：恒速阶段</a:t>
            </a:r>
            <a:endParaRPr lang="zh-CN" altLang="en-US" sz="220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zh-CN" altLang="en-US" sz="220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                胶束消失，乳胶粒继续增大，直至单体液滴消失。</a:t>
            </a:r>
          </a:p>
          <a:p>
            <a:pPr algn="just">
              <a:spcBef>
                <a:spcPct val="0"/>
              </a:spcBef>
              <a:buClrTx/>
              <a:buSzTx/>
              <a:buFontTx/>
              <a:buNone/>
            </a:pPr>
            <a:endParaRPr lang="zh-CN" altLang="en-US" sz="140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2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体系由水相，乳胶粒，单体液滴三个相组成</a:t>
            </a:r>
            <a:endParaRPr lang="zh-CN" altLang="en-US" sz="220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3252" name="TextBox 6"/>
          <p:cNvSpPr txBox="1">
            <a:spLocks noChangeArrowheads="1"/>
          </p:cNvSpPr>
          <p:nvPr/>
        </p:nvSpPr>
        <p:spPr bwMode="auto">
          <a:xfrm>
            <a:off x="1262063" y="2128838"/>
            <a:ext cx="7542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20000"/>
              </a:lnSpc>
              <a:spcBef>
                <a:spcPct val="5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单体由液滴转移到胶束的动力</a:t>
            </a:r>
            <a:r>
              <a:rPr lang="en-US" altLang="zh-CN" sz="2000" b="1">
                <a:solidFill>
                  <a:srgbClr val="FF0000"/>
                </a:solidFill>
                <a:latin typeface="楷体" panose="02010609060101010101" pitchFamily="49" charset="-122"/>
                <a:ea typeface="楷体" panose="02010609060101010101" pitchFamily="49" charset="-122"/>
              </a:rPr>
              <a:t>: </a:t>
            </a:r>
            <a:r>
              <a:rPr lang="zh-CN" altLang="en-US" sz="2000" b="1">
                <a:latin typeface="楷体" panose="02010609060101010101" pitchFamily="49" charset="-122"/>
                <a:ea typeface="楷体" panose="02010609060101010101" pitchFamily="49" charset="-122"/>
              </a:rPr>
              <a:t>相平衡驱动力</a:t>
            </a:r>
            <a:r>
              <a:rPr lang="en-US" altLang="zh-CN" sz="2000" b="1">
                <a:latin typeface="楷体" panose="02010609060101010101" pitchFamily="49" charset="-122"/>
                <a:ea typeface="楷体" panose="02010609060101010101" pitchFamily="49" charset="-122"/>
              </a:rPr>
              <a:t>(</a:t>
            </a:r>
            <a:r>
              <a:rPr lang="zh-CN" altLang="en-US" sz="2000" b="1">
                <a:latin typeface="楷体" panose="02010609060101010101" pitchFamily="49" charset="-122"/>
                <a:ea typeface="楷体" panose="02010609060101010101" pitchFamily="49" charset="-122"/>
              </a:rPr>
              <a:t>单体溶于聚合物</a:t>
            </a:r>
            <a:r>
              <a:rPr lang="en-US" altLang="zh-CN" sz="2000" b="1">
                <a:latin typeface="楷体" panose="02010609060101010101" pitchFamily="49" charset="-122"/>
                <a:ea typeface="楷体" panose="02010609060101010101" pitchFamily="49" charset="-122"/>
              </a:rPr>
              <a:t>)</a:t>
            </a:r>
            <a:endParaRPr lang="zh-CN" altLang="en-US" sz="2000" b="1">
              <a:latin typeface="楷体" panose="02010609060101010101" pitchFamily="49" charset="-122"/>
              <a:ea typeface="楷体" panose="02010609060101010101" pitchFamily="49" charset="-122"/>
            </a:endParaRPr>
          </a:p>
        </p:txBody>
      </p:sp>
      <p:pic>
        <p:nvPicPr>
          <p:cNvPr id="53253"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013" y="2917825"/>
            <a:ext cx="7704137" cy="278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1028"/>
          <p:cNvSpPr txBox="1">
            <a:spLocks noChangeArrowheads="1"/>
          </p:cNvSpPr>
          <p:nvPr/>
        </p:nvSpPr>
        <p:spPr bwMode="auto">
          <a:xfrm>
            <a:off x="495300" y="5367338"/>
            <a:ext cx="1828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5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胶束  </a:t>
            </a:r>
          </a:p>
          <a:p>
            <a:pPr algn="ctr" eaLnBrk="1" hangingPunct="1">
              <a:spcBef>
                <a:spcPct val="5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直径4～6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53255" name="Text Box 1029"/>
          <p:cNvSpPr txBox="1">
            <a:spLocks noChangeArrowheads="1"/>
          </p:cNvSpPr>
          <p:nvPr/>
        </p:nvSpPr>
        <p:spPr bwMode="auto">
          <a:xfrm>
            <a:off x="2476500" y="5535613"/>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增溶胶束</a:t>
            </a:r>
          </a:p>
          <a:p>
            <a:pPr algn="just">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5～10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p>
        </p:txBody>
      </p:sp>
      <p:sp>
        <p:nvSpPr>
          <p:cNvPr id="53256" name="Text Box 1030"/>
          <p:cNvSpPr txBox="1">
            <a:spLocks noChangeArrowheads="1"/>
          </p:cNvSpPr>
          <p:nvPr/>
        </p:nvSpPr>
        <p:spPr bwMode="auto">
          <a:xfrm>
            <a:off x="3897313" y="5160963"/>
            <a:ext cx="129540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不断增大</a:t>
            </a:r>
          </a:p>
          <a:p>
            <a:pP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成核过程</a:t>
            </a:r>
            <a:r>
              <a:rPr lang="zh-CN" altLang="en-US">
                <a:solidFill>
                  <a:srgbClr val="FF0000"/>
                </a:solidFill>
                <a:latin typeface="楷体" panose="02010609060101010101" pitchFamily="49" charset="-122"/>
                <a:ea typeface="楷体" panose="02010609060101010101" pitchFamily="49" charset="-122"/>
              </a:rPr>
              <a:t> </a:t>
            </a:r>
          </a:p>
        </p:txBody>
      </p:sp>
      <p:sp>
        <p:nvSpPr>
          <p:cNvPr id="53257" name="Text Box 1031"/>
          <p:cNvSpPr txBox="1">
            <a:spLocks noChangeArrowheads="1"/>
          </p:cNvSpPr>
          <p:nvPr/>
        </p:nvSpPr>
        <p:spPr bwMode="auto">
          <a:xfrm>
            <a:off x="3625850" y="4476750"/>
            <a:ext cx="1665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2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胶粒内聚合</a:t>
            </a:r>
            <a:endParaRPr lang="zh-CN" altLang="en-US" b="1">
              <a:solidFill>
                <a:srgbClr val="FF0000"/>
              </a:solidFill>
              <a:latin typeface="楷体" panose="02010609060101010101" pitchFamily="49" charset="-122"/>
              <a:ea typeface="楷体" panose="02010609060101010101" pitchFamily="49" charset="-122"/>
            </a:endParaRPr>
          </a:p>
        </p:txBody>
      </p:sp>
      <p:sp>
        <p:nvSpPr>
          <p:cNvPr id="53258" name="Text Box 1032"/>
          <p:cNvSpPr txBox="1">
            <a:spLocks noChangeArrowheads="1"/>
          </p:cNvSpPr>
          <p:nvPr/>
        </p:nvSpPr>
        <p:spPr bwMode="auto">
          <a:xfrm>
            <a:off x="5054600" y="5510213"/>
            <a:ext cx="1368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50000"/>
              </a:spcBef>
              <a:buClrTx/>
              <a:buSzTx/>
              <a:buFontTx/>
              <a:buNone/>
            </a:pPr>
            <a:r>
              <a:rPr lang="en-US" altLang="zh-CN" sz="2000" b="1">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颗粒 </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乳胶粒</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3259" name="Text Box 1033"/>
          <p:cNvSpPr txBox="1">
            <a:spLocks noChangeArrowheads="1"/>
          </p:cNvSpPr>
          <p:nvPr/>
        </p:nvSpPr>
        <p:spPr bwMode="auto">
          <a:xfrm>
            <a:off x="6999288" y="56546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聚合物胶粒</a:t>
            </a:r>
            <a:endParaRPr lang="zh-CN" altLang="en-US" b="1">
              <a:solidFill>
                <a:srgbClr val="FF0000"/>
              </a:solidFill>
              <a:latin typeface="楷体" panose="02010609060101010101" pitchFamily="49" charset="-122"/>
              <a:ea typeface="楷体" panose="02010609060101010101" pitchFamily="49" charset="-122"/>
            </a:endParaRPr>
          </a:p>
        </p:txBody>
      </p:sp>
      <p:sp>
        <p:nvSpPr>
          <p:cNvPr id="53260" name="Text Box 1035"/>
          <p:cNvSpPr txBox="1">
            <a:spLocks noChangeArrowheads="1"/>
          </p:cNvSpPr>
          <p:nvPr/>
        </p:nvSpPr>
        <p:spPr bwMode="auto">
          <a:xfrm>
            <a:off x="3830638" y="2989263"/>
            <a:ext cx="403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单体微珠，直径 ～10</a:t>
            </a:r>
            <a:r>
              <a:rPr lang="en-US" altLang="zh-CN" sz="2000" b="1" baseline="30000">
                <a:latin typeface="Times New Roman" panose="02020603050405020304" pitchFamily="18" charset="0"/>
                <a:ea typeface="楷体" panose="02010609060101010101" pitchFamily="49" charset="-122"/>
                <a:cs typeface="Times New Roman" panose="02020603050405020304" pitchFamily="18" charset="0"/>
              </a:rPr>
              <a:t>3</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nm</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D8E56607-96D0-49B0-BFCD-B6BD8140BF42}" type="slidenum">
              <a:rPr lang="zh-CN" altLang="en-US" sz="1400" smtClean="0">
                <a:solidFill>
                  <a:srgbClr val="FFFFFF"/>
                </a:solidFill>
                <a:latin typeface="Times New Roman" panose="02020603050405020304" pitchFamily="18" charset="0"/>
              </a:rPr>
              <a:pPr>
                <a:spcBef>
                  <a:spcPct val="50000"/>
                </a:spcBef>
                <a:buClrTx/>
                <a:buSzTx/>
                <a:buFontTx/>
                <a:buNone/>
              </a:pPr>
              <a:t>37</a:t>
            </a:fld>
            <a:endParaRPr lang="en-US" altLang="zh-CN" sz="1400">
              <a:solidFill>
                <a:srgbClr val="FFFFFF"/>
              </a:solidFill>
              <a:latin typeface="Times New Roman" panose="02020603050405020304" pitchFamily="18" charset="0"/>
            </a:endParaRPr>
          </a:p>
        </p:txBody>
      </p:sp>
      <p:sp>
        <p:nvSpPr>
          <p:cNvPr id="54275" name="Text Box 2"/>
          <p:cNvSpPr txBox="1">
            <a:spLocks noChangeArrowheads="1"/>
          </p:cNvSpPr>
          <p:nvPr/>
        </p:nvSpPr>
        <p:spPr bwMode="auto">
          <a:xfrm>
            <a:off x="388938" y="333375"/>
            <a:ext cx="7286625"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2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阶段</a:t>
            </a:r>
            <a:r>
              <a:rPr lang="en-US" altLang="zh-CN"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III : </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降速期</a:t>
            </a:r>
            <a:endParaRPr lang="zh-CN" altLang="en-US" sz="220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endParaRPr lang="zh-CN" altLang="en-US" sz="140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乳胶粒转变成聚合物胶粒 </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已进入胶束的单体转化完全</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endParaRPr lang="zh-CN" altLang="en-US" sz="14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单体液滴消失后，体系中只有</a:t>
            </a: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水相和胶粒</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两相</a:t>
            </a:r>
            <a:r>
              <a:rPr lang="zh-CN" altLang="en-US" sz="2200">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20000"/>
              </a:lnSpc>
              <a:spcBef>
                <a:spcPct val="0"/>
              </a:spcBef>
              <a:buClrTx/>
              <a:buSzTx/>
              <a:buFontTx/>
              <a:buNone/>
            </a:pPr>
            <a:endParaRPr lang="zh-CN" altLang="en-US" sz="22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76" name="TextBox 4"/>
          <p:cNvSpPr txBox="1">
            <a:spLocks noChangeArrowheads="1"/>
          </p:cNvSpPr>
          <p:nvPr/>
        </p:nvSpPr>
        <p:spPr bwMode="auto">
          <a:xfrm>
            <a:off x="3563938" y="5886450"/>
            <a:ext cx="14747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20000"/>
              </a:lnSpc>
              <a:spcBef>
                <a:spcPct val="50000"/>
              </a:spcBef>
              <a:buClrTx/>
              <a:buSzTx/>
              <a:buFontTx/>
              <a:buNone/>
            </a:pPr>
            <a:r>
              <a:rPr lang="zh-CN" altLang="en-US" sz="2000" b="1">
                <a:solidFill>
                  <a:srgbClr val="FF0000"/>
                </a:solidFill>
                <a:latin typeface="楷体" panose="02010609060101010101" pitchFamily="49" charset="-122"/>
                <a:ea typeface="楷体" panose="02010609060101010101" pitchFamily="49" charset="-122"/>
              </a:rPr>
              <a:t>聚合物胶粒</a:t>
            </a:r>
          </a:p>
        </p:txBody>
      </p:sp>
      <p:pic>
        <p:nvPicPr>
          <p:cNvPr id="54277" name="图片 5" descr="emulsion particl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2276475"/>
            <a:ext cx="3600450"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2FA003-F220-45CD-97B7-4607A3A7A69F}" type="slidenum">
              <a:rPr lang="en-US" altLang="zh-CN">
                <a:solidFill>
                  <a:srgbClr val="898989"/>
                </a:solidFill>
              </a:rPr>
              <a:pPr eaLnBrk="1" hangingPunct="1"/>
              <a:t>38</a:t>
            </a:fld>
            <a:endParaRPr lang="en-US" altLang="zh-CN">
              <a:solidFill>
                <a:srgbClr val="898989"/>
              </a:solidFill>
            </a:endParaRPr>
          </a:p>
        </p:txBody>
      </p:sp>
      <p:sp>
        <p:nvSpPr>
          <p:cNvPr id="3"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
        <p:nvSpPr>
          <p:cNvPr id="43012" name="矩形 3"/>
          <p:cNvSpPr>
            <a:spLocks noChangeArrowheads="1"/>
          </p:cNvSpPr>
          <p:nvPr/>
        </p:nvSpPr>
        <p:spPr bwMode="auto">
          <a:xfrm>
            <a:off x="971550" y="1341438"/>
            <a:ext cx="756126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b="1">
                <a:solidFill>
                  <a:srgbClr val="C00000"/>
                </a:solidFill>
                <a:latin typeface="楷体" panose="02010609060101010101" pitchFamily="49" charset="-122"/>
                <a:ea typeface="楷体" panose="02010609060101010101" pitchFamily="49" charset="-122"/>
              </a:rPr>
              <a:t>乳液聚合机理：</a:t>
            </a:r>
          </a:p>
          <a:p>
            <a:pPr eaLnBrk="1" hangingPunct="1">
              <a:lnSpc>
                <a:spcPct val="150000"/>
              </a:lnSpc>
              <a:spcBef>
                <a:spcPct val="0"/>
              </a:spcBef>
              <a:buFontTx/>
              <a:buNone/>
            </a:pPr>
            <a:r>
              <a:rPr lang="zh-CN" altLang="en-US" sz="2000">
                <a:latin typeface="楷体" panose="02010609060101010101" pitchFamily="49" charset="-122"/>
                <a:ea typeface="楷体" panose="02010609060101010101" pitchFamily="49" charset="-122"/>
              </a:rPr>
              <a:t>对于“理想体系”，即单体、乳化剂难溶于水，引发剂溶于水，聚合物溶于单体的情况</a:t>
            </a:r>
          </a:p>
        </p:txBody>
      </p:sp>
      <p:pic>
        <p:nvPicPr>
          <p:cNvPr id="430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2349500"/>
            <a:ext cx="327342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矩形 5"/>
          <p:cNvSpPr>
            <a:spLocks noChangeArrowheads="1"/>
          </p:cNvSpPr>
          <p:nvPr/>
        </p:nvSpPr>
        <p:spPr bwMode="auto">
          <a:xfrm>
            <a:off x="900113" y="4724400"/>
            <a:ext cx="42878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单体和乳化剂在聚合前呈</a:t>
            </a:r>
            <a:r>
              <a:rPr lang="zh-CN" altLang="en-US" sz="2000">
                <a:solidFill>
                  <a:srgbClr val="C00000"/>
                </a:solidFill>
                <a:latin typeface="楷体" panose="02010609060101010101" pitchFamily="49" charset="-122"/>
                <a:ea typeface="楷体" panose="02010609060101010101" pitchFamily="49" charset="-122"/>
              </a:rPr>
              <a:t>三种状态</a:t>
            </a:r>
            <a:r>
              <a:rPr lang="zh-CN" altLang="en-US" sz="2000">
                <a:latin typeface="楷体" panose="02010609060101010101" pitchFamily="49" charset="-122"/>
                <a:ea typeface="楷体" panose="02010609060101010101" pitchFamily="49" charset="-122"/>
              </a:rPr>
              <a:t>：</a:t>
            </a:r>
          </a:p>
        </p:txBody>
      </p:sp>
      <p:sp>
        <p:nvSpPr>
          <p:cNvPr id="43015" name="矩形 6"/>
          <p:cNvSpPr>
            <a:spLocks noChangeArrowheads="1"/>
          </p:cNvSpPr>
          <p:nvPr/>
        </p:nvSpPr>
        <p:spPr bwMode="auto">
          <a:xfrm>
            <a:off x="900113" y="5229225"/>
            <a:ext cx="7416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Blip>
                <a:blip r:embed="rId3"/>
              </a:buBlip>
            </a:pPr>
            <a:r>
              <a:rPr lang="zh-CN" altLang="en-US" sz="2000">
                <a:latin typeface="Times New Roman" panose="02020603050405020304" pitchFamily="18" charset="0"/>
                <a:ea typeface="楷体" panose="02010609060101010101" pitchFamily="49" charset="-122"/>
                <a:cs typeface="Times New Roman" panose="02020603050405020304" pitchFamily="18" charset="0"/>
              </a:rPr>
              <a:t> 极少量单体和少量乳化剂以分子分散状态溶解在水中</a:t>
            </a:r>
          </a:p>
          <a:p>
            <a:pPr eaLnBrk="1" hangingPunct="1">
              <a:spcBef>
                <a:spcPct val="0"/>
              </a:spcBef>
              <a:buFontTx/>
              <a:buBlip>
                <a:blip r:embed="rId3"/>
              </a:buBlip>
            </a:pPr>
            <a:r>
              <a:rPr lang="zh-CN" altLang="en-US" sz="2000">
                <a:latin typeface="Times New Roman" panose="02020603050405020304" pitchFamily="18" charset="0"/>
                <a:ea typeface="楷体" panose="02010609060101010101" pitchFamily="49" charset="-122"/>
                <a:cs typeface="Times New Roman" panose="02020603050405020304" pitchFamily="18" charset="0"/>
              </a:rPr>
              <a:t> 大部分乳化剂形成胶束，约</a:t>
            </a:r>
            <a:r>
              <a:rPr lang="en-US" altLang="zh-CN" sz="2000">
                <a:latin typeface="Times New Roman" panose="02020603050405020304" pitchFamily="18" charset="0"/>
                <a:ea typeface="楷体" panose="02010609060101010101" pitchFamily="49" charset="-122"/>
                <a:cs typeface="Times New Roman" panose="02020603050405020304" pitchFamily="18" charset="0"/>
              </a:rPr>
              <a:t>4 ~5 nm</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10</a:t>
            </a:r>
            <a:r>
              <a:rPr lang="en-US" altLang="zh-CN" sz="2000" baseline="30000">
                <a:latin typeface="Times New Roman" panose="02020603050405020304" pitchFamily="18" charset="0"/>
                <a:ea typeface="楷体" panose="02010609060101010101" pitchFamily="49" charset="-122"/>
                <a:cs typeface="Times New Roman" panose="02020603050405020304" pitchFamily="18" charset="0"/>
              </a:rPr>
              <a:t>17-18</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个</a:t>
            </a:r>
            <a:r>
              <a:rPr lang="en-US" altLang="zh-CN" sz="2000">
                <a:latin typeface="Times New Roman" panose="02020603050405020304" pitchFamily="18" charset="0"/>
                <a:ea typeface="楷体" panose="02010609060101010101" pitchFamily="49" charset="-122"/>
                <a:cs typeface="Times New Roman" panose="02020603050405020304" pitchFamily="18" charset="0"/>
              </a:rPr>
              <a:t>/cm</a:t>
            </a:r>
            <a:r>
              <a:rPr lang="en-US" altLang="zh-CN" sz="2000" baseline="30000">
                <a:latin typeface="Times New Roman" panose="02020603050405020304" pitchFamily="18" charset="0"/>
                <a:ea typeface="楷体" panose="02010609060101010101" pitchFamily="49" charset="-122"/>
                <a:cs typeface="Times New Roman" panose="02020603050405020304" pitchFamily="18" charset="0"/>
              </a:rPr>
              <a:t>3</a:t>
            </a:r>
          </a:p>
          <a:p>
            <a:pPr eaLnBrk="1" hangingPunct="1">
              <a:spcBef>
                <a:spcPct val="0"/>
              </a:spcBef>
              <a:buFontTx/>
              <a:buBlip>
                <a:blip r:embed="rId3"/>
              </a:buBlip>
            </a:pPr>
            <a:r>
              <a:rPr lang="zh-CN" altLang="en-US" sz="2000">
                <a:latin typeface="Times New Roman" panose="02020603050405020304" pitchFamily="18" charset="0"/>
                <a:ea typeface="楷体" panose="02010609060101010101" pitchFamily="49" charset="-122"/>
                <a:cs typeface="Times New Roman" panose="02020603050405020304" pitchFamily="18" charset="0"/>
              </a:rPr>
              <a:t> 大部分单体分散成液滴，约</a:t>
            </a:r>
            <a:r>
              <a:rPr lang="en-US" altLang="zh-CN" sz="2000">
                <a:latin typeface="Times New Roman" panose="02020603050405020304" pitchFamily="18" charset="0"/>
                <a:ea typeface="楷体" panose="02010609060101010101" pitchFamily="49" charset="-122"/>
                <a:cs typeface="Times New Roman" panose="02020603050405020304" pitchFamily="18" charset="0"/>
              </a:rPr>
              <a:t>1000 nm</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10</a:t>
            </a:r>
            <a:r>
              <a:rPr lang="en-US" altLang="zh-CN" sz="2000" baseline="30000">
                <a:latin typeface="Times New Roman" panose="02020603050405020304" pitchFamily="18" charset="0"/>
                <a:ea typeface="楷体" panose="02010609060101010101" pitchFamily="49" charset="-122"/>
                <a:cs typeface="Times New Roman" panose="02020603050405020304" pitchFamily="18" charset="0"/>
              </a:rPr>
              <a:t>10-12</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个</a:t>
            </a:r>
            <a:r>
              <a:rPr lang="en-US" altLang="zh-CN" sz="2000">
                <a:latin typeface="Times New Roman" panose="02020603050405020304" pitchFamily="18" charset="0"/>
                <a:ea typeface="楷体" panose="02010609060101010101" pitchFamily="49" charset="-122"/>
                <a:cs typeface="Times New Roman" panose="02020603050405020304" pitchFamily="18" charset="0"/>
              </a:rPr>
              <a:t>/cm</a:t>
            </a:r>
            <a:r>
              <a:rPr lang="en-US" altLang="zh-CN" sz="2000" baseline="30000">
                <a:latin typeface="Times New Roman" panose="02020603050405020304" pitchFamily="18" charset="0"/>
                <a:ea typeface="楷体" panose="02010609060101010101" pitchFamily="49" charset="-122"/>
                <a:cs typeface="Times New Roman" panose="02020603050405020304" pitchFamily="18" charset="0"/>
              </a:rPr>
              <a:t>3</a:t>
            </a:r>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FE46EE-A698-4446-B294-59DF536F13A3}" type="slidenum">
              <a:rPr lang="en-US" altLang="zh-CN">
                <a:solidFill>
                  <a:srgbClr val="898989"/>
                </a:solidFill>
              </a:rPr>
              <a:pPr eaLnBrk="1" hangingPunct="1"/>
              <a:t>39</a:t>
            </a:fld>
            <a:endParaRPr lang="en-US" altLang="zh-CN">
              <a:solidFill>
                <a:srgbClr val="898989"/>
              </a:solidFill>
            </a:endParaRPr>
          </a:p>
        </p:txBody>
      </p:sp>
      <p:sp>
        <p:nvSpPr>
          <p:cNvPr id="44035" name="矩形 2"/>
          <p:cNvSpPr>
            <a:spLocks noChangeArrowheads="1"/>
          </p:cNvSpPr>
          <p:nvPr/>
        </p:nvSpPr>
        <p:spPr bwMode="auto">
          <a:xfrm>
            <a:off x="971550" y="1412875"/>
            <a:ext cx="79216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Blip>
                <a:blip r:embed="rId2"/>
              </a:buBlip>
            </a:pPr>
            <a:r>
              <a:rPr lang="zh-CN" altLang="en-US" sz="2000" b="1">
                <a:solidFill>
                  <a:srgbClr val="990000"/>
                </a:solidFill>
                <a:latin typeface="楷体" panose="02010609060101010101" pitchFamily="49" charset="-122"/>
                <a:ea typeface="楷体" panose="02010609060101010101" pitchFamily="49" charset="-122"/>
              </a:rPr>
              <a:t> 聚合场所：</a:t>
            </a:r>
          </a:p>
          <a:p>
            <a:pPr eaLnBrk="1" hangingPunct="1">
              <a:lnSpc>
                <a:spcPct val="150000"/>
              </a:lnSpc>
              <a:spcBef>
                <a:spcPct val="0"/>
              </a:spcBef>
              <a:buFontTx/>
              <a:buNone/>
            </a:pPr>
            <a:r>
              <a:rPr lang="zh-CN" altLang="en-US" sz="2000">
                <a:latin typeface="楷体" panose="02010609060101010101" pitchFamily="49" charset="-122"/>
                <a:ea typeface="楷体" panose="02010609060101010101" pitchFamily="49" charset="-122"/>
              </a:rPr>
              <a:t>因增溶胶束具有比单体液滴更大比表面积，且内部单体浓度很高，所以易被自由基侵入而引发聚合，因而成为聚合场所。 液滴中的单体则通过水相进入胶束内，以补充聚合消耗。</a:t>
            </a:r>
          </a:p>
        </p:txBody>
      </p:sp>
      <p:sp>
        <p:nvSpPr>
          <p:cNvPr id="44036" name="矩形 3"/>
          <p:cNvSpPr>
            <a:spLocks noChangeArrowheads="1"/>
          </p:cNvSpPr>
          <p:nvPr/>
        </p:nvSpPr>
        <p:spPr bwMode="auto">
          <a:xfrm>
            <a:off x="1042988" y="3284538"/>
            <a:ext cx="4572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Blip>
                <a:blip r:embed="rId2"/>
              </a:buBlip>
            </a:pPr>
            <a:r>
              <a:rPr lang="zh-CN" altLang="en-US" sz="2000" b="1">
                <a:solidFill>
                  <a:srgbClr val="990000"/>
                </a:solidFill>
                <a:latin typeface="楷体" panose="02010609060101010101" pitchFamily="49" charset="-122"/>
                <a:ea typeface="楷体" panose="02010609060101010101" pitchFamily="49" charset="-122"/>
              </a:rPr>
              <a:t> 成核机理</a:t>
            </a:r>
          </a:p>
        </p:txBody>
      </p:sp>
      <p:sp>
        <p:nvSpPr>
          <p:cNvPr id="44037" name="矩形 4"/>
          <p:cNvSpPr>
            <a:spLocks noChangeArrowheads="1"/>
          </p:cNvSpPr>
          <p:nvPr/>
        </p:nvSpPr>
        <p:spPr bwMode="auto">
          <a:xfrm>
            <a:off x="1116013" y="3716338"/>
            <a:ext cx="3775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成核：形成聚合物乳胶粒的过程</a:t>
            </a:r>
          </a:p>
        </p:txBody>
      </p:sp>
      <p:sp>
        <p:nvSpPr>
          <p:cNvPr id="44038" name="矩形 6"/>
          <p:cNvSpPr>
            <a:spLocks noChangeArrowheads="1"/>
          </p:cNvSpPr>
          <p:nvPr/>
        </p:nvSpPr>
        <p:spPr bwMode="auto">
          <a:xfrm>
            <a:off x="971550" y="4149725"/>
            <a:ext cx="756126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Blip>
                <a:blip r:embed="rId3"/>
              </a:buBlip>
            </a:pPr>
            <a:r>
              <a:rPr lang="zh-CN" altLang="en-US" sz="2000">
                <a:latin typeface="楷体" panose="02010609060101010101" pitchFamily="49" charset="-122"/>
                <a:ea typeface="楷体" panose="02010609060101010101" pitchFamily="49" charset="-122"/>
              </a:rPr>
              <a:t> 胶束成核：自由基由水相进入胶束引发增长的过程</a:t>
            </a:r>
            <a:endParaRPr lang="en-US" altLang="zh-CN" sz="2000">
              <a:latin typeface="楷体" panose="02010609060101010101" pitchFamily="49" charset="-122"/>
              <a:ea typeface="楷体" panose="02010609060101010101" pitchFamily="49" charset="-122"/>
            </a:endParaRPr>
          </a:p>
          <a:p>
            <a:pPr eaLnBrk="1" hangingPunct="1">
              <a:spcBef>
                <a:spcPct val="0"/>
              </a:spcBef>
              <a:buFontTx/>
              <a:buNone/>
            </a:pPr>
            <a:endParaRPr lang="en-US" altLang="zh-CN" sz="2000">
              <a:latin typeface="楷体" panose="02010609060101010101" pitchFamily="49" charset="-122"/>
              <a:ea typeface="楷体" panose="02010609060101010101" pitchFamily="49" charset="-122"/>
            </a:endParaRPr>
          </a:p>
          <a:p>
            <a:pPr eaLnBrk="1" hangingPunct="1">
              <a:spcBef>
                <a:spcPct val="0"/>
              </a:spcBef>
              <a:buFontTx/>
              <a:buBlip>
                <a:blip r:embed="rId3"/>
              </a:buBlip>
            </a:pPr>
            <a:r>
              <a:rPr lang="zh-CN" altLang="en-US" sz="2000">
                <a:latin typeface="楷体" panose="02010609060101010101" pitchFamily="49" charset="-122"/>
                <a:ea typeface="楷体" panose="02010609060101010101" pitchFamily="49" charset="-122"/>
              </a:rPr>
              <a:t> 均相成核：在水相沉淀出来的短链自由基，从水相和单体液滴上吸附乳化剂而稳定，继而又有单体扩散 进入形成聚合物乳胶粒的过程</a:t>
            </a:r>
          </a:p>
          <a:p>
            <a:pPr eaLnBrk="1" hangingPunct="1">
              <a:spcBef>
                <a:spcPct val="0"/>
              </a:spcBef>
              <a:buFontTx/>
              <a:buNone/>
            </a:pPr>
            <a:r>
              <a:rPr lang="en-US" altLang="zh-CN" sz="2000">
                <a:latin typeface="楷体" panose="02010609060101010101" pitchFamily="49" charset="-122"/>
                <a:ea typeface="楷体" panose="02010609060101010101" pitchFamily="49" charset="-122"/>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M]&lt;15mmol/L</a:t>
            </a:r>
            <a:r>
              <a:rPr lang="zh-CN" altLang="en-US" sz="2000">
                <a:latin typeface="Times New Roman" panose="02020603050405020304" pitchFamily="18" charset="0"/>
                <a:ea typeface="楷体" panose="02010609060101010101" pitchFamily="49" charset="-122"/>
                <a:cs typeface="Times New Roman" panose="02020603050405020304" pitchFamily="18" charset="0"/>
              </a:rPr>
              <a:t>，胶束成核为主；</a:t>
            </a:r>
            <a:r>
              <a:rPr lang="en-US" altLang="zh-CN" sz="2000">
                <a:latin typeface="Times New Roman" panose="02020603050405020304" pitchFamily="18" charset="0"/>
                <a:ea typeface="楷体" panose="02010609060101010101" pitchFamily="49" charset="-122"/>
                <a:cs typeface="Times New Roman" panose="02020603050405020304" pitchFamily="18" charset="0"/>
              </a:rPr>
              <a:t>[M]&gt;170mmol/L</a:t>
            </a:r>
            <a:r>
              <a:rPr lang="zh-CN" altLang="en-US" sz="2000">
                <a:latin typeface="Times New Roman" panose="02020603050405020304" pitchFamily="18" charset="0"/>
                <a:ea typeface="楷体" panose="02010609060101010101" pitchFamily="49" charset="-122"/>
                <a:cs typeface="Times New Roman" panose="02020603050405020304" pitchFamily="18" charset="0"/>
              </a:rPr>
              <a:t>，均相成核为主。</a:t>
            </a:r>
            <a:endParaRPr lang="zh-CN" altLang="en-US" sz="18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07AF1A-B3BB-457A-BF4C-82F504DC3079}" type="slidenum">
              <a:rPr lang="en-US" altLang="zh-CN">
                <a:solidFill>
                  <a:srgbClr val="898989"/>
                </a:solidFill>
              </a:rPr>
              <a:pPr eaLnBrk="1" hangingPunct="1"/>
              <a:t>40</a:t>
            </a:fld>
            <a:endParaRPr lang="en-US" altLang="zh-CN">
              <a:solidFill>
                <a:srgbClr val="898989"/>
              </a:solidFill>
            </a:endParaRPr>
          </a:p>
        </p:txBody>
      </p:sp>
      <p:sp>
        <p:nvSpPr>
          <p:cNvPr id="45059" name="矩形 2"/>
          <p:cNvSpPr>
            <a:spLocks noChangeArrowheads="1"/>
          </p:cNvSpPr>
          <p:nvPr/>
        </p:nvSpPr>
        <p:spPr bwMode="auto">
          <a:xfrm>
            <a:off x="1187450" y="1989138"/>
            <a:ext cx="180022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Blip>
                <a:blip r:embed="rId2"/>
              </a:buBlip>
            </a:pPr>
            <a:r>
              <a:rPr lang="zh-CN" altLang="en-US" sz="2000" b="1">
                <a:solidFill>
                  <a:srgbClr val="990000"/>
                </a:solidFill>
                <a:latin typeface="楷体" panose="02010609060101010101" pitchFamily="49" charset="-122"/>
                <a:ea typeface="楷体" panose="02010609060101010101" pitchFamily="49" charset="-122"/>
              </a:rPr>
              <a:t>聚合过程</a:t>
            </a:r>
          </a:p>
          <a:p>
            <a:pPr eaLnBrk="1" hangingPunct="1">
              <a:lnSpc>
                <a:spcPct val="150000"/>
              </a:lnSpc>
              <a:spcBef>
                <a:spcPct val="0"/>
              </a:spcBef>
              <a:buFontTx/>
              <a:buNone/>
            </a:pPr>
            <a:r>
              <a:rPr lang="zh-CN" altLang="en-US" sz="2000">
                <a:latin typeface="楷体" panose="02010609060101010101" pitchFamily="49" charset="-122"/>
                <a:ea typeface="楷体" panose="02010609060101010101" pitchFamily="49" charset="-122"/>
              </a:rPr>
              <a:t>根据聚合物乳胶粒的数目和单体液滴是否存在，乳液聚合分为</a:t>
            </a:r>
            <a:r>
              <a:rPr lang="zh-CN" altLang="en-US" sz="2000">
                <a:solidFill>
                  <a:srgbClr val="990000"/>
                </a:solidFill>
                <a:latin typeface="楷体" panose="02010609060101010101" pitchFamily="49" charset="-122"/>
                <a:ea typeface="楷体" panose="02010609060101010101" pitchFamily="49" charset="-122"/>
              </a:rPr>
              <a:t>三个</a:t>
            </a:r>
            <a:r>
              <a:rPr lang="zh-CN" altLang="en-US" sz="2000">
                <a:latin typeface="楷体" panose="02010609060101010101" pitchFamily="49" charset="-122"/>
                <a:ea typeface="楷体" panose="02010609060101010101" pitchFamily="49" charset="-122"/>
              </a:rPr>
              <a:t>阶段：</a:t>
            </a:r>
          </a:p>
        </p:txBody>
      </p:sp>
      <p:pic>
        <p:nvPicPr>
          <p:cNvPr id="4506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1412875"/>
            <a:ext cx="4824412"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A6549DD-264A-4ABD-8C2E-A775A81BBF45}" type="slidenum">
              <a:rPr lang="en-US" altLang="zh-CN">
                <a:solidFill>
                  <a:srgbClr val="898989"/>
                </a:solidFill>
              </a:rPr>
              <a:pPr eaLnBrk="1" hangingPunct="1"/>
              <a:t>41</a:t>
            </a:fld>
            <a:endParaRPr lang="en-US" altLang="zh-CN">
              <a:solidFill>
                <a:srgbClr val="898989"/>
              </a:solidFill>
            </a:endParaRPr>
          </a:p>
        </p:txBody>
      </p:sp>
      <p:sp>
        <p:nvSpPr>
          <p:cNvPr id="46083" name="矩形 2"/>
          <p:cNvSpPr>
            <a:spLocks noChangeArrowheads="1"/>
          </p:cNvSpPr>
          <p:nvPr/>
        </p:nvSpPr>
        <p:spPr bwMode="auto">
          <a:xfrm>
            <a:off x="684213" y="1268413"/>
            <a:ext cx="8135937"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en-US" altLang="zh-CN"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Ⅰ</a:t>
            </a:r>
            <a:r>
              <a:rPr lang="zh-CN" altLang="en-US"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阶段：乳胶粒生成期</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，从开始引发到胶束消失为止，</a:t>
            </a:r>
            <a:r>
              <a:rPr lang="en-US" altLang="zh-CN" sz="2000">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aseline="-25000">
                <a:latin typeface="Times New Roman" panose="02020603050405020304" pitchFamily="18" charset="0"/>
                <a:ea typeface="楷体" panose="02010609060101010101" pitchFamily="49" charset="-122"/>
                <a:cs typeface="Times New Roman" panose="02020603050405020304" pitchFamily="18" charset="0"/>
              </a:rPr>
              <a:t>p</a:t>
            </a:r>
            <a:r>
              <a:rPr lang="zh-CN" altLang="en-US" sz="2000">
                <a:latin typeface="Times New Roman" panose="02020603050405020304" pitchFamily="18" charset="0"/>
                <a:ea typeface="楷体" panose="02010609060101010101" pitchFamily="49" charset="-122"/>
                <a:cs typeface="Times New Roman" panose="02020603050405020304" pitchFamily="18" charset="0"/>
              </a:rPr>
              <a:t>递增</a:t>
            </a:r>
          </a:p>
          <a:p>
            <a:pPr eaLnBrk="1" hangingPunct="1">
              <a:lnSpc>
                <a:spcPct val="150000"/>
              </a:lnSpc>
              <a:spcBef>
                <a:spcPct val="0"/>
              </a:spcBef>
              <a:buFontTx/>
              <a:buNone/>
            </a:pPr>
            <a:r>
              <a:rPr lang="en-US" altLang="zh-CN"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Ⅱ</a:t>
            </a:r>
            <a:r>
              <a:rPr lang="zh-CN" altLang="en-US"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阶段：恒速期</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，从胶束消失到单体液滴消失为止，</a:t>
            </a:r>
            <a:r>
              <a:rPr lang="en-US" altLang="zh-CN" sz="2000">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aseline="-25000">
                <a:latin typeface="Times New Roman" panose="02020603050405020304" pitchFamily="18" charset="0"/>
                <a:ea typeface="楷体" panose="02010609060101010101" pitchFamily="49" charset="-122"/>
                <a:cs typeface="Times New Roman" panose="02020603050405020304" pitchFamily="18" charset="0"/>
              </a:rPr>
              <a:t>p</a:t>
            </a:r>
            <a:r>
              <a:rPr lang="zh-CN" altLang="en-US" sz="2000">
                <a:latin typeface="Times New Roman" panose="02020603050405020304" pitchFamily="18" charset="0"/>
                <a:ea typeface="楷体" panose="02010609060101010101" pitchFamily="49" charset="-122"/>
                <a:cs typeface="Times New Roman" panose="02020603050405020304" pitchFamily="18" charset="0"/>
              </a:rPr>
              <a:t>恒定</a:t>
            </a:r>
          </a:p>
          <a:p>
            <a:pPr eaLnBrk="1" hangingPunct="1">
              <a:lnSpc>
                <a:spcPct val="150000"/>
              </a:lnSpc>
              <a:spcBef>
                <a:spcPct val="0"/>
              </a:spcBef>
              <a:buFontTx/>
              <a:buNone/>
            </a:pPr>
            <a:r>
              <a:rPr lang="en-US" altLang="zh-CN"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Ⅲ</a:t>
            </a:r>
            <a:r>
              <a:rPr lang="zh-CN" altLang="en-US"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阶段：降速期</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，从单体液滴消失到聚合结束，</a:t>
            </a:r>
            <a:r>
              <a:rPr lang="en-US" altLang="zh-CN" sz="2000">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aseline="-25000">
                <a:latin typeface="Times New Roman" panose="02020603050405020304" pitchFamily="18" charset="0"/>
                <a:ea typeface="楷体" panose="02010609060101010101" pitchFamily="49" charset="-122"/>
                <a:cs typeface="Times New Roman" panose="02020603050405020304" pitchFamily="18" charset="0"/>
              </a:rPr>
              <a:t>p</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下降</a:t>
            </a:r>
          </a:p>
        </p:txBody>
      </p:sp>
      <p:pic>
        <p:nvPicPr>
          <p:cNvPr id="460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2708275"/>
            <a:ext cx="6270625"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矩形 4"/>
          <p:cNvSpPr>
            <a:spLocks noChangeArrowheads="1"/>
          </p:cNvSpPr>
          <p:nvPr/>
        </p:nvSpPr>
        <p:spPr bwMode="auto">
          <a:xfrm>
            <a:off x="539750" y="5373688"/>
            <a:ext cx="7561263"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机理特征：</a:t>
            </a:r>
            <a:r>
              <a:rPr lang="zh-CN" altLang="en-US" sz="2000">
                <a:latin typeface="Times New Roman" panose="02020603050405020304" pitchFamily="18" charset="0"/>
                <a:ea typeface="楷体" panose="02010609060101010101" pitchFamily="49" charset="-122"/>
                <a:cs typeface="Times New Roman" panose="02020603050405020304" pitchFamily="18" charset="0"/>
              </a:rPr>
              <a:t>水相中引发，胶束成核，在胶束或胶粒的隔离环境下增长，自由基寿命长，另一自由基进入胶粒后才终止；兼具高速率和高分子量。</a:t>
            </a:r>
          </a:p>
        </p:txBody>
      </p:sp>
      <p:sp>
        <p:nvSpPr>
          <p:cNvPr id="6"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901999-66EE-471E-9B51-06A268B88E57}" type="slidenum">
              <a:rPr lang="en-US" altLang="zh-CN">
                <a:solidFill>
                  <a:srgbClr val="898989"/>
                </a:solidFill>
              </a:rPr>
              <a:pPr eaLnBrk="1" hangingPunct="1"/>
              <a:t>42</a:t>
            </a:fld>
            <a:endParaRPr lang="en-US" altLang="zh-CN">
              <a:solidFill>
                <a:srgbClr val="898989"/>
              </a:solidFill>
            </a:endParaRPr>
          </a:p>
        </p:txBody>
      </p:sp>
      <p:sp>
        <p:nvSpPr>
          <p:cNvPr id="47107" name="矩形 2"/>
          <p:cNvSpPr>
            <a:spLocks noChangeArrowheads="1"/>
          </p:cNvSpPr>
          <p:nvPr/>
        </p:nvSpPr>
        <p:spPr bwMode="auto">
          <a:xfrm>
            <a:off x="900113" y="1341438"/>
            <a:ext cx="734377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b="1">
                <a:solidFill>
                  <a:srgbClr val="990000"/>
                </a:solidFill>
                <a:latin typeface="楷体" panose="02010609060101010101" pitchFamily="49" charset="-122"/>
                <a:ea typeface="楷体" panose="02010609060101010101" pitchFamily="49" charset="-122"/>
              </a:rPr>
              <a:t>乳液聚合动力学</a:t>
            </a:r>
          </a:p>
          <a:p>
            <a:pPr eaLnBrk="1" hangingPunct="1">
              <a:lnSpc>
                <a:spcPct val="150000"/>
              </a:lnSpc>
              <a:spcBef>
                <a:spcPct val="0"/>
              </a:spcBef>
              <a:buFontTx/>
              <a:buNone/>
            </a:pPr>
            <a:r>
              <a:rPr lang="en-US" altLang="zh-CN"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）聚合速率</a:t>
            </a:r>
          </a:p>
          <a:p>
            <a:pPr lvl="1" eaLnBrk="1" hangingPunct="1">
              <a:lnSpc>
                <a:spcPct val="150000"/>
              </a:lnSpc>
              <a:spcBef>
                <a:spcPct val="0"/>
              </a:spcBef>
              <a:buFontTx/>
              <a:buNone/>
            </a:pPr>
            <a:r>
              <a:rPr lang="zh-CN" altLang="en-US" sz="2000">
                <a:latin typeface="楷体" panose="02010609060101010101" pitchFamily="49" charset="-122"/>
                <a:ea typeface="楷体" panose="02010609060101010101" pitchFamily="49" charset="-122"/>
              </a:rPr>
              <a:t>动力学研究多着重于第二阶段</a:t>
            </a:r>
            <a:r>
              <a:rPr lang="en-US" altLang="zh-CN" sz="2000" b="1">
                <a:latin typeface="楷体" panose="02010609060101010101" pitchFamily="49" charset="-122"/>
                <a:ea typeface="楷体" panose="02010609060101010101" pitchFamily="49" charset="-122"/>
              </a:rPr>
              <a:t>——</a:t>
            </a:r>
            <a:r>
              <a:rPr lang="zh-CN" altLang="en-US" sz="2000" b="1">
                <a:latin typeface="楷体" panose="02010609060101010101" pitchFamily="49" charset="-122"/>
                <a:ea typeface="楷体" panose="02010609060101010101" pitchFamily="49" charset="-122"/>
              </a:rPr>
              <a:t>即恒速阶段</a:t>
            </a:r>
          </a:p>
          <a:p>
            <a:pPr eaLnBrk="1" hangingPunct="1">
              <a:lnSpc>
                <a:spcPct val="150000"/>
              </a:lnSpc>
              <a:spcBef>
                <a:spcPct val="0"/>
              </a:spcBef>
              <a:buFontTx/>
              <a:buNone/>
            </a:pPr>
            <a:r>
              <a:rPr lang="zh-CN" altLang="en-US" sz="2000">
                <a:latin typeface="楷体" panose="02010609060101010101" pitchFamily="49" charset="-122"/>
                <a:ea typeface="楷体" panose="02010609060101010101" pitchFamily="49" charset="-122"/>
              </a:rPr>
              <a:t>自由基聚合速率可表示为：</a:t>
            </a:r>
          </a:p>
        </p:txBody>
      </p:sp>
      <p:pic>
        <p:nvPicPr>
          <p:cNvPr id="4710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3284538"/>
            <a:ext cx="3825875"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1116013" y="4292600"/>
            <a:ext cx="6769100" cy="1419225"/>
          </a:xfrm>
          <a:prstGeom prst="rect">
            <a:avLst/>
          </a:prstGeom>
        </p:spPr>
        <p:txBody>
          <a:bodyPr>
            <a:spAutoFit/>
          </a:bodyPr>
          <a:lstStyle/>
          <a:p>
            <a:pPr>
              <a:lnSpc>
                <a:spcPct val="150000"/>
              </a:lnSpc>
              <a:defRPr/>
            </a:pPr>
            <a:r>
              <a:rPr lang="zh-CN" altLang="en-US" sz="2000" dirty="0">
                <a:latin typeface="Times New Roman" pitchFamily="18" charset="0"/>
                <a:ea typeface="楷体" pitchFamily="49" charset="-122"/>
                <a:cs typeface="Times New Roman" pitchFamily="18" charset="0"/>
              </a:rPr>
              <a:t>在乳液聚合中，</a:t>
            </a:r>
            <a:r>
              <a:rPr lang="en-US" altLang="zh-CN" sz="2000" dirty="0">
                <a:latin typeface="Times New Roman" pitchFamily="18" charset="0"/>
                <a:ea typeface="楷体" pitchFamily="49" charset="-122"/>
                <a:cs typeface="Times New Roman" pitchFamily="18" charset="0"/>
              </a:rPr>
              <a:t>[ M ]</a:t>
            </a:r>
            <a:r>
              <a:rPr lang="zh-CN" altLang="en-US" sz="2000" dirty="0">
                <a:latin typeface="Times New Roman" pitchFamily="18" charset="0"/>
                <a:ea typeface="楷体" pitchFamily="49" charset="-122"/>
                <a:cs typeface="Times New Roman" pitchFamily="18" charset="0"/>
              </a:rPr>
              <a:t>表示乳胶粒中的单体浓度，</a:t>
            </a:r>
            <a:r>
              <a:rPr lang="en-US" altLang="zh-CN" sz="2000" dirty="0">
                <a:latin typeface="Times New Roman" pitchFamily="18" charset="0"/>
                <a:ea typeface="楷体" pitchFamily="49" charset="-122"/>
                <a:cs typeface="Times New Roman" pitchFamily="18" charset="0"/>
              </a:rPr>
              <a:t>mol /L</a:t>
            </a:r>
          </a:p>
          <a:p>
            <a:pPr indent="1790700">
              <a:lnSpc>
                <a:spcPct val="150000"/>
              </a:lnSpc>
              <a:defRPr/>
            </a:pPr>
            <a:r>
              <a:rPr lang="en-US" altLang="zh-CN" sz="2000" dirty="0">
                <a:latin typeface="Times New Roman" pitchFamily="18" charset="0"/>
                <a:ea typeface="楷体" pitchFamily="49" charset="-122"/>
                <a:cs typeface="Times New Roman" pitchFamily="18" charset="0"/>
              </a:rPr>
              <a:t>[ M·]</a:t>
            </a:r>
            <a:r>
              <a:rPr lang="zh-CN" altLang="en-US" sz="2000" dirty="0">
                <a:latin typeface="Times New Roman" pitchFamily="18" charset="0"/>
                <a:ea typeface="楷体" pitchFamily="49" charset="-122"/>
                <a:cs typeface="Times New Roman" pitchFamily="18" charset="0"/>
              </a:rPr>
              <a:t>与乳胶粒数有关</a:t>
            </a:r>
          </a:p>
          <a:p>
            <a:pPr>
              <a:lnSpc>
                <a:spcPct val="150000"/>
              </a:lnSpc>
              <a:defRPr/>
            </a:pPr>
            <a:r>
              <a:rPr lang="zh-CN" altLang="en-US" sz="2000" dirty="0">
                <a:latin typeface="Times New Roman" pitchFamily="18" charset="0"/>
                <a:ea typeface="楷体" pitchFamily="49" charset="-122"/>
                <a:cs typeface="Times New Roman" pitchFamily="18" charset="0"/>
              </a:rPr>
              <a:t>考虑</a:t>
            </a:r>
            <a:r>
              <a:rPr lang="en-US" altLang="zh-CN" sz="2000" dirty="0">
                <a:latin typeface="Times New Roman" pitchFamily="18" charset="0"/>
                <a:ea typeface="楷体" pitchFamily="49" charset="-122"/>
                <a:cs typeface="Times New Roman" pitchFamily="18" charset="0"/>
              </a:rPr>
              <a:t>1</a:t>
            </a:r>
            <a:r>
              <a:rPr lang="zh-CN" altLang="en-US" sz="2000" dirty="0">
                <a:latin typeface="Times New Roman" pitchFamily="18" charset="0"/>
                <a:ea typeface="楷体" pitchFamily="49" charset="-122"/>
                <a:cs typeface="Times New Roman" pitchFamily="18" charset="0"/>
              </a:rPr>
              <a:t>升的乳胶粒中的自由基浓度：</a:t>
            </a:r>
          </a:p>
        </p:txBody>
      </p:sp>
      <p:sp>
        <p:nvSpPr>
          <p:cNvPr id="6"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B57C531-767C-471A-BF93-93487E23111B}" type="slidenum">
              <a:rPr lang="en-US" altLang="zh-CN">
                <a:solidFill>
                  <a:srgbClr val="898989"/>
                </a:solidFill>
              </a:rPr>
              <a:pPr eaLnBrk="1" hangingPunct="1"/>
              <a:t>43</a:t>
            </a:fld>
            <a:endParaRPr lang="en-US" altLang="zh-CN">
              <a:solidFill>
                <a:srgbClr val="898989"/>
              </a:solidFill>
            </a:endParaRPr>
          </a:p>
        </p:txBody>
      </p:sp>
      <p:pic>
        <p:nvPicPr>
          <p:cNvPr id="481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1268413"/>
            <a:ext cx="2736850" cy="122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矩形 3"/>
          <p:cNvSpPr>
            <a:spLocks noChangeArrowheads="1"/>
          </p:cNvSpPr>
          <p:nvPr/>
        </p:nvSpPr>
        <p:spPr bwMode="auto">
          <a:xfrm>
            <a:off x="1116013" y="2492375"/>
            <a:ext cx="6840537"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式中，</a:t>
            </a:r>
            <a:r>
              <a:rPr lang="en-US" altLang="zh-CN" sz="2000">
                <a:latin typeface="Times New Roman" panose="02020603050405020304" pitchFamily="18" charset="0"/>
                <a:ea typeface="楷体" panose="02010609060101010101" pitchFamily="49" charset="-122"/>
                <a:cs typeface="Times New Roman" panose="02020603050405020304" pitchFamily="18" charset="0"/>
              </a:rPr>
              <a:t>N </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：乳胶粒数，单位为个</a:t>
            </a:r>
            <a:r>
              <a:rPr lang="en-US" altLang="zh-CN" sz="2000">
                <a:latin typeface="Times New Roman" panose="02020603050405020304" pitchFamily="18" charset="0"/>
                <a:ea typeface="楷体" panose="02010609060101010101" pitchFamily="49" charset="-122"/>
                <a:cs typeface="Times New Roman" panose="02020603050405020304" pitchFamily="18" charset="0"/>
              </a:rPr>
              <a:t>/cm</a:t>
            </a:r>
            <a:r>
              <a:rPr lang="en-US" altLang="zh-CN" sz="2000" baseline="30000">
                <a:latin typeface="Times New Roman" panose="02020603050405020304" pitchFamily="18" charset="0"/>
                <a:ea typeface="楷体" panose="02010609060101010101" pitchFamily="49" charset="-122"/>
                <a:cs typeface="Times New Roman" panose="02020603050405020304" pitchFamily="18" charset="0"/>
              </a:rPr>
              <a:t>3</a:t>
            </a:r>
          </a:p>
          <a:p>
            <a:pPr eaLnBrk="1" hangingPunct="1">
              <a:lnSpc>
                <a:spcPct val="150000"/>
              </a:lnSpc>
              <a:spcBef>
                <a:spcPct val="0"/>
              </a:spcBef>
              <a:buFontTx/>
              <a:buNone/>
            </a:pPr>
            <a:r>
              <a:rPr lang="en-US" altLang="zh-CN" sz="2000">
                <a:latin typeface="Times New Roman" panose="02020603050405020304" pitchFamily="18" charset="0"/>
                <a:ea typeface="楷体" panose="02010609060101010101" pitchFamily="49" charset="-122"/>
                <a:cs typeface="Times New Roman" panose="02020603050405020304" pitchFamily="18" charset="0"/>
              </a:rPr>
              <a:t>NA </a:t>
            </a:r>
            <a:r>
              <a:rPr lang="zh-CN" altLang="en-US" sz="2000">
                <a:latin typeface="Times New Roman" panose="02020603050405020304" pitchFamily="18" charset="0"/>
                <a:ea typeface="楷体" panose="02010609060101010101" pitchFamily="49" charset="-122"/>
                <a:cs typeface="Times New Roman" panose="02020603050405020304" pitchFamily="18" charset="0"/>
              </a:rPr>
              <a:t>：阿佛伽德罗常数</a:t>
            </a:r>
          </a:p>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       ：每个乳胶粒内的平均自由基数</a:t>
            </a:r>
          </a:p>
          <a:p>
            <a:pPr eaLnBrk="1" hangingPunct="1">
              <a:lnSpc>
                <a:spcPct val="150000"/>
              </a:lnSpc>
              <a:spcBef>
                <a:spcPct val="0"/>
              </a:spcBef>
              <a:buFontTx/>
              <a:buNone/>
            </a:pPr>
            <a:r>
              <a:rPr lang="en-US" altLang="zh-CN" sz="2000">
                <a:latin typeface="Times New Roman" panose="02020603050405020304" pitchFamily="18" charset="0"/>
                <a:ea typeface="楷体" panose="02010609060101010101" pitchFamily="49" charset="-122"/>
                <a:cs typeface="Times New Roman" panose="02020603050405020304" pitchFamily="18" charset="0"/>
              </a:rPr>
              <a:t>10</a:t>
            </a:r>
            <a:r>
              <a:rPr lang="en-US" altLang="zh-CN" sz="2000" baseline="3000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a:latin typeface="Times New Roman" panose="02020603050405020304" pitchFamily="18" charset="0"/>
                <a:ea typeface="楷体" panose="02010609060101010101" pitchFamily="49" charset="-122"/>
                <a:cs typeface="Times New Roman" panose="02020603050405020304" pitchFamily="18" charset="0"/>
              </a:rPr>
              <a:t> N / N</a:t>
            </a:r>
            <a:r>
              <a:rPr lang="en-US" altLang="zh-CN" sz="2000" baseline="-25000">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a:latin typeface="Times New Roman" panose="02020603050405020304" pitchFamily="18" charset="0"/>
                <a:ea typeface="楷体" panose="02010609060101010101" pitchFamily="49" charset="-122"/>
                <a:cs typeface="Times New Roman" panose="02020603050405020304" pitchFamily="18" charset="0"/>
              </a:rPr>
              <a:t>是将粒子浓度化为</a:t>
            </a:r>
            <a:r>
              <a:rPr lang="en-US" altLang="zh-CN" sz="2000">
                <a:latin typeface="Times New Roman" panose="02020603050405020304" pitchFamily="18" charset="0"/>
                <a:ea typeface="楷体" panose="02010609060101010101" pitchFamily="49" charset="-122"/>
                <a:cs typeface="Times New Roman" panose="02020603050405020304" pitchFamily="18" charset="0"/>
              </a:rPr>
              <a:t>mol /L</a:t>
            </a:r>
          </a:p>
          <a:p>
            <a:pPr eaLnBrk="1" hangingPunct="1">
              <a:lnSpc>
                <a:spcPct val="150000"/>
              </a:lnSpc>
              <a:spcBef>
                <a:spcPct val="0"/>
              </a:spcBef>
              <a:buFontTx/>
              <a:buNone/>
            </a:pPr>
            <a:r>
              <a:rPr lang="zh-CN" altLang="en-US"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乳液聚合恒速期的聚合速率表达式：</a:t>
            </a:r>
          </a:p>
        </p:txBody>
      </p:sp>
      <p:pic>
        <p:nvPicPr>
          <p:cNvPr id="4813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3573463"/>
            <a:ext cx="2762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4941888"/>
            <a:ext cx="3527425"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pic>
        <p:nvPicPr>
          <p:cNvPr id="4813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425" y="4175125"/>
            <a:ext cx="28924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086CB6-8B0F-45F8-8020-F6F1015FC650}" type="slidenum">
              <a:rPr lang="en-US" altLang="zh-CN">
                <a:solidFill>
                  <a:srgbClr val="898989"/>
                </a:solidFill>
              </a:rPr>
              <a:pPr eaLnBrk="1" hangingPunct="1"/>
              <a:t>44</a:t>
            </a:fld>
            <a:endParaRPr lang="en-US" altLang="zh-CN">
              <a:solidFill>
                <a:srgbClr val="898989"/>
              </a:solidFill>
            </a:endParaRPr>
          </a:p>
        </p:txBody>
      </p:sp>
      <p:sp>
        <p:nvSpPr>
          <p:cNvPr id="49155" name="矩形 2"/>
          <p:cNvSpPr>
            <a:spLocks noChangeArrowheads="1"/>
          </p:cNvSpPr>
          <p:nvPr/>
        </p:nvSpPr>
        <p:spPr bwMode="auto">
          <a:xfrm>
            <a:off x="1187450" y="2492375"/>
            <a:ext cx="7129463"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对于第</a:t>
            </a:r>
            <a:r>
              <a:rPr lang="en-US" altLang="zh-CN" sz="2000">
                <a:latin typeface="Times New Roman" panose="02020603050405020304" pitchFamily="18" charset="0"/>
                <a:ea typeface="楷体" panose="02010609060101010101" pitchFamily="49" charset="-122"/>
                <a:cs typeface="Times New Roman" panose="02020603050405020304" pitchFamily="18" charset="0"/>
              </a:rPr>
              <a:t>Ⅰ</a:t>
            </a:r>
            <a:r>
              <a:rPr lang="zh-CN" altLang="en-US" sz="2000">
                <a:latin typeface="Times New Roman" panose="02020603050405020304" pitchFamily="18" charset="0"/>
                <a:ea typeface="楷体" panose="02010609060101010101" pitchFamily="49" charset="-122"/>
                <a:cs typeface="Times New Roman" panose="02020603050405020304" pitchFamily="18" charset="0"/>
              </a:rPr>
              <a:t>阶段：自由基不断进入胶束引发聚合，成核的乳胶粒数</a:t>
            </a:r>
            <a:r>
              <a:rPr lang="en-US" altLang="zh-CN" sz="2000">
                <a:latin typeface="Times New Roman" panose="02020603050405020304" pitchFamily="18" charset="0"/>
                <a:ea typeface="楷体" panose="02010609060101010101" pitchFamily="49" charset="-122"/>
                <a:cs typeface="Times New Roman" panose="02020603050405020304" pitchFamily="18" charset="0"/>
              </a:rPr>
              <a:t>N </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从零不断增加。</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aseline="-25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不断增加</a:t>
            </a:r>
          </a:p>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对于第</a:t>
            </a:r>
            <a:r>
              <a:rPr lang="en-US" altLang="zh-CN" sz="2000">
                <a:latin typeface="Times New Roman" panose="02020603050405020304" pitchFamily="18" charset="0"/>
                <a:ea typeface="楷体" panose="02010609060101010101" pitchFamily="49" charset="-122"/>
                <a:cs typeface="Times New Roman" panose="02020603050405020304" pitchFamily="18" charset="0"/>
              </a:rPr>
              <a:t>Ⅱ</a:t>
            </a:r>
            <a:r>
              <a:rPr lang="zh-CN" altLang="en-US" sz="2000">
                <a:latin typeface="Times New Roman" panose="02020603050405020304" pitchFamily="18" charset="0"/>
                <a:ea typeface="楷体" panose="02010609060101010101" pitchFamily="49" charset="-122"/>
                <a:cs typeface="Times New Roman" panose="02020603050405020304" pitchFamily="18" charset="0"/>
              </a:rPr>
              <a:t>阶段：胶束已消失，不再有新的胶束成核，</a:t>
            </a:r>
            <a:r>
              <a:rPr lang="en-US" altLang="zh-CN" sz="200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a:latin typeface="Times New Roman" panose="02020603050405020304" pitchFamily="18" charset="0"/>
                <a:ea typeface="楷体" panose="02010609060101010101" pitchFamily="49" charset="-122"/>
                <a:cs typeface="Times New Roman" panose="02020603050405020304" pitchFamily="18" charset="0"/>
              </a:rPr>
              <a:t>恒定；单体液滴存在，不断通过水相向乳胶粒补充单体，使乳胶粒内单体浓度恒定。</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aseline="-25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恒定</a:t>
            </a:r>
          </a:p>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对于第</a:t>
            </a:r>
            <a:r>
              <a:rPr lang="en-US" altLang="zh-CN" sz="2000">
                <a:latin typeface="Times New Roman" panose="02020603050405020304" pitchFamily="18" charset="0"/>
                <a:ea typeface="楷体" panose="02010609060101010101" pitchFamily="49" charset="-122"/>
                <a:cs typeface="Times New Roman" panose="02020603050405020304" pitchFamily="18" charset="0"/>
              </a:rPr>
              <a:t>Ⅲ</a:t>
            </a:r>
            <a:r>
              <a:rPr lang="zh-CN" altLang="en-US" sz="2000">
                <a:latin typeface="Times New Roman" panose="02020603050405020304" pitchFamily="18" charset="0"/>
                <a:ea typeface="楷体" panose="02010609060101010101" pitchFamily="49" charset="-122"/>
                <a:cs typeface="Times New Roman" panose="02020603050405020304" pitchFamily="18" charset="0"/>
              </a:rPr>
              <a:t>阶段：单体液滴消失，乳胶粒内单体浓度</a:t>
            </a:r>
            <a:r>
              <a:rPr lang="en-US" altLang="zh-CN" sz="2000">
                <a:latin typeface="Times New Roman" panose="02020603050405020304" pitchFamily="18" charset="0"/>
                <a:ea typeface="楷体" panose="02010609060101010101" pitchFamily="49" charset="-122"/>
                <a:cs typeface="Times New Roman" panose="02020603050405020304" pitchFamily="18" charset="0"/>
              </a:rPr>
              <a:t>[M]</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不断下降。</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aseline="-25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不断下降</a:t>
            </a:r>
          </a:p>
        </p:txBody>
      </p:sp>
      <p:sp>
        <p:nvSpPr>
          <p:cNvPr id="49156" name="矩形 3"/>
          <p:cNvSpPr>
            <a:spLocks noChangeArrowheads="1"/>
          </p:cNvSpPr>
          <p:nvPr/>
        </p:nvSpPr>
        <p:spPr bwMode="auto">
          <a:xfrm>
            <a:off x="1187450" y="1700213"/>
            <a:ext cx="955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solidFill>
                  <a:srgbClr val="990000"/>
                </a:solidFill>
                <a:latin typeface="楷体" panose="02010609060101010101" pitchFamily="49" charset="-122"/>
                <a:ea typeface="楷体" panose="02010609060101010101" pitchFamily="49" charset="-122"/>
              </a:rPr>
              <a:t>讨论</a:t>
            </a:r>
            <a:r>
              <a:rPr lang="en-US" altLang="zh-CN" sz="2400" b="1">
                <a:solidFill>
                  <a:srgbClr val="990000"/>
                </a:solidFill>
                <a:latin typeface="楷体" panose="02010609060101010101" pitchFamily="49" charset="-122"/>
                <a:ea typeface="楷体" panose="02010609060101010101" pitchFamily="49" charset="-122"/>
              </a:rPr>
              <a:t>:</a:t>
            </a:r>
            <a:endParaRPr lang="zh-CN" altLang="en-US" sz="2400" b="1">
              <a:solidFill>
                <a:srgbClr val="990000"/>
              </a:solidFill>
              <a:latin typeface="楷体" panose="02010609060101010101" pitchFamily="49" charset="-122"/>
              <a:ea typeface="楷体" panose="02010609060101010101" pitchFamily="49" charset="-122"/>
            </a:endParaRPr>
          </a:p>
        </p:txBody>
      </p:sp>
      <p:pic>
        <p:nvPicPr>
          <p:cNvPr id="491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1341438"/>
            <a:ext cx="238125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CA8F67-C602-489E-8BAB-DD0037771B5A}" type="slidenum">
              <a:rPr lang="en-US" altLang="zh-CN">
                <a:solidFill>
                  <a:srgbClr val="898989"/>
                </a:solidFill>
              </a:rPr>
              <a:pPr eaLnBrk="1" hangingPunct="1"/>
              <a:t>45</a:t>
            </a:fld>
            <a:endParaRPr lang="en-US" altLang="zh-CN">
              <a:solidFill>
                <a:srgbClr val="898989"/>
              </a:solidFill>
            </a:endParaRPr>
          </a:p>
        </p:txBody>
      </p:sp>
      <p:sp>
        <p:nvSpPr>
          <p:cNvPr id="50179" name="矩形 2"/>
          <p:cNvSpPr>
            <a:spLocks noChangeArrowheads="1"/>
          </p:cNvSpPr>
          <p:nvPr/>
        </p:nvSpPr>
        <p:spPr bwMode="auto">
          <a:xfrm>
            <a:off x="827088" y="1484313"/>
            <a:ext cx="7921625" cy="166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8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假定：</a:t>
            </a:r>
          </a:p>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）乳胶粒中的自由基的解吸与吸收自由基的速率相比可忽略不计；</a:t>
            </a:r>
          </a:p>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）乳胶粒尺寸太小不能容纳一个以上自由基。</a:t>
            </a:r>
          </a:p>
        </p:txBody>
      </p:sp>
      <p:pic>
        <p:nvPicPr>
          <p:cNvPr id="501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3429000"/>
            <a:ext cx="5832475"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矩形 4"/>
          <p:cNvSpPr>
            <a:spLocks noChangeArrowheads="1"/>
          </p:cNvSpPr>
          <p:nvPr/>
        </p:nvSpPr>
        <p:spPr bwMode="auto">
          <a:xfrm>
            <a:off x="1258888" y="5084763"/>
            <a:ext cx="454501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苯乙烯的乳液聚合基本符合上述假定。</a:t>
            </a:r>
          </a:p>
        </p:txBody>
      </p:sp>
      <p:sp>
        <p:nvSpPr>
          <p:cNvPr id="6"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65297A-D499-4D4E-81BB-DD6968B036B7}" type="slidenum">
              <a:rPr lang="en-US" altLang="zh-CN">
                <a:solidFill>
                  <a:srgbClr val="898989"/>
                </a:solidFill>
              </a:rPr>
              <a:pPr eaLnBrk="1" hangingPunct="1"/>
              <a:t>46</a:t>
            </a:fld>
            <a:endParaRPr lang="en-US" altLang="zh-CN">
              <a:solidFill>
                <a:srgbClr val="898989"/>
              </a:solidFill>
            </a:endParaRPr>
          </a:p>
        </p:txBody>
      </p:sp>
      <p:sp>
        <p:nvSpPr>
          <p:cNvPr id="51203" name="矩形 2"/>
          <p:cNvSpPr>
            <a:spLocks noChangeArrowheads="1"/>
          </p:cNvSpPr>
          <p:nvPr/>
        </p:nvSpPr>
        <p:spPr bwMode="auto">
          <a:xfrm>
            <a:off x="1763713" y="1341438"/>
            <a:ext cx="69850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Blip>
                <a:blip r:embed="rId2"/>
              </a:buBlip>
            </a:pPr>
            <a:r>
              <a:rPr lang="zh-CN" altLang="en-US" sz="1800">
                <a:latin typeface="Times New Roman" panose="02020603050405020304" pitchFamily="18" charset="0"/>
                <a:ea typeface="楷体" panose="02010609060101010101" pitchFamily="49" charset="-122"/>
                <a:cs typeface="Times New Roman" panose="02020603050405020304" pitchFamily="18" charset="0"/>
              </a:rPr>
              <a:t> 乳液聚合速率正比于乳胶粒数</a:t>
            </a:r>
            <a:r>
              <a:rPr lang="en-US" altLang="zh-CN" sz="1800">
                <a:latin typeface="Times New Roman" panose="02020603050405020304" pitchFamily="18" charset="0"/>
                <a:ea typeface="楷体" panose="02010609060101010101" pitchFamily="49" charset="-122"/>
                <a:cs typeface="Times New Roman" panose="02020603050405020304" pitchFamily="18" charset="0"/>
              </a:rPr>
              <a:t>N</a:t>
            </a:r>
            <a:r>
              <a:rPr lang="zh-CN" altLang="en-US" sz="1800">
                <a:latin typeface="Times New Roman" panose="02020603050405020304" pitchFamily="18" charset="0"/>
                <a:ea typeface="楷体" panose="02010609060101010101" pitchFamily="49" charset="-122"/>
                <a:cs typeface="Times New Roman" panose="02020603050405020304" pitchFamily="18" charset="0"/>
              </a:rPr>
              <a:t>，表观上与引发速率无关</a:t>
            </a:r>
            <a:endParaRPr lang="en-US" altLang="zh-CN" sz="180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50000"/>
              </a:lnSpc>
              <a:spcBef>
                <a:spcPct val="0"/>
              </a:spcBef>
              <a:buFontTx/>
              <a:buBlip>
                <a:blip r:embed="rId2"/>
              </a:buBlip>
            </a:pPr>
            <a:r>
              <a:rPr lang="en-US" altLang="zh-CN" sz="1800">
                <a:latin typeface="Times New Roman" panose="02020603050405020304" pitchFamily="18" charset="0"/>
                <a:ea typeface="楷体" panose="02010609060101010101" pitchFamily="49" charset="-122"/>
                <a:cs typeface="Times New Roman" panose="02020603050405020304" pitchFamily="18" charset="0"/>
              </a:rPr>
              <a:t> N</a:t>
            </a:r>
            <a:r>
              <a:rPr lang="zh-CN" altLang="en-US" sz="1800">
                <a:latin typeface="Times New Roman" panose="02020603050405020304" pitchFamily="18" charset="0"/>
                <a:ea typeface="楷体" panose="02010609060101010101" pitchFamily="49" charset="-122"/>
                <a:cs typeface="Times New Roman" panose="02020603050405020304" pitchFamily="18" charset="0"/>
              </a:rPr>
              <a:t>高达</a:t>
            </a:r>
            <a:r>
              <a:rPr lang="en-US" altLang="zh-CN" sz="1800">
                <a:latin typeface="Times New Roman" panose="02020603050405020304" pitchFamily="18" charset="0"/>
                <a:ea typeface="楷体" panose="02010609060101010101" pitchFamily="49" charset="-122"/>
                <a:cs typeface="Times New Roman" panose="02020603050405020304" pitchFamily="18" charset="0"/>
              </a:rPr>
              <a:t>10</a:t>
            </a:r>
            <a:r>
              <a:rPr lang="en-US" altLang="zh-CN" sz="1800" baseline="30000">
                <a:latin typeface="Times New Roman" panose="02020603050405020304" pitchFamily="18" charset="0"/>
                <a:ea typeface="楷体" panose="02010609060101010101" pitchFamily="49" charset="-122"/>
                <a:cs typeface="Times New Roman" panose="02020603050405020304" pitchFamily="18" charset="0"/>
              </a:rPr>
              <a:t>13</a:t>
            </a:r>
            <a:r>
              <a:rPr lang="zh-CN" altLang="en-US" sz="1800" baseline="30000">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baseline="30000">
                <a:latin typeface="Times New Roman" panose="02020603050405020304" pitchFamily="18" charset="0"/>
                <a:ea typeface="楷体" panose="02010609060101010101" pitchFamily="49" charset="-122"/>
                <a:cs typeface="Times New Roman" panose="02020603050405020304" pitchFamily="18" charset="0"/>
              </a:rPr>
              <a:t>15</a:t>
            </a:r>
            <a:r>
              <a:rPr lang="zh-CN" altLang="en-US" sz="1800">
                <a:latin typeface="Times New Roman" panose="02020603050405020304" pitchFamily="18" charset="0"/>
                <a:ea typeface="楷体" panose="02010609060101010101" pitchFamily="49" charset="-122"/>
                <a:cs typeface="Times New Roman" panose="02020603050405020304" pitchFamily="18" charset="0"/>
              </a:rPr>
              <a:t>个</a:t>
            </a:r>
            <a:r>
              <a:rPr lang="en-US" altLang="zh-CN" sz="1800">
                <a:latin typeface="Times New Roman" panose="02020603050405020304" pitchFamily="18" charset="0"/>
                <a:ea typeface="楷体" panose="02010609060101010101" pitchFamily="49" charset="-122"/>
                <a:cs typeface="Times New Roman" panose="02020603050405020304" pitchFamily="18" charset="0"/>
              </a:rPr>
              <a:t>/cm</a:t>
            </a:r>
            <a:r>
              <a:rPr lang="en-US" altLang="zh-CN" sz="1800" baseline="30000">
                <a:latin typeface="Times New Roman" panose="02020603050405020304" pitchFamily="18" charset="0"/>
                <a:ea typeface="楷体" panose="02010609060101010101" pitchFamily="49" charset="-122"/>
                <a:cs typeface="Times New Roman" panose="02020603050405020304" pitchFamily="18" charset="0"/>
              </a:rPr>
              <a:t>3</a:t>
            </a:r>
            <a:r>
              <a:rPr lang="zh-CN" altLang="en-US" sz="1800">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a:latin typeface="Times New Roman" panose="02020603050405020304" pitchFamily="18" charset="0"/>
                <a:ea typeface="楷体" panose="02010609060101010101" pitchFamily="49" charset="-122"/>
                <a:cs typeface="Times New Roman" panose="02020603050405020304" pitchFamily="18" charset="0"/>
              </a:rPr>
              <a:t>[M·]</a:t>
            </a:r>
            <a:r>
              <a:rPr lang="zh-CN" altLang="en-US" sz="1800">
                <a:latin typeface="Times New Roman" panose="02020603050405020304" pitchFamily="18" charset="0"/>
                <a:ea typeface="楷体" panose="02010609060101010101" pitchFamily="49" charset="-122"/>
                <a:cs typeface="Times New Roman" panose="02020603050405020304" pitchFamily="18" charset="0"/>
              </a:rPr>
              <a:t>可达</a:t>
            </a:r>
            <a:r>
              <a:rPr lang="en-US" altLang="zh-CN" sz="1800">
                <a:latin typeface="Times New Roman" panose="02020603050405020304" pitchFamily="18" charset="0"/>
                <a:ea typeface="楷体" panose="02010609060101010101" pitchFamily="49" charset="-122"/>
                <a:cs typeface="Times New Roman" panose="02020603050405020304" pitchFamily="18" charset="0"/>
              </a:rPr>
              <a:t>10</a:t>
            </a:r>
            <a:r>
              <a:rPr lang="en-US" altLang="zh-CN" sz="1800" baseline="30000">
                <a:latin typeface="Times New Roman" panose="02020603050405020304" pitchFamily="18" charset="0"/>
                <a:ea typeface="楷体" panose="02010609060101010101" pitchFamily="49" charset="-122"/>
                <a:cs typeface="Times New Roman" panose="02020603050405020304" pitchFamily="18" charset="0"/>
              </a:rPr>
              <a:t>-7</a:t>
            </a:r>
            <a:r>
              <a:rPr lang="en-US" altLang="zh-CN" sz="1800">
                <a:latin typeface="Times New Roman" panose="02020603050405020304" pitchFamily="18" charset="0"/>
                <a:ea typeface="楷体" panose="02010609060101010101" pitchFamily="49" charset="-122"/>
                <a:cs typeface="Times New Roman" panose="02020603050405020304" pitchFamily="18" charset="0"/>
              </a:rPr>
              <a:t>mol/L</a:t>
            </a:r>
            <a:r>
              <a:rPr lang="zh-CN" altLang="en-US" sz="1800">
                <a:latin typeface="Times New Roman" panose="02020603050405020304" pitchFamily="18" charset="0"/>
                <a:ea typeface="楷体" panose="02010609060101010101" pitchFamily="49" charset="-122"/>
                <a:cs typeface="Times New Roman" panose="02020603050405020304" pitchFamily="18" charset="0"/>
              </a:rPr>
              <a:t>，比典型自由基聚合高一个数量级</a:t>
            </a:r>
          </a:p>
          <a:p>
            <a:pPr eaLnBrk="1" hangingPunct="1">
              <a:lnSpc>
                <a:spcPct val="150000"/>
              </a:lnSpc>
              <a:spcBef>
                <a:spcPct val="0"/>
              </a:spcBef>
              <a:buFontTx/>
              <a:buBlip>
                <a:blip r:embed="rId2"/>
              </a:buBlip>
            </a:pPr>
            <a:r>
              <a:rPr lang="zh-CN" altLang="en-US" sz="1800">
                <a:latin typeface="Times New Roman" panose="02020603050405020304" pitchFamily="18" charset="0"/>
                <a:ea typeface="楷体" panose="02010609060101010101" pitchFamily="49" charset="-122"/>
                <a:cs typeface="Times New Roman" panose="02020603050405020304" pitchFamily="18" charset="0"/>
              </a:rPr>
              <a:t> 乳胶粒中单体浓度高达</a:t>
            </a:r>
            <a:r>
              <a:rPr lang="en-US" altLang="zh-CN" sz="1800">
                <a:latin typeface="Times New Roman" panose="02020603050405020304" pitchFamily="18" charset="0"/>
                <a:ea typeface="楷体" panose="02010609060101010101" pitchFamily="49" charset="-122"/>
                <a:cs typeface="Times New Roman" panose="02020603050405020304" pitchFamily="18" charset="0"/>
              </a:rPr>
              <a:t>5 mol/L</a:t>
            </a:r>
            <a:r>
              <a:rPr lang="zh-CN" altLang="en-US" sz="1800">
                <a:latin typeface="Times New Roman" panose="02020603050405020304" pitchFamily="18" charset="0"/>
                <a:ea typeface="楷体" panose="02010609060101010101" pitchFamily="49" charset="-122"/>
                <a:cs typeface="Times New Roman" panose="02020603050405020304" pitchFamily="18" charset="0"/>
              </a:rPr>
              <a:t>，故乳液聚合速率较快</a:t>
            </a:r>
          </a:p>
        </p:txBody>
      </p:sp>
      <p:sp>
        <p:nvSpPr>
          <p:cNvPr id="51204" name="矩形 3"/>
          <p:cNvSpPr>
            <a:spLocks noChangeArrowheads="1"/>
          </p:cNvSpPr>
          <p:nvPr/>
        </p:nvSpPr>
        <p:spPr bwMode="auto">
          <a:xfrm>
            <a:off x="684213" y="1341438"/>
            <a:ext cx="12604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800" b="1">
                <a:solidFill>
                  <a:srgbClr val="990000"/>
                </a:solidFill>
                <a:latin typeface="楷体" panose="02010609060101010101" pitchFamily="49" charset="-122"/>
                <a:ea typeface="楷体" panose="02010609060101010101" pitchFamily="49" charset="-122"/>
              </a:rPr>
              <a:t>可见：</a:t>
            </a:r>
          </a:p>
        </p:txBody>
      </p:sp>
      <p:sp>
        <p:nvSpPr>
          <p:cNvPr id="51205" name="矩形 4"/>
          <p:cNvSpPr>
            <a:spLocks noChangeArrowheads="1"/>
          </p:cNvSpPr>
          <p:nvPr/>
        </p:nvSpPr>
        <p:spPr bwMode="auto">
          <a:xfrm>
            <a:off x="900113" y="2997200"/>
            <a:ext cx="7272337"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en-US" altLang="zh-CN"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rPr>
              <a:t>）聚合度</a:t>
            </a:r>
            <a:endParaRPr lang="en-US" altLang="zh-CN" sz="2000" b="1">
              <a:solidFill>
                <a:srgbClr val="99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设：</a:t>
            </a:r>
            <a:r>
              <a:rPr lang="en-US" altLang="zh-CN" sz="2000">
                <a:latin typeface="Times New Roman" panose="02020603050405020304" pitchFamily="18" charset="0"/>
                <a:ea typeface="楷体" panose="02010609060101010101" pitchFamily="49" charset="-122"/>
                <a:cs typeface="Times New Roman" panose="02020603050405020304" pitchFamily="18" charset="0"/>
              </a:rPr>
              <a:t>ρ-----</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体系中的总引发速率，即单位时间生成的自由基个数（个</a:t>
            </a:r>
            <a:r>
              <a:rPr lang="en-US" altLang="zh-CN" sz="2000">
                <a:latin typeface="Times New Roman" panose="02020603050405020304" pitchFamily="18" charset="0"/>
                <a:ea typeface="楷体" panose="02010609060101010101" pitchFamily="49" charset="-122"/>
                <a:cs typeface="Times New Roman" panose="02020603050405020304" pitchFamily="18" charset="0"/>
              </a:rPr>
              <a:t>/ ml • s</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50000"/>
              </a:lnSpc>
              <a:spcBef>
                <a:spcPct val="0"/>
              </a:spcBef>
              <a:buFontTx/>
              <a:buNone/>
            </a:pP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则：</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一个乳胶粒中的引发速率（即单位时间自由基进入乳胶粒的速率，也即单位时间乳胶粒吸收自由基的个数）为</a:t>
            </a:r>
          </a:p>
        </p:txBody>
      </p:sp>
      <p:pic>
        <p:nvPicPr>
          <p:cNvPr id="512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5300663"/>
            <a:ext cx="4383087"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02F336-0EE9-4EDD-AF33-18AB014795EA}" type="slidenum">
              <a:rPr lang="en-US" altLang="zh-CN">
                <a:solidFill>
                  <a:srgbClr val="898989"/>
                </a:solidFill>
              </a:rPr>
              <a:pPr eaLnBrk="1" hangingPunct="1"/>
              <a:t>47</a:t>
            </a:fld>
            <a:endParaRPr lang="en-US" altLang="zh-CN">
              <a:solidFill>
                <a:srgbClr val="898989"/>
              </a:solidFill>
            </a:endParaRPr>
          </a:p>
        </p:txBody>
      </p:sp>
      <p:sp>
        <p:nvSpPr>
          <p:cNvPr id="52227" name="矩形 2"/>
          <p:cNvSpPr>
            <a:spLocks noChangeArrowheads="1"/>
          </p:cNvSpPr>
          <p:nvPr/>
        </p:nvSpPr>
        <p:spPr bwMode="auto">
          <a:xfrm>
            <a:off x="1476375" y="1412875"/>
            <a:ext cx="6551613"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a:latin typeface="楷体" panose="02010609060101010101" pitchFamily="49" charset="-122"/>
                <a:ea typeface="楷体" panose="02010609060101010101" pitchFamily="49" charset="-122"/>
              </a:rPr>
              <a:t>因每个乳胶粒内只能容纳一个自由基，则一个乳胶粒中的聚合速率：</a:t>
            </a:r>
          </a:p>
        </p:txBody>
      </p:sp>
      <p:pic>
        <p:nvPicPr>
          <p:cNvPr id="522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475" y="2205038"/>
            <a:ext cx="22860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矩形 4"/>
          <p:cNvSpPr>
            <a:spLocks noChangeArrowheads="1"/>
          </p:cNvSpPr>
          <p:nvPr/>
        </p:nvSpPr>
        <p:spPr bwMode="auto">
          <a:xfrm>
            <a:off x="1547813" y="3141663"/>
            <a:ext cx="3519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其所得聚合物的平均聚合度：</a:t>
            </a:r>
          </a:p>
        </p:txBody>
      </p:sp>
      <p:pic>
        <p:nvPicPr>
          <p:cNvPr id="5223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3644900"/>
            <a:ext cx="3455988"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矩形 6"/>
          <p:cNvSpPr>
            <a:spLocks noChangeArrowheads="1"/>
          </p:cNvSpPr>
          <p:nvPr/>
        </p:nvSpPr>
        <p:spPr bwMode="auto">
          <a:xfrm>
            <a:off x="971550" y="5084763"/>
            <a:ext cx="7416800"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表明：乳液聚合的平均聚合度与</a:t>
            </a:r>
            <a:r>
              <a:rPr lang="en-US" altLang="zh-CN" sz="200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[M]</a:t>
            </a:r>
            <a:r>
              <a:rPr lang="zh-CN" altLang="en-US" sz="2000">
                <a:latin typeface="Times New Roman" panose="02020603050405020304" pitchFamily="18" charset="0"/>
                <a:ea typeface="楷体" panose="02010609060101010101" pitchFamily="49" charset="-122"/>
                <a:cs typeface="Times New Roman" panose="02020603050405020304" pitchFamily="18" charset="0"/>
              </a:rPr>
              <a:t>的一次方成正比（与聚合速率一样），与引发速率成反比。</a:t>
            </a:r>
          </a:p>
        </p:txBody>
      </p:sp>
      <p:sp>
        <p:nvSpPr>
          <p:cNvPr id="8"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ACB73C-27C4-415B-982D-58FB111BFC9C}" type="slidenum">
              <a:rPr lang="en-US" altLang="zh-CN">
                <a:solidFill>
                  <a:srgbClr val="898989"/>
                </a:solidFill>
              </a:rPr>
              <a:pPr eaLnBrk="1" hangingPunct="1"/>
              <a:t>48</a:t>
            </a:fld>
            <a:endParaRPr lang="en-US" altLang="zh-CN">
              <a:solidFill>
                <a:srgbClr val="898989"/>
              </a:solidFill>
            </a:endParaRPr>
          </a:p>
        </p:txBody>
      </p:sp>
      <p:sp>
        <p:nvSpPr>
          <p:cNvPr id="53251" name="矩形 2"/>
          <p:cNvSpPr>
            <a:spLocks noChangeArrowheads="1"/>
          </p:cNvSpPr>
          <p:nvPr/>
        </p:nvSpPr>
        <p:spPr bwMode="auto">
          <a:xfrm>
            <a:off x="971550" y="1341438"/>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solidFill>
                  <a:srgbClr val="990000"/>
                </a:solidFill>
                <a:latin typeface="楷体" panose="02010609060101010101" pitchFamily="49" charset="-122"/>
                <a:ea typeface="楷体" panose="02010609060101010101" pitchFamily="49" charset="-122"/>
              </a:rPr>
              <a:t>已知：</a:t>
            </a:r>
          </a:p>
        </p:txBody>
      </p:sp>
      <p:pic>
        <p:nvPicPr>
          <p:cNvPr id="532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700213"/>
            <a:ext cx="63912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矩形 4"/>
          <p:cNvSpPr>
            <a:spLocks noChangeArrowheads="1"/>
          </p:cNvSpPr>
          <p:nvPr/>
        </p:nvSpPr>
        <p:spPr bwMode="auto">
          <a:xfrm>
            <a:off x="1187450" y="2997200"/>
            <a:ext cx="6985000"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a:latin typeface="Times New Roman" panose="02020603050405020304" pitchFamily="18" charset="0"/>
                <a:ea typeface="楷体" panose="02010609060101010101" pitchFamily="49" charset="-122"/>
                <a:cs typeface="Times New Roman" panose="02020603050405020304" pitchFamily="18" charset="0"/>
              </a:rPr>
              <a:t>因此，在恒定的引发速率</a:t>
            </a:r>
            <a:r>
              <a:rPr lang="en-US" altLang="zh-CN" sz="2000">
                <a:latin typeface="Times New Roman" panose="02020603050405020304" pitchFamily="18" charset="0"/>
                <a:ea typeface="楷体" panose="02010609060101010101" pitchFamily="49" charset="-122"/>
                <a:cs typeface="Times New Roman" panose="02020603050405020304" pitchFamily="18" charset="0"/>
              </a:rPr>
              <a:t>ρ</a:t>
            </a:r>
            <a:r>
              <a:rPr lang="zh-CN" altLang="en-US" sz="2000">
                <a:latin typeface="Times New Roman" panose="02020603050405020304" pitchFamily="18" charset="0"/>
                <a:ea typeface="楷体" panose="02010609060101010101" pitchFamily="49" charset="-122"/>
                <a:cs typeface="Times New Roman" panose="02020603050405020304" pitchFamily="18" charset="0"/>
              </a:rPr>
              <a:t>下，</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增加乳化剂浓度（</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）以增加</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，可同时提高</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aseline="-25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p </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a:solidFill>
                  <a:srgbClr val="990000"/>
                </a:solidFill>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53254" name="矩形 5"/>
          <p:cNvSpPr>
            <a:spLocks noChangeArrowheads="1"/>
          </p:cNvSpPr>
          <p:nvPr/>
        </p:nvSpPr>
        <p:spPr bwMode="auto">
          <a:xfrm>
            <a:off x="1116013" y="4076700"/>
            <a:ext cx="6340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而对于其它自由基聚合方法（本体，溶液），我们有：</a:t>
            </a:r>
          </a:p>
        </p:txBody>
      </p:sp>
      <p:pic>
        <p:nvPicPr>
          <p:cNvPr id="532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797425"/>
            <a:ext cx="698500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8E5621F-EB17-46F9-B9AF-30AB9E4DB076}" type="slidenum">
              <a:rPr lang="en-US" altLang="zh-CN">
                <a:solidFill>
                  <a:srgbClr val="898989"/>
                </a:solidFill>
              </a:rPr>
              <a:pPr eaLnBrk="1" hangingPunct="1"/>
              <a:t>49</a:t>
            </a:fld>
            <a:endParaRPr lang="en-US" altLang="zh-CN">
              <a:solidFill>
                <a:srgbClr val="898989"/>
              </a:solidFill>
            </a:endParaRPr>
          </a:p>
        </p:txBody>
      </p:sp>
      <p:sp>
        <p:nvSpPr>
          <p:cNvPr id="54275" name="矩形 2"/>
          <p:cNvSpPr>
            <a:spLocks noChangeArrowheads="1"/>
          </p:cNvSpPr>
          <p:nvPr/>
        </p:nvSpPr>
        <p:spPr bwMode="auto">
          <a:xfrm>
            <a:off x="1187450" y="15573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聚合速率：</a:t>
            </a:r>
          </a:p>
        </p:txBody>
      </p:sp>
      <p:sp>
        <p:nvSpPr>
          <p:cNvPr id="54276" name="矩形 3"/>
          <p:cNvSpPr>
            <a:spLocks noChangeArrowheads="1"/>
          </p:cNvSpPr>
          <p:nvPr/>
        </p:nvSpPr>
        <p:spPr bwMode="auto">
          <a:xfrm>
            <a:off x="5867400" y="2997200"/>
            <a:ext cx="2749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且因聚合活化能为负，</a:t>
            </a:r>
          </a:p>
        </p:txBody>
      </p:sp>
      <p:pic>
        <p:nvPicPr>
          <p:cNvPr id="5427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628775"/>
            <a:ext cx="13716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2997200"/>
            <a:ext cx="147637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4581525"/>
            <a:ext cx="29241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788" y="1989138"/>
            <a:ext cx="15049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1"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788" y="3500438"/>
            <a:ext cx="16097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2" name="矩形 9"/>
          <p:cNvSpPr>
            <a:spLocks noChangeArrowheads="1"/>
          </p:cNvSpPr>
          <p:nvPr/>
        </p:nvSpPr>
        <p:spPr bwMode="auto">
          <a:xfrm>
            <a:off x="5795963" y="1557338"/>
            <a:ext cx="2749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且因聚合活化能为正，</a:t>
            </a:r>
          </a:p>
        </p:txBody>
      </p:sp>
      <p:sp>
        <p:nvSpPr>
          <p:cNvPr id="54283" name="矩形 10"/>
          <p:cNvSpPr>
            <a:spLocks noChangeArrowheads="1"/>
          </p:cNvSpPr>
          <p:nvPr/>
        </p:nvSpPr>
        <p:spPr bwMode="auto">
          <a:xfrm>
            <a:off x="1187450" y="335756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分子量</a:t>
            </a:r>
          </a:p>
        </p:txBody>
      </p:sp>
      <p:sp>
        <p:nvSpPr>
          <p:cNvPr id="54284" name="矩形 11"/>
          <p:cNvSpPr>
            <a:spLocks noChangeArrowheads="1"/>
          </p:cNvSpPr>
          <p:nvPr/>
        </p:nvSpPr>
        <p:spPr bwMode="auto">
          <a:xfrm>
            <a:off x="1116013" y="5229225"/>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000">
                <a:latin typeface="楷体" panose="02010609060101010101" pitchFamily="49" charset="-122"/>
                <a:ea typeface="楷体" panose="02010609060101010101" pitchFamily="49" charset="-122"/>
              </a:rPr>
              <a:t>所以，通常：</a:t>
            </a:r>
          </a:p>
        </p:txBody>
      </p:sp>
      <p:sp>
        <p:nvSpPr>
          <p:cNvPr id="13" name="Rectangle 2"/>
          <p:cNvSpPr txBox="1">
            <a:spLocks noChangeArrowheads="1"/>
          </p:cNvSpPr>
          <p:nvPr/>
        </p:nvSpPr>
        <p:spPr bwMode="auto">
          <a:xfrm>
            <a:off x="611188" y="549275"/>
            <a:ext cx="8229600" cy="709613"/>
          </a:xfrm>
          <a:prstGeom prst="rect">
            <a:avLst/>
          </a:prstGeom>
          <a:noFill/>
          <a:ln w="9525">
            <a:noFill/>
            <a:miter lim="800000"/>
            <a:headEnd/>
            <a:tailEnd/>
          </a:ln>
        </p:spPr>
        <p:txBody>
          <a:bodyPr anchor="ctr"/>
          <a:lstStyle/>
          <a:p>
            <a:pPr algn="ctr" eaLnBrk="0" hangingPunct="0">
              <a:defRPr/>
            </a:pPr>
            <a:r>
              <a:rPr lang="en-US" altLang="zh-CN" sz="3200" b="1" dirty="0">
                <a:latin typeface="Times New Roman" pitchFamily="18" charset="0"/>
                <a:ea typeface="+mj-ea"/>
                <a:cs typeface="Times New Roman" pitchFamily="18" charset="0"/>
              </a:rPr>
              <a:t>5.4 Emulsion Polymerizations </a:t>
            </a:r>
            <a:r>
              <a:rPr lang="zh-CN" altLang="en-US" sz="3200" b="1" dirty="0">
                <a:latin typeface="楷体" pitchFamily="49" charset="-122"/>
                <a:ea typeface="楷体" pitchFamily="49" charset="-122"/>
                <a:cs typeface="Times New Roman" pitchFamily="18" charset="0"/>
              </a:rPr>
              <a:t>（乳液聚合）</a:t>
            </a:r>
            <a:endParaRPr lang="en-US" altLang="zh-CN" sz="3200" b="1" dirty="0">
              <a:latin typeface="楷体" pitchFamily="49" charset="-122"/>
              <a:ea typeface="楷体" pitchFamily="49" charset="-122"/>
              <a:cs typeface="Times New Roman" pitchFamily="18" charset="0"/>
            </a:endParaRPr>
          </a:p>
        </p:txBody>
      </p:sp>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FFA16791-9454-48D0-B6FF-FCDFD233A418}" type="slidenum">
              <a:rPr lang="zh-CN" altLang="en-US" sz="1400" smtClean="0">
                <a:solidFill>
                  <a:srgbClr val="FFFFFF"/>
                </a:solidFill>
                <a:latin typeface="Times New Roman" panose="02020603050405020304" pitchFamily="18" charset="0"/>
              </a:rPr>
              <a:pPr>
                <a:spcBef>
                  <a:spcPct val="50000"/>
                </a:spcBef>
                <a:buClrTx/>
                <a:buSzTx/>
                <a:buFontTx/>
                <a:buNone/>
              </a:pPr>
              <a:t>50</a:t>
            </a:fld>
            <a:endParaRPr lang="en-US" altLang="zh-CN" sz="1400">
              <a:solidFill>
                <a:srgbClr val="FFFFFF"/>
              </a:solidFill>
              <a:latin typeface="Times New Roman" panose="02020603050405020304" pitchFamily="18" charset="0"/>
            </a:endParaRPr>
          </a:p>
        </p:txBody>
      </p:sp>
      <p:sp>
        <p:nvSpPr>
          <p:cNvPr id="55299" name="Text Box 3074"/>
          <p:cNvSpPr txBox="1">
            <a:spLocks noChangeArrowheads="1"/>
          </p:cNvSpPr>
          <p:nvPr/>
        </p:nvSpPr>
        <p:spPr bwMode="auto">
          <a:xfrm>
            <a:off x="407988" y="188913"/>
            <a:ext cx="828675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en-US" altLang="zh-CN" sz="2200" b="1">
                <a:latin typeface="Times New Roman" panose="02020603050405020304" pitchFamily="18" charset="0"/>
                <a:ea typeface="楷体" panose="02010609060101010101" pitchFamily="49" charset="-122"/>
                <a:cs typeface="Times New Roman" panose="02020603050405020304" pitchFamily="18" charset="0"/>
              </a:rPr>
              <a:t>Smith</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根据上述历程进行动力学研究得出：</a:t>
            </a:r>
          </a:p>
          <a:p>
            <a:pPr algn="just">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 typeface="Wingdings" panose="05000000000000000000" pitchFamily="2" charset="2"/>
              <a:buNone/>
            </a:pP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理想乳液聚合，</a:t>
            </a:r>
            <a:r>
              <a:rPr lang="zh-CN" altLang="en-US" sz="2000" b="1">
                <a:solidFill>
                  <a:srgbClr val="FF0000"/>
                </a:solidFill>
                <a:ea typeface="楷体" panose="02010609060101010101" pitchFamily="49" charset="-122"/>
                <a:cs typeface="Times New Roman" panose="02020603050405020304" pitchFamily="18" charset="0"/>
              </a:rPr>
              <a:t>恒速阶段</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en-US" altLang="zh-CN"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4000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M]：</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乳胶粒中单体浓度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mol/L   (</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接近本体浓度</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20000"/>
              </a:lnSpc>
              <a:spcBef>
                <a:spcPct val="0"/>
              </a:spcBef>
              <a:buClrTx/>
              <a:buSzTx/>
              <a:buFontTx/>
              <a:buNone/>
            </a:pPr>
            <a:r>
              <a:rPr lang="en-US" altLang="zh-CN" sz="20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每升乳液中所含的胶粒数目；</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(cm</a:t>
            </a:r>
            <a:r>
              <a:rPr lang="en-US" altLang="zh-CN" sz="2000" b="1" baseline="3000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每升乳液中，活性胶粒的数目 </a:t>
            </a:r>
            <a:r>
              <a:rPr lang="zh-CN" altLang="en-US"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 自由基的数目</a:t>
            </a:r>
            <a:endParaRPr lang="en-US" altLang="zh-CN" sz="20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en-US" altLang="zh-CN" sz="2000" b="1">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一半胶束含有自由基，理想情况</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5300" name="Object 3073"/>
          <p:cNvGraphicFramePr>
            <a:graphicFrameLocks noChangeAspect="1"/>
          </p:cNvGraphicFramePr>
          <p:nvPr/>
        </p:nvGraphicFramePr>
        <p:xfrm>
          <a:off x="900113" y="692150"/>
          <a:ext cx="3832225" cy="785813"/>
        </p:xfrm>
        <a:graphic>
          <a:graphicData uri="http://schemas.openxmlformats.org/presentationml/2006/ole">
            <mc:AlternateContent xmlns:mc="http://schemas.openxmlformats.org/markup-compatibility/2006">
              <mc:Choice xmlns:v="urn:schemas-microsoft-com:vml" Requires="v">
                <p:oleObj spid="_x0000_s55314" name="公式" r:id="rId3" imgW="1916868" imgH="393529" progId="Equation.3">
                  <p:embed/>
                </p:oleObj>
              </mc:Choice>
              <mc:Fallback>
                <p:oleObj name="公式" r:id="rId3" imgW="1916868" imgH="393529" progId="Equation.3">
                  <p:embed/>
                  <p:pic>
                    <p:nvPicPr>
                      <p:cNvPr id="0" name="Object 30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692150"/>
                        <a:ext cx="38322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1" name="Text Box 3080"/>
          <p:cNvSpPr txBox="1">
            <a:spLocks noChangeArrowheads="1"/>
          </p:cNvSpPr>
          <p:nvPr/>
        </p:nvSpPr>
        <p:spPr bwMode="auto">
          <a:xfrm>
            <a:off x="407988" y="3441700"/>
            <a:ext cx="8286750"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lnSpc>
                <a:spcPts val="3200"/>
              </a:lnSpc>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乳胶粒中平均自由基数</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 0.5 </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a:solidFill>
                  <a:srgbClr val="9900CC"/>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一个自由基进入胶束引发增长，   第二个自由基进入胶束则导致链终止；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一个胶束内不会有两个或更多自由基</a:t>
            </a:r>
            <a:r>
              <a:rPr lang="zh-CN" altLang="en-US" sz="2000" b="1">
                <a:solidFill>
                  <a:srgbClr val="3366FF"/>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理想体系，原因：胶束太小</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5302" name="TextBox 7"/>
          <p:cNvSpPr txBox="1">
            <a:spLocks noChangeArrowheads="1"/>
          </p:cNvSpPr>
          <p:nvPr/>
        </p:nvSpPr>
        <p:spPr bwMode="auto">
          <a:xfrm>
            <a:off x="301625" y="4606925"/>
            <a:ext cx="839311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 typeface="Wingdings" panose="05000000000000000000" pitchFamily="2" charset="2"/>
              <a:buNone/>
            </a:pPr>
            <a:endParaRPr lang="en-US" altLang="zh-CN" sz="2000" b="1">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0"/>
              </a:spcBef>
              <a:buClrTx/>
              <a:buSzTx/>
              <a:buFont typeface="Wingdings" panose="05000000000000000000" pitchFamily="2" charset="2"/>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乳胶粒中平均自由基数</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&gt; 0.5</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：胶粒增大，容纳多个自由基增长，自由基终止速率小于自由基进入的速率。</a:t>
            </a:r>
            <a:endParaRPr lang="en-US" altLang="zh-CN" sz="2000" b="1">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0"/>
              </a:spcBef>
              <a:buClrTx/>
              <a:buSzTx/>
              <a:buFont typeface="Wingdings" panose="05000000000000000000" pitchFamily="2" charset="2"/>
              <a:buNone/>
            </a:pPr>
            <a:endParaRPr lang="en-US" altLang="zh-CN" sz="2000" b="1">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0"/>
              </a:spcBef>
              <a:buClrTx/>
              <a:buSzTx/>
              <a:buFont typeface="Wingdings" panose="05000000000000000000" pitchFamily="2" charset="2"/>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乳胶粒中平均自由基数</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&lt; 0.5</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：单体水溶性大，又容易链转移；自由基逸出速率快于其进入速率。</a:t>
            </a:r>
          </a:p>
        </p:txBody>
      </p:sp>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AB46AC7E-4D74-45F6-8A4B-1B56539733C2}" type="slidenum">
              <a:rPr lang="zh-CN" altLang="en-US" sz="1400" smtClean="0">
                <a:solidFill>
                  <a:srgbClr val="FFFFFF"/>
                </a:solidFill>
                <a:latin typeface="Times New Roman" panose="02020603050405020304" pitchFamily="18" charset="0"/>
              </a:rPr>
              <a:pPr>
                <a:spcBef>
                  <a:spcPct val="50000"/>
                </a:spcBef>
                <a:buClrTx/>
                <a:buSzTx/>
                <a:buFontTx/>
                <a:buNone/>
              </a:pPr>
              <a:t>51</a:t>
            </a:fld>
            <a:endParaRPr lang="en-US" altLang="zh-CN" sz="1400">
              <a:solidFill>
                <a:srgbClr val="FFFFFF"/>
              </a:solidFill>
              <a:latin typeface="Times New Roman" panose="02020603050405020304" pitchFamily="18" charset="0"/>
            </a:endParaRPr>
          </a:p>
        </p:txBody>
      </p:sp>
      <p:sp>
        <p:nvSpPr>
          <p:cNvPr id="56323" name="Text Box 2"/>
          <p:cNvSpPr txBox="1">
            <a:spLocks noChangeArrowheads="1"/>
          </p:cNvSpPr>
          <p:nvPr/>
        </p:nvSpPr>
        <p:spPr bwMode="auto">
          <a:xfrm>
            <a:off x="554038" y="187325"/>
            <a:ext cx="7929562"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4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由上述结果导出：</a:t>
            </a:r>
          </a:p>
          <a:p>
            <a:pPr algn="just">
              <a:lnSpc>
                <a:spcPct val="14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(1</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1" baseline="-25000">
                <a:latin typeface="Times New Roman" panose="02020603050405020304" pitchFamily="18" charset="0"/>
                <a:ea typeface="楷体" panose="02010609060101010101" pitchFamily="49" charset="-122"/>
                <a:cs typeface="Times New Roman" panose="02020603050405020304" pitchFamily="18" charset="0"/>
              </a:rPr>
              <a:t>p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与 </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1" baseline="-25000">
                <a:latin typeface="Times New Roman" panose="02020603050405020304" pitchFamily="18" charset="0"/>
                <a:ea typeface="楷体" panose="02010609060101010101" pitchFamily="49" charset="-122"/>
                <a:cs typeface="Times New Roman" panose="02020603050405020304" pitchFamily="18" charset="0"/>
              </a:rPr>
              <a:t>i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无关。</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1" baseline="-25000">
                <a:latin typeface="Times New Roman" panose="02020603050405020304" pitchFamily="18" charset="0"/>
                <a:ea typeface="楷体" panose="02010609060101010101" pitchFamily="49" charset="-122"/>
                <a:cs typeface="Times New Roman" panose="02020603050405020304" pitchFamily="18" charset="0"/>
              </a:rPr>
              <a:t>p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决定于单位体积中乳胶粒数</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N.</a:t>
            </a:r>
          </a:p>
          <a:p>
            <a:pPr algn="just">
              <a:lnSpc>
                <a:spcPct val="140000"/>
              </a:lnSpc>
              <a:spcBef>
                <a:spcPts val="1200"/>
              </a:spcBef>
              <a:buClrTx/>
              <a:buSzTx/>
              <a:buFontTx/>
              <a:buNone/>
            </a:pPr>
            <a:r>
              <a:rPr lang="en-US" altLang="zh-CN" sz="2200" b="1">
                <a:latin typeface="Times New Roman" panose="02020603050405020304" pitchFamily="18" charset="0"/>
                <a:ea typeface="楷体" panose="02010609060101010101" pitchFamily="49" charset="-122"/>
                <a:cs typeface="Times New Roman" panose="02020603050405020304" pitchFamily="18" charset="0"/>
              </a:rPr>
              <a:t>(2)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聚合度与胶粒数</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成正比，即与</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b="1" baseline="-25000">
                <a:latin typeface="Times New Roman" panose="02020603050405020304" pitchFamily="18" charset="0"/>
                <a:ea typeface="楷体" panose="02010609060101010101" pitchFamily="49" charset="-122"/>
                <a:cs typeface="Times New Roman" panose="02020603050405020304" pitchFamily="18" charset="0"/>
              </a:rPr>
              <a:t>p</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成正比</a:t>
            </a:r>
            <a:endParaRPr lang="en-US" altLang="zh-CN" sz="20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40000"/>
              </a:lnSpc>
              <a:spcBef>
                <a:spcPts val="120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endParaRPr lang="zh-CN" altLang="en-US" sz="220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56324" name="Text Box 8"/>
          <p:cNvSpPr txBox="1">
            <a:spLocks noChangeArrowheads="1"/>
          </p:cNvSpPr>
          <p:nvPr/>
        </p:nvSpPr>
        <p:spPr bwMode="auto">
          <a:xfrm>
            <a:off x="554038" y="4748213"/>
            <a:ext cx="7675562"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en-US" altLang="zh-CN" sz="2200" b="1">
                <a:latin typeface="Times New Roman" panose="02020603050405020304" pitchFamily="18" charset="0"/>
                <a:ea typeface="楷体" panose="02010609060101010101" pitchFamily="49" charset="-122"/>
                <a:cs typeface="Times New Roman" panose="02020603050405020304" pitchFamily="18" charset="0"/>
              </a:rPr>
              <a:t>(3)    </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式中</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表示两个自由基先后进入某一胶粒</a:t>
            </a:r>
          </a:p>
          <a:p>
            <a:pPr algn="just">
              <a:spcBef>
                <a:spcPct val="0"/>
              </a:spcBef>
              <a:buClrTx/>
              <a:buSzTx/>
              <a:buFontTx/>
              <a:buNone/>
            </a:pP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的平均时间间隔</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即自由基在乳胶粒中的平均寿期 </a:t>
            </a:r>
            <a:r>
              <a:rPr lang="zh-CN" altLang="en-US"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p>
            <a:pPr algn="just">
              <a:lnSpc>
                <a:spcPct val="130000"/>
              </a:lnSpc>
              <a:spcBef>
                <a:spcPct val="0"/>
              </a:spcBef>
              <a:buClrTx/>
              <a:buSzTx/>
              <a:buFontTx/>
              <a:buNone/>
            </a:pPr>
            <a:r>
              <a:rPr lang="en-US" altLang="zh-CN"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zh-CN" altLang="en-US"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通过测定</a:t>
            </a:r>
            <a:r>
              <a:rPr lang="zh-CN" altLang="en-US"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乳胶粒数、聚合速率及聚合度</a:t>
            </a:r>
            <a:r>
              <a:rPr lang="zh-CN" altLang="en-US"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，可测得乳液聚合体系的主要微观动力学参数（</a:t>
            </a:r>
            <a:r>
              <a:rPr lang="en-US" altLang="zh-CN" sz="2000" b="1" i="1">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k</a:t>
            </a:r>
            <a:r>
              <a:rPr lang="en-US" altLang="zh-CN" sz="2000" b="1" baseline="-2500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p</a:t>
            </a:r>
            <a:r>
              <a:rPr lang="en-US" altLang="zh-CN" sz="2000" b="1">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zh-CN" altLang="en-US" sz="2000" b="1" i="1">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zh-CN" altLang="en-US" sz="20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等）。</a:t>
            </a:r>
            <a:endParaRPr lang="zh-CN" altLang="en-US" sz="2000" b="1">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6325" name="Object 1"/>
          <p:cNvGraphicFramePr>
            <a:graphicFrameLocks noChangeAspect="1"/>
          </p:cNvGraphicFramePr>
          <p:nvPr/>
        </p:nvGraphicFramePr>
        <p:xfrm>
          <a:off x="1138238" y="4632325"/>
          <a:ext cx="1597025" cy="723900"/>
        </p:xfrm>
        <a:graphic>
          <a:graphicData uri="http://schemas.openxmlformats.org/presentationml/2006/ole">
            <mc:AlternateContent xmlns:mc="http://schemas.openxmlformats.org/markup-compatibility/2006">
              <mc:Choice xmlns:v="urn:schemas-microsoft-com:vml" Requires="v">
                <p:oleObj spid="_x0000_s56351" name="公式" r:id="rId3" imgW="977476" imgH="444307" progId="Equation.3">
                  <p:embed/>
                </p:oleObj>
              </mc:Choice>
              <mc:Fallback>
                <p:oleObj name="公式" r:id="rId3" imgW="977476" imgH="444307"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8238" y="4632325"/>
                        <a:ext cx="1597025"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6086" name="Text Box 11">
            <a:extLst>
              <a:ext uri="{FF2B5EF4-FFF2-40B4-BE49-F238E27FC236}">
                <a16:creationId xmlns:a16="http://schemas.microsoft.com/office/drawing/2014/main" id="{BD1116D2-3D18-418E-A0EA-781D20135832}"/>
              </a:ext>
            </a:extLst>
          </p:cNvPr>
          <p:cNvSpPr txBox="1">
            <a:spLocks noChangeArrowheads="1"/>
          </p:cNvSpPr>
          <p:nvPr/>
        </p:nvSpPr>
        <p:spPr bwMode="auto">
          <a:xfrm>
            <a:off x="571500" y="2428875"/>
            <a:ext cx="7558088" cy="199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105000"/>
              </a:lnSpc>
              <a:spcBef>
                <a:spcPct val="20000"/>
              </a:spcBef>
              <a:buClrTx/>
              <a:buSzTx/>
              <a:buFontTx/>
              <a:buNone/>
              <a:defRPr/>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乳胶粒越多，在引发速率一定的前提下每个活性胶粒被来自水相的自由基终止的几率越小，活性胶粒的寿命越长，分子量越大。</a:t>
            </a:r>
          </a:p>
          <a:p>
            <a:pPr algn="just" eaLnBrk="1" hangingPunct="1">
              <a:lnSpc>
                <a:spcPct val="105000"/>
              </a:lnSpc>
              <a:spcBef>
                <a:spcPct val="20000"/>
              </a:spcBef>
              <a:buClrTx/>
              <a:buSzTx/>
              <a:buFontTx/>
              <a:buNone/>
              <a:defRPr/>
            </a:pPr>
            <a:endParaRPr lang="en-US" altLang="zh-CN" sz="1200" b="1" dirty="0">
              <a:solidFill>
                <a:srgbClr val="6600CC"/>
              </a:solidFill>
              <a:latin typeface="Times New Roman" panose="02020603050405020304" pitchFamily="18" charset="0"/>
              <a:ea typeface="楷体" panose="02010609060101010101" pitchFamily="49" charset="-122"/>
              <a:cs typeface="Times New Roman" panose="02020603050405020304" pitchFamily="18" charset="0"/>
            </a:endParaRPr>
          </a:p>
          <a:p>
            <a:pPr algn="just" eaLnBrk="1" hangingPunct="1">
              <a:lnSpc>
                <a:spcPct val="105000"/>
              </a:lnSpc>
              <a:spcBef>
                <a:spcPct val="20000"/>
              </a:spcBef>
              <a:buClrTx/>
              <a:buSzTx/>
              <a:buFontTx/>
              <a:buNone/>
              <a:defRPr/>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可通过提高胶粒数，使聚合速率和聚合物分子量同时提高（为什么快？</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P159</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eaLnBrk="1" hangingPunct="1">
              <a:lnSpc>
                <a:spcPct val="105000"/>
              </a:lnSpc>
              <a:spcBef>
                <a:spcPct val="20000"/>
              </a:spcBef>
              <a:buClrTx/>
              <a:buSzTx/>
              <a:buFontTx/>
              <a:buNone/>
              <a:defRPr/>
            </a:pPr>
            <a:r>
              <a:rPr lang="en-US" altLang="zh-CN" sz="2000" b="1" dirty="0">
                <a:highlight>
                  <a:srgbClr val="FFFF00"/>
                </a:highlight>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highlight>
                  <a:srgbClr val="FFFF00"/>
                </a:highlight>
                <a:latin typeface="Times New Roman" panose="02020603050405020304" pitchFamily="18" charset="0"/>
                <a:ea typeface="楷体" panose="02010609060101010101" pitchFamily="49" charset="-122"/>
                <a:cs typeface="Times New Roman" panose="02020603050405020304" pitchFamily="18" charset="0"/>
              </a:rPr>
              <a:t>这是其它自由基聚合方法难以做到的</a:t>
            </a:r>
            <a:r>
              <a:rPr lang="en-US" altLang="zh-CN" sz="2000" b="1" dirty="0">
                <a:highlight>
                  <a:srgbClr val="FFFF00"/>
                </a:highlight>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dirty="0">
              <a:highlight>
                <a:srgbClr val="FFFF00"/>
              </a:highligh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327" name="Text Box 3079"/>
          <p:cNvSpPr txBox="1">
            <a:spLocks noChangeArrowheads="1"/>
          </p:cNvSpPr>
          <p:nvPr/>
        </p:nvSpPr>
        <p:spPr bwMode="auto">
          <a:xfrm>
            <a:off x="3071813" y="1928813"/>
            <a:ext cx="4786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1800" b="1" i="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en-US" sz="18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en-US" altLang="zh-CN" sz="18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en-US" altLang="zh-CN" sz="1800" b="1" i="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R</a:t>
            </a:r>
            <a:r>
              <a:rPr lang="en-US" altLang="zh-CN" sz="1800" b="1" baseline="-250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i</a:t>
            </a:r>
            <a:r>
              <a:rPr lang="zh-CN" altLang="en-US" sz="1800" b="1">
                <a:latin typeface="Times New Roman" panose="02020603050405020304" pitchFamily="18" charset="0"/>
                <a:ea typeface="楷体" panose="02010609060101010101" pitchFamily="49" charset="-122"/>
                <a:cs typeface="Times New Roman" panose="02020603050405020304" pitchFamily="18" charset="0"/>
              </a:rPr>
              <a:t> — 链自由基的生成速率 </a:t>
            </a:r>
            <a:r>
              <a:rPr lang="en-US" altLang="zh-CN" sz="18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18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单位</a:t>
            </a:r>
            <a:r>
              <a:rPr lang="en-US" altLang="zh-CN" sz="18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L</a:t>
            </a:r>
            <a:r>
              <a:rPr lang="en-US" altLang="zh-CN" sz="1800" b="1" baseline="30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18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a:t>
            </a:r>
            <a:r>
              <a:rPr lang="en-US" altLang="zh-CN" sz="1800" b="1" baseline="30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18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1800"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6328" name="Object 9"/>
          <p:cNvGraphicFramePr>
            <a:graphicFrameLocks noChangeAspect="1"/>
          </p:cNvGraphicFramePr>
          <p:nvPr/>
        </p:nvGraphicFramePr>
        <p:xfrm>
          <a:off x="1054100" y="1249363"/>
          <a:ext cx="1573213" cy="714375"/>
        </p:xfrm>
        <a:graphic>
          <a:graphicData uri="http://schemas.openxmlformats.org/presentationml/2006/ole">
            <mc:AlternateContent xmlns:mc="http://schemas.openxmlformats.org/markup-compatibility/2006">
              <mc:Choice xmlns:v="urn:schemas-microsoft-com:vml" Requires="v">
                <p:oleObj spid="_x0000_s56352" name="Equation" r:id="rId5" imgW="977476" imgH="444307" progId="Equation.3">
                  <p:embed/>
                </p:oleObj>
              </mc:Choice>
              <mc:Fallback>
                <p:oleObj name="Equation" r:id="rId5" imgW="977476" imgH="444307"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4100" y="1249363"/>
                        <a:ext cx="15732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zo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bwMode="auto">
          <a:xfrm>
            <a:off x="8159750" y="6094413"/>
            <a:ext cx="609600" cy="520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F69A161C-1A67-4CBE-A140-8CDB4C20916E}" type="slidenum">
              <a:rPr lang="zh-CN" altLang="en-US" sz="1400" smtClean="0">
                <a:solidFill>
                  <a:srgbClr val="FFFFFF"/>
                </a:solidFill>
                <a:latin typeface="Times New Roman" panose="02020603050405020304" pitchFamily="18" charset="0"/>
              </a:rPr>
              <a:pPr>
                <a:spcBef>
                  <a:spcPct val="50000"/>
                </a:spcBef>
                <a:buClrTx/>
                <a:buSzTx/>
                <a:buFontTx/>
                <a:buNone/>
              </a:pPr>
              <a:t>52</a:t>
            </a:fld>
            <a:endParaRPr lang="en-US" altLang="zh-CN" sz="1400">
              <a:solidFill>
                <a:srgbClr val="FFFFFF"/>
              </a:solidFill>
              <a:latin typeface="Times New Roman" panose="02020603050405020304" pitchFamily="18" charset="0"/>
            </a:endParaRPr>
          </a:p>
        </p:txBody>
      </p:sp>
      <p:sp>
        <p:nvSpPr>
          <p:cNvPr id="57347" name="Text Box 2"/>
          <p:cNvSpPr txBox="1">
            <a:spLocks noChangeArrowheads="1"/>
          </p:cNvSpPr>
          <p:nvPr/>
        </p:nvSpPr>
        <p:spPr bwMode="auto">
          <a:xfrm>
            <a:off x="468313" y="765175"/>
            <a:ext cx="8013700"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3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例：50℃，0.175％ </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K</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S</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O</a:t>
            </a:r>
            <a:r>
              <a:rPr lang="en-US" altLang="zh-CN" sz="2200" b="1" baseline="-25000">
                <a:latin typeface="Times New Roman" panose="02020603050405020304" pitchFamily="18" charset="0"/>
                <a:ea typeface="楷体" panose="02010609060101010101" pitchFamily="49" charset="-122"/>
                <a:cs typeface="Times New Roman" panose="02020603050405020304" pitchFamily="18" charset="0"/>
              </a:rPr>
              <a:t>8</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 = 10</a:t>
            </a:r>
            <a:r>
              <a:rPr lang="en-US" altLang="zh-CN" sz="2200" b="1" baseline="30000">
                <a:latin typeface="Times New Roman" panose="02020603050405020304" pitchFamily="18" charset="0"/>
                <a:ea typeface="楷体" panose="02010609060101010101" pitchFamily="49" charset="-122"/>
                <a:cs typeface="Times New Roman" panose="02020603050405020304" pitchFamily="18" charset="0"/>
              </a:rPr>
              <a:t>13</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/mol</a:t>
            </a:r>
            <a:r>
              <a:rPr lang="en-US" altLang="zh-CN" sz="22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s</a:t>
            </a:r>
          </a:p>
          <a:p>
            <a:pPr algn="just">
              <a:lnSpc>
                <a:spcPct val="15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乳胶粒数～ 10</a:t>
            </a:r>
            <a:r>
              <a:rPr lang="zh-CN" altLang="en-US" sz="2200" b="1" baseline="30000">
                <a:latin typeface="Times New Roman" panose="02020603050405020304" pitchFamily="18" charset="0"/>
                <a:ea typeface="楷体" panose="02010609060101010101" pitchFamily="49" charset="-122"/>
                <a:cs typeface="Times New Roman" panose="02020603050405020304" pitchFamily="18" charset="0"/>
              </a:rPr>
              <a:t>14～15</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mol；</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自由基平均寿命 </a:t>
            </a:r>
            <a:r>
              <a:rPr lang="zh-CN" altLang="en-US" sz="2200" b="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 10～100</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s。</a:t>
            </a:r>
          </a:p>
          <a:p>
            <a:pPr algn="just">
              <a:lnSpc>
                <a:spcPct val="130000"/>
              </a:lnSpc>
              <a:spcBef>
                <a:spcPct val="0"/>
              </a:spcBef>
              <a:buClrTx/>
              <a:buSzTx/>
              <a:buFontTx/>
              <a:buNone/>
            </a:pPr>
            <a:endParaRPr lang="en-US" altLang="zh-CN" sz="1100" b="1">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200"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与本体、溶液自由基聚合相比，乳液聚合的自由基寿期长得多</a:t>
            </a:r>
          </a:p>
        </p:txBody>
      </p:sp>
      <p:sp>
        <p:nvSpPr>
          <p:cNvPr id="57348" name="Text Box 3"/>
          <p:cNvSpPr txBox="1">
            <a:spLocks noChangeArrowheads="1"/>
          </p:cNvSpPr>
          <p:nvPr/>
        </p:nvSpPr>
        <p:spPr bwMode="auto">
          <a:xfrm>
            <a:off x="504825" y="4364038"/>
            <a:ext cx="73850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20000"/>
              </a:lnSpc>
              <a:spcBef>
                <a:spcPct val="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乳液聚合的分子量较高</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a:latin typeface="Times New Roman" panose="02020603050405020304" pitchFamily="18" charset="0"/>
                <a:ea typeface="楷体" panose="02010609060101010101" pitchFamily="49" charset="-122"/>
                <a:cs typeface="Times New Roman" panose="02020603050405020304" pitchFamily="18" charset="0"/>
              </a:rPr>
              <a:t>与本体、溶液、悬浮聚合相比</a:t>
            </a:r>
            <a:r>
              <a:rPr lang="en-US" altLang="zh-CN" sz="2200" b="1">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7" name="Group 3"/>
          <p:cNvGrpSpPr>
            <a:grpSpLocks/>
          </p:cNvGrpSpPr>
          <p:nvPr/>
        </p:nvGrpSpPr>
        <p:grpSpPr bwMode="auto">
          <a:xfrm>
            <a:off x="900113" y="2865438"/>
            <a:ext cx="6858000" cy="879475"/>
            <a:chOff x="672" y="1056"/>
            <a:chExt cx="4320" cy="554"/>
          </a:xfrm>
        </p:grpSpPr>
        <p:sp>
          <p:nvSpPr>
            <p:cNvPr id="57358" name="Line 4"/>
            <p:cNvSpPr>
              <a:spLocks noChangeShapeType="1"/>
            </p:cNvSpPr>
            <p:nvPr/>
          </p:nvSpPr>
          <p:spPr bwMode="auto">
            <a:xfrm>
              <a:off x="4992" y="1248"/>
              <a:ext cx="0" cy="19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7359" name="Group 5"/>
            <p:cNvGrpSpPr>
              <a:grpSpLocks/>
            </p:cNvGrpSpPr>
            <p:nvPr/>
          </p:nvGrpSpPr>
          <p:grpSpPr bwMode="auto">
            <a:xfrm>
              <a:off x="672" y="1056"/>
              <a:ext cx="4320" cy="554"/>
              <a:chOff x="672" y="1056"/>
              <a:chExt cx="4320" cy="554"/>
            </a:xfrm>
          </p:grpSpPr>
          <p:sp>
            <p:nvSpPr>
              <p:cNvPr id="57360" name="Line 6"/>
              <p:cNvSpPr>
                <a:spLocks noChangeShapeType="1"/>
              </p:cNvSpPr>
              <p:nvPr/>
            </p:nvSpPr>
            <p:spPr bwMode="auto">
              <a:xfrm>
                <a:off x="672" y="1488"/>
                <a:ext cx="144"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7361" name="Group 7"/>
              <p:cNvGrpSpPr>
                <a:grpSpLocks/>
              </p:cNvGrpSpPr>
              <p:nvPr/>
            </p:nvGrpSpPr>
            <p:grpSpPr bwMode="auto">
              <a:xfrm>
                <a:off x="768" y="1056"/>
                <a:ext cx="4224" cy="554"/>
                <a:chOff x="768" y="1056"/>
                <a:chExt cx="4224" cy="554"/>
              </a:xfrm>
            </p:grpSpPr>
            <p:grpSp>
              <p:nvGrpSpPr>
                <p:cNvPr id="57362" name="Group 8"/>
                <p:cNvGrpSpPr>
                  <a:grpSpLocks/>
                </p:cNvGrpSpPr>
                <p:nvPr/>
              </p:nvGrpSpPr>
              <p:grpSpPr bwMode="auto">
                <a:xfrm>
                  <a:off x="912" y="1459"/>
                  <a:ext cx="3943" cy="151"/>
                  <a:chOff x="912" y="979"/>
                  <a:chExt cx="3943" cy="151"/>
                </a:xfrm>
              </p:grpSpPr>
              <p:sp>
                <p:nvSpPr>
                  <p:cNvPr id="57367" name="Oval 9"/>
                  <p:cNvSpPr>
                    <a:spLocks noChangeArrowheads="1"/>
                  </p:cNvSpPr>
                  <p:nvPr/>
                </p:nvSpPr>
                <p:spPr bwMode="auto">
                  <a:xfrm>
                    <a:off x="91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68" name="Oval 10"/>
                  <p:cNvSpPr>
                    <a:spLocks noChangeArrowheads="1"/>
                  </p:cNvSpPr>
                  <p:nvPr/>
                </p:nvSpPr>
                <p:spPr bwMode="auto">
                  <a:xfrm>
                    <a:off x="98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69" name="Oval 11"/>
                  <p:cNvSpPr>
                    <a:spLocks noChangeArrowheads="1"/>
                  </p:cNvSpPr>
                  <p:nvPr/>
                </p:nvSpPr>
                <p:spPr bwMode="auto">
                  <a:xfrm>
                    <a:off x="1056"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0" name="Oval 12"/>
                  <p:cNvSpPr>
                    <a:spLocks noChangeArrowheads="1"/>
                  </p:cNvSpPr>
                  <p:nvPr/>
                </p:nvSpPr>
                <p:spPr bwMode="auto">
                  <a:xfrm>
                    <a:off x="1126"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0000FF"/>
                      </a:solidFill>
                      <a:latin typeface="Arial" panose="020B0604020202020204" pitchFamily="34" charset="0"/>
                    </a:endParaRPr>
                  </a:p>
                </p:txBody>
              </p:sp>
              <p:sp>
                <p:nvSpPr>
                  <p:cNvPr id="57371" name="Oval 14"/>
                  <p:cNvSpPr>
                    <a:spLocks noChangeArrowheads="1"/>
                  </p:cNvSpPr>
                  <p:nvPr/>
                </p:nvSpPr>
                <p:spPr bwMode="auto">
                  <a:xfrm>
                    <a:off x="1270"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2" name="Oval 15"/>
                  <p:cNvSpPr>
                    <a:spLocks noChangeArrowheads="1"/>
                  </p:cNvSpPr>
                  <p:nvPr/>
                </p:nvSpPr>
                <p:spPr bwMode="auto">
                  <a:xfrm>
                    <a:off x="1344"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3" name="Oval 16"/>
                  <p:cNvSpPr>
                    <a:spLocks noChangeArrowheads="1"/>
                  </p:cNvSpPr>
                  <p:nvPr/>
                </p:nvSpPr>
                <p:spPr bwMode="auto">
                  <a:xfrm>
                    <a:off x="1414"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4" name="Oval 17"/>
                  <p:cNvSpPr>
                    <a:spLocks noChangeArrowheads="1"/>
                  </p:cNvSpPr>
                  <p:nvPr/>
                </p:nvSpPr>
                <p:spPr bwMode="auto">
                  <a:xfrm>
                    <a:off x="1488"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5" name="Oval 18"/>
                  <p:cNvSpPr>
                    <a:spLocks noChangeArrowheads="1"/>
                  </p:cNvSpPr>
                  <p:nvPr/>
                </p:nvSpPr>
                <p:spPr bwMode="auto">
                  <a:xfrm>
                    <a:off x="1558"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6" name="Oval 19"/>
                  <p:cNvSpPr>
                    <a:spLocks noChangeArrowheads="1"/>
                  </p:cNvSpPr>
                  <p:nvPr/>
                </p:nvSpPr>
                <p:spPr bwMode="auto">
                  <a:xfrm>
                    <a:off x="163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7" name="Oval 20"/>
                  <p:cNvSpPr>
                    <a:spLocks noChangeArrowheads="1"/>
                  </p:cNvSpPr>
                  <p:nvPr/>
                </p:nvSpPr>
                <p:spPr bwMode="auto">
                  <a:xfrm>
                    <a:off x="170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8" name="Oval 21"/>
                  <p:cNvSpPr>
                    <a:spLocks noChangeArrowheads="1"/>
                  </p:cNvSpPr>
                  <p:nvPr/>
                </p:nvSpPr>
                <p:spPr bwMode="auto">
                  <a:xfrm>
                    <a:off x="1776"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79" name="Oval 23"/>
                  <p:cNvSpPr>
                    <a:spLocks noChangeArrowheads="1"/>
                  </p:cNvSpPr>
                  <p:nvPr/>
                </p:nvSpPr>
                <p:spPr bwMode="auto">
                  <a:xfrm>
                    <a:off x="1920"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0" name="Oval 24"/>
                  <p:cNvSpPr>
                    <a:spLocks noChangeArrowheads="1"/>
                  </p:cNvSpPr>
                  <p:nvPr/>
                </p:nvSpPr>
                <p:spPr bwMode="auto">
                  <a:xfrm>
                    <a:off x="1990"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1" name="Oval 25"/>
                  <p:cNvSpPr>
                    <a:spLocks noChangeArrowheads="1"/>
                  </p:cNvSpPr>
                  <p:nvPr/>
                </p:nvSpPr>
                <p:spPr bwMode="auto">
                  <a:xfrm>
                    <a:off x="2064"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2" name="Oval 28"/>
                  <p:cNvSpPr>
                    <a:spLocks noChangeArrowheads="1"/>
                  </p:cNvSpPr>
                  <p:nvPr/>
                </p:nvSpPr>
                <p:spPr bwMode="auto">
                  <a:xfrm>
                    <a:off x="2278"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3" name="Oval 30"/>
                  <p:cNvSpPr>
                    <a:spLocks noChangeArrowheads="1"/>
                  </p:cNvSpPr>
                  <p:nvPr/>
                </p:nvSpPr>
                <p:spPr bwMode="auto">
                  <a:xfrm>
                    <a:off x="242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4" name="Oval 31"/>
                  <p:cNvSpPr>
                    <a:spLocks noChangeArrowheads="1"/>
                  </p:cNvSpPr>
                  <p:nvPr/>
                </p:nvSpPr>
                <p:spPr bwMode="auto">
                  <a:xfrm>
                    <a:off x="2496"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5" name="Oval 32"/>
                  <p:cNvSpPr>
                    <a:spLocks noChangeArrowheads="1"/>
                  </p:cNvSpPr>
                  <p:nvPr/>
                </p:nvSpPr>
                <p:spPr bwMode="auto">
                  <a:xfrm>
                    <a:off x="2566"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6" name="Oval 34"/>
                  <p:cNvSpPr>
                    <a:spLocks noChangeArrowheads="1"/>
                  </p:cNvSpPr>
                  <p:nvPr/>
                </p:nvSpPr>
                <p:spPr bwMode="auto">
                  <a:xfrm>
                    <a:off x="2710"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7" name="Oval 35"/>
                  <p:cNvSpPr>
                    <a:spLocks noChangeArrowheads="1"/>
                  </p:cNvSpPr>
                  <p:nvPr/>
                </p:nvSpPr>
                <p:spPr bwMode="auto">
                  <a:xfrm>
                    <a:off x="2784"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8" name="Oval 36"/>
                  <p:cNvSpPr>
                    <a:spLocks noChangeArrowheads="1"/>
                  </p:cNvSpPr>
                  <p:nvPr/>
                </p:nvSpPr>
                <p:spPr bwMode="auto">
                  <a:xfrm>
                    <a:off x="2854"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89" name="Oval 37"/>
                  <p:cNvSpPr>
                    <a:spLocks noChangeArrowheads="1"/>
                  </p:cNvSpPr>
                  <p:nvPr/>
                </p:nvSpPr>
                <p:spPr bwMode="auto">
                  <a:xfrm>
                    <a:off x="2928"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0" name="Oval 38"/>
                  <p:cNvSpPr>
                    <a:spLocks noChangeArrowheads="1"/>
                  </p:cNvSpPr>
                  <p:nvPr/>
                </p:nvSpPr>
                <p:spPr bwMode="auto">
                  <a:xfrm>
                    <a:off x="2998"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1" name="Oval 39"/>
                  <p:cNvSpPr>
                    <a:spLocks noChangeArrowheads="1"/>
                  </p:cNvSpPr>
                  <p:nvPr/>
                </p:nvSpPr>
                <p:spPr bwMode="auto">
                  <a:xfrm>
                    <a:off x="307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2" name="Oval 40"/>
                  <p:cNvSpPr>
                    <a:spLocks noChangeArrowheads="1"/>
                  </p:cNvSpPr>
                  <p:nvPr/>
                </p:nvSpPr>
                <p:spPr bwMode="auto">
                  <a:xfrm>
                    <a:off x="314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3" name="Oval 41"/>
                  <p:cNvSpPr>
                    <a:spLocks noChangeArrowheads="1"/>
                  </p:cNvSpPr>
                  <p:nvPr/>
                </p:nvSpPr>
                <p:spPr bwMode="auto">
                  <a:xfrm>
                    <a:off x="3210" y="1053"/>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4" name="Oval 43"/>
                  <p:cNvSpPr>
                    <a:spLocks noChangeArrowheads="1"/>
                  </p:cNvSpPr>
                  <p:nvPr/>
                </p:nvSpPr>
                <p:spPr bwMode="auto">
                  <a:xfrm>
                    <a:off x="3338"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5" name="Oval 44"/>
                  <p:cNvSpPr>
                    <a:spLocks noChangeArrowheads="1"/>
                  </p:cNvSpPr>
                  <p:nvPr/>
                </p:nvSpPr>
                <p:spPr bwMode="auto">
                  <a:xfrm>
                    <a:off x="3408"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6" name="Oval 45"/>
                  <p:cNvSpPr>
                    <a:spLocks noChangeArrowheads="1"/>
                  </p:cNvSpPr>
                  <p:nvPr/>
                </p:nvSpPr>
                <p:spPr bwMode="auto">
                  <a:xfrm>
                    <a:off x="3482"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7" name="Oval 46"/>
                  <p:cNvSpPr>
                    <a:spLocks noChangeArrowheads="1"/>
                  </p:cNvSpPr>
                  <p:nvPr/>
                </p:nvSpPr>
                <p:spPr bwMode="auto">
                  <a:xfrm>
                    <a:off x="3552"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8" name="Oval 47"/>
                  <p:cNvSpPr>
                    <a:spLocks noChangeArrowheads="1"/>
                  </p:cNvSpPr>
                  <p:nvPr/>
                </p:nvSpPr>
                <p:spPr bwMode="auto">
                  <a:xfrm>
                    <a:off x="3626"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99" name="Oval 48"/>
                  <p:cNvSpPr>
                    <a:spLocks noChangeArrowheads="1"/>
                  </p:cNvSpPr>
                  <p:nvPr/>
                </p:nvSpPr>
                <p:spPr bwMode="auto">
                  <a:xfrm>
                    <a:off x="3696"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0" name="Oval 49"/>
                  <p:cNvSpPr>
                    <a:spLocks noChangeArrowheads="1"/>
                  </p:cNvSpPr>
                  <p:nvPr/>
                </p:nvSpPr>
                <p:spPr bwMode="auto">
                  <a:xfrm>
                    <a:off x="3770"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1" name="Oval 50"/>
                  <p:cNvSpPr>
                    <a:spLocks noChangeArrowheads="1"/>
                  </p:cNvSpPr>
                  <p:nvPr/>
                </p:nvSpPr>
                <p:spPr bwMode="auto">
                  <a:xfrm>
                    <a:off x="3840"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2" name="Oval 51"/>
                  <p:cNvSpPr>
                    <a:spLocks noChangeArrowheads="1"/>
                  </p:cNvSpPr>
                  <p:nvPr/>
                </p:nvSpPr>
                <p:spPr bwMode="auto">
                  <a:xfrm>
                    <a:off x="3914"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3" name="Oval 52"/>
                  <p:cNvSpPr>
                    <a:spLocks noChangeArrowheads="1"/>
                  </p:cNvSpPr>
                  <p:nvPr/>
                </p:nvSpPr>
                <p:spPr bwMode="auto">
                  <a:xfrm>
                    <a:off x="3984"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4" name="Oval 53"/>
                  <p:cNvSpPr>
                    <a:spLocks noChangeArrowheads="1"/>
                  </p:cNvSpPr>
                  <p:nvPr/>
                </p:nvSpPr>
                <p:spPr bwMode="auto">
                  <a:xfrm>
                    <a:off x="4058"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5" name="Oval 54"/>
                  <p:cNvSpPr>
                    <a:spLocks noChangeArrowheads="1"/>
                  </p:cNvSpPr>
                  <p:nvPr/>
                </p:nvSpPr>
                <p:spPr bwMode="auto">
                  <a:xfrm>
                    <a:off x="4128"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6" name="Oval 58"/>
                  <p:cNvSpPr>
                    <a:spLocks noChangeArrowheads="1"/>
                  </p:cNvSpPr>
                  <p:nvPr/>
                </p:nvSpPr>
                <p:spPr bwMode="auto">
                  <a:xfrm>
                    <a:off x="4416"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7" name="Oval 59"/>
                  <p:cNvSpPr>
                    <a:spLocks noChangeArrowheads="1"/>
                  </p:cNvSpPr>
                  <p:nvPr/>
                </p:nvSpPr>
                <p:spPr bwMode="auto">
                  <a:xfrm>
                    <a:off x="4490"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8" name="Oval 60"/>
                  <p:cNvSpPr>
                    <a:spLocks noChangeArrowheads="1"/>
                  </p:cNvSpPr>
                  <p:nvPr/>
                </p:nvSpPr>
                <p:spPr bwMode="auto">
                  <a:xfrm>
                    <a:off x="4560"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09" name="Oval 63"/>
                  <p:cNvSpPr>
                    <a:spLocks noChangeArrowheads="1"/>
                  </p:cNvSpPr>
                  <p:nvPr/>
                </p:nvSpPr>
                <p:spPr bwMode="auto">
                  <a:xfrm>
                    <a:off x="4778" y="1008"/>
                    <a:ext cx="77" cy="77"/>
                  </a:xfrm>
                  <a:prstGeom prst="ellipse">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10" name="Oval 41"/>
                  <p:cNvSpPr>
                    <a:spLocks noChangeArrowheads="1"/>
                  </p:cNvSpPr>
                  <p:nvPr/>
                </p:nvSpPr>
                <p:spPr bwMode="auto">
                  <a:xfrm>
                    <a:off x="4211" y="1008"/>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11" name="Oval 41"/>
                  <p:cNvSpPr>
                    <a:spLocks noChangeArrowheads="1"/>
                  </p:cNvSpPr>
                  <p:nvPr/>
                </p:nvSpPr>
                <p:spPr bwMode="auto">
                  <a:xfrm>
                    <a:off x="4276" y="1001"/>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12" name="Oval 41"/>
                  <p:cNvSpPr>
                    <a:spLocks noChangeArrowheads="1"/>
                  </p:cNvSpPr>
                  <p:nvPr/>
                </p:nvSpPr>
                <p:spPr bwMode="auto">
                  <a:xfrm>
                    <a:off x="4343" y="1017"/>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13" name="Oval 41"/>
                  <p:cNvSpPr>
                    <a:spLocks noChangeArrowheads="1"/>
                  </p:cNvSpPr>
                  <p:nvPr/>
                </p:nvSpPr>
                <p:spPr bwMode="auto">
                  <a:xfrm>
                    <a:off x="4634" y="979"/>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414" name="Oval 41"/>
                  <p:cNvSpPr>
                    <a:spLocks noChangeArrowheads="1"/>
                  </p:cNvSpPr>
                  <p:nvPr/>
                </p:nvSpPr>
                <p:spPr bwMode="auto">
                  <a:xfrm>
                    <a:off x="4700" y="1017"/>
                    <a:ext cx="77" cy="7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grpSp>
            <p:sp>
              <p:nvSpPr>
                <p:cNvPr id="57363" name="Line 65"/>
                <p:cNvSpPr>
                  <a:spLocks noChangeShapeType="1"/>
                </p:cNvSpPr>
                <p:nvPr/>
              </p:nvSpPr>
              <p:spPr bwMode="auto">
                <a:xfrm>
                  <a:off x="912" y="1248"/>
                  <a:ext cx="0" cy="19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57364" name="AutoShape 66"/>
                <p:cNvCxnSpPr>
                  <a:cxnSpLocks noChangeShapeType="1"/>
                </p:cNvCxnSpPr>
                <p:nvPr/>
              </p:nvCxnSpPr>
              <p:spPr bwMode="auto">
                <a:xfrm>
                  <a:off x="912" y="1344"/>
                  <a:ext cx="4080" cy="0"/>
                </a:xfrm>
                <a:prstGeom prst="straightConnector1">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65" name="Text Box 67"/>
                <p:cNvSpPr txBox="1">
                  <a:spLocks noChangeArrowheads="1"/>
                </p:cNvSpPr>
                <p:nvPr/>
              </p:nvSpPr>
              <p:spPr bwMode="auto">
                <a:xfrm>
                  <a:off x="2496" y="1056"/>
                  <a:ext cx="903" cy="29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latin typeface="Arial" panose="020B0604020202020204" pitchFamily="34" charset="0"/>
                      <a:cs typeface="Arial" panose="020B0604020202020204" pitchFamily="34" charset="0"/>
                    </a:rPr>
                    <a:t>seconds</a:t>
                  </a:r>
                </a:p>
              </p:txBody>
            </p:sp>
            <p:sp>
              <p:nvSpPr>
                <p:cNvPr id="57366" name="Line 68"/>
                <p:cNvSpPr>
                  <a:spLocks noChangeShapeType="1"/>
                </p:cNvSpPr>
                <p:nvPr/>
              </p:nvSpPr>
              <p:spPr bwMode="auto">
                <a:xfrm>
                  <a:off x="768" y="1488"/>
                  <a:ext cx="0" cy="9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57350" name="Oval 14"/>
          <p:cNvSpPr>
            <a:spLocks noChangeArrowheads="1"/>
          </p:cNvSpPr>
          <p:nvPr/>
        </p:nvSpPr>
        <p:spPr bwMode="auto">
          <a:xfrm>
            <a:off x="1747838" y="3556000"/>
            <a:ext cx="122237" cy="12223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51" name="Oval 14"/>
          <p:cNvSpPr>
            <a:spLocks noChangeArrowheads="1"/>
          </p:cNvSpPr>
          <p:nvPr/>
        </p:nvSpPr>
        <p:spPr bwMode="auto">
          <a:xfrm>
            <a:off x="2768600" y="3565525"/>
            <a:ext cx="122238" cy="12223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52" name="Oval 14"/>
          <p:cNvSpPr>
            <a:spLocks noChangeArrowheads="1"/>
          </p:cNvSpPr>
          <p:nvPr/>
        </p:nvSpPr>
        <p:spPr bwMode="auto">
          <a:xfrm>
            <a:off x="3235325" y="3551238"/>
            <a:ext cx="122238" cy="12223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53" name="Oval 14"/>
          <p:cNvSpPr>
            <a:spLocks noChangeArrowheads="1"/>
          </p:cNvSpPr>
          <p:nvPr/>
        </p:nvSpPr>
        <p:spPr bwMode="auto">
          <a:xfrm>
            <a:off x="3346450" y="3551238"/>
            <a:ext cx="122238" cy="12223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54" name="Oval 14"/>
          <p:cNvSpPr>
            <a:spLocks noChangeArrowheads="1"/>
          </p:cNvSpPr>
          <p:nvPr/>
        </p:nvSpPr>
        <p:spPr bwMode="auto">
          <a:xfrm>
            <a:off x="3557588" y="3556000"/>
            <a:ext cx="122237" cy="12223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55" name="Oval 14"/>
          <p:cNvSpPr>
            <a:spLocks noChangeArrowheads="1"/>
          </p:cNvSpPr>
          <p:nvPr/>
        </p:nvSpPr>
        <p:spPr bwMode="auto">
          <a:xfrm>
            <a:off x="4029075" y="3556000"/>
            <a:ext cx="122238" cy="12223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56" name="Oval 14"/>
          <p:cNvSpPr>
            <a:spLocks noChangeArrowheads="1"/>
          </p:cNvSpPr>
          <p:nvPr/>
        </p:nvSpPr>
        <p:spPr bwMode="auto">
          <a:xfrm>
            <a:off x="5019675" y="3556000"/>
            <a:ext cx="122238" cy="12223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1800" b="1">
              <a:solidFill>
                <a:srgbClr val="FFFF00"/>
              </a:solidFill>
              <a:latin typeface="Arial" panose="020B0604020202020204" pitchFamily="34" charset="0"/>
            </a:endParaRPr>
          </a:p>
        </p:txBody>
      </p:sp>
      <p:sp>
        <p:nvSpPr>
          <p:cNvPr id="57357" name="Text Box 6"/>
          <p:cNvSpPr txBox="1">
            <a:spLocks noChangeArrowheads="1"/>
          </p:cNvSpPr>
          <p:nvPr/>
        </p:nvSpPr>
        <p:spPr bwMode="auto">
          <a:xfrm>
            <a:off x="504825" y="5373688"/>
            <a:ext cx="7710488"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lnSpc>
                <a:spcPct val="130000"/>
              </a:lnSpc>
              <a:buClrTx/>
              <a:buSzTx/>
              <a:buFontTx/>
              <a:buNone/>
            </a:pPr>
            <a:r>
              <a:rPr lang="zh-CN" altLang="en-US" sz="2200" b="1">
                <a:latin typeface="楷体" panose="02010609060101010101" pitchFamily="49" charset="-122"/>
                <a:ea typeface="楷体" panose="02010609060101010101" pitchFamily="49" charset="-122"/>
              </a:rPr>
              <a:t>上述历程和动力学研究的前提：单体难溶于水</a:t>
            </a:r>
            <a:r>
              <a:rPr lang="en-US" altLang="zh-CN" sz="2200" b="1">
                <a:latin typeface="楷体" panose="02010609060101010101" pitchFamily="49" charset="-122"/>
                <a:ea typeface="楷体" panose="02010609060101010101" pitchFamily="49" charset="-122"/>
              </a:rPr>
              <a:t>,</a:t>
            </a:r>
            <a:r>
              <a:rPr lang="zh-CN" altLang="en-US" sz="2200" b="1">
                <a:latin typeface="楷体" panose="02010609060101010101" pitchFamily="49" charset="-122"/>
                <a:ea typeface="楷体" panose="02010609060101010101" pitchFamily="49" charset="-122"/>
              </a:rPr>
              <a:t>水溶性引发剂，不一定适用于其它类型的乳液聚合体系。</a:t>
            </a:r>
            <a:endParaRPr lang="zh-CN" altLang="en-US" sz="2100" b="1">
              <a:latin typeface="楷体" panose="02010609060101010101" pitchFamily="49" charset="-122"/>
              <a:ea typeface="楷体" panose="02010609060101010101" pitchFamily="49"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24BC5D24-5B1F-40FB-96F2-9BAC51AC97A3}" type="slidenum">
              <a:rPr lang="zh-CN" altLang="en-US" sz="1400" smtClean="0">
                <a:solidFill>
                  <a:srgbClr val="FFFFFF"/>
                </a:solidFill>
                <a:latin typeface="Times New Roman" panose="02020603050405020304" pitchFamily="18" charset="0"/>
              </a:rPr>
              <a:pPr>
                <a:spcBef>
                  <a:spcPct val="50000"/>
                </a:spcBef>
                <a:buClrTx/>
                <a:buSzTx/>
                <a:buFontTx/>
                <a:buNone/>
              </a:pPr>
              <a:t>53</a:t>
            </a:fld>
            <a:endParaRPr lang="en-US" altLang="zh-CN" sz="1400">
              <a:solidFill>
                <a:srgbClr val="FFFFFF"/>
              </a:solidFill>
              <a:latin typeface="Times New Roman" panose="02020603050405020304" pitchFamily="18" charset="0"/>
            </a:endParaRPr>
          </a:p>
        </p:txBody>
      </p:sp>
      <p:sp>
        <p:nvSpPr>
          <p:cNvPr id="58371" name="Text Box 2"/>
          <p:cNvSpPr txBox="1">
            <a:spLocks noChangeArrowheads="1"/>
          </p:cNvSpPr>
          <p:nvPr/>
        </p:nvSpPr>
        <p:spPr bwMode="auto">
          <a:xfrm>
            <a:off x="323528" y="764704"/>
            <a:ext cx="8712200"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spcBef>
                <a:spcPct val="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乳液聚合的优缺点</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endParaRPr lang="zh-CN" altLang="en-US" sz="8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优点：</a:t>
            </a:r>
            <a:endParaRPr lang="zh-CN" altLang="en-US"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Bef>
                <a:spcPct val="0"/>
              </a:spcBef>
              <a:buClrTx/>
              <a:buSzTx/>
              <a:buFontTx/>
              <a:buNone/>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可较低温下高速进行，获得高分子量聚合物，聚合物结构比较均匀；</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    丁二烯</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苯乙烯乳液共聚合：氧化还原引发体系，5℃，制得冷丁苯橡胶</a:t>
            </a:r>
          </a:p>
          <a:p>
            <a:pPr algn="just">
              <a:spcBef>
                <a:spcPct val="0"/>
              </a:spcBef>
              <a:buClrTx/>
              <a:buSzTx/>
              <a:buFontTx/>
              <a:buNone/>
            </a:pPr>
            <a:endParaRPr lang="zh-CN" altLang="en-US" sz="800" b="1"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ct val="0"/>
              </a:spcBef>
              <a:buClrTx/>
              <a:buSzTx/>
              <a:buFontTx/>
              <a:buNone/>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 水作介质，经济、环保，体系粘度小，易于散热，反应易控制；</a:t>
            </a:r>
            <a:endPar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6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缺点：</a:t>
            </a:r>
            <a:r>
              <a:rPr lang="zh-CN" altLang="en-US"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产物纯度低，成品的热稳定性，透明度，电性能差</a:t>
            </a:r>
          </a:p>
          <a:p>
            <a:pPr algn="just">
              <a:lnSpc>
                <a:spcPct val="130000"/>
              </a:lnSpc>
              <a:spcBef>
                <a:spcPct val="0"/>
              </a:spcBef>
              <a:buClrTx/>
              <a:buSzTx/>
              <a:buFontTx/>
              <a:buNone/>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        工业上，乳液聚合常用于生产粘度高的聚合物及涂料</a:t>
            </a:r>
          </a:p>
        </p:txBody>
      </p:sp>
      <p:pic>
        <p:nvPicPr>
          <p:cNvPr id="58372" name="图片 3" descr="paint.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95738" y="4237038"/>
            <a:ext cx="287972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图片 4" descr="SBR emulsion.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237038"/>
            <a:ext cx="1785937" cy="216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4D24A237-BF82-4B7E-9DDC-3EE9354C5908}" type="slidenum">
              <a:rPr lang="zh-CN" altLang="en-US" sz="1400" smtClean="0">
                <a:solidFill>
                  <a:srgbClr val="FFFFFF"/>
                </a:solidFill>
                <a:latin typeface="Times New Roman" panose="02020603050405020304" pitchFamily="18" charset="0"/>
              </a:rPr>
              <a:pPr>
                <a:spcBef>
                  <a:spcPct val="50000"/>
                </a:spcBef>
                <a:buClrTx/>
                <a:buSzTx/>
                <a:buFontTx/>
                <a:buNone/>
              </a:pPr>
              <a:t>54</a:t>
            </a:fld>
            <a:endParaRPr lang="en-US" altLang="zh-CN" sz="1400">
              <a:solidFill>
                <a:srgbClr val="FFFFFF"/>
              </a:solidFill>
              <a:latin typeface="Times New Roman" panose="02020603050405020304" pitchFamily="18" charset="0"/>
            </a:endParaRPr>
          </a:p>
        </p:txBody>
      </p:sp>
      <p:sp>
        <p:nvSpPr>
          <p:cNvPr id="59395" name="Text Box 2"/>
          <p:cNvSpPr txBox="1">
            <a:spLocks noChangeArrowheads="1"/>
          </p:cNvSpPr>
          <p:nvPr/>
        </p:nvSpPr>
        <p:spPr bwMode="auto">
          <a:xfrm>
            <a:off x="539750" y="1628800"/>
            <a:ext cx="8072438"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65000"/>
              </a:spcBef>
              <a:buClrTx/>
              <a:buSzTx/>
              <a:buFontTx/>
              <a:buNone/>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1、无皂乳液聚合</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1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Soap-free emulsion polymerization)</a:t>
            </a:r>
          </a:p>
          <a:p>
            <a:pPr eaLnBrk="1" hangingPunct="1">
              <a:spcBef>
                <a:spcPct val="50000"/>
              </a:spcBef>
              <a:buClrTx/>
              <a:buSzTx/>
              <a:buFontTx/>
              <a:buNone/>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         在反应过程中完全不加或仅加入很少量乳化剂</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其浓度小于临界胶束浓度</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CMC)</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的乳液聚合过程。</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ClrTx/>
              <a:buSzTx/>
              <a:buFontTx/>
              <a:buNone/>
            </a:pPr>
            <a:endParaRPr lang="en-US" altLang="zh-CN" sz="2000" b="1" dirty="0">
              <a:solidFill>
                <a:srgbClr val="0033CC"/>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ClrTx/>
              <a:buSzTx/>
              <a:buFontTx/>
              <a:buNone/>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乳液稳定性主要通过体系中下列反应物获得：</a:t>
            </a:r>
          </a:p>
          <a:p>
            <a:pPr eaLnBrk="1" hangingPunct="1">
              <a:lnSpc>
                <a:spcPct val="140000"/>
              </a:lnSpc>
              <a:spcBef>
                <a:spcPct val="50000"/>
              </a:spcBef>
              <a:buClrTx/>
              <a:buSzTx/>
              <a:buFontTx/>
              <a:buNone/>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离子型引发剂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如：过硫酸钾(</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KPS)，</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偶氮二异胺盐酸盐</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40000"/>
              </a:lnSpc>
              <a:spcBef>
                <a:spcPct val="50000"/>
              </a:spcBef>
              <a:buClrTx/>
              <a:buSzTx/>
              <a:buFontTx/>
              <a:buNone/>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亲水性共聚单体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如含羧基的单体，丙烯酰胺及其衍生物</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40000"/>
              </a:lnSpc>
              <a:spcBef>
                <a:spcPct val="50000"/>
              </a:spcBef>
              <a:buClrTx/>
              <a:buSzTx/>
              <a:buFontTx/>
              <a:buNone/>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离子型共聚单体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如苯乙烯磺酸钠和甲基丙烯酸2－磺酰乙酯钠盐、二甲基乙烯基吡啶磺酸盐等</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9396" name="Text Box 15"/>
          <p:cNvSpPr txBox="1">
            <a:spLocks noChangeArrowheads="1"/>
          </p:cNvSpPr>
          <p:nvPr/>
        </p:nvSpPr>
        <p:spPr bwMode="auto">
          <a:xfrm>
            <a:off x="539750" y="692696"/>
            <a:ext cx="69850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200">
                <a:solidFill>
                  <a:schemeClr val="tx1"/>
                </a:solidFill>
                <a:latin typeface="Times New Roman" panose="02020603050405020304" pitchFamily="18" charset="0"/>
                <a:ea typeface="宋体" panose="02010600030101010101" pitchFamily="2" charset="-122"/>
              </a:defRPr>
            </a:lvl1pPr>
            <a:lvl2pPr marL="742950" indent="-285750">
              <a:defRPr kumimoji="1" sz="2200">
                <a:solidFill>
                  <a:schemeClr val="tx1"/>
                </a:solidFill>
                <a:latin typeface="Times New Roman" panose="02020603050405020304" pitchFamily="18" charset="0"/>
                <a:ea typeface="宋体" panose="02010600030101010101" pitchFamily="2" charset="-122"/>
              </a:defRPr>
            </a:lvl2pPr>
            <a:lvl3pPr marL="1143000" indent="-228600">
              <a:defRPr kumimoji="1" sz="2200">
                <a:solidFill>
                  <a:schemeClr val="tx1"/>
                </a:solidFill>
                <a:latin typeface="Times New Roman" panose="02020603050405020304" pitchFamily="18" charset="0"/>
                <a:ea typeface="宋体" panose="02010600030101010101" pitchFamily="2" charset="-122"/>
              </a:defRPr>
            </a:lvl3pPr>
            <a:lvl4pPr marL="1600200" indent="-228600">
              <a:defRPr kumimoji="1" sz="2200">
                <a:solidFill>
                  <a:schemeClr val="tx1"/>
                </a:solidFill>
                <a:latin typeface="Times New Roman" panose="02020603050405020304" pitchFamily="18" charset="0"/>
                <a:ea typeface="宋体" panose="02010600030101010101" pitchFamily="2" charset="-122"/>
              </a:defRPr>
            </a:lvl4pPr>
            <a:lvl5pPr marL="2057400" indent="-228600">
              <a:defRPr kumimoji="1" sz="2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Arial" panose="020B0604020202020204" pitchFamily="34" charset="0"/>
                <a:ea typeface="楷体" panose="02010609060101010101" pitchFamily="49" charset="-122"/>
                <a:cs typeface="Arial" panose="020B0604020202020204" pitchFamily="34" charset="0"/>
              </a:rPr>
              <a:t>5</a:t>
            </a:r>
            <a:r>
              <a:rPr lang="zh-CN" altLang="en-US" sz="2400" dirty="0">
                <a:latin typeface="Arial" panose="020B0604020202020204" pitchFamily="34" charset="0"/>
                <a:ea typeface="楷体" panose="02010609060101010101" pitchFamily="49" charset="-122"/>
                <a:cs typeface="Arial" panose="020B0604020202020204" pitchFamily="34" charset="0"/>
              </a:rPr>
              <a:t>.</a:t>
            </a:r>
            <a:r>
              <a:rPr lang="en-US" altLang="zh-CN" sz="2400" dirty="0">
                <a:latin typeface="Arial" panose="020B0604020202020204" pitchFamily="34" charset="0"/>
                <a:ea typeface="楷体" panose="02010609060101010101" pitchFamily="49" charset="-122"/>
                <a:cs typeface="Arial" panose="020B0604020202020204" pitchFamily="34" charset="0"/>
              </a:rPr>
              <a:t>5.3</a:t>
            </a:r>
            <a:r>
              <a:rPr lang="zh-CN" altLang="en-US" sz="2400" dirty="0">
                <a:latin typeface="Arial" panose="020B0604020202020204" pitchFamily="34" charset="0"/>
                <a:ea typeface="楷体" panose="02010609060101010101" pitchFamily="49" charset="-122"/>
                <a:cs typeface="Arial" panose="020B0604020202020204" pitchFamily="34" charset="0"/>
              </a:rPr>
              <a:t> </a:t>
            </a:r>
            <a:r>
              <a:rPr lang="zh-CN" altLang="en-US" sz="2400" b="1" dirty="0">
                <a:latin typeface="Arial" panose="020B0604020202020204" pitchFamily="34" charset="0"/>
                <a:ea typeface="楷体" panose="02010609060101010101" pitchFamily="49" charset="-122"/>
                <a:cs typeface="Arial" panose="020B0604020202020204" pitchFamily="34" charset="0"/>
              </a:rPr>
              <a:t>乳液聚合技术的发展</a:t>
            </a:r>
          </a:p>
        </p:txBody>
      </p:sp>
    </p:spTree>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69B8FD5F-8178-4E8E-9447-E21742C9E44F}" type="slidenum">
              <a:rPr lang="zh-CN" altLang="en-US" sz="1400" smtClean="0">
                <a:solidFill>
                  <a:srgbClr val="FFFFFF"/>
                </a:solidFill>
                <a:latin typeface="Times New Roman" panose="02020603050405020304" pitchFamily="18" charset="0"/>
              </a:rPr>
              <a:pPr>
                <a:spcBef>
                  <a:spcPct val="50000"/>
                </a:spcBef>
                <a:buClrTx/>
                <a:buSzTx/>
                <a:buFontTx/>
                <a:buNone/>
              </a:pPr>
              <a:t>55</a:t>
            </a:fld>
            <a:endParaRPr lang="en-US" altLang="zh-CN" sz="1400">
              <a:solidFill>
                <a:srgbClr val="FFFFFF"/>
              </a:solidFill>
              <a:latin typeface="Times New Roman" panose="02020603050405020304" pitchFamily="18" charset="0"/>
            </a:endParaRPr>
          </a:p>
        </p:txBody>
      </p:sp>
      <p:sp>
        <p:nvSpPr>
          <p:cNvPr id="60419" name="Rectangle 2"/>
          <p:cNvSpPr>
            <a:spLocks noChangeArrowheads="1"/>
          </p:cNvSpPr>
          <p:nvPr/>
        </p:nvSpPr>
        <p:spPr bwMode="auto">
          <a:xfrm>
            <a:off x="467544" y="1628800"/>
            <a:ext cx="8064500"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zh-CN" altLang="en-US" sz="2200" b="1" dirty="0">
                <a:solidFill>
                  <a:srgbClr val="FF0000"/>
                </a:solidFill>
                <a:latin typeface="楷体" panose="02010609060101010101" pitchFamily="49" charset="-122"/>
                <a:ea typeface="楷体" panose="02010609060101010101" pitchFamily="49" charset="-122"/>
              </a:rPr>
              <a:t>应用：</a:t>
            </a:r>
            <a:endParaRPr lang="zh-CN" altLang="en-US" sz="2200" dirty="0">
              <a:solidFill>
                <a:srgbClr val="FF0000"/>
              </a:solidFill>
              <a:latin typeface="楷体" panose="02010609060101010101" pitchFamily="49" charset="-122"/>
              <a:ea typeface="楷体" panose="02010609060101010101" pitchFamily="49" charset="-122"/>
            </a:endParaRPr>
          </a:p>
          <a:p>
            <a:pPr eaLnBrk="1" hangingPunct="1">
              <a:lnSpc>
                <a:spcPct val="120000"/>
              </a:lnSpc>
              <a:spcBef>
                <a:spcPct val="50000"/>
              </a:spcBef>
              <a:buClrTx/>
              <a:buSzTx/>
              <a:buFontTx/>
              <a:buNone/>
            </a:pPr>
            <a:r>
              <a:rPr lang="en-US" altLang="zh-CN" sz="2200" b="1" dirty="0">
                <a:latin typeface="楷体" panose="02010609060101010101" pitchFamily="49" charset="-122"/>
                <a:ea typeface="楷体" panose="02010609060101010101" pitchFamily="49" charset="-122"/>
              </a:rPr>
              <a:t>a)</a:t>
            </a:r>
            <a:r>
              <a:rPr lang="zh-CN" altLang="en-US" sz="2200" b="1" dirty="0">
                <a:latin typeface="楷体" panose="02010609060101010101" pitchFamily="49" charset="-122"/>
                <a:ea typeface="楷体" panose="02010609060101010101" pitchFamily="49" charset="-122"/>
              </a:rPr>
              <a:t>无皂乳液聚合产物单分散胶粒的表面较为纯净，且胶粒表面所带电荷及基团可通过选择引发剂、共聚单体来控制，胶乳不含小分子乳化剂，可用于生产粘合剂和涂料，以增强产物的耐水性和耐候性</a:t>
            </a:r>
          </a:p>
          <a:p>
            <a:pPr eaLnBrk="1" hangingPunct="1">
              <a:lnSpc>
                <a:spcPct val="120000"/>
              </a:lnSpc>
              <a:spcBef>
                <a:spcPct val="50000"/>
              </a:spcBef>
              <a:buClrTx/>
              <a:buSzTx/>
              <a:buFontTx/>
              <a:buNone/>
            </a:pPr>
            <a:r>
              <a:rPr lang="en-US" altLang="zh-CN" sz="2200" b="1" dirty="0">
                <a:latin typeface="楷体" panose="02010609060101010101" pitchFamily="49" charset="-122"/>
                <a:ea typeface="楷体" panose="02010609060101010101" pitchFamily="49" charset="-122"/>
              </a:rPr>
              <a:t>b)</a:t>
            </a:r>
            <a:r>
              <a:rPr lang="zh-CN" altLang="en-US" sz="2200" b="1" dirty="0">
                <a:latin typeface="楷体" panose="02010609060101010101" pitchFamily="49" charset="-122"/>
                <a:ea typeface="楷体" panose="02010609060101010101" pitchFamily="49" charset="-122"/>
              </a:rPr>
              <a:t>有无机填料存在下的无皂乳液聚合，在适当条件下能够获得均一性良好的有机－无机复合材料，而且在某些条件下可以在聚合物与填料界面生成化学键，大大改善复合材料的强度</a:t>
            </a:r>
          </a:p>
        </p:txBody>
      </p:sp>
    </p:spTree>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894467E3-F89D-4A0C-B6AB-BDB0BEE21407}" type="slidenum">
              <a:rPr lang="zh-CN" altLang="en-US" sz="1400" smtClean="0">
                <a:solidFill>
                  <a:srgbClr val="FFFFFF"/>
                </a:solidFill>
                <a:latin typeface="Times New Roman" panose="02020603050405020304" pitchFamily="18" charset="0"/>
              </a:rPr>
              <a:pPr>
                <a:spcBef>
                  <a:spcPct val="50000"/>
                </a:spcBef>
                <a:buClrTx/>
                <a:buSzTx/>
                <a:buFontTx/>
                <a:buNone/>
              </a:pPr>
              <a:t>56</a:t>
            </a:fld>
            <a:endParaRPr lang="en-US" altLang="zh-CN" sz="1400">
              <a:solidFill>
                <a:srgbClr val="FFFFFF"/>
              </a:solidFill>
              <a:latin typeface="Times New Roman" panose="02020603050405020304" pitchFamily="18" charset="0"/>
            </a:endParaRPr>
          </a:p>
        </p:txBody>
      </p:sp>
      <p:sp>
        <p:nvSpPr>
          <p:cNvPr id="61443" name="Text Box 2"/>
          <p:cNvSpPr txBox="1">
            <a:spLocks noChangeArrowheads="1"/>
          </p:cNvSpPr>
          <p:nvPr/>
        </p:nvSpPr>
        <p:spPr bwMode="auto">
          <a:xfrm>
            <a:off x="467544" y="1308100"/>
            <a:ext cx="80772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、微乳液聚合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Microemulsion</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polymerization)</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微乳液：</a:t>
            </a:r>
          </a:p>
          <a:p>
            <a:pPr eaLnBrk="1" hangingPunct="1">
              <a:spcBef>
                <a:spcPct val="50000"/>
              </a:spcBef>
              <a:buClrTx/>
              <a:buSzTx/>
              <a:buFontTx/>
              <a:buNone/>
            </a:pP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油分散在水的连续相中或水分散在油的连续相中的由</a:t>
            </a:r>
          </a:p>
          <a:p>
            <a:pPr eaLnBrk="1" hangingPunct="1">
              <a:spcBef>
                <a:spcPct val="50000"/>
              </a:spcBef>
              <a:buClrTx/>
              <a:buSzTx/>
              <a:buFontTx/>
              <a:buNone/>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表面活性剂界面层提供稳定作用的热力学稳定体系。</a:t>
            </a:r>
          </a:p>
          <a:p>
            <a:pPr eaLnBrk="1" hangingPunct="1">
              <a:spcBef>
                <a:spcPct val="50000"/>
              </a:spcBef>
              <a:buClrTx/>
              <a:buSzTx/>
              <a:buFontTx/>
              <a:buNone/>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     分散相液滴直径很小，5～80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nm，</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体系具有</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光学透明性</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ClrTx/>
              <a:buSzTx/>
              <a:buFontTx/>
              <a:buNone/>
            </a:pPr>
            <a:endParaRPr lang="zh-CN" altLang="en-US" sz="1100" b="1" dirty="0">
              <a:solidFill>
                <a:srgbClr val="9900CC"/>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ts val="1200"/>
              </a:spcBef>
              <a:buClrTx/>
              <a:buSzTx/>
              <a:buFontTx/>
              <a:buNone/>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实现途径：</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增大乳化剂量，减小单体量，添加助乳化剂</a:t>
            </a:r>
          </a:p>
          <a:p>
            <a:pPr eaLnBrk="1" hangingPunct="1">
              <a:spcBef>
                <a:spcPts val="240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应用：</a:t>
            </a:r>
          </a:p>
          <a:p>
            <a:pPr eaLnBrk="1" hangingPunct="1">
              <a:spcBef>
                <a:spcPct val="50000"/>
              </a:spcBef>
              <a:buClrTx/>
              <a:buSzTx/>
              <a:buFontTx/>
              <a:buNone/>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      合成</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粒径的乳胶粒</a:t>
            </a:r>
          </a:p>
        </p:txBody>
      </p:sp>
    </p:spTree>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5F15FBD2-CD78-4827-AC10-DCC44F9297A4}" type="slidenum">
              <a:rPr lang="zh-CN" altLang="en-US" sz="1400" smtClean="0">
                <a:solidFill>
                  <a:srgbClr val="FFFFFF"/>
                </a:solidFill>
                <a:latin typeface="Times New Roman" panose="02020603050405020304" pitchFamily="18" charset="0"/>
              </a:rPr>
              <a:pPr>
                <a:spcBef>
                  <a:spcPct val="50000"/>
                </a:spcBef>
                <a:buClrTx/>
                <a:buSzTx/>
                <a:buFontTx/>
                <a:buNone/>
              </a:pPr>
              <a:t>57</a:t>
            </a:fld>
            <a:endParaRPr lang="en-US" altLang="zh-CN" sz="1400">
              <a:solidFill>
                <a:srgbClr val="FFFFFF"/>
              </a:solidFill>
              <a:latin typeface="Times New Roman" panose="02020603050405020304" pitchFamily="18" charset="0"/>
            </a:endParaRPr>
          </a:p>
        </p:txBody>
      </p:sp>
      <p:sp>
        <p:nvSpPr>
          <p:cNvPr id="62467" name="Text Box 2"/>
          <p:cNvSpPr txBox="1">
            <a:spLocks noChangeArrowheads="1"/>
          </p:cNvSpPr>
          <p:nvPr/>
        </p:nvSpPr>
        <p:spPr bwMode="auto">
          <a:xfrm>
            <a:off x="539552" y="1300162"/>
            <a:ext cx="8077200" cy="495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50000"/>
              </a:spcBef>
              <a:buClrTx/>
              <a:buSzTx/>
              <a:buFontTx/>
              <a:buNone/>
            </a:pP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、分散聚合</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(Dispersion polymerization)</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ClrTx/>
              <a:buSzTx/>
              <a:buFontTx/>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由溶于有机溶剂</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或水</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的单体通过聚合生成不溶于该溶剂的聚合物，而且形成胶态稳定的分散体系的聚合方式。</a:t>
            </a:r>
          </a:p>
          <a:p>
            <a:pPr eaLnBrk="1" hangingPunct="1">
              <a:spcBef>
                <a:spcPct val="5000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特点：</a:t>
            </a:r>
          </a:p>
          <a:p>
            <a:pPr eaLnBrk="1" hangingPunct="1">
              <a:spcBef>
                <a:spcPct val="5000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胶态的稳定性来源于聚合物粒子表面吸附的存在于连续相中的两亲高分子稳定剂或分散剂。</a:t>
            </a:r>
          </a:p>
          <a:p>
            <a:pPr eaLnBrk="1" hangingPunct="1">
              <a:spcBef>
                <a:spcPct val="5000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可看作是产物的聚集受到限制，且粒子尺寸得到控制的特殊的沉淀聚合。</a:t>
            </a:r>
          </a:p>
          <a:p>
            <a:pPr eaLnBrk="1" hangingPunct="1">
              <a:spcBef>
                <a:spcPct val="50000"/>
              </a:spcBef>
              <a:buClrTx/>
              <a:buSzTx/>
              <a:buFontTx/>
              <a:buNone/>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应用：</a:t>
            </a:r>
            <a:endPar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汽车涂料、复印技术、印刷油墨、泡沫、聚合物增强剂、聚烯烃和单分散聚合物微球的制备。</a:t>
            </a:r>
          </a:p>
        </p:txBody>
      </p:sp>
    </p:spTree>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70583AEA-9844-4672-9AEF-E28532D8F7B6}" type="slidenum">
              <a:rPr lang="zh-CN" altLang="en-US" sz="1400" smtClean="0">
                <a:solidFill>
                  <a:srgbClr val="FFFFFF"/>
                </a:solidFill>
                <a:latin typeface="Times New Roman" panose="02020603050405020304" pitchFamily="18" charset="0"/>
              </a:rPr>
              <a:pPr>
                <a:spcBef>
                  <a:spcPct val="50000"/>
                </a:spcBef>
                <a:buClrTx/>
                <a:buSzTx/>
                <a:buFontTx/>
                <a:buNone/>
              </a:pPr>
              <a:t>58</a:t>
            </a:fld>
            <a:endParaRPr lang="en-US" altLang="zh-CN" sz="1400">
              <a:solidFill>
                <a:srgbClr val="FFFFFF"/>
              </a:solidFill>
              <a:latin typeface="Times New Roman" panose="02020603050405020304" pitchFamily="18" charset="0"/>
            </a:endParaRPr>
          </a:p>
        </p:txBody>
      </p:sp>
      <p:sp>
        <p:nvSpPr>
          <p:cNvPr id="63491" name="Text Box 2"/>
          <p:cNvSpPr txBox="1">
            <a:spLocks noChangeArrowheads="1"/>
          </p:cNvSpPr>
          <p:nvPr/>
        </p:nvSpPr>
        <p:spPr bwMode="auto">
          <a:xfrm>
            <a:off x="467544" y="836712"/>
            <a:ext cx="784860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nSpc>
                <a:spcPct val="120000"/>
              </a:lnSpc>
              <a:spcBef>
                <a:spcPct val="0"/>
              </a:spcBef>
              <a:buClrTx/>
              <a:buSzTx/>
              <a:buFontTx/>
              <a:buNone/>
            </a:pP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、核－壳聚合物</a:t>
            </a:r>
          </a:p>
          <a:p>
            <a:pPr algn="just">
              <a:lnSpc>
                <a:spcPct val="120000"/>
              </a:lnSpc>
              <a:spcBef>
                <a:spcPct val="0"/>
              </a:spcBef>
              <a:buClrTx/>
              <a:buSzTx/>
              <a:buFontTx/>
              <a:buNone/>
            </a:pPr>
            <a:r>
              <a:rPr lang="zh-CN" altLang="en-US"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通过多步复合乳液聚合方法制备的一类具有双层或</a:t>
            </a:r>
          </a:p>
          <a:p>
            <a:pPr algn="just">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多层特殊结构的共聚物粒子</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core-shell latex polymer</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20000"/>
              </a:lnSpc>
              <a:spcBef>
                <a:spcPct val="0"/>
              </a:spcBef>
              <a:buClrTx/>
              <a:buSzTx/>
              <a:buFontTx/>
              <a:buNone/>
            </a:pPr>
            <a:endParaRPr lang="en-US" altLang="zh-CN" sz="1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特点：粒子的内层和外部分别富集不同成份，显示出特殊</a:t>
            </a:r>
          </a:p>
          <a:p>
            <a:pPr algn="just">
              <a:lnSpc>
                <a:spcPct val="12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的双层或多层结构，核与壳分别具有不同的功能</a:t>
            </a:r>
          </a:p>
          <a:p>
            <a:pPr algn="just">
              <a:lnSpc>
                <a:spcPct val="120000"/>
              </a:lnSpc>
              <a:spcBef>
                <a:spcPct val="0"/>
              </a:spcBef>
              <a:buClrTx/>
              <a:buSzTx/>
              <a:buFontTx/>
              <a:buNone/>
            </a:pPr>
            <a:endParaRPr lang="zh-CN" altLang="en-US" sz="16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20000"/>
              </a:lnSpc>
              <a:spcBef>
                <a:spcPct val="0"/>
              </a:spcBef>
              <a:buClrTx/>
              <a:buSzTx/>
              <a:buFontTx/>
              <a:buNone/>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种子乳液聚合</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：合成方法与核壳乳液聚合类似，先合成小粒径的种子胶乳，再加入到常规乳液聚合体系中继续反应，生成大粒径的胶乳（</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&gt; 1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m</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20000"/>
              </a:lnSpc>
              <a:spcBef>
                <a:spcPct val="0"/>
              </a:spcBef>
              <a:buClrTx/>
              <a:buSzTx/>
              <a:buFontTx/>
              <a:buNone/>
            </a:pP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3492" name="Picture 3" descr="PS emul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4221088"/>
            <a:ext cx="3095625"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638C3E17-DC60-4E6A-98F1-07857DC6B9AD}" type="slidenum">
              <a:rPr lang="zh-CN" altLang="en-US" sz="1400" smtClean="0">
                <a:solidFill>
                  <a:srgbClr val="FFFFFF"/>
                </a:solidFill>
                <a:latin typeface="Times New Roman" panose="02020603050405020304" pitchFamily="18" charset="0"/>
              </a:rPr>
              <a:pPr>
                <a:spcBef>
                  <a:spcPct val="50000"/>
                </a:spcBef>
                <a:buClrTx/>
                <a:buSzTx/>
                <a:buFontTx/>
                <a:buNone/>
              </a:pPr>
              <a:t>59</a:t>
            </a:fld>
            <a:endParaRPr lang="en-US" altLang="zh-CN" sz="1400">
              <a:solidFill>
                <a:srgbClr val="FFFFFF"/>
              </a:solidFill>
              <a:latin typeface="Times New Roman" panose="02020603050405020304" pitchFamily="18" charset="0"/>
            </a:endParaRPr>
          </a:p>
        </p:txBody>
      </p:sp>
      <p:sp>
        <p:nvSpPr>
          <p:cNvPr id="64515" name="Text Box 2"/>
          <p:cNvSpPr txBox="1">
            <a:spLocks noChangeArrowheads="1"/>
          </p:cNvSpPr>
          <p:nvPr/>
        </p:nvSpPr>
        <p:spPr bwMode="auto">
          <a:xfrm>
            <a:off x="387350" y="1340791"/>
            <a:ext cx="8351838" cy="462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lnSpc>
                <a:spcPct val="130000"/>
              </a:lnSpc>
              <a:spcBef>
                <a:spcPct val="50000"/>
              </a:spcBef>
              <a:buClrTx/>
              <a:buSzTx/>
              <a:buFontTx/>
              <a:buNone/>
            </a:pPr>
            <a:r>
              <a:rPr lang="zh-CN" altLang="en-US" sz="2200" b="1">
                <a:latin typeface="Times New Roman" panose="02020603050405020304" pitchFamily="18" charset="0"/>
                <a:ea typeface="楷体" panose="02010609060101010101" pitchFamily="49" charset="-122"/>
                <a:cs typeface="Times New Roman" panose="02020603050405020304" pitchFamily="18" charset="0"/>
              </a:rPr>
              <a:t>核壳聚合物最大优势： 能获得各组分本身性能的最佳组合，这很大程度决定于粒子的形态特征--核壳结构</a:t>
            </a:r>
          </a:p>
          <a:p>
            <a:pPr eaLnBrk="1" hangingPunct="1">
              <a:lnSpc>
                <a:spcPct val="130000"/>
              </a:lnSpc>
              <a:spcBef>
                <a:spcPct val="5000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独特的结构形态大大改变了共聚物乳胶粒的性能，得到广泛应用</a:t>
            </a:r>
          </a:p>
          <a:p>
            <a:pPr eaLnBrk="1" hangingPunct="1">
              <a:lnSpc>
                <a:spcPct val="130000"/>
              </a:lnSpc>
              <a:spcBef>
                <a:spcPct val="50000"/>
              </a:spcBef>
              <a:buClrTx/>
              <a:buSzTx/>
              <a:buFontTx/>
              <a:buNone/>
            </a:pPr>
            <a:endParaRPr lang="zh-CN" altLang="en-US" sz="8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以软聚合物为核，硬聚合物为壳的复合粒子被广泛用作高分子材料的抗冲击改性剂和增韧剂</a:t>
            </a:r>
          </a:p>
          <a:p>
            <a:pPr algn="just">
              <a:lnSpc>
                <a:spcPct val="130000"/>
              </a:lnSpc>
              <a:spcBef>
                <a:spcPct val="0"/>
              </a:spcBef>
              <a:buClrTx/>
              <a:buSzTx/>
              <a:buFontTx/>
              <a:buNone/>
            </a:pPr>
            <a:endParaRPr lang="en-US" altLang="zh-CN" sz="9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例：</a:t>
            </a:r>
          </a:p>
          <a:p>
            <a:pPr algn="just">
              <a:lnSpc>
                <a:spcPct val="13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PBA/PMMA/PGMA(</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聚甲基丙烯酸缩水甘油酯</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三层结构复合粒子与</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PVC</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共混，可在不降低模量的情况下显著提高硬质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PVC</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的抗冲击强度      </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zoom/>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fld id="{CF55AC58-91E4-40D5-8834-B4C092B072A1}" type="slidenum">
              <a:rPr lang="zh-CN" altLang="en-US" sz="1400" smtClean="0">
                <a:solidFill>
                  <a:srgbClr val="FFFFFF"/>
                </a:solidFill>
                <a:latin typeface="Times New Roman" panose="02020603050405020304" pitchFamily="18" charset="0"/>
              </a:rPr>
              <a:pPr>
                <a:spcBef>
                  <a:spcPct val="50000"/>
                </a:spcBef>
                <a:buClrTx/>
                <a:buSzTx/>
                <a:buFontTx/>
                <a:buNone/>
              </a:pPr>
              <a:t>60</a:t>
            </a:fld>
            <a:endParaRPr lang="en-US" altLang="zh-CN" sz="1400">
              <a:solidFill>
                <a:srgbClr val="FFFFFF"/>
              </a:solidFill>
              <a:latin typeface="Times New Roman" panose="02020603050405020304" pitchFamily="18" charset="0"/>
            </a:endParaRPr>
          </a:p>
        </p:txBody>
      </p:sp>
      <p:sp>
        <p:nvSpPr>
          <p:cNvPr id="65539" name="Text Box 2"/>
          <p:cNvSpPr txBox="1">
            <a:spLocks noChangeArrowheads="1"/>
          </p:cNvSpPr>
          <p:nvPr/>
        </p:nvSpPr>
        <p:spPr bwMode="auto">
          <a:xfrm>
            <a:off x="314325" y="1124744"/>
            <a:ext cx="8424863"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a:lnSpc>
                <a:spcPct val="160000"/>
              </a:lnSpc>
              <a:spcBef>
                <a:spcPct val="0"/>
              </a:spcBef>
              <a:buClrTx/>
              <a:buSzTx/>
              <a:buFontTx/>
              <a:buNone/>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合成方法：</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Bef>
                <a:spcPct val="0"/>
              </a:spcBef>
              <a:buClrTx/>
              <a:buSzTx/>
              <a:buFontTx/>
              <a:buNone/>
            </a:pP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最常用的为</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种子乳液聚合法</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。基本工艺为：先经常规乳液聚合制备种子乳液，然后按一定方式将第二单体加入种子乳液</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需补加乳化剂和引发剂</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中聚合。可分为以下四种不同工艺：</a:t>
            </a:r>
          </a:p>
          <a:p>
            <a:pPr algn="just">
              <a:lnSpc>
                <a:spcPct val="16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间歇法：</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一次性加入第二种单体；</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6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半连续法：</a:t>
            </a:r>
            <a:r>
              <a:rPr lang="zh-CN" altLang="zh-CN" sz="2200" b="1" dirty="0">
                <a:latin typeface="Times New Roman" panose="02020603050405020304" pitchFamily="18" charset="0"/>
                <a:ea typeface="楷体" panose="02010609060101010101" pitchFamily="49" charset="-122"/>
                <a:cs typeface="Times New Roman" panose="02020603050405020304" pitchFamily="18" charset="0"/>
              </a:rPr>
              <a:t>连续滴加第二种单体</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最常用的方法</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6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连续法：</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单体、引发剂和种子乳液均连续</a:t>
            </a:r>
            <a:r>
              <a:rPr lang="zh-CN" altLang="zh-CN" sz="2200" b="1" dirty="0">
                <a:latin typeface="Times New Roman" panose="02020603050405020304" pitchFamily="18" charset="0"/>
                <a:ea typeface="楷体" panose="02010609060101010101" pitchFamily="49" charset="-122"/>
                <a:cs typeface="Times New Roman" panose="02020603050405020304" pitchFamily="18" charset="0"/>
              </a:rPr>
              <a:t>滴加</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60000"/>
              </a:lnSpc>
              <a:spcBef>
                <a:spcPct val="0"/>
              </a:spcBef>
              <a:buClrTx/>
              <a:buSzTx/>
              <a:buFontTx/>
              <a:buNone/>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4</a:t>
            </a:r>
            <a:r>
              <a:rPr lang="en-US" altLang="zh-CN"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平衡溶涨法：</a:t>
            </a:r>
            <a:r>
              <a:rPr lang="zh-CN" altLang="zh-CN" sz="2200" b="1" dirty="0">
                <a:latin typeface="Times New Roman" panose="02020603050405020304" pitchFamily="18" charset="0"/>
                <a:ea typeface="楷体" panose="02010609060101010101" pitchFamily="49" charset="-122"/>
                <a:cs typeface="Times New Roman" panose="02020603050405020304" pitchFamily="18" charset="0"/>
              </a:rPr>
              <a:t>种子乳液用第二单体在一定条件下溶涨一段时间</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后再升温、加入引发剂进行聚合</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spcBef>
                <a:spcPct val="0"/>
              </a:spcBef>
              <a:buClrTx/>
              <a:buSzTx/>
              <a:buFontTx/>
              <a:buNone/>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zoom/>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docProps/app.xml><?xml version="1.0" encoding="utf-8"?>
<Properties xmlns="http://schemas.openxmlformats.org/officeDocument/2006/extended-properties" xmlns:vt="http://schemas.openxmlformats.org/officeDocument/2006/docPropsVTypes">
  <Template>Oriel</Template>
  <TotalTime>12202</TotalTime>
  <Words>5479</Words>
  <Application>Microsoft Office PowerPoint</Application>
  <PresentationFormat>全屏显示(4:3)</PresentationFormat>
  <Paragraphs>592</Paragraphs>
  <Slides>60</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60</vt:i4>
      </vt:variant>
    </vt:vector>
  </HeadingPairs>
  <TitlesOfParts>
    <vt:vector size="78" baseType="lpstr">
      <vt:lpstr>Monotype Sorts</vt:lpstr>
      <vt:lpstr>等线</vt:lpstr>
      <vt:lpstr>黑体</vt:lpstr>
      <vt:lpstr>华文楷体</vt:lpstr>
      <vt:lpstr>楷体</vt:lpstr>
      <vt:lpstr>楷体_GB2312</vt:lpstr>
      <vt:lpstr>宋体</vt:lpstr>
      <vt:lpstr>微软雅黑</vt:lpstr>
      <vt:lpstr>Arial</vt:lpstr>
      <vt:lpstr>Century Schoolbook</vt:lpstr>
      <vt:lpstr>Symbol</vt:lpstr>
      <vt:lpstr>Times New Roman</vt:lpstr>
      <vt:lpstr>Wingdings</vt:lpstr>
      <vt:lpstr>Wingdings 2</vt:lpstr>
      <vt:lpstr>凸显</vt:lpstr>
      <vt:lpstr>公式</vt:lpstr>
      <vt:lpstr>位图图像</vt:lpstr>
      <vt:lpstr>Equation</vt:lpstr>
      <vt:lpstr>PowerPoint 演示文稿</vt:lpstr>
      <vt:lpstr>PowerPoint 演示文稿</vt:lpstr>
      <vt:lpstr>本章提纲和关键词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自由基共聚合                        李扬    高化楼311     Tel: 87952444</dc:title>
  <dc:creator>ymj</dc:creator>
  <cp:lastModifiedBy>朱健</cp:lastModifiedBy>
  <cp:revision>801</cp:revision>
  <dcterms:created xsi:type="dcterms:W3CDTF">2001-10-26T02:38:15Z</dcterms:created>
  <dcterms:modified xsi:type="dcterms:W3CDTF">2024-11-19T00:32:04Z</dcterms:modified>
</cp:coreProperties>
</file>