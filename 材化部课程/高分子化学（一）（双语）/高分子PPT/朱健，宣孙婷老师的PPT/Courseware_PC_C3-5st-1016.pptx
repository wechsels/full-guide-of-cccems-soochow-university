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455" r:id="rId3"/>
    <p:sldId id="456" r:id="rId4"/>
    <p:sldId id="457" r:id="rId5"/>
    <p:sldId id="458" r:id="rId6"/>
    <p:sldId id="305" r:id="rId7"/>
    <p:sldId id="306" r:id="rId8"/>
    <p:sldId id="307" r:id="rId9"/>
    <p:sldId id="406" r:id="rId10"/>
    <p:sldId id="408" r:id="rId11"/>
    <p:sldId id="309" r:id="rId12"/>
    <p:sldId id="310" r:id="rId13"/>
    <p:sldId id="311" r:id="rId14"/>
    <p:sldId id="312" r:id="rId15"/>
    <p:sldId id="409" r:id="rId16"/>
    <p:sldId id="410" r:id="rId17"/>
    <p:sldId id="313" r:id="rId18"/>
    <p:sldId id="314" r:id="rId19"/>
    <p:sldId id="315" r:id="rId20"/>
    <p:sldId id="411" r:id="rId21"/>
    <p:sldId id="316" r:id="rId22"/>
    <p:sldId id="317" r:id="rId23"/>
    <p:sldId id="318" r:id="rId24"/>
    <p:sldId id="319" r:id="rId25"/>
    <p:sldId id="446" r:id="rId26"/>
    <p:sldId id="447" r:id="rId27"/>
    <p:sldId id="448" r:id="rId28"/>
    <p:sldId id="449" r:id="rId29"/>
    <p:sldId id="450" r:id="rId30"/>
    <p:sldId id="451" r:id="rId31"/>
    <p:sldId id="452" r:id="rId32"/>
    <p:sldId id="453" r:id="rId33"/>
    <p:sldId id="454" r:id="rId34"/>
    <p:sldId id="412" r:id="rId35"/>
    <p:sldId id="322" r:id="rId36"/>
    <p:sldId id="323" r:id="rId37"/>
    <p:sldId id="324" r:id="rId38"/>
    <p:sldId id="325" r:id="rId39"/>
    <p:sldId id="326" r:id="rId40"/>
    <p:sldId id="327" r:id="rId41"/>
    <p:sldId id="328" r:id="rId42"/>
    <p:sldId id="413" r:id="rId43"/>
    <p:sldId id="414" r:id="rId44"/>
    <p:sldId id="415" r:id="rId45"/>
    <p:sldId id="416" r:id="rId46"/>
    <p:sldId id="417" r:id="rId47"/>
    <p:sldId id="418" r:id="rId48"/>
    <p:sldId id="419" r:id="rId49"/>
    <p:sldId id="420" r:id="rId50"/>
    <p:sldId id="421" r:id="rId51"/>
    <p:sldId id="422" r:id="rId52"/>
    <p:sldId id="423" r:id="rId53"/>
    <p:sldId id="424" r:id="rId54"/>
    <p:sldId id="335" r:id="rId55"/>
    <p:sldId id="336" r:id="rId56"/>
    <p:sldId id="337" r:id="rId57"/>
    <p:sldId id="338" r:id="rId58"/>
    <p:sldId id="339" r:id="rId59"/>
    <p:sldId id="340" r:id="rId60"/>
    <p:sldId id="341" r:id="rId61"/>
    <p:sldId id="425" r:id="rId62"/>
    <p:sldId id="426" r:id="rId63"/>
    <p:sldId id="344" r:id="rId64"/>
    <p:sldId id="345" r:id="rId65"/>
    <p:sldId id="346" r:id="rId66"/>
    <p:sldId id="348" r:id="rId67"/>
    <p:sldId id="349" r:id="rId68"/>
    <p:sldId id="350" r:id="rId69"/>
    <p:sldId id="351" r:id="rId70"/>
    <p:sldId id="352" r:id="rId71"/>
    <p:sldId id="353" r:id="rId72"/>
    <p:sldId id="354" r:id="rId73"/>
    <p:sldId id="355" r:id="rId74"/>
    <p:sldId id="356" r:id="rId75"/>
    <p:sldId id="357" r:id="rId76"/>
    <p:sldId id="358" r:id="rId77"/>
    <p:sldId id="359" r:id="rId78"/>
    <p:sldId id="360" r:id="rId79"/>
    <p:sldId id="361" r:id="rId80"/>
    <p:sldId id="362" r:id="rId81"/>
    <p:sldId id="363" r:id="rId82"/>
    <p:sldId id="434" r:id="rId83"/>
    <p:sldId id="435" r:id="rId84"/>
    <p:sldId id="364" r:id="rId85"/>
    <p:sldId id="365" r:id="rId86"/>
    <p:sldId id="366" r:id="rId87"/>
    <p:sldId id="367" r:id="rId88"/>
    <p:sldId id="368" r:id="rId89"/>
    <p:sldId id="369" r:id="rId90"/>
    <p:sldId id="370" r:id="rId91"/>
    <p:sldId id="371" r:id="rId92"/>
    <p:sldId id="372" r:id="rId93"/>
    <p:sldId id="373" r:id="rId94"/>
    <p:sldId id="374" r:id="rId95"/>
    <p:sldId id="375" r:id="rId96"/>
    <p:sldId id="376" r:id="rId97"/>
    <p:sldId id="377" r:id="rId98"/>
    <p:sldId id="430" r:id="rId99"/>
    <p:sldId id="431" r:id="rId100"/>
    <p:sldId id="432" r:id="rId101"/>
    <p:sldId id="401" r:id="rId102"/>
    <p:sldId id="433" r:id="rId10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6" autoAdjust="0"/>
    <p:restoredTop sz="94660"/>
  </p:normalViewPr>
  <p:slideViewPr>
    <p:cSldViewPr snapToGrid="0">
      <p:cViewPr varScale="1">
        <p:scale>
          <a:sx n="96" d="100"/>
          <a:sy n="96" d="100"/>
        </p:scale>
        <p:origin x="72" y="1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 Id="rId5" Type="http://schemas.openxmlformats.org/officeDocument/2006/relationships/image" Target="../media/image15.emf"/><Relationship Id="rId4"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5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5" Type="http://schemas.openxmlformats.org/officeDocument/2006/relationships/image" Target="../media/image151.wmf"/><Relationship Id="rId4" Type="http://schemas.openxmlformats.org/officeDocument/2006/relationships/image" Target="../media/image1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6ADA4-0011-4499-9740-28B563792D40}" type="datetimeFigureOut">
              <a:rPr lang="zh-CN" altLang="en-US" smtClean="0"/>
              <a:t>2024/10/15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BEBB4F-AE26-46B7-BF72-1A4C3455F5EF}" type="slidenum">
              <a:rPr lang="zh-CN" altLang="en-US" smtClean="0"/>
              <a:t>‹#›</a:t>
            </a:fld>
            <a:endParaRPr lang="zh-CN" altLang="en-US"/>
          </a:p>
        </p:txBody>
      </p:sp>
    </p:spTree>
    <p:extLst>
      <p:ext uri="{BB962C8B-B14F-4D97-AF65-F5344CB8AC3E}">
        <p14:creationId xmlns:p14="http://schemas.microsoft.com/office/powerpoint/2010/main" val="990563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41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fld id="{49FEDBFB-FA4F-4ACE-B876-62A29CA4DF79}" type="slidenum">
              <a:rPr lang="zh-CN" altLang="en-US"/>
              <a:pPr eaLnBrk="1" hangingPunct="1"/>
              <a:t>51</a:t>
            </a:fld>
            <a:endParaRPr lang="zh-CN" altLang="en-US"/>
          </a:p>
        </p:txBody>
      </p:sp>
    </p:spTree>
    <p:extLst>
      <p:ext uri="{BB962C8B-B14F-4D97-AF65-F5344CB8AC3E}">
        <p14:creationId xmlns:p14="http://schemas.microsoft.com/office/powerpoint/2010/main" val="2201237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423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fld id="{4E30A65E-540F-46FB-9DFE-1ABBD0232FD1}" type="slidenum">
              <a:rPr lang="zh-CN" altLang="en-US"/>
              <a:pPr eaLnBrk="1" hangingPunct="1"/>
              <a:t>52</a:t>
            </a:fld>
            <a:endParaRPr lang="zh-CN" altLang="en-US"/>
          </a:p>
        </p:txBody>
      </p:sp>
    </p:spTree>
    <p:extLst>
      <p:ext uri="{BB962C8B-B14F-4D97-AF65-F5344CB8AC3E}">
        <p14:creationId xmlns:p14="http://schemas.microsoft.com/office/powerpoint/2010/main" val="1206471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569C8-4648-43C7-A122-D4E8E6DC918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AACE1FD-603E-43D2-BEBF-C53079636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19F7E14-EA43-49E0-A956-1A2888DE98F6}"/>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9288EE71-1C12-4E7A-A56D-B0C82E8FB5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734BDF-0DA7-4F98-AE68-B248291EC662}"/>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188904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E3B583-62A4-467C-8DFA-7216EC0EA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F34B55-EC6A-4223-96C4-2C4D24A71FD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A8D4D6B-76FA-43BA-8FFE-D3C0CC6AF447}"/>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3CF80FA5-F3DD-4BDA-8F2F-17BD8C9221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977B2B-1225-42DC-9EE1-5872B5A655F4}"/>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3819165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A6319-97AF-4106-875B-B3F5C0DCC1B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5B977C0-6C6A-4143-99D1-9555FABD9D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C42380F-71F6-46F9-B717-25892C786E81}"/>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24FC225C-D0AE-4B77-8597-E037517E0A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5904B1-C340-4A25-98BF-761AF8498D03}"/>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1824121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FF6B5-7DFE-47DB-939D-752A5A32AA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929DA2-B829-4B9E-A5BB-65BFE35115F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3FE62B0E-6EDC-4260-B993-C4224BF92E5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CD63882-9F67-4404-B88F-C18C433A89A2}"/>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6" name="页脚占位符 5">
            <a:extLst>
              <a:ext uri="{FF2B5EF4-FFF2-40B4-BE49-F238E27FC236}">
                <a16:creationId xmlns:a16="http://schemas.microsoft.com/office/drawing/2014/main" id="{884665C6-2A64-4BB7-90F6-00C3338E89F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056FBA8-23E7-4D62-977E-3195BF4986A0}"/>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613658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F1153-50DD-48CD-AE33-71215B0E109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14C3B60-3DAF-48F8-9365-74826AB805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F2F404F6-7C8A-4B4E-A536-B6AA7C6F88D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561F9FD8-3BCB-435C-9B51-8EDCC3AE67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109037C-3D4B-4371-91FD-F3D23F24E874}"/>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CFDCFE4-343E-4575-87CF-DDF535A97800}"/>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8" name="页脚占位符 7">
            <a:extLst>
              <a:ext uri="{FF2B5EF4-FFF2-40B4-BE49-F238E27FC236}">
                <a16:creationId xmlns:a16="http://schemas.microsoft.com/office/drawing/2014/main" id="{445E5A45-E07A-4201-A194-DDEF58431B9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06CBCD6-0988-46A8-8EEB-3DE0CE249F4B}"/>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922775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A6CE17-16CA-4869-A5C0-6202D113968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E858F38-E5FD-4B9E-AE62-7BA3A771CB5C}"/>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4" name="页脚占位符 3">
            <a:extLst>
              <a:ext uri="{FF2B5EF4-FFF2-40B4-BE49-F238E27FC236}">
                <a16:creationId xmlns:a16="http://schemas.microsoft.com/office/drawing/2014/main" id="{3753F561-1D2E-4F1E-85D9-329F4DEB6ED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CEBAF21-3C6B-40F1-84BB-C451A239141F}"/>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936326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3167258-C3C4-42D1-BC86-8BADBF4B6FE5}"/>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3" name="页脚占位符 2">
            <a:extLst>
              <a:ext uri="{FF2B5EF4-FFF2-40B4-BE49-F238E27FC236}">
                <a16:creationId xmlns:a16="http://schemas.microsoft.com/office/drawing/2014/main" id="{24DEE0ED-0D42-41BB-80C2-9C4AE134AC5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1AC49BC-34F6-467D-B88E-C560AC1DA1FC}"/>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4230462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77D65-8662-4A43-9F85-2EFBDB26B14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7A1F885-E573-41B6-A011-68FC08CF17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26B529BA-95BE-4CE1-98EE-8E589CE072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FBA2E6C6-9679-48B3-9391-95944899FCC3}"/>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6" name="页脚占位符 5">
            <a:extLst>
              <a:ext uri="{FF2B5EF4-FFF2-40B4-BE49-F238E27FC236}">
                <a16:creationId xmlns:a16="http://schemas.microsoft.com/office/drawing/2014/main" id="{18BFCCC6-69CB-4D05-870E-9F008FDF76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C0DBC3-8053-4631-B971-2972D811EC6D}"/>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1741725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1E561-ECB6-4C92-9AC9-FB39BF73C2F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66A13F8-9BCB-4D91-AD00-C8B94E7BDD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9C00DF3-F94B-467C-BBB3-BFA3714DD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84496B8-7D85-4312-86D3-7EB2A071BFB1}"/>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6" name="页脚占位符 5">
            <a:extLst>
              <a:ext uri="{FF2B5EF4-FFF2-40B4-BE49-F238E27FC236}">
                <a16:creationId xmlns:a16="http://schemas.microsoft.com/office/drawing/2014/main" id="{48F4E599-28E2-4A42-90A1-403A93440E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C1A95E-E025-4147-A8D8-D10A96C8C26D}"/>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292811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2710D7-9E3D-4A3B-B6FD-F3F0ACEE0B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CC20378-3811-45E8-8644-0B8E751E658B}"/>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5BA88A-B859-4E3A-99F3-A9209EAA9B84}"/>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D284BA1C-EFED-44B4-8DAE-02502654E5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C20A1C-580D-4F4A-8CD5-9FA47EA663BD}"/>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1302423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F0D1E58-EA81-42B1-AD60-9B3988D496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1595A08-83CA-4B3A-9276-2D4CA144D737}"/>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D6438F1-C3D7-4EAD-A93C-117FE8A0CF70}"/>
              </a:ext>
            </a:extLst>
          </p:cNvPr>
          <p:cNvSpPr>
            <a:spLocks noGrp="1"/>
          </p:cNvSpPr>
          <p:nvPr>
            <p:ph type="dt" sz="half" idx="10"/>
          </p:nvPr>
        </p:nvSpPr>
        <p:spPr/>
        <p:txBody>
          <a:body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F61B92EF-CDCB-40F9-A3F3-0499D7CC63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332831-B921-41C9-A259-0ECB82B77B53}"/>
              </a:ext>
            </a:extLst>
          </p:cNvPr>
          <p:cNvSpPr>
            <a:spLocks noGrp="1"/>
          </p:cNvSpPr>
          <p:nvPr>
            <p:ph type="sldNum" sz="quarter" idx="12"/>
          </p:nvPr>
        </p:nvSpPr>
        <p:spPr/>
        <p:txBody>
          <a:body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262047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7C73F2-893A-49A5-96E5-3F368FC4CB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93CA24F-5950-40A4-8DE7-87B20B9A03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A2CCD81-92F9-4B23-B686-56F55CF92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3F354B-A9C6-421F-8FC8-2D21905F923F}" type="datetimeFigureOut">
              <a:rPr lang="zh-CN" altLang="en-US" smtClean="0"/>
              <a:t>2024/10/15</a:t>
            </a:fld>
            <a:endParaRPr lang="zh-CN" altLang="en-US"/>
          </a:p>
        </p:txBody>
      </p:sp>
      <p:sp>
        <p:nvSpPr>
          <p:cNvPr id="5" name="页脚占位符 4">
            <a:extLst>
              <a:ext uri="{FF2B5EF4-FFF2-40B4-BE49-F238E27FC236}">
                <a16:creationId xmlns:a16="http://schemas.microsoft.com/office/drawing/2014/main" id="{AC652CDB-33CF-42E2-BB91-BCE714A81C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F69AFBE-8089-47DB-897E-B67D3CD6D9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A5A2C-8CB2-4C18-895B-43A5BB8B8275}" type="slidenum">
              <a:rPr lang="zh-CN" altLang="en-US" smtClean="0"/>
              <a:t>‹#›</a:t>
            </a:fld>
            <a:endParaRPr lang="zh-CN" altLang="en-US"/>
          </a:p>
        </p:txBody>
      </p:sp>
    </p:spTree>
    <p:extLst>
      <p:ext uri="{BB962C8B-B14F-4D97-AF65-F5344CB8AC3E}">
        <p14:creationId xmlns:p14="http://schemas.microsoft.com/office/powerpoint/2010/main" val="276379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4.bin"/><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9.emf"/><Relationship Id="rId5" Type="http://schemas.openxmlformats.org/officeDocument/2006/relationships/oleObject" Target="../embeddings/oleObject7.bin"/><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5.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e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14.emf"/><Relationship Id="rId4" Type="http://schemas.openxmlformats.org/officeDocument/2006/relationships/image" Target="../media/image11.emf"/><Relationship Id="rId9"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2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2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http://www.chem.rochester.edu/~chem421/ct5.gif" TargetMode="External"/><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2.xml"/><Relationship Id="rId5" Type="http://schemas.openxmlformats.org/officeDocument/2006/relationships/image" Target="http://www.chem.rochester.edu/~chem421/phinit1.gif" TargetMode="Externa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32.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49.png"/><Relationship Id="rId7" Type="http://schemas.openxmlformats.org/officeDocument/2006/relationships/image" Target="../media/image47.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7.bin"/><Relationship Id="rId5" Type="http://schemas.openxmlformats.org/officeDocument/2006/relationships/image" Target="../media/image46.wmf"/><Relationship Id="rId4" Type="http://schemas.openxmlformats.org/officeDocument/2006/relationships/oleObject" Target="../embeddings/oleObject16.bin"/><Relationship Id="rId9" Type="http://schemas.openxmlformats.org/officeDocument/2006/relationships/image" Target="../media/image48.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51.emf"/><Relationship Id="rId5" Type="http://schemas.openxmlformats.org/officeDocument/2006/relationships/oleObject" Target="../embeddings/oleObject20.bin"/><Relationship Id="rId10" Type="http://schemas.openxmlformats.org/officeDocument/2006/relationships/image" Target="../media/image53.emf"/><Relationship Id="rId4" Type="http://schemas.openxmlformats.org/officeDocument/2006/relationships/image" Target="../media/image50.emf"/><Relationship Id="rId9" Type="http://schemas.openxmlformats.org/officeDocument/2006/relationships/oleObject" Target="../embeddings/oleObject22.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0.emf"/></Relationships>
</file>

<file path=ppt/slides/_rels/slide4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oleObject" Target="../embeddings/oleObject24.bin"/><Relationship Id="rId7"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emf"/></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5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83.png"/><Relationship Id="rId7" Type="http://schemas.openxmlformats.org/officeDocument/2006/relationships/image" Target="../media/image9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5" Type="http://schemas.openxmlformats.org/officeDocument/2006/relationships/image" Target="../media/image104.png"/><Relationship Id="rId4" Type="http://schemas.openxmlformats.org/officeDocument/2006/relationships/image" Target="../media/image10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6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63.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22.em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2.vml"/><Relationship Id="rId4" Type="http://schemas.openxmlformats.org/officeDocument/2006/relationships/image" Target="../media/image127.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8" Type="http://schemas.openxmlformats.org/officeDocument/2006/relationships/image" Target="../media/image130.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132.wmf"/><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129.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131.wmf"/><Relationship Id="rId4" Type="http://schemas.openxmlformats.org/officeDocument/2006/relationships/image" Target="../media/image128.wmf"/><Relationship Id="rId9" Type="http://schemas.openxmlformats.org/officeDocument/2006/relationships/oleObject" Target="../embeddings/oleObject30.bin"/><Relationship Id="rId14" Type="http://schemas.openxmlformats.org/officeDocument/2006/relationships/image" Target="../media/image133.w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8" Type="http://schemas.openxmlformats.org/officeDocument/2006/relationships/image" Target="../media/image136.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image" Target="../media/image135.wmf"/><Relationship Id="rId5" Type="http://schemas.openxmlformats.org/officeDocument/2006/relationships/oleObject" Target="../embeddings/oleObject34.bin"/><Relationship Id="rId4" Type="http://schemas.openxmlformats.org/officeDocument/2006/relationships/image" Target="../media/image134.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xml"/><Relationship Id="rId1" Type="http://schemas.openxmlformats.org/officeDocument/2006/relationships/vmlDrawing" Target="../drawings/vmlDrawing15.vml"/><Relationship Id="rId4" Type="http://schemas.openxmlformats.org/officeDocument/2006/relationships/image" Target="../media/image137.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38.emf"/><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39.emf"/><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40.emf"/><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emf"/><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45.emf"/><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46.emf"/><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151.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148.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150.wmf"/><Relationship Id="rId4" Type="http://schemas.openxmlformats.org/officeDocument/2006/relationships/image" Target="../media/image147.wmf"/><Relationship Id="rId9" Type="http://schemas.openxmlformats.org/officeDocument/2006/relationships/oleObject" Target="../embeddings/oleObject40.bin"/></Relationships>
</file>

<file path=ppt/slides/_rels/slide100.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53.wmf"/><Relationship Id="rId5" Type="http://schemas.openxmlformats.org/officeDocument/2006/relationships/oleObject" Target="../embeddings/oleObject43.bin"/><Relationship Id="rId4" Type="http://schemas.openxmlformats.org/officeDocument/2006/relationships/image" Target="../media/image152.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7B3089-538F-44AB-BF87-6228EE2DD322}"/>
              </a:ext>
            </a:extLst>
          </p:cNvPr>
          <p:cNvSpPr>
            <a:spLocks noGrp="1"/>
          </p:cNvSpPr>
          <p:nvPr>
            <p:ph type="ctrTitle"/>
          </p:nvPr>
        </p:nvSpPr>
        <p:spPr>
          <a:xfrm>
            <a:off x="1523999" y="1122363"/>
            <a:ext cx="9414723" cy="2387600"/>
          </a:xfrm>
        </p:spPr>
        <p:txBody>
          <a:bodyPr>
            <a:normAutofit fontScale="90000"/>
          </a:bodyPr>
          <a:lstStyle/>
          <a:p>
            <a:r>
              <a:rPr lang="zh-CN" altLang="en-US" dirty="0">
                <a:latin typeface="Arial" panose="020B0604020202020204" pitchFamily="34" charset="0"/>
                <a:ea typeface="黑体" panose="02010609060101010101" pitchFamily="49" charset="-122"/>
                <a:cs typeface="Arial" panose="020B0604020202020204" pitchFamily="34" charset="0"/>
              </a:rPr>
              <a:t>第三章 自由基聚合</a:t>
            </a:r>
            <a:br>
              <a:rPr lang="en-US" altLang="zh-CN" dirty="0">
                <a:latin typeface="Arial" panose="020B0604020202020204" pitchFamily="34" charset="0"/>
                <a:ea typeface="黑体" panose="02010609060101010101" pitchFamily="49" charset="-122"/>
                <a:cs typeface="Arial" panose="020B0604020202020204" pitchFamily="34" charset="0"/>
              </a:rPr>
            </a:br>
            <a:r>
              <a:rPr lang="en-US" altLang="zh-CN" b="1" dirty="0">
                <a:latin typeface="Arial" panose="020B0604020202020204" pitchFamily="34" charset="0"/>
                <a:ea typeface="黑体" panose="02010609060101010101" pitchFamily="49" charset="-122"/>
                <a:cs typeface="Arial" panose="020B0604020202020204" pitchFamily="34" charset="0"/>
              </a:rPr>
              <a:t>Free Radical Polymerization</a:t>
            </a:r>
            <a:endParaRPr lang="zh-CN" altLang="en-US" b="1" dirty="0">
              <a:latin typeface="Arial" panose="020B0604020202020204" pitchFamily="34" charset="0"/>
              <a:ea typeface="黑体" panose="02010609060101010101" pitchFamily="49" charset="-122"/>
              <a:cs typeface="Arial" panose="020B0604020202020204" pitchFamily="34" charset="0"/>
            </a:endParaRPr>
          </a:p>
        </p:txBody>
      </p:sp>
      <p:sp>
        <p:nvSpPr>
          <p:cNvPr id="3" name="副标题 2">
            <a:extLst>
              <a:ext uri="{FF2B5EF4-FFF2-40B4-BE49-F238E27FC236}">
                <a16:creationId xmlns:a16="http://schemas.microsoft.com/office/drawing/2014/main" id="{C9B2CCD8-BE41-48E1-8DD3-46FD1EDC9CF8}"/>
              </a:ext>
            </a:extLst>
          </p:cNvPr>
          <p:cNvSpPr>
            <a:spLocks noGrp="1"/>
          </p:cNvSpPr>
          <p:nvPr>
            <p:ph type="subTitle" idx="1"/>
          </p:nvPr>
        </p:nvSpPr>
        <p:spPr>
          <a:xfrm>
            <a:off x="1524000" y="4395934"/>
            <a:ext cx="9144000" cy="861865"/>
          </a:xfrm>
        </p:spPr>
        <p:txBody>
          <a:bodyPr>
            <a:normAutofit lnSpcReduction="10000"/>
          </a:bodyPr>
          <a:lstStyle/>
          <a:p>
            <a:r>
              <a:rPr lang="zh-CN" altLang="en-US" dirty="0"/>
              <a:t>朱健</a:t>
            </a:r>
            <a:endParaRPr lang="en-US" altLang="zh-CN" dirty="0"/>
          </a:p>
          <a:p>
            <a:r>
              <a:rPr lang="en-US" altLang="zh-CN" dirty="0"/>
              <a:t>2024.10.16</a:t>
            </a:r>
            <a:endParaRPr lang="zh-CN" altLang="en-US" dirty="0"/>
          </a:p>
        </p:txBody>
      </p:sp>
    </p:spTree>
    <p:extLst>
      <p:ext uri="{BB962C8B-B14F-4D97-AF65-F5344CB8AC3E}">
        <p14:creationId xmlns:p14="http://schemas.microsoft.com/office/powerpoint/2010/main" val="95934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41407" y="249231"/>
            <a:ext cx="7037004" cy="1036882"/>
          </a:xfrm>
        </p:spPr>
        <p:txBody>
          <a:bodyPr/>
          <a:lstStyle/>
          <a:p>
            <a:r>
              <a:rPr lang="zh-CN" altLang="en-US" b="1" dirty="0">
                <a:latin typeface="Adobe 楷体 Std R" panose="02020400000000000000" pitchFamily="18" charset="-122"/>
                <a:ea typeface="Adobe 楷体 Std R" panose="02020400000000000000" pitchFamily="18" charset="-122"/>
              </a:rPr>
              <a:t>自由基聚合</a:t>
            </a:r>
          </a:p>
        </p:txBody>
      </p:sp>
      <p:sp>
        <p:nvSpPr>
          <p:cNvPr id="3" name="内容占位符 2"/>
          <p:cNvSpPr>
            <a:spLocks noGrp="1"/>
          </p:cNvSpPr>
          <p:nvPr>
            <p:ph idx="1"/>
          </p:nvPr>
        </p:nvSpPr>
        <p:spPr>
          <a:xfrm>
            <a:off x="2155852" y="1316356"/>
            <a:ext cx="7037004" cy="4105765"/>
          </a:xfrm>
        </p:spPr>
        <p:txBody>
          <a:bodyPr>
            <a:normAutofit lnSpcReduction="10000"/>
          </a:bodyPr>
          <a:lstStyle/>
          <a:p>
            <a:r>
              <a:rPr lang="zh-CN" altLang="en-US" sz="3266" dirty="0">
                <a:latin typeface="Adobe 楷体 Std R" panose="02020400000000000000" pitchFamily="18" charset="-122"/>
                <a:ea typeface="Adobe 楷体 Std R" panose="02020400000000000000" pitchFamily="18" charset="-122"/>
              </a:rPr>
              <a:t>连锁聚合</a:t>
            </a:r>
            <a:endParaRPr lang="en-US" altLang="zh-CN" sz="3266" dirty="0">
              <a:latin typeface="Adobe 楷体 Std R" panose="02020400000000000000" pitchFamily="18" charset="-122"/>
              <a:ea typeface="Adobe 楷体 Std R" panose="02020400000000000000" pitchFamily="18" charset="-122"/>
            </a:endParaRPr>
          </a:p>
          <a:p>
            <a:r>
              <a:rPr lang="zh-CN" altLang="en-US" sz="3266" dirty="0">
                <a:latin typeface="Adobe 楷体 Std R" panose="02020400000000000000" pitchFamily="18" charset="-122"/>
                <a:ea typeface="Adobe 楷体 Std R" panose="02020400000000000000" pitchFamily="18" charset="-122"/>
              </a:rPr>
              <a:t>基元反应：引发、增长、终止</a:t>
            </a:r>
            <a:endParaRPr lang="en-US" altLang="zh-CN" sz="3266" dirty="0">
              <a:latin typeface="Adobe 楷体 Std R" panose="02020400000000000000" pitchFamily="18" charset="-122"/>
              <a:ea typeface="Adobe 楷体 Std R" panose="02020400000000000000" pitchFamily="18" charset="-122"/>
            </a:endParaRPr>
          </a:p>
          <a:p>
            <a:r>
              <a:rPr lang="zh-CN" altLang="en-US" sz="3266" dirty="0">
                <a:latin typeface="Adobe 楷体 Std R" panose="02020400000000000000" pitchFamily="18" charset="-122"/>
                <a:ea typeface="Adobe 楷体 Std R" panose="02020400000000000000" pitchFamily="18" charset="-122"/>
              </a:rPr>
              <a:t>多数烯类单体可以进行聚合</a:t>
            </a:r>
            <a:endParaRPr lang="en-US" altLang="zh-CN" sz="3266" dirty="0">
              <a:latin typeface="Adobe 楷体 Std R" panose="02020400000000000000" pitchFamily="18" charset="-122"/>
              <a:ea typeface="Adobe 楷体 Std R" panose="02020400000000000000" pitchFamily="18" charset="-122"/>
            </a:endParaRPr>
          </a:p>
          <a:p>
            <a:pPr lvl="1"/>
            <a:r>
              <a:rPr lang="zh-CN" altLang="en-US" sz="2903" dirty="0">
                <a:latin typeface="Adobe 楷体 Std R" panose="02020400000000000000" pitchFamily="18" charset="-122"/>
                <a:ea typeface="Adobe 楷体 Std R" panose="02020400000000000000" pitchFamily="18" charset="-122"/>
              </a:rPr>
              <a:t>电子效应</a:t>
            </a:r>
            <a:endParaRPr lang="en-US" altLang="zh-CN" sz="2903" dirty="0">
              <a:latin typeface="Adobe 楷体 Std R" panose="02020400000000000000" pitchFamily="18" charset="-122"/>
              <a:ea typeface="Adobe 楷体 Std R" panose="02020400000000000000" pitchFamily="18" charset="-122"/>
            </a:endParaRPr>
          </a:p>
          <a:p>
            <a:pPr lvl="1"/>
            <a:r>
              <a:rPr lang="zh-CN" altLang="en-US" sz="2903" dirty="0">
                <a:latin typeface="Adobe 楷体 Std R" panose="02020400000000000000" pitchFamily="18" charset="-122"/>
                <a:ea typeface="Adobe 楷体 Std R" panose="02020400000000000000" pitchFamily="18" charset="-122"/>
              </a:rPr>
              <a:t>位阻效应</a:t>
            </a:r>
            <a:endParaRPr lang="en-US" altLang="zh-CN" sz="2903" dirty="0">
              <a:latin typeface="Adobe 楷体 Std R" panose="02020400000000000000" pitchFamily="18" charset="-122"/>
              <a:ea typeface="Adobe 楷体 Std R" panose="02020400000000000000" pitchFamily="18" charset="-122"/>
            </a:endParaRPr>
          </a:p>
          <a:p>
            <a:pPr lvl="2"/>
            <a:r>
              <a:rPr lang="zh-CN" altLang="en-US" sz="2540" dirty="0">
                <a:latin typeface="Adobe 楷体 Std R" panose="02020400000000000000" pitchFamily="18" charset="-122"/>
                <a:ea typeface="Adobe 楷体 Std R" panose="02020400000000000000" pitchFamily="18" charset="-122"/>
              </a:rPr>
              <a:t>单取代烯类单体可聚合</a:t>
            </a:r>
            <a:endParaRPr lang="en-US" altLang="zh-CN" sz="2540" dirty="0">
              <a:latin typeface="Adobe 楷体 Std R" panose="02020400000000000000" pitchFamily="18" charset="-122"/>
              <a:ea typeface="Adobe 楷体 Std R" panose="02020400000000000000" pitchFamily="18" charset="-122"/>
            </a:endParaRPr>
          </a:p>
          <a:p>
            <a:pPr lvl="2"/>
            <a:r>
              <a:rPr lang="zh-CN" altLang="en-US" sz="2540" dirty="0">
                <a:latin typeface="Adobe 楷体 Std R" panose="02020400000000000000" pitchFamily="18" charset="-122"/>
                <a:ea typeface="Adobe 楷体 Std R" panose="02020400000000000000" pitchFamily="18" charset="-122"/>
              </a:rPr>
              <a:t>对称双取代单体难聚合</a:t>
            </a:r>
            <a:endParaRPr lang="en-US" altLang="zh-CN" sz="2540" dirty="0">
              <a:latin typeface="Adobe 楷体 Std R" panose="02020400000000000000" pitchFamily="18" charset="-122"/>
              <a:ea typeface="Adobe 楷体 Std R" panose="02020400000000000000" pitchFamily="18" charset="-122"/>
            </a:endParaRPr>
          </a:p>
          <a:p>
            <a:pPr lvl="2"/>
            <a:r>
              <a:rPr lang="zh-CN" altLang="en-US" sz="2540" dirty="0">
                <a:latin typeface="Adobe 楷体 Std R" panose="02020400000000000000" pitchFamily="18" charset="-122"/>
                <a:ea typeface="Adobe 楷体 Std R" panose="02020400000000000000" pitchFamily="18" charset="-122"/>
              </a:rPr>
              <a:t>不对称双取代单体可聚合</a:t>
            </a:r>
            <a:endParaRPr lang="en-US" altLang="zh-CN" sz="2540" dirty="0">
              <a:latin typeface="Adobe 楷体 Std R" panose="02020400000000000000" pitchFamily="18" charset="-122"/>
              <a:ea typeface="Adobe 楷体 Std R" panose="02020400000000000000" pitchFamily="18" charset="-122"/>
            </a:endParaRPr>
          </a:p>
          <a:p>
            <a:r>
              <a:rPr lang="zh-CN" altLang="en-US" sz="3266" dirty="0">
                <a:latin typeface="Adobe 楷体 Std R" panose="02020400000000000000" pitchFamily="18" charset="-122"/>
                <a:ea typeface="Adobe 楷体 Std R" panose="02020400000000000000" pitchFamily="18" charset="-122"/>
              </a:rPr>
              <a:t>聚合热力学、聚合</a:t>
            </a:r>
            <a:r>
              <a:rPr lang="en-US" altLang="zh-CN" sz="3266" dirty="0">
                <a:latin typeface="Adobe 楷体 Std R" panose="02020400000000000000" pitchFamily="18" charset="-122"/>
                <a:ea typeface="Adobe 楷体 Std R" panose="02020400000000000000" pitchFamily="18" charset="-122"/>
              </a:rPr>
              <a:t>-</a:t>
            </a:r>
            <a:r>
              <a:rPr lang="zh-CN" altLang="en-US" sz="3266" dirty="0">
                <a:latin typeface="Adobe 楷体 Std R" panose="02020400000000000000" pitchFamily="18" charset="-122"/>
                <a:ea typeface="Adobe 楷体 Std R" panose="02020400000000000000" pitchFamily="18" charset="-122"/>
              </a:rPr>
              <a:t>解聚平衡</a:t>
            </a:r>
          </a:p>
        </p:txBody>
      </p:sp>
      <p:sp>
        <p:nvSpPr>
          <p:cNvPr id="4" name="TextBox 1"/>
          <p:cNvSpPr txBox="1">
            <a:spLocks noChangeAspect="1"/>
          </p:cNvSpPr>
          <p:nvPr/>
        </p:nvSpPr>
        <p:spPr>
          <a:xfrm>
            <a:off x="6159908" y="6055769"/>
            <a:ext cx="3461490" cy="582082"/>
          </a:xfrm>
          <a:prstGeom prst="rect">
            <a:avLst/>
          </a:prstGeom>
          <a:noFill/>
        </p:spPr>
        <p:txBody>
          <a:bodyPr wrap="square" lIns="0" tIns="0" rIns="0">
            <a:spAutoFit/>
          </a:bodyPr>
          <a:lstStyle/>
          <a:p>
            <a:pPr>
              <a:lnSpc>
                <a:spcPts val="4700"/>
              </a:lnSpc>
              <a:defRPr/>
            </a:pPr>
            <a:r>
              <a:rPr lang="en-US" altLang="zh-CN" sz="2800" dirty="0">
                <a:latin typeface="Adobe 楷体 Std R" panose="02020400000000000000" pitchFamily="18" charset="-122"/>
                <a:ea typeface="Adobe 楷体 Std R" panose="02020400000000000000" pitchFamily="18" charset="-122"/>
                <a:cs typeface="Symbol" pitchFamily="18" charset="0"/>
                <a:sym typeface="Symbol"/>
              </a:rPr>
              <a:t></a:t>
            </a:r>
            <a:r>
              <a:rPr lang="en-US" altLang="zh-CN" sz="2800" i="1" dirty="0">
                <a:latin typeface="Adobe 楷体 Std R" panose="02020400000000000000" pitchFamily="18" charset="-122"/>
                <a:ea typeface="Adobe 楷体 Std R" panose="02020400000000000000" pitchFamily="18" charset="-122"/>
                <a:cs typeface="Times New Roman" pitchFamily="18" charset="0"/>
              </a:rPr>
              <a:t>G</a:t>
            </a:r>
            <a:r>
              <a:rPr lang="en-US" altLang="zh-CN" sz="2800" dirty="0">
                <a:latin typeface="Adobe 楷体 Std R" panose="02020400000000000000" pitchFamily="18" charset="-122"/>
                <a:ea typeface="Adobe 楷体 Std R" panose="02020400000000000000" pitchFamily="18" charset="-122"/>
                <a:cs typeface="Times New Roman" pitchFamily="18" charset="0"/>
              </a:rPr>
              <a:t> </a:t>
            </a:r>
            <a:r>
              <a:rPr lang="en-US" altLang="zh-CN" sz="2800" dirty="0">
                <a:latin typeface="Adobe 楷体 Std R" panose="02020400000000000000" pitchFamily="18" charset="-122"/>
                <a:ea typeface="Adobe 楷体 Std R" panose="02020400000000000000" pitchFamily="18" charset="-122"/>
                <a:cs typeface="Symbol" pitchFamily="18" charset="0"/>
              </a:rPr>
              <a:t>=</a:t>
            </a:r>
            <a:r>
              <a:rPr lang="en-US" altLang="zh-CN" sz="2800" dirty="0">
                <a:latin typeface="Adobe 楷体 Std R" panose="02020400000000000000" pitchFamily="18" charset="-122"/>
                <a:ea typeface="Adobe 楷体 Std R" panose="02020400000000000000" pitchFamily="18" charset="-122"/>
                <a:cs typeface="Times New Roman" pitchFamily="18" charset="0"/>
              </a:rPr>
              <a:t> </a:t>
            </a:r>
            <a:r>
              <a:rPr lang="en-US" altLang="zh-CN" sz="2800" dirty="0">
                <a:latin typeface="Adobe 楷体 Std R" panose="02020400000000000000" pitchFamily="18" charset="-122"/>
                <a:ea typeface="Adobe 楷体 Std R" panose="02020400000000000000" pitchFamily="18" charset="-122"/>
                <a:cs typeface="Symbol" pitchFamily="18" charset="0"/>
                <a:sym typeface="Symbol"/>
              </a:rPr>
              <a:t></a:t>
            </a:r>
            <a:r>
              <a:rPr lang="en-US" altLang="zh-CN" sz="2800" i="1" dirty="0">
                <a:latin typeface="Adobe 楷体 Std R" panose="02020400000000000000" pitchFamily="18" charset="-122"/>
                <a:ea typeface="Adobe 楷体 Std R" panose="02020400000000000000" pitchFamily="18" charset="-122"/>
                <a:cs typeface="Times New Roman" pitchFamily="18" charset="0"/>
              </a:rPr>
              <a:t>H</a:t>
            </a:r>
            <a:r>
              <a:rPr lang="en-US" altLang="zh-CN" sz="2800" dirty="0">
                <a:latin typeface="Adobe 楷体 Std R" panose="02020400000000000000" pitchFamily="18" charset="-122"/>
                <a:ea typeface="Adobe 楷体 Std R" panose="02020400000000000000" pitchFamily="18" charset="-122"/>
                <a:cs typeface="Times New Roman" pitchFamily="18" charset="0"/>
              </a:rPr>
              <a:t> -</a:t>
            </a:r>
            <a:r>
              <a:rPr lang="en-US" altLang="zh-CN" sz="2800" i="1" dirty="0">
                <a:latin typeface="Adobe 楷体 Std R" panose="02020400000000000000" pitchFamily="18" charset="-122"/>
                <a:ea typeface="Adobe 楷体 Std R" panose="02020400000000000000" pitchFamily="18" charset="-122"/>
                <a:cs typeface="Times New Roman" pitchFamily="18" charset="0"/>
              </a:rPr>
              <a:t>T</a:t>
            </a:r>
            <a:r>
              <a:rPr lang="en-US" altLang="zh-CN" sz="2800" dirty="0">
                <a:latin typeface="Adobe 楷体 Std R" panose="02020400000000000000" pitchFamily="18" charset="-122"/>
                <a:ea typeface="Adobe 楷体 Std R" panose="02020400000000000000" pitchFamily="18" charset="-122"/>
                <a:cs typeface="Symbol" pitchFamily="18" charset="0"/>
                <a:sym typeface="Symbol"/>
              </a:rPr>
              <a:t></a:t>
            </a:r>
            <a:r>
              <a:rPr lang="en-US" altLang="zh-CN" sz="2800" i="1" dirty="0">
                <a:latin typeface="Adobe 楷体 Std R" panose="02020400000000000000" pitchFamily="18" charset="-122"/>
                <a:ea typeface="Adobe 楷体 Std R" panose="02020400000000000000" pitchFamily="18" charset="-122"/>
                <a:cs typeface="Times New Roman" pitchFamily="18" charset="0"/>
              </a:rPr>
              <a:t>S</a:t>
            </a:r>
            <a:r>
              <a:rPr lang="en-US" altLang="zh-CN" sz="2800" dirty="0">
                <a:latin typeface="Adobe 楷体 Std R" panose="02020400000000000000" pitchFamily="18" charset="-122"/>
                <a:ea typeface="Adobe 楷体 Std R" panose="02020400000000000000" pitchFamily="18" charset="-122"/>
                <a:cs typeface="Times New Roman" pitchFamily="18" charset="0"/>
              </a:rPr>
              <a:t> </a:t>
            </a:r>
            <a:r>
              <a:rPr lang="en-US" altLang="zh-CN" sz="2800" dirty="0">
                <a:latin typeface="Adobe 楷体 Std R" panose="02020400000000000000" pitchFamily="18" charset="-122"/>
                <a:ea typeface="Adobe 楷体 Std R" panose="02020400000000000000" pitchFamily="18" charset="-122"/>
                <a:cs typeface="Symbol" pitchFamily="18" charset="0"/>
              </a:rPr>
              <a:t>&lt;</a:t>
            </a:r>
            <a:r>
              <a:rPr lang="en-US" altLang="zh-CN" sz="2800" dirty="0">
                <a:latin typeface="Adobe 楷体 Std R" panose="02020400000000000000" pitchFamily="18" charset="-122"/>
                <a:ea typeface="Adobe 楷体 Std R" panose="02020400000000000000" pitchFamily="18" charset="-122"/>
                <a:cs typeface="Times New Roman" pitchFamily="18" charset="0"/>
              </a:rPr>
              <a:t> 0</a:t>
            </a:r>
          </a:p>
        </p:txBody>
      </p:sp>
    </p:spTree>
    <p:extLst>
      <p:ext uri="{BB962C8B-B14F-4D97-AF65-F5344CB8AC3E}">
        <p14:creationId xmlns:p14="http://schemas.microsoft.com/office/powerpoint/2010/main" val="4278413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337304" y="2606696"/>
            <a:ext cx="7703167" cy="63365"/>
          </a:xfrm>
          <a:custGeom>
            <a:avLst/>
            <a:gdLst>
              <a:gd name="connsiteX0" fmla="*/ 17462 w 8491588"/>
              <a:gd name="connsiteY0" fmla="*/ 17462 h 69850"/>
              <a:gd name="connsiteX1" fmla="*/ 8474125 w 8491588"/>
              <a:gd name="connsiteY1" fmla="*/ 17462 h 69850"/>
            </a:gdLst>
            <a:ahLst/>
            <a:cxnLst>
              <a:cxn ang="0">
                <a:pos x="connsiteX0" y="connsiteY0"/>
              </a:cxn>
              <a:cxn ang="1">
                <a:pos x="connsiteX1" y="connsiteY1"/>
              </a:cxn>
            </a:cxnLst>
            <a:rect l="l" t="t" r="r" b="b"/>
            <a:pathLst>
              <a:path w="8491588" h="69850">
                <a:moveTo>
                  <a:pt x="17462" y="17462"/>
                </a:moveTo>
                <a:lnTo>
                  <a:pt x="8474125" y="17462"/>
                </a:lnTo>
              </a:path>
            </a:pathLst>
          </a:cu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15" name="Freeform 3"/>
          <p:cNvSpPr/>
          <p:nvPr/>
        </p:nvSpPr>
        <p:spPr>
          <a:xfrm>
            <a:off x="2279700" y="5643895"/>
            <a:ext cx="7703167" cy="63365"/>
          </a:xfrm>
          <a:custGeom>
            <a:avLst/>
            <a:gdLst>
              <a:gd name="connsiteX0" fmla="*/ 17462 w 8491601"/>
              <a:gd name="connsiteY0" fmla="*/ 17462 h 69850"/>
              <a:gd name="connsiteX1" fmla="*/ 8474138 w 8491601"/>
              <a:gd name="connsiteY1" fmla="*/ 17462 h 69850"/>
            </a:gdLst>
            <a:ahLst/>
            <a:cxnLst>
              <a:cxn ang="0">
                <a:pos x="connsiteX0" y="connsiteY0"/>
              </a:cxn>
              <a:cxn ang="1">
                <a:pos x="connsiteX1" y="connsiteY1"/>
              </a:cxn>
            </a:cxnLst>
            <a:rect l="l" t="t" r="r" b="b"/>
            <a:pathLst>
              <a:path w="8491601" h="69850">
                <a:moveTo>
                  <a:pt x="17462" y="17462"/>
                </a:moveTo>
                <a:lnTo>
                  <a:pt x="8474138" y="17462"/>
                </a:lnTo>
              </a:path>
            </a:pathLst>
          </a:cu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16" name="Freeform 3"/>
          <p:cNvSpPr/>
          <p:nvPr/>
        </p:nvSpPr>
        <p:spPr>
          <a:xfrm>
            <a:off x="2337304" y="2606698"/>
            <a:ext cx="63365" cy="3103445"/>
          </a:xfrm>
          <a:custGeom>
            <a:avLst/>
            <a:gdLst>
              <a:gd name="connsiteX0" fmla="*/ 17462 w 69850"/>
              <a:gd name="connsiteY0" fmla="*/ 17462 h 3419728"/>
              <a:gd name="connsiteX1" fmla="*/ 17462 w 69850"/>
              <a:gd name="connsiteY1" fmla="*/ 3402266 h 3419728"/>
            </a:gdLst>
            <a:ahLst/>
            <a:cxnLst>
              <a:cxn ang="0">
                <a:pos x="connsiteX0" y="connsiteY0"/>
              </a:cxn>
              <a:cxn ang="1">
                <a:pos x="connsiteX1" y="connsiteY1"/>
              </a:cxn>
            </a:cxnLst>
            <a:rect l="l" t="t" r="r" b="b"/>
            <a:pathLst>
              <a:path w="69850" h="3419728">
                <a:moveTo>
                  <a:pt x="17462" y="17462"/>
                </a:moveTo>
                <a:lnTo>
                  <a:pt x="17462" y="3402266"/>
                </a:lnTo>
              </a:path>
            </a:pathLst>
          </a:cu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18" name="Freeform 3"/>
          <p:cNvSpPr/>
          <p:nvPr/>
        </p:nvSpPr>
        <p:spPr>
          <a:xfrm>
            <a:off x="9979986" y="2606698"/>
            <a:ext cx="63365" cy="3103445"/>
          </a:xfrm>
          <a:custGeom>
            <a:avLst/>
            <a:gdLst>
              <a:gd name="connsiteX0" fmla="*/ 17462 w 69850"/>
              <a:gd name="connsiteY0" fmla="*/ 17462 h 3419728"/>
              <a:gd name="connsiteX1" fmla="*/ 17462 w 69850"/>
              <a:gd name="connsiteY1" fmla="*/ 3402266 h 3419728"/>
            </a:gdLst>
            <a:ahLst/>
            <a:cxnLst>
              <a:cxn ang="0">
                <a:pos x="connsiteX0" y="connsiteY0"/>
              </a:cxn>
              <a:cxn ang="1">
                <a:pos x="connsiteX1" y="connsiteY1"/>
              </a:cxn>
            </a:cxnLst>
            <a:rect l="l" t="t" r="r" b="b"/>
            <a:pathLst>
              <a:path w="69850" h="3419728">
                <a:moveTo>
                  <a:pt x="17462" y="17462"/>
                </a:moveTo>
                <a:lnTo>
                  <a:pt x="17462" y="3402266"/>
                </a:lnTo>
              </a:path>
            </a:pathLst>
          </a:cu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0" name="Freeform 3"/>
          <p:cNvSpPr/>
          <p:nvPr/>
        </p:nvSpPr>
        <p:spPr>
          <a:xfrm>
            <a:off x="4700530" y="3912879"/>
            <a:ext cx="46084" cy="557323"/>
          </a:xfrm>
          <a:custGeom>
            <a:avLst/>
            <a:gdLst>
              <a:gd name="connsiteX0" fmla="*/ 12700 w 50800"/>
              <a:gd name="connsiteY0" fmla="*/ 12700 h 614426"/>
              <a:gd name="connsiteX1" fmla="*/ 12700 w 50800"/>
              <a:gd name="connsiteY1" fmla="*/ 601726 h 614426"/>
            </a:gdLst>
            <a:ahLst/>
            <a:cxnLst>
              <a:cxn ang="0">
                <a:pos x="connsiteX0" y="connsiteY0"/>
              </a:cxn>
              <a:cxn ang="1">
                <a:pos x="connsiteX1" y="connsiteY1"/>
              </a:cxn>
            </a:cxnLst>
            <a:rect l="l" t="t" r="r" b="b"/>
            <a:pathLst>
              <a:path w="50800" h="614426">
                <a:moveTo>
                  <a:pt x="12700" y="12700"/>
                </a:moveTo>
                <a:lnTo>
                  <a:pt x="12700" y="601726"/>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1" name="Freeform 3"/>
          <p:cNvSpPr/>
          <p:nvPr/>
        </p:nvSpPr>
        <p:spPr>
          <a:xfrm>
            <a:off x="7966708" y="3912879"/>
            <a:ext cx="46084" cy="557323"/>
          </a:xfrm>
          <a:custGeom>
            <a:avLst/>
            <a:gdLst>
              <a:gd name="connsiteX0" fmla="*/ 12700 w 50800"/>
              <a:gd name="connsiteY0" fmla="*/ 12700 h 614426"/>
              <a:gd name="connsiteX1" fmla="*/ 12700 w 50800"/>
              <a:gd name="connsiteY1" fmla="*/ 601726 h 614426"/>
            </a:gdLst>
            <a:ahLst/>
            <a:cxnLst>
              <a:cxn ang="0">
                <a:pos x="connsiteX0" y="connsiteY0"/>
              </a:cxn>
              <a:cxn ang="1">
                <a:pos x="connsiteX1" y="connsiteY1"/>
              </a:cxn>
            </a:cxnLst>
            <a:rect l="l" t="t" r="r" b="b"/>
            <a:pathLst>
              <a:path w="50800" h="614426">
                <a:moveTo>
                  <a:pt x="12700" y="12700"/>
                </a:moveTo>
                <a:lnTo>
                  <a:pt x="12700" y="601726"/>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2" name="Freeform 3"/>
          <p:cNvSpPr/>
          <p:nvPr/>
        </p:nvSpPr>
        <p:spPr>
          <a:xfrm>
            <a:off x="4700533" y="4447160"/>
            <a:ext cx="836705" cy="46084"/>
          </a:xfrm>
          <a:custGeom>
            <a:avLst/>
            <a:gdLst>
              <a:gd name="connsiteX0" fmla="*/ 12700 w 922274"/>
              <a:gd name="connsiteY0" fmla="*/ 12700 h 50800"/>
              <a:gd name="connsiteX1" fmla="*/ 909573 w 922274"/>
              <a:gd name="connsiteY1" fmla="*/ 12700 h 50800"/>
            </a:gdLst>
            <a:ahLst/>
            <a:cxnLst>
              <a:cxn ang="0">
                <a:pos x="connsiteX0" y="connsiteY0"/>
              </a:cxn>
              <a:cxn ang="1">
                <a:pos x="connsiteX1" y="connsiteY1"/>
              </a:cxn>
            </a:cxnLst>
            <a:rect l="l" t="t" r="r" b="b"/>
            <a:pathLst>
              <a:path w="922274" h="50800">
                <a:moveTo>
                  <a:pt x="12700" y="12700"/>
                </a:moveTo>
                <a:lnTo>
                  <a:pt x="909573"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3" name="Freeform 3"/>
          <p:cNvSpPr/>
          <p:nvPr/>
        </p:nvSpPr>
        <p:spPr>
          <a:xfrm>
            <a:off x="7150165" y="4447160"/>
            <a:ext cx="839587" cy="46084"/>
          </a:xfrm>
          <a:custGeom>
            <a:avLst/>
            <a:gdLst>
              <a:gd name="connsiteX0" fmla="*/ 12700 w 925334"/>
              <a:gd name="connsiteY0" fmla="*/ 12700 h 50800"/>
              <a:gd name="connsiteX1" fmla="*/ 912634 w 925334"/>
              <a:gd name="connsiteY1" fmla="*/ 12700 h 50800"/>
            </a:gdLst>
            <a:ahLst/>
            <a:cxnLst>
              <a:cxn ang="0">
                <a:pos x="connsiteX0" y="connsiteY0"/>
              </a:cxn>
              <a:cxn ang="1">
                <a:pos x="connsiteX1" y="connsiteY1"/>
              </a:cxn>
            </a:cxnLst>
            <a:rect l="l" t="t" r="r" b="b"/>
            <a:pathLst>
              <a:path w="925334" h="50800">
                <a:moveTo>
                  <a:pt x="12700" y="12700"/>
                </a:moveTo>
                <a:lnTo>
                  <a:pt x="912634"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4" name="Freeform 3"/>
          <p:cNvSpPr/>
          <p:nvPr/>
        </p:nvSpPr>
        <p:spPr>
          <a:xfrm>
            <a:off x="4048159" y="5113933"/>
            <a:ext cx="1503478" cy="46084"/>
          </a:xfrm>
          <a:custGeom>
            <a:avLst/>
            <a:gdLst>
              <a:gd name="connsiteX0" fmla="*/ 12700 w 1657604"/>
              <a:gd name="connsiteY0" fmla="*/ 12700 h 50800"/>
              <a:gd name="connsiteX1" fmla="*/ 1644904 w 1657604"/>
              <a:gd name="connsiteY1" fmla="*/ 12700 h 50800"/>
            </a:gdLst>
            <a:ahLst/>
            <a:cxnLst>
              <a:cxn ang="0">
                <a:pos x="connsiteX0" y="connsiteY0"/>
              </a:cxn>
              <a:cxn ang="1">
                <a:pos x="connsiteX1" y="connsiteY1"/>
              </a:cxn>
            </a:cxnLst>
            <a:rect l="l" t="t" r="r" b="b"/>
            <a:pathLst>
              <a:path w="1657604" h="50800">
                <a:moveTo>
                  <a:pt x="12700" y="12700"/>
                </a:moveTo>
                <a:lnTo>
                  <a:pt x="1644904"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5" name="Freeform 3"/>
          <p:cNvSpPr/>
          <p:nvPr/>
        </p:nvSpPr>
        <p:spPr>
          <a:xfrm>
            <a:off x="7150165" y="5125455"/>
            <a:ext cx="839587" cy="46084"/>
          </a:xfrm>
          <a:custGeom>
            <a:avLst/>
            <a:gdLst>
              <a:gd name="connsiteX0" fmla="*/ 12700 w 925334"/>
              <a:gd name="connsiteY0" fmla="*/ 12700 h 50800"/>
              <a:gd name="connsiteX1" fmla="*/ 912634 w 925334"/>
              <a:gd name="connsiteY1" fmla="*/ 12700 h 50800"/>
            </a:gdLst>
            <a:ahLst/>
            <a:cxnLst>
              <a:cxn ang="0">
                <a:pos x="connsiteX0" y="connsiteY0"/>
              </a:cxn>
              <a:cxn ang="1">
                <a:pos x="connsiteX1" y="connsiteY1"/>
              </a:cxn>
            </a:cxnLst>
            <a:rect l="l" t="t" r="r" b="b"/>
            <a:pathLst>
              <a:path w="925334" h="50800">
                <a:moveTo>
                  <a:pt x="12700" y="12700"/>
                </a:moveTo>
                <a:lnTo>
                  <a:pt x="912634"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6" name="Freeform 3"/>
          <p:cNvSpPr/>
          <p:nvPr/>
        </p:nvSpPr>
        <p:spPr>
          <a:xfrm>
            <a:off x="4048159" y="3912881"/>
            <a:ext cx="46084" cy="1224096"/>
          </a:xfrm>
          <a:custGeom>
            <a:avLst/>
            <a:gdLst>
              <a:gd name="connsiteX0" fmla="*/ 12700 w 50800"/>
              <a:gd name="connsiteY0" fmla="*/ 12700 h 1348994"/>
              <a:gd name="connsiteX1" fmla="*/ 12700 w 50800"/>
              <a:gd name="connsiteY1" fmla="*/ 1336294 h 1348994"/>
            </a:gdLst>
            <a:ahLst/>
            <a:cxnLst>
              <a:cxn ang="0">
                <a:pos x="connsiteX0" y="connsiteY0"/>
              </a:cxn>
              <a:cxn ang="1">
                <a:pos x="connsiteX1" y="connsiteY1"/>
              </a:cxn>
            </a:cxnLst>
            <a:rect l="l" t="t" r="r" b="b"/>
            <a:pathLst>
              <a:path w="50800" h="1348994">
                <a:moveTo>
                  <a:pt x="12700" y="12700"/>
                </a:moveTo>
                <a:lnTo>
                  <a:pt x="12700" y="1336294"/>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7" name="Freeform 3"/>
          <p:cNvSpPr/>
          <p:nvPr/>
        </p:nvSpPr>
        <p:spPr>
          <a:xfrm>
            <a:off x="7966708" y="4447163"/>
            <a:ext cx="46084" cy="689815"/>
          </a:xfrm>
          <a:custGeom>
            <a:avLst/>
            <a:gdLst>
              <a:gd name="connsiteX0" fmla="*/ 12700 w 50800"/>
              <a:gd name="connsiteY0" fmla="*/ 12700 h 759968"/>
              <a:gd name="connsiteX1" fmla="*/ 12700 w 50800"/>
              <a:gd name="connsiteY1" fmla="*/ 747267 h 759968"/>
            </a:gdLst>
            <a:ahLst/>
            <a:cxnLst>
              <a:cxn ang="0">
                <a:pos x="connsiteX0" y="connsiteY0"/>
              </a:cxn>
              <a:cxn ang="1">
                <a:pos x="connsiteX1" y="connsiteY1"/>
              </a:cxn>
            </a:cxnLst>
            <a:rect l="l" t="t" r="r" b="b"/>
            <a:pathLst>
              <a:path w="50800" h="759968">
                <a:moveTo>
                  <a:pt x="12700" y="12700"/>
                </a:moveTo>
                <a:lnTo>
                  <a:pt x="12700" y="747267"/>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8" name="Freeform 3"/>
          <p:cNvSpPr/>
          <p:nvPr/>
        </p:nvSpPr>
        <p:spPr>
          <a:xfrm>
            <a:off x="6818938" y="2978245"/>
            <a:ext cx="763260" cy="46084"/>
          </a:xfrm>
          <a:custGeom>
            <a:avLst/>
            <a:gdLst>
              <a:gd name="connsiteX0" fmla="*/ 12700 w 841489"/>
              <a:gd name="connsiteY0" fmla="*/ 12700 h 50800"/>
              <a:gd name="connsiteX1" fmla="*/ 828789 w 841489"/>
              <a:gd name="connsiteY1" fmla="*/ 12700 h 50800"/>
            </a:gdLst>
            <a:ahLst/>
            <a:cxnLst>
              <a:cxn ang="0">
                <a:pos x="connsiteX0" y="connsiteY0"/>
              </a:cxn>
              <a:cxn ang="1">
                <a:pos x="connsiteX1" y="connsiteY1"/>
              </a:cxn>
            </a:cxnLst>
            <a:rect l="l" t="t" r="r" b="b"/>
            <a:pathLst>
              <a:path w="841489" h="50800">
                <a:moveTo>
                  <a:pt x="12700" y="12700"/>
                </a:moveTo>
                <a:lnTo>
                  <a:pt x="828789"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9" name="Freeform 3"/>
          <p:cNvSpPr/>
          <p:nvPr/>
        </p:nvSpPr>
        <p:spPr>
          <a:xfrm>
            <a:off x="9081356" y="2978245"/>
            <a:ext cx="541483" cy="46084"/>
          </a:xfrm>
          <a:custGeom>
            <a:avLst/>
            <a:gdLst>
              <a:gd name="connsiteX0" fmla="*/ 12700 w 596900"/>
              <a:gd name="connsiteY0" fmla="*/ 12700 h 50800"/>
              <a:gd name="connsiteX1" fmla="*/ 584200 w 596900"/>
              <a:gd name="connsiteY1" fmla="*/ 12700 h 50800"/>
            </a:gdLst>
            <a:ahLst/>
            <a:cxnLst>
              <a:cxn ang="0">
                <a:pos x="connsiteX0" y="connsiteY0"/>
              </a:cxn>
              <a:cxn ang="1">
                <a:pos x="connsiteX1" y="connsiteY1"/>
              </a:cxn>
            </a:cxnLst>
            <a:rect l="l" t="t" r="r" b="b"/>
            <a:pathLst>
              <a:path w="596900" h="50800">
                <a:moveTo>
                  <a:pt x="12700" y="12700"/>
                </a:moveTo>
                <a:lnTo>
                  <a:pt x="584200" y="12700"/>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30" name="Freeform 3"/>
          <p:cNvSpPr/>
          <p:nvPr/>
        </p:nvSpPr>
        <p:spPr>
          <a:xfrm>
            <a:off x="6818937" y="2978246"/>
            <a:ext cx="46084" cy="423393"/>
          </a:xfrm>
          <a:custGeom>
            <a:avLst/>
            <a:gdLst>
              <a:gd name="connsiteX0" fmla="*/ 12700 w 50800"/>
              <a:gd name="connsiteY0" fmla="*/ 12700 h 466598"/>
              <a:gd name="connsiteX1" fmla="*/ 12700 w 50800"/>
              <a:gd name="connsiteY1" fmla="*/ 453897 h 466598"/>
            </a:gdLst>
            <a:ahLst/>
            <a:cxnLst>
              <a:cxn ang="0">
                <a:pos x="connsiteX0" y="connsiteY0"/>
              </a:cxn>
              <a:cxn ang="1">
                <a:pos x="connsiteX1" y="connsiteY1"/>
              </a:cxn>
            </a:cxnLst>
            <a:rect l="l" t="t" r="r" b="b"/>
            <a:pathLst>
              <a:path w="50800" h="466598">
                <a:moveTo>
                  <a:pt x="12700" y="12700"/>
                </a:moveTo>
                <a:lnTo>
                  <a:pt x="12700" y="453897"/>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31" name="Freeform 3"/>
          <p:cNvSpPr/>
          <p:nvPr/>
        </p:nvSpPr>
        <p:spPr>
          <a:xfrm>
            <a:off x="9599796" y="2969606"/>
            <a:ext cx="46084" cy="423393"/>
          </a:xfrm>
          <a:custGeom>
            <a:avLst/>
            <a:gdLst>
              <a:gd name="connsiteX0" fmla="*/ 12700 w 50800"/>
              <a:gd name="connsiteY0" fmla="*/ 12700 h 466598"/>
              <a:gd name="connsiteX1" fmla="*/ 12700 w 50800"/>
              <a:gd name="connsiteY1" fmla="*/ 453897 h 466598"/>
            </a:gdLst>
            <a:ahLst/>
            <a:cxnLst>
              <a:cxn ang="0">
                <a:pos x="connsiteX0" y="connsiteY0"/>
              </a:cxn>
              <a:cxn ang="1">
                <a:pos x="connsiteX1" y="connsiteY1"/>
              </a:cxn>
            </a:cxnLst>
            <a:rect l="l" t="t" r="r" b="b"/>
            <a:pathLst>
              <a:path w="50800" h="466598">
                <a:moveTo>
                  <a:pt x="12700" y="12700"/>
                </a:moveTo>
                <a:lnTo>
                  <a:pt x="12700" y="453897"/>
                </a:ln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latin typeface="Times New Roman" panose="02020603050405020304" pitchFamily="18" charset="0"/>
              <a:ea typeface="Adobe 楷体 Std R" panose="02020400000000000000" pitchFamily="18" charset="-122"/>
              <a:cs typeface="Times New Roman" panose="02020603050405020304" pitchFamily="18" charset="0"/>
            </a:endParaRPr>
          </a:p>
        </p:txBody>
      </p:sp>
      <p:sp>
        <p:nvSpPr>
          <p:cNvPr id="20498" name="TextBox 1"/>
          <p:cNvSpPr txBox="1">
            <a:spLocks noChangeArrowheads="1"/>
          </p:cNvSpPr>
          <p:nvPr/>
        </p:nvSpPr>
        <p:spPr bwMode="auto">
          <a:xfrm>
            <a:off x="9586835" y="6198340"/>
            <a:ext cx="141064" cy="2000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ea typeface="Adobe 楷体 Std R" panose="02020400000000000000" pitchFamily="18" charset="-122"/>
                <a:cs typeface="Times New Roman" panose="02020603050405020304" pitchFamily="18" charset="0"/>
              </a:rPr>
              <a:t>21</a:t>
            </a:r>
          </a:p>
        </p:txBody>
      </p:sp>
      <p:sp>
        <p:nvSpPr>
          <p:cNvPr id="20499" name="TextBox 1"/>
          <p:cNvSpPr txBox="1">
            <a:spLocks noChangeArrowheads="1"/>
          </p:cNvSpPr>
          <p:nvPr/>
        </p:nvSpPr>
        <p:spPr bwMode="auto">
          <a:xfrm>
            <a:off x="2439553" y="3325313"/>
            <a:ext cx="7226337" cy="37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取代基</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X</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NO</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2</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CN</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COOCH</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3</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CH=CH</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2</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C</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6</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H</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5</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CH</a:t>
            </a:r>
            <a:r>
              <a:rPr lang="en-US" altLang="zh-CN" sz="1452" b="1">
                <a:latin typeface="Times New Roman" panose="02020603050405020304" pitchFamily="18" charset="0"/>
                <a:ea typeface="Adobe 楷体 Std R" panose="02020400000000000000" pitchFamily="18" charset="-122"/>
                <a:cs typeface="Times New Roman" panose="02020603050405020304" pitchFamily="18" charset="0"/>
              </a:rPr>
              <a:t>3</a:t>
            </a: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   </a:t>
            </a:r>
            <a:r>
              <a:rPr lang="en-US" altLang="zh-CN" sz="2177" b="1">
                <a:latin typeface="Times New Roman" panose="02020603050405020304" pitchFamily="18" charset="0"/>
                <a:ea typeface="Adobe 楷体 Std R" panose="02020400000000000000" pitchFamily="18" charset="-122"/>
                <a:cs typeface="Times New Roman" panose="02020603050405020304" pitchFamily="18" charset="0"/>
              </a:rPr>
              <a:t>OR</a:t>
            </a:r>
          </a:p>
        </p:txBody>
      </p:sp>
      <p:sp>
        <p:nvSpPr>
          <p:cNvPr id="20500" name="TextBox 1"/>
          <p:cNvSpPr txBox="1">
            <a:spLocks noChangeArrowheads="1"/>
          </p:cNvSpPr>
          <p:nvPr/>
        </p:nvSpPr>
        <p:spPr bwMode="auto">
          <a:xfrm>
            <a:off x="5665409" y="4143299"/>
            <a:ext cx="1394613"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自由基聚合</a:t>
            </a:r>
          </a:p>
        </p:txBody>
      </p:sp>
      <p:sp>
        <p:nvSpPr>
          <p:cNvPr id="20501" name="TextBox 1"/>
          <p:cNvSpPr txBox="1">
            <a:spLocks noChangeArrowheads="1"/>
          </p:cNvSpPr>
          <p:nvPr/>
        </p:nvSpPr>
        <p:spPr bwMode="auto">
          <a:xfrm>
            <a:off x="5665409" y="4834554"/>
            <a:ext cx="1394613"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阴离子聚合</a:t>
            </a:r>
          </a:p>
        </p:txBody>
      </p:sp>
      <p:sp>
        <p:nvSpPr>
          <p:cNvPr id="20502" name="TextBox 1"/>
          <p:cNvSpPr txBox="1">
            <a:spLocks noChangeArrowheads="1"/>
          </p:cNvSpPr>
          <p:nvPr/>
        </p:nvSpPr>
        <p:spPr bwMode="auto">
          <a:xfrm>
            <a:off x="7600921" y="2714707"/>
            <a:ext cx="1394613"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Adobe 楷体 Std R" panose="02020400000000000000" pitchFamily="18" charset="-122"/>
                <a:cs typeface="Times New Roman" panose="02020603050405020304" pitchFamily="18" charset="0"/>
              </a:rPr>
              <a:t>阳离子聚合</a:t>
            </a:r>
          </a:p>
        </p:txBody>
      </p:sp>
      <p:sp>
        <p:nvSpPr>
          <p:cNvPr id="20503" name="TextBox 1"/>
          <p:cNvSpPr txBox="1">
            <a:spLocks noChangeArrowheads="1"/>
          </p:cNvSpPr>
          <p:nvPr/>
        </p:nvSpPr>
        <p:spPr bwMode="auto">
          <a:xfrm>
            <a:off x="2512998" y="1424364"/>
            <a:ext cx="6254917" cy="47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629"/>
              </a:lnSpc>
            </a:pPr>
            <a:r>
              <a:rPr lang="en-US" altLang="zh-CN" sz="2812">
                <a:latin typeface="Times New Roman" panose="02020603050405020304" pitchFamily="18" charset="0"/>
                <a:ea typeface="Adobe 楷体 Std R" panose="02020400000000000000" pitchFamily="18" charset="-122"/>
                <a:cs typeface="Times New Roman" panose="02020603050405020304" pitchFamily="18" charset="0"/>
              </a:rPr>
              <a:t>依据单烯</a:t>
            </a:r>
            <a:r>
              <a:rPr lang="en-US" altLang="zh-CN" sz="2812" b="1">
                <a:latin typeface="Times New Roman" panose="02020603050405020304" pitchFamily="18" charset="0"/>
                <a:ea typeface="Adobe 楷体 Std R" panose="02020400000000000000" pitchFamily="18" charset="-122"/>
                <a:cs typeface="Times New Roman" panose="02020603050405020304" pitchFamily="18" charset="0"/>
              </a:rPr>
              <a:t>CH</a:t>
            </a:r>
            <a:r>
              <a:rPr lang="en-US" altLang="zh-CN" sz="1905" b="1">
                <a:latin typeface="Times New Roman" panose="02020603050405020304" pitchFamily="18" charset="0"/>
                <a:ea typeface="Adobe 楷体 Std R" panose="02020400000000000000" pitchFamily="18" charset="-122"/>
                <a:cs typeface="Times New Roman" panose="02020603050405020304" pitchFamily="18" charset="0"/>
              </a:rPr>
              <a:t>2</a:t>
            </a:r>
            <a:r>
              <a:rPr lang="en-US" altLang="zh-CN" sz="2812" b="1">
                <a:latin typeface="Times New Roman" panose="02020603050405020304" pitchFamily="18" charset="0"/>
                <a:ea typeface="Adobe 楷体 Std R" panose="02020400000000000000" pitchFamily="18" charset="-122"/>
                <a:cs typeface="Times New Roman" panose="02020603050405020304" pitchFamily="18" charset="0"/>
              </a:rPr>
              <a:t>=CHX</a:t>
            </a:r>
            <a:r>
              <a:rPr lang="en-US" altLang="zh-CN" sz="2812">
                <a:latin typeface="Times New Roman" panose="02020603050405020304" pitchFamily="18" charset="0"/>
                <a:ea typeface="Adobe 楷体 Std R" panose="02020400000000000000" pitchFamily="18" charset="-122"/>
                <a:cs typeface="Times New Roman" panose="02020603050405020304" pitchFamily="18" charset="0"/>
              </a:rPr>
              <a:t>中取代基</a:t>
            </a:r>
            <a:r>
              <a:rPr lang="en-US" altLang="zh-CN" sz="2812" b="1">
                <a:latin typeface="Times New Roman" panose="02020603050405020304" pitchFamily="18" charset="0"/>
                <a:ea typeface="Adobe 楷体 Std R" panose="02020400000000000000" pitchFamily="18" charset="-122"/>
                <a:cs typeface="Times New Roman" panose="02020603050405020304" pitchFamily="18" charset="0"/>
              </a:rPr>
              <a:t>X</a:t>
            </a:r>
            <a:r>
              <a:rPr lang="en-US" altLang="zh-CN" sz="2812">
                <a:latin typeface="Times New Roman" panose="02020603050405020304" pitchFamily="18" charset="0"/>
                <a:ea typeface="Adobe 楷体 Std R" panose="02020400000000000000" pitchFamily="18" charset="-122"/>
                <a:cs typeface="Times New Roman" panose="02020603050405020304" pitchFamily="18" charset="0"/>
              </a:rPr>
              <a:t>电负性次</a:t>
            </a:r>
          </a:p>
        </p:txBody>
      </p:sp>
      <p:sp>
        <p:nvSpPr>
          <p:cNvPr id="20504" name="TextBox 1"/>
          <p:cNvSpPr txBox="1">
            <a:spLocks noChangeArrowheads="1"/>
          </p:cNvSpPr>
          <p:nvPr/>
        </p:nvSpPr>
        <p:spPr bwMode="auto">
          <a:xfrm>
            <a:off x="2512999" y="2115620"/>
            <a:ext cx="5049459" cy="40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812">
                <a:latin typeface="Times New Roman" panose="02020603050405020304" pitchFamily="18" charset="0"/>
                <a:ea typeface="Adobe 楷体 Std R" panose="02020400000000000000" pitchFamily="18" charset="-122"/>
                <a:cs typeface="Times New Roman" panose="02020603050405020304" pitchFamily="18" charset="0"/>
              </a:rPr>
              <a:t>序和聚合倾向的关系排列如下：</a:t>
            </a:r>
          </a:p>
        </p:txBody>
      </p:sp>
      <p:graphicFrame>
        <p:nvGraphicFramePr>
          <p:cNvPr id="20505" name="对象 39"/>
          <p:cNvGraphicFramePr>
            <a:graphicFrameLocks noChangeAspect="1"/>
          </p:cNvGraphicFramePr>
          <p:nvPr/>
        </p:nvGraphicFramePr>
        <p:xfrm>
          <a:off x="8446267" y="270833"/>
          <a:ext cx="1310503" cy="724377"/>
        </p:xfrm>
        <a:graphic>
          <a:graphicData uri="http://schemas.openxmlformats.org/presentationml/2006/ole">
            <mc:AlternateContent xmlns:mc="http://schemas.openxmlformats.org/markup-compatibility/2006">
              <mc:Choice xmlns:v="urn:schemas-microsoft-com:vml" Requires="v">
                <p:oleObj spid="_x0000_s18436" name="CS ChemDraw Drawing" r:id="rId3" imgW="814991" imgH="446121" progId="ChemDraw.Document.6.0">
                  <p:embed/>
                </p:oleObj>
              </mc:Choice>
              <mc:Fallback>
                <p:oleObj name="CS ChemDraw Drawing" r:id="rId3" imgW="814991" imgH="446121" progId="ChemDraw.Document.6.0">
                  <p:embed/>
                  <p:pic>
                    <p:nvPicPr>
                      <p:cNvPr id="20505" name="对象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6267" y="270833"/>
                        <a:ext cx="1310503" cy="724377"/>
                      </a:xfrm>
                      <a:prstGeom prst="rect">
                        <a:avLst/>
                      </a:prstGeom>
                      <a:noFill/>
                      <a:ln w="28575">
                        <a:solidFill>
                          <a:srgbClr val="C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Box 40"/>
          <p:cNvSpPr txBox="1"/>
          <p:nvPr/>
        </p:nvSpPr>
        <p:spPr>
          <a:xfrm>
            <a:off x="2086725" y="558856"/>
            <a:ext cx="4834657" cy="443711"/>
          </a:xfrm>
          <a:prstGeom prst="rect">
            <a:avLst/>
          </a:prstGeom>
          <a:noFill/>
        </p:spPr>
        <p:txBody>
          <a:bodyPr wrap="none" lIns="0" tIns="0" rIns="0">
            <a:spAutoFit/>
          </a:bodyPr>
          <a:lstStyle>
            <a:defPPr>
              <a:defRPr lang="en-US"/>
            </a:defPPr>
            <a:lvl1pPr>
              <a:lnSpc>
                <a:spcPts val="3100"/>
              </a:lnSpc>
              <a:tabLst/>
              <a:defRPr sz="3197" b="1">
                <a:solidFill>
                  <a:srgbClr val="000099"/>
                </a:solidFill>
                <a:latin typeface="Adobe 楷体 Std R" pitchFamily="18" charset="-122"/>
                <a:ea typeface="Adobe 楷体 Std R" pitchFamily="18" charset="-122"/>
                <a:cs typeface="楷体_GB2312" pitchFamily="18" charset="0"/>
              </a:defRPr>
            </a:lvl1pPr>
          </a:lstStyle>
          <a:p>
            <a:pPr>
              <a:defRPr/>
            </a:pPr>
            <a:r>
              <a:rPr lang="en-US" altLang="zh-CN" sz="2900" dirty="0">
                <a:latin typeface="Times New Roman" panose="02020603050405020304" pitchFamily="18" charset="0"/>
                <a:cs typeface="Times New Roman" panose="02020603050405020304" pitchFamily="18" charset="0"/>
              </a:rPr>
              <a:t>乙烯基单体对聚合机理的选择</a:t>
            </a:r>
          </a:p>
        </p:txBody>
      </p:sp>
      <p:graphicFrame>
        <p:nvGraphicFramePr>
          <p:cNvPr id="2" name="对象 1"/>
          <p:cNvGraphicFramePr>
            <a:graphicFrameLocks noChangeAspect="1"/>
          </p:cNvGraphicFramePr>
          <p:nvPr/>
        </p:nvGraphicFramePr>
        <p:xfrm>
          <a:off x="4799899" y="5753882"/>
          <a:ext cx="2019039" cy="801009"/>
        </p:xfrm>
        <a:graphic>
          <a:graphicData uri="http://schemas.openxmlformats.org/presentationml/2006/ole">
            <mc:AlternateContent xmlns:mc="http://schemas.openxmlformats.org/markup-compatibility/2006">
              <mc:Choice xmlns:v="urn:schemas-microsoft-com:vml" Requires="v">
                <p:oleObj spid="_x0000_s18437" name="CS ChemDraw Drawing" r:id="rId5" imgW="1552362" imgH="616656" progId="ChemDraw.Document.6.0">
                  <p:embed/>
                </p:oleObj>
              </mc:Choice>
              <mc:Fallback>
                <p:oleObj name="CS ChemDraw Drawing" r:id="rId5" imgW="1552362" imgH="616656" progId="ChemDraw.Document.6.0">
                  <p:embed/>
                  <p:pic>
                    <p:nvPicPr>
                      <p:cNvPr id="2" name="对象 1"/>
                      <p:cNvPicPr/>
                      <p:nvPr/>
                    </p:nvPicPr>
                    <p:blipFill>
                      <a:blip r:embed="rId6"/>
                      <a:stretch>
                        <a:fillRect/>
                      </a:stretch>
                    </p:blipFill>
                    <p:spPr>
                      <a:xfrm>
                        <a:off x="4799899" y="5753882"/>
                        <a:ext cx="2019039" cy="801009"/>
                      </a:xfrm>
                      <a:prstGeom prst="rect">
                        <a:avLst/>
                      </a:prstGeom>
                    </p:spPr>
                  </p:pic>
                </p:oleObj>
              </mc:Fallback>
            </mc:AlternateContent>
          </a:graphicData>
        </a:graphic>
      </p:graphicFrame>
      <p:sp>
        <p:nvSpPr>
          <p:cNvPr id="3" name="文本框 2"/>
          <p:cNvSpPr txBox="1"/>
          <p:nvPr/>
        </p:nvSpPr>
        <p:spPr>
          <a:xfrm>
            <a:off x="7125165" y="5905178"/>
            <a:ext cx="1021433" cy="594906"/>
          </a:xfrm>
          <a:prstGeom prst="rect">
            <a:avLst/>
          </a:prstGeom>
          <a:noFill/>
        </p:spPr>
        <p:txBody>
          <a:bodyPr wrap="none" rtlCol="0">
            <a:spAutoFit/>
          </a:bodyPr>
          <a:lstStyle/>
          <a:p>
            <a:r>
              <a:rPr lang="zh-CN" altLang="en-US" sz="3266" b="1" dirty="0">
                <a:solidFill>
                  <a:srgbClr val="FF0000"/>
                </a:solidFill>
              </a:rPr>
              <a:t>？？</a:t>
            </a:r>
          </a:p>
        </p:txBody>
      </p:sp>
      <p:sp>
        <p:nvSpPr>
          <p:cNvPr id="4" name="文本框 3"/>
          <p:cNvSpPr txBox="1"/>
          <p:nvPr/>
        </p:nvSpPr>
        <p:spPr>
          <a:xfrm>
            <a:off x="8079311" y="5944985"/>
            <a:ext cx="1093569" cy="427361"/>
          </a:xfrm>
          <a:prstGeom prst="rect">
            <a:avLst/>
          </a:prstGeom>
          <a:noFill/>
        </p:spPr>
        <p:txBody>
          <a:bodyPr wrap="none" rtlCol="0">
            <a:spAutoFit/>
          </a:bodyPr>
          <a:lstStyle/>
          <a:p>
            <a:r>
              <a:rPr lang="en-US" altLang="zh-CN" sz="2177" b="1" dirty="0">
                <a:solidFill>
                  <a:srgbClr val="FF0000"/>
                </a:solidFill>
              </a:rPr>
              <a:t>Radical</a:t>
            </a:r>
            <a:endParaRPr lang="zh-CN" altLang="en-US" sz="2177" b="1" dirty="0">
              <a:solidFill>
                <a:srgbClr val="FF0000"/>
              </a:solidFill>
            </a:endParaRPr>
          </a:p>
        </p:txBody>
      </p:sp>
    </p:spTree>
    <p:extLst>
      <p:ext uri="{BB962C8B-B14F-4D97-AF65-F5344CB8AC3E}">
        <p14:creationId xmlns:p14="http://schemas.microsoft.com/office/powerpoint/2010/main" val="28172681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36</a:t>
            </a:r>
          </a:p>
        </p:txBody>
      </p:sp>
      <p:sp>
        <p:nvSpPr>
          <p:cNvPr id="38917" name="TextBox 1"/>
          <p:cNvSpPr txBox="1">
            <a:spLocks noChangeArrowheads="1"/>
          </p:cNvSpPr>
          <p:nvPr/>
        </p:nvSpPr>
        <p:spPr bwMode="auto">
          <a:xfrm>
            <a:off x="2224976" y="571817"/>
            <a:ext cx="3230051" cy="4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903"/>
              </a:lnSpc>
            </a:pPr>
            <a:r>
              <a:rPr lang="en-US" altLang="zh-CN" sz="2722" b="1">
                <a:latin typeface="Times New Roman" panose="02020603050405020304" pitchFamily="18" charset="0"/>
                <a:cs typeface="Times New Roman" panose="02020603050405020304" pitchFamily="18" charset="0"/>
              </a:rPr>
              <a:t>3.4.2</a:t>
            </a:r>
            <a:r>
              <a:rPr lang="en-US" altLang="zh-CN" sz="2722">
                <a:latin typeface="Times New Roman" panose="02020603050405020304" pitchFamily="18" charset="0"/>
                <a:cs typeface="Times New Roman" panose="02020603050405020304" pitchFamily="18" charset="0"/>
              </a:rPr>
              <a:t> </a:t>
            </a:r>
            <a:r>
              <a:rPr lang="en-US" altLang="zh-CN" sz="2722">
                <a:latin typeface="楷体_GB2312"/>
                <a:ea typeface="楷体_GB2312"/>
                <a:cs typeface="楷体_GB2312"/>
              </a:rPr>
              <a:t>自由基聚合机理</a:t>
            </a:r>
          </a:p>
        </p:txBody>
      </p:sp>
      <p:sp>
        <p:nvSpPr>
          <p:cNvPr id="38918" name="TextBox 1"/>
          <p:cNvSpPr txBox="1">
            <a:spLocks noChangeArrowheads="1"/>
          </p:cNvSpPr>
          <p:nvPr/>
        </p:nvSpPr>
        <p:spPr bwMode="auto">
          <a:xfrm>
            <a:off x="3146649" y="1555415"/>
            <a:ext cx="6508192"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链引发、链增长、链终止、链转移等基元反应</a:t>
            </a:r>
          </a:p>
        </p:txBody>
      </p:sp>
      <p:sp>
        <p:nvSpPr>
          <p:cNvPr id="38919" name="TextBox 1"/>
          <p:cNvSpPr txBox="1">
            <a:spLocks noChangeArrowheads="1"/>
          </p:cNvSpPr>
          <p:nvPr/>
        </p:nvSpPr>
        <p:spPr bwMode="auto">
          <a:xfrm>
            <a:off x="1879350" y="2011887"/>
            <a:ext cx="3520194" cy="41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177" b="1" dirty="0">
                <a:latin typeface="Times New Roman" panose="02020603050405020304" pitchFamily="18" charset="0"/>
                <a:cs typeface="Times New Roman" panose="02020603050405020304" pitchFamily="18" charset="0"/>
              </a:rPr>
              <a:t>(1)</a:t>
            </a:r>
            <a:r>
              <a:rPr lang="en-US" altLang="zh-CN" sz="2177" dirty="0">
                <a:latin typeface="Times New Roman" panose="02020603050405020304" pitchFamily="18" charset="0"/>
                <a:cs typeface="Times New Roman" panose="02020603050405020304" pitchFamily="18" charset="0"/>
              </a:rPr>
              <a:t> </a:t>
            </a:r>
            <a:r>
              <a:rPr lang="en-US" altLang="zh-CN" sz="2177" dirty="0" err="1">
                <a:latin typeface="楷体_GB2312"/>
                <a:ea typeface="楷体_GB2312"/>
                <a:cs typeface="楷体_GB2312"/>
              </a:rPr>
              <a:t>链引发（</a:t>
            </a:r>
            <a:r>
              <a:rPr lang="en-US" altLang="zh-CN" sz="2177" b="1" dirty="0" err="1">
                <a:latin typeface="Times New Roman" panose="02020603050405020304" pitchFamily="18" charset="0"/>
                <a:cs typeface="Times New Roman" panose="02020603050405020304" pitchFamily="18" charset="0"/>
              </a:rPr>
              <a:t>Chain</a:t>
            </a:r>
            <a:r>
              <a:rPr lang="en-US" altLang="zh-CN" sz="2177" dirty="0">
                <a:latin typeface="Times New Roman" panose="02020603050405020304" pitchFamily="18" charset="0"/>
                <a:cs typeface="Times New Roman" panose="02020603050405020304" pitchFamily="18" charset="0"/>
              </a:rPr>
              <a:t> </a:t>
            </a:r>
            <a:r>
              <a:rPr lang="en-US" altLang="zh-CN" sz="2177" b="1" dirty="0">
                <a:latin typeface="Times New Roman" panose="02020603050405020304" pitchFamily="18" charset="0"/>
                <a:cs typeface="Times New Roman" panose="02020603050405020304" pitchFamily="18" charset="0"/>
              </a:rPr>
              <a:t>Initiation)</a:t>
            </a:r>
          </a:p>
        </p:txBody>
      </p:sp>
      <p:sp>
        <p:nvSpPr>
          <p:cNvPr id="9" name="TextBox 1">
            <a:extLst>
              <a:ext uri="{FF2B5EF4-FFF2-40B4-BE49-F238E27FC236}">
                <a16:creationId xmlns:a16="http://schemas.microsoft.com/office/drawing/2014/main" id="{4B5179D3-351B-4C54-A92F-D202620A6443}"/>
              </a:ext>
            </a:extLst>
          </p:cNvPr>
          <p:cNvSpPr txBox="1">
            <a:spLocks noChangeArrowheads="1"/>
          </p:cNvSpPr>
          <p:nvPr/>
        </p:nvSpPr>
        <p:spPr bwMode="auto">
          <a:xfrm>
            <a:off x="2085102" y="2599496"/>
            <a:ext cx="4517262" cy="1400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68300" algn="l"/>
                <a:tab pos="7899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68300" algn="l"/>
                <a:tab pos="7899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68300" algn="l"/>
                <a:tab pos="7899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68300" algn="l"/>
                <a:tab pos="7899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68300" algn="l"/>
                <a:tab pos="7899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68300" algn="l"/>
                <a:tab pos="7899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68300" algn="l"/>
                <a:tab pos="7899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68300" algn="l"/>
                <a:tab pos="7899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68300" algn="l"/>
                <a:tab pos="7899400" algn="l"/>
              </a:tabLs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452" dirty="0" err="1">
                <a:latin typeface="楷体_GB2312"/>
                <a:ea typeface="楷体_GB2312"/>
                <a:cs typeface="楷体_GB2312"/>
              </a:rPr>
              <a:t>特点</a:t>
            </a:r>
            <a:r>
              <a:rPr lang="en-US" altLang="zh-CN" sz="1452" dirty="0">
                <a:latin typeface="楷体_GB2312"/>
                <a:ea typeface="楷体_GB2312"/>
                <a:cs typeface="楷体_GB2312"/>
              </a:rPr>
              <a:t>：</a:t>
            </a:r>
          </a:p>
          <a:p>
            <a:pPr eaLnBrk="1" hangingPunct="1"/>
            <a:endParaRPr lang="en-US" altLang="zh-CN" sz="998" dirty="0"/>
          </a:p>
          <a:p>
            <a:pPr eaLnBrk="1" hangingPunct="1">
              <a:buFont typeface="Wingdings" panose="05000000000000000000" pitchFamily="2" charset="2"/>
              <a:buChar char="Ø"/>
            </a:pPr>
            <a:r>
              <a:rPr lang="en-US" altLang="zh-CN" sz="998" dirty="0"/>
              <a:t>	</a:t>
            </a:r>
            <a:r>
              <a:rPr lang="en-US" altLang="zh-CN" sz="1452" dirty="0" err="1">
                <a:latin typeface="楷体_GB2312"/>
                <a:ea typeface="楷体_GB2312"/>
                <a:cs typeface="楷体_GB2312"/>
              </a:rPr>
              <a:t>吸热反应（</a:t>
            </a:r>
            <a:r>
              <a:rPr lang="en-US" altLang="zh-CN" sz="1452" b="1" dirty="0" err="1">
                <a:latin typeface="Times New Roman" panose="02020603050405020304" pitchFamily="18" charset="0"/>
                <a:cs typeface="Times New Roman" panose="02020603050405020304" pitchFamily="18" charset="0"/>
              </a:rPr>
              <a:t>Endothermal</a:t>
            </a:r>
            <a:r>
              <a:rPr lang="en-US" altLang="zh-CN" sz="1452" b="1" dirty="0">
                <a:latin typeface="Times New Roman" panose="02020603050405020304" pitchFamily="18" charset="0"/>
                <a:cs typeface="Times New Roman" panose="02020603050405020304" pitchFamily="18" charset="0"/>
              </a:rPr>
              <a:t> Reaction</a:t>
            </a:r>
            <a:r>
              <a:rPr lang="en-US" altLang="zh-CN" sz="1452" dirty="0">
                <a:latin typeface="楷体_GB2312"/>
                <a:ea typeface="楷体_GB2312"/>
                <a:cs typeface="楷体_GB2312"/>
              </a:rPr>
              <a:t>）；</a:t>
            </a:r>
          </a:p>
          <a:p>
            <a:pPr eaLnBrk="1" hangingPunct="1"/>
            <a:endParaRPr lang="en-US" altLang="zh-CN" sz="998" dirty="0"/>
          </a:p>
          <a:p>
            <a:pPr eaLnBrk="1" hangingPunct="1">
              <a:buFont typeface="Wingdings" panose="05000000000000000000" pitchFamily="2" charset="2"/>
              <a:buChar char="Ø"/>
            </a:pPr>
            <a:r>
              <a:rPr lang="en-US" altLang="zh-CN" sz="998" dirty="0"/>
              <a:t>	</a:t>
            </a:r>
            <a:r>
              <a:rPr lang="en-US" altLang="zh-CN" sz="1452" dirty="0" err="1">
                <a:latin typeface="楷体_GB2312"/>
                <a:ea typeface="楷体_GB2312"/>
                <a:cs typeface="楷体_GB2312"/>
              </a:rPr>
              <a:t>活化能（</a:t>
            </a:r>
            <a:r>
              <a:rPr lang="en-US" altLang="zh-CN" sz="1452" b="1" dirty="0" err="1">
                <a:latin typeface="Times New Roman" panose="02020603050405020304" pitchFamily="18" charset="0"/>
                <a:cs typeface="Times New Roman" panose="02020603050405020304" pitchFamily="18" charset="0"/>
              </a:rPr>
              <a:t>Activation</a:t>
            </a:r>
            <a:r>
              <a:rPr lang="en-US" altLang="zh-CN" sz="1452" dirty="0">
                <a:latin typeface="Times New Roman" panose="02020603050405020304" pitchFamily="18" charset="0"/>
                <a:cs typeface="Times New Roman" panose="02020603050405020304" pitchFamily="18" charset="0"/>
              </a:rPr>
              <a:t> </a:t>
            </a:r>
            <a:r>
              <a:rPr lang="en-US" altLang="zh-CN" sz="1452" b="1" dirty="0">
                <a:latin typeface="Times New Roman" panose="02020603050405020304" pitchFamily="18" charset="0"/>
                <a:cs typeface="Times New Roman" panose="02020603050405020304" pitchFamily="18" charset="0"/>
              </a:rPr>
              <a:t>Energy</a:t>
            </a:r>
            <a:r>
              <a:rPr lang="en-US" altLang="zh-CN" sz="1452" dirty="0">
                <a:latin typeface="楷体_GB2312"/>
                <a:ea typeface="楷体_GB2312"/>
                <a:cs typeface="楷体_GB2312"/>
              </a:rPr>
              <a:t>）高，</a:t>
            </a:r>
            <a:r>
              <a:rPr lang="en-US" altLang="zh-CN" sz="1452" b="1" dirty="0">
                <a:latin typeface="Times New Roman" panose="02020603050405020304" pitchFamily="18" charset="0"/>
                <a:cs typeface="Times New Roman" panose="02020603050405020304" pitchFamily="18" charset="0"/>
              </a:rPr>
              <a:t>105~150kJ/mol</a:t>
            </a:r>
            <a:r>
              <a:rPr lang="en-US" altLang="zh-CN" sz="1452" dirty="0">
                <a:latin typeface="楷体_GB2312"/>
                <a:ea typeface="楷体_GB2312"/>
                <a:cs typeface="楷体_GB2312"/>
              </a:rPr>
              <a:t>；</a:t>
            </a:r>
          </a:p>
          <a:p>
            <a:pPr eaLnBrk="1" hangingPunct="1"/>
            <a:endParaRPr lang="en-US" altLang="zh-CN" sz="998" dirty="0"/>
          </a:p>
          <a:p>
            <a:pPr eaLnBrk="1" hangingPunct="1">
              <a:buFont typeface="Wingdings" panose="05000000000000000000" pitchFamily="2" charset="2"/>
              <a:buChar char="Ø"/>
            </a:pPr>
            <a:r>
              <a:rPr lang="en-US" altLang="zh-CN" sz="998" dirty="0"/>
              <a:t>	</a:t>
            </a:r>
            <a:r>
              <a:rPr lang="en-US" altLang="zh-CN" sz="1452" dirty="0" err="1">
                <a:latin typeface="楷体_GB2312"/>
                <a:ea typeface="楷体_GB2312"/>
                <a:cs typeface="楷体_GB2312"/>
              </a:rPr>
              <a:t>反应速率小，分解速率常数仅</a:t>
            </a:r>
            <a:r>
              <a:rPr lang="en-US" altLang="zh-CN" sz="1452" dirty="0">
                <a:latin typeface="Times New Roman" panose="02020603050405020304" pitchFamily="18" charset="0"/>
                <a:cs typeface="Times New Roman" panose="02020603050405020304" pitchFamily="18" charset="0"/>
              </a:rPr>
              <a:t> </a:t>
            </a:r>
            <a:r>
              <a:rPr lang="en-US" altLang="zh-CN" sz="1452" b="1" dirty="0">
                <a:latin typeface="Times New Roman" panose="02020603050405020304" pitchFamily="18" charset="0"/>
                <a:cs typeface="Times New Roman" panose="02020603050405020304" pitchFamily="18" charset="0"/>
              </a:rPr>
              <a:t>10</a:t>
            </a:r>
            <a:r>
              <a:rPr lang="en-US" altLang="zh-CN" sz="1452" b="1" baseline="30000" dirty="0">
                <a:latin typeface="Times New Roman" panose="02020603050405020304" pitchFamily="18" charset="0"/>
                <a:cs typeface="Times New Roman" panose="02020603050405020304" pitchFamily="18" charset="0"/>
              </a:rPr>
              <a:t>-4</a:t>
            </a:r>
            <a:r>
              <a:rPr lang="en-US" altLang="zh-CN" sz="1452" b="1" dirty="0">
                <a:latin typeface="Times New Roman" panose="02020603050405020304" pitchFamily="18" charset="0"/>
                <a:cs typeface="Times New Roman" panose="02020603050405020304" pitchFamily="18" charset="0"/>
              </a:rPr>
              <a:t>~10</a:t>
            </a:r>
            <a:r>
              <a:rPr lang="en-US" altLang="zh-CN" sz="1452" b="1" baseline="30000" dirty="0">
                <a:latin typeface="Times New Roman" panose="02020603050405020304" pitchFamily="18" charset="0"/>
                <a:cs typeface="Times New Roman" panose="02020603050405020304" pitchFamily="18" charset="0"/>
              </a:rPr>
              <a:t>-6</a:t>
            </a:r>
            <a:r>
              <a:rPr lang="en-US" altLang="zh-CN" sz="1452" dirty="0">
                <a:latin typeface="Times New Roman" panose="02020603050405020304" pitchFamily="18" charset="0"/>
                <a:cs typeface="Times New Roman" panose="02020603050405020304" pitchFamily="18" charset="0"/>
              </a:rPr>
              <a:t> </a:t>
            </a:r>
            <a:r>
              <a:rPr lang="en-US" altLang="zh-CN" sz="1452" b="1" dirty="0">
                <a:latin typeface="Times New Roman" panose="02020603050405020304" pitchFamily="18" charset="0"/>
                <a:cs typeface="Times New Roman" panose="02020603050405020304" pitchFamily="18" charset="0"/>
              </a:rPr>
              <a:t>s</a:t>
            </a:r>
            <a:r>
              <a:rPr lang="en-US" altLang="zh-CN" sz="1452" b="1" baseline="30000" dirty="0">
                <a:latin typeface="Times New Roman" panose="02020603050405020304" pitchFamily="18" charset="0"/>
                <a:cs typeface="Times New Roman" panose="02020603050405020304" pitchFamily="18" charset="0"/>
              </a:rPr>
              <a:t>-1</a:t>
            </a:r>
            <a:r>
              <a:rPr lang="en-US" altLang="zh-CN" sz="1452" dirty="0">
                <a:latin typeface="楷体_GB2312"/>
                <a:ea typeface="楷体_GB2312"/>
                <a:cs typeface="楷体_GB2312"/>
              </a:rPr>
              <a:t>。</a:t>
            </a:r>
            <a:endParaRPr lang="en-US" altLang="zh-CN" sz="816" dirty="0">
              <a:latin typeface="Times New Roman" panose="02020603050405020304" pitchFamily="18" charset="0"/>
              <a:cs typeface="Times New Roman" panose="02020603050405020304" pitchFamily="18" charset="0"/>
            </a:endParaRPr>
          </a:p>
        </p:txBody>
      </p:sp>
      <p:sp>
        <p:nvSpPr>
          <p:cNvPr id="10" name="TextBox 1">
            <a:extLst>
              <a:ext uri="{FF2B5EF4-FFF2-40B4-BE49-F238E27FC236}">
                <a16:creationId xmlns:a16="http://schemas.microsoft.com/office/drawing/2014/main" id="{3C99E13A-4048-4194-8224-5AE52B1C79B5}"/>
              </a:ext>
            </a:extLst>
          </p:cNvPr>
          <p:cNvSpPr txBox="1">
            <a:spLocks noChangeArrowheads="1"/>
          </p:cNvSpPr>
          <p:nvPr/>
        </p:nvSpPr>
        <p:spPr bwMode="auto">
          <a:xfrm>
            <a:off x="6315435" y="2036411"/>
            <a:ext cx="4406399" cy="41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177" b="1" dirty="0">
                <a:latin typeface="Times New Roman" panose="02020603050405020304" pitchFamily="18" charset="0"/>
                <a:cs typeface="Times New Roman" panose="02020603050405020304" pitchFamily="18" charset="0"/>
              </a:rPr>
              <a:t>(2)</a:t>
            </a:r>
            <a:r>
              <a:rPr lang="en-US" altLang="zh-CN" sz="2177" dirty="0">
                <a:latin typeface="Times New Roman" panose="02020603050405020304" pitchFamily="18" charset="0"/>
                <a:cs typeface="Times New Roman" panose="02020603050405020304" pitchFamily="18" charset="0"/>
              </a:rPr>
              <a:t>  </a:t>
            </a:r>
            <a:r>
              <a:rPr lang="en-US" altLang="zh-CN" sz="2177" dirty="0" err="1">
                <a:latin typeface="楷体_GB2312"/>
                <a:ea typeface="楷体_GB2312"/>
                <a:cs typeface="楷体_GB2312"/>
              </a:rPr>
              <a:t>链增长（</a:t>
            </a:r>
            <a:r>
              <a:rPr lang="en-US" altLang="zh-CN" sz="2177" b="1" dirty="0" err="1">
                <a:latin typeface="Times New Roman" panose="02020603050405020304" pitchFamily="18" charset="0"/>
                <a:cs typeface="Times New Roman" panose="02020603050405020304" pitchFamily="18" charset="0"/>
              </a:rPr>
              <a:t>Chain</a:t>
            </a:r>
            <a:r>
              <a:rPr lang="en-US" altLang="zh-CN" sz="2177" dirty="0">
                <a:latin typeface="Times New Roman" panose="02020603050405020304" pitchFamily="18" charset="0"/>
                <a:cs typeface="Times New Roman" panose="02020603050405020304" pitchFamily="18" charset="0"/>
              </a:rPr>
              <a:t> </a:t>
            </a:r>
            <a:r>
              <a:rPr lang="en-US" altLang="zh-CN" sz="2177" b="1" dirty="0">
                <a:latin typeface="Times New Roman" panose="02020603050405020304" pitchFamily="18" charset="0"/>
                <a:cs typeface="Times New Roman" panose="02020603050405020304" pitchFamily="18" charset="0"/>
              </a:rPr>
              <a:t>Propagation</a:t>
            </a:r>
            <a:r>
              <a:rPr lang="en-US" altLang="zh-CN" sz="2177" dirty="0">
                <a:latin typeface="楷体_GB2312"/>
                <a:ea typeface="楷体_GB2312"/>
                <a:cs typeface="楷体_GB2312"/>
              </a:rPr>
              <a:t>）：</a:t>
            </a:r>
          </a:p>
        </p:txBody>
      </p:sp>
      <p:sp>
        <p:nvSpPr>
          <p:cNvPr id="11" name="TextBox 1">
            <a:extLst>
              <a:ext uri="{FF2B5EF4-FFF2-40B4-BE49-F238E27FC236}">
                <a16:creationId xmlns:a16="http://schemas.microsoft.com/office/drawing/2014/main" id="{9BE5E1B6-9C6F-48D4-8547-395F986AABA0}"/>
              </a:ext>
            </a:extLst>
          </p:cNvPr>
          <p:cNvSpPr txBox="1">
            <a:spLocks noChangeArrowheads="1"/>
          </p:cNvSpPr>
          <p:nvPr/>
        </p:nvSpPr>
        <p:spPr bwMode="auto">
          <a:xfrm>
            <a:off x="6323942" y="2566291"/>
            <a:ext cx="557845" cy="269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452">
                <a:latin typeface="楷体_GB2312"/>
                <a:ea typeface="楷体_GB2312"/>
                <a:cs typeface="楷体_GB2312"/>
              </a:rPr>
              <a:t>特点：</a:t>
            </a:r>
          </a:p>
        </p:txBody>
      </p:sp>
      <p:sp>
        <p:nvSpPr>
          <p:cNvPr id="14" name="TextBox 1">
            <a:extLst>
              <a:ext uri="{FF2B5EF4-FFF2-40B4-BE49-F238E27FC236}">
                <a16:creationId xmlns:a16="http://schemas.microsoft.com/office/drawing/2014/main" id="{8B794926-F3A4-4680-9F02-1393533BBC76}"/>
              </a:ext>
            </a:extLst>
          </p:cNvPr>
          <p:cNvSpPr txBox="1">
            <a:spLocks noChangeArrowheads="1"/>
          </p:cNvSpPr>
          <p:nvPr/>
        </p:nvSpPr>
        <p:spPr bwMode="auto">
          <a:xfrm>
            <a:off x="6669569" y="2992564"/>
            <a:ext cx="4313681" cy="1023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1452" dirty="0">
                <a:latin typeface="楷体_GB2312"/>
                <a:ea typeface="楷体_GB2312"/>
                <a:cs typeface="楷体_GB2312"/>
              </a:rPr>
              <a:t>强放热，一般烯类聚合物热为：</a:t>
            </a:r>
            <a:r>
              <a:rPr lang="en-US" altLang="zh-CN" sz="1452" b="1" dirty="0">
                <a:latin typeface="Times New Roman" panose="02020603050405020304" pitchFamily="18" charset="0"/>
                <a:cs typeface="Times New Roman" panose="02020603050405020304" pitchFamily="18" charset="0"/>
              </a:rPr>
              <a:t>55~95</a:t>
            </a:r>
            <a:r>
              <a:rPr lang="en-US" altLang="zh-CN" sz="1452" dirty="0">
                <a:latin typeface="Times New Roman" panose="02020603050405020304" pitchFamily="18" charset="0"/>
                <a:cs typeface="Times New Roman" panose="02020603050405020304" pitchFamily="18" charset="0"/>
              </a:rPr>
              <a:t> </a:t>
            </a:r>
            <a:r>
              <a:rPr lang="en-US" altLang="zh-CN" sz="1452" b="1" dirty="0">
                <a:latin typeface="Times New Roman" panose="02020603050405020304" pitchFamily="18" charset="0"/>
                <a:cs typeface="Times New Roman" panose="02020603050405020304" pitchFamily="18" charset="0"/>
              </a:rPr>
              <a:t>kJ/mol</a:t>
            </a:r>
            <a:r>
              <a:rPr lang="en-US" altLang="zh-CN" sz="1452" dirty="0">
                <a:latin typeface="楷体_GB2312"/>
                <a:ea typeface="楷体_GB2312"/>
                <a:cs typeface="楷体_GB2312"/>
              </a:rPr>
              <a:t>；</a:t>
            </a:r>
          </a:p>
          <a:p>
            <a:pPr eaLnBrk="1" hangingPunct="1">
              <a:buFont typeface="Wingdings" panose="05000000000000000000" pitchFamily="2" charset="2"/>
              <a:buChar char="Ø"/>
            </a:pPr>
            <a:endParaRPr lang="en-US" altLang="zh-CN" sz="998" dirty="0"/>
          </a:p>
          <a:p>
            <a:pPr eaLnBrk="1" hangingPunct="1">
              <a:buFont typeface="Wingdings" panose="05000000000000000000" pitchFamily="2" charset="2"/>
              <a:buChar char="Ø"/>
            </a:pPr>
            <a:r>
              <a:rPr lang="en-US" altLang="zh-CN" sz="1452" dirty="0">
                <a:latin typeface="楷体_GB2312"/>
                <a:ea typeface="楷体_GB2312"/>
                <a:cs typeface="楷体_GB2312"/>
              </a:rPr>
              <a:t>活化能低，约</a:t>
            </a:r>
            <a:r>
              <a:rPr lang="en-US" altLang="zh-CN" sz="1452" b="1" dirty="0">
                <a:latin typeface="Times New Roman" panose="02020603050405020304" pitchFamily="18" charset="0"/>
                <a:cs typeface="Times New Roman" panose="02020603050405020304" pitchFamily="18" charset="0"/>
              </a:rPr>
              <a:t>20~34</a:t>
            </a:r>
            <a:r>
              <a:rPr lang="en-US" altLang="zh-CN" sz="1452" dirty="0">
                <a:latin typeface="Times New Roman" panose="02020603050405020304" pitchFamily="18" charset="0"/>
                <a:cs typeface="Times New Roman" panose="02020603050405020304" pitchFamily="18" charset="0"/>
              </a:rPr>
              <a:t> </a:t>
            </a:r>
            <a:r>
              <a:rPr lang="en-US" altLang="zh-CN" sz="1452" b="1" dirty="0">
                <a:latin typeface="Times New Roman" panose="02020603050405020304" pitchFamily="18" charset="0"/>
                <a:cs typeface="Times New Roman" panose="02020603050405020304" pitchFamily="18" charset="0"/>
              </a:rPr>
              <a:t>kJ/mol</a:t>
            </a:r>
            <a:r>
              <a:rPr lang="en-US" altLang="zh-CN" sz="1452" dirty="0">
                <a:latin typeface="楷体_GB2312"/>
                <a:ea typeface="楷体_GB2312"/>
                <a:cs typeface="楷体_GB2312"/>
              </a:rPr>
              <a:t>；</a:t>
            </a:r>
          </a:p>
          <a:p>
            <a:pPr eaLnBrk="1" hangingPunct="1">
              <a:buFont typeface="Wingdings" panose="05000000000000000000" pitchFamily="2" charset="2"/>
              <a:buChar char="Ø"/>
            </a:pPr>
            <a:endParaRPr lang="en-US" altLang="zh-CN" sz="998" dirty="0"/>
          </a:p>
          <a:p>
            <a:pPr eaLnBrk="1" hangingPunct="1">
              <a:buFont typeface="Wingdings" panose="05000000000000000000" pitchFamily="2" charset="2"/>
              <a:buChar char="Ø"/>
            </a:pPr>
            <a:r>
              <a:rPr lang="en-US" altLang="zh-CN" sz="1452" dirty="0" err="1">
                <a:latin typeface="楷体_GB2312"/>
                <a:ea typeface="楷体_GB2312"/>
                <a:cs typeface="楷体_GB2312"/>
              </a:rPr>
              <a:t>增长极快，随机终止</a:t>
            </a:r>
            <a:r>
              <a:rPr lang="en-US" altLang="zh-CN" sz="1452" dirty="0">
                <a:latin typeface="楷体_GB2312"/>
                <a:ea typeface="楷体_GB2312"/>
                <a:cs typeface="楷体_GB2312"/>
              </a:rPr>
              <a:t>。</a:t>
            </a:r>
          </a:p>
        </p:txBody>
      </p:sp>
      <p:sp>
        <p:nvSpPr>
          <p:cNvPr id="15" name="TextBox 1">
            <a:extLst>
              <a:ext uri="{FF2B5EF4-FFF2-40B4-BE49-F238E27FC236}">
                <a16:creationId xmlns:a16="http://schemas.microsoft.com/office/drawing/2014/main" id="{0582D271-28CB-4BBD-B4E2-505C2E50120D}"/>
              </a:ext>
            </a:extLst>
          </p:cNvPr>
          <p:cNvSpPr txBox="1">
            <a:spLocks noChangeArrowheads="1"/>
          </p:cNvSpPr>
          <p:nvPr/>
        </p:nvSpPr>
        <p:spPr bwMode="auto">
          <a:xfrm>
            <a:off x="1821744" y="4193701"/>
            <a:ext cx="4345741" cy="41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177" b="1" dirty="0">
                <a:latin typeface="Times New Roman" panose="02020603050405020304" pitchFamily="18" charset="0"/>
                <a:cs typeface="Times New Roman" panose="02020603050405020304" pitchFamily="18" charset="0"/>
              </a:rPr>
              <a:t>(3)</a:t>
            </a:r>
            <a:r>
              <a:rPr lang="en-US" altLang="zh-CN" sz="2177" dirty="0">
                <a:latin typeface="Times New Roman" panose="02020603050405020304" pitchFamily="18" charset="0"/>
                <a:cs typeface="Times New Roman" panose="02020603050405020304" pitchFamily="18" charset="0"/>
              </a:rPr>
              <a:t> </a:t>
            </a:r>
            <a:r>
              <a:rPr lang="en-US" altLang="zh-CN" sz="2177" dirty="0" err="1">
                <a:latin typeface="楷体_GB2312"/>
                <a:ea typeface="楷体_GB2312"/>
                <a:cs typeface="楷体_GB2312"/>
              </a:rPr>
              <a:t>链终止（</a:t>
            </a:r>
            <a:r>
              <a:rPr lang="en-US" altLang="zh-CN" sz="2177" b="1" dirty="0" err="1">
                <a:latin typeface="Times New Roman" panose="02020603050405020304" pitchFamily="18" charset="0"/>
                <a:cs typeface="Times New Roman" panose="02020603050405020304" pitchFamily="18" charset="0"/>
              </a:rPr>
              <a:t>Chain</a:t>
            </a:r>
            <a:r>
              <a:rPr lang="en-US" altLang="zh-CN" sz="2177" dirty="0">
                <a:latin typeface="Times New Roman" panose="02020603050405020304" pitchFamily="18" charset="0"/>
                <a:cs typeface="Times New Roman" panose="02020603050405020304" pitchFamily="18" charset="0"/>
              </a:rPr>
              <a:t> </a:t>
            </a:r>
            <a:r>
              <a:rPr lang="en-US" altLang="zh-CN" sz="2177" b="1" dirty="0">
                <a:latin typeface="Times New Roman" panose="02020603050405020304" pitchFamily="18" charset="0"/>
                <a:cs typeface="Times New Roman" panose="02020603050405020304" pitchFamily="18" charset="0"/>
              </a:rPr>
              <a:t>Termination</a:t>
            </a:r>
            <a:r>
              <a:rPr lang="en-US" altLang="zh-CN" sz="2177" dirty="0">
                <a:latin typeface="楷体_GB2312"/>
                <a:ea typeface="楷体_GB2312"/>
                <a:cs typeface="楷体_GB2312"/>
              </a:rPr>
              <a:t>）：</a:t>
            </a:r>
          </a:p>
        </p:txBody>
      </p:sp>
      <p:sp>
        <p:nvSpPr>
          <p:cNvPr id="16" name="TextBox 1">
            <a:extLst>
              <a:ext uri="{FF2B5EF4-FFF2-40B4-BE49-F238E27FC236}">
                <a16:creationId xmlns:a16="http://schemas.microsoft.com/office/drawing/2014/main" id="{50427691-28E6-46D4-9564-87C360FCD488}"/>
              </a:ext>
            </a:extLst>
          </p:cNvPr>
          <p:cNvSpPr txBox="1">
            <a:spLocks noChangeArrowheads="1"/>
          </p:cNvSpPr>
          <p:nvPr/>
        </p:nvSpPr>
        <p:spPr bwMode="auto">
          <a:xfrm>
            <a:off x="1879349" y="4850394"/>
            <a:ext cx="1627048" cy="380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49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49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49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49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49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49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49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49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49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903"/>
              </a:lnSpc>
            </a:pPr>
            <a:r>
              <a:rPr lang="en-US" altLang="zh-CN" sz="1814" dirty="0" err="1">
                <a:latin typeface="楷体_GB2312"/>
                <a:ea typeface="楷体_GB2312"/>
                <a:cs typeface="楷体_GB2312"/>
              </a:rPr>
              <a:t>链终止的特点</a:t>
            </a:r>
            <a:r>
              <a:rPr lang="en-US" altLang="zh-CN" sz="1814" dirty="0">
                <a:latin typeface="楷体_GB2312"/>
                <a:ea typeface="楷体_GB2312"/>
                <a:cs typeface="楷体_GB2312"/>
              </a:rPr>
              <a:t>：</a:t>
            </a:r>
          </a:p>
        </p:txBody>
      </p:sp>
      <p:sp>
        <p:nvSpPr>
          <p:cNvPr id="17" name="TextBox 1">
            <a:extLst>
              <a:ext uri="{FF2B5EF4-FFF2-40B4-BE49-F238E27FC236}">
                <a16:creationId xmlns:a16="http://schemas.microsoft.com/office/drawing/2014/main" id="{8C6787E6-FE39-43DB-9DF8-681C7EFCE7A4}"/>
              </a:ext>
            </a:extLst>
          </p:cNvPr>
          <p:cNvSpPr txBox="1">
            <a:spLocks noChangeArrowheads="1"/>
          </p:cNvSpPr>
          <p:nvPr/>
        </p:nvSpPr>
        <p:spPr bwMode="auto">
          <a:xfrm>
            <a:off x="2124694" y="5341470"/>
            <a:ext cx="4228722" cy="7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1633" dirty="0">
                <a:latin typeface="楷体_GB2312"/>
                <a:ea typeface="楷体_GB2312"/>
                <a:cs typeface="楷体_GB2312"/>
              </a:rPr>
              <a:t>活化能很低，仅</a:t>
            </a:r>
            <a:r>
              <a:rPr lang="en-US" altLang="zh-CN" sz="1633" b="1" dirty="0">
                <a:latin typeface="Times New Roman" panose="02020603050405020304" pitchFamily="18" charset="0"/>
                <a:cs typeface="Times New Roman" panose="02020603050405020304" pitchFamily="18" charset="0"/>
              </a:rPr>
              <a:t>8~21kJ/</a:t>
            </a:r>
            <a:r>
              <a:rPr lang="en-US" altLang="zh-CN" sz="1633" b="1" dirty="0" err="1">
                <a:latin typeface="Times New Roman" panose="02020603050405020304" pitchFamily="18" charset="0"/>
                <a:cs typeface="Times New Roman" panose="02020603050405020304" pitchFamily="18" charset="0"/>
              </a:rPr>
              <a:t>mol</a:t>
            </a:r>
            <a:r>
              <a:rPr lang="en-US" altLang="zh-CN" sz="1633" dirty="0" err="1">
                <a:latin typeface="楷体_GB2312"/>
                <a:ea typeface="楷体_GB2312"/>
                <a:cs typeface="楷体_GB2312"/>
              </a:rPr>
              <a:t>，甚至为零</a:t>
            </a:r>
            <a:r>
              <a:rPr lang="en-US" altLang="zh-CN" sz="1633" dirty="0">
                <a:latin typeface="楷体_GB2312"/>
                <a:ea typeface="楷体_GB2312"/>
                <a:cs typeface="楷体_GB2312"/>
              </a:rPr>
              <a:t>；</a:t>
            </a:r>
          </a:p>
          <a:p>
            <a:pPr eaLnBrk="1" hangingPunct="1">
              <a:buFont typeface="Wingdings" panose="05000000000000000000" pitchFamily="2" charset="2"/>
              <a:buChar char="Ø"/>
            </a:pPr>
            <a:endParaRPr lang="en-US" altLang="zh-CN" sz="1089" dirty="0"/>
          </a:p>
          <a:p>
            <a:pPr eaLnBrk="1" hangingPunct="1">
              <a:buFont typeface="Wingdings" panose="05000000000000000000" pitchFamily="2" charset="2"/>
              <a:buChar char="Ø"/>
            </a:pPr>
            <a:r>
              <a:rPr lang="en-US" altLang="zh-CN" sz="1633" dirty="0" err="1">
                <a:latin typeface="楷体_GB2312"/>
                <a:ea typeface="楷体_GB2312"/>
                <a:cs typeface="楷体_GB2312"/>
              </a:rPr>
              <a:t>终止速率常数极高</a:t>
            </a:r>
            <a:r>
              <a:rPr lang="en-US" altLang="zh-CN" sz="1633" dirty="0">
                <a:latin typeface="楷体_GB2312"/>
                <a:ea typeface="楷体_GB2312"/>
                <a:cs typeface="楷体_GB2312"/>
              </a:rPr>
              <a:t>；</a:t>
            </a:r>
          </a:p>
        </p:txBody>
      </p:sp>
      <p:sp>
        <p:nvSpPr>
          <p:cNvPr id="18" name="TextBox 1">
            <a:extLst>
              <a:ext uri="{FF2B5EF4-FFF2-40B4-BE49-F238E27FC236}">
                <a16:creationId xmlns:a16="http://schemas.microsoft.com/office/drawing/2014/main" id="{3AD7E67C-377C-42DB-B580-80A3C3118649}"/>
              </a:ext>
            </a:extLst>
          </p:cNvPr>
          <p:cNvSpPr txBox="1">
            <a:spLocks noChangeArrowheads="1"/>
          </p:cNvSpPr>
          <p:nvPr/>
        </p:nvSpPr>
        <p:spPr bwMode="auto">
          <a:xfrm>
            <a:off x="2124697" y="6058528"/>
            <a:ext cx="2771593" cy="326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buFont typeface="Wingdings" panose="05000000000000000000" pitchFamily="2" charset="2"/>
              <a:buChar char="Ø"/>
            </a:pPr>
            <a:r>
              <a:rPr lang="en-US" altLang="zh-CN" sz="1633" dirty="0" err="1">
                <a:latin typeface="楷体_GB2312"/>
                <a:ea typeface="楷体_GB2312"/>
                <a:cs typeface="楷体_GB2312"/>
              </a:rPr>
              <a:t>但双基终止易受扩散控制</a:t>
            </a:r>
            <a:endParaRPr lang="en-US" altLang="zh-CN" sz="1633" dirty="0">
              <a:latin typeface="楷体_GB2312"/>
              <a:ea typeface="楷体_GB2312"/>
              <a:cs typeface="楷体_GB2312"/>
            </a:endParaRPr>
          </a:p>
        </p:txBody>
      </p:sp>
    </p:spTree>
    <p:extLst>
      <p:ext uri="{BB962C8B-B14F-4D97-AF65-F5344CB8AC3E}">
        <p14:creationId xmlns:p14="http://schemas.microsoft.com/office/powerpoint/2010/main" val="18889871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48</a:t>
            </a:r>
          </a:p>
        </p:txBody>
      </p:sp>
      <p:sp>
        <p:nvSpPr>
          <p:cNvPr id="51203" name="TextBox 1"/>
          <p:cNvSpPr txBox="1">
            <a:spLocks noChangeArrowheads="1"/>
          </p:cNvSpPr>
          <p:nvPr/>
        </p:nvSpPr>
        <p:spPr bwMode="auto">
          <a:xfrm>
            <a:off x="1949915" y="249232"/>
            <a:ext cx="8069389" cy="123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3.4.3</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自由基聚合特征</a:t>
            </a:r>
          </a:p>
          <a:p>
            <a:pPr eaLnBrk="1" hangingPunct="1">
              <a:lnSpc>
                <a:spcPts val="3084"/>
              </a:lnSpc>
            </a:pPr>
            <a:r>
              <a:rPr lang="en-US" altLang="zh-CN" sz="2812" b="1">
                <a:latin typeface="楷体_GB2312"/>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(Characteristic</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of</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free</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radical</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polymerization)</a:t>
            </a:r>
          </a:p>
          <a:p>
            <a:pPr eaLnBrk="1" hangingPunct="1">
              <a:lnSpc>
                <a:spcPts val="3084"/>
              </a:lnSpc>
            </a:pPr>
            <a:endParaRPr lang="en-US" altLang="zh-CN" sz="2812">
              <a:latin typeface="楷体_GB2312"/>
              <a:ea typeface="楷体_GB2312"/>
              <a:cs typeface="楷体_GB2312"/>
            </a:endParaRPr>
          </a:p>
        </p:txBody>
      </p:sp>
      <p:sp>
        <p:nvSpPr>
          <p:cNvPr id="51204" name="TextBox 1"/>
          <p:cNvSpPr txBox="1">
            <a:spLocks noChangeArrowheads="1"/>
          </p:cNvSpPr>
          <p:nvPr/>
        </p:nvSpPr>
        <p:spPr bwMode="auto">
          <a:xfrm>
            <a:off x="2155852" y="1394120"/>
            <a:ext cx="8207207" cy="19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9pPr>
          </a:lstStyle>
          <a:p>
            <a:pPr algn="just" eaLnBrk="1" hangingPunct="1">
              <a:lnSpc>
                <a:spcPct val="125000"/>
              </a:lnSpc>
              <a:buFont typeface="Wingdings" panose="05000000000000000000" pitchFamily="2" charset="2"/>
              <a:buChar char="Ø"/>
            </a:pPr>
            <a:r>
              <a:rPr lang="en-US" altLang="zh-CN" sz="2540">
                <a:latin typeface="楷体_GB2312"/>
                <a:ea typeface="楷体_GB2312"/>
                <a:cs typeface="楷体_GB2312"/>
              </a:rPr>
              <a:t>自由基聚合微观历程可分为链引发、链增长、链终止等基元反应，</a:t>
            </a:r>
            <a:r>
              <a:rPr lang="en-US" altLang="zh-CN" sz="2540" b="1">
                <a:solidFill>
                  <a:srgbClr val="FF0000"/>
                </a:solidFill>
                <a:latin typeface="楷体_GB2312"/>
                <a:ea typeface="楷体_GB2312"/>
                <a:cs typeface="楷体_GB2312"/>
              </a:rPr>
              <a:t>显示出慢引发、快增长、速终止</a:t>
            </a:r>
            <a:r>
              <a:rPr lang="en-US" altLang="zh-CN" sz="2540">
                <a:latin typeface="楷体_GB2312"/>
                <a:ea typeface="楷体_GB2312"/>
                <a:cs typeface="楷体_GB2312"/>
              </a:rPr>
              <a:t>的动力学特征，</a:t>
            </a:r>
            <a:r>
              <a:rPr lang="en-US" altLang="zh-CN" sz="2540" b="1">
                <a:solidFill>
                  <a:srgbClr val="FF0000"/>
                </a:solidFill>
                <a:latin typeface="楷体_GB2312"/>
                <a:ea typeface="楷体_GB2312"/>
                <a:cs typeface="楷体_GB2312"/>
              </a:rPr>
              <a:t>所以链引发是控制速率的关键步骤</a:t>
            </a:r>
            <a:r>
              <a:rPr lang="en-US" altLang="zh-CN" sz="2540">
                <a:latin typeface="楷体_GB2312"/>
                <a:ea typeface="楷体_GB2312"/>
                <a:cs typeface="楷体_GB2312"/>
              </a:rPr>
              <a:t>。</a:t>
            </a:r>
          </a:p>
          <a:p>
            <a:pPr algn="just" eaLnBrk="1" hangingPunct="1">
              <a:lnSpc>
                <a:spcPct val="125000"/>
              </a:lnSpc>
              <a:buFont typeface="Wingdings" panose="05000000000000000000" pitchFamily="2" charset="2"/>
              <a:buChar char="Ø"/>
            </a:pPr>
            <a:r>
              <a:rPr lang="en-US" altLang="zh-CN" sz="2540">
                <a:latin typeface="楷体_GB2312"/>
                <a:ea typeface="楷体_GB2312"/>
                <a:cs typeface="楷体_GB2312"/>
              </a:rPr>
              <a:t>少量阻聚剂（</a:t>
            </a:r>
            <a:r>
              <a:rPr lang="en-US" altLang="zh-CN" sz="2540" b="1">
                <a:latin typeface="Times New Roman" panose="02020603050405020304" pitchFamily="18" charset="0"/>
                <a:cs typeface="Times New Roman" panose="02020603050405020304" pitchFamily="18" charset="0"/>
              </a:rPr>
              <a:t>0.01</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0.1%</a:t>
            </a:r>
            <a:r>
              <a:rPr lang="en-US" altLang="zh-CN" sz="2540">
                <a:latin typeface="楷体_GB2312"/>
                <a:ea typeface="楷体_GB2312"/>
                <a:cs typeface="楷体_GB2312"/>
              </a:rPr>
              <a:t>）足以使自由基聚合终止。</a:t>
            </a:r>
          </a:p>
        </p:txBody>
      </p:sp>
      <p:pic>
        <p:nvPicPr>
          <p:cNvPr id="5120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6725" y="3498129"/>
            <a:ext cx="3748616" cy="279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098" y="3498128"/>
            <a:ext cx="3868145" cy="2520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1"/>
          <p:cNvSpPr txBox="1">
            <a:spLocks noChangeArrowheads="1"/>
          </p:cNvSpPr>
          <p:nvPr/>
        </p:nvSpPr>
        <p:spPr bwMode="auto">
          <a:xfrm>
            <a:off x="1671973" y="5371716"/>
            <a:ext cx="4232494" cy="9787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9pPr>
          </a:lstStyle>
          <a:p>
            <a:pPr algn="just" eaLnBrk="1" hangingPunct="1">
              <a:lnSpc>
                <a:spcPct val="125000"/>
              </a:lnSpc>
              <a:buFont typeface="Wingdings" panose="05000000000000000000" pitchFamily="2" charset="2"/>
              <a:buChar char="Ø"/>
            </a:pPr>
            <a:r>
              <a:rPr lang="zh-CN" altLang="en-US" sz="2540">
                <a:latin typeface="楷体_GB2312"/>
                <a:ea typeface="楷体_GB2312"/>
                <a:cs typeface="楷体_GB2312"/>
              </a:rPr>
              <a:t>反应速率快，聚合度或分子量不随聚合时间变化。</a:t>
            </a:r>
            <a:endParaRPr lang="en-US" altLang="zh-CN" sz="2540">
              <a:latin typeface="楷体_GB2312"/>
              <a:ea typeface="楷体_GB2312"/>
              <a:cs typeface="楷体_GB2312"/>
            </a:endParaRPr>
          </a:p>
        </p:txBody>
      </p:sp>
      <p:sp>
        <p:nvSpPr>
          <p:cNvPr id="9" name="TextBox 1"/>
          <p:cNvSpPr txBox="1">
            <a:spLocks noChangeArrowheads="1"/>
          </p:cNvSpPr>
          <p:nvPr/>
        </p:nvSpPr>
        <p:spPr bwMode="auto">
          <a:xfrm>
            <a:off x="6160805" y="5128336"/>
            <a:ext cx="4232493" cy="1467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6200" algn="l"/>
                <a:tab pos="355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6200" algn="l"/>
                <a:tab pos="355600" algn="l"/>
              </a:tabLst>
              <a:defRPr>
                <a:solidFill>
                  <a:schemeClr val="tx1"/>
                </a:solidFill>
                <a:latin typeface="Calibri" panose="020F0502020204030204" pitchFamily="34" charset="0"/>
                <a:ea typeface="宋体" panose="02010600030101010101" pitchFamily="2" charset="-122"/>
              </a:defRPr>
            </a:lvl9pPr>
          </a:lstStyle>
          <a:p>
            <a:pPr algn="just" eaLnBrk="1" hangingPunct="1">
              <a:lnSpc>
                <a:spcPct val="125000"/>
              </a:lnSpc>
              <a:buFont typeface="Wingdings" panose="05000000000000000000" pitchFamily="2" charset="2"/>
              <a:buChar char="Ø"/>
            </a:pPr>
            <a:r>
              <a:rPr lang="zh-CN" altLang="en-US" sz="2540">
                <a:latin typeface="楷体_GB2312"/>
                <a:ea typeface="楷体_GB2312"/>
                <a:cs typeface="楷体_GB2312"/>
              </a:rPr>
              <a:t>单体逐步消耗，聚合时间延长，主要提高转化率，对分子量影响较小。</a:t>
            </a:r>
            <a:endParaRPr lang="en-US" altLang="zh-CN" sz="2540">
              <a:latin typeface="楷体_GB2312"/>
              <a:ea typeface="楷体_GB2312"/>
              <a:cs typeface="楷体_GB2312"/>
            </a:endParaRPr>
          </a:p>
        </p:txBody>
      </p:sp>
    </p:spTree>
    <p:extLst>
      <p:ext uri="{BB962C8B-B14F-4D97-AF65-F5344CB8AC3E}">
        <p14:creationId xmlns:p14="http://schemas.microsoft.com/office/powerpoint/2010/main" val="188143809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Box 1"/>
          <p:cNvSpPr txBox="1">
            <a:spLocks noChangeArrowheads="1"/>
          </p:cNvSpPr>
          <p:nvPr/>
        </p:nvSpPr>
        <p:spPr bwMode="auto">
          <a:xfrm>
            <a:off x="1426624" y="3826257"/>
            <a:ext cx="3827971"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dirty="0">
                <a:latin typeface="Times New Roman" panose="02020603050405020304" pitchFamily="18" charset="0"/>
                <a:cs typeface="Times New Roman" panose="02020603050405020304" pitchFamily="18" charset="0"/>
              </a:rPr>
              <a:t>Classification of initiator</a:t>
            </a:r>
            <a:endParaRPr lang="en-US" altLang="zh-CN" sz="2812" dirty="0">
              <a:latin typeface="楷体_GB2312"/>
              <a:ea typeface="楷体_GB2312"/>
              <a:cs typeface="楷体_GB2312"/>
            </a:endParaRPr>
          </a:p>
        </p:txBody>
      </p:sp>
      <p:sp>
        <p:nvSpPr>
          <p:cNvPr id="52228" name="TextBox 1"/>
          <p:cNvSpPr txBox="1">
            <a:spLocks noChangeArrowheads="1"/>
          </p:cNvSpPr>
          <p:nvPr/>
        </p:nvSpPr>
        <p:spPr bwMode="auto">
          <a:xfrm>
            <a:off x="3024016" y="4658162"/>
            <a:ext cx="446115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dirty="0" err="1">
                <a:latin typeface="楷体_GB2312"/>
                <a:ea typeface="楷体_GB2312"/>
                <a:cs typeface="楷体_GB2312"/>
              </a:rPr>
              <a:t>偶氮化合物（</a:t>
            </a:r>
            <a:r>
              <a:rPr lang="en-US" altLang="zh-CN" sz="2540" b="1" dirty="0" err="1">
                <a:latin typeface="Times New Roman" panose="02020603050405020304" pitchFamily="18" charset="0"/>
                <a:cs typeface="Times New Roman" panose="02020603050405020304" pitchFamily="18" charset="0"/>
              </a:rPr>
              <a:t>Azo</a:t>
            </a:r>
            <a:r>
              <a:rPr lang="en-US" altLang="zh-CN" sz="2540" dirty="0">
                <a:latin typeface="Times New Roman" panose="02020603050405020304" pitchFamily="18" charset="0"/>
                <a:cs typeface="Times New Roman" panose="02020603050405020304" pitchFamily="18" charset="0"/>
              </a:rPr>
              <a:t> </a:t>
            </a:r>
            <a:r>
              <a:rPr lang="en-US" altLang="zh-CN" sz="2540" b="1" dirty="0">
                <a:latin typeface="Times New Roman" panose="02020603050405020304" pitchFamily="18" charset="0"/>
                <a:cs typeface="Times New Roman" panose="02020603050405020304" pitchFamily="18" charset="0"/>
              </a:rPr>
              <a:t>Compound</a:t>
            </a:r>
            <a:r>
              <a:rPr lang="en-US" altLang="zh-CN" sz="2540" dirty="0">
                <a:latin typeface="楷体_GB2312"/>
                <a:ea typeface="楷体_GB2312"/>
                <a:cs typeface="楷体_GB2312"/>
              </a:rPr>
              <a:t>）</a:t>
            </a:r>
          </a:p>
        </p:txBody>
      </p:sp>
      <p:sp>
        <p:nvSpPr>
          <p:cNvPr id="52229" name="TextBox 1"/>
          <p:cNvSpPr txBox="1">
            <a:spLocks noChangeArrowheads="1"/>
          </p:cNvSpPr>
          <p:nvPr/>
        </p:nvSpPr>
        <p:spPr bwMode="auto">
          <a:xfrm>
            <a:off x="3024016" y="5244675"/>
            <a:ext cx="350147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dirty="0" err="1">
                <a:latin typeface="楷体_GB2312"/>
                <a:ea typeface="楷体_GB2312"/>
                <a:cs typeface="楷体_GB2312"/>
              </a:rPr>
              <a:t>过氧化合物（</a:t>
            </a:r>
            <a:r>
              <a:rPr lang="en-US" altLang="zh-CN" sz="2540" b="1" dirty="0" err="1">
                <a:latin typeface="Times New Roman" panose="02020603050405020304" pitchFamily="18" charset="0"/>
                <a:cs typeface="Times New Roman" panose="02020603050405020304" pitchFamily="18" charset="0"/>
              </a:rPr>
              <a:t>Peroxide</a:t>
            </a:r>
            <a:r>
              <a:rPr lang="en-US" altLang="zh-CN" sz="2540" dirty="0">
                <a:latin typeface="楷体_GB2312"/>
                <a:ea typeface="楷体_GB2312"/>
                <a:cs typeface="楷体_GB2312"/>
              </a:rPr>
              <a:t>）</a:t>
            </a:r>
          </a:p>
        </p:txBody>
      </p:sp>
      <p:sp>
        <p:nvSpPr>
          <p:cNvPr id="52230" name="TextBox 1"/>
          <p:cNvSpPr txBox="1">
            <a:spLocks noChangeArrowheads="1"/>
          </p:cNvSpPr>
          <p:nvPr/>
        </p:nvSpPr>
        <p:spPr bwMode="auto">
          <a:xfrm>
            <a:off x="3024016" y="5831188"/>
            <a:ext cx="489396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dirty="0" err="1">
                <a:latin typeface="楷体_GB2312"/>
                <a:ea typeface="楷体_GB2312"/>
                <a:cs typeface="楷体_GB2312"/>
              </a:rPr>
              <a:t>氧化</a:t>
            </a:r>
            <a:r>
              <a:rPr lang="en-US" altLang="zh-CN" sz="2540" b="1" dirty="0">
                <a:latin typeface="Times New Roman" panose="02020603050405020304" pitchFamily="18" charset="0"/>
                <a:cs typeface="Times New Roman" panose="02020603050405020304" pitchFamily="18" charset="0"/>
              </a:rPr>
              <a:t>—</a:t>
            </a:r>
            <a:r>
              <a:rPr lang="en-US" altLang="zh-CN" sz="2540" dirty="0" err="1">
                <a:latin typeface="楷体_GB2312"/>
                <a:ea typeface="楷体_GB2312"/>
                <a:cs typeface="楷体_GB2312"/>
              </a:rPr>
              <a:t>还原体系（</a:t>
            </a:r>
            <a:r>
              <a:rPr lang="en-US" altLang="zh-CN" sz="2540" b="1" dirty="0" err="1">
                <a:latin typeface="Times New Roman" panose="02020603050405020304" pitchFamily="18" charset="0"/>
                <a:cs typeface="Times New Roman" panose="02020603050405020304" pitchFamily="18" charset="0"/>
              </a:rPr>
              <a:t>Redox</a:t>
            </a:r>
            <a:r>
              <a:rPr lang="en-US" altLang="zh-CN" sz="2540" dirty="0">
                <a:latin typeface="Times New Roman" panose="02020603050405020304" pitchFamily="18" charset="0"/>
                <a:cs typeface="Times New Roman" panose="02020603050405020304" pitchFamily="18" charset="0"/>
              </a:rPr>
              <a:t> </a:t>
            </a:r>
            <a:r>
              <a:rPr lang="en-US" altLang="zh-CN" sz="2540" b="1" dirty="0">
                <a:latin typeface="Times New Roman" panose="02020603050405020304" pitchFamily="18" charset="0"/>
                <a:cs typeface="Times New Roman" panose="02020603050405020304" pitchFamily="18" charset="0"/>
              </a:rPr>
              <a:t>System</a:t>
            </a:r>
            <a:r>
              <a:rPr lang="en-US" altLang="zh-CN" sz="2540" dirty="0">
                <a:latin typeface="楷体_GB2312"/>
                <a:ea typeface="楷体_GB2312"/>
                <a:cs typeface="楷体_GB2312"/>
              </a:rPr>
              <a:t>）</a:t>
            </a:r>
          </a:p>
        </p:txBody>
      </p:sp>
      <p:sp>
        <p:nvSpPr>
          <p:cNvPr id="52231" name="TextBox 1"/>
          <p:cNvSpPr txBox="1">
            <a:spLocks noChangeArrowheads="1"/>
          </p:cNvSpPr>
          <p:nvPr/>
        </p:nvSpPr>
        <p:spPr bwMode="auto">
          <a:xfrm>
            <a:off x="4941483" y="699356"/>
            <a:ext cx="1678345" cy="841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3266" b="1" dirty="0">
                <a:latin typeface="Times New Roman" panose="02020603050405020304" pitchFamily="18" charset="0"/>
                <a:cs typeface="Times New Roman" panose="02020603050405020304" pitchFamily="18" charset="0"/>
              </a:rPr>
              <a:t>3. 5</a:t>
            </a:r>
            <a:r>
              <a:rPr lang="en-US" altLang="zh-CN" sz="3266" dirty="0">
                <a:latin typeface="Times New Roman" panose="02020603050405020304" pitchFamily="18" charset="0"/>
                <a:cs typeface="Times New Roman" panose="02020603050405020304" pitchFamily="18" charset="0"/>
              </a:rPr>
              <a:t>  </a:t>
            </a:r>
            <a:r>
              <a:rPr lang="zh-CN" altLang="en-US" sz="3266" dirty="0">
                <a:latin typeface="Times New Roman" panose="02020603050405020304" pitchFamily="18" charset="0"/>
                <a:cs typeface="Times New Roman" panose="02020603050405020304" pitchFamily="18" charset="0"/>
              </a:rPr>
              <a:t>引发</a:t>
            </a:r>
            <a:endParaRPr lang="en-US" altLang="zh-CN" sz="3266" dirty="0">
              <a:latin typeface="Times New Roman" panose="02020603050405020304" pitchFamily="18" charset="0"/>
              <a:cs typeface="Times New Roman" panose="02020603050405020304" pitchFamily="18" charset="0"/>
            </a:endParaRPr>
          </a:p>
          <a:p>
            <a:pPr eaLnBrk="1" hangingPunct="1">
              <a:lnSpc>
                <a:spcPts val="3084"/>
              </a:lnSpc>
            </a:pPr>
            <a:r>
              <a:rPr lang="en-US" altLang="zh-CN" sz="3266" b="1" dirty="0">
                <a:latin typeface="Times New Roman" panose="02020603050405020304" pitchFamily="18" charset="0"/>
                <a:cs typeface="Times New Roman" panose="02020603050405020304" pitchFamily="18" charset="0"/>
              </a:rPr>
              <a:t>Initiation</a:t>
            </a:r>
            <a:endParaRPr lang="en-US" altLang="zh-CN" sz="3266" dirty="0">
              <a:latin typeface="楷体_GB2312"/>
              <a:ea typeface="楷体_GB2312"/>
              <a:cs typeface="楷体_GB2312"/>
            </a:endParaRPr>
          </a:p>
        </p:txBody>
      </p:sp>
      <p:sp>
        <p:nvSpPr>
          <p:cNvPr id="52232" name="TextBox 1"/>
          <p:cNvSpPr txBox="1">
            <a:spLocks noChangeArrowheads="1"/>
          </p:cNvSpPr>
          <p:nvPr/>
        </p:nvSpPr>
        <p:spPr bwMode="auto">
          <a:xfrm>
            <a:off x="704216" y="1724975"/>
            <a:ext cx="10645318" cy="111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5000"/>
              </a:lnSpc>
            </a:pPr>
            <a:r>
              <a:rPr lang="en-US" altLang="zh-CN" sz="2903" dirty="0" err="1">
                <a:latin typeface="楷体_GB2312"/>
                <a:ea typeface="楷体_GB2312"/>
                <a:cs typeface="楷体_GB2312"/>
              </a:rPr>
              <a:t>引发剂：分子结构上具有弱键、易</a:t>
            </a:r>
            <a:r>
              <a:rPr lang="zh-CN" altLang="en-US" sz="2903" dirty="0">
                <a:latin typeface="楷体_GB2312"/>
                <a:ea typeface="楷体_GB2312"/>
                <a:cs typeface="楷体_GB2312"/>
              </a:rPr>
              <a:t>均裂</a:t>
            </a:r>
            <a:r>
              <a:rPr lang="en-US" altLang="zh-CN" sz="2903" dirty="0" err="1">
                <a:latin typeface="楷体_GB2312"/>
                <a:ea typeface="楷体_GB2312"/>
                <a:cs typeface="楷体_GB2312"/>
              </a:rPr>
              <a:t>产生自由基进而引发单体聚合的物质</a:t>
            </a:r>
            <a:r>
              <a:rPr lang="en-US" altLang="zh-CN" sz="2903" dirty="0">
                <a:latin typeface="楷体_GB2312"/>
                <a:ea typeface="楷体_GB2312"/>
                <a:cs typeface="楷体_GB2312"/>
              </a:rPr>
              <a:t>。</a:t>
            </a:r>
          </a:p>
        </p:txBody>
      </p:sp>
      <p:graphicFrame>
        <p:nvGraphicFramePr>
          <p:cNvPr id="52233" name="对象 1"/>
          <p:cNvGraphicFramePr>
            <a:graphicFrameLocks noChangeAspect="1"/>
          </p:cNvGraphicFramePr>
          <p:nvPr>
            <p:extLst/>
          </p:nvPr>
        </p:nvGraphicFramePr>
        <p:xfrm>
          <a:off x="3896932" y="2969004"/>
          <a:ext cx="3355464" cy="515561"/>
        </p:xfrm>
        <a:graphic>
          <a:graphicData uri="http://schemas.openxmlformats.org/presentationml/2006/ole">
            <mc:AlternateContent xmlns:mc="http://schemas.openxmlformats.org/markup-compatibility/2006">
              <mc:Choice xmlns:v="urn:schemas-microsoft-com:vml" Requires="v">
                <p:oleObj spid="_x0000_s1033" name="CS ChemDraw Drawing" r:id="rId3" imgW="1467092" imgH="225180" progId="ChemDraw.Document.6.0">
                  <p:embed/>
                </p:oleObj>
              </mc:Choice>
              <mc:Fallback>
                <p:oleObj name="CS ChemDraw Drawing" r:id="rId3" imgW="1467092" imgH="225180" progId="ChemDraw.Document.6.0">
                  <p:embed/>
                  <p:pic>
                    <p:nvPicPr>
                      <p:cNvPr id="52233"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6932" y="2969004"/>
                        <a:ext cx="3355464" cy="515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a:extLst>
              <a:ext uri="{FF2B5EF4-FFF2-40B4-BE49-F238E27FC236}">
                <a16:creationId xmlns:a16="http://schemas.microsoft.com/office/drawing/2014/main" id="{9BD067E0-78A9-4861-A229-AC93091663CD}"/>
              </a:ext>
            </a:extLst>
          </p:cNvPr>
          <p:cNvGraphicFramePr>
            <a:graphicFrameLocks noChangeAspect="1"/>
          </p:cNvGraphicFramePr>
          <p:nvPr>
            <p:extLst>
              <p:ext uri="{D42A27DB-BD31-4B8C-83A1-F6EECF244321}">
                <p14:modId xmlns:p14="http://schemas.microsoft.com/office/powerpoint/2010/main" val="1354829808"/>
              </p:ext>
            </p:extLst>
          </p:nvPr>
        </p:nvGraphicFramePr>
        <p:xfrm>
          <a:off x="8174019" y="4508635"/>
          <a:ext cx="1049495" cy="488062"/>
        </p:xfrm>
        <a:graphic>
          <a:graphicData uri="http://schemas.openxmlformats.org/presentationml/2006/ole">
            <mc:AlternateContent xmlns:mc="http://schemas.openxmlformats.org/markup-compatibility/2006">
              <mc:Choice xmlns:v="urn:schemas-microsoft-com:vml" Requires="v">
                <p:oleObj spid="_x0000_s1034" name="CS ChemDraw Drawing" r:id="rId5" imgW="522514" imgH="242098" progId="ChemDraw.Document.6.0">
                  <p:embed/>
                </p:oleObj>
              </mc:Choice>
              <mc:Fallback>
                <p:oleObj name="CS ChemDraw Drawing" r:id="rId5" imgW="522514" imgH="242098" progId="ChemDraw.Document.6.0">
                  <p:embed/>
                  <p:pic>
                    <p:nvPicPr>
                      <p:cNvPr id="0" name=""/>
                      <p:cNvPicPr/>
                      <p:nvPr/>
                    </p:nvPicPr>
                    <p:blipFill>
                      <a:blip r:embed="rId6"/>
                      <a:stretch>
                        <a:fillRect/>
                      </a:stretch>
                    </p:blipFill>
                    <p:spPr>
                      <a:xfrm>
                        <a:off x="8174019" y="4508635"/>
                        <a:ext cx="1049495" cy="488062"/>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FE5A3A06-D6F2-4876-8172-CAE4FF7DD881}"/>
              </a:ext>
            </a:extLst>
          </p:cNvPr>
          <p:cNvGraphicFramePr>
            <a:graphicFrameLocks noChangeAspect="1"/>
          </p:cNvGraphicFramePr>
          <p:nvPr>
            <p:extLst>
              <p:ext uri="{D42A27DB-BD31-4B8C-83A1-F6EECF244321}">
                <p14:modId xmlns:p14="http://schemas.microsoft.com/office/powerpoint/2010/main" val="2983869368"/>
              </p:ext>
            </p:extLst>
          </p:nvPr>
        </p:nvGraphicFramePr>
        <p:xfrm>
          <a:off x="8174019" y="5183101"/>
          <a:ext cx="1101425" cy="515561"/>
        </p:xfrm>
        <a:graphic>
          <a:graphicData uri="http://schemas.openxmlformats.org/presentationml/2006/ole">
            <mc:AlternateContent xmlns:mc="http://schemas.openxmlformats.org/markup-compatibility/2006">
              <mc:Choice xmlns:v="urn:schemas-microsoft-com:vml" Requires="v">
                <p:oleObj spid="_x0000_s1035" name="CS ChemDraw Drawing" r:id="rId7" imgW="522950" imgH="243840" progId="ChemDraw.Document.6.0">
                  <p:embed/>
                </p:oleObj>
              </mc:Choice>
              <mc:Fallback>
                <p:oleObj name="CS ChemDraw Drawing" r:id="rId7" imgW="522950" imgH="243840" progId="ChemDraw.Document.6.0">
                  <p:embed/>
                  <p:pic>
                    <p:nvPicPr>
                      <p:cNvPr id="0" name=""/>
                      <p:cNvPicPr/>
                      <p:nvPr/>
                    </p:nvPicPr>
                    <p:blipFill>
                      <a:blip r:embed="rId8"/>
                      <a:stretch>
                        <a:fillRect/>
                      </a:stretch>
                    </p:blipFill>
                    <p:spPr>
                      <a:xfrm>
                        <a:off x="8174019" y="5183101"/>
                        <a:ext cx="1101425" cy="515561"/>
                      </a:xfrm>
                      <a:prstGeom prst="rect">
                        <a:avLst/>
                      </a:prstGeom>
                    </p:spPr>
                  </p:pic>
                </p:oleObj>
              </mc:Fallback>
            </mc:AlternateContent>
          </a:graphicData>
        </a:graphic>
      </p:graphicFrame>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1"/>
          <p:cNvSpPr txBox="1">
            <a:spLocks noChangeArrowheads="1"/>
          </p:cNvSpPr>
          <p:nvPr/>
        </p:nvSpPr>
        <p:spPr bwMode="auto">
          <a:xfrm>
            <a:off x="1077209" y="2239296"/>
            <a:ext cx="8018550" cy="37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1003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003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dirty="0">
                <a:latin typeface="楷体_GB2312"/>
                <a:ea typeface="楷体_GB2312"/>
                <a:cs typeface="楷体_GB2312"/>
              </a:rPr>
              <a:t>偶氮二异丁腈</a:t>
            </a:r>
            <a:r>
              <a:rPr lang="en-US" altLang="zh-CN" sz="2177" b="1" dirty="0">
                <a:latin typeface="Times New Roman" panose="02020603050405020304" pitchFamily="18" charset="0"/>
                <a:cs typeface="Times New Roman" panose="02020603050405020304" pitchFamily="18" charset="0"/>
              </a:rPr>
              <a:t>AIBN</a:t>
            </a:r>
            <a:r>
              <a:rPr lang="en-US" altLang="zh-CN" sz="2177" dirty="0">
                <a:latin typeface="楷体_GB2312"/>
                <a:ea typeface="楷体_GB2312"/>
                <a:cs typeface="楷体_GB2312"/>
              </a:rPr>
              <a:t>（</a:t>
            </a:r>
            <a:r>
              <a:rPr lang="en-US" altLang="zh-CN" sz="2177" b="1" dirty="0">
                <a:latin typeface="Times New Roman" panose="02020603050405020304" pitchFamily="18" charset="0"/>
                <a:cs typeface="Times New Roman" panose="02020603050405020304" pitchFamily="18" charset="0"/>
              </a:rPr>
              <a:t>2,2’-Azo-bis-isobutyronitrile</a:t>
            </a:r>
            <a:r>
              <a:rPr lang="en-US" altLang="zh-CN" sz="2177" dirty="0">
                <a:latin typeface="楷体_GB2312"/>
                <a:ea typeface="楷体_GB2312"/>
                <a:cs typeface="楷体_GB2312"/>
              </a:rPr>
              <a:t>）</a:t>
            </a:r>
          </a:p>
        </p:txBody>
      </p:sp>
      <p:sp>
        <p:nvSpPr>
          <p:cNvPr id="53251" name="TextBox 1"/>
          <p:cNvSpPr txBox="1">
            <a:spLocks noChangeArrowheads="1"/>
          </p:cNvSpPr>
          <p:nvPr/>
        </p:nvSpPr>
        <p:spPr bwMode="auto">
          <a:xfrm>
            <a:off x="1395470" y="3613112"/>
            <a:ext cx="976229"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dirty="0" err="1">
                <a:latin typeface="楷体_GB2312"/>
                <a:ea typeface="楷体_GB2312"/>
                <a:cs typeface="楷体_GB2312"/>
              </a:rPr>
              <a:t>特点</a:t>
            </a:r>
            <a:r>
              <a:rPr lang="en-US" altLang="zh-CN" sz="2540" dirty="0">
                <a:latin typeface="楷体_GB2312"/>
                <a:ea typeface="楷体_GB2312"/>
                <a:cs typeface="楷体_GB2312"/>
              </a:rPr>
              <a:t>：</a:t>
            </a:r>
          </a:p>
        </p:txBody>
      </p:sp>
      <p:sp>
        <p:nvSpPr>
          <p:cNvPr id="53252" name="TextBox 1"/>
          <p:cNvSpPr txBox="1">
            <a:spLocks noChangeArrowheads="1"/>
          </p:cNvSpPr>
          <p:nvPr/>
        </p:nvSpPr>
        <p:spPr bwMode="auto">
          <a:xfrm>
            <a:off x="1941880" y="4151526"/>
            <a:ext cx="6617196" cy="155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tabLst>
                <a:tab pos="660400" algn="l"/>
                <a:tab pos="79375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 pos="79375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 pos="79375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 pos="79375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 pos="79375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 pos="79375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 pos="79375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 pos="79375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 pos="79375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994"/>
              </a:lnSpc>
              <a:buFont typeface="Wingdings" panose="05000000000000000000" pitchFamily="2" charset="2"/>
              <a:buChar char="ü"/>
            </a:pPr>
            <a:r>
              <a:rPr lang="en-US" altLang="zh-CN" sz="2268" dirty="0" err="1">
                <a:latin typeface="楷体_GB2312"/>
                <a:ea typeface="楷体_GB2312"/>
                <a:cs typeface="楷体_GB2312"/>
              </a:rPr>
              <a:t>呈一级反应，只产生一种自由基</a:t>
            </a:r>
            <a:r>
              <a:rPr lang="en-US" altLang="zh-CN" sz="2268" dirty="0">
                <a:latin typeface="楷体_GB2312"/>
                <a:ea typeface="楷体_GB2312"/>
                <a:cs typeface="楷体_GB2312"/>
              </a:rPr>
              <a:t>；</a:t>
            </a:r>
          </a:p>
          <a:p>
            <a:pPr eaLnBrk="1" hangingPunct="1">
              <a:lnSpc>
                <a:spcPts val="2994"/>
              </a:lnSpc>
              <a:buFont typeface="Wingdings" panose="05000000000000000000" pitchFamily="2" charset="2"/>
              <a:buChar char="ü"/>
            </a:pPr>
            <a:r>
              <a:rPr lang="en-US" altLang="zh-CN" sz="2268" dirty="0" err="1">
                <a:latin typeface="楷体_GB2312"/>
                <a:ea typeface="楷体_GB2312"/>
                <a:cs typeface="楷体_GB2312"/>
              </a:rPr>
              <a:t>分解速率慢，</a:t>
            </a:r>
            <a:r>
              <a:rPr lang="en-US" altLang="zh-CN" sz="2268" b="1" dirty="0" err="1">
                <a:latin typeface="Times New Roman" panose="02020603050405020304" pitchFamily="18" charset="0"/>
                <a:cs typeface="Times New Roman" panose="02020603050405020304" pitchFamily="18" charset="0"/>
              </a:rPr>
              <a:t>k</a:t>
            </a:r>
            <a:r>
              <a:rPr lang="en-US" altLang="zh-CN" sz="1452" b="1" dirty="0" err="1">
                <a:latin typeface="Times New Roman" panose="02020603050405020304" pitchFamily="18" charset="0"/>
                <a:cs typeface="Times New Roman" panose="02020603050405020304" pitchFamily="18" charset="0"/>
              </a:rPr>
              <a:t>d</a:t>
            </a:r>
            <a:r>
              <a:rPr lang="en-US" altLang="zh-CN" sz="2268" b="1" dirty="0">
                <a:latin typeface="Times New Roman" panose="02020603050405020304" pitchFamily="18" charset="0"/>
                <a:cs typeface="Times New Roman" panose="02020603050405020304" pitchFamily="18" charset="0"/>
              </a:rPr>
              <a:t>=10</a:t>
            </a:r>
            <a:r>
              <a:rPr lang="en-US" altLang="zh-CN" sz="1452" b="1" dirty="0">
                <a:latin typeface="Times New Roman" panose="02020603050405020304" pitchFamily="18" charset="0"/>
                <a:cs typeface="Times New Roman" panose="02020603050405020304" pitchFamily="18" charset="0"/>
              </a:rPr>
              <a:t>-5</a:t>
            </a:r>
            <a:r>
              <a:rPr lang="en-US" altLang="zh-CN" sz="1452" dirty="0">
                <a:latin typeface="楷体_GB2312"/>
                <a:ea typeface="楷体_GB2312"/>
                <a:cs typeface="楷体_GB2312"/>
              </a:rPr>
              <a:t>～</a:t>
            </a:r>
            <a:r>
              <a:rPr lang="en-US" altLang="zh-CN" sz="1452" b="1" dirty="0">
                <a:latin typeface="Times New Roman" panose="02020603050405020304" pitchFamily="18" charset="0"/>
                <a:cs typeface="Times New Roman" panose="02020603050405020304" pitchFamily="18" charset="0"/>
              </a:rPr>
              <a:t>-6</a:t>
            </a:r>
            <a:r>
              <a:rPr lang="en-US" altLang="zh-CN" sz="2268" dirty="0">
                <a:latin typeface="楷体_GB2312"/>
                <a:ea typeface="楷体_GB2312"/>
                <a:cs typeface="楷体_GB2312"/>
              </a:rPr>
              <a:t>（</a:t>
            </a:r>
            <a:r>
              <a:rPr lang="en-US" altLang="zh-CN" sz="2268" b="1" dirty="0">
                <a:latin typeface="Times New Roman" panose="02020603050405020304" pitchFamily="18" charset="0"/>
                <a:cs typeface="Times New Roman" panose="02020603050405020304" pitchFamily="18" charset="0"/>
              </a:rPr>
              <a:t>50</a:t>
            </a:r>
            <a:r>
              <a:rPr lang="en-US" altLang="zh-CN" sz="2268" dirty="0">
                <a:latin typeface="楷体_GB2312"/>
                <a:ea typeface="楷体_GB2312"/>
                <a:cs typeface="楷体_GB2312"/>
              </a:rPr>
              <a:t>～</a:t>
            </a:r>
            <a:r>
              <a:rPr lang="en-US" altLang="zh-CN" sz="2268" b="1" dirty="0">
                <a:latin typeface="Times New Roman" panose="02020603050405020304" pitchFamily="18" charset="0"/>
                <a:cs typeface="Times New Roman" panose="02020603050405020304" pitchFamily="18" charset="0"/>
              </a:rPr>
              <a:t>60</a:t>
            </a:r>
            <a:r>
              <a:rPr lang="en-US" altLang="zh-CN" sz="2268" dirty="0">
                <a:latin typeface="楷体_GB2312"/>
                <a:ea typeface="楷体_GB2312"/>
                <a:cs typeface="楷体_GB2312"/>
              </a:rPr>
              <a:t>℃），</a:t>
            </a:r>
            <a:r>
              <a:rPr lang="en-US" altLang="zh-CN" sz="2268" dirty="0" err="1">
                <a:latin typeface="楷体_GB2312"/>
                <a:ea typeface="楷体_GB2312"/>
                <a:cs typeface="楷体_GB2312"/>
              </a:rPr>
              <a:t>活性低</a:t>
            </a:r>
            <a:r>
              <a:rPr lang="en-US" altLang="zh-CN" sz="2268" dirty="0">
                <a:latin typeface="楷体_GB2312"/>
                <a:ea typeface="楷体_GB2312"/>
                <a:cs typeface="楷体_GB2312"/>
              </a:rPr>
              <a:t>；</a:t>
            </a:r>
          </a:p>
          <a:p>
            <a:pPr eaLnBrk="1" hangingPunct="1">
              <a:lnSpc>
                <a:spcPts val="2994"/>
              </a:lnSpc>
              <a:buFont typeface="Wingdings" panose="05000000000000000000" pitchFamily="2" charset="2"/>
              <a:buChar char="ü"/>
            </a:pPr>
            <a:r>
              <a:rPr lang="en-US" altLang="zh-CN" sz="2268" dirty="0" err="1">
                <a:latin typeface="楷体_GB2312"/>
                <a:ea typeface="楷体_GB2312"/>
                <a:cs typeface="楷体_GB2312"/>
              </a:rPr>
              <a:t>较稳定，可以安全贮存</a:t>
            </a:r>
            <a:r>
              <a:rPr lang="en-US" altLang="zh-CN" sz="2268" dirty="0">
                <a:latin typeface="楷体_GB2312"/>
                <a:ea typeface="楷体_GB2312"/>
                <a:cs typeface="楷体_GB2312"/>
              </a:rPr>
              <a:t>；</a:t>
            </a:r>
          </a:p>
          <a:p>
            <a:pPr eaLnBrk="1" hangingPunct="1">
              <a:lnSpc>
                <a:spcPts val="2994"/>
              </a:lnSpc>
              <a:buFont typeface="Wingdings" panose="05000000000000000000" pitchFamily="2" charset="2"/>
              <a:buChar char="ü"/>
            </a:pPr>
            <a:r>
              <a:rPr lang="en-US" altLang="zh-CN" sz="2268" dirty="0" err="1">
                <a:latin typeface="楷体_GB2312"/>
                <a:ea typeface="楷体_GB2312"/>
                <a:cs typeface="楷体_GB2312"/>
              </a:rPr>
              <a:t>有毒</a:t>
            </a:r>
            <a:r>
              <a:rPr lang="en-US" altLang="zh-CN" sz="2268" dirty="0">
                <a:latin typeface="楷体_GB2312"/>
                <a:ea typeface="楷体_GB2312"/>
                <a:cs typeface="楷体_GB2312"/>
              </a:rPr>
              <a:t>。</a:t>
            </a:r>
            <a:endParaRPr lang="en-US" altLang="zh-CN" sz="1089" dirty="0">
              <a:latin typeface="Times New Roman" panose="02020603050405020304" pitchFamily="18" charset="0"/>
              <a:cs typeface="Times New Roman" panose="02020603050405020304" pitchFamily="18" charset="0"/>
            </a:endParaRPr>
          </a:p>
        </p:txBody>
      </p:sp>
      <p:sp>
        <p:nvSpPr>
          <p:cNvPr id="53253" name="TextBox 1"/>
          <p:cNvSpPr txBox="1">
            <a:spLocks noChangeArrowheads="1"/>
          </p:cNvSpPr>
          <p:nvPr/>
        </p:nvSpPr>
        <p:spPr bwMode="auto">
          <a:xfrm>
            <a:off x="6441628" y="3791103"/>
            <a:ext cx="167353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异丁腈自由基</a:t>
            </a:r>
          </a:p>
        </p:txBody>
      </p:sp>
      <p:sp>
        <p:nvSpPr>
          <p:cNvPr id="53254" name="TextBox 1"/>
          <p:cNvSpPr txBox="1">
            <a:spLocks noChangeArrowheads="1"/>
          </p:cNvSpPr>
          <p:nvPr/>
        </p:nvSpPr>
        <p:spPr bwMode="auto">
          <a:xfrm>
            <a:off x="455770" y="1659379"/>
            <a:ext cx="545021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903" dirty="0">
                <a:latin typeface="楷体_GB2312"/>
                <a:ea typeface="楷体_GB2312"/>
                <a:cs typeface="楷体_GB2312"/>
              </a:rPr>
              <a:t>1. </a:t>
            </a:r>
            <a:r>
              <a:rPr lang="en-US" altLang="zh-CN" sz="2903" dirty="0" err="1">
                <a:latin typeface="楷体_GB2312"/>
                <a:ea typeface="楷体_GB2312"/>
                <a:cs typeface="楷体_GB2312"/>
              </a:rPr>
              <a:t>偶氮类引发剂（</a:t>
            </a:r>
            <a:r>
              <a:rPr lang="en-US" altLang="zh-CN" sz="2903" b="1" dirty="0" err="1">
                <a:latin typeface="Times New Roman" panose="02020603050405020304" pitchFamily="18" charset="0"/>
                <a:cs typeface="Times New Roman" panose="02020603050405020304" pitchFamily="18" charset="0"/>
              </a:rPr>
              <a:t>Azo</a:t>
            </a:r>
            <a:r>
              <a:rPr lang="en-US" altLang="zh-CN" sz="2903" b="1" dirty="0">
                <a:latin typeface="Times New Roman" panose="02020603050405020304" pitchFamily="18" charset="0"/>
                <a:cs typeface="Times New Roman" panose="02020603050405020304" pitchFamily="18" charset="0"/>
              </a:rPr>
              <a:t> Initiator</a:t>
            </a:r>
            <a:r>
              <a:rPr lang="en-US" altLang="zh-CN" sz="2903" dirty="0">
                <a:latin typeface="楷体_GB2312"/>
                <a:ea typeface="楷体_GB2312"/>
                <a:cs typeface="楷体_GB2312"/>
              </a:rPr>
              <a:t>）</a:t>
            </a:r>
          </a:p>
        </p:txBody>
      </p:sp>
      <p:sp>
        <p:nvSpPr>
          <p:cNvPr id="53255" name="TextBox 1"/>
          <p:cNvSpPr txBox="1">
            <a:spLocks noChangeArrowheads="1"/>
          </p:cNvSpPr>
          <p:nvPr/>
        </p:nvSpPr>
        <p:spPr bwMode="auto">
          <a:xfrm>
            <a:off x="9547781" y="2868975"/>
            <a:ext cx="2231380" cy="845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5000"/>
              </a:lnSpc>
            </a:pPr>
            <a:r>
              <a:rPr lang="en-US" altLang="zh-CN" sz="2177" b="1">
                <a:latin typeface="Times New Roman" panose="02020603050405020304" pitchFamily="18" charset="0"/>
                <a:cs typeface="Times New Roman" panose="02020603050405020304" pitchFamily="18" charset="0"/>
              </a:rPr>
              <a:t>R</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R`</a:t>
            </a:r>
            <a:r>
              <a:rPr lang="en-US" altLang="zh-CN" sz="2177">
                <a:latin typeface="楷体_GB2312"/>
                <a:ea typeface="楷体_GB2312"/>
                <a:cs typeface="楷体_GB2312"/>
              </a:rPr>
              <a:t>为烷基，结</a:t>
            </a:r>
          </a:p>
          <a:p>
            <a:pPr eaLnBrk="1" hangingPunct="1">
              <a:lnSpc>
                <a:spcPct val="125000"/>
              </a:lnSpc>
            </a:pPr>
            <a:r>
              <a:rPr lang="en-US" altLang="zh-CN" sz="2177">
                <a:latin typeface="楷体_GB2312"/>
                <a:ea typeface="楷体_GB2312"/>
                <a:cs typeface="楷体_GB2312"/>
              </a:rPr>
              <a:t>构可对称或不对称</a:t>
            </a:r>
          </a:p>
        </p:txBody>
      </p:sp>
      <p:graphicFrame>
        <p:nvGraphicFramePr>
          <p:cNvPr id="53256" name="对象 9"/>
          <p:cNvGraphicFramePr>
            <a:graphicFrameLocks noChangeAspect="1"/>
          </p:cNvGraphicFramePr>
          <p:nvPr>
            <p:extLst/>
          </p:nvPr>
        </p:nvGraphicFramePr>
        <p:xfrm>
          <a:off x="9547781" y="1547660"/>
          <a:ext cx="2232642" cy="1057334"/>
        </p:xfrm>
        <a:graphic>
          <a:graphicData uri="http://schemas.openxmlformats.org/presentationml/2006/ole">
            <mc:AlternateContent xmlns:mc="http://schemas.openxmlformats.org/markup-compatibility/2006">
              <mc:Choice xmlns:v="urn:schemas-microsoft-com:vml" Requires="v">
                <p:oleObj spid="_x0000_s2059" name="CS ChemDraw Drawing" r:id="rId3" imgW="1049466" imgH="496530" progId="ChemDraw.Document.6.0">
                  <p:embed/>
                </p:oleObj>
              </mc:Choice>
              <mc:Fallback>
                <p:oleObj name="CS ChemDraw Drawing" r:id="rId3" imgW="1049466" imgH="496530" progId="ChemDraw.Document.6.0">
                  <p:embed/>
                  <p:pic>
                    <p:nvPicPr>
                      <p:cNvPr id="53256"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7781" y="1547660"/>
                        <a:ext cx="2232642" cy="1057334"/>
                      </a:xfrm>
                      <a:prstGeom prst="rect">
                        <a:avLst/>
                      </a:prstGeom>
                      <a:noFill/>
                      <a:ln>
                        <a:noFill/>
                      </a:ln>
                      <a:extLst/>
                    </p:spPr>
                  </p:pic>
                </p:oleObj>
              </mc:Fallback>
            </mc:AlternateContent>
          </a:graphicData>
        </a:graphic>
      </p:graphicFrame>
      <p:graphicFrame>
        <p:nvGraphicFramePr>
          <p:cNvPr id="53257" name="对象 11"/>
          <p:cNvGraphicFramePr>
            <a:graphicFrameLocks noChangeAspect="1"/>
          </p:cNvGraphicFramePr>
          <p:nvPr>
            <p:extLst/>
          </p:nvPr>
        </p:nvGraphicFramePr>
        <p:xfrm>
          <a:off x="2372677" y="2805704"/>
          <a:ext cx="6179527" cy="967756"/>
        </p:xfrm>
        <a:graphic>
          <a:graphicData uri="http://schemas.openxmlformats.org/presentationml/2006/ole">
            <mc:AlternateContent xmlns:mc="http://schemas.openxmlformats.org/markup-compatibility/2006">
              <mc:Choice xmlns:v="urn:schemas-microsoft-com:vml" Requires="v">
                <p:oleObj spid="_x0000_s2060" name="CS ChemDraw Drawing" r:id="rId5" imgW="3233761" imgH="505710" progId="ChemDraw.Document.6.0">
                  <p:embed/>
                </p:oleObj>
              </mc:Choice>
              <mc:Fallback>
                <p:oleObj name="CS ChemDraw Drawing" r:id="rId5" imgW="3233761" imgH="505710" progId="ChemDraw.Document.6.0">
                  <p:embed/>
                  <p:pic>
                    <p:nvPicPr>
                      <p:cNvPr id="53257"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2677" y="2805704"/>
                        <a:ext cx="6179527" cy="967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8" name="对象 12"/>
          <p:cNvGraphicFramePr>
            <a:graphicFrameLocks noChangeAspect="1"/>
          </p:cNvGraphicFramePr>
          <p:nvPr/>
        </p:nvGraphicFramePr>
        <p:xfrm>
          <a:off x="5128245" y="5594934"/>
          <a:ext cx="3941591" cy="796382"/>
        </p:xfrm>
        <a:graphic>
          <a:graphicData uri="http://schemas.openxmlformats.org/presentationml/2006/ole">
            <mc:AlternateContent xmlns:mc="http://schemas.openxmlformats.org/markup-compatibility/2006">
              <mc:Choice xmlns:v="urn:schemas-microsoft-com:vml" Requires="v">
                <p:oleObj spid="_x0000_s2061" name="CS ChemDraw Drawing" r:id="rId7" imgW="2459290" imgH="496530" progId="ChemDraw.Document.6.0">
                  <p:embed/>
                </p:oleObj>
              </mc:Choice>
              <mc:Fallback>
                <p:oleObj name="CS ChemDraw Drawing" r:id="rId7" imgW="2459290" imgH="496530" progId="ChemDraw.Document.6.0">
                  <p:embed/>
                  <p:pic>
                    <p:nvPicPr>
                      <p:cNvPr id="53258"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8245" y="5594934"/>
                        <a:ext cx="3941591" cy="796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9" name="TextBox 17"/>
          <p:cNvSpPr txBox="1">
            <a:spLocks noChangeArrowheads="1"/>
          </p:cNvSpPr>
          <p:nvPr/>
        </p:nvSpPr>
        <p:spPr bwMode="auto">
          <a:xfrm>
            <a:off x="1077208" y="5825603"/>
            <a:ext cx="2744341" cy="37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1003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003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003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003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dirty="0" err="1">
                <a:latin typeface="楷体_GB2312"/>
                <a:ea typeface="楷体_GB2312"/>
                <a:cs typeface="楷体_GB2312"/>
              </a:rPr>
              <a:t>偶氮二异</a:t>
            </a:r>
            <a:r>
              <a:rPr lang="zh-CN" altLang="en-US" sz="2177" dirty="0">
                <a:latin typeface="楷体_GB2312"/>
                <a:ea typeface="楷体_GB2312"/>
                <a:cs typeface="楷体_GB2312"/>
              </a:rPr>
              <a:t>庚</a:t>
            </a:r>
            <a:r>
              <a:rPr lang="en-US" altLang="zh-CN" sz="2177" dirty="0">
                <a:latin typeface="楷体_GB2312"/>
                <a:ea typeface="楷体_GB2312"/>
                <a:cs typeface="楷体_GB2312"/>
              </a:rPr>
              <a:t>腈</a:t>
            </a:r>
            <a:r>
              <a:rPr lang="zh-CN" altLang="en-US" sz="2177" dirty="0">
                <a:latin typeface="楷体_GB2312"/>
                <a:ea typeface="楷体_GB2312"/>
                <a:cs typeface="楷体_GB2312"/>
              </a:rPr>
              <a:t>，</a:t>
            </a:r>
            <a:r>
              <a:rPr lang="en-US" altLang="zh-CN" sz="2177" b="1" dirty="0">
                <a:latin typeface="Times New Roman" panose="02020603050405020304" pitchFamily="18" charset="0"/>
                <a:cs typeface="Times New Roman" panose="02020603050405020304" pitchFamily="18" charset="0"/>
              </a:rPr>
              <a:t>ABVN</a:t>
            </a:r>
          </a:p>
        </p:txBody>
      </p:sp>
      <p:sp>
        <p:nvSpPr>
          <p:cNvPr id="53260" name="矩形 13"/>
          <p:cNvSpPr>
            <a:spLocks noChangeArrowheads="1"/>
          </p:cNvSpPr>
          <p:nvPr/>
        </p:nvSpPr>
        <p:spPr bwMode="auto">
          <a:xfrm>
            <a:off x="9275771" y="5825603"/>
            <a:ext cx="814647"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dirty="0" err="1">
                <a:latin typeface="楷体_GB2312"/>
                <a:ea typeface="楷体_GB2312"/>
                <a:cs typeface="楷体_GB2312"/>
              </a:rPr>
              <a:t>活性</a:t>
            </a:r>
            <a:r>
              <a:rPr lang="zh-CN" altLang="en-US" sz="1633" dirty="0">
                <a:latin typeface="楷体_GB2312"/>
                <a:ea typeface="楷体_GB2312"/>
                <a:cs typeface="楷体_GB2312"/>
              </a:rPr>
              <a:t>高</a:t>
            </a:r>
            <a:endParaRPr lang="zh-CN" altLang="en-US" sz="1633" dirty="0"/>
          </a:p>
        </p:txBody>
      </p:sp>
      <p:sp>
        <p:nvSpPr>
          <p:cNvPr id="13" name="TextBox 1"/>
          <p:cNvSpPr txBox="1">
            <a:spLocks noChangeArrowheads="1"/>
          </p:cNvSpPr>
          <p:nvPr/>
        </p:nvSpPr>
        <p:spPr bwMode="auto">
          <a:xfrm>
            <a:off x="4989993" y="470288"/>
            <a:ext cx="1678345" cy="841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3266" b="1" dirty="0">
                <a:latin typeface="Times New Roman" panose="02020603050405020304" pitchFamily="18" charset="0"/>
                <a:cs typeface="Times New Roman" panose="02020603050405020304" pitchFamily="18" charset="0"/>
              </a:rPr>
              <a:t>3. 5</a:t>
            </a:r>
            <a:r>
              <a:rPr lang="en-US" altLang="zh-CN" sz="3266" dirty="0">
                <a:latin typeface="Times New Roman" panose="02020603050405020304" pitchFamily="18" charset="0"/>
                <a:cs typeface="Times New Roman" panose="02020603050405020304" pitchFamily="18" charset="0"/>
              </a:rPr>
              <a:t>  </a:t>
            </a:r>
            <a:r>
              <a:rPr lang="zh-CN" altLang="en-US" sz="3266" dirty="0">
                <a:latin typeface="Times New Roman" panose="02020603050405020304" pitchFamily="18" charset="0"/>
                <a:cs typeface="Times New Roman" panose="02020603050405020304" pitchFamily="18" charset="0"/>
              </a:rPr>
              <a:t>引发</a:t>
            </a:r>
            <a:endParaRPr lang="en-US" altLang="zh-CN" sz="3266" dirty="0">
              <a:latin typeface="Times New Roman" panose="02020603050405020304" pitchFamily="18" charset="0"/>
              <a:cs typeface="Times New Roman" panose="02020603050405020304" pitchFamily="18" charset="0"/>
            </a:endParaRPr>
          </a:p>
          <a:p>
            <a:pPr eaLnBrk="1" hangingPunct="1">
              <a:lnSpc>
                <a:spcPts val="3084"/>
              </a:lnSpc>
            </a:pPr>
            <a:r>
              <a:rPr lang="en-US" altLang="zh-CN" sz="3266" b="1" dirty="0">
                <a:latin typeface="Times New Roman" panose="02020603050405020304" pitchFamily="18" charset="0"/>
                <a:cs typeface="Times New Roman" panose="02020603050405020304" pitchFamily="18" charset="0"/>
              </a:rPr>
              <a:t>Initiation</a:t>
            </a:r>
            <a:endParaRPr lang="en-US" altLang="zh-CN" sz="3266" dirty="0">
              <a:latin typeface="楷体_GB2312"/>
              <a:ea typeface="楷体_GB2312"/>
              <a:cs typeface="楷体_GB2312"/>
            </a:endParaRP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Box 1"/>
          <p:cNvSpPr txBox="1">
            <a:spLocks noChangeArrowheads="1"/>
          </p:cNvSpPr>
          <p:nvPr/>
        </p:nvSpPr>
        <p:spPr bwMode="auto">
          <a:xfrm>
            <a:off x="427714" y="1524558"/>
            <a:ext cx="6275436"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22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22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22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22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22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903" b="1" dirty="0">
                <a:latin typeface="Times New Roman" panose="02020603050405020304" pitchFamily="18" charset="0"/>
                <a:cs typeface="Times New Roman" panose="02020603050405020304" pitchFamily="18" charset="0"/>
              </a:rPr>
              <a:t>2.</a:t>
            </a:r>
            <a:r>
              <a:rPr lang="en-US" altLang="zh-CN" sz="2903" dirty="0">
                <a:latin typeface="Times New Roman" panose="02020603050405020304" pitchFamily="18" charset="0"/>
                <a:cs typeface="Times New Roman" panose="02020603050405020304" pitchFamily="18" charset="0"/>
              </a:rPr>
              <a:t>  </a:t>
            </a:r>
            <a:r>
              <a:rPr lang="en-US" altLang="zh-CN" sz="2903" dirty="0" err="1">
                <a:latin typeface="楷体_GB2312"/>
                <a:ea typeface="楷体_GB2312"/>
                <a:cs typeface="楷体_GB2312"/>
              </a:rPr>
              <a:t>过氧类引发剂（</a:t>
            </a:r>
            <a:r>
              <a:rPr lang="en-US" altLang="zh-CN" sz="2903" b="1" dirty="0" err="1">
                <a:latin typeface="Times New Roman" panose="02020603050405020304" pitchFamily="18" charset="0"/>
                <a:cs typeface="Times New Roman" panose="02020603050405020304" pitchFamily="18" charset="0"/>
              </a:rPr>
              <a:t>Peroxide</a:t>
            </a:r>
            <a:r>
              <a:rPr lang="en-US" altLang="zh-CN" sz="2903" dirty="0">
                <a:latin typeface="Times New Roman" panose="02020603050405020304" pitchFamily="18" charset="0"/>
                <a:cs typeface="Times New Roman" panose="02020603050405020304" pitchFamily="18" charset="0"/>
              </a:rPr>
              <a:t> </a:t>
            </a:r>
            <a:r>
              <a:rPr lang="en-US" altLang="zh-CN" sz="2903" b="1" dirty="0">
                <a:latin typeface="Times New Roman" panose="02020603050405020304" pitchFamily="18" charset="0"/>
                <a:cs typeface="Times New Roman" panose="02020603050405020304" pitchFamily="18" charset="0"/>
              </a:rPr>
              <a:t>Initiator</a:t>
            </a:r>
            <a:r>
              <a:rPr lang="en-US" altLang="zh-CN" sz="2903" dirty="0">
                <a:latin typeface="楷体_GB2312"/>
                <a:ea typeface="楷体_GB2312"/>
                <a:cs typeface="楷体_GB2312"/>
              </a:rPr>
              <a:t>）</a:t>
            </a:r>
          </a:p>
        </p:txBody>
      </p:sp>
      <p:grpSp>
        <p:nvGrpSpPr>
          <p:cNvPr id="54275" name="组合 20"/>
          <p:cNvGrpSpPr>
            <a:grpSpLocks/>
          </p:cNvGrpSpPr>
          <p:nvPr/>
        </p:nvGrpSpPr>
        <p:grpSpPr bwMode="auto">
          <a:xfrm>
            <a:off x="4530644" y="2800241"/>
            <a:ext cx="2933511" cy="405239"/>
            <a:chOff x="3111500" y="3403600"/>
            <a:chExt cx="3233738" cy="445919"/>
          </a:xfrm>
        </p:grpSpPr>
        <p:sp>
          <p:nvSpPr>
            <p:cNvPr id="12" name="Freeform 3"/>
            <p:cNvSpPr/>
            <p:nvPr/>
          </p:nvSpPr>
          <p:spPr>
            <a:xfrm>
              <a:off x="3665537" y="3601686"/>
              <a:ext cx="292100" cy="23770"/>
            </a:xfrm>
            <a:custGeom>
              <a:avLst/>
              <a:gdLst>
                <a:gd name="connsiteX0" fmla="*/ 6350 w 291591"/>
                <a:gd name="connsiteY0" fmla="*/ 6350 h 23863"/>
                <a:gd name="connsiteX1" fmla="*/ 285241 w 291591"/>
                <a:gd name="connsiteY1" fmla="*/ 6350 h 23863"/>
              </a:gdLst>
              <a:ahLst/>
              <a:cxnLst>
                <a:cxn ang="0">
                  <a:pos x="connsiteX0" y="connsiteY0"/>
                </a:cxn>
                <a:cxn ang="1">
                  <a:pos x="connsiteX1" y="connsiteY1"/>
                </a:cxn>
              </a:cxnLst>
              <a:rect l="l" t="t" r="r" b="b"/>
              <a:pathLst>
                <a:path w="291591" h="23863">
                  <a:moveTo>
                    <a:pt x="6350" y="6350"/>
                  </a:moveTo>
                  <a:lnTo>
                    <a:pt x="285241" y="635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4603750" y="3604855"/>
              <a:ext cx="714375" cy="23770"/>
            </a:xfrm>
            <a:custGeom>
              <a:avLst/>
              <a:gdLst>
                <a:gd name="connsiteX0" fmla="*/ 6350 w 714501"/>
                <a:gd name="connsiteY0" fmla="*/ 6350 h 23863"/>
                <a:gd name="connsiteX1" fmla="*/ 708152 w 714501"/>
                <a:gd name="connsiteY1" fmla="*/ 6350 h 23863"/>
              </a:gdLst>
              <a:ahLst/>
              <a:cxnLst>
                <a:cxn ang="0">
                  <a:pos x="connsiteX0" y="connsiteY0"/>
                </a:cxn>
                <a:cxn ang="1">
                  <a:pos x="connsiteX1" y="connsiteY1"/>
                </a:cxn>
              </a:cxnLst>
              <a:rect l="l" t="t" r="r" b="b"/>
              <a:pathLst>
                <a:path w="714501" h="23863">
                  <a:moveTo>
                    <a:pt x="6350" y="6350"/>
                  </a:moveTo>
                  <a:lnTo>
                    <a:pt x="708152" y="635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5083176" y="3538298"/>
              <a:ext cx="234950" cy="145791"/>
            </a:xfrm>
            <a:custGeom>
              <a:avLst/>
              <a:gdLst>
                <a:gd name="connsiteX0" fmla="*/ 229616 w 235965"/>
                <a:gd name="connsiteY0" fmla="*/ 72644 h 146050"/>
                <a:gd name="connsiteX1" fmla="*/ 6350 w 235965"/>
                <a:gd name="connsiteY1" fmla="*/ 139700 h 146050"/>
                <a:gd name="connsiteX2" fmla="*/ 50546 w 235965"/>
                <a:gd name="connsiteY2" fmla="*/ 72644 h 146050"/>
                <a:gd name="connsiteX3" fmla="*/ 6350 w 235965"/>
                <a:gd name="connsiteY3" fmla="*/ 6350 h 146050"/>
                <a:gd name="connsiteX4" fmla="*/ 229616 w 235965"/>
                <a:gd name="connsiteY4" fmla="*/ 72644 h 1460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35965" h="146050">
                  <a:moveTo>
                    <a:pt x="229616" y="72644"/>
                  </a:moveTo>
                  <a:lnTo>
                    <a:pt x="6350" y="139700"/>
                  </a:lnTo>
                  <a:lnTo>
                    <a:pt x="50546" y="72644"/>
                  </a:lnTo>
                  <a:lnTo>
                    <a:pt x="6350" y="6350"/>
                  </a:lnTo>
                  <a:lnTo>
                    <a:pt x="229616" y="72644"/>
                  </a:lnTo>
                </a:path>
              </a:pathLst>
            </a:custGeom>
            <a:solidFill>
              <a:srgbClr val="FFFFFF">
                <a:alpha val="100000"/>
              </a:srgbClr>
            </a:solidFill>
            <a:ln w="12700">
              <a:solidFill>
                <a:srgbClr val="FFFFFF">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5" name="Freeform 3"/>
            <p:cNvSpPr/>
            <p:nvPr/>
          </p:nvSpPr>
          <p:spPr>
            <a:xfrm>
              <a:off x="6278563" y="3511358"/>
              <a:ext cx="66675" cy="66557"/>
            </a:xfrm>
            <a:custGeom>
              <a:avLst/>
              <a:gdLst>
                <a:gd name="connsiteX0" fmla="*/ 59690 w 66040"/>
                <a:gd name="connsiteY0" fmla="*/ 33020 h 66040"/>
                <a:gd name="connsiteX1" fmla="*/ 33032 w 66040"/>
                <a:gd name="connsiteY1" fmla="*/ 6350 h 66040"/>
                <a:gd name="connsiteX2" fmla="*/ 6350 w 66040"/>
                <a:gd name="connsiteY2" fmla="*/ 33020 h 66040"/>
                <a:gd name="connsiteX3" fmla="*/ 33032 w 66040"/>
                <a:gd name="connsiteY3" fmla="*/ 59690 h 66040"/>
                <a:gd name="connsiteX4" fmla="*/ 59690 w 66040"/>
                <a:gd name="connsiteY4" fmla="*/ 33020 h 6604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66040" h="66040">
                  <a:moveTo>
                    <a:pt x="59690" y="33020"/>
                  </a:moveTo>
                  <a:cubicBezTo>
                    <a:pt x="59690" y="17780"/>
                    <a:pt x="47510" y="6350"/>
                    <a:pt x="33032" y="6350"/>
                  </a:cubicBezTo>
                  <a:cubicBezTo>
                    <a:pt x="17792" y="6350"/>
                    <a:pt x="6350" y="17780"/>
                    <a:pt x="6350" y="33020"/>
                  </a:cubicBezTo>
                  <a:cubicBezTo>
                    <a:pt x="6350" y="47498"/>
                    <a:pt x="17792" y="59690"/>
                    <a:pt x="33032" y="59690"/>
                  </a:cubicBezTo>
                  <a:cubicBezTo>
                    <a:pt x="47510" y="59690"/>
                    <a:pt x="59690" y="47498"/>
                    <a:pt x="59690" y="33020"/>
                  </a:cubicBezTo>
                </a:path>
              </a:pathLst>
            </a:custGeom>
            <a:solidFill>
              <a:srgbClr val="FFFFFF">
                <a:alpha val="100000"/>
              </a:srgbClr>
            </a:solidFill>
            <a:ln w="12700">
              <a:solidFill>
                <a:srgbClr val="FFFFFF">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8" name="TextBox 1"/>
            <p:cNvSpPr txBox="1"/>
            <p:nvPr/>
          </p:nvSpPr>
          <p:spPr>
            <a:xfrm>
              <a:off x="3111500" y="3403600"/>
              <a:ext cx="1159192" cy="445919"/>
            </a:xfrm>
            <a:prstGeom prst="rect">
              <a:avLst/>
            </a:prstGeom>
            <a:noFill/>
          </p:spPr>
          <p:txBody>
            <a:bodyPr wrap="none" lIns="0" tIns="0" rIns="0">
              <a:spAutoFit/>
            </a:bodyPr>
            <a:lstStyle/>
            <a:p>
              <a:pPr>
                <a:lnSpc>
                  <a:spcPts val="2812"/>
                </a:lnSpc>
                <a:defRPr/>
              </a:pPr>
              <a:r>
                <a:rPr lang="en-US" altLang="zh-CN" sz="2548" dirty="0">
                  <a:latin typeface="Times New Roman" pitchFamily="18" charset="0"/>
                  <a:cs typeface="Times New Roman" pitchFamily="18" charset="0"/>
                </a:rPr>
                <a:t>HO-OH</a:t>
              </a:r>
            </a:p>
          </p:txBody>
        </p:sp>
        <p:sp>
          <p:nvSpPr>
            <p:cNvPr id="19" name="TextBox 1"/>
            <p:cNvSpPr txBox="1"/>
            <p:nvPr/>
          </p:nvSpPr>
          <p:spPr>
            <a:xfrm>
              <a:off x="5473701" y="3403600"/>
              <a:ext cx="819916" cy="445919"/>
            </a:xfrm>
            <a:prstGeom prst="rect">
              <a:avLst/>
            </a:prstGeom>
            <a:noFill/>
          </p:spPr>
          <p:txBody>
            <a:bodyPr wrap="none" lIns="0" tIns="0" rIns="0">
              <a:spAutoFit/>
            </a:bodyPr>
            <a:lstStyle/>
            <a:p>
              <a:pPr>
                <a:lnSpc>
                  <a:spcPts val="2812"/>
                </a:lnSpc>
                <a:defRPr/>
              </a:pPr>
              <a:r>
                <a:rPr lang="en-US" altLang="zh-CN" sz="2548" dirty="0">
                  <a:latin typeface="Times New Roman" pitchFamily="18" charset="0"/>
                  <a:cs typeface="Times New Roman" pitchFamily="18" charset="0"/>
                </a:rPr>
                <a:t>2HO</a:t>
              </a:r>
              <a:r>
                <a:rPr lang="en-US" altLang="zh-CN" sz="2548" dirty="0">
                  <a:latin typeface="Times New Roman"/>
                  <a:cs typeface="Times New Roman"/>
                </a:rPr>
                <a:t>·</a:t>
              </a:r>
              <a:endParaRPr lang="en-US" altLang="zh-CN" sz="2548" dirty="0">
                <a:latin typeface="Times New Roman" pitchFamily="18" charset="0"/>
                <a:cs typeface="Times New Roman" pitchFamily="18" charset="0"/>
              </a:endParaRPr>
            </a:p>
          </p:txBody>
        </p:sp>
        <p:cxnSp>
          <p:nvCxnSpPr>
            <p:cNvPr id="20" name="直接箭头连接符 19"/>
            <p:cNvCxnSpPr>
              <a:stCxn id="18" idx="3"/>
            </p:cNvCxnSpPr>
            <p:nvPr/>
          </p:nvCxnSpPr>
          <p:spPr>
            <a:xfrm flipV="1">
              <a:off x="4270692" y="3601686"/>
              <a:ext cx="1049020" cy="248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54276" name="矩形 21"/>
          <p:cNvSpPr>
            <a:spLocks noChangeArrowheads="1"/>
          </p:cNvSpPr>
          <p:nvPr/>
        </p:nvSpPr>
        <p:spPr bwMode="auto">
          <a:xfrm>
            <a:off x="795708" y="1938063"/>
            <a:ext cx="11267447" cy="10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622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22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22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22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22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22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720"/>
              </a:lnSpc>
            </a:pPr>
            <a:r>
              <a:rPr lang="en-US" altLang="zh-CN" sz="2540" dirty="0" err="1">
                <a:latin typeface="楷体_GB2312"/>
                <a:ea typeface="楷体_GB2312"/>
                <a:cs typeface="楷体_GB2312"/>
              </a:rPr>
              <a:t>最简单的过氧化物：过氧化氢</a:t>
            </a:r>
            <a:r>
              <a:rPr lang="en-US" altLang="zh-CN" sz="2540" dirty="0"/>
              <a:t> hydrogen peroxide </a:t>
            </a:r>
            <a:r>
              <a:rPr lang="en-US" altLang="zh-CN" sz="2540" dirty="0">
                <a:latin typeface="楷体_GB2312"/>
                <a:ea typeface="楷体_GB2312"/>
                <a:cs typeface="楷体_GB2312"/>
              </a:rPr>
              <a:t>。活化能较高，</a:t>
            </a:r>
            <a:r>
              <a:rPr lang="en-US" altLang="zh-CN" sz="2540" b="1" dirty="0">
                <a:latin typeface="Times New Roman" panose="02020603050405020304" pitchFamily="18" charset="0"/>
                <a:cs typeface="Times New Roman" panose="02020603050405020304" pitchFamily="18" charset="0"/>
              </a:rPr>
              <a:t>220</a:t>
            </a:r>
            <a:r>
              <a:rPr lang="en-US" altLang="zh-CN" sz="2540" dirty="0">
                <a:latin typeface="Times New Roman" panose="02020603050405020304" pitchFamily="18" charset="0"/>
                <a:cs typeface="Times New Roman" panose="02020603050405020304" pitchFamily="18" charset="0"/>
              </a:rPr>
              <a:t> </a:t>
            </a:r>
            <a:r>
              <a:rPr lang="en-US" altLang="zh-CN" sz="2540" b="1" dirty="0">
                <a:latin typeface="Times New Roman" panose="02020603050405020304" pitchFamily="18" charset="0"/>
                <a:cs typeface="Times New Roman" panose="02020603050405020304" pitchFamily="18" charset="0"/>
              </a:rPr>
              <a:t>kJ/</a:t>
            </a:r>
            <a:r>
              <a:rPr lang="en-US" altLang="zh-CN" sz="2540" b="1" dirty="0" err="1">
                <a:latin typeface="Times New Roman" panose="02020603050405020304" pitchFamily="18" charset="0"/>
                <a:cs typeface="Times New Roman" panose="02020603050405020304" pitchFamily="18" charset="0"/>
              </a:rPr>
              <a:t>mol</a:t>
            </a:r>
            <a:r>
              <a:rPr lang="en-US" altLang="zh-CN" sz="2540" dirty="0" err="1">
                <a:latin typeface="楷体_GB2312"/>
                <a:ea typeface="楷体_GB2312"/>
                <a:cs typeface="楷体_GB2312"/>
              </a:rPr>
              <a:t>，一般不单独用作引发剂</a:t>
            </a:r>
            <a:r>
              <a:rPr lang="en-US" altLang="zh-CN" sz="2540" dirty="0">
                <a:latin typeface="楷体_GB2312"/>
                <a:ea typeface="楷体_GB2312"/>
                <a:cs typeface="楷体_GB2312"/>
              </a:rPr>
              <a:t>。</a:t>
            </a:r>
          </a:p>
        </p:txBody>
      </p:sp>
      <p:sp>
        <p:nvSpPr>
          <p:cNvPr id="54277" name="矩形 24"/>
          <p:cNvSpPr>
            <a:spLocks noChangeArrowheads="1"/>
          </p:cNvSpPr>
          <p:nvPr/>
        </p:nvSpPr>
        <p:spPr bwMode="auto">
          <a:xfrm>
            <a:off x="731193" y="3299770"/>
            <a:ext cx="11060071" cy="126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540" dirty="0"/>
              <a:t>过氧化氢分子中一个氢原子被有机基团取代，称为“氢过氧化物”，两个氢原子被取代，称为“有机过氧化物”</a:t>
            </a:r>
            <a:r>
              <a:rPr lang="en-US" altLang="zh-CN" sz="2540" b="1" dirty="0">
                <a:latin typeface="Times New Roman" panose="02020603050405020304" pitchFamily="18" charset="0"/>
                <a:cs typeface="Times New Roman" panose="02020603050405020304" pitchFamily="18" charset="0"/>
              </a:rPr>
              <a:t>(Organic Peroxides)</a:t>
            </a:r>
            <a:r>
              <a:rPr lang="zh-CN" altLang="en-US" sz="2540" dirty="0"/>
              <a:t>。均可用作自由基引发剂。</a:t>
            </a:r>
          </a:p>
        </p:txBody>
      </p:sp>
      <p:sp>
        <p:nvSpPr>
          <p:cNvPr id="16" name="TextBox 1"/>
          <p:cNvSpPr txBox="1">
            <a:spLocks noChangeArrowheads="1"/>
          </p:cNvSpPr>
          <p:nvPr/>
        </p:nvSpPr>
        <p:spPr bwMode="auto">
          <a:xfrm>
            <a:off x="4941483" y="699356"/>
            <a:ext cx="1678345" cy="841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3266" b="1" dirty="0">
                <a:latin typeface="Times New Roman" panose="02020603050405020304" pitchFamily="18" charset="0"/>
                <a:cs typeface="Times New Roman" panose="02020603050405020304" pitchFamily="18" charset="0"/>
              </a:rPr>
              <a:t>3. 5</a:t>
            </a:r>
            <a:r>
              <a:rPr lang="en-US" altLang="zh-CN" sz="3266" dirty="0">
                <a:latin typeface="Times New Roman" panose="02020603050405020304" pitchFamily="18" charset="0"/>
                <a:cs typeface="Times New Roman" panose="02020603050405020304" pitchFamily="18" charset="0"/>
              </a:rPr>
              <a:t>  </a:t>
            </a:r>
            <a:r>
              <a:rPr lang="zh-CN" altLang="en-US" sz="3266" dirty="0">
                <a:latin typeface="Times New Roman" panose="02020603050405020304" pitchFamily="18" charset="0"/>
                <a:cs typeface="Times New Roman" panose="02020603050405020304" pitchFamily="18" charset="0"/>
              </a:rPr>
              <a:t>引发</a:t>
            </a:r>
            <a:endParaRPr lang="en-US" altLang="zh-CN" sz="3266" dirty="0">
              <a:latin typeface="Times New Roman" panose="02020603050405020304" pitchFamily="18" charset="0"/>
              <a:cs typeface="Times New Roman" panose="02020603050405020304" pitchFamily="18" charset="0"/>
            </a:endParaRPr>
          </a:p>
          <a:p>
            <a:pPr eaLnBrk="1" hangingPunct="1">
              <a:lnSpc>
                <a:spcPts val="3084"/>
              </a:lnSpc>
            </a:pPr>
            <a:r>
              <a:rPr lang="en-US" altLang="zh-CN" sz="3266" b="1" dirty="0">
                <a:latin typeface="Times New Roman" panose="02020603050405020304" pitchFamily="18" charset="0"/>
                <a:cs typeface="Times New Roman" panose="02020603050405020304" pitchFamily="18" charset="0"/>
              </a:rPr>
              <a:t>Initiation</a:t>
            </a:r>
            <a:endParaRPr lang="en-US" altLang="zh-CN" sz="3266" dirty="0">
              <a:latin typeface="楷体_GB2312"/>
              <a:ea typeface="楷体_GB2312"/>
              <a:cs typeface="楷体_GB2312"/>
            </a:endParaRPr>
          </a:p>
        </p:txBody>
      </p:sp>
      <p:sp>
        <p:nvSpPr>
          <p:cNvPr id="17" name="TextBox 1"/>
          <p:cNvSpPr txBox="1">
            <a:spLocks noChangeArrowheads="1"/>
          </p:cNvSpPr>
          <p:nvPr/>
        </p:nvSpPr>
        <p:spPr bwMode="auto">
          <a:xfrm>
            <a:off x="808848" y="4843621"/>
            <a:ext cx="6250109" cy="146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00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00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00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00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00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540" dirty="0" err="1">
                <a:latin typeface="楷体_GB2312"/>
                <a:ea typeface="楷体_GB2312"/>
                <a:cs typeface="楷体_GB2312"/>
              </a:rPr>
              <a:t>过氧化类引发剂的典型代表</a:t>
            </a:r>
            <a:r>
              <a:rPr lang="en-US" altLang="zh-CN" sz="2540" dirty="0">
                <a:latin typeface="楷体_GB2312"/>
                <a:ea typeface="楷体_GB2312"/>
                <a:cs typeface="楷体_GB2312"/>
              </a:rPr>
              <a:t>：</a:t>
            </a:r>
          </a:p>
          <a:p>
            <a:pPr eaLnBrk="1" hangingPunct="1">
              <a:lnSpc>
                <a:spcPts val="907"/>
              </a:lnSpc>
            </a:pPr>
            <a:endParaRPr lang="en-US" altLang="zh-CN" sz="1452" dirty="0"/>
          </a:p>
          <a:p>
            <a:pPr eaLnBrk="1" hangingPunct="1">
              <a:lnSpc>
                <a:spcPts val="3357"/>
              </a:lnSpc>
            </a:pPr>
            <a:r>
              <a:rPr lang="en-US" altLang="zh-CN" sz="1452" dirty="0"/>
              <a:t>	</a:t>
            </a:r>
            <a:r>
              <a:rPr lang="en-US" altLang="zh-CN" sz="2177" dirty="0" err="1">
                <a:latin typeface="楷体_GB2312"/>
                <a:ea typeface="楷体_GB2312"/>
                <a:cs typeface="楷体_GB2312"/>
              </a:rPr>
              <a:t>过氧化二苯甲酰（</a:t>
            </a:r>
            <a:r>
              <a:rPr lang="en-US" altLang="zh-CN" sz="2177" dirty="0" err="1">
                <a:latin typeface="Times New Roman" panose="02020603050405020304" pitchFamily="18" charset="0"/>
                <a:ea typeface="楷体_GB2312"/>
                <a:cs typeface="Times New Roman" panose="02020603050405020304" pitchFamily="18" charset="0"/>
              </a:rPr>
              <a:t>Dibenzoyl</a:t>
            </a:r>
            <a:r>
              <a:rPr lang="en-US" altLang="zh-CN" sz="2177" dirty="0">
                <a:latin typeface="Times New Roman" panose="02020603050405020304" pitchFamily="18" charset="0"/>
                <a:ea typeface="楷体_GB2312"/>
                <a:cs typeface="Times New Roman" panose="02020603050405020304" pitchFamily="18" charset="0"/>
              </a:rPr>
              <a:t> peroxide,</a:t>
            </a:r>
            <a:r>
              <a:rPr lang="en-US" altLang="zh-CN" sz="2177" dirty="0">
                <a:latin typeface="楷体_GB2312"/>
                <a:ea typeface="楷体_GB2312"/>
                <a:cs typeface="楷体_GB2312"/>
              </a:rPr>
              <a:t> </a:t>
            </a:r>
            <a:r>
              <a:rPr lang="en-US" altLang="zh-CN" sz="2177" b="1" dirty="0">
                <a:latin typeface="Times New Roman" panose="02020603050405020304" pitchFamily="18" charset="0"/>
                <a:cs typeface="Times New Roman" panose="02020603050405020304" pitchFamily="18" charset="0"/>
              </a:rPr>
              <a:t>BPO</a:t>
            </a:r>
            <a:r>
              <a:rPr lang="en-US" altLang="zh-CN" sz="2177" dirty="0">
                <a:latin typeface="楷体_GB2312"/>
                <a:ea typeface="楷体_GB2312"/>
                <a:cs typeface="楷体_GB2312"/>
              </a:rPr>
              <a:t>）</a:t>
            </a:r>
          </a:p>
          <a:p>
            <a:pPr eaLnBrk="1" hangingPunct="1">
              <a:lnSpc>
                <a:spcPts val="907"/>
              </a:lnSpc>
            </a:pPr>
            <a:endParaRPr lang="en-US" altLang="zh-CN" sz="1452" dirty="0"/>
          </a:p>
          <a:p>
            <a:pPr eaLnBrk="1" hangingPunct="1">
              <a:lnSpc>
                <a:spcPts val="3357"/>
              </a:lnSpc>
            </a:pPr>
            <a:r>
              <a:rPr lang="en-US" altLang="zh-CN" sz="1452" dirty="0"/>
              <a:t>	</a:t>
            </a:r>
            <a:r>
              <a:rPr lang="en-US" altLang="zh-CN" sz="2177" dirty="0">
                <a:latin typeface="楷体_GB2312"/>
                <a:ea typeface="楷体_GB2312"/>
                <a:cs typeface="楷体_GB2312"/>
              </a:rPr>
              <a:t>分解温度：</a:t>
            </a:r>
            <a:r>
              <a:rPr lang="en-US" altLang="zh-CN" sz="2177" b="1" dirty="0">
                <a:latin typeface="Times New Roman" panose="02020603050405020304" pitchFamily="18" charset="0"/>
                <a:cs typeface="Times New Roman" panose="02020603050405020304" pitchFamily="18" charset="0"/>
              </a:rPr>
              <a:t>60</a:t>
            </a:r>
            <a:r>
              <a:rPr lang="en-US" altLang="zh-CN" sz="2177" dirty="0">
                <a:latin typeface="楷体_GB2312"/>
                <a:ea typeface="楷体_GB2312"/>
                <a:cs typeface="楷体_GB2312"/>
              </a:rPr>
              <a:t>～</a:t>
            </a:r>
            <a:r>
              <a:rPr lang="en-US" altLang="zh-CN" sz="2177" b="1" dirty="0">
                <a:latin typeface="Times New Roman" panose="02020603050405020304" pitchFamily="18" charset="0"/>
                <a:cs typeface="Times New Roman" panose="02020603050405020304" pitchFamily="18" charset="0"/>
              </a:rPr>
              <a:t>80</a:t>
            </a:r>
            <a:r>
              <a:rPr lang="en-US" altLang="zh-CN" sz="2177" dirty="0">
                <a:latin typeface="楷体_GB2312"/>
                <a:ea typeface="楷体_GB2312"/>
                <a:cs typeface="楷体_GB2312"/>
              </a:rPr>
              <a:t>℃，解离能</a:t>
            </a:r>
            <a:r>
              <a:rPr lang="en-US" altLang="zh-CN" sz="2177" b="1" dirty="0">
                <a:latin typeface="Times New Roman" panose="02020603050405020304" pitchFamily="18" charset="0"/>
                <a:cs typeface="Times New Roman" panose="02020603050405020304" pitchFamily="18" charset="0"/>
              </a:rPr>
              <a:t>124kJ/</a:t>
            </a:r>
            <a:r>
              <a:rPr lang="en-US" altLang="zh-CN" sz="2177" b="1" dirty="0" err="1">
                <a:latin typeface="Times New Roman" panose="02020603050405020304" pitchFamily="18" charset="0"/>
                <a:cs typeface="Times New Roman" panose="02020603050405020304" pitchFamily="18" charset="0"/>
              </a:rPr>
              <a:t>mol</a:t>
            </a:r>
            <a:r>
              <a:rPr lang="en-US" altLang="zh-CN" sz="2177" dirty="0">
                <a:latin typeface="楷体_GB2312"/>
                <a:ea typeface="楷体_GB2312"/>
                <a:cs typeface="楷体_GB2312"/>
              </a:rPr>
              <a:t>。</a:t>
            </a:r>
          </a:p>
        </p:txBody>
      </p:sp>
      <p:grpSp>
        <p:nvGrpSpPr>
          <p:cNvPr id="21" name="组合 20"/>
          <p:cNvGrpSpPr/>
          <p:nvPr/>
        </p:nvGrpSpPr>
        <p:grpSpPr>
          <a:xfrm>
            <a:off x="5165734" y="4491106"/>
            <a:ext cx="6731297" cy="817930"/>
            <a:chOff x="2984501" y="5154613"/>
            <a:chExt cx="7420204" cy="901640"/>
          </a:xfrm>
        </p:grpSpPr>
        <p:sp>
          <p:nvSpPr>
            <p:cNvPr id="22" name="Freeform 3"/>
            <p:cNvSpPr/>
            <p:nvPr/>
          </p:nvSpPr>
          <p:spPr>
            <a:xfrm>
              <a:off x="3325812" y="5154615"/>
              <a:ext cx="127000" cy="211137"/>
            </a:xfrm>
            <a:custGeom>
              <a:avLst/>
              <a:gdLst>
                <a:gd name="connsiteX0" fmla="*/ 121411 w 127762"/>
                <a:gd name="connsiteY0" fmla="*/ 205232 h 211581"/>
                <a:gd name="connsiteX1" fmla="*/ 6350 w 127762"/>
                <a:gd name="connsiteY1" fmla="*/ 6350 h 211581"/>
              </a:gdLst>
              <a:ahLst/>
              <a:cxnLst>
                <a:cxn ang="0">
                  <a:pos x="connsiteX0" y="connsiteY0"/>
                </a:cxn>
                <a:cxn ang="1">
                  <a:pos x="connsiteX1" y="connsiteY1"/>
                </a:cxn>
              </a:cxnLst>
              <a:rect l="l" t="t" r="r" b="b"/>
              <a:pathLst>
                <a:path w="127762" h="211581">
                  <a:moveTo>
                    <a:pt x="121411" y="205232"/>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3" name="Freeform 3"/>
            <p:cNvSpPr/>
            <p:nvPr/>
          </p:nvSpPr>
          <p:spPr>
            <a:xfrm>
              <a:off x="3316289" y="5191125"/>
              <a:ext cx="100013" cy="165100"/>
            </a:xfrm>
            <a:custGeom>
              <a:avLst/>
              <a:gdLst>
                <a:gd name="connsiteX0" fmla="*/ 93980 w 100330"/>
                <a:gd name="connsiteY0" fmla="*/ 158750 h 165100"/>
                <a:gd name="connsiteX1" fmla="*/ 6350 w 100330"/>
                <a:gd name="connsiteY1" fmla="*/ 6350 h 165100"/>
              </a:gdLst>
              <a:ahLst/>
              <a:cxnLst>
                <a:cxn ang="0">
                  <a:pos x="connsiteX0" y="connsiteY0"/>
                </a:cxn>
                <a:cxn ang="1">
                  <a:pos x="connsiteX1" y="connsiteY1"/>
                </a:cxn>
              </a:cxnLst>
              <a:rect l="l" t="t" r="r" b="b"/>
              <a:pathLst>
                <a:path w="100330" h="165100">
                  <a:moveTo>
                    <a:pt x="93980" y="1587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4" name="Freeform 3"/>
            <p:cNvSpPr/>
            <p:nvPr/>
          </p:nvSpPr>
          <p:spPr>
            <a:xfrm>
              <a:off x="3325812" y="5353050"/>
              <a:ext cx="127000" cy="211138"/>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5" name="Freeform 3"/>
            <p:cNvSpPr/>
            <p:nvPr/>
          </p:nvSpPr>
          <p:spPr>
            <a:xfrm>
              <a:off x="3098800" y="5551490"/>
              <a:ext cx="239712" cy="20637"/>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6" name="Freeform 3"/>
            <p:cNvSpPr/>
            <p:nvPr/>
          </p:nvSpPr>
          <p:spPr>
            <a:xfrm>
              <a:off x="3125787" y="5524500"/>
              <a:ext cx="185738" cy="20638"/>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7" name="Freeform 3"/>
            <p:cNvSpPr/>
            <p:nvPr/>
          </p:nvSpPr>
          <p:spPr>
            <a:xfrm>
              <a:off x="2984501" y="5353050"/>
              <a:ext cx="127000" cy="211138"/>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8" name="Freeform 3"/>
            <p:cNvSpPr/>
            <p:nvPr/>
          </p:nvSpPr>
          <p:spPr>
            <a:xfrm>
              <a:off x="2984501" y="5154615"/>
              <a:ext cx="127000" cy="211137"/>
            </a:xfrm>
            <a:custGeom>
              <a:avLst/>
              <a:gdLst>
                <a:gd name="connsiteX0" fmla="*/ 120650 w 127000"/>
                <a:gd name="connsiteY0" fmla="*/ 6350 h 211581"/>
                <a:gd name="connsiteX1" fmla="*/ 6350 w 127000"/>
                <a:gd name="connsiteY1" fmla="*/ 205232 h 211581"/>
              </a:gdLst>
              <a:ahLst/>
              <a:cxnLst>
                <a:cxn ang="0">
                  <a:pos x="connsiteX0" y="connsiteY0"/>
                </a:cxn>
                <a:cxn ang="1">
                  <a:pos x="connsiteX1" y="connsiteY1"/>
                </a:cxn>
              </a:cxnLst>
              <a:rect l="l" t="t" r="r" b="b"/>
              <a:pathLst>
                <a:path w="127000" h="211581">
                  <a:moveTo>
                    <a:pt x="120650" y="6350"/>
                  </a:moveTo>
                  <a:lnTo>
                    <a:pt x="6350" y="20523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9" name="Freeform 3"/>
            <p:cNvSpPr/>
            <p:nvPr/>
          </p:nvSpPr>
          <p:spPr>
            <a:xfrm>
              <a:off x="3021012" y="5191125"/>
              <a:ext cx="101600" cy="165100"/>
            </a:xfrm>
            <a:custGeom>
              <a:avLst/>
              <a:gdLst>
                <a:gd name="connsiteX0" fmla="*/ 93979 w 100330"/>
                <a:gd name="connsiteY0" fmla="*/ 6350 h 165100"/>
                <a:gd name="connsiteX1" fmla="*/ 6350 w 100330"/>
                <a:gd name="connsiteY1" fmla="*/ 158750 h 165100"/>
              </a:gdLst>
              <a:ahLst/>
              <a:cxnLst>
                <a:cxn ang="0">
                  <a:pos x="connsiteX0" y="connsiteY0"/>
                </a:cxn>
                <a:cxn ang="1">
                  <a:pos x="connsiteX1" y="connsiteY1"/>
                </a:cxn>
              </a:cxnLst>
              <a:rect l="l" t="t" r="r" b="b"/>
              <a:pathLst>
                <a:path w="100330" h="165100">
                  <a:moveTo>
                    <a:pt x="93979" y="6350"/>
                  </a:moveTo>
                  <a:lnTo>
                    <a:pt x="6350" y="1587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0" name="Freeform 3"/>
            <p:cNvSpPr/>
            <p:nvPr/>
          </p:nvSpPr>
          <p:spPr>
            <a:xfrm>
              <a:off x="3098800" y="5154613"/>
              <a:ext cx="239712"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1" name="Freeform 3"/>
            <p:cNvSpPr/>
            <p:nvPr/>
          </p:nvSpPr>
          <p:spPr>
            <a:xfrm>
              <a:off x="3436939" y="5351465"/>
              <a:ext cx="188913" cy="20637"/>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2" name="Freeform 3"/>
            <p:cNvSpPr/>
            <p:nvPr/>
          </p:nvSpPr>
          <p:spPr>
            <a:xfrm>
              <a:off x="3832225" y="5351465"/>
              <a:ext cx="190500" cy="20637"/>
            </a:xfrm>
            <a:custGeom>
              <a:avLst/>
              <a:gdLst>
                <a:gd name="connsiteX0" fmla="*/ 6350 w 190245"/>
                <a:gd name="connsiteY0" fmla="*/ 6350 h 19773"/>
                <a:gd name="connsiteX1" fmla="*/ 183895 w 190245"/>
                <a:gd name="connsiteY1" fmla="*/ 6350 h 19773"/>
              </a:gdLst>
              <a:ahLst/>
              <a:cxnLst>
                <a:cxn ang="0">
                  <a:pos x="connsiteX0" y="connsiteY0"/>
                </a:cxn>
                <a:cxn ang="1">
                  <a:pos x="connsiteX1" y="connsiteY1"/>
                </a:cxn>
              </a:cxnLst>
              <a:rect l="l" t="t" r="r" b="b"/>
              <a:pathLst>
                <a:path w="190245" h="19773">
                  <a:moveTo>
                    <a:pt x="6350" y="6350"/>
                  </a:moveTo>
                  <a:lnTo>
                    <a:pt x="18389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3" name="Freeform 3"/>
            <p:cNvSpPr/>
            <p:nvPr/>
          </p:nvSpPr>
          <p:spPr>
            <a:xfrm>
              <a:off x="3711577" y="5473702"/>
              <a:ext cx="20637"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4" name="Freeform 3"/>
            <p:cNvSpPr/>
            <p:nvPr/>
          </p:nvSpPr>
          <p:spPr>
            <a:xfrm>
              <a:off x="3757612" y="5473702"/>
              <a:ext cx="20638"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5" name="Freeform 3"/>
            <p:cNvSpPr/>
            <p:nvPr/>
          </p:nvSpPr>
          <p:spPr>
            <a:xfrm>
              <a:off x="4229100" y="5365750"/>
              <a:ext cx="190500" cy="20638"/>
            </a:xfrm>
            <a:custGeom>
              <a:avLst/>
              <a:gdLst>
                <a:gd name="connsiteX0" fmla="*/ 6350 w 190245"/>
                <a:gd name="connsiteY0" fmla="*/ 6350 h 19773"/>
                <a:gd name="connsiteX1" fmla="*/ 183895 w 190245"/>
                <a:gd name="connsiteY1" fmla="*/ 6350 h 19773"/>
              </a:gdLst>
              <a:ahLst/>
              <a:cxnLst>
                <a:cxn ang="0">
                  <a:pos x="connsiteX0" y="connsiteY0"/>
                </a:cxn>
                <a:cxn ang="1">
                  <a:pos x="connsiteX1" y="connsiteY1"/>
                </a:cxn>
              </a:cxnLst>
              <a:rect l="l" t="t" r="r" b="b"/>
              <a:pathLst>
                <a:path w="190245" h="19773">
                  <a:moveTo>
                    <a:pt x="6350" y="6350"/>
                  </a:moveTo>
                  <a:lnTo>
                    <a:pt x="18389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6" name="Freeform 3"/>
            <p:cNvSpPr/>
            <p:nvPr/>
          </p:nvSpPr>
          <p:spPr>
            <a:xfrm>
              <a:off x="4625975" y="5365750"/>
              <a:ext cx="188912" cy="20638"/>
            </a:xfrm>
            <a:custGeom>
              <a:avLst/>
              <a:gdLst>
                <a:gd name="connsiteX0" fmla="*/ 6350 w 189484"/>
                <a:gd name="connsiteY0" fmla="*/ 6350 h 19773"/>
                <a:gd name="connsiteX1" fmla="*/ 183134 w 189484"/>
                <a:gd name="connsiteY1" fmla="*/ 6350 h 19773"/>
              </a:gdLst>
              <a:ahLst/>
              <a:cxnLst>
                <a:cxn ang="0">
                  <a:pos x="connsiteX0" y="connsiteY0"/>
                </a:cxn>
                <a:cxn ang="1">
                  <a:pos x="connsiteX1" y="connsiteY1"/>
                </a:cxn>
              </a:cxnLst>
              <a:rect l="l" t="t" r="r" b="b"/>
              <a:pathLst>
                <a:path w="189484" h="19773">
                  <a:moveTo>
                    <a:pt x="6350" y="6350"/>
                  </a:moveTo>
                  <a:lnTo>
                    <a:pt x="18313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7" name="Freeform 3"/>
            <p:cNvSpPr/>
            <p:nvPr/>
          </p:nvSpPr>
          <p:spPr>
            <a:xfrm>
              <a:off x="4887913" y="5502277"/>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8" name="Freeform 3"/>
            <p:cNvSpPr/>
            <p:nvPr/>
          </p:nvSpPr>
          <p:spPr>
            <a:xfrm>
              <a:off x="4932362" y="5502277"/>
              <a:ext cx="20638"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9" name="Freeform 3"/>
            <p:cNvSpPr/>
            <p:nvPr/>
          </p:nvSpPr>
          <p:spPr>
            <a:xfrm>
              <a:off x="5021262" y="5365750"/>
              <a:ext cx="190500" cy="20638"/>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0" name="Freeform 3"/>
            <p:cNvSpPr/>
            <p:nvPr/>
          </p:nvSpPr>
          <p:spPr>
            <a:xfrm>
              <a:off x="5519738" y="5168900"/>
              <a:ext cx="127000" cy="211138"/>
            </a:xfrm>
            <a:custGeom>
              <a:avLst/>
              <a:gdLst>
                <a:gd name="connsiteX0" fmla="*/ 120650 w 127000"/>
                <a:gd name="connsiteY0" fmla="*/ 205994 h 212344"/>
                <a:gd name="connsiteX1" fmla="*/ 6350 w 127000"/>
                <a:gd name="connsiteY1" fmla="*/ 6350 h 212344"/>
              </a:gdLst>
              <a:ahLst/>
              <a:cxnLst>
                <a:cxn ang="0">
                  <a:pos x="connsiteX0" y="connsiteY0"/>
                </a:cxn>
                <a:cxn ang="1">
                  <a:pos x="connsiteX1" y="connsiteY1"/>
                </a:cxn>
              </a:cxnLst>
              <a:rect l="l" t="t" r="r" b="b"/>
              <a:pathLst>
                <a:path w="127000" h="212344">
                  <a:moveTo>
                    <a:pt x="120650" y="205994"/>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1" name="Freeform 3"/>
            <p:cNvSpPr/>
            <p:nvPr/>
          </p:nvSpPr>
          <p:spPr>
            <a:xfrm>
              <a:off x="5510214" y="5205413"/>
              <a:ext cx="100013" cy="165100"/>
            </a:xfrm>
            <a:custGeom>
              <a:avLst/>
              <a:gdLst>
                <a:gd name="connsiteX0" fmla="*/ 93979 w 100330"/>
                <a:gd name="connsiteY0" fmla="*/ 159511 h 165862"/>
                <a:gd name="connsiteX1" fmla="*/ 6350 w 100330"/>
                <a:gd name="connsiteY1" fmla="*/ 6350 h 165862"/>
              </a:gdLst>
              <a:ahLst/>
              <a:cxnLst>
                <a:cxn ang="0">
                  <a:pos x="connsiteX0" y="connsiteY0"/>
                </a:cxn>
                <a:cxn ang="1">
                  <a:pos x="connsiteX1" y="connsiteY1"/>
                </a:cxn>
              </a:cxnLst>
              <a:rect l="l" t="t" r="r" b="b"/>
              <a:pathLst>
                <a:path w="100330" h="165862">
                  <a:moveTo>
                    <a:pt x="93979" y="159511"/>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2" name="Freeform 3"/>
            <p:cNvSpPr/>
            <p:nvPr/>
          </p:nvSpPr>
          <p:spPr>
            <a:xfrm>
              <a:off x="5519738" y="5367340"/>
              <a:ext cx="127000" cy="211137"/>
            </a:xfrm>
            <a:custGeom>
              <a:avLst/>
              <a:gdLst>
                <a:gd name="connsiteX0" fmla="*/ 6350 w 127000"/>
                <a:gd name="connsiteY0" fmla="*/ 204470 h 210820"/>
                <a:gd name="connsiteX1" fmla="*/ 120650 w 127000"/>
                <a:gd name="connsiteY1" fmla="*/ 6350 h 210820"/>
              </a:gdLst>
              <a:ahLst/>
              <a:cxnLst>
                <a:cxn ang="0">
                  <a:pos x="connsiteX0" y="connsiteY0"/>
                </a:cxn>
                <a:cxn ang="1">
                  <a:pos x="connsiteX1" y="connsiteY1"/>
                </a:cxn>
              </a:cxnLst>
              <a:rect l="l" t="t" r="r" b="b"/>
              <a:pathLst>
                <a:path w="127000" h="210820">
                  <a:moveTo>
                    <a:pt x="6350" y="204470"/>
                  </a:moveTo>
                  <a:lnTo>
                    <a:pt x="1206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3" name="Freeform 3"/>
            <p:cNvSpPr/>
            <p:nvPr/>
          </p:nvSpPr>
          <p:spPr>
            <a:xfrm>
              <a:off x="5292725" y="5565775"/>
              <a:ext cx="239712" cy="20638"/>
            </a:xfrm>
            <a:custGeom>
              <a:avLst/>
              <a:gdLst>
                <a:gd name="connsiteX0" fmla="*/ 6350 w 239775"/>
                <a:gd name="connsiteY0" fmla="*/ 6350 h 19773"/>
                <a:gd name="connsiteX1" fmla="*/ 233426 w 239775"/>
                <a:gd name="connsiteY1" fmla="*/ 6350 h 19773"/>
              </a:gdLst>
              <a:ahLst/>
              <a:cxnLst>
                <a:cxn ang="0">
                  <a:pos x="connsiteX0" y="connsiteY0"/>
                </a:cxn>
                <a:cxn ang="1">
                  <a:pos x="connsiteX1" y="connsiteY1"/>
                </a:cxn>
              </a:cxnLst>
              <a:rect l="l" t="t" r="r" b="b"/>
              <a:pathLst>
                <a:path w="239775" h="19773">
                  <a:moveTo>
                    <a:pt x="6350" y="6350"/>
                  </a:moveTo>
                  <a:lnTo>
                    <a:pt x="2334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4" name="Freeform 3"/>
            <p:cNvSpPr/>
            <p:nvPr/>
          </p:nvSpPr>
          <p:spPr>
            <a:xfrm>
              <a:off x="5321300" y="5538788"/>
              <a:ext cx="184150" cy="19050"/>
            </a:xfrm>
            <a:custGeom>
              <a:avLst/>
              <a:gdLst>
                <a:gd name="connsiteX0" fmla="*/ 6350 w 184912"/>
                <a:gd name="connsiteY0" fmla="*/ 6350 h 19773"/>
                <a:gd name="connsiteX1" fmla="*/ 178561 w 184912"/>
                <a:gd name="connsiteY1" fmla="*/ 6350 h 19773"/>
              </a:gdLst>
              <a:ahLst/>
              <a:cxnLst>
                <a:cxn ang="0">
                  <a:pos x="connsiteX0" y="connsiteY0"/>
                </a:cxn>
                <a:cxn ang="1">
                  <a:pos x="connsiteX1" y="connsiteY1"/>
                </a:cxn>
              </a:cxnLst>
              <a:rect l="l" t="t" r="r" b="b"/>
              <a:pathLst>
                <a:path w="184912" h="19773">
                  <a:moveTo>
                    <a:pt x="6350" y="6350"/>
                  </a:moveTo>
                  <a:lnTo>
                    <a:pt x="17856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5" name="Freeform 3"/>
            <p:cNvSpPr/>
            <p:nvPr/>
          </p:nvSpPr>
          <p:spPr>
            <a:xfrm>
              <a:off x="5178425" y="5367340"/>
              <a:ext cx="127000" cy="211137"/>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6" name="Freeform 3"/>
            <p:cNvSpPr/>
            <p:nvPr/>
          </p:nvSpPr>
          <p:spPr>
            <a:xfrm>
              <a:off x="5178425" y="5168900"/>
              <a:ext cx="127000" cy="211138"/>
            </a:xfrm>
            <a:custGeom>
              <a:avLst/>
              <a:gdLst>
                <a:gd name="connsiteX0" fmla="*/ 120650 w 127000"/>
                <a:gd name="connsiteY0" fmla="*/ 6350 h 212344"/>
                <a:gd name="connsiteX1" fmla="*/ 6350 w 127000"/>
                <a:gd name="connsiteY1" fmla="*/ 205994 h 212344"/>
              </a:gdLst>
              <a:ahLst/>
              <a:cxnLst>
                <a:cxn ang="0">
                  <a:pos x="connsiteX0" y="connsiteY0"/>
                </a:cxn>
                <a:cxn ang="1">
                  <a:pos x="connsiteX1" y="connsiteY1"/>
                </a:cxn>
              </a:cxnLst>
              <a:rect l="l" t="t" r="r" b="b"/>
              <a:pathLst>
                <a:path w="127000" h="212344">
                  <a:moveTo>
                    <a:pt x="120650" y="6350"/>
                  </a:moveTo>
                  <a:lnTo>
                    <a:pt x="6350" y="20599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7" name="Freeform 3"/>
            <p:cNvSpPr/>
            <p:nvPr/>
          </p:nvSpPr>
          <p:spPr>
            <a:xfrm>
              <a:off x="5214937" y="5205413"/>
              <a:ext cx="101600" cy="165100"/>
            </a:xfrm>
            <a:custGeom>
              <a:avLst/>
              <a:gdLst>
                <a:gd name="connsiteX0" fmla="*/ 93979 w 100330"/>
                <a:gd name="connsiteY0" fmla="*/ 6350 h 165862"/>
                <a:gd name="connsiteX1" fmla="*/ 6350 w 100330"/>
                <a:gd name="connsiteY1" fmla="*/ 159511 h 165862"/>
              </a:gdLst>
              <a:ahLst/>
              <a:cxnLst>
                <a:cxn ang="0">
                  <a:pos x="connsiteX0" y="connsiteY0"/>
                </a:cxn>
                <a:cxn ang="1">
                  <a:pos x="connsiteX1" y="connsiteY1"/>
                </a:cxn>
              </a:cxnLst>
              <a:rect l="l" t="t" r="r" b="b"/>
              <a:pathLst>
                <a:path w="100330" h="165862">
                  <a:moveTo>
                    <a:pt x="93979" y="6350"/>
                  </a:moveTo>
                  <a:lnTo>
                    <a:pt x="6350" y="15951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8" name="Freeform 3"/>
            <p:cNvSpPr/>
            <p:nvPr/>
          </p:nvSpPr>
          <p:spPr>
            <a:xfrm>
              <a:off x="5292725" y="5168900"/>
              <a:ext cx="239712" cy="19050"/>
            </a:xfrm>
            <a:custGeom>
              <a:avLst/>
              <a:gdLst>
                <a:gd name="connsiteX0" fmla="*/ 233426 w 239775"/>
                <a:gd name="connsiteY0" fmla="*/ 6350 h 19773"/>
                <a:gd name="connsiteX1" fmla="*/ 6350 w 239775"/>
                <a:gd name="connsiteY1" fmla="*/ 6350 h 19773"/>
              </a:gdLst>
              <a:ahLst/>
              <a:cxnLst>
                <a:cxn ang="0">
                  <a:pos x="connsiteX0" y="connsiteY0"/>
                </a:cxn>
                <a:cxn ang="1">
                  <a:pos x="connsiteX1" y="connsiteY1"/>
                </a:cxn>
              </a:cxnLst>
              <a:rect l="l" t="t" r="r" b="b"/>
              <a:pathLst>
                <a:path w="239775" h="19773">
                  <a:moveTo>
                    <a:pt x="233426"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9" name="Freeform 3"/>
            <p:cNvSpPr/>
            <p:nvPr/>
          </p:nvSpPr>
          <p:spPr>
            <a:xfrm>
              <a:off x="5773739" y="5365750"/>
              <a:ext cx="468313" cy="20638"/>
            </a:xfrm>
            <a:custGeom>
              <a:avLst/>
              <a:gdLst>
                <a:gd name="connsiteX0" fmla="*/ 6350 w 468376"/>
                <a:gd name="connsiteY0" fmla="*/ 6350 h 19773"/>
                <a:gd name="connsiteX1" fmla="*/ 462026 w 468376"/>
                <a:gd name="connsiteY1" fmla="*/ 6350 h 19773"/>
              </a:gdLst>
              <a:ahLst/>
              <a:cxnLst>
                <a:cxn ang="0">
                  <a:pos x="connsiteX0" y="connsiteY0"/>
                </a:cxn>
                <a:cxn ang="1">
                  <a:pos x="connsiteX1" y="connsiteY1"/>
                </a:cxn>
              </a:cxnLst>
              <a:rect l="l" t="t" r="r" b="b"/>
              <a:pathLst>
                <a:path w="468376" h="19773">
                  <a:moveTo>
                    <a:pt x="6350" y="6350"/>
                  </a:moveTo>
                  <a:lnTo>
                    <a:pt x="4620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0" name="Freeform 3"/>
            <p:cNvSpPr/>
            <p:nvPr/>
          </p:nvSpPr>
          <p:spPr>
            <a:xfrm>
              <a:off x="6088063" y="5324476"/>
              <a:ext cx="153988" cy="96838"/>
            </a:xfrm>
            <a:custGeom>
              <a:avLst/>
              <a:gdLst>
                <a:gd name="connsiteX0" fmla="*/ 147320 w 153670"/>
                <a:gd name="connsiteY0" fmla="*/ 49021 h 98043"/>
                <a:gd name="connsiteX1" fmla="*/ 6350 w 153670"/>
                <a:gd name="connsiteY1" fmla="*/ 91694 h 98043"/>
                <a:gd name="connsiteX2" fmla="*/ 34544 w 153670"/>
                <a:gd name="connsiteY2" fmla="*/ 49021 h 98043"/>
                <a:gd name="connsiteX3" fmla="*/ 6350 w 153670"/>
                <a:gd name="connsiteY3" fmla="*/ 6350 h 98043"/>
                <a:gd name="connsiteX4" fmla="*/ 147320 w 153670"/>
                <a:gd name="connsiteY4" fmla="*/ 49021 h 9804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3670" h="98043">
                  <a:moveTo>
                    <a:pt x="147320" y="49021"/>
                  </a:moveTo>
                  <a:lnTo>
                    <a:pt x="6350" y="91694"/>
                  </a:lnTo>
                  <a:lnTo>
                    <a:pt x="34544" y="49021"/>
                  </a:lnTo>
                  <a:lnTo>
                    <a:pt x="6350" y="6350"/>
                  </a:lnTo>
                  <a:lnTo>
                    <a:pt x="147320" y="49021"/>
                  </a:ln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51" name="Freeform 3"/>
            <p:cNvSpPr/>
            <p:nvPr/>
          </p:nvSpPr>
          <p:spPr>
            <a:xfrm>
              <a:off x="7005637" y="5154615"/>
              <a:ext cx="128588" cy="211137"/>
            </a:xfrm>
            <a:custGeom>
              <a:avLst/>
              <a:gdLst>
                <a:gd name="connsiteX0" fmla="*/ 121411 w 127762"/>
                <a:gd name="connsiteY0" fmla="*/ 205232 h 211581"/>
                <a:gd name="connsiteX1" fmla="*/ 6350 w 127762"/>
                <a:gd name="connsiteY1" fmla="*/ 6350 h 211581"/>
              </a:gdLst>
              <a:ahLst/>
              <a:cxnLst>
                <a:cxn ang="0">
                  <a:pos x="connsiteX0" y="connsiteY0"/>
                </a:cxn>
                <a:cxn ang="1">
                  <a:pos x="connsiteX1" y="connsiteY1"/>
                </a:cxn>
              </a:cxnLst>
              <a:rect l="l" t="t" r="r" b="b"/>
              <a:pathLst>
                <a:path w="127762" h="211581">
                  <a:moveTo>
                    <a:pt x="121411" y="205232"/>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2" name="Freeform 3"/>
            <p:cNvSpPr/>
            <p:nvPr/>
          </p:nvSpPr>
          <p:spPr>
            <a:xfrm>
              <a:off x="6996114" y="5191125"/>
              <a:ext cx="100013" cy="165100"/>
            </a:xfrm>
            <a:custGeom>
              <a:avLst/>
              <a:gdLst>
                <a:gd name="connsiteX0" fmla="*/ 93979 w 100330"/>
                <a:gd name="connsiteY0" fmla="*/ 158750 h 165100"/>
                <a:gd name="connsiteX1" fmla="*/ 6350 w 100330"/>
                <a:gd name="connsiteY1" fmla="*/ 6350 h 165100"/>
              </a:gdLst>
              <a:ahLst/>
              <a:cxnLst>
                <a:cxn ang="0">
                  <a:pos x="connsiteX0" y="connsiteY0"/>
                </a:cxn>
                <a:cxn ang="1">
                  <a:pos x="connsiteX1" y="connsiteY1"/>
                </a:cxn>
              </a:cxnLst>
              <a:rect l="l" t="t" r="r" b="b"/>
              <a:pathLst>
                <a:path w="100330" h="165100">
                  <a:moveTo>
                    <a:pt x="93979" y="1587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3" name="Freeform 3"/>
            <p:cNvSpPr/>
            <p:nvPr/>
          </p:nvSpPr>
          <p:spPr>
            <a:xfrm>
              <a:off x="7005637" y="5353050"/>
              <a:ext cx="128588" cy="211138"/>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4" name="Freeform 3"/>
            <p:cNvSpPr/>
            <p:nvPr/>
          </p:nvSpPr>
          <p:spPr>
            <a:xfrm>
              <a:off x="6780213" y="5551490"/>
              <a:ext cx="238125" cy="20637"/>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5" name="Freeform 3"/>
            <p:cNvSpPr/>
            <p:nvPr/>
          </p:nvSpPr>
          <p:spPr>
            <a:xfrm>
              <a:off x="6807202" y="5524500"/>
              <a:ext cx="185737" cy="20638"/>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6" name="Freeform 3"/>
            <p:cNvSpPr/>
            <p:nvPr/>
          </p:nvSpPr>
          <p:spPr>
            <a:xfrm>
              <a:off x="6665913" y="5353050"/>
              <a:ext cx="127000" cy="211138"/>
            </a:xfrm>
            <a:custGeom>
              <a:avLst/>
              <a:gdLst>
                <a:gd name="connsiteX0" fmla="*/ 6350 w 127000"/>
                <a:gd name="connsiteY0" fmla="*/ 6350 h 210820"/>
                <a:gd name="connsiteX1" fmla="*/ 120650 w 127000"/>
                <a:gd name="connsiteY1" fmla="*/ 204470 h 210820"/>
              </a:gdLst>
              <a:ahLst/>
              <a:cxnLst>
                <a:cxn ang="0">
                  <a:pos x="connsiteX0" y="connsiteY0"/>
                </a:cxn>
                <a:cxn ang="1">
                  <a:pos x="connsiteX1" y="connsiteY1"/>
                </a:cxn>
              </a:cxnLst>
              <a:rect l="l" t="t" r="r" b="b"/>
              <a:pathLst>
                <a:path w="127000" h="210820">
                  <a:moveTo>
                    <a:pt x="6350" y="6350"/>
                  </a:moveTo>
                  <a:lnTo>
                    <a:pt x="120650"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7" name="Freeform 3"/>
            <p:cNvSpPr/>
            <p:nvPr/>
          </p:nvSpPr>
          <p:spPr>
            <a:xfrm>
              <a:off x="6665913" y="5154615"/>
              <a:ext cx="127000" cy="211137"/>
            </a:xfrm>
            <a:custGeom>
              <a:avLst/>
              <a:gdLst>
                <a:gd name="connsiteX0" fmla="*/ 120650 w 127000"/>
                <a:gd name="connsiteY0" fmla="*/ 6350 h 211581"/>
                <a:gd name="connsiteX1" fmla="*/ 6350 w 127000"/>
                <a:gd name="connsiteY1" fmla="*/ 205232 h 211581"/>
              </a:gdLst>
              <a:ahLst/>
              <a:cxnLst>
                <a:cxn ang="0">
                  <a:pos x="connsiteX0" y="connsiteY0"/>
                </a:cxn>
                <a:cxn ang="1">
                  <a:pos x="connsiteX1" y="connsiteY1"/>
                </a:cxn>
              </a:cxnLst>
              <a:rect l="l" t="t" r="r" b="b"/>
              <a:pathLst>
                <a:path w="127000" h="211581">
                  <a:moveTo>
                    <a:pt x="120650" y="6350"/>
                  </a:moveTo>
                  <a:lnTo>
                    <a:pt x="6350" y="20523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8" name="Freeform 3"/>
            <p:cNvSpPr/>
            <p:nvPr/>
          </p:nvSpPr>
          <p:spPr>
            <a:xfrm>
              <a:off x="6702425" y="5191125"/>
              <a:ext cx="100012" cy="165100"/>
            </a:xfrm>
            <a:custGeom>
              <a:avLst/>
              <a:gdLst>
                <a:gd name="connsiteX0" fmla="*/ 93979 w 100330"/>
                <a:gd name="connsiteY0" fmla="*/ 6350 h 165100"/>
                <a:gd name="connsiteX1" fmla="*/ 6350 w 100330"/>
                <a:gd name="connsiteY1" fmla="*/ 158750 h 165100"/>
              </a:gdLst>
              <a:ahLst/>
              <a:cxnLst>
                <a:cxn ang="0">
                  <a:pos x="connsiteX0" y="connsiteY0"/>
                </a:cxn>
                <a:cxn ang="1">
                  <a:pos x="connsiteX1" y="connsiteY1"/>
                </a:cxn>
              </a:cxnLst>
              <a:rect l="l" t="t" r="r" b="b"/>
              <a:pathLst>
                <a:path w="100330" h="165100">
                  <a:moveTo>
                    <a:pt x="93979" y="6350"/>
                  </a:moveTo>
                  <a:lnTo>
                    <a:pt x="6350" y="1587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9" name="Freeform 3"/>
            <p:cNvSpPr/>
            <p:nvPr/>
          </p:nvSpPr>
          <p:spPr>
            <a:xfrm>
              <a:off x="6780213" y="5154613"/>
              <a:ext cx="238125"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0" name="Freeform 3"/>
            <p:cNvSpPr/>
            <p:nvPr/>
          </p:nvSpPr>
          <p:spPr>
            <a:xfrm>
              <a:off x="7116764" y="5351465"/>
              <a:ext cx="188913" cy="20637"/>
            </a:xfrm>
            <a:custGeom>
              <a:avLst/>
              <a:gdLst>
                <a:gd name="connsiteX0" fmla="*/ 6350 w 189484"/>
                <a:gd name="connsiteY0" fmla="*/ 6350 h 19773"/>
                <a:gd name="connsiteX1" fmla="*/ 183133 w 189484"/>
                <a:gd name="connsiteY1" fmla="*/ 6350 h 19773"/>
              </a:gdLst>
              <a:ahLst/>
              <a:cxnLst>
                <a:cxn ang="0">
                  <a:pos x="connsiteX0" y="connsiteY0"/>
                </a:cxn>
                <a:cxn ang="1">
                  <a:pos x="connsiteX1" y="connsiteY1"/>
                </a:cxn>
              </a:cxnLst>
              <a:rect l="l" t="t" r="r" b="b"/>
              <a:pathLst>
                <a:path w="189484" h="19773">
                  <a:moveTo>
                    <a:pt x="6350" y="6350"/>
                  </a:moveTo>
                  <a:lnTo>
                    <a:pt x="18313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1" name="Freeform 3"/>
            <p:cNvSpPr/>
            <p:nvPr/>
          </p:nvSpPr>
          <p:spPr>
            <a:xfrm>
              <a:off x="7513639" y="5351465"/>
              <a:ext cx="188913" cy="20637"/>
            </a:xfrm>
            <a:custGeom>
              <a:avLst/>
              <a:gdLst>
                <a:gd name="connsiteX0" fmla="*/ 6350 w 189471"/>
                <a:gd name="connsiteY0" fmla="*/ 6350 h 19773"/>
                <a:gd name="connsiteX1" fmla="*/ 183121 w 189471"/>
                <a:gd name="connsiteY1" fmla="*/ 6350 h 19773"/>
              </a:gdLst>
              <a:ahLst/>
              <a:cxnLst>
                <a:cxn ang="0">
                  <a:pos x="connsiteX0" y="connsiteY0"/>
                </a:cxn>
                <a:cxn ang="1">
                  <a:pos x="connsiteX1" y="connsiteY1"/>
                </a:cxn>
              </a:cxnLst>
              <a:rect l="l" t="t" r="r" b="b"/>
              <a:pathLst>
                <a:path w="189471" h="19773">
                  <a:moveTo>
                    <a:pt x="6350" y="6350"/>
                  </a:moveTo>
                  <a:lnTo>
                    <a:pt x="18312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2" name="Freeform 3"/>
            <p:cNvSpPr/>
            <p:nvPr/>
          </p:nvSpPr>
          <p:spPr>
            <a:xfrm>
              <a:off x="7392987" y="5473702"/>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3" name="Freeform 3"/>
            <p:cNvSpPr/>
            <p:nvPr/>
          </p:nvSpPr>
          <p:spPr>
            <a:xfrm>
              <a:off x="7439025" y="5473702"/>
              <a:ext cx="19050" cy="206375"/>
            </a:xfrm>
            <a:custGeom>
              <a:avLst/>
              <a:gdLst>
                <a:gd name="connsiteX0" fmla="*/ 6350 w 19773"/>
                <a:gd name="connsiteY0" fmla="*/ 6350 h 206247"/>
                <a:gd name="connsiteX1" fmla="*/ 6350 w 19773"/>
                <a:gd name="connsiteY1" fmla="*/ 199898 h 206247"/>
              </a:gdLst>
              <a:ahLst/>
              <a:cxnLst>
                <a:cxn ang="0">
                  <a:pos x="connsiteX0" y="connsiteY0"/>
                </a:cxn>
                <a:cxn ang="1">
                  <a:pos x="connsiteX1" y="connsiteY1"/>
                </a:cxn>
              </a:cxnLst>
              <a:rect l="l" t="t" r="r" b="b"/>
              <a:pathLst>
                <a:path w="19773" h="206247">
                  <a:moveTo>
                    <a:pt x="6350" y="6350"/>
                  </a:moveTo>
                  <a:lnTo>
                    <a:pt x="6350" y="19989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4" name="Freeform 3"/>
            <p:cNvSpPr/>
            <p:nvPr/>
          </p:nvSpPr>
          <p:spPr>
            <a:xfrm>
              <a:off x="7921627" y="5307015"/>
              <a:ext cx="46037" cy="46037"/>
            </a:xfrm>
            <a:custGeom>
              <a:avLst/>
              <a:gdLst>
                <a:gd name="connsiteX0" fmla="*/ 39865 w 46215"/>
                <a:gd name="connsiteY0" fmla="*/ 23114 h 46228"/>
                <a:gd name="connsiteX1" fmla="*/ 23100 w 46215"/>
                <a:gd name="connsiteY1" fmla="*/ 6350 h 46228"/>
                <a:gd name="connsiteX2" fmla="*/ 6350 w 46215"/>
                <a:gd name="connsiteY2" fmla="*/ 23114 h 46228"/>
                <a:gd name="connsiteX3" fmla="*/ 23100 w 46215"/>
                <a:gd name="connsiteY3" fmla="*/ 39877 h 46228"/>
                <a:gd name="connsiteX4" fmla="*/ 39865 w 46215"/>
                <a:gd name="connsiteY4" fmla="*/ 23114 h 4622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15" h="46228">
                  <a:moveTo>
                    <a:pt x="39865" y="23114"/>
                  </a:moveTo>
                  <a:cubicBezTo>
                    <a:pt x="39865" y="13208"/>
                    <a:pt x="32257" y="6350"/>
                    <a:pt x="23100" y="6350"/>
                  </a:cubicBezTo>
                  <a:cubicBezTo>
                    <a:pt x="13207" y="6350"/>
                    <a:pt x="6350" y="13208"/>
                    <a:pt x="6350" y="23114"/>
                  </a:cubicBezTo>
                  <a:cubicBezTo>
                    <a:pt x="6350" y="32258"/>
                    <a:pt x="13207" y="39877"/>
                    <a:pt x="23100" y="39877"/>
                  </a:cubicBezTo>
                  <a:cubicBezTo>
                    <a:pt x="32257" y="39877"/>
                    <a:pt x="39865" y="32258"/>
                    <a:pt x="39865" y="23114"/>
                  </a:cubicBez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65" name="Freeform 3"/>
            <p:cNvSpPr/>
            <p:nvPr/>
          </p:nvSpPr>
          <p:spPr>
            <a:xfrm>
              <a:off x="8108950" y="5351465"/>
              <a:ext cx="468312" cy="20637"/>
            </a:xfrm>
            <a:custGeom>
              <a:avLst/>
              <a:gdLst>
                <a:gd name="connsiteX0" fmla="*/ 6350 w 468376"/>
                <a:gd name="connsiteY0" fmla="*/ 6350 h 19773"/>
                <a:gd name="connsiteX1" fmla="*/ 462026 w 468376"/>
                <a:gd name="connsiteY1" fmla="*/ 6350 h 19773"/>
              </a:gdLst>
              <a:ahLst/>
              <a:cxnLst>
                <a:cxn ang="0">
                  <a:pos x="connsiteX0" y="connsiteY0"/>
                </a:cxn>
                <a:cxn ang="1">
                  <a:pos x="connsiteX1" y="connsiteY1"/>
                </a:cxn>
              </a:cxnLst>
              <a:rect l="l" t="t" r="r" b="b"/>
              <a:pathLst>
                <a:path w="468376" h="19773">
                  <a:moveTo>
                    <a:pt x="6350" y="6350"/>
                  </a:moveTo>
                  <a:lnTo>
                    <a:pt x="46202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6" name="Freeform 3"/>
            <p:cNvSpPr/>
            <p:nvPr/>
          </p:nvSpPr>
          <p:spPr>
            <a:xfrm>
              <a:off x="8423277" y="5310190"/>
              <a:ext cx="153987" cy="96837"/>
            </a:xfrm>
            <a:custGeom>
              <a:avLst/>
              <a:gdLst>
                <a:gd name="connsiteX0" fmla="*/ 147307 w 153657"/>
                <a:gd name="connsiteY0" fmla="*/ 48260 h 97282"/>
                <a:gd name="connsiteX1" fmla="*/ 6350 w 153657"/>
                <a:gd name="connsiteY1" fmla="*/ 90932 h 97282"/>
                <a:gd name="connsiteX2" fmla="*/ 34531 w 153657"/>
                <a:gd name="connsiteY2" fmla="*/ 48260 h 97282"/>
                <a:gd name="connsiteX3" fmla="*/ 6350 w 153657"/>
                <a:gd name="connsiteY3" fmla="*/ 6350 h 97282"/>
                <a:gd name="connsiteX4" fmla="*/ 147307 w 153657"/>
                <a:gd name="connsiteY4" fmla="*/ 48260 h 9728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3657" h="97282">
                  <a:moveTo>
                    <a:pt x="147307" y="48260"/>
                  </a:moveTo>
                  <a:lnTo>
                    <a:pt x="6350" y="90932"/>
                  </a:lnTo>
                  <a:lnTo>
                    <a:pt x="34531" y="48260"/>
                  </a:lnTo>
                  <a:lnTo>
                    <a:pt x="6350" y="6350"/>
                  </a:lnTo>
                  <a:lnTo>
                    <a:pt x="147307" y="48260"/>
                  </a:ln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67" name="Freeform 3"/>
            <p:cNvSpPr/>
            <p:nvPr/>
          </p:nvSpPr>
          <p:spPr>
            <a:xfrm>
              <a:off x="9285287" y="5168900"/>
              <a:ext cx="128588" cy="211138"/>
            </a:xfrm>
            <a:custGeom>
              <a:avLst/>
              <a:gdLst>
                <a:gd name="connsiteX0" fmla="*/ 121411 w 127762"/>
                <a:gd name="connsiteY0" fmla="*/ 205994 h 212344"/>
                <a:gd name="connsiteX1" fmla="*/ 6350 w 127762"/>
                <a:gd name="connsiteY1" fmla="*/ 6350 h 212344"/>
              </a:gdLst>
              <a:ahLst/>
              <a:cxnLst>
                <a:cxn ang="0">
                  <a:pos x="connsiteX0" y="connsiteY0"/>
                </a:cxn>
                <a:cxn ang="1">
                  <a:pos x="connsiteX1" y="connsiteY1"/>
                </a:cxn>
              </a:cxnLst>
              <a:rect l="l" t="t" r="r" b="b"/>
              <a:pathLst>
                <a:path w="127762" h="212344">
                  <a:moveTo>
                    <a:pt x="121411" y="205994"/>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8" name="Freeform 3"/>
            <p:cNvSpPr/>
            <p:nvPr/>
          </p:nvSpPr>
          <p:spPr>
            <a:xfrm>
              <a:off x="9275764" y="5205413"/>
              <a:ext cx="100013" cy="165100"/>
            </a:xfrm>
            <a:custGeom>
              <a:avLst/>
              <a:gdLst>
                <a:gd name="connsiteX0" fmla="*/ 93980 w 100330"/>
                <a:gd name="connsiteY0" fmla="*/ 159511 h 165862"/>
                <a:gd name="connsiteX1" fmla="*/ 6350 w 100330"/>
                <a:gd name="connsiteY1" fmla="*/ 6350 h 165862"/>
              </a:gdLst>
              <a:ahLst/>
              <a:cxnLst>
                <a:cxn ang="0">
                  <a:pos x="connsiteX0" y="connsiteY0"/>
                </a:cxn>
                <a:cxn ang="1">
                  <a:pos x="connsiteX1" y="connsiteY1"/>
                </a:cxn>
              </a:cxnLst>
              <a:rect l="l" t="t" r="r" b="b"/>
              <a:pathLst>
                <a:path w="100330" h="165862">
                  <a:moveTo>
                    <a:pt x="93980" y="159511"/>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9" name="Freeform 3"/>
            <p:cNvSpPr/>
            <p:nvPr/>
          </p:nvSpPr>
          <p:spPr>
            <a:xfrm>
              <a:off x="9285287" y="5367340"/>
              <a:ext cx="128588" cy="211137"/>
            </a:xfrm>
            <a:custGeom>
              <a:avLst/>
              <a:gdLst>
                <a:gd name="connsiteX0" fmla="*/ 6350 w 127762"/>
                <a:gd name="connsiteY0" fmla="*/ 204470 h 210820"/>
                <a:gd name="connsiteX1" fmla="*/ 121411 w 127762"/>
                <a:gd name="connsiteY1" fmla="*/ 6350 h 210820"/>
              </a:gdLst>
              <a:ahLst/>
              <a:cxnLst>
                <a:cxn ang="0">
                  <a:pos x="connsiteX0" y="connsiteY0"/>
                </a:cxn>
                <a:cxn ang="1">
                  <a:pos x="connsiteX1" y="connsiteY1"/>
                </a:cxn>
              </a:cxnLst>
              <a:rect l="l" t="t" r="r" b="b"/>
              <a:pathLst>
                <a:path w="127762" h="210820">
                  <a:moveTo>
                    <a:pt x="6350" y="204470"/>
                  </a:moveTo>
                  <a:lnTo>
                    <a:pt x="12141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0" name="Freeform 3"/>
            <p:cNvSpPr/>
            <p:nvPr/>
          </p:nvSpPr>
          <p:spPr>
            <a:xfrm>
              <a:off x="9059863" y="5565775"/>
              <a:ext cx="238125" cy="20638"/>
            </a:xfrm>
            <a:custGeom>
              <a:avLst/>
              <a:gdLst>
                <a:gd name="connsiteX0" fmla="*/ 6350 w 239013"/>
                <a:gd name="connsiteY0" fmla="*/ 6350 h 19773"/>
                <a:gd name="connsiteX1" fmla="*/ 232664 w 239013"/>
                <a:gd name="connsiteY1" fmla="*/ 6350 h 19773"/>
              </a:gdLst>
              <a:ahLst/>
              <a:cxnLst>
                <a:cxn ang="0">
                  <a:pos x="connsiteX0" y="connsiteY0"/>
                </a:cxn>
                <a:cxn ang="1">
                  <a:pos x="connsiteX1" y="connsiteY1"/>
                </a:cxn>
              </a:cxnLst>
              <a:rect l="l" t="t" r="r" b="b"/>
              <a:pathLst>
                <a:path w="239013" h="19773">
                  <a:moveTo>
                    <a:pt x="6350" y="6350"/>
                  </a:moveTo>
                  <a:lnTo>
                    <a:pt x="232664"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1" name="Freeform 3"/>
            <p:cNvSpPr/>
            <p:nvPr/>
          </p:nvSpPr>
          <p:spPr>
            <a:xfrm>
              <a:off x="9085263" y="5538788"/>
              <a:ext cx="185738" cy="19050"/>
            </a:xfrm>
            <a:custGeom>
              <a:avLst/>
              <a:gdLst>
                <a:gd name="connsiteX0" fmla="*/ 6350 w 185673"/>
                <a:gd name="connsiteY0" fmla="*/ 6350 h 19773"/>
                <a:gd name="connsiteX1" fmla="*/ 179323 w 185673"/>
                <a:gd name="connsiteY1" fmla="*/ 6350 h 19773"/>
              </a:gdLst>
              <a:ahLst/>
              <a:cxnLst>
                <a:cxn ang="0">
                  <a:pos x="connsiteX0" y="connsiteY0"/>
                </a:cxn>
                <a:cxn ang="1">
                  <a:pos x="connsiteX1" y="connsiteY1"/>
                </a:cxn>
              </a:cxnLst>
              <a:rect l="l" t="t" r="r" b="b"/>
              <a:pathLst>
                <a:path w="185673" h="19773">
                  <a:moveTo>
                    <a:pt x="6350" y="6350"/>
                  </a:moveTo>
                  <a:lnTo>
                    <a:pt x="17932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2" name="Freeform 3"/>
            <p:cNvSpPr/>
            <p:nvPr/>
          </p:nvSpPr>
          <p:spPr>
            <a:xfrm>
              <a:off x="8943977" y="5367340"/>
              <a:ext cx="128587" cy="211137"/>
            </a:xfrm>
            <a:custGeom>
              <a:avLst/>
              <a:gdLst>
                <a:gd name="connsiteX0" fmla="*/ 6350 w 127762"/>
                <a:gd name="connsiteY0" fmla="*/ 6350 h 210820"/>
                <a:gd name="connsiteX1" fmla="*/ 121411 w 127762"/>
                <a:gd name="connsiteY1" fmla="*/ 204470 h 210820"/>
              </a:gdLst>
              <a:ahLst/>
              <a:cxnLst>
                <a:cxn ang="0">
                  <a:pos x="connsiteX0" y="connsiteY0"/>
                </a:cxn>
                <a:cxn ang="1">
                  <a:pos x="connsiteX1" y="connsiteY1"/>
                </a:cxn>
              </a:cxnLst>
              <a:rect l="l" t="t" r="r" b="b"/>
              <a:pathLst>
                <a:path w="127762" h="210820">
                  <a:moveTo>
                    <a:pt x="6350" y="6350"/>
                  </a:moveTo>
                  <a:lnTo>
                    <a:pt x="121411" y="20447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3" name="Freeform 3"/>
            <p:cNvSpPr/>
            <p:nvPr/>
          </p:nvSpPr>
          <p:spPr>
            <a:xfrm>
              <a:off x="8943977" y="5168900"/>
              <a:ext cx="128587" cy="211138"/>
            </a:xfrm>
            <a:custGeom>
              <a:avLst/>
              <a:gdLst>
                <a:gd name="connsiteX0" fmla="*/ 121411 w 127762"/>
                <a:gd name="connsiteY0" fmla="*/ 6350 h 212344"/>
                <a:gd name="connsiteX1" fmla="*/ 6350 w 127762"/>
                <a:gd name="connsiteY1" fmla="*/ 205994 h 212344"/>
              </a:gdLst>
              <a:ahLst/>
              <a:cxnLst>
                <a:cxn ang="0">
                  <a:pos x="connsiteX0" y="connsiteY0"/>
                </a:cxn>
                <a:cxn ang="1">
                  <a:pos x="connsiteX1" y="connsiteY1"/>
                </a:cxn>
              </a:cxnLst>
              <a:rect l="l" t="t" r="r" b="b"/>
              <a:pathLst>
                <a:path w="127762" h="212344">
                  <a:moveTo>
                    <a:pt x="121411" y="6350"/>
                  </a:moveTo>
                  <a:lnTo>
                    <a:pt x="6350" y="20599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4" name="Freeform 3"/>
            <p:cNvSpPr/>
            <p:nvPr/>
          </p:nvSpPr>
          <p:spPr>
            <a:xfrm>
              <a:off x="8982075" y="5205413"/>
              <a:ext cx="100012" cy="165100"/>
            </a:xfrm>
            <a:custGeom>
              <a:avLst/>
              <a:gdLst>
                <a:gd name="connsiteX0" fmla="*/ 93992 w 100342"/>
                <a:gd name="connsiteY0" fmla="*/ 6350 h 165862"/>
                <a:gd name="connsiteX1" fmla="*/ 6350 w 100342"/>
                <a:gd name="connsiteY1" fmla="*/ 159511 h 165862"/>
              </a:gdLst>
              <a:ahLst/>
              <a:cxnLst>
                <a:cxn ang="0">
                  <a:pos x="connsiteX0" y="connsiteY0"/>
                </a:cxn>
                <a:cxn ang="1">
                  <a:pos x="connsiteX1" y="connsiteY1"/>
                </a:cxn>
              </a:cxnLst>
              <a:rect l="l" t="t" r="r" b="b"/>
              <a:pathLst>
                <a:path w="100342" h="165862">
                  <a:moveTo>
                    <a:pt x="93992" y="6350"/>
                  </a:moveTo>
                  <a:lnTo>
                    <a:pt x="6350" y="15951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5" name="Freeform 3"/>
            <p:cNvSpPr/>
            <p:nvPr/>
          </p:nvSpPr>
          <p:spPr>
            <a:xfrm>
              <a:off x="9059863" y="5168900"/>
              <a:ext cx="238125" cy="19050"/>
            </a:xfrm>
            <a:custGeom>
              <a:avLst/>
              <a:gdLst>
                <a:gd name="connsiteX0" fmla="*/ 232664 w 239013"/>
                <a:gd name="connsiteY0" fmla="*/ 6350 h 19773"/>
                <a:gd name="connsiteX1" fmla="*/ 6350 w 239013"/>
                <a:gd name="connsiteY1" fmla="*/ 6350 h 19773"/>
              </a:gdLst>
              <a:ahLst/>
              <a:cxnLst>
                <a:cxn ang="0">
                  <a:pos x="connsiteX0" y="connsiteY0"/>
                </a:cxn>
                <a:cxn ang="1">
                  <a:pos x="connsiteX1" y="connsiteY1"/>
                </a:cxn>
              </a:cxnLst>
              <a:rect l="l" t="t" r="r" b="b"/>
              <a:pathLst>
                <a:path w="239013" h="19773">
                  <a:moveTo>
                    <a:pt x="232664" y="6350"/>
                  </a:moveTo>
                  <a:lnTo>
                    <a:pt x="6350"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6" name="Freeform 3"/>
            <p:cNvSpPr/>
            <p:nvPr/>
          </p:nvSpPr>
          <p:spPr>
            <a:xfrm>
              <a:off x="9464677" y="5349875"/>
              <a:ext cx="46037" cy="46038"/>
            </a:xfrm>
            <a:custGeom>
              <a:avLst/>
              <a:gdLst>
                <a:gd name="connsiteX0" fmla="*/ 39865 w 46215"/>
                <a:gd name="connsiteY0" fmla="*/ 22352 h 45466"/>
                <a:gd name="connsiteX1" fmla="*/ 23100 w 46215"/>
                <a:gd name="connsiteY1" fmla="*/ 6350 h 45466"/>
                <a:gd name="connsiteX2" fmla="*/ 6350 w 46215"/>
                <a:gd name="connsiteY2" fmla="*/ 22352 h 45466"/>
                <a:gd name="connsiteX3" fmla="*/ 23100 w 46215"/>
                <a:gd name="connsiteY3" fmla="*/ 39116 h 45466"/>
                <a:gd name="connsiteX4" fmla="*/ 39865 w 46215"/>
                <a:gd name="connsiteY4" fmla="*/ 22352 h 4546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15" h="45466">
                  <a:moveTo>
                    <a:pt x="39865" y="22352"/>
                  </a:moveTo>
                  <a:cubicBezTo>
                    <a:pt x="39865" y="13208"/>
                    <a:pt x="32257" y="6350"/>
                    <a:pt x="23100" y="6350"/>
                  </a:cubicBezTo>
                  <a:cubicBezTo>
                    <a:pt x="13207" y="6350"/>
                    <a:pt x="6350" y="13208"/>
                    <a:pt x="6350" y="22352"/>
                  </a:cubicBezTo>
                  <a:cubicBezTo>
                    <a:pt x="6350" y="31496"/>
                    <a:pt x="13207" y="39116"/>
                    <a:pt x="23100" y="39116"/>
                  </a:cubicBezTo>
                  <a:cubicBezTo>
                    <a:pt x="32257" y="39116"/>
                    <a:pt x="39865" y="31496"/>
                    <a:pt x="39865" y="22352"/>
                  </a:cubicBezTo>
                </a:path>
              </a:pathLst>
            </a:custGeom>
            <a:solidFill>
              <a:srgbClr val="FFFFFF">
                <a:alpha val="100000"/>
              </a:srgbClr>
            </a:solid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77" name="TextBox 1"/>
            <p:cNvSpPr txBox="1"/>
            <p:nvPr/>
          </p:nvSpPr>
          <p:spPr>
            <a:xfrm>
              <a:off x="3646487" y="5245102"/>
              <a:ext cx="1356749" cy="811151"/>
            </a:xfrm>
            <a:prstGeom prst="rect">
              <a:avLst/>
            </a:prstGeom>
            <a:noFill/>
            <a:ln>
              <a:noFill/>
            </a:ln>
          </p:spPr>
          <p:txBody>
            <a:bodyPr wrap="none" lIns="0" tIns="0" rIns="0">
              <a:spAutoFit/>
            </a:bodyPr>
            <a:lstStyle/>
            <a:p>
              <a:pPr>
                <a:lnSpc>
                  <a:spcPts val="1996"/>
                </a:lnSpc>
                <a:tabLst>
                  <a:tab pos="1071532" algn="l"/>
                </a:tabLst>
                <a:defRPr/>
              </a:pPr>
              <a:r>
                <a:rPr lang="en-US" altLang="zh-CN" sz="1616" dirty="0">
                  <a:latin typeface="Times New Roman" pitchFamily="18" charset="0"/>
                  <a:cs typeface="Times New Roman" pitchFamily="18" charset="0"/>
                </a:rPr>
                <a:t>C    O    O    C</a:t>
              </a:r>
            </a:p>
            <a:p>
              <a:pPr>
                <a:lnSpc>
                  <a:spcPts val="907"/>
                </a:lnSpc>
                <a:defRPr/>
              </a:pPr>
              <a:endParaRPr lang="en-US" altLang="zh-CN" sz="1633" dirty="0"/>
            </a:p>
            <a:p>
              <a:pPr>
                <a:lnSpc>
                  <a:spcPts val="1905"/>
                </a:lnSpc>
                <a:tabLst>
                  <a:tab pos="1071532" algn="l"/>
                </a:tabLst>
                <a:defRPr/>
              </a:pPr>
              <a:r>
                <a:rPr lang="en-US" altLang="zh-CN" sz="1616" dirty="0">
                  <a:latin typeface="Times New Roman" pitchFamily="18" charset="0"/>
                  <a:cs typeface="Times New Roman" pitchFamily="18" charset="0"/>
                </a:rPr>
                <a:t>O</a:t>
              </a:r>
            </a:p>
            <a:p>
              <a:pPr>
                <a:lnSpc>
                  <a:spcPts val="181"/>
                </a:lnSpc>
                <a:tabLst>
                  <a:tab pos="1071532" algn="l"/>
                </a:tabLst>
                <a:defRPr/>
              </a:pPr>
              <a:r>
                <a:rPr lang="en-US" altLang="zh-CN" sz="1633" dirty="0"/>
                <a:t>	</a:t>
              </a:r>
              <a:r>
                <a:rPr lang="en-US" altLang="zh-CN" sz="1616" dirty="0">
                  <a:latin typeface="Times New Roman" pitchFamily="18" charset="0"/>
                  <a:cs typeface="Times New Roman" pitchFamily="18" charset="0"/>
                </a:rPr>
                <a:t>O</a:t>
              </a:r>
            </a:p>
          </p:txBody>
        </p:sp>
        <p:sp>
          <p:nvSpPr>
            <p:cNvPr id="78" name="TextBox 1"/>
            <p:cNvSpPr txBox="1"/>
            <p:nvPr/>
          </p:nvSpPr>
          <p:spPr>
            <a:xfrm>
              <a:off x="6453187" y="5245102"/>
              <a:ext cx="114860" cy="291212"/>
            </a:xfrm>
            <a:prstGeom prst="rect">
              <a:avLst/>
            </a:prstGeom>
            <a:noFill/>
            <a:ln>
              <a:noFill/>
            </a:ln>
          </p:spPr>
          <p:txBody>
            <a:bodyPr wrap="none" lIns="0" tIns="0" rIns="0">
              <a:spAutoFit/>
            </a:bodyPr>
            <a:lstStyle/>
            <a:p>
              <a:pPr>
                <a:lnSpc>
                  <a:spcPts val="1724"/>
                </a:lnSpc>
                <a:defRPr/>
              </a:pPr>
              <a:r>
                <a:rPr lang="en-US" altLang="zh-CN" sz="1616" dirty="0">
                  <a:latin typeface="Times New Roman" pitchFamily="18" charset="0"/>
                  <a:cs typeface="Times New Roman" pitchFamily="18" charset="0"/>
                </a:rPr>
                <a:t>2</a:t>
              </a:r>
            </a:p>
          </p:txBody>
        </p:sp>
        <p:sp>
          <p:nvSpPr>
            <p:cNvPr id="79" name="TextBox 1"/>
            <p:cNvSpPr txBox="1"/>
            <p:nvPr/>
          </p:nvSpPr>
          <p:spPr>
            <a:xfrm>
              <a:off x="7329488" y="5245100"/>
              <a:ext cx="542488" cy="712267"/>
            </a:xfrm>
            <a:prstGeom prst="rect">
              <a:avLst/>
            </a:prstGeom>
            <a:noFill/>
            <a:ln>
              <a:noFill/>
            </a:ln>
          </p:spPr>
          <p:txBody>
            <a:bodyPr wrap="none" lIns="0" tIns="0" rIns="0">
              <a:spAutoFit/>
            </a:bodyPr>
            <a:lstStyle/>
            <a:p>
              <a:pPr>
                <a:lnSpc>
                  <a:spcPts val="1905"/>
                </a:lnSpc>
                <a:defRPr/>
              </a:pPr>
              <a:r>
                <a:rPr lang="en-US" altLang="zh-CN" sz="1616" dirty="0">
                  <a:latin typeface="Times New Roman" pitchFamily="18" charset="0"/>
                  <a:cs typeface="Times New Roman" pitchFamily="18" charset="0"/>
                </a:rPr>
                <a:t>C    O</a:t>
              </a:r>
            </a:p>
            <a:p>
              <a:pPr>
                <a:lnSpc>
                  <a:spcPts val="907"/>
                </a:lnSpc>
                <a:defRPr/>
              </a:pPr>
              <a:endParaRPr lang="en-US" altLang="zh-CN" sz="1633" dirty="0"/>
            </a:p>
            <a:p>
              <a:pPr>
                <a:lnSpc>
                  <a:spcPts val="1996"/>
                </a:lnSpc>
                <a:defRPr/>
              </a:pPr>
              <a:r>
                <a:rPr lang="en-US" altLang="zh-CN" sz="1616" dirty="0">
                  <a:latin typeface="Times New Roman" pitchFamily="18" charset="0"/>
                  <a:cs typeface="Times New Roman" pitchFamily="18" charset="0"/>
                </a:rPr>
                <a:t>O</a:t>
              </a:r>
            </a:p>
          </p:txBody>
        </p:sp>
        <p:sp>
          <p:nvSpPr>
            <p:cNvPr id="80" name="TextBox 1"/>
            <p:cNvSpPr txBox="1"/>
            <p:nvPr/>
          </p:nvSpPr>
          <p:spPr>
            <a:xfrm>
              <a:off x="8764587" y="5257801"/>
              <a:ext cx="114860" cy="291212"/>
            </a:xfrm>
            <a:prstGeom prst="rect">
              <a:avLst/>
            </a:prstGeom>
            <a:noFill/>
            <a:ln>
              <a:noFill/>
            </a:ln>
          </p:spPr>
          <p:txBody>
            <a:bodyPr wrap="none" lIns="0" tIns="0" rIns="0">
              <a:spAutoFit/>
            </a:bodyPr>
            <a:lstStyle/>
            <a:p>
              <a:pPr>
                <a:lnSpc>
                  <a:spcPts val="1724"/>
                </a:lnSpc>
                <a:defRPr/>
              </a:pPr>
              <a:r>
                <a:rPr lang="en-US" altLang="zh-CN" sz="1616" dirty="0">
                  <a:latin typeface="Times New Roman" pitchFamily="18" charset="0"/>
                  <a:cs typeface="Times New Roman" pitchFamily="18" charset="0"/>
                </a:rPr>
                <a:t>2</a:t>
              </a:r>
            </a:p>
          </p:txBody>
        </p:sp>
        <p:sp>
          <p:nvSpPr>
            <p:cNvPr id="81" name="TextBox 1"/>
            <p:cNvSpPr txBox="1"/>
            <p:nvPr/>
          </p:nvSpPr>
          <p:spPr>
            <a:xfrm>
              <a:off x="9590089" y="5245102"/>
              <a:ext cx="814616" cy="316445"/>
            </a:xfrm>
            <a:prstGeom prst="rect">
              <a:avLst/>
            </a:prstGeom>
            <a:noFill/>
            <a:ln>
              <a:noFill/>
            </a:ln>
          </p:spPr>
          <p:txBody>
            <a:bodyPr wrap="none" lIns="0" tIns="0" rIns="0">
              <a:spAutoFit/>
            </a:bodyPr>
            <a:lstStyle/>
            <a:p>
              <a:pPr>
                <a:lnSpc>
                  <a:spcPts val="1996"/>
                </a:lnSpc>
                <a:defRPr/>
              </a:pPr>
              <a:r>
                <a:rPr lang="en-US" altLang="zh-CN" sz="1616" dirty="0">
                  <a:latin typeface="Times New Roman" pitchFamily="18" charset="0"/>
                  <a:cs typeface="Times New Roman" pitchFamily="18" charset="0"/>
                </a:rPr>
                <a:t>+   2CO</a:t>
              </a:r>
              <a:r>
                <a:rPr lang="en-US" altLang="zh-CN" sz="1212" dirty="0">
                  <a:latin typeface="Times New Roman" pitchFamily="18" charset="0"/>
                  <a:cs typeface="Times New Roman" pitchFamily="18" charset="0"/>
                </a:rPr>
                <a:t>2</a:t>
              </a:r>
            </a:p>
          </p:txBody>
        </p:sp>
      </p:grpSp>
      <p:sp>
        <p:nvSpPr>
          <p:cNvPr id="2" name="矩形 1"/>
          <p:cNvSpPr/>
          <p:nvPr/>
        </p:nvSpPr>
        <p:spPr>
          <a:xfrm>
            <a:off x="7489393" y="5221934"/>
            <a:ext cx="4523351" cy="747962"/>
          </a:xfrm>
          <a:prstGeom prst="rect">
            <a:avLst/>
          </a:prstGeom>
        </p:spPr>
        <p:txBody>
          <a:bodyPr wrap="square">
            <a:spAutoFit/>
          </a:bodyPr>
          <a:lstStyle/>
          <a:p>
            <a:pPr>
              <a:lnSpc>
                <a:spcPts val="2722"/>
              </a:lnSpc>
            </a:pPr>
            <a:r>
              <a:rPr lang="en-US" altLang="zh-CN" sz="1633" b="1" dirty="0">
                <a:latin typeface="Times New Roman" panose="02020603050405020304" pitchFamily="18" charset="0"/>
                <a:cs typeface="Times New Roman" panose="02020603050405020304" pitchFamily="18" charset="0"/>
              </a:rPr>
              <a:t>BPO</a:t>
            </a:r>
            <a:r>
              <a:rPr lang="en-US" altLang="zh-CN" sz="1633" dirty="0">
                <a:latin typeface="楷体_GB2312"/>
                <a:ea typeface="楷体_GB2312"/>
                <a:cs typeface="楷体_GB2312"/>
              </a:rPr>
              <a:t>的分解分两步，第一步分解成</a:t>
            </a:r>
            <a:r>
              <a:rPr lang="en-US" altLang="zh-CN" sz="1633" b="1" dirty="0">
                <a:solidFill>
                  <a:srgbClr val="FF0000"/>
                </a:solidFill>
                <a:latin typeface="楷体_GB2312"/>
                <a:ea typeface="楷体_GB2312"/>
                <a:cs typeface="楷体_GB2312"/>
              </a:rPr>
              <a:t>苯甲酰自由基</a:t>
            </a:r>
            <a:r>
              <a:rPr lang="en-US" altLang="zh-CN" sz="1633" dirty="0">
                <a:latin typeface="楷体_GB2312"/>
                <a:ea typeface="楷体_GB2312"/>
                <a:cs typeface="楷体_GB2312"/>
              </a:rPr>
              <a:t>，第二步分解成</a:t>
            </a:r>
            <a:r>
              <a:rPr lang="en-US" altLang="zh-CN" sz="1633" b="1" dirty="0">
                <a:solidFill>
                  <a:srgbClr val="FF0000"/>
                </a:solidFill>
                <a:latin typeface="楷体_GB2312"/>
                <a:ea typeface="楷体_GB2312"/>
                <a:cs typeface="楷体_GB2312"/>
              </a:rPr>
              <a:t>苯基自由基</a:t>
            </a:r>
            <a:r>
              <a:rPr lang="en-US" altLang="zh-CN" sz="1633" dirty="0">
                <a:latin typeface="楷体_GB2312"/>
                <a:ea typeface="楷体_GB2312"/>
                <a:cs typeface="楷体_GB2312"/>
              </a:rPr>
              <a:t>，并放出</a:t>
            </a:r>
            <a:r>
              <a:rPr lang="en-US" altLang="zh-CN" sz="1633" b="1" dirty="0">
                <a:latin typeface="Times New Roman" panose="02020603050405020304" pitchFamily="18" charset="0"/>
                <a:cs typeface="Times New Roman" panose="02020603050405020304" pitchFamily="18" charset="0"/>
              </a:rPr>
              <a:t>CO</a:t>
            </a:r>
            <a:r>
              <a:rPr lang="en-US" altLang="zh-CN" sz="1270" b="1" dirty="0">
                <a:latin typeface="Times New Roman" panose="02020603050405020304" pitchFamily="18" charset="0"/>
                <a:cs typeface="Times New Roman" panose="02020603050405020304" pitchFamily="18" charset="0"/>
              </a:rPr>
              <a:t>2</a:t>
            </a:r>
            <a:r>
              <a:rPr lang="en-US" altLang="zh-CN" sz="1633" dirty="0">
                <a:latin typeface="楷体_GB2312"/>
                <a:ea typeface="楷体_GB2312"/>
                <a:cs typeface="楷体_GB2312"/>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Box 3"/>
          <p:cNvSpPr txBox="1">
            <a:spLocks noChangeArrowheads="1"/>
          </p:cNvSpPr>
          <p:nvPr/>
        </p:nvSpPr>
        <p:spPr bwMode="auto">
          <a:xfrm>
            <a:off x="704216" y="1355237"/>
            <a:ext cx="6152164" cy="87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540" dirty="0">
                <a:latin typeface="Times New Roman" panose="02020603050405020304" pitchFamily="18" charset="0"/>
                <a:cs typeface="Times New Roman" panose="02020603050405020304" pitchFamily="18" charset="0"/>
              </a:rPr>
              <a:t>Other frequently used industrial initiators have the following constitutional formulas:</a:t>
            </a:r>
            <a:endParaRPr lang="zh-CN" altLang="en-US" sz="2540" dirty="0">
              <a:latin typeface="Times New Roman" panose="02020603050405020304" pitchFamily="18" charset="0"/>
              <a:cs typeface="Times New Roman" panose="02020603050405020304" pitchFamily="18" charset="0"/>
            </a:endParaRPr>
          </a:p>
        </p:txBody>
      </p:sp>
      <p:graphicFrame>
        <p:nvGraphicFramePr>
          <p:cNvPr id="56323" name="对象 4"/>
          <p:cNvGraphicFramePr>
            <a:graphicFrameLocks noChangeAspect="1"/>
          </p:cNvGraphicFramePr>
          <p:nvPr>
            <p:extLst/>
          </p:nvPr>
        </p:nvGraphicFramePr>
        <p:xfrm>
          <a:off x="911592" y="2482688"/>
          <a:ext cx="1640289" cy="730138"/>
        </p:xfrm>
        <a:graphic>
          <a:graphicData uri="http://schemas.openxmlformats.org/presentationml/2006/ole">
            <mc:AlternateContent xmlns:mc="http://schemas.openxmlformats.org/markup-compatibility/2006">
              <mc:Choice xmlns:v="urn:schemas-microsoft-com:vml" Requires="v">
                <p:oleObj spid="_x0000_s3089" name="CS ChemDraw Drawing" r:id="rId3" imgW="1176159" imgH="523943" progId="ChemDraw.Document.6.0">
                  <p:embed/>
                </p:oleObj>
              </mc:Choice>
              <mc:Fallback>
                <p:oleObj name="CS ChemDraw Drawing" r:id="rId3" imgW="1176159" imgH="523943" progId="ChemDraw.Document.6.0">
                  <p:embed/>
                  <p:pic>
                    <p:nvPicPr>
                      <p:cNvPr id="56323"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592" y="2482688"/>
                        <a:ext cx="1640289" cy="73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4" name="对象 5"/>
          <p:cNvGraphicFramePr>
            <a:graphicFrameLocks noChangeAspect="1"/>
          </p:cNvGraphicFramePr>
          <p:nvPr>
            <p:extLst/>
          </p:nvPr>
        </p:nvGraphicFramePr>
        <p:xfrm>
          <a:off x="3607484" y="2487727"/>
          <a:ext cx="2445313" cy="720057"/>
        </p:xfrm>
        <a:graphic>
          <a:graphicData uri="http://schemas.openxmlformats.org/presentationml/2006/ole">
            <mc:AlternateContent xmlns:mc="http://schemas.openxmlformats.org/markup-compatibility/2006">
              <mc:Choice xmlns:v="urn:schemas-microsoft-com:vml" Requires="v">
                <p:oleObj spid="_x0000_s3090" name="CS ChemDraw Drawing" r:id="rId5" imgW="1773423" imgH="522591" progId="ChemDraw.Document.6.0">
                  <p:embed/>
                </p:oleObj>
              </mc:Choice>
              <mc:Fallback>
                <p:oleObj name="CS ChemDraw Drawing" r:id="rId5" imgW="1773423" imgH="522591" progId="ChemDraw.Document.6.0">
                  <p:embed/>
                  <p:pic>
                    <p:nvPicPr>
                      <p:cNvPr id="56324"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7484" y="2487727"/>
                        <a:ext cx="2445313" cy="72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5" name="TextBox 6"/>
          <p:cNvSpPr txBox="1">
            <a:spLocks noChangeArrowheads="1"/>
          </p:cNvSpPr>
          <p:nvPr/>
        </p:nvSpPr>
        <p:spPr bwMode="auto">
          <a:xfrm>
            <a:off x="799621" y="3355971"/>
            <a:ext cx="2148793" cy="7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633" b="1" dirty="0" err="1">
                <a:latin typeface="Times New Roman" panose="02020603050405020304" pitchFamily="18" charset="0"/>
                <a:cs typeface="Times New Roman" panose="02020603050405020304" pitchFamily="18" charset="0"/>
              </a:rPr>
              <a:t>Cumyl</a:t>
            </a:r>
            <a:r>
              <a:rPr lang="en-US" altLang="zh-CN" sz="1633" b="1" dirty="0">
                <a:latin typeface="Times New Roman" panose="02020603050405020304" pitchFamily="18" charset="0"/>
                <a:cs typeface="Times New Roman" panose="02020603050405020304" pitchFamily="18" charset="0"/>
              </a:rPr>
              <a:t> </a:t>
            </a:r>
            <a:r>
              <a:rPr lang="en-US" altLang="zh-CN" sz="1633" b="1" dirty="0" err="1">
                <a:latin typeface="Times New Roman" panose="02020603050405020304" pitchFamily="18" charset="0"/>
                <a:cs typeface="Times New Roman" panose="02020603050405020304" pitchFamily="18" charset="0"/>
              </a:rPr>
              <a:t>hydroperoxide</a:t>
            </a:r>
            <a:endParaRPr lang="en-US" altLang="zh-CN" sz="1633" b="1" dirty="0">
              <a:latin typeface="Times New Roman" panose="02020603050405020304" pitchFamily="18" charset="0"/>
              <a:cs typeface="Times New Roman" panose="02020603050405020304" pitchFamily="18" charset="0"/>
            </a:endParaRPr>
          </a:p>
          <a:p>
            <a:pPr algn="ctr" eaLnBrk="1" hangingPunct="1"/>
            <a:endParaRPr lang="en-US" altLang="zh-CN" sz="998" b="1" dirty="0">
              <a:latin typeface="Times New Roman" panose="02020603050405020304" pitchFamily="18" charset="0"/>
              <a:cs typeface="Times New Roman" panose="02020603050405020304" pitchFamily="18" charset="0"/>
            </a:endParaRPr>
          </a:p>
          <a:p>
            <a:pPr algn="ctr" eaLnBrk="1" hangingPunct="1"/>
            <a:r>
              <a:rPr lang="zh-CN" altLang="en-US" sz="1633" dirty="0">
                <a:latin typeface="Times New Roman" panose="02020603050405020304" pitchFamily="18" charset="0"/>
                <a:cs typeface="Times New Roman" panose="02020603050405020304" pitchFamily="18" charset="0"/>
              </a:rPr>
              <a:t>氢过氧化异丙苯</a:t>
            </a:r>
          </a:p>
        </p:txBody>
      </p:sp>
      <p:sp>
        <p:nvSpPr>
          <p:cNvPr id="56326" name="TextBox 7"/>
          <p:cNvSpPr txBox="1">
            <a:spLocks noChangeArrowheads="1"/>
          </p:cNvSpPr>
          <p:nvPr/>
        </p:nvSpPr>
        <p:spPr bwMode="auto">
          <a:xfrm>
            <a:off x="3946212" y="3349646"/>
            <a:ext cx="1767856" cy="7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633" b="1">
                <a:latin typeface="Times New Roman" panose="02020603050405020304" pitchFamily="18" charset="0"/>
                <a:cs typeface="Times New Roman" panose="02020603050405020304" pitchFamily="18" charset="0"/>
              </a:rPr>
              <a:t>Dicumyl peroxide</a:t>
            </a:r>
          </a:p>
          <a:p>
            <a:pPr algn="ctr" eaLnBrk="1" hangingPunct="1"/>
            <a:endParaRPr lang="en-US" altLang="zh-CN" sz="998" b="1">
              <a:latin typeface="Times New Roman" panose="02020603050405020304" pitchFamily="18" charset="0"/>
              <a:cs typeface="Times New Roman" panose="02020603050405020304" pitchFamily="18" charset="0"/>
            </a:endParaRPr>
          </a:p>
          <a:p>
            <a:pPr algn="ctr" eaLnBrk="1" hangingPunct="1"/>
            <a:r>
              <a:rPr lang="zh-CN" altLang="en-US" sz="1633">
                <a:latin typeface="Times New Roman" panose="02020603050405020304" pitchFamily="18" charset="0"/>
                <a:cs typeface="Times New Roman" panose="02020603050405020304" pitchFamily="18" charset="0"/>
              </a:rPr>
              <a:t>过氧化二异丙苯</a:t>
            </a:r>
          </a:p>
        </p:txBody>
      </p:sp>
      <p:sp>
        <p:nvSpPr>
          <p:cNvPr id="56327" name="TextBox 8"/>
          <p:cNvSpPr txBox="1">
            <a:spLocks noChangeArrowheads="1"/>
          </p:cNvSpPr>
          <p:nvPr/>
        </p:nvSpPr>
        <p:spPr bwMode="auto">
          <a:xfrm>
            <a:off x="817987" y="4204889"/>
            <a:ext cx="5485390" cy="7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177" dirty="0" err="1">
                <a:latin typeface="Times New Roman" panose="02020603050405020304" pitchFamily="18" charset="0"/>
                <a:cs typeface="Times New Roman" panose="02020603050405020304" pitchFamily="18" charset="0"/>
              </a:rPr>
              <a:t>Hyroperoxides</a:t>
            </a:r>
            <a:r>
              <a:rPr lang="en-US" altLang="zh-CN" sz="2177" dirty="0">
                <a:latin typeface="Times New Roman" panose="02020603050405020304" pitchFamily="18" charset="0"/>
                <a:cs typeface="Times New Roman" panose="02020603050405020304" pitchFamily="18" charset="0"/>
              </a:rPr>
              <a:t> such as </a:t>
            </a:r>
            <a:r>
              <a:rPr lang="en-US" altLang="zh-CN" sz="2177" i="1" dirty="0">
                <a:latin typeface="Times New Roman" panose="02020603050405020304" pitchFamily="18" charset="0"/>
                <a:cs typeface="Times New Roman" panose="02020603050405020304" pitchFamily="18" charset="0"/>
              </a:rPr>
              <a:t>t</a:t>
            </a:r>
            <a:r>
              <a:rPr lang="en-US" altLang="zh-CN" sz="2177" dirty="0">
                <a:latin typeface="Times New Roman" panose="02020603050405020304" pitchFamily="18" charset="0"/>
                <a:cs typeface="Times New Roman" panose="02020603050405020304" pitchFamily="18" charset="0"/>
              </a:rPr>
              <a:t>-butyl and </a:t>
            </a:r>
            <a:r>
              <a:rPr lang="en-US" altLang="zh-CN" sz="2177" dirty="0" err="1">
                <a:latin typeface="Times New Roman" panose="02020603050405020304" pitchFamily="18" charset="0"/>
                <a:cs typeface="Times New Roman" panose="02020603050405020304" pitchFamily="18" charset="0"/>
              </a:rPr>
              <a:t>cumyl</a:t>
            </a:r>
            <a:r>
              <a:rPr lang="en-US" altLang="zh-CN" sz="2177" dirty="0">
                <a:latin typeface="Times New Roman" panose="02020603050405020304" pitchFamily="18" charset="0"/>
                <a:cs typeface="Times New Roman" panose="02020603050405020304" pitchFamily="18" charset="0"/>
              </a:rPr>
              <a:t> </a:t>
            </a:r>
            <a:r>
              <a:rPr lang="en-US" altLang="zh-CN" sz="2177" dirty="0" err="1">
                <a:latin typeface="Times New Roman" panose="02020603050405020304" pitchFamily="18" charset="0"/>
                <a:cs typeface="Times New Roman" panose="02020603050405020304" pitchFamily="18" charset="0"/>
              </a:rPr>
              <a:t>hydroperoxides</a:t>
            </a:r>
            <a:r>
              <a:rPr lang="en-US" altLang="zh-CN" sz="2177" dirty="0">
                <a:latin typeface="Times New Roman" panose="02020603050405020304" pitchFamily="18" charset="0"/>
                <a:cs typeface="Times New Roman" panose="02020603050405020304" pitchFamily="18" charset="0"/>
              </a:rPr>
              <a:t>:</a:t>
            </a:r>
            <a:endParaRPr lang="zh-CN" altLang="en-US" sz="2177" dirty="0">
              <a:latin typeface="Times New Roman" panose="02020603050405020304" pitchFamily="18" charset="0"/>
              <a:cs typeface="Times New Roman" panose="02020603050405020304" pitchFamily="18" charset="0"/>
            </a:endParaRPr>
          </a:p>
        </p:txBody>
      </p:sp>
      <p:graphicFrame>
        <p:nvGraphicFramePr>
          <p:cNvPr id="56328" name="对象 9"/>
          <p:cNvGraphicFramePr>
            <a:graphicFrameLocks noChangeAspect="1"/>
          </p:cNvGraphicFramePr>
          <p:nvPr>
            <p:extLst/>
          </p:nvPr>
        </p:nvGraphicFramePr>
        <p:xfrm>
          <a:off x="846004" y="5502763"/>
          <a:ext cx="4187850" cy="760380"/>
        </p:xfrm>
        <a:graphic>
          <a:graphicData uri="http://schemas.openxmlformats.org/presentationml/2006/ole">
            <mc:AlternateContent xmlns:mc="http://schemas.openxmlformats.org/markup-compatibility/2006">
              <mc:Choice xmlns:v="urn:schemas-microsoft-com:vml" Requires="v">
                <p:oleObj spid="_x0000_s3091" name="CS ChemDraw Drawing" r:id="rId7" imgW="2928781" imgH="531509" progId="ChemDraw.Document.6.0">
                  <p:embed/>
                </p:oleObj>
              </mc:Choice>
              <mc:Fallback>
                <p:oleObj name="CS ChemDraw Drawing" r:id="rId7" imgW="2928781" imgH="531509" progId="ChemDraw.Document.6.0">
                  <p:embed/>
                  <p:pic>
                    <p:nvPicPr>
                      <p:cNvPr id="56328"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6004" y="5502763"/>
                        <a:ext cx="4187850" cy="76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3"/>
          <p:cNvSpPr txBox="1">
            <a:spLocks noChangeArrowheads="1"/>
          </p:cNvSpPr>
          <p:nvPr/>
        </p:nvSpPr>
        <p:spPr bwMode="auto">
          <a:xfrm>
            <a:off x="6851170" y="1665569"/>
            <a:ext cx="4685766" cy="11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540" dirty="0">
                <a:latin typeface="Times New Roman" panose="02020603050405020304" pitchFamily="18" charset="0"/>
                <a:cs typeface="Times New Roman" panose="02020603050405020304" pitchFamily="18" charset="0"/>
              </a:rPr>
              <a:t>新近发展的高活性引发剂有</a:t>
            </a:r>
            <a:r>
              <a:rPr lang="zh-CN" altLang="en-US" sz="2540" b="1" dirty="0">
                <a:solidFill>
                  <a:srgbClr val="FF0000"/>
                </a:solidFill>
                <a:latin typeface="Times New Roman" panose="02020603050405020304" pitchFamily="18" charset="0"/>
                <a:cs typeface="Times New Roman" panose="02020603050405020304" pitchFamily="18" charset="0"/>
              </a:rPr>
              <a:t>过氧化二碳酸酯</a:t>
            </a:r>
            <a:r>
              <a:rPr lang="zh-CN" altLang="en-US" sz="2540" dirty="0">
                <a:latin typeface="Times New Roman" panose="02020603050405020304" pitchFamily="18" charset="0"/>
                <a:cs typeface="Times New Roman" panose="02020603050405020304" pitchFamily="18" charset="0"/>
              </a:rPr>
              <a:t>类。</a:t>
            </a:r>
          </a:p>
        </p:txBody>
      </p:sp>
      <p:sp>
        <p:nvSpPr>
          <p:cNvPr id="10" name="TextBox 6"/>
          <p:cNvSpPr txBox="1">
            <a:spLocks noChangeArrowheads="1"/>
          </p:cNvSpPr>
          <p:nvPr/>
        </p:nvSpPr>
        <p:spPr bwMode="auto">
          <a:xfrm>
            <a:off x="6841787" y="5335945"/>
            <a:ext cx="4568303" cy="59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633" b="1" i="1">
                <a:latin typeface="Times New Roman" panose="02020603050405020304" pitchFamily="18" charset="0"/>
                <a:cs typeface="Times New Roman" panose="02020603050405020304" pitchFamily="18" charset="0"/>
              </a:rPr>
              <a:t>bis</a:t>
            </a:r>
            <a:r>
              <a:rPr lang="en-US" altLang="zh-CN" sz="1633" b="1">
                <a:latin typeface="Times New Roman" panose="02020603050405020304" pitchFamily="18" charset="0"/>
                <a:cs typeface="Times New Roman" panose="02020603050405020304" pitchFamily="18" charset="0"/>
              </a:rPr>
              <a:t>(4-</a:t>
            </a:r>
            <a:r>
              <a:rPr lang="en-US" altLang="zh-CN" sz="1633" b="1" i="1">
                <a:latin typeface="Times New Roman" panose="02020603050405020304" pitchFamily="18" charset="0"/>
                <a:cs typeface="Times New Roman" panose="02020603050405020304" pitchFamily="18" charset="0"/>
              </a:rPr>
              <a:t>t</a:t>
            </a:r>
            <a:r>
              <a:rPr lang="en-US" altLang="zh-CN" sz="1633" b="1">
                <a:latin typeface="Times New Roman" panose="02020603050405020304" pitchFamily="18" charset="0"/>
                <a:cs typeface="Times New Roman" panose="02020603050405020304" pitchFamily="18" charset="0"/>
              </a:rPr>
              <a:t>-butylcyclohexyl) </a:t>
            </a:r>
            <a:r>
              <a:rPr lang="en-US" altLang="zh-CN" sz="1633" b="1">
                <a:solidFill>
                  <a:srgbClr val="FF0000"/>
                </a:solidFill>
                <a:latin typeface="Times New Roman" panose="02020603050405020304" pitchFamily="18" charset="0"/>
                <a:cs typeface="Times New Roman" panose="02020603050405020304" pitchFamily="18" charset="0"/>
              </a:rPr>
              <a:t>peroxidicarbonate</a:t>
            </a:r>
            <a:r>
              <a:rPr lang="en-US" altLang="zh-CN" sz="1633" b="1">
                <a:latin typeface="Times New Roman" panose="02020603050405020304" pitchFamily="18" charset="0"/>
                <a:cs typeface="Times New Roman" panose="02020603050405020304" pitchFamily="18" charset="0"/>
              </a:rPr>
              <a:t> (BCP)</a:t>
            </a:r>
            <a:endParaRPr lang="en-US" altLang="zh-CN" sz="1633" b="1" i="1">
              <a:latin typeface="Times New Roman" panose="02020603050405020304" pitchFamily="18" charset="0"/>
              <a:cs typeface="Times New Roman" panose="02020603050405020304" pitchFamily="18" charset="0"/>
            </a:endParaRPr>
          </a:p>
          <a:p>
            <a:pPr algn="ctr" eaLnBrk="1" hangingPunct="1"/>
            <a:r>
              <a:rPr lang="zh-CN" altLang="en-US" sz="1633">
                <a:latin typeface="Times New Roman" panose="02020603050405020304" pitchFamily="18" charset="0"/>
                <a:cs typeface="Times New Roman" panose="02020603050405020304" pitchFamily="18" charset="0"/>
              </a:rPr>
              <a:t>双（</a:t>
            </a:r>
            <a:r>
              <a:rPr lang="en-US" altLang="zh-CN" sz="1633">
                <a:latin typeface="Times New Roman" panose="02020603050405020304" pitchFamily="18" charset="0"/>
                <a:cs typeface="Times New Roman" panose="02020603050405020304" pitchFamily="18" charset="0"/>
              </a:rPr>
              <a:t>4-</a:t>
            </a:r>
            <a:r>
              <a:rPr lang="zh-CN" altLang="en-US" sz="1633">
                <a:latin typeface="Times New Roman" panose="02020603050405020304" pitchFamily="18" charset="0"/>
                <a:cs typeface="Times New Roman" panose="02020603050405020304" pitchFamily="18" charset="0"/>
              </a:rPr>
              <a:t>叔丁基环己基）过氧化二碳酸酯</a:t>
            </a:r>
          </a:p>
        </p:txBody>
      </p:sp>
      <p:graphicFrame>
        <p:nvGraphicFramePr>
          <p:cNvPr id="11" name="对象 10"/>
          <p:cNvGraphicFramePr>
            <a:graphicFrameLocks noChangeAspect="1"/>
          </p:cNvGraphicFramePr>
          <p:nvPr>
            <p:extLst/>
          </p:nvPr>
        </p:nvGraphicFramePr>
        <p:xfrm>
          <a:off x="6984197" y="3174299"/>
          <a:ext cx="4977032" cy="545290"/>
        </p:xfrm>
        <a:graphic>
          <a:graphicData uri="http://schemas.openxmlformats.org/presentationml/2006/ole">
            <mc:AlternateContent xmlns:mc="http://schemas.openxmlformats.org/markup-compatibility/2006">
              <mc:Choice xmlns:v="urn:schemas-microsoft-com:vml" Requires="v">
                <p:oleObj spid="_x0000_s3092" name="CS ChemDraw Drawing" r:id="rId9" imgW="3172711" imgH="346953" progId="ChemDraw.Document.6.0">
                  <p:embed/>
                </p:oleObj>
              </mc:Choice>
              <mc:Fallback>
                <p:oleObj name="CS ChemDraw Drawing" r:id="rId9" imgW="3172711" imgH="346953" progId="ChemDraw.Document.6.0">
                  <p:embed/>
                  <p:pic>
                    <p:nvPicPr>
                      <p:cNvPr id="11"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84197" y="3174299"/>
                        <a:ext cx="4977032" cy="545290"/>
                      </a:xfrm>
                      <a:prstGeom prst="rect">
                        <a:avLst/>
                      </a:prstGeom>
                      <a:noFill/>
                      <a:ln>
                        <a:noFill/>
                      </a:ln>
                      <a:extLst/>
                    </p:spPr>
                  </p:pic>
                </p:oleObj>
              </mc:Fallback>
            </mc:AlternateContent>
          </a:graphicData>
        </a:graphic>
      </p:graphicFrame>
      <p:graphicFrame>
        <p:nvGraphicFramePr>
          <p:cNvPr id="12" name="对象 12"/>
          <p:cNvGraphicFramePr>
            <a:graphicFrameLocks noChangeAspect="1"/>
          </p:cNvGraphicFramePr>
          <p:nvPr>
            <p:extLst/>
          </p:nvPr>
        </p:nvGraphicFramePr>
        <p:xfrm>
          <a:off x="6984198" y="4283322"/>
          <a:ext cx="4419708" cy="675413"/>
        </p:xfrm>
        <a:graphic>
          <a:graphicData uri="http://schemas.openxmlformats.org/presentationml/2006/ole">
            <mc:AlternateContent xmlns:mc="http://schemas.openxmlformats.org/markup-compatibility/2006">
              <mc:Choice xmlns:v="urn:schemas-microsoft-com:vml" Requires="v">
                <p:oleObj spid="_x0000_s3093" name="CS ChemDraw Drawing" r:id="rId11" imgW="2783720" imgH="426126" progId="ChemDraw.Document.6.0">
                  <p:embed/>
                </p:oleObj>
              </mc:Choice>
              <mc:Fallback>
                <p:oleObj name="CS ChemDraw Drawing" r:id="rId11" imgW="2783720" imgH="426126" progId="ChemDraw.Document.6.0">
                  <p:embed/>
                  <p:pic>
                    <p:nvPicPr>
                      <p:cNvPr id="12" name="对象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4198" y="4283322"/>
                        <a:ext cx="4419708" cy="67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Box 3"/>
          <p:cNvSpPr txBox="1">
            <a:spLocks noChangeArrowheads="1"/>
          </p:cNvSpPr>
          <p:nvPr/>
        </p:nvSpPr>
        <p:spPr bwMode="auto">
          <a:xfrm>
            <a:off x="3741415" y="1286113"/>
            <a:ext cx="4493154" cy="1320811"/>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540">
                <a:latin typeface="Times New Roman" panose="02020603050405020304" pitchFamily="18" charset="0"/>
                <a:cs typeface="Times New Roman" panose="02020603050405020304" pitchFamily="18" charset="0"/>
              </a:rPr>
              <a:t>偶氮类引发剂和有机过氧化类引发剂均属于</a:t>
            </a:r>
            <a:r>
              <a:rPr lang="zh-CN" altLang="en-US" sz="2903" b="1">
                <a:solidFill>
                  <a:srgbClr val="FF0000"/>
                </a:solidFill>
                <a:latin typeface="Times New Roman" panose="02020603050405020304" pitchFamily="18" charset="0"/>
                <a:cs typeface="Times New Roman" panose="02020603050405020304" pitchFamily="18" charset="0"/>
              </a:rPr>
              <a:t>油溶性引发剂</a:t>
            </a:r>
            <a:r>
              <a:rPr lang="en-US" altLang="zh-CN" sz="2540">
                <a:latin typeface="Times New Roman" panose="02020603050405020304" pitchFamily="18" charset="0"/>
                <a:cs typeface="Times New Roman" panose="02020603050405020304" pitchFamily="18" charset="0"/>
              </a:rPr>
              <a:t>(Oil-soluble Initiators).</a:t>
            </a:r>
            <a:endParaRPr lang="zh-CN" altLang="en-US" sz="2540">
              <a:latin typeface="Times New Roman" panose="02020603050405020304" pitchFamily="18" charset="0"/>
              <a:cs typeface="Times New Roman" panose="02020603050405020304" pitchFamily="18" charset="0"/>
            </a:endParaRPr>
          </a:p>
        </p:txBody>
      </p:sp>
      <p:cxnSp>
        <p:nvCxnSpPr>
          <p:cNvPr id="6" name="直接箭头连接符 5"/>
          <p:cNvCxnSpPr>
            <a:stCxn id="58370" idx="2"/>
          </p:cNvCxnSpPr>
          <p:nvPr/>
        </p:nvCxnSpPr>
        <p:spPr>
          <a:xfrm>
            <a:off x="5987992" y="2606924"/>
            <a:ext cx="0" cy="1513334"/>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8372" name="TextBox 8"/>
          <p:cNvSpPr txBox="1">
            <a:spLocks noChangeArrowheads="1"/>
          </p:cNvSpPr>
          <p:nvPr/>
        </p:nvSpPr>
        <p:spPr bwMode="auto">
          <a:xfrm>
            <a:off x="3261857" y="4141857"/>
            <a:ext cx="5530035" cy="1777090"/>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540">
                <a:latin typeface="Times New Roman" panose="02020603050405020304" pitchFamily="18" charset="0"/>
                <a:cs typeface="Times New Roman" panose="02020603050405020304" pitchFamily="18" charset="0"/>
              </a:rPr>
              <a:t>本体聚合 </a:t>
            </a:r>
            <a:r>
              <a:rPr lang="en-US" altLang="zh-CN" sz="2540">
                <a:latin typeface="Times New Roman" panose="02020603050405020304" pitchFamily="18" charset="0"/>
                <a:cs typeface="Times New Roman" panose="02020603050405020304" pitchFamily="18" charset="0"/>
              </a:rPr>
              <a:t>Bulk Polymerization</a:t>
            </a:r>
          </a:p>
          <a:p>
            <a:pPr eaLnBrk="1" hangingPunct="1">
              <a:lnSpc>
                <a:spcPct val="150000"/>
              </a:lnSpc>
            </a:pPr>
            <a:r>
              <a:rPr lang="zh-CN" altLang="en-US" sz="2540">
                <a:latin typeface="Times New Roman" panose="02020603050405020304" pitchFamily="18" charset="0"/>
                <a:cs typeface="Times New Roman" panose="02020603050405020304" pitchFamily="18" charset="0"/>
              </a:rPr>
              <a:t>悬浮聚合 </a:t>
            </a:r>
            <a:r>
              <a:rPr lang="en-US" altLang="zh-CN" sz="2540">
                <a:latin typeface="Times New Roman" panose="02020603050405020304" pitchFamily="18" charset="0"/>
                <a:cs typeface="Times New Roman" panose="02020603050405020304" pitchFamily="18" charset="0"/>
              </a:rPr>
              <a:t>Suspension Polymerization</a:t>
            </a:r>
          </a:p>
          <a:p>
            <a:pPr eaLnBrk="1" hangingPunct="1">
              <a:lnSpc>
                <a:spcPct val="150000"/>
              </a:lnSpc>
            </a:pPr>
            <a:r>
              <a:rPr lang="zh-CN" altLang="en-US" sz="2540">
                <a:latin typeface="Times New Roman" panose="02020603050405020304" pitchFamily="18" charset="0"/>
                <a:cs typeface="Times New Roman" panose="02020603050405020304" pitchFamily="18" charset="0"/>
              </a:rPr>
              <a:t>溶液聚合 </a:t>
            </a:r>
            <a:r>
              <a:rPr lang="en-US" altLang="zh-CN" sz="2540">
                <a:latin typeface="Times New Roman" panose="02020603050405020304" pitchFamily="18" charset="0"/>
                <a:cs typeface="Times New Roman" panose="02020603050405020304" pitchFamily="18" charset="0"/>
              </a:rPr>
              <a:t>Solution Polymerization</a:t>
            </a:r>
            <a:endParaRPr lang="zh-CN" altLang="en-US" sz="2540">
              <a:latin typeface="Times New Roman" panose="02020603050405020304" pitchFamily="18" charset="0"/>
              <a:cs typeface="Times New Roman" panose="02020603050405020304" pitchFamily="18" charset="0"/>
            </a:endParaRPr>
          </a:p>
        </p:txBody>
      </p:sp>
      <p:sp>
        <p:nvSpPr>
          <p:cNvPr id="58373" name="TextBox 9"/>
          <p:cNvSpPr txBox="1">
            <a:spLocks noChangeArrowheads="1"/>
          </p:cNvSpPr>
          <p:nvPr/>
        </p:nvSpPr>
        <p:spPr bwMode="auto">
          <a:xfrm>
            <a:off x="4989993" y="3191382"/>
            <a:ext cx="1244258"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33"/>
              <a:t>用于</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725262" y="3567855"/>
            <a:ext cx="172814"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2944160" y="3683066"/>
            <a:ext cx="17281" cy="182895"/>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2957120" y="3285595"/>
            <a:ext cx="18722"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3070892" y="3567855"/>
            <a:ext cx="174253"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3430918" y="3567855"/>
            <a:ext cx="172814"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3802467" y="3567855"/>
            <a:ext cx="172814" cy="18722"/>
          </a:xfrm>
          <a:custGeom>
            <a:avLst/>
            <a:gdLst>
              <a:gd name="connsiteX0" fmla="*/ 6350 w 191007"/>
              <a:gd name="connsiteY0" fmla="*/ 6350 h 19773"/>
              <a:gd name="connsiteX1" fmla="*/ 184657 w 191007"/>
              <a:gd name="connsiteY1" fmla="*/ 6350 h 19773"/>
            </a:gdLst>
            <a:ahLst/>
            <a:cxnLst>
              <a:cxn ang="0">
                <a:pos x="connsiteX0" y="connsiteY0"/>
              </a:cxn>
              <a:cxn ang="1">
                <a:pos x="connsiteX1" y="connsiteY1"/>
              </a:cxn>
            </a:cxnLst>
            <a:rect l="l" t="t" r="r" b="b"/>
            <a:pathLst>
              <a:path w="191007" h="19773">
                <a:moveTo>
                  <a:pt x="6350" y="6350"/>
                </a:moveTo>
                <a:lnTo>
                  <a:pt x="184657"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4175456" y="3567855"/>
            <a:ext cx="172814"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4034325" y="3696026"/>
            <a:ext cx="18722" cy="182894"/>
          </a:xfrm>
          <a:custGeom>
            <a:avLst/>
            <a:gdLst>
              <a:gd name="connsiteX0" fmla="*/ 6350 w 19773"/>
              <a:gd name="connsiteY0" fmla="*/ 6350 h 200913"/>
              <a:gd name="connsiteX1" fmla="*/ 6350 w 19773"/>
              <a:gd name="connsiteY1" fmla="*/ 194563 h 200913"/>
            </a:gdLst>
            <a:ahLst/>
            <a:cxnLst>
              <a:cxn ang="0">
                <a:pos x="connsiteX0" y="connsiteY0"/>
              </a:cxn>
              <a:cxn ang="1">
                <a:pos x="connsiteX1" y="connsiteY1"/>
              </a:cxn>
            </a:cxnLst>
            <a:rect l="l" t="t" r="r" b="b"/>
            <a:pathLst>
              <a:path w="19773" h="200913">
                <a:moveTo>
                  <a:pt x="6350" y="6350"/>
                </a:moveTo>
                <a:lnTo>
                  <a:pt x="6350" y="19456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0" name="Freeform 3"/>
          <p:cNvSpPr/>
          <p:nvPr/>
        </p:nvSpPr>
        <p:spPr>
          <a:xfrm>
            <a:off x="4034325" y="3311517"/>
            <a:ext cx="18722"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Freeform 3"/>
          <p:cNvSpPr/>
          <p:nvPr/>
        </p:nvSpPr>
        <p:spPr>
          <a:xfrm>
            <a:off x="2996004" y="3285595"/>
            <a:ext cx="17281"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2" name="Freeform 3"/>
          <p:cNvSpPr/>
          <p:nvPr/>
        </p:nvSpPr>
        <p:spPr>
          <a:xfrm>
            <a:off x="2983043" y="3683066"/>
            <a:ext cx="17281" cy="182895"/>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3" name="Freeform 3"/>
          <p:cNvSpPr/>
          <p:nvPr/>
        </p:nvSpPr>
        <p:spPr>
          <a:xfrm>
            <a:off x="4073211" y="3696026"/>
            <a:ext cx="18721" cy="182894"/>
          </a:xfrm>
          <a:custGeom>
            <a:avLst/>
            <a:gdLst>
              <a:gd name="connsiteX0" fmla="*/ 6350 w 19773"/>
              <a:gd name="connsiteY0" fmla="*/ 6350 h 200913"/>
              <a:gd name="connsiteX1" fmla="*/ 6350 w 19773"/>
              <a:gd name="connsiteY1" fmla="*/ 194563 h 200913"/>
            </a:gdLst>
            <a:ahLst/>
            <a:cxnLst>
              <a:cxn ang="0">
                <a:pos x="connsiteX0" y="connsiteY0"/>
              </a:cxn>
              <a:cxn ang="1">
                <a:pos x="connsiteX1" y="connsiteY1"/>
              </a:cxn>
            </a:cxnLst>
            <a:rect l="l" t="t" r="r" b="b"/>
            <a:pathLst>
              <a:path w="19773" h="200913">
                <a:moveTo>
                  <a:pt x="6350" y="6350"/>
                </a:moveTo>
                <a:lnTo>
                  <a:pt x="6350" y="19456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4" name="Freeform 3"/>
          <p:cNvSpPr/>
          <p:nvPr/>
        </p:nvSpPr>
        <p:spPr>
          <a:xfrm>
            <a:off x="4073211" y="3311517"/>
            <a:ext cx="18721"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5" name="Freeform 3"/>
          <p:cNvSpPr/>
          <p:nvPr/>
        </p:nvSpPr>
        <p:spPr>
          <a:xfrm>
            <a:off x="4783904" y="3584735"/>
            <a:ext cx="522761" cy="17281"/>
          </a:xfrm>
          <a:custGeom>
            <a:avLst/>
            <a:gdLst>
              <a:gd name="connsiteX0" fmla="*/ 6350 w 575818"/>
              <a:gd name="connsiteY0" fmla="*/ 6350 h 19773"/>
              <a:gd name="connsiteX1" fmla="*/ 569467 w 575818"/>
              <a:gd name="connsiteY1" fmla="*/ 6350 h 19773"/>
            </a:gdLst>
            <a:ahLst/>
            <a:cxnLst>
              <a:cxn ang="0">
                <a:pos x="connsiteX0" y="connsiteY0"/>
              </a:cxn>
              <a:cxn ang="1">
                <a:pos x="connsiteX1" y="connsiteY1"/>
              </a:cxn>
            </a:cxnLst>
            <a:rect l="l" t="t" r="r" b="b"/>
            <a:pathLst>
              <a:path w="575818" h="19773">
                <a:moveTo>
                  <a:pt x="6350" y="6350"/>
                </a:moveTo>
                <a:lnTo>
                  <a:pt x="569467"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6" name="Freeform 3"/>
          <p:cNvSpPr/>
          <p:nvPr/>
        </p:nvSpPr>
        <p:spPr>
          <a:xfrm>
            <a:off x="5196499" y="3541935"/>
            <a:ext cx="139691" cy="89287"/>
          </a:xfrm>
          <a:custGeom>
            <a:avLst/>
            <a:gdLst>
              <a:gd name="connsiteX0" fmla="*/ 148081 w 154432"/>
              <a:gd name="connsiteY0" fmla="*/ 48259 h 97281"/>
              <a:gd name="connsiteX1" fmla="*/ 6350 w 154432"/>
              <a:gd name="connsiteY1" fmla="*/ 90932 h 97281"/>
              <a:gd name="connsiteX2" fmla="*/ 34544 w 154432"/>
              <a:gd name="connsiteY2" fmla="*/ 48259 h 97281"/>
              <a:gd name="connsiteX3" fmla="*/ 6350 w 154432"/>
              <a:gd name="connsiteY3" fmla="*/ 6350 h 97281"/>
              <a:gd name="connsiteX4" fmla="*/ 148081 w 154432"/>
              <a:gd name="connsiteY4" fmla="*/ 48259 h 9728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4432" h="97281">
                <a:moveTo>
                  <a:pt x="148081" y="48259"/>
                </a:moveTo>
                <a:lnTo>
                  <a:pt x="6350" y="90932"/>
                </a:lnTo>
                <a:lnTo>
                  <a:pt x="34544" y="48259"/>
                </a:lnTo>
                <a:lnTo>
                  <a:pt x="6350" y="6350"/>
                </a:lnTo>
                <a:lnTo>
                  <a:pt x="148081" y="48259"/>
                </a:lnTo>
              </a:path>
            </a:pathLst>
          </a:cu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7" name="Freeform 3"/>
          <p:cNvSpPr/>
          <p:nvPr/>
        </p:nvSpPr>
        <p:spPr>
          <a:xfrm>
            <a:off x="6023122" y="3567855"/>
            <a:ext cx="172814"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8" name="Freeform 3"/>
          <p:cNvSpPr/>
          <p:nvPr/>
        </p:nvSpPr>
        <p:spPr>
          <a:xfrm>
            <a:off x="6242021" y="3683066"/>
            <a:ext cx="18721" cy="182895"/>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9" name="Freeform 3"/>
          <p:cNvSpPr/>
          <p:nvPr/>
        </p:nvSpPr>
        <p:spPr>
          <a:xfrm>
            <a:off x="6254980" y="3285595"/>
            <a:ext cx="18722"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0" name="Freeform 3"/>
          <p:cNvSpPr/>
          <p:nvPr/>
        </p:nvSpPr>
        <p:spPr>
          <a:xfrm>
            <a:off x="6368751" y="3567855"/>
            <a:ext cx="174253" cy="18722"/>
          </a:xfrm>
          <a:custGeom>
            <a:avLst/>
            <a:gdLst>
              <a:gd name="connsiteX0" fmla="*/ 6350 w 191007"/>
              <a:gd name="connsiteY0" fmla="*/ 6350 h 19773"/>
              <a:gd name="connsiteX1" fmla="*/ 184658 w 191007"/>
              <a:gd name="connsiteY1" fmla="*/ 6350 h 19773"/>
            </a:gdLst>
            <a:ahLst/>
            <a:cxnLst>
              <a:cxn ang="0">
                <a:pos x="connsiteX0" y="connsiteY0"/>
              </a:cxn>
              <a:cxn ang="1">
                <a:pos x="connsiteX1" y="connsiteY1"/>
              </a:cxn>
            </a:cxnLst>
            <a:rect l="l" t="t" r="r" b="b"/>
            <a:pathLst>
              <a:path w="191007" h="19773">
                <a:moveTo>
                  <a:pt x="6350" y="6350"/>
                </a:moveTo>
                <a:lnTo>
                  <a:pt x="184658"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1" name="Freeform 3"/>
          <p:cNvSpPr/>
          <p:nvPr/>
        </p:nvSpPr>
        <p:spPr>
          <a:xfrm>
            <a:off x="6293865" y="3285595"/>
            <a:ext cx="18721"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2" name="Freeform 3"/>
          <p:cNvSpPr/>
          <p:nvPr/>
        </p:nvSpPr>
        <p:spPr>
          <a:xfrm>
            <a:off x="6280902" y="3683066"/>
            <a:ext cx="17281" cy="182895"/>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3" name="Freeform 3"/>
          <p:cNvSpPr/>
          <p:nvPr/>
        </p:nvSpPr>
        <p:spPr>
          <a:xfrm>
            <a:off x="6753259" y="3501610"/>
            <a:ext cx="41764" cy="41764"/>
          </a:xfrm>
          <a:custGeom>
            <a:avLst/>
            <a:gdLst>
              <a:gd name="connsiteX0" fmla="*/ 39877 w 46227"/>
              <a:gd name="connsiteY0" fmla="*/ 23114 h 46228"/>
              <a:gd name="connsiteX1" fmla="*/ 23113 w 46227"/>
              <a:gd name="connsiteY1" fmla="*/ 6350 h 46228"/>
              <a:gd name="connsiteX2" fmla="*/ 6350 w 46227"/>
              <a:gd name="connsiteY2" fmla="*/ 23114 h 46228"/>
              <a:gd name="connsiteX3" fmla="*/ 23113 w 46227"/>
              <a:gd name="connsiteY3" fmla="*/ 39877 h 46228"/>
              <a:gd name="connsiteX4" fmla="*/ 39877 w 46227"/>
              <a:gd name="connsiteY4" fmla="*/ 23114 h 4622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27" h="46228">
                <a:moveTo>
                  <a:pt x="39877" y="23114"/>
                </a:moveTo>
                <a:cubicBezTo>
                  <a:pt x="39877" y="13208"/>
                  <a:pt x="32257" y="6350"/>
                  <a:pt x="23113" y="6350"/>
                </a:cubicBezTo>
                <a:cubicBezTo>
                  <a:pt x="13207" y="6350"/>
                  <a:pt x="6350" y="13208"/>
                  <a:pt x="6350" y="23114"/>
                </a:cubicBezTo>
                <a:cubicBezTo>
                  <a:pt x="6350" y="32258"/>
                  <a:pt x="13207" y="39877"/>
                  <a:pt x="23113" y="39877"/>
                </a:cubicBezTo>
                <a:cubicBezTo>
                  <a:pt x="32257" y="39877"/>
                  <a:pt x="39877" y="32258"/>
                  <a:pt x="39877" y="23114"/>
                </a:cubicBezTo>
              </a:path>
            </a:pathLst>
          </a:cu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34" name="Freeform 3"/>
          <p:cNvSpPr/>
          <p:nvPr/>
        </p:nvSpPr>
        <p:spPr>
          <a:xfrm>
            <a:off x="6892953" y="3554896"/>
            <a:ext cx="521321" cy="17281"/>
          </a:xfrm>
          <a:custGeom>
            <a:avLst/>
            <a:gdLst>
              <a:gd name="connsiteX0" fmla="*/ 6350 w 575043"/>
              <a:gd name="connsiteY0" fmla="*/ 6350 h 19773"/>
              <a:gd name="connsiteX1" fmla="*/ 568693 w 575043"/>
              <a:gd name="connsiteY1" fmla="*/ 6350 h 19773"/>
            </a:gdLst>
            <a:ahLst/>
            <a:cxnLst>
              <a:cxn ang="0">
                <a:pos x="connsiteX0" y="connsiteY0"/>
              </a:cxn>
              <a:cxn ang="1">
                <a:pos x="connsiteX1" y="connsiteY1"/>
              </a:cxn>
            </a:cxnLst>
            <a:rect l="l" t="t" r="r" b="b"/>
            <a:pathLst>
              <a:path w="575043" h="19773">
                <a:moveTo>
                  <a:pt x="6350" y="6350"/>
                </a:moveTo>
                <a:lnTo>
                  <a:pt x="568693"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5" name="Freeform 3"/>
          <p:cNvSpPr/>
          <p:nvPr/>
        </p:nvSpPr>
        <p:spPr>
          <a:xfrm>
            <a:off x="7276020" y="3516013"/>
            <a:ext cx="138251" cy="89287"/>
          </a:xfrm>
          <a:custGeom>
            <a:avLst/>
            <a:gdLst>
              <a:gd name="connsiteX0" fmla="*/ 147307 w 153657"/>
              <a:gd name="connsiteY0" fmla="*/ 49021 h 98043"/>
              <a:gd name="connsiteX1" fmla="*/ 6350 w 153657"/>
              <a:gd name="connsiteY1" fmla="*/ 91694 h 98043"/>
              <a:gd name="connsiteX2" fmla="*/ 34531 w 153657"/>
              <a:gd name="connsiteY2" fmla="*/ 49021 h 98043"/>
              <a:gd name="connsiteX3" fmla="*/ 6350 w 153657"/>
              <a:gd name="connsiteY3" fmla="*/ 6350 h 98043"/>
              <a:gd name="connsiteX4" fmla="*/ 147307 w 153657"/>
              <a:gd name="connsiteY4" fmla="*/ 49021 h 9804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53657" h="98043">
                <a:moveTo>
                  <a:pt x="147307" y="49021"/>
                </a:moveTo>
                <a:lnTo>
                  <a:pt x="6350" y="91694"/>
                </a:lnTo>
                <a:lnTo>
                  <a:pt x="34531" y="49021"/>
                </a:lnTo>
                <a:lnTo>
                  <a:pt x="6350" y="6350"/>
                </a:lnTo>
                <a:lnTo>
                  <a:pt x="147307" y="49021"/>
                </a:lnTo>
              </a:path>
            </a:pathLst>
          </a:cu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36" name="Freeform 3"/>
          <p:cNvSpPr/>
          <p:nvPr/>
        </p:nvSpPr>
        <p:spPr>
          <a:xfrm>
            <a:off x="8050801" y="3554896"/>
            <a:ext cx="172814" cy="17281"/>
          </a:xfrm>
          <a:custGeom>
            <a:avLst/>
            <a:gdLst>
              <a:gd name="connsiteX0" fmla="*/ 6350 w 190995"/>
              <a:gd name="connsiteY0" fmla="*/ 6350 h 19773"/>
              <a:gd name="connsiteX1" fmla="*/ 184645 w 190995"/>
              <a:gd name="connsiteY1" fmla="*/ 6350 h 19773"/>
            </a:gdLst>
            <a:ahLst/>
            <a:cxnLst>
              <a:cxn ang="0">
                <a:pos x="connsiteX0" y="connsiteY0"/>
              </a:cxn>
              <a:cxn ang="1">
                <a:pos x="connsiteX1" y="connsiteY1"/>
              </a:cxn>
            </a:cxnLst>
            <a:rect l="l" t="t" r="r" b="b"/>
            <a:pathLst>
              <a:path w="190995" h="19773">
                <a:moveTo>
                  <a:pt x="6350" y="6350"/>
                </a:moveTo>
                <a:lnTo>
                  <a:pt x="18464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7" name="Freeform 3"/>
          <p:cNvSpPr/>
          <p:nvPr/>
        </p:nvSpPr>
        <p:spPr>
          <a:xfrm>
            <a:off x="8269699" y="3670104"/>
            <a:ext cx="17281" cy="182894"/>
          </a:xfrm>
          <a:custGeom>
            <a:avLst/>
            <a:gdLst>
              <a:gd name="connsiteX0" fmla="*/ 6350 w 19773"/>
              <a:gd name="connsiteY0" fmla="*/ 6350 h 201676"/>
              <a:gd name="connsiteX1" fmla="*/ 6350 w 19773"/>
              <a:gd name="connsiteY1" fmla="*/ 195325 h 201676"/>
            </a:gdLst>
            <a:ahLst/>
            <a:cxnLst>
              <a:cxn ang="0">
                <a:pos x="connsiteX0" y="connsiteY0"/>
              </a:cxn>
              <a:cxn ang="1">
                <a:pos x="connsiteX1" y="connsiteY1"/>
              </a:cxn>
            </a:cxnLst>
            <a:rect l="l" t="t" r="r" b="b"/>
            <a:pathLst>
              <a:path w="19773" h="201676">
                <a:moveTo>
                  <a:pt x="6350" y="6350"/>
                </a:moveTo>
                <a:lnTo>
                  <a:pt x="6350" y="19532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8" name="Freeform 3"/>
          <p:cNvSpPr/>
          <p:nvPr/>
        </p:nvSpPr>
        <p:spPr>
          <a:xfrm>
            <a:off x="8282660" y="3272635"/>
            <a:ext cx="17281"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9" name="Freeform 3"/>
          <p:cNvSpPr/>
          <p:nvPr/>
        </p:nvSpPr>
        <p:spPr>
          <a:xfrm>
            <a:off x="8396431" y="3554896"/>
            <a:ext cx="174253" cy="17281"/>
          </a:xfrm>
          <a:custGeom>
            <a:avLst/>
            <a:gdLst>
              <a:gd name="connsiteX0" fmla="*/ 6350 w 190995"/>
              <a:gd name="connsiteY0" fmla="*/ 6350 h 19773"/>
              <a:gd name="connsiteX1" fmla="*/ 184645 w 190995"/>
              <a:gd name="connsiteY1" fmla="*/ 6350 h 19773"/>
            </a:gdLst>
            <a:ahLst/>
            <a:cxnLst>
              <a:cxn ang="0">
                <a:pos x="connsiteX0" y="connsiteY0"/>
              </a:cxn>
              <a:cxn ang="1">
                <a:pos x="connsiteX1" y="connsiteY1"/>
              </a:cxn>
            </a:cxnLst>
            <a:rect l="l" t="t" r="r" b="b"/>
            <a:pathLst>
              <a:path w="190995" h="19773">
                <a:moveTo>
                  <a:pt x="6350" y="6350"/>
                </a:moveTo>
                <a:lnTo>
                  <a:pt x="18464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0" name="Freeform 3"/>
          <p:cNvSpPr/>
          <p:nvPr/>
        </p:nvSpPr>
        <p:spPr>
          <a:xfrm>
            <a:off x="8321543" y="3272635"/>
            <a:ext cx="17281" cy="181454"/>
          </a:xfrm>
          <a:custGeom>
            <a:avLst/>
            <a:gdLst>
              <a:gd name="connsiteX0" fmla="*/ 6350 w 19773"/>
              <a:gd name="connsiteY0" fmla="*/ 6350 h 200913"/>
              <a:gd name="connsiteX1" fmla="*/ 6350 w 19773"/>
              <a:gd name="connsiteY1" fmla="*/ 194564 h 200913"/>
            </a:gdLst>
            <a:ahLst/>
            <a:cxnLst>
              <a:cxn ang="0">
                <a:pos x="connsiteX0" y="connsiteY0"/>
              </a:cxn>
              <a:cxn ang="1">
                <a:pos x="connsiteX1" y="connsiteY1"/>
              </a:cxn>
            </a:cxnLst>
            <a:rect l="l" t="t" r="r" b="b"/>
            <a:pathLst>
              <a:path w="19773" h="200913">
                <a:moveTo>
                  <a:pt x="6350" y="6350"/>
                </a:moveTo>
                <a:lnTo>
                  <a:pt x="6350" y="19456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1" name="Freeform 3"/>
          <p:cNvSpPr/>
          <p:nvPr/>
        </p:nvSpPr>
        <p:spPr>
          <a:xfrm>
            <a:off x="8308582" y="3670104"/>
            <a:ext cx="17281" cy="182894"/>
          </a:xfrm>
          <a:custGeom>
            <a:avLst/>
            <a:gdLst>
              <a:gd name="connsiteX0" fmla="*/ 6350 w 19773"/>
              <a:gd name="connsiteY0" fmla="*/ 6350 h 201676"/>
              <a:gd name="connsiteX1" fmla="*/ 6350 w 19773"/>
              <a:gd name="connsiteY1" fmla="*/ 195325 h 201676"/>
            </a:gdLst>
            <a:ahLst/>
            <a:cxnLst>
              <a:cxn ang="0">
                <a:pos x="connsiteX0" y="connsiteY0"/>
              </a:cxn>
              <a:cxn ang="1">
                <a:pos x="connsiteX1" y="connsiteY1"/>
              </a:cxn>
            </a:cxnLst>
            <a:rect l="l" t="t" r="r" b="b"/>
            <a:pathLst>
              <a:path w="19773" h="201676">
                <a:moveTo>
                  <a:pt x="6350" y="6350"/>
                </a:moveTo>
                <a:lnTo>
                  <a:pt x="6350" y="19532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2" name="Freeform 3"/>
          <p:cNvSpPr/>
          <p:nvPr/>
        </p:nvSpPr>
        <p:spPr>
          <a:xfrm>
            <a:off x="7771422" y="3516011"/>
            <a:ext cx="83527" cy="18722"/>
          </a:xfrm>
          <a:custGeom>
            <a:avLst/>
            <a:gdLst>
              <a:gd name="connsiteX0" fmla="*/ 6350 w 91947"/>
              <a:gd name="connsiteY0" fmla="*/ 6350 h 19773"/>
              <a:gd name="connsiteX1" fmla="*/ 85597 w 91947"/>
              <a:gd name="connsiteY1" fmla="*/ 6350 h 19773"/>
            </a:gdLst>
            <a:ahLst/>
            <a:cxnLst>
              <a:cxn ang="0">
                <a:pos x="connsiteX0" y="connsiteY0"/>
              </a:cxn>
              <a:cxn ang="1">
                <a:pos x="connsiteX1" y="connsiteY1"/>
              </a:cxn>
            </a:cxnLst>
            <a:rect l="l" t="t" r="r" b="b"/>
            <a:pathLst>
              <a:path w="91947" h="19773">
                <a:moveTo>
                  <a:pt x="6350" y="6350"/>
                </a:moveTo>
                <a:lnTo>
                  <a:pt x="85597"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3" name="Freeform 3"/>
          <p:cNvSpPr/>
          <p:nvPr/>
        </p:nvSpPr>
        <p:spPr>
          <a:xfrm>
            <a:off x="8780938" y="3487210"/>
            <a:ext cx="41764" cy="43203"/>
          </a:xfrm>
          <a:custGeom>
            <a:avLst/>
            <a:gdLst>
              <a:gd name="connsiteX0" fmla="*/ 39878 w 46228"/>
              <a:gd name="connsiteY0" fmla="*/ 23114 h 46228"/>
              <a:gd name="connsiteX1" fmla="*/ 23114 w 46228"/>
              <a:gd name="connsiteY1" fmla="*/ 6350 h 46228"/>
              <a:gd name="connsiteX2" fmla="*/ 6350 w 46228"/>
              <a:gd name="connsiteY2" fmla="*/ 23114 h 46228"/>
              <a:gd name="connsiteX3" fmla="*/ 23114 w 46228"/>
              <a:gd name="connsiteY3" fmla="*/ 39878 h 46228"/>
              <a:gd name="connsiteX4" fmla="*/ 39878 w 46228"/>
              <a:gd name="connsiteY4" fmla="*/ 23114 h 4622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46228" h="46228">
                <a:moveTo>
                  <a:pt x="39878" y="23114"/>
                </a:moveTo>
                <a:cubicBezTo>
                  <a:pt x="39878" y="13208"/>
                  <a:pt x="32245" y="6350"/>
                  <a:pt x="23114" y="6350"/>
                </a:cubicBezTo>
                <a:cubicBezTo>
                  <a:pt x="13195" y="6350"/>
                  <a:pt x="6350" y="13208"/>
                  <a:pt x="6350" y="23114"/>
                </a:cubicBezTo>
                <a:cubicBezTo>
                  <a:pt x="6350" y="32258"/>
                  <a:pt x="13195" y="39878"/>
                  <a:pt x="23114" y="39878"/>
                </a:cubicBezTo>
                <a:cubicBezTo>
                  <a:pt x="32245" y="39878"/>
                  <a:pt x="39878" y="32258"/>
                  <a:pt x="39878" y="23114"/>
                </a:cubicBezTo>
              </a:path>
            </a:pathLst>
          </a:custGeom>
          <a:noFill/>
          <a:ln w="127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44" name="Freeform 3"/>
          <p:cNvSpPr/>
          <p:nvPr/>
        </p:nvSpPr>
        <p:spPr>
          <a:xfrm>
            <a:off x="9502436" y="3454089"/>
            <a:ext cx="17281" cy="83527"/>
          </a:xfrm>
          <a:custGeom>
            <a:avLst/>
            <a:gdLst>
              <a:gd name="connsiteX0" fmla="*/ 6350 w 19773"/>
              <a:gd name="connsiteY0" fmla="*/ 6350 h 91947"/>
              <a:gd name="connsiteX1" fmla="*/ 6350 w 19773"/>
              <a:gd name="connsiteY1" fmla="*/ 85597 h 91947"/>
            </a:gdLst>
            <a:ahLst/>
            <a:cxnLst>
              <a:cxn ang="0">
                <a:pos x="connsiteX0" y="connsiteY0"/>
              </a:cxn>
              <a:cxn ang="1">
                <a:pos x="connsiteX1" y="connsiteY1"/>
              </a:cxn>
            </a:cxnLst>
            <a:rect l="l" t="t" r="r" b="b"/>
            <a:pathLst>
              <a:path w="19773" h="91947">
                <a:moveTo>
                  <a:pt x="6350" y="6350"/>
                </a:moveTo>
                <a:lnTo>
                  <a:pt x="6350" y="8559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45" name="Freeform 3"/>
          <p:cNvSpPr/>
          <p:nvPr/>
        </p:nvSpPr>
        <p:spPr>
          <a:xfrm>
            <a:off x="9466435" y="3490089"/>
            <a:ext cx="83527" cy="18722"/>
          </a:xfrm>
          <a:custGeom>
            <a:avLst/>
            <a:gdLst>
              <a:gd name="connsiteX0" fmla="*/ 6350 w 91947"/>
              <a:gd name="connsiteY0" fmla="*/ 6350 h 19773"/>
              <a:gd name="connsiteX1" fmla="*/ 85597 w 91947"/>
              <a:gd name="connsiteY1" fmla="*/ 6350 h 19773"/>
            </a:gdLst>
            <a:ahLst/>
            <a:cxnLst>
              <a:cxn ang="0">
                <a:pos x="connsiteX0" y="connsiteY0"/>
              </a:cxn>
              <a:cxn ang="1">
                <a:pos x="connsiteX1" y="connsiteY1"/>
              </a:cxn>
            </a:cxnLst>
            <a:rect l="l" t="t" r="r" b="b"/>
            <a:pathLst>
              <a:path w="91947" h="19773">
                <a:moveTo>
                  <a:pt x="6350" y="6350"/>
                </a:moveTo>
                <a:lnTo>
                  <a:pt x="85597"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59428" name="TextBox 1"/>
          <p:cNvSpPr txBox="1">
            <a:spLocks noChangeArrowheads="1"/>
          </p:cNvSpPr>
          <p:nvPr/>
        </p:nvSpPr>
        <p:spPr bwMode="auto">
          <a:xfrm>
            <a:off x="1032561" y="824654"/>
            <a:ext cx="10383240" cy="2154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38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8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8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8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8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dirty="0"/>
              <a:t>	</a:t>
            </a:r>
            <a:r>
              <a:rPr lang="en-US" altLang="zh-CN" sz="2812" dirty="0" err="1">
                <a:latin typeface="楷体_GB2312"/>
                <a:ea typeface="楷体_GB2312"/>
                <a:cs typeface="楷体_GB2312"/>
              </a:rPr>
              <a:t>无机过氧化物引发剂</a:t>
            </a:r>
            <a:r>
              <a:rPr lang="en-US" altLang="zh-CN" sz="2812" dirty="0">
                <a:latin typeface="楷体_GB2312"/>
                <a:ea typeface="楷体_GB2312"/>
                <a:cs typeface="楷体_GB2312"/>
              </a:rPr>
              <a:t> </a:t>
            </a:r>
            <a:r>
              <a:rPr lang="en-US" altLang="zh-CN" sz="2812" b="1" dirty="0">
                <a:latin typeface="Times New Roman" panose="02020603050405020304" pitchFamily="18" charset="0"/>
                <a:ea typeface="楷体_GB2312"/>
                <a:cs typeface="Times New Roman" panose="02020603050405020304" pitchFamily="18" charset="0"/>
              </a:rPr>
              <a:t>(Inorganic Peroxides)</a:t>
            </a:r>
          </a:p>
          <a:p>
            <a:pPr eaLnBrk="1" hangingPunct="1"/>
            <a:endParaRPr lang="en-US" altLang="zh-CN" sz="1633" dirty="0"/>
          </a:p>
          <a:p>
            <a:pPr eaLnBrk="1" hangingPunct="1"/>
            <a:r>
              <a:rPr lang="en-US" altLang="zh-CN" sz="2540" dirty="0" err="1">
                <a:latin typeface="楷体_GB2312"/>
                <a:ea typeface="楷体_GB2312"/>
                <a:cs typeface="楷体_GB2312"/>
              </a:rPr>
              <a:t>最常用：水溶性过硫酸盐（</a:t>
            </a:r>
            <a:r>
              <a:rPr lang="en-US" altLang="zh-CN" sz="2540" b="1" dirty="0" err="1">
                <a:latin typeface="Times New Roman" panose="02020603050405020304" pitchFamily="18" charset="0"/>
                <a:cs typeface="Times New Roman" panose="02020603050405020304" pitchFamily="18" charset="0"/>
              </a:rPr>
              <a:t>Persulfate</a:t>
            </a:r>
            <a:r>
              <a:rPr lang="en-US" altLang="zh-CN" sz="2540" dirty="0">
                <a:latin typeface="楷体_GB2312"/>
                <a:ea typeface="楷体_GB2312"/>
                <a:cs typeface="楷体_GB2312"/>
              </a:rPr>
              <a:t>）</a:t>
            </a:r>
          </a:p>
          <a:p>
            <a:pPr eaLnBrk="1" hangingPunct="1"/>
            <a:endParaRPr lang="en-US" altLang="zh-CN" sz="1633" dirty="0"/>
          </a:p>
          <a:p>
            <a:pPr eaLnBrk="1" hangingPunct="1"/>
            <a:r>
              <a:rPr lang="en-US" altLang="zh-CN" sz="2540" dirty="0" err="1">
                <a:latin typeface="楷体_GB2312"/>
                <a:ea typeface="楷体_GB2312"/>
                <a:cs typeface="楷体_GB2312"/>
              </a:rPr>
              <a:t>典型代表：过硫酸钾（</a:t>
            </a:r>
            <a:r>
              <a:rPr lang="en-US" altLang="zh-CN" sz="2540" dirty="0" err="1">
                <a:latin typeface="Times New Roman" panose="02020603050405020304" pitchFamily="18" charset="0"/>
                <a:ea typeface="楷体_GB2312"/>
                <a:cs typeface="楷体_GB2312"/>
              </a:rPr>
              <a:t>Potassium</a:t>
            </a:r>
            <a:r>
              <a:rPr lang="en-US" altLang="zh-CN" sz="2540" dirty="0">
                <a:latin typeface="Times New Roman" panose="02020603050405020304" pitchFamily="18" charset="0"/>
                <a:ea typeface="楷体_GB2312"/>
                <a:cs typeface="楷体_GB2312"/>
              </a:rPr>
              <a:t> </a:t>
            </a:r>
            <a:r>
              <a:rPr lang="en-US" altLang="zh-CN" sz="2540" dirty="0" err="1">
                <a:latin typeface="Times New Roman" panose="02020603050405020304" pitchFamily="18" charset="0"/>
                <a:ea typeface="楷体_GB2312"/>
                <a:cs typeface="楷体_GB2312"/>
              </a:rPr>
              <a:t>persulfate</a:t>
            </a:r>
            <a:r>
              <a:rPr lang="en-US" altLang="zh-CN" sz="2540" dirty="0" err="1">
                <a:latin typeface="楷体_GB2312"/>
                <a:ea typeface="楷体_GB2312"/>
                <a:cs typeface="楷体_GB2312"/>
              </a:rPr>
              <a:t>,</a:t>
            </a:r>
            <a:r>
              <a:rPr lang="en-US" altLang="zh-CN" sz="2540" b="1" dirty="0" err="1">
                <a:latin typeface="Times New Roman" panose="02020603050405020304" pitchFamily="18" charset="0"/>
                <a:cs typeface="Times New Roman" panose="02020603050405020304" pitchFamily="18" charset="0"/>
              </a:rPr>
              <a:t>KSP</a:t>
            </a:r>
            <a:r>
              <a:rPr lang="en-US" altLang="zh-CN" sz="2540" dirty="0" err="1">
                <a:latin typeface="楷体_GB2312"/>
                <a:ea typeface="楷体_GB2312"/>
                <a:cs typeface="楷体_GB2312"/>
              </a:rPr>
              <a:t>）和过硫酸铵（</a:t>
            </a:r>
            <a:r>
              <a:rPr lang="en-US" altLang="zh-CN" sz="2540" dirty="0" err="1">
                <a:latin typeface="Times New Roman" panose="02020603050405020304" pitchFamily="18" charset="0"/>
                <a:ea typeface="楷体_GB2312"/>
                <a:cs typeface="楷体_GB2312"/>
              </a:rPr>
              <a:t>Ammoninium</a:t>
            </a:r>
            <a:r>
              <a:rPr lang="en-US" altLang="zh-CN" sz="2540" dirty="0">
                <a:latin typeface="Times New Roman" panose="02020603050405020304" pitchFamily="18" charset="0"/>
                <a:ea typeface="楷体_GB2312"/>
                <a:cs typeface="楷体_GB2312"/>
              </a:rPr>
              <a:t> persulfate, </a:t>
            </a:r>
            <a:r>
              <a:rPr lang="en-US" altLang="zh-CN" sz="2540" b="1" dirty="0">
                <a:latin typeface="Times New Roman" panose="02020603050405020304" pitchFamily="18" charset="0"/>
                <a:cs typeface="Times New Roman" panose="02020603050405020304" pitchFamily="18" charset="0"/>
              </a:rPr>
              <a:t>ASP</a:t>
            </a:r>
            <a:r>
              <a:rPr lang="en-US" altLang="zh-CN" sz="2540" dirty="0">
                <a:latin typeface="楷体_GB2312"/>
                <a:ea typeface="楷体_GB2312"/>
                <a:cs typeface="楷体_GB2312"/>
              </a:rPr>
              <a:t>）</a:t>
            </a:r>
          </a:p>
        </p:txBody>
      </p:sp>
      <p:sp>
        <p:nvSpPr>
          <p:cNvPr id="59429" name="TextBox 1"/>
          <p:cNvSpPr txBox="1">
            <a:spLocks noChangeArrowheads="1"/>
          </p:cNvSpPr>
          <p:nvPr/>
        </p:nvSpPr>
        <p:spPr bwMode="auto">
          <a:xfrm>
            <a:off x="1032561" y="4276912"/>
            <a:ext cx="10320523" cy="1736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698500" algn="l"/>
                <a:tab pos="8229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98500" algn="l"/>
                <a:tab pos="8229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98500" algn="l"/>
                <a:tab pos="8229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98500" algn="l"/>
                <a:tab pos="8229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98500" algn="l"/>
                <a:tab pos="8229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98500" algn="l"/>
                <a:tab pos="8229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98500" algn="l"/>
                <a:tab pos="8229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98500" algn="l"/>
                <a:tab pos="8229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98500" algn="l"/>
                <a:tab pos="8229600" algn="l"/>
              </a:tabLst>
              <a:defRPr>
                <a:solidFill>
                  <a:schemeClr val="tx1"/>
                </a:solidFill>
                <a:latin typeface="Calibri" panose="020F050202020403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Ø"/>
            </a:pPr>
            <a:r>
              <a:rPr lang="en-US" altLang="zh-CN" sz="2540" dirty="0" err="1">
                <a:latin typeface="楷体_GB2312"/>
                <a:ea typeface="楷体_GB2312"/>
                <a:cs typeface="楷体_GB2312"/>
              </a:rPr>
              <a:t>过硫酸盐可单独使用，但更普遍的是与适当的还原剂构成氧化还原体系，可在室温或更低的温度下引发聚合</a:t>
            </a:r>
            <a:r>
              <a:rPr lang="en-US" altLang="zh-CN" sz="2540" dirty="0">
                <a:latin typeface="楷体_GB2312"/>
                <a:ea typeface="楷体_GB2312"/>
                <a:cs typeface="楷体_GB2312"/>
              </a:rPr>
              <a:t>。</a:t>
            </a:r>
          </a:p>
          <a:p>
            <a:pPr marL="457200" indent="-457200" eaLnBrk="1" hangingPunct="1">
              <a:lnSpc>
                <a:spcPct val="150000"/>
              </a:lnSpc>
              <a:buFont typeface="Wingdings" panose="05000000000000000000" pitchFamily="2" charset="2"/>
              <a:buChar char="Ø"/>
            </a:pPr>
            <a:r>
              <a:rPr lang="en-US" altLang="zh-CN" sz="2540" dirty="0" err="1">
                <a:latin typeface="楷体_GB2312"/>
                <a:ea typeface="楷体_GB2312"/>
                <a:cs typeface="楷体_GB2312"/>
              </a:rPr>
              <a:t>过硫酸钾和过硫酸铵的性质相近，可互换使用</a:t>
            </a:r>
            <a:r>
              <a:rPr lang="en-US" altLang="zh-CN" sz="2540" dirty="0">
                <a:latin typeface="楷体_GB2312"/>
                <a:ea typeface="楷体_GB2312"/>
                <a:cs typeface="楷体_GB2312"/>
              </a:rPr>
              <a:t>。</a:t>
            </a:r>
            <a:r>
              <a:rPr lang="en-US" altLang="zh-CN" sz="1633" dirty="0"/>
              <a:t>		</a:t>
            </a:r>
            <a:endParaRPr lang="en-US" altLang="zh-CN" sz="1089" dirty="0">
              <a:latin typeface="Times New Roman" panose="02020603050405020304" pitchFamily="18" charset="0"/>
              <a:cs typeface="Times New Roman" panose="02020603050405020304" pitchFamily="18" charset="0"/>
            </a:endParaRPr>
          </a:p>
        </p:txBody>
      </p:sp>
      <p:sp>
        <p:nvSpPr>
          <p:cNvPr id="48" name="TextBox 1"/>
          <p:cNvSpPr txBox="1"/>
          <p:nvPr/>
        </p:nvSpPr>
        <p:spPr>
          <a:xfrm>
            <a:off x="2392598" y="3472810"/>
            <a:ext cx="298159"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KO</a:t>
            </a:r>
          </a:p>
        </p:txBody>
      </p:sp>
      <p:sp>
        <p:nvSpPr>
          <p:cNvPr id="49" name="TextBox 1"/>
          <p:cNvSpPr txBox="1"/>
          <p:nvPr/>
        </p:nvSpPr>
        <p:spPr>
          <a:xfrm>
            <a:off x="2911036" y="3461289"/>
            <a:ext cx="115416"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S</a:t>
            </a:r>
          </a:p>
        </p:txBody>
      </p:sp>
      <p:sp>
        <p:nvSpPr>
          <p:cNvPr id="50" name="TextBox 1"/>
          <p:cNvSpPr txBox="1"/>
          <p:nvPr/>
        </p:nvSpPr>
        <p:spPr>
          <a:xfrm>
            <a:off x="3256666" y="3461289"/>
            <a:ext cx="503343" cy="276999"/>
          </a:xfrm>
          <a:prstGeom prst="rect">
            <a:avLst/>
          </a:prstGeom>
          <a:noFill/>
          <a:ln>
            <a:noFill/>
          </a:ln>
        </p:spPr>
        <p:txBody>
          <a:bodyPr wrap="none" lIns="0" tIns="0" rIns="0">
            <a:spAutoFit/>
          </a:bodyPr>
          <a:lstStyle/>
          <a:p>
            <a:pPr>
              <a:lnSpc>
                <a:spcPts val="1814"/>
              </a:lnSpc>
              <a:defRPr/>
            </a:pPr>
            <a:r>
              <a:rPr lang="en-US" altLang="zh-CN" sz="1618" dirty="0">
                <a:latin typeface="Times New Roman" pitchFamily="18" charset="0"/>
                <a:cs typeface="Times New Roman" pitchFamily="18" charset="0"/>
              </a:rPr>
              <a:t>O    O</a:t>
            </a:r>
          </a:p>
        </p:txBody>
      </p:sp>
      <p:sp>
        <p:nvSpPr>
          <p:cNvPr id="51" name="TextBox 1"/>
          <p:cNvSpPr txBox="1"/>
          <p:nvPr/>
        </p:nvSpPr>
        <p:spPr>
          <a:xfrm>
            <a:off x="3994001" y="3472810"/>
            <a:ext cx="115416"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S</a:t>
            </a:r>
          </a:p>
        </p:txBody>
      </p:sp>
      <p:sp>
        <p:nvSpPr>
          <p:cNvPr id="52" name="TextBox 1"/>
          <p:cNvSpPr txBox="1"/>
          <p:nvPr/>
        </p:nvSpPr>
        <p:spPr>
          <a:xfrm>
            <a:off x="4385715" y="3472810"/>
            <a:ext cx="298159"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OK</a:t>
            </a:r>
          </a:p>
        </p:txBody>
      </p:sp>
      <p:sp>
        <p:nvSpPr>
          <p:cNvPr id="53" name="TextBox 1"/>
          <p:cNvSpPr txBox="1"/>
          <p:nvPr/>
        </p:nvSpPr>
        <p:spPr>
          <a:xfrm>
            <a:off x="3982481" y="3092620"/>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54" name="TextBox 1"/>
          <p:cNvSpPr txBox="1"/>
          <p:nvPr/>
        </p:nvSpPr>
        <p:spPr>
          <a:xfrm>
            <a:off x="3982481" y="3864520"/>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55" name="TextBox 1"/>
          <p:cNvSpPr txBox="1"/>
          <p:nvPr/>
        </p:nvSpPr>
        <p:spPr>
          <a:xfrm>
            <a:off x="2911036" y="3069578"/>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56" name="TextBox 1"/>
          <p:cNvSpPr txBox="1"/>
          <p:nvPr/>
        </p:nvSpPr>
        <p:spPr>
          <a:xfrm>
            <a:off x="2887995" y="3853000"/>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57" name="TextBox 1"/>
          <p:cNvSpPr txBox="1"/>
          <p:nvPr/>
        </p:nvSpPr>
        <p:spPr>
          <a:xfrm>
            <a:off x="5514761" y="3472810"/>
            <a:ext cx="45365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2 KO</a:t>
            </a:r>
          </a:p>
        </p:txBody>
      </p:sp>
      <p:sp>
        <p:nvSpPr>
          <p:cNvPr id="58" name="TextBox 1"/>
          <p:cNvSpPr txBox="1"/>
          <p:nvPr/>
        </p:nvSpPr>
        <p:spPr>
          <a:xfrm>
            <a:off x="6206016" y="3461289"/>
            <a:ext cx="115416"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S</a:t>
            </a:r>
          </a:p>
        </p:txBody>
      </p:sp>
      <p:sp>
        <p:nvSpPr>
          <p:cNvPr id="59" name="TextBox 1"/>
          <p:cNvSpPr txBox="1"/>
          <p:nvPr/>
        </p:nvSpPr>
        <p:spPr>
          <a:xfrm>
            <a:off x="6551643" y="3461289"/>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60" name="TextBox 1"/>
          <p:cNvSpPr txBox="1"/>
          <p:nvPr/>
        </p:nvSpPr>
        <p:spPr>
          <a:xfrm>
            <a:off x="6206016" y="3069578"/>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61" name="TextBox 1"/>
          <p:cNvSpPr txBox="1"/>
          <p:nvPr/>
        </p:nvSpPr>
        <p:spPr>
          <a:xfrm>
            <a:off x="6194495" y="3853000"/>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62" name="TextBox 1"/>
          <p:cNvSpPr txBox="1"/>
          <p:nvPr/>
        </p:nvSpPr>
        <p:spPr>
          <a:xfrm>
            <a:off x="8233696" y="3058057"/>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63" name="TextBox 1"/>
          <p:cNvSpPr txBox="1"/>
          <p:nvPr/>
        </p:nvSpPr>
        <p:spPr>
          <a:xfrm>
            <a:off x="8222175" y="3841479"/>
            <a:ext cx="14908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a:t>
            </a:r>
          </a:p>
        </p:txBody>
      </p:sp>
      <p:sp>
        <p:nvSpPr>
          <p:cNvPr id="1024" name="TextBox 1"/>
          <p:cNvSpPr txBox="1"/>
          <p:nvPr/>
        </p:nvSpPr>
        <p:spPr>
          <a:xfrm>
            <a:off x="7565485" y="3449768"/>
            <a:ext cx="779059" cy="289823"/>
          </a:xfrm>
          <a:prstGeom prst="rect">
            <a:avLst/>
          </a:prstGeom>
          <a:noFill/>
          <a:ln>
            <a:noFill/>
          </a:ln>
        </p:spPr>
        <p:txBody>
          <a:bodyPr wrap="none" lIns="0" tIns="0" rIns="0">
            <a:spAutoFit/>
          </a:bodyPr>
          <a:lstStyle/>
          <a:p>
            <a:pPr>
              <a:lnSpc>
                <a:spcPts val="1905"/>
              </a:lnSpc>
              <a:defRPr/>
            </a:pPr>
            <a:r>
              <a:rPr lang="en-US" altLang="zh-CN" sz="1618" dirty="0">
                <a:latin typeface="Times New Roman" pitchFamily="18" charset="0"/>
                <a:cs typeface="Times New Roman" pitchFamily="18" charset="0"/>
              </a:rPr>
              <a:t>2    O    S</a:t>
            </a:r>
          </a:p>
        </p:txBody>
      </p:sp>
      <p:sp>
        <p:nvSpPr>
          <p:cNvPr id="1025" name="TextBox 1"/>
          <p:cNvSpPr txBox="1"/>
          <p:nvPr/>
        </p:nvSpPr>
        <p:spPr>
          <a:xfrm>
            <a:off x="8579324" y="3449768"/>
            <a:ext cx="827150" cy="264175"/>
          </a:xfrm>
          <a:prstGeom prst="rect">
            <a:avLst/>
          </a:prstGeom>
          <a:noFill/>
          <a:ln>
            <a:noFill/>
          </a:ln>
        </p:spPr>
        <p:txBody>
          <a:bodyPr wrap="none" lIns="0" tIns="0" rIns="0">
            <a:spAutoFit/>
          </a:bodyPr>
          <a:lstStyle/>
          <a:p>
            <a:pPr>
              <a:lnSpc>
                <a:spcPts val="1724"/>
              </a:lnSpc>
              <a:defRPr/>
            </a:pPr>
            <a:r>
              <a:rPr lang="en-US" altLang="zh-CN" sz="1618" dirty="0">
                <a:latin typeface="Times New Roman" pitchFamily="18" charset="0"/>
                <a:cs typeface="Times New Roman" pitchFamily="18" charset="0"/>
              </a:rPr>
              <a:t>O    +  2K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55</a:t>
            </a:r>
          </a:p>
        </p:txBody>
      </p:sp>
      <p:sp>
        <p:nvSpPr>
          <p:cNvPr id="60419" name="TextBox 1"/>
          <p:cNvSpPr txBox="1">
            <a:spLocks noChangeArrowheads="1"/>
          </p:cNvSpPr>
          <p:nvPr/>
        </p:nvSpPr>
        <p:spPr bwMode="auto">
          <a:xfrm>
            <a:off x="2386268" y="1221309"/>
            <a:ext cx="6830396"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c)</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氧化</a:t>
            </a:r>
            <a:r>
              <a:rPr lang="en-US" altLang="zh-CN" sz="2812" b="1">
                <a:latin typeface="Times New Roman" panose="02020603050405020304" pitchFamily="18" charset="0"/>
                <a:cs typeface="Times New Roman" panose="02020603050405020304" pitchFamily="18" charset="0"/>
              </a:rPr>
              <a:t>-</a:t>
            </a:r>
            <a:r>
              <a:rPr lang="en-US" altLang="zh-CN" sz="2812">
                <a:latin typeface="楷体_GB2312"/>
                <a:ea typeface="楷体_GB2312"/>
                <a:cs typeface="楷体_GB2312"/>
              </a:rPr>
              <a:t>还原体系引发剂（</a:t>
            </a:r>
            <a:r>
              <a:rPr lang="en-US" altLang="zh-CN" sz="2812" b="1">
                <a:latin typeface="Times New Roman" panose="02020603050405020304" pitchFamily="18" charset="0"/>
                <a:cs typeface="Times New Roman" panose="02020603050405020304" pitchFamily="18" charset="0"/>
              </a:rPr>
              <a:t>Redox</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Initiator</a:t>
            </a:r>
            <a:r>
              <a:rPr lang="en-US" altLang="zh-CN" sz="2812">
                <a:latin typeface="楷体_GB2312"/>
                <a:ea typeface="楷体_GB2312"/>
                <a:cs typeface="楷体_GB2312"/>
              </a:rPr>
              <a:t>）</a:t>
            </a:r>
          </a:p>
        </p:txBody>
      </p:sp>
      <p:sp>
        <p:nvSpPr>
          <p:cNvPr id="60420" name="TextBox 1"/>
          <p:cNvSpPr txBox="1">
            <a:spLocks noChangeArrowheads="1"/>
          </p:cNvSpPr>
          <p:nvPr/>
        </p:nvSpPr>
        <p:spPr bwMode="auto">
          <a:xfrm>
            <a:off x="3158169" y="2050814"/>
            <a:ext cx="6182783"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将有机或无机过氧化物与还原剂复合，可组</a:t>
            </a:r>
          </a:p>
        </p:txBody>
      </p:sp>
      <p:sp>
        <p:nvSpPr>
          <p:cNvPr id="60421" name="TextBox 1"/>
          <p:cNvSpPr txBox="1">
            <a:spLocks noChangeArrowheads="1"/>
          </p:cNvSpPr>
          <p:nvPr/>
        </p:nvSpPr>
        <p:spPr bwMode="auto">
          <a:xfrm>
            <a:off x="2513000" y="2603817"/>
            <a:ext cx="3579506"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成氧化</a:t>
            </a:r>
            <a:r>
              <a:rPr lang="en-US" altLang="zh-CN" sz="2540" b="1">
                <a:latin typeface="Times New Roman" panose="02020603050405020304" pitchFamily="18" charset="0"/>
                <a:cs typeface="Times New Roman" panose="02020603050405020304" pitchFamily="18" charset="0"/>
              </a:rPr>
              <a:t>—</a:t>
            </a:r>
            <a:r>
              <a:rPr lang="en-US" altLang="zh-CN" sz="2540">
                <a:latin typeface="楷体_GB2312"/>
                <a:ea typeface="楷体_GB2312"/>
                <a:cs typeface="楷体_GB2312"/>
              </a:rPr>
              <a:t>还原引发体系。</a:t>
            </a:r>
          </a:p>
        </p:txBody>
      </p:sp>
      <p:sp>
        <p:nvSpPr>
          <p:cNvPr id="60422" name="TextBox 1"/>
          <p:cNvSpPr txBox="1">
            <a:spLocks noChangeArrowheads="1"/>
          </p:cNvSpPr>
          <p:nvPr/>
        </p:nvSpPr>
        <p:spPr bwMode="auto">
          <a:xfrm>
            <a:off x="2996877" y="3917200"/>
            <a:ext cx="649376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优点：活化能低（</a:t>
            </a:r>
            <a:r>
              <a:rPr lang="en-US" altLang="zh-CN" sz="2540" b="1">
                <a:latin typeface="Times New Roman" panose="02020603050405020304" pitchFamily="18" charset="0"/>
                <a:cs typeface="Times New Roman" panose="02020603050405020304" pitchFamily="18" charset="0"/>
              </a:rPr>
              <a:t>40</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60kJ/mol</a:t>
            </a:r>
            <a:r>
              <a:rPr lang="en-US" altLang="zh-CN" sz="2540">
                <a:latin typeface="楷体_GB2312"/>
                <a:ea typeface="楷体_GB2312"/>
                <a:cs typeface="楷体_GB2312"/>
              </a:rPr>
              <a:t>），引发温度</a:t>
            </a:r>
          </a:p>
        </p:txBody>
      </p:sp>
      <p:sp>
        <p:nvSpPr>
          <p:cNvPr id="60423" name="TextBox 1"/>
          <p:cNvSpPr txBox="1">
            <a:spLocks noChangeArrowheads="1"/>
          </p:cNvSpPr>
          <p:nvPr/>
        </p:nvSpPr>
        <p:spPr bwMode="auto">
          <a:xfrm>
            <a:off x="2513000" y="4458684"/>
            <a:ext cx="4395434"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低（</a:t>
            </a:r>
            <a:r>
              <a:rPr lang="en-US" altLang="zh-CN" sz="2540" b="1">
                <a:latin typeface="Times New Roman" panose="02020603050405020304" pitchFamily="18" charset="0"/>
                <a:cs typeface="Times New Roman" panose="02020603050405020304" pitchFamily="18" charset="0"/>
              </a:rPr>
              <a:t>0</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50</a:t>
            </a:r>
            <a:r>
              <a:rPr lang="en-US" altLang="zh-CN" sz="2540">
                <a:latin typeface="楷体_GB2312"/>
                <a:ea typeface="楷体_GB2312"/>
                <a:cs typeface="楷体_GB2312"/>
              </a:rPr>
              <a:t>℃），聚合速率大。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750617" y="2111299"/>
            <a:ext cx="286582" cy="1202495"/>
          </a:xfrm>
          <a:custGeom>
            <a:avLst/>
            <a:gdLst>
              <a:gd name="connsiteX0" fmla="*/ 301561 w 315848"/>
              <a:gd name="connsiteY0" fmla="*/ 14287 h 1325498"/>
              <a:gd name="connsiteX1" fmla="*/ 158305 w 315848"/>
              <a:gd name="connsiteY1" fmla="*/ 121729 h 1325498"/>
              <a:gd name="connsiteX2" fmla="*/ 158305 w 315848"/>
              <a:gd name="connsiteY2" fmla="*/ 554545 h 1325498"/>
              <a:gd name="connsiteX3" fmla="*/ 14287 w 315848"/>
              <a:gd name="connsiteY3" fmla="*/ 662749 h 1325498"/>
              <a:gd name="connsiteX4" fmla="*/ 158305 w 315848"/>
              <a:gd name="connsiteY4" fmla="*/ 770191 h 1325498"/>
              <a:gd name="connsiteX5" fmla="*/ 158305 w 315848"/>
              <a:gd name="connsiteY5" fmla="*/ 1203007 h 1325498"/>
              <a:gd name="connsiteX6" fmla="*/ 301561 w 315848"/>
              <a:gd name="connsiteY6" fmla="*/ 1311211 h 132549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315848" h="1325498">
                <a:moveTo>
                  <a:pt x="301561" y="14287"/>
                </a:moveTo>
                <a:cubicBezTo>
                  <a:pt x="222313" y="14287"/>
                  <a:pt x="158305" y="62293"/>
                  <a:pt x="158305" y="121729"/>
                </a:cubicBezTo>
                <a:lnTo>
                  <a:pt x="158305" y="554545"/>
                </a:lnTo>
                <a:cubicBezTo>
                  <a:pt x="158305" y="613981"/>
                  <a:pt x="93535" y="662749"/>
                  <a:pt x="14287" y="662749"/>
                </a:cubicBezTo>
                <a:cubicBezTo>
                  <a:pt x="93535" y="662749"/>
                  <a:pt x="158305" y="710755"/>
                  <a:pt x="158305" y="770191"/>
                </a:cubicBezTo>
                <a:lnTo>
                  <a:pt x="158305" y="1203007"/>
                </a:lnTo>
                <a:cubicBezTo>
                  <a:pt x="158305" y="1262443"/>
                  <a:pt x="222313" y="1311211"/>
                  <a:pt x="301561" y="1311211"/>
                </a:cubicBez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1443"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56</a:t>
            </a:r>
          </a:p>
        </p:txBody>
      </p:sp>
      <p:sp>
        <p:nvSpPr>
          <p:cNvPr id="61444" name="TextBox 1"/>
          <p:cNvSpPr txBox="1">
            <a:spLocks noChangeArrowheads="1"/>
          </p:cNvSpPr>
          <p:nvPr/>
        </p:nvSpPr>
        <p:spPr bwMode="auto">
          <a:xfrm>
            <a:off x="2155852" y="1175225"/>
            <a:ext cx="3606757"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solidFill>
                  <a:srgbClr val="C00000"/>
                </a:solidFill>
                <a:latin typeface="楷体_GB2312"/>
                <a:ea typeface="楷体_GB2312"/>
                <a:cs typeface="楷体_GB2312"/>
              </a:rPr>
              <a:t>水溶性氧化</a:t>
            </a:r>
            <a:r>
              <a:rPr lang="en-US" altLang="zh-CN" sz="2812" b="1">
                <a:solidFill>
                  <a:srgbClr val="C00000"/>
                </a:solidFill>
                <a:latin typeface="Times New Roman" panose="02020603050405020304" pitchFamily="18" charset="0"/>
                <a:cs typeface="Times New Roman" panose="02020603050405020304" pitchFamily="18" charset="0"/>
              </a:rPr>
              <a:t>—</a:t>
            </a:r>
            <a:r>
              <a:rPr lang="en-US" altLang="zh-CN" sz="2812" b="1">
                <a:solidFill>
                  <a:srgbClr val="C00000"/>
                </a:solidFill>
                <a:latin typeface="楷体_GB2312"/>
                <a:ea typeface="楷体_GB2312"/>
                <a:cs typeface="楷体_GB2312"/>
              </a:rPr>
              <a:t>还原体系</a:t>
            </a:r>
          </a:p>
        </p:txBody>
      </p:sp>
      <p:sp>
        <p:nvSpPr>
          <p:cNvPr id="61445" name="TextBox 1"/>
          <p:cNvSpPr txBox="1">
            <a:spLocks noChangeArrowheads="1"/>
          </p:cNvSpPr>
          <p:nvPr/>
        </p:nvSpPr>
        <p:spPr bwMode="auto">
          <a:xfrm>
            <a:off x="3100566" y="2085377"/>
            <a:ext cx="566020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268" b="1">
                <a:solidFill>
                  <a:srgbClr val="C00000"/>
                </a:solidFill>
                <a:latin typeface="楷体_GB2312"/>
                <a:ea typeface="楷体_GB2312"/>
                <a:cs typeface="楷体_GB2312"/>
              </a:rPr>
              <a:t>氧化剂（</a:t>
            </a:r>
            <a:r>
              <a:rPr lang="en-US" altLang="zh-CN" sz="2268" b="1">
                <a:solidFill>
                  <a:srgbClr val="C00000"/>
                </a:solidFill>
                <a:latin typeface="Times New Roman" panose="02020603050405020304" pitchFamily="18" charset="0"/>
                <a:cs typeface="Times New Roman" panose="02020603050405020304" pitchFamily="18" charset="0"/>
              </a:rPr>
              <a:t>Oxidant</a:t>
            </a:r>
            <a:r>
              <a:rPr lang="en-US" altLang="zh-CN" sz="2268" b="1">
                <a:solidFill>
                  <a:srgbClr val="C00000"/>
                </a:solidFill>
                <a:latin typeface="楷体_GB2312"/>
                <a:ea typeface="楷体_GB2312"/>
                <a:cs typeface="楷体_GB2312"/>
              </a:rPr>
              <a:t>）</a:t>
            </a:r>
            <a:r>
              <a:rPr lang="en-US" altLang="zh-CN" sz="2268">
                <a:latin typeface="楷体_GB2312"/>
                <a:ea typeface="楷体_GB2312"/>
                <a:cs typeface="楷体_GB2312"/>
              </a:rPr>
              <a:t>：过氧化氢、过硫酸盐、</a:t>
            </a:r>
          </a:p>
        </p:txBody>
      </p:sp>
      <p:sp>
        <p:nvSpPr>
          <p:cNvPr id="61446" name="TextBox 1"/>
          <p:cNvSpPr txBox="1">
            <a:spLocks noChangeArrowheads="1"/>
          </p:cNvSpPr>
          <p:nvPr/>
        </p:nvSpPr>
        <p:spPr bwMode="auto">
          <a:xfrm>
            <a:off x="5877104" y="2557734"/>
            <a:ext cx="2031005"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氢过氧化物等。</a:t>
            </a:r>
          </a:p>
        </p:txBody>
      </p:sp>
      <p:sp>
        <p:nvSpPr>
          <p:cNvPr id="61447" name="TextBox 1"/>
          <p:cNvSpPr txBox="1">
            <a:spLocks noChangeArrowheads="1"/>
          </p:cNvSpPr>
          <p:nvPr/>
        </p:nvSpPr>
        <p:spPr bwMode="auto">
          <a:xfrm>
            <a:off x="3100565" y="3018570"/>
            <a:ext cx="6226063"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268" b="1">
                <a:solidFill>
                  <a:srgbClr val="C00000"/>
                </a:solidFill>
                <a:latin typeface="楷体_GB2312"/>
                <a:ea typeface="楷体_GB2312"/>
                <a:cs typeface="楷体_GB2312"/>
              </a:rPr>
              <a:t>还原剂（</a:t>
            </a:r>
            <a:r>
              <a:rPr lang="en-US" altLang="zh-CN" sz="2268" b="1">
                <a:solidFill>
                  <a:srgbClr val="C00000"/>
                </a:solidFill>
                <a:latin typeface="Times New Roman" panose="02020603050405020304" pitchFamily="18" charset="0"/>
                <a:cs typeface="Times New Roman" panose="02020603050405020304" pitchFamily="18" charset="0"/>
              </a:rPr>
              <a:t>Reductant</a:t>
            </a:r>
            <a:r>
              <a:rPr lang="en-US" altLang="zh-CN" sz="2268" b="1">
                <a:solidFill>
                  <a:srgbClr val="C00000"/>
                </a:solidFill>
                <a:latin typeface="楷体_GB2312"/>
                <a:ea typeface="楷体_GB2312"/>
                <a:cs typeface="楷体_GB2312"/>
              </a:rPr>
              <a:t>）</a:t>
            </a:r>
            <a:r>
              <a:rPr lang="en-US" altLang="zh-CN" sz="2268">
                <a:latin typeface="楷体_GB2312"/>
                <a:ea typeface="楷体_GB2312"/>
                <a:cs typeface="楷体_GB2312"/>
              </a:rPr>
              <a:t>：无机还原剂和有机还原剂</a:t>
            </a:r>
          </a:p>
        </p:txBody>
      </p:sp>
      <p:sp>
        <p:nvSpPr>
          <p:cNvPr id="61448" name="TextBox 1"/>
          <p:cNvSpPr txBox="1">
            <a:spLocks noChangeArrowheads="1"/>
          </p:cNvSpPr>
          <p:nvPr/>
        </p:nvSpPr>
        <p:spPr bwMode="auto">
          <a:xfrm>
            <a:off x="5427788" y="3490928"/>
            <a:ext cx="406200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（醇、胺、草酸、葡萄糖等）。</a:t>
            </a:r>
          </a:p>
        </p:txBody>
      </p:sp>
      <p:sp>
        <p:nvSpPr>
          <p:cNvPr id="61449" name="TextBox 1"/>
          <p:cNvSpPr txBox="1">
            <a:spLocks noChangeArrowheads="1"/>
          </p:cNvSpPr>
          <p:nvPr/>
        </p:nvSpPr>
        <p:spPr bwMode="auto">
          <a:xfrm>
            <a:off x="2512998" y="4596932"/>
            <a:ext cx="6833602"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主要有过氧化氢体系和过硫酸盐体系，这种引发</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体系用于</a:t>
            </a:r>
            <a:r>
              <a:rPr lang="en-US" altLang="zh-CN" sz="2540" b="1">
                <a:solidFill>
                  <a:srgbClr val="C00000"/>
                </a:solidFill>
                <a:latin typeface="楷体_GB2312"/>
                <a:ea typeface="楷体_GB2312"/>
                <a:cs typeface="楷体_GB2312"/>
              </a:rPr>
              <a:t>水溶液聚合和乳液聚合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294103" y="2173222"/>
            <a:ext cx="223218" cy="679734"/>
          </a:xfrm>
          <a:custGeom>
            <a:avLst/>
            <a:gdLst>
              <a:gd name="connsiteX0" fmla="*/ 231457 w 245744"/>
              <a:gd name="connsiteY0" fmla="*/ 14287 h 749427"/>
              <a:gd name="connsiteX1" fmla="*/ 122491 w 245744"/>
              <a:gd name="connsiteY1" fmla="*/ 74485 h 749427"/>
              <a:gd name="connsiteX2" fmla="*/ 122491 w 245744"/>
              <a:gd name="connsiteY2" fmla="*/ 314515 h 749427"/>
              <a:gd name="connsiteX3" fmla="*/ 14287 w 245744"/>
              <a:gd name="connsiteY3" fmla="*/ 374713 h 749427"/>
              <a:gd name="connsiteX4" fmla="*/ 122491 w 245744"/>
              <a:gd name="connsiteY4" fmla="*/ 434911 h 749427"/>
              <a:gd name="connsiteX5" fmla="*/ 122491 w 245744"/>
              <a:gd name="connsiteY5" fmla="*/ 674941 h 749427"/>
              <a:gd name="connsiteX6" fmla="*/ 231457 w 245744"/>
              <a:gd name="connsiteY6" fmla="*/ 735139 h 749427"/>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245744" h="749427">
                <a:moveTo>
                  <a:pt x="231457" y="14287"/>
                </a:moveTo>
                <a:cubicBezTo>
                  <a:pt x="171259" y="14287"/>
                  <a:pt x="122491" y="40957"/>
                  <a:pt x="122491" y="74485"/>
                </a:cubicBezTo>
                <a:lnTo>
                  <a:pt x="122491" y="314515"/>
                </a:lnTo>
                <a:cubicBezTo>
                  <a:pt x="122491" y="348043"/>
                  <a:pt x="74485" y="374713"/>
                  <a:pt x="14287" y="374713"/>
                </a:cubicBezTo>
                <a:cubicBezTo>
                  <a:pt x="74485" y="374713"/>
                  <a:pt x="122491" y="401383"/>
                  <a:pt x="122491" y="434911"/>
                </a:cubicBezTo>
                <a:lnTo>
                  <a:pt x="122491" y="674941"/>
                </a:lnTo>
                <a:cubicBezTo>
                  <a:pt x="122491" y="708469"/>
                  <a:pt x="171259" y="735139"/>
                  <a:pt x="231457" y="735139"/>
                </a:cubicBezTo>
              </a:path>
            </a:pathLst>
          </a:cu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62468" name="TextBox 1"/>
          <p:cNvSpPr txBox="1">
            <a:spLocks noChangeArrowheads="1"/>
          </p:cNvSpPr>
          <p:nvPr/>
        </p:nvSpPr>
        <p:spPr bwMode="auto">
          <a:xfrm>
            <a:off x="2513000" y="2108418"/>
            <a:ext cx="7394653"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氧化剂：</a:t>
            </a:r>
            <a:r>
              <a:rPr lang="en-US" altLang="zh-CN" sz="2268">
                <a:latin typeface="楷体_GB2312"/>
                <a:ea typeface="楷体_GB2312"/>
                <a:cs typeface="楷体_GB2312"/>
              </a:rPr>
              <a:t>氢过氧化物、过氧化二烷基、过氧化二酰基等。</a:t>
            </a:r>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还原剂：</a:t>
            </a:r>
            <a:r>
              <a:rPr lang="en-US" altLang="zh-CN" sz="2268">
                <a:latin typeface="楷体_GB2312"/>
                <a:ea typeface="楷体_GB2312"/>
                <a:cs typeface="楷体_GB2312"/>
              </a:rPr>
              <a:t>叔胺、环烷酸盐、硫醇、有机金属化合物（如三</a:t>
            </a:r>
          </a:p>
        </p:txBody>
      </p:sp>
      <p:sp>
        <p:nvSpPr>
          <p:cNvPr id="62469" name="TextBox 1"/>
          <p:cNvSpPr txBox="1">
            <a:spLocks noChangeArrowheads="1"/>
          </p:cNvSpPr>
          <p:nvPr/>
        </p:nvSpPr>
        <p:spPr bwMode="auto">
          <a:xfrm>
            <a:off x="3791820" y="3007049"/>
            <a:ext cx="319157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乙基铝、三乙基硼）等。</a:t>
            </a:r>
          </a:p>
        </p:txBody>
      </p:sp>
      <p:sp>
        <p:nvSpPr>
          <p:cNvPr id="62470" name="TextBox 1"/>
          <p:cNvSpPr txBox="1">
            <a:spLocks noChangeArrowheads="1"/>
          </p:cNvSpPr>
          <p:nvPr/>
        </p:nvSpPr>
        <p:spPr bwMode="auto">
          <a:xfrm>
            <a:off x="1785743" y="1286114"/>
            <a:ext cx="3606757"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solidFill>
                  <a:srgbClr val="C00000"/>
                </a:solidFill>
                <a:latin typeface="楷体_GB2312"/>
                <a:ea typeface="楷体_GB2312"/>
                <a:cs typeface="楷体_GB2312"/>
              </a:rPr>
              <a:t>油溶性氧化</a:t>
            </a:r>
            <a:r>
              <a:rPr lang="en-US" altLang="zh-CN" sz="2812" b="1">
                <a:solidFill>
                  <a:srgbClr val="C00000"/>
                </a:solidFill>
                <a:latin typeface="Times New Roman" panose="02020603050405020304" pitchFamily="18" charset="0"/>
                <a:cs typeface="Times New Roman" panose="02020603050405020304" pitchFamily="18" charset="0"/>
              </a:rPr>
              <a:t>—</a:t>
            </a:r>
            <a:r>
              <a:rPr lang="en-US" altLang="zh-CN" sz="2812" b="1">
                <a:solidFill>
                  <a:srgbClr val="C00000"/>
                </a:solidFill>
                <a:latin typeface="楷体_GB2312"/>
                <a:ea typeface="楷体_GB2312"/>
                <a:cs typeface="楷体_GB2312"/>
              </a:rPr>
              <a:t>还原体系</a:t>
            </a:r>
          </a:p>
        </p:txBody>
      </p:sp>
      <p:sp>
        <p:nvSpPr>
          <p:cNvPr id="62471" name="TextBox 1"/>
          <p:cNvSpPr txBox="1">
            <a:spLocks noChangeArrowheads="1"/>
          </p:cNvSpPr>
          <p:nvPr/>
        </p:nvSpPr>
        <p:spPr bwMode="auto">
          <a:xfrm>
            <a:off x="2455394" y="4078493"/>
            <a:ext cx="7170233"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常用的油溶性引发体系：有机过氧化物和叔胺体</a:t>
            </a:r>
          </a:p>
          <a:p>
            <a:pPr eaLnBrk="1" hangingPunct="1">
              <a:lnSpc>
                <a:spcPts val="907"/>
              </a:lnSpc>
            </a:pPr>
            <a:endParaRPr lang="en-US" altLang="zh-CN" sz="1633"/>
          </a:p>
          <a:p>
            <a:pPr eaLnBrk="1" hangingPunct="1">
              <a:lnSpc>
                <a:spcPts val="3539"/>
              </a:lnSpc>
            </a:pPr>
            <a:r>
              <a:rPr lang="en-US" altLang="zh-CN" sz="2540">
                <a:latin typeface="楷体_GB2312"/>
                <a:ea typeface="楷体_GB2312"/>
                <a:cs typeface="楷体_GB2312"/>
              </a:rPr>
              <a:t>系，如：</a:t>
            </a:r>
            <a:r>
              <a:rPr lang="en-US" altLang="zh-CN" sz="2540">
                <a:solidFill>
                  <a:srgbClr val="C00000"/>
                </a:solidFill>
                <a:latin typeface="楷体_GB2312"/>
                <a:ea typeface="楷体_GB2312"/>
                <a:cs typeface="楷体_GB2312"/>
              </a:rPr>
              <a:t>过氧化二苯甲酰</a:t>
            </a:r>
            <a:r>
              <a:rPr lang="en-US" altLang="zh-CN" sz="2540">
                <a:latin typeface="楷体_GB2312"/>
                <a:ea typeface="楷体_GB2312"/>
                <a:cs typeface="楷体_GB2312"/>
              </a:rPr>
              <a:t>和</a:t>
            </a:r>
            <a:r>
              <a:rPr lang="en-US" altLang="zh-CN" sz="2540" b="1">
                <a:solidFill>
                  <a:srgbClr val="C00000"/>
                </a:solidFill>
                <a:latin typeface="Times New Roman" panose="02020603050405020304" pitchFamily="18" charset="0"/>
                <a:cs typeface="Times New Roman" panose="02020603050405020304" pitchFamily="18" charset="0"/>
              </a:rPr>
              <a:t>N,N’—</a:t>
            </a:r>
            <a:r>
              <a:rPr lang="en-US" altLang="zh-CN" sz="2540">
                <a:solidFill>
                  <a:srgbClr val="C00000"/>
                </a:solidFill>
                <a:latin typeface="楷体_GB2312"/>
                <a:ea typeface="楷体_GB2312"/>
                <a:cs typeface="楷体_GB2312"/>
              </a:rPr>
              <a:t>二甲基苯胺</a:t>
            </a:r>
            <a:r>
              <a:rPr lang="en-US" altLang="zh-CN" sz="2540">
                <a:latin typeface="楷体_GB2312"/>
                <a:ea typeface="楷体_GB2312"/>
                <a:cs typeface="楷体_GB2312"/>
              </a:rPr>
              <a:t>。这</a:t>
            </a:r>
          </a:p>
          <a:p>
            <a:pPr eaLnBrk="1" hangingPunct="1">
              <a:lnSpc>
                <a:spcPts val="907"/>
              </a:lnSpc>
            </a:pPr>
            <a:endParaRPr lang="en-US" altLang="zh-CN" sz="1633"/>
          </a:p>
          <a:p>
            <a:pPr eaLnBrk="1" hangingPunct="1">
              <a:lnSpc>
                <a:spcPts val="907"/>
              </a:lnSpc>
            </a:pPr>
            <a:endParaRPr lang="en-US" altLang="zh-CN" sz="1633"/>
          </a:p>
          <a:p>
            <a:pPr eaLnBrk="1" hangingPunct="1">
              <a:lnSpc>
                <a:spcPts val="2812"/>
              </a:lnSpc>
            </a:pPr>
            <a:r>
              <a:rPr lang="en-US" altLang="zh-CN" sz="2540">
                <a:latin typeface="楷体_GB2312"/>
                <a:ea typeface="楷体_GB2312"/>
                <a:cs typeface="楷体_GB2312"/>
              </a:rPr>
              <a:t>种体系主要用于</a:t>
            </a:r>
            <a:r>
              <a:rPr lang="en-US" altLang="zh-CN" sz="2540">
                <a:solidFill>
                  <a:srgbClr val="C00000"/>
                </a:solidFill>
                <a:latin typeface="楷体_GB2312"/>
                <a:ea typeface="楷体_GB2312"/>
                <a:cs typeface="楷体_GB2312"/>
              </a:rPr>
              <a:t>溶液聚合和本体聚合</a:t>
            </a:r>
            <a:r>
              <a:rPr lang="en-US" altLang="zh-CN" sz="2540">
                <a:latin typeface="楷体_GB2312"/>
                <a:ea typeface="楷体_GB2312"/>
                <a:cs typeface="楷体_GB231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内容占位符 2"/>
          <p:cNvSpPr>
            <a:spLocks noGrp="1"/>
          </p:cNvSpPr>
          <p:nvPr>
            <p:ph idx="1"/>
          </p:nvPr>
        </p:nvSpPr>
        <p:spPr>
          <a:xfrm>
            <a:off x="2155850" y="1355238"/>
            <a:ext cx="8087677" cy="4105763"/>
          </a:xfrm>
        </p:spPr>
        <p:txBody>
          <a:bodyPr/>
          <a:lstStyle/>
          <a:p>
            <a:r>
              <a:rPr lang="en-US" altLang="zh-CN">
                <a:latin typeface="Times New Roman" panose="02020603050405020304" pitchFamily="18" charset="0"/>
                <a:cs typeface="Times New Roman" panose="02020603050405020304" pitchFamily="18" charset="0"/>
              </a:rPr>
              <a:t>Initiation reaction (decomposition) is the </a:t>
            </a:r>
            <a:r>
              <a:rPr lang="en-US" altLang="zh-CN" b="1">
                <a:solidFill>
                  <a:srgbClr val="C00000"/>
                </a:solidFill>
                <a:latin typeface="Times New Roman" panose="02020603050405020304" pitchFamily="18" charset="0"/>
                <a:cs typeface="Times New Roman" panose="02020603050405020304" pitchFamily="18" charset="0"/>
              </a:rPr>
              <a:t>key reaction</a:t>
            </a:r>
            <a:r>
              <a:rPr lang="en-US" altLang="zh-CN">
                <a:latin typeface="Times New Roman" panose="02020603050405020304" pitchFamily="18" charset="0"/>
                <a:cs typeface="Times New Roman" panose="02020603050405020304" pitchFamily="18" charset="0"/>
              </a:rPr>
              <a:t> in free radical polymerization</a:t>
            </a:r>
            <a:r>
              <a:rPr lang="zh-CN" altLang="en-US">
                <a:latin typeface="Times New Roman" panose="02020603050405020304" pitchFamily="18" charset="0"/>
                <a:cs typeface="Times New Roman" panose="02020603050405020304" pitchFamily="18" charset="0"/>
              </a:rPr>
              <a:t>（慢引发、快增长、速终止）</a:t>
            </a:r>
            <a:r>
              <a:rPr lang="en-US" altLang="zh-CN">
                <a:latin typeface="Times New Roman" panose="02020603050405020304" pitchFamily="18" charset="0"/>
                <a:cs typeface="Times New Roman" panose="02020603050405020304" pitchFamily="18" charset="0"/>
              </a:rPr>
              <a:t>;</a:t>
            </a:r>
          </a:p>
          <a:p>
            <a:r>
              <a:rPr lang="en-US" altLang="zh-CN">
                <a:latin typeface="Times New Roman" panose="02020603050405020304" pitchFamily="18" charset="0"/>
                <a:cs typeface="Times New Roman" panose="02020603050405020304" pitchFamily="18" charset="0"/>
              </a:rPr>
              <a:t>How to study the </a:t>
            </a:r>
            <a:r>
              <a:rPr lang="en-US" altLang="zh-CN" b="1">
                <a:solidFill>
                  <a:srgbClr val="C00000"/>
                </a:solidFill>
                <a:latin typeface="Times New Roman" panose="02020603050405020304" pitchFamily="18" charset="0"/>
                <a:cs typeface="Times New Roman" panose="02020603050405020304" pitchFamily="18" charset="0"/>
              </a:rPr>
              <a:t>kinetics</a:t>
            </a:r>
            <a:r>
              <a:rPr lang="en-US" altLang="zh-CN">
                <a:latin typeface="Times New Roman" panose="02020603050405020304" pitchFamily="18" charset="0"/>
                <a:cs typeface="Times New Roman" panose="02020603050405020304" pitchFamily="18" charset="0"/>
              </a:rPr>
              <a:t> of decomposition of initiators?</a:t>
            </a:r>
          </a:p>
          <a:p>
            <a:pPr algn="just"/>
            <a:r>
              <a:rPr lang="en-US" altLang="zh-CN">
                <a:latin typeface="Times New Roman" panose="02020603050405020304" pitchFamily="18" charset="0"/>
                <a:cs typeface="Times New Roman" panose="02020603050405020304" pitchFamily="18" charset="0"/>
              </a:rPr>
              <a:t>Which </a:t>
            </a:r>
            <a:r>
              <a:rPr lang="en-US" altLang="zh-CN" b="1">
                <a:solidFill>
                  <a:srgbClr val="C00000"/>
                </a:solidFill>
                <a:latin typeface="Times New Roman" panose="02020603050405020304" pitchFamily="18" charset="0"/>
                <a:cs typeface="Times New Roman" panose="02020603050405020304" pitchFamily="18" charset="0"/>
              </a:rPr>
              <a:t>parameters</a:t>
            </a:r>
            <a:r>
              <a:rPr lang="en-US" altLang="zh-CN">
                <a:latin typeface="Times New Roman" panose="02020603050405020304" pitchFamily="18" charset="0"/>
                <a:cs typeface="Times New Roman" panose="02020603050405020304" pitchFamily="18" charset="0"/>
              </a:rPr>
              <a:t> would affect the decomposition of initiators? (Time? Temperature?)</a:t>
            </a:r>
            <a:endParaRPr lang="zh-C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内容占位符 2"/>
          <p:cNvSpPr>
            <a:spLocks noGrp="1"/>
          </p:cNvSpPr>
          <p:nvPr>
            <p:ph idx="1"/>
          </p:nvPr>
        </p:nvSpPr>
        <p:spPr>
          <a:xfrm>
            <a:off x="2432351" y="1355238"/>
            <a:ext cx="7465548" cy="4105763"/>
          </a:xfrm>
        </p:spPr>
        <p:txBody>
          <a:bodyPr/>
          <a:lstStyle/>
          <a:p>
            <a:r>
              <a:rPr lang="zh-CN" altLang="en-US"/>
              <a:t>动力学方程式</a:t>
            </a:r>
            <a:r>
              <a:rPr lang="en-US" altLang="zh-CN"/>
              <a:t>----</a:t>
            </a:r>
            <a:r>
              <a:rPr lang="zh-CN" altLang="en-US" sz="2177"/>
              <a:t>即化学反应速率方程式，表示反应速度和浓度等参数之间的关系；或表示浓度等与实践关系的方程式；</a:t>
            </a:r>
            <a:endParaRPr lang="en-US" altLang="zh-CN" sz="2177"/>
          </a:p>
          <a:p>
            <a:endParaRPr lang="en-US" altLang="zh-CN"/>
          </a:p>
          <a:p>
            <a:endParaRPr lang="en-US" altLang="zh-CN"/>
          </a:p>
          <a:p>
            <a:r>
              <a:rPr lang="zh-CN" altLang="en-US"/>
              <a:t>基元反应</a:t>
            </a:r>
            <a:r>
              <a:rPr lang="en-US" altLang="zh-CN"/>
              <a:t>----</a:t>
            </a:r>
            <a:r>
              <a:rPr lang="zh-CN" altLang="en-US" sz="2177"/>
              <a:t>反应物分子在碰撞中一步直接转化为生成物分子的反应，称为基元反应。基元反应的速度与反应物浓度的乘积成正比，其中各浓度的方次就是反应式中各相应物质的系数。</a:t>
            </a:r>
          </a:p>
        </p:txBody>
      </p:sp>
      <p:sp>
        <p:nvSpPr>
          <p:cNvPr id="5" name="TextBox 4"/>
          <p:cNvSpPr txBox="1">
            <a:spLocks noRot="1" noChangeAspect="1" noMove="1" noResize="1" noEditPoints="1" noAdjustHandles="1" noChangeArrowheads="1" noChangeShapeType="1" noTextEdit="1"/>
          </p:cNvSpPr>
          <p:nvPr/>
        </p:nvSpPr>
        <p:spPr>
          <a:xfrm>
            <a:off x="5957751" y="2769948"/>
            <a:ext cx="1311862" cy="586324"/>
          </a:xfrm>
          <a:prstGeom prst="rect">
            <a:avLst/>
          </a:prstGeom>
          <a:blipFill rotWithShape="1">
            <a:blip r:embed="rId2"/>
            <a:stretch>
              <a:fillRect/>
            </a:stretch>
          </a:blipFill>
        </p:spPr>
        <p:txBody>
          <a:bodyPr/>
          <a:lstStyle/>
          <a:p>
            <a:pPr>
              <a:defRPr/>
            </a:pPr>
            <a:r>
              <a:rPr lang="zh-CN" altLang="en-US" sz="1633">
                <a:noFill/>
              </a:rPr>
              <a:t> </a:t>
            </a:r>
          </a:p>
        </p:txBody>
      </p:sp>
      <p:sp>
        <p:nvSpPr>
          <p:cNvPr id="6" name="TextBox 5"/>
          <p:cNvSpPr txBox="1">
            <a:spLocks noRot="1" noChangeAspect="1" noMove="1" noResize="1" noEditPoints="1" noAdjustHandles="1" noChangeArrowheads="1" noChangeShapeType="1" noTextEdit="1"/>
          </p:cNvSpPr>
          <p:nvPr/>
        </p:nvSpPr>
        <p:spPr>
          <a:xfrm>
            <a:off x="3953111" y="2750358"/>
            <a:ext cx="1158049" cy="586324"/>
          </a:xfrm>
          <a:prstGeom prst="rect">
            <a:avLst/>
          </a:prstGeom>
          <a:blipFill rotWithShape="1">
            <a:blip r:embed="rId3"/>
            <a:stretch>
              <a:fillRect l="-14833" t="-14151" b="-34906"/>
            </a:stretch>
          </a:blipFill>
        </p:spPr>
        <p:txBody>
          <a:bodyPr/>
          <a:lstStyle/>
          <a:p>
            <a:pPr>
              <a:defRPr/>
            </a:pPr>
            <a:r>
              <a:rPr lang="zh-CN" altLang="en-US" sz="1633">
                <a:noFill/>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1"/>
          <p:cNvSpPr txBox="1"/>
          <p:nvPr/>
        </p:nvSpPr>
        <p:spPr>
          <a:xfrm>
            <a:off x="4506116" y="3346915"/>
            <a:ext cx="584775" cy="1880002"/>
          </a:xfrm>
          <a:prstGeom prst="rect">
            <a:avLst/>
          </a:prstGeom>
          <a:noFill/>
        </p:spPr>
        <p:txBody>
          <a:bodyPr wrap="none" lIns="0" tIns="0" rIns="0">
            <a:spAutoFit/>
          </a:bodyPr>
          <a:lstStyle/>
          <a:p>
            <a:pPr>
              <a:lnSpc>
                <a:spcPts val="3720"/>
              </a:lnSpc>
              <a:tabLst>
                <a:tab pos="80654" algn="l"/>
                <a:tab pos="218916" algn="l"/>
              </a:tabLst>
              <a:defRPr/>
            </a:pPr>
            <a:r>
              <a:rPr lang="en-US" altLang="zh-CN" sz="1633" dirty="0"/>
              <a:t>	</a:t>
            </a:r>
            <a:r>
              <a:rPr lang="en-US" altLang="zh-CN" sz="2244" i="1" u="sng" dirty="0">
                <a:latin typeface="Times New Roman" pitchFamily="18" charset="0"/>
                <a:cs typeface="Times New Roman" pitchFamily="18" charset="0"/>
              </a:rPr>
              <a:t>d</a:t>
            </a:r>
            <a:r>
              <a:rPr lang="en-US" altLang="zh-CN" sz="3067" u="sng" dirty="0">
                <a:latin typeface="Symbol" pitchFamily="18" charset="0"/>
                <a:cs typeface="Symbol" pitchFamily="18" charset="0"/>
              </a:rPr>
              <a:t>[</a:t>
            </a:r>
            <a:r>
              <a:rPr lang="en-US" altLang="zh-CN" sz="2244" i="1" u="sng" dirty="0">
                <a:latin typeface="Times New Roman" pitchFamily="18" charset="0"/>
                <a:cs typeface="Times New Roman" pitchFamily="18" charset="0"/>
              </a:rPr>
              <a:t>I</a:t>
            </a:r>
            <a:r>
              <a:rPr lang="en-US" altLang="zh-CN" sz="3067" u="sng" dirty="0">
                <a:latin typeface="Symbol" pitchFamily="18" charset="0"/>
                <a:cs typeface="Symbol" pitchFamily="18" charset="0"/>
              </a:rPr>
              <a:t>]</a:t>
            </a:r>
          </a:p>
          <a:p>
            <a:pPr>
              <a:lnSpc>
                <a:spcPts val="907"/>
              </a:lnSpc>
              <a:defRPr/>
            </a:pPr>
            <a:endParaRPr lang="en-US" altLang="zh-CN" sz="1633" dirty="0"/>
          </a:p>
          <a:p>
            <a:pPr>
              <a:lnSpc>
                <a:spcPts val="1996"/>
              </a:lnSpc>
              <a:tabLst>
                <a:tab pos="80654" algn="l"/>
                <a:tab pos="218916" algn="l"/>
              </a:tabLst>
              <a:defRPr/>
            </a:pPr>
            <a:r>
              <a:rPr lang="en-US" altLang="zh-CN" sz="1633" dirty="0"/>
              <a:t>		</a:t>
            </a:r>
            <a:r>
              <a:rPr lang="en-US" altLang="zh-CN" sz="2244" i="1" dirty="0">
                <a:latin typeface="Times New Roman" pitchFamily="18" charset="0"/>
                <a:cs typeface="Times New Roman" pitchFamily="18" charset="0"/>
              </a:rPr>
              <a:t>dt</a:t>
            </a:r>
          </a:p>
          <a:p>
            <a:pPr>
              <a:lnSpc>
                <a:spcPts val="3992"/>
              </a:lnSpc>
              <a:tabLst>
                <a:tab pos="80654" algn="l"/>
                <a:tab pos="218916" algn="l"/>
              </a:tabLst>
              <a:defRPr/>
            </a:pPr>
            <a:r>
              <a:rPr lang="en-US" altLang="zh-CN" sz="1633" dirty="0"/>
              <a:t>	</a:t>
            </a:r>
            <a:r>
              <a:rPr lang="en-US" altLang="zh-CN" sz="3495" dirty="0">
                <a:latin typeface="Symbol" pitchFamily="18" charset="0"/>
                <a:cs typeface="Symbol" pitchFamily="18" charset="0"/>
              </a:rPr>
              <a:t>[</a:t>
            </a:r>
            <a:r>
              <a:rPr lang="en-US" altLang="zh-CN" sz="2556" i="1" dirty="0">
                <a:latin typeface="Times New Roman" pitchFamily="18" charset="0"/>
                <a:cs typeface="Times New Roman" pitchFamily="18" charset="0"/>
              </a:rPr>
              <a:t>I</a:t>
            </a:r>
            <a:r>
              <a:rPr lang="en-US" altLang="zh-CN" sz="3495" dirty="0">
                <a:latin typeface="Symbol" pitchFamily="18" charset="0"/>
                <a:cs typeface="Symbol" pitchFamily="18" charset="0"/>
              </a:rPr>
              <a:t>]</a:t>
            </a:r>
          </a:p>
          <a:p>
            <a:pPr>
              <a:lnSpc>
                <a:spcPts val="3720"/>
              </a:lnSpc>
              <a:tabLst>
                <a:tab pos="80654" algn="l"/>
                <a:tab pos="218916" algn="l"/>
              </a:tabLst>
              <a:defRPr/>
            </a:pPr>
            <a:r>
              <a:rPr lang="en-US" altLang="zh-CN" sz="3495" dirty="0">
                <a:latin typeface="Symbol" pitchFamily="18" charset="0"/>
                <a:cs typeface="Symbol" pitchFamily="18" charset="0"/>
              </a:rPr>
              <a:t>[</a:t>
            </a:r>
            <a:r>
              <a:rPr lang="en-US" altLang="zh-CN" sz="2556" i="1" dirty="0">
                <a:latin typeface="Times New Roman" pitchFamily="18" charset="0"/>
                <a:cs typeface="Times New Roman" pitchFamily="18" charset="0"/>
              </a:rPr>
              <a:t>I</a:t>
            </a:r>
            <a:r>
              <a:rPr lang="en-US" altLang="zh-CN" sz="3495" dirty="0">
                <a:latin typeface="Symbol" pitchFamily="18" charset="0"/>
                <a:cs typeface="Symbol" pitchFamily="18" charset="0"/>
              </a:rPr>
              <a:t>]</a:t>
            </a:r>
            <a:r>
              <a:rPr lang="en-US" altLang="zh-CN" sz="1491" dirty="0">
                <a:latin typeface="Times New Roman" pitchFamily="18" charset="0"/>
                <a:cs typeface="Times New Roman" pitchFamily="18" charset="0"/>
              </a:rPr>
              <a:t>0</a:t>
            </a:r>
          </a:p>
        </p:txBody>
      </p:sp>
      <p:sp>
        <p:nvSpPr>
          <p:cNvPr id="12" name="Freeform 3"/>
          <p:cNvSpPr/>
          <p:nvPr/>
        </p:nvSpPr>
        <p:spPr>
          <a:xfrm>
            <a:off x="8251850" y="2121378"/>
            <a:ext cx="1697893" cy="437794"/>
          </a:xfrm>
          <a:custGeom>
            <a:avLst/>
            <a:gdLst>
              <a:gd name="connsiteX0" fmla="*/ 0 w 1871471"/>
              <a:gd name="connsiteY0" fmla="*/ 0 h 483107"/>
              <a:gd name="connsiteX1" fmla="*/ 0 w 1871471"/>
              <a:gd name="connsiteY1" fmla="*/ 483107 h 483107"/>
              <a:gd name="connsiteX2" fmla="*/ 1871471 w 1871471"/>
              <a:gd name="connsiteY2" fmla="*/ 483107 h 483107"/>
              <a:gd name="connsiteX3" fmla="*/ 1871471 w 1871471"/>
              <a:gd name="connsiteY3" fmla="*/ 0 h 483107"/>
              <a:gd name="connsiteX4" fmla="*/ 0 w 1871471"/>
              <a:gd name="connsiteY4" fmla="*/ 0 h 4831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71471" h="483107">
                <a:moveTo>
                  <a:pt x="0" y="0"/>
                </a:moveTo>
                <a:lnTo>
                  <a:pt x="0" y="483107"/>
                </a:lnTo>
                <a:lnTo>
                  <a:pt x="1871471" y="483107"/>
                </a:lnTo>
                <a:lnTo>
                  <a:pt x="1871471" y="0"/>
                </a:lnTo>
                <a:lnTo>
                  <a:pt x="0" y="0"/>
                </a:lnTo>
              </a:path>
            </a:pathLst>
          </a:custGeom>
          <a:solidFill>
            <a:srgbClr val="CC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3" name="Freeform 3"/>
          <p:cNvSpPr/>
          <p:nvPr/>
        </p:nvSpPr>
        <p:spPr>
          <a:xfrm>
            <a:off x="8251850" y="2121378"/>
            <a:ext cx="1697893" cy="437794"/>
          </a:xfrm>
          <a:custGeom>
            <a:avLst/>
            <a:gdLst>
              <a:gd name="connsiteX0" fmla="*/ 0 w 1871471"/>
              <a:gd name="connsiteY0" fmla="*/ 0 h 483107"/>
              <a:gd name="connsiteX1" fmla="*/ 0 w 1871471"/>
              <a:gd name="connsiteY1" fmla="*/ 483107 h 483107"/>
              <a:gd name="connsiteX2" fmla="*/ 1871471 w 1871471"/>
              <a:gd name="connsiteY2" fmla="*/ 483107 h 483107"/>
              <a:gd name="connsiteX3" fmla="*/ 1871471 w 1871471"/>
              <a:gd name="connsiteY3" fmla="*/ 0 h 483107"/>
              <a:gd name="connsiteX4" fmla="*/ 0 w 1871471"/>
              <a:gd name="connsiteY4" fmla="*/ 0 h 4831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871471" h="483107">
                <a:moveTo>
                  <a:pt x="0" y="0"/>
                </a:moveTo>
                <a:lnTo>
                  <a:pt x="0" y="483107"/>
                </a:lnTo>
                <a:lnTo>
                  <a:pt x="1871471" y="483107"/>
                </a:lnTo>
                <a:lnTo>
                  <a:pt x="1871471" y="0"/>
                </a:lnTo>
                <a:lnTo>
                  <a:pt x="0" y="0"/>
                </a:lnTo>
              </a:path>
            </a:pathLst>
          </a:custGeom>
          <a:solidFill>
            <a:srgbClr val="CC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4" name="Freeform 3"/>
          <p:cNvSpPr/>
          <p:nvPr/>
        </p:nvSpPr>
        <p:spPr>
          <a:xfrm>
            <a:off x="6613001" y="3356995"/>
            <a:ext cx="3506676" cy="766140"/>
          </a:xfrm>
          <a:custGeom>
            <a:avLst/>
            <a:gdLst>
              <a:gd name="connsiteX0" fmla="*/ 6350 w 3865372"/>
              <a:gd name="connsiteY0" fmla="*/ 6350 h 844803"/>
              <a:gd name="connsiteX1" fmla="*/ 6350 w 3865372"/>
              <a:gd name="connsiteY1" fmla="*/ 838453 h 844803"/>
              <a:gd name="connsiteX2" fmla="*/ 3859022 w 3865372"/>
              <a:gd name="connsiteY2" fmla="*/ 838453 h 844803"/>
              <a:gd name="connsiteX3" fmla="*/ 3859022 w 3865372"/>
              <a:gd name="connsiteY3" fmla="*/ 6350 h 844803"/>
              <a:gd name="connsiteX4" fmla="*/ 6350 w 3865372"/>
              <a:gd name="connsiteY4" fmla="*/ 6350 h 84480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865372" h="844803">
                <a:moveTo>
                  <a:pt x="6350" y="6350"/>
                </a:moveTo>
                <a:lnTo>
                  <a:pt x="6350" y="838453"/>
                </a:lnTo>
                <a:lnTo>
                  <a:pt x="3859022" y="838453"/>
                </a:lnTo>
                <a:lnTo>
                  <a:pt x="3859022" y="6350"/>
                </a:lnTo>
                <a:lnTo>
                  <a:pt x="6350" y="6350"/>
                </a:lnTo>
              </a:path>
            </a:pathLst>
          </a:custGeom>
          <a:solidFill>
            <a:srgbClr val="000000">
              <a:alpha val="0"/>
            </a:srgbClr>
          </a:solidFill>
          <a:ln w="12700">
            <a:solidFill>
              <a:srgbClr val="FFCC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5" name="Freeform 3"/>
          <p:cNvSpPr/>
          <p:nvPr/>
        </p:nvSpPr>
        <p:spPr>
          <a:xfrm>
            <a:off x="4442751" y="4696303"/>
            <a:ext cx="626450" cy="30242"/>
          </a:xfrm>
          <a:custGeom>
            <a:avLst/>
            <a:gdLst>
              <a:gd name="connsiteX0" fmla="*/ 8457 w 690527"/>
              <a:gd name="connsiteY0" fmla="*/ 8457 h 33831"/>
              <a:gd name="connsiteX1" fmla="*/ 682069 w 690527"/>
              <a:gd name="connsiteY1" fmla="*/ 8457 h 33831"/>
            </a:gdLst>
            <a:ahLst/>
            <a:cxnLst>
              <a:cxn ang="0">
                <a:pos x="connsiteX0" y="connsiteY0"/>
              </a:cxn>
              <a:cxn ang="1">
                <a:pos x="connsiteX1" y="connsiteY1"/>
              </a:cxn>
            </a:cxnLst>
            <a:rect l="l" t="t" r="r" b="b"/>
            <a:pathLst>
              <a:path w="690527" h="33831">
                <a:moveTo>
                  <a:pt x="8457" y="8457"/>
                </a:moveTo>
                <a:lnTo>
                  <a:pt x="682069" y="845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6677806" y="4336275"/>
            <a:ext cx="2983915" cy="1097366"/>
          </a:xfrm>
          <a:custGeom>
            <a:avLst/>
            <a:gdLst>
              <a:gd name="connsiteX0" fmla="*/ 6350 w 3289300"/>
              <a:gd name="connsiteY0" fmla="*/ 6350 h 1209802"/>
              <a:gd name="connsiteX1" fmla="*/ 6350 w 3289300"/>
              <a:gd name="connsiteY1" fmla="*/ 1203452 h 1209802"/>
              <a:gd name="connsiteX2" fmla="*/ 3282950 w 3289300"/>
              <a:gd name="connsiteY2" fmla="*/ 1203452 h 1209802"/>
              <a:gd name="connsiteX3" fmla="*/ 3282950 w 3289300"/>
              <a:gd name="connsiteY3" fmla="*/ 6350 h 1209802"/>
              <a:gd name="connsiteX4" fmla="*/ 6350 w 3289300"/>
              <a:gd name="connsiteY4" fmla="*/ 6350 h 120980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289300" h="1209802">
                <a:moveTo>
                  <a:pt x="6350" y="6350"/>
                </a:moveTo>
                <a:lnTo>
                  <a:pt x="6350" y="1203452"/>
                </a:lnTo>
                <a:lnTo>
                  <a:pt x="3282950" y="1203452"/>
                </a:lnTo>
                <a:lnTo>
                  <a:pt x="3282950" y="6350"/>
                </a:lnTo>
                <a:lnTo>
                  <a:pt x="6350" y="6350"/>
                </a:lnTo>
              </a:path>
            </a:pathLst>
          </a:custGeom>
          <a:solidFill>
            <a:srgbClr val="000000">
              <a:alpha val="0"/>
            </a:srgbClr>
          </a:solidFill>
          <a:ln w="12700">
            <a:solidFill>
              <a:srgbClr val="FFCC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 name="TextBox 1"/>
          <p:cNvSpPr txBox="1">
            <a:spLocks noRot="1" noChangeAspect="1" noMove="1" noResize="1" noEditPoints="1" noAdjustHandles="1" noChangeArrowheads="1" noChangeShapeType="1" noTextEdit="1"/>
          </p:cNvSpPr>
          <p:nvPr/>
        </p:nvSpPr>
        <p:spPr>
          <a:xfrm>
            <a:off x="8308016" y="2131460"/>
            <a:ext cx="1506527" cy="449050"/>
          </a:xfrm>
          <a:prstGeom prst="rect">
            <a:avLst/>
          </a:prstGeom>
          <a:blipFill rotWithShape="1">
            <a:blip r:embed="rId2"/>
            <a:stretch>
              <a:fillRect l="-12821" t="-23171" r="-4762" b="-28049"/>
            </a:stretch>
          </a:blipFill>
        </p:spPr>
        <p:txBody>
          <a:bodyPr/>
          <a:lstStyle/>
          <a:p>
            <a:pPr>
              <a:defRPr/>
            </a:pPr>
            <a:r>
              <a:rPr lang="zh-CN" altLang="en-US" sz="1633">
                <a:noFill/>
              </a:rPr>
              <a:t> </a:t>
            </a:r>
          </a:p>
        </p:txBody>
      </p:sp>
      <p:sp>
        <p:nvSpPr>
          <p:cNvPr id="65545" name="TextBox 1"/>
          <p:cNvSpPr txBox="1">
            <a:spLocks noChangeArrowheads="1"/>
          </p:cNvSpPr>
          <p:nvPr/>
        </p:nvSpPr>
        <p:spPr bwMode="auto">
          <a:xfrm>
            <a:off x="2121288" y="733110"/>
            <a:ext cx="7891135" cy="1027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31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31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31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31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31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31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31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31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31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dirty="0">
                <a:latin typeface="Times New Roman" panose="02020603050405020304" pitchFamily="18" charset="0"/>
                <a:cs typeface="Times New Roman" panose="02020603050405020304" pitchFamily="18" charset="0"/>
              </a:rPr>
              <a:t>2)</a:t>
            </a:r>
            <a:r>
              <a:rPr lang="en-US" altLang="zh-CN" sz="2540" dirty="0" err="1">
                <a:latin typeface="楷体_GB2312"/>
                <a:ea typeface="楷体_GB2312"/>
                <a:cs typeface="楷体_GB2312"/>
              </a:rPr>
              <a:t>引发剂分解动力学（</a:t>
            </a:r>
            <a:r>
              <a:rPr lang="en-US" altLang="zh-CN" sz="2268" b="1" dirty="0" err="1">
                <a:latin typeface="Times New Roman" panose="02020603050405020304" pitchFamily="18" charset="0"/>
                <a:cs typeface="Times New Roman" panose="02020603050405020304" pitchFamily="18" charset="0"/>
              </a:rPr>
              <a:t>Kinetics</a:t>
            </a:r>
            <a:r>
              <a:rPr lang="en-US" altLang="zh-CN" sz="2268" dirty="0">
                <a:latin typeface="Times New Roman" panose="02020603050405020304" pitchFamily="18" charset="0"/>
                <a:cs typeface="Times New Roman" panose="02020603050405020304" pitchFamily="18" charset="0"/>
              </a:rPr>
              <a:t> </a:t>
            </a:r>
            <a:r>
              <a:rPr lang="en-US" altLang="zh-CN" sz="2268" b="1" dirty="0">
                <a:latin typeface="Times New Roman" panose="02020603050405020304" pitchFamily="18" charset="0"/>
                <a:cs typeface="Times New Roman" panose="02020603050405020304" pitchFamily="18" charset="0"/>
              </a:rPr>
              <a:t>of</a:t>
            </a:r>
            <a:r>
              <a:rPr lang="en-US" altLang="zh-CN" sz="2268" dirty="0">
                <a:latin typeface="Times New Roman" panose="02020603050405020304" pitchFamily="18" charset="0"/>
                <a:cs typeface="Times New Roman" panose="02020603050405020304" pitchFamily="18" charset="0"/>
              </a:rPr>
              <a:t> </a:t>
            </a:r>
            <a:r>
              <a:rPr lang="en-US" altLang="zh-CN" sz="2268" b="1" dirty="0">
                <a:latin typeface="Times New Roman" panose="02020603050405020304" pitchFamily="18" charset="0"/>
                <a:cs typeface="Times New Roman" panose="02020603050405020304" pitchFamily="18" charset="0"/>
              </a:rPr>
              <a:t>Initiator Decomposition</a:t>
            </a:r>
            <a:r>
              <a:rPr lang="en-US" altLang="zh-CN" sz="2540" dirty="0">
                <a:latin typeface="楷体_GB2312"/>
                <a:ea typeface="楷体_GB2312"/>
                <a:cs typeface="楷体_GB2312"/>
              </a:rPr>
              <a:t>）</a:t>
            </a:r>
          </a:p>
          <a:p>
            <a:pPr eaLnBrk="1" hangingPunct="1">
              <a:lnSpc>
                <a:spcPts val="907"/>
              </a:lnSpc>
            </a:pPr>
            <a:endParaRPr lang="en-US" altLang="zh-CN" sz="1633" dirty="0"/>
          </a:p>
          <a:p>
            <a:pPr eaLnBrk="1" hangingPunct="1">
              <a:lnSpc>
                <a:spcPts val="907"/>
              </a:lnSpc>
            </a:pPr>
            <a:endParaRPr lang="en-US" altLang="zh-CN" sz="1633" dirty="0"/>
          </a:p>
          <a:p>
            <a:pPr eaLnBrk="1" hangingPunct="1">
              <a:lnSpc>
                <a:spcPts val="3357"/>
              </a:lnSpc>
            </a:pPr>
            <a:r>
              <a:rPr lang="en-US" altLang="zh-CN" sz="1633" dirty="0"/>
              <a:t>	</a:t>
            </a:r>
            <a:r>
              <a:rPr lang="en-US" altLang="zh-CN" sz="2540" dirty="0" err="1">
                <a:solidFill>
                  <a:srgbClr val="FF0000"/>
                </a:solidFill>
                <a:latin typeface="楷体_GB2312"/>
                <a:ea typeface="楷体_GB2312"/>
                <a:cs typeface="楷体_GB2312"/>
              </a:rPr>
              <a:t>研究引发剂浓度与时间、温度的定量关系</a:t>
            </a:r>
            <a:endParaRPr lang="en-US" altLang="zh-CN" sz="2540" dirty="0">
              <a:solidFill>
                <a:srgbClr val="FF0000"/>
              </a:solidFill>
              <a:latin typeface="楷体_GB2312"/>
              <a:ea typeface="楷体_GB2312"/>
              <a:cs typeface="楷体_GB2312"/>
            </a:endParaRPr>
          </a:p>
        </p:txBody>
      </p:sp>
      <p:sp>
        <p:nvSpPr>
          <p:cNvPr id="19" name="TextBox 1"/>
          <p:cNvSpPr txBox="1"/>
          <p:nvPr/>
        </p:nvSpPr>
        <p:spPr>
          <a:xfrm>
            <a:off x="8826455" y="2089698"/>
            <a:ext cx="155492" cy="251351"/>
          </a:xfrm>
          <a:prstGeom prst="rect">
            <a:avLst/>
          </a:prstGeom>
          <a:noFill/>
        </p:spPr>
        <p:txBody>
          <a:bodyPr wrap="none" lIns="0" tIns="0" rIns="0">
            <a:spAutoFit/>
          </a:bodyPr>
          <a:lstStyle/>
          <a:p>
            <a:pPr>
              <a:lnSpc>
                <a:spcPts val="1633"/>
              </a:lnSpc>
              <a:defRPr/>
            </a:pPr>
            <a:r>
              <a:rPr lang="en-US" altLang="zh-CN" sz="1510" i="1" dirty="0">
                <a:latin typeface="Times New Roman" pitchFamily="18" charset="0"/>
                <a:cs typeface="Times New Roman" pitchFamily="18" charset="0"/>
              </a:rPr>
              <a:t>k</a:t>
            </a:r>
            <a:r>
              <a:rPr lang="en-US" altLang="zh-CN" sz="1078" i="1" dirty="0">
                <a:latin typeface="Times New Roman" pitchFamily="18" charset="0"/>
                <a:cs typeface="Times New Roman" pitchFamily="18" charset="0"/>
              </a:rPr>
              <a:t>d</a:t>
            </a:r>
          </a:p>
        </p:txBody>
      </p:sp>
      <p:sp>
        <p:nvSpPr>
          <p:cNvPr id="65547" name="TextBox 1"/>
          <p:cNvSpPr txBox="1">
            <a:spLocks noChangeArrowheads="1"/>
          </p:cNvSpPr>
          <p:nvPr/>
        </p:nvSpPr>
        <p:spPr bwMode="auto">
          <a:xfrm>
            <a:off x="2455395" y="2046492"/>
            <a:ext cx="5621732" cy="892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8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8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8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8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8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引发剂的分解反应为动力学一级反应，</a:t>
            </a:r>
          </a:p>
          <a:p>
            <a:pPr eaLnBrk="1" hangingPunct="1">
              <a:lnSpc>
                <a:spcPts val="907"/>
              </a:lnSpc>
            </a:pPr>
            <a:endParaRPr lang="en-US" altLang="zh-CN" sz="1633"/>
          </a:p>
          <a:p>
            <a:pPr eaLnBrk="1" hangingPunct="1">
              <a:lnSpc>
                <a:spcPts val="3629"/>
              </a:lnSpc>
            </a:pPr>
            <a:r>
              <a:rPr lang="en-US" altLang="zh-CN" sz="2540">
                <a:latin typeface="楷体_GB2312"/>
                <a:ea typeface="楷体_GB2312"/>
                <a:cs typeface="楷体_GB2312"/>
              </a:rPr>
              <a:t>即分解速率</a:t>
            </a:r>
            <a:r>
              <a:rPr lang="en-US" altLang="zh-CN" sz="2540" b="1">
                <a:latin typeface="Times New Roman" panose="02020603050405020304" pitchFamily="18" charset="0"/>
                <a:cs typeface="Times New Roman" panose="02020603050405020304" pitchFamily="18" charset="0"/>
              </a:rPr>
              <a:t>R</a:t>
            </a:r>
            <a:r>
              <a:rPr lang="en-US" altLang="zh-CN" sz="1724" b="1" i="1">
                <a:latin typeface="Times New Roman" panose="02020603050405020304" pitchFamily="18" charset="0"/>
                <a:cs typeface="Times New Roman" panose="02020603050405020304" pitchFamily="18" charset="0"/>
              </a:rPr>
              <a:t>d</a:t>
            </a:r>
            <a:r>
              <a:rPr lang="en-US" altLang="zh-CN" sz="2540">
                <a:latin typeface="楷体_GB2312"/>
                <a:ea typeface="楷体_GB2312"/>
                <a:cs typeface="楷体_GB2312"/>
              </a:rPr>
              <a:t>与引发剂浓度</a:t>
            </a:r>
            <a:r>
              <a:rPr lang="en-US" altLang="zh-CN" sz="2540" b="1">
                <a:latin typeface="Times New Roman" panose="02020603050405020304" pitchFamily="18" charset="0"/>
                <a:cs typeface="Times New Roman" panose="02020603050405020304" pitchFamily="18" charset="0"/>
              </a:rPr>
              <a:t>[I]</a:t>
            </a:r>
            <a:r>
              <a:rPr lang="en-US" altLang="zh-CN" sz="2540">
                <a:latin typeface="楷体_GB2312"/>
                <a:ea typeface="楷体_GB2312"/>
                <a:cs typeface="楷体_GB2312"/>
              </a:rPr>
              <a:t>成正比。</a:t>
            </a:r>
          </a:p>
        </p:txBody>
      </p:sp>
      <p:sp>
        <p:nvSpPr>
          <p:cNvPr id="21" name="TextBox 1"/>
          <p:cNvSpPr txBox="1"/>
          <p:nvPr/>
        </p:nvSpPr>
        <p:spPr>
          <a:xfrm>
            <a:off x="5162808" y="3479406"/>
            <a:ext cx="962123" cy="1420197"/>
          </a:xfrm>
          <a:prstGeom prst="rect">
            <a:avLst/>
          </a:prstGeom>
          <a:noFill/>
        </p:spPr>
        <p:txBody>
          <a:bodyPr wrap="none" lIns="0" tIns="0" rIns="0">
            <a:spAutoFit/>
          </a:bodyPr>
          <a:lstStyle/>
          <a:p>
            <a:pPr>
              <a:lnSpc>
                <a:spcPts val="3901"/>
              </a:lnSpc>
              <a:tabLst>
                <a:tab pos="46087" algn="l"/>
              </a:tabLst>
              <a:defRPr/>
            </a:pPr>
            <a:r>
              <a:rPr lang="en-US" altLang="zh-CN" sz="1633" dirty="0"/>
              <a:t>	</a:t>
            </a:r>
            <a:r>
              <a:rPr lang="en-US" altLang="zh-CN" sz="2244" dirty="0">
                <a:latin typeface="Symbol" pitchFamily="18" charset="0"/>
                <a:cs typeface="Symbol" pitchFamily="18" charset="0"/>
              </a:rPr>
              <a:t>=</a:t>
            </a:r>
            <a:r>
              <a:rPr lang="en-US" altLang="zh-CN" sz="2244" dirty="0">
                <a:latin typeface="Times New Roman" pitchFamily="18" charset="0"/>
                <a:cs typeface="Times New Roman" pitchFamily="18" charset="0"/>
              </a:rPr>
              <a:t>  </a:t>
            </a:r>
            <a:r>
              <a:rPr lang="en-US" altLang="zh-CN" sz="2244" i="1" dirty="0">
                <a:latin typeface="Times New Roman" pitchFamily="18" charset="0"/>
                <a:cs typeface="Times New Roman" pitchFamily="18" charset="0"/>
              </a:rPr>
              <a:t>k</a:t>
            </a:r>
            <a:r>
              <a:rPr lang="en-US" altLang="zh-CN" sz="1308" dirty="0">
                <a:latin typeface="Times New Roman" pitchFamily="18" charset="0"/>
                <a:cs typeface="Times New Roman" pitchFamily="18" charset="0"/>
              </a:rPr>
              <a:t> </a:t>
            </a:r>
            <a:r>
              <a:rPr lang="en-US" altLang="zh-CN" sz="1308" i="1" dirty="0">
                <a:latin typeface="Times New Roman" pitchFamily="18" charset="0"/>
                <a:cs typeface="Times New Roman" pitchFamily="18" charset="0"/>
              </a:rPr>
              <a:t>d</a:t>
            </a:r>
            <a:r>
              <a:rPr lang="en-US" altLang="zh-CN" sz="3067" dirty="0">
                <a:latin typeface="Symbol" pitchFamily="18" charset="0"/>
                <a:cs typeface="Symbol" pitchFamily="18" charset="0"/>
              </a:rPr>
              <a:t>[</a:t>
            </a:r>
            <a:r>
              <a:rPr lang="en-US" altLang="zh-CN" sz="2244" i="1" dirty="0">
                <a:latin typeface="Times New Roman" pitchFamily="18" charset="0"/>
                <a:cs typeface="Times New Roman" pitchFamily="18" charset="0"/>
              </a:rPr>
              <a:t>I</a:t>
            </a:r>
            <a:r>
              <a:rPr lang="en-US" altLang="zh-CN" sz="3067" dirty="0">
                <a:latin typeface="Symbol" pitchFamily="18" charset="0"/>
                <a:cs typeface="Symbol" pitchFamily="18" charset="0"/>
              </a:rPr>
              <a:t>]</a:t>
            </a:r>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3539"/>
              </a:lnSpc>
              <a:tabLst>
                <a:tab pos="46087" algn="l"/>
              </a:tabLst>
              <a:defRPr/>
            </a:pPr>
            <a:r>
              <a:rPr lang="en-US" altLang="zh-CN" sz="2556" dirty="0">
                <a:latin typeface="Symbol" pitchFamily="18" charset="0"/>
                <a:cs typeface="Symbol" pitchFamily="18" charset="0"/>
              </a:rPr>
              <a:t>=</a:t>
            </a:r>
            <a:r>
              <a:rPr lang="en-US" altLang="zh-CN" sz="2556" dirty="0">
                <a:latin typeface="Times New Roman" pitchFamily="18" charset="0"/>
                <a:cs typeface="Times New Roman" pitchFamily="18" charset="0"/>
              </a:rPr>
              <a:t>  -</a:t>
            </a:r>
            <a:r>
              <a:rPr lang="en-US" altLang="zh-CN" sz="2556" i="1" dirty="0">
                <a:latin typeface="Times New Roman" pitchFamily="18" charset="0"/>
                <a:cs typeface="Times New Roman" pitchFamily="18" charset="0"/>
              </a:rPr>
              <a:t>k</a:t>
            </a:r>
            <a:r>
              <a:rPr lang="en-US" altLang="zh-CN" sz="1491" dirty="0">
                <a:latin typeface="Times New Roman" pitchFamily="18" charset="0"/>
                <a:cs typeface="Times New Roman" pitchFamily="18" charset="0"/>
              </a:rPr>
              <a:t> </a:t>
            </a:r>
            <a:r>
              <a:rPr lang="en-US" altLang="zh-CN" sz="1491" i="1" dirty="0">
                <a:latin typeface="Times New Roman" pitchFamily="18" charset="0"/>
                <a:cs typeface="Times New Roman" pitchFamily="18" charset="0"/>
              </a:rPr>
              <a:t>d</a:t>
            </a:r>
            <a:r>
              <a:rPr lang="en-US" altLang="zh-CN" sz="2556" i="1" dirty="0">
                <a:latin typeface="Times New Roman" pitchFamily="18" charset="0"/>
                <a:cs typeface="Times New Roman" pitchFamily="18" charset="0"/>
              </a:rPr>
              <a:t>t</a:t>
            </a:r>
          </a:p>
        </p:txBody>
      </p:sp>
      <p:sp>
        <p:nvSpPr>
          <p:cNvPr id="23" name="TextBox 1"/>
          <p:cNvSpPr txBox="1">
            <a:spLocks noRot="1" noChangeAspect="1" noMove="1" noResize="1" noEditPoints="1" noAdjustHandles="1" noChangeArrowheads="1" noChangeShapeType="1" noTextEdit="1"/>
          </p:cNvSpPr>
          <p:nvPr/>
        </p:nvSpPr>
        <p:spPr>
          <a:xfrm>
            <a:off x="2582126" y="3583095"/>
            <a:ext cx="1897701" cy="1402990"/>
          </a:xfrm>
          <a:prstGeom prst="rect">
            <a:avLst/>
          </a:prstGeom>
          <a:blipFill rotWithShape="1">
            <a:blip r:embed="rId3"/>
            <a:stretch>
              <a:fillRect l="-10496" t="-4724" r="-7872" b="-6299"/>
            </a:stretch>
          </a:blipFill>
        </p:spPr>
        <p:txBody>
          <a:bodyPr/>
          <a:lstStyle/>
          <a:p>
            <a:pPr>
              <a:defRPr/>
            </a:pPr>
            <a:r>
              <a:rPr lang="zh-CN" altLang="en-US" sz="1633">
                <a:noFill/>
              </a:rPr>
              <a:t> </a:t>
            </a:r>
          </a:p>
        </p:txBody>
      </p:sp>
      <p:sp>
        <p:nvSpPr>
          <p:cNvPr id="65550" name="TextBox 1"/>
          <p:cNvSpPr txBox="1">
            <a:spLocks noChangeArrowheads="1"/>
          </p:cNvSpPr>
          <p:nvPr/>
        </p:nvSpPr>
        <p:spPr bwMode="auto">
          <a:xfrm>
            <a:off x="2777981" y="5641016"/>
            <a:ext cx="5206554" cy="354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581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581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表明引发剂浓度随时间成指数衰减。</a:t>
            </a:r>
            <a:endParaRPr lang="en-US" altLang="zh-CN" sz="1089">
              <a:latin typeface="Times New Roman" panose="02020603050405020304" pitchFamily="18" charset="0"/>
              <a:cs typeface="Times New Roman" panose="02020603050405020304" pitchFamily="18" charset="0"/>
            </a:endParaRPr>
          </a:p>
        </p:txBody>
      </p:sp>
      <p:sp>
        <p:nvSpPr>
          <p:cNvPr id="65551" name="TextBox 1"/>
          <p:cNvSpPr txBox="1">
            <a:spLocks noChangeArrowheads="1"/>
          </p:cNvSpPr>
          <p:nvPr/>
        </p:nvSpPr>
        <p:spPr bwMode="auto">
          <a:xfrm>
            <a:off x="6695089" y="3433322"/>
            <a:ext cx="3327834"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6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6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6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6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6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6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6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6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6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b="1">
                <a:latin typeface="Times New Roman" panose="02020603050405020304" pitchFamily="18" charset="0"/>
                <a:cs typeface="Times New Roman" panose="02020603050405020304" pitchFamily="18" charset="0"/>
              </a:rPr>
              <a:t>k</a:t>
            </a:r>
            <a:r>
              <a:rPr lang="en-US" altLang="zh-CN" sz="1452" b="1">
                <a:latin typeface="Times New Roman" panose="02020603050405020304" pitchFamily="18" charset="0"/>
                <a:cs typeface="Times New Roman" panose="02020603050405020304" pitchFamily="18" charset="0"/>
              </a:rPr>
              <a:t>d</a:t>
            </a:r>
            <a:r>
              <a:rPr lang="en-US" altLang="zh-CN" sz="2177">
                <a:latin typeface="楷体_GB2312"/>
                <a:ea typeface="楷体_GB2312"/>
                <a:cs typeface="楷体_GB2312"/>
              </a:rPr>
              <a:t>：引发剂分解速率常数，</a:t>
            </a:r>
          </a:p>
          <a:p>
            <a:pPr eaLnBrk="1" hangingPunct="1">
              <a:lnSpc>
                <a:spcPts val="2177"/>
              </a:lnSpc>
            </a:pPr>
            <a:r>
              <a:rPr lang="en-US" altLang="zh-CN" sz="2177">
                <a:latin typeface="楷体_GB2312"/>
                <a:ea typeface="楷体_GB2312"/>
                <a:cs typeface="楷体_GB2312"/>
              </a:rPr>
              <a:t>单位：时间</a:t>
            </a:r>
            <a:r>
              <a:rPr lang="en-US" altLang="zh-CN" sz="1814" b="1" baseline="30000">
                <a:latin typeface="Times New Roman" panose="02020603050405020304" pitchFamily="18" charset="0"/>
                <a:cs typeface="Times New Roman" panose="02020603050405020304" pitchFamily="18" charset="0"/>
              </a:rPr>
              <a:t>-1</a:t>
            </a:r>
            <a:r>
              <a:rPr lang="en-US" altLang="zh-CN" sz="2177">
                <a:latin typeface="Times New Roman" panose="02020603050405020304" pitchFamily="18" charset="0"/>
                <a:ea typeface="楷体_GB2312"/>
                <a:cs typeface="Times New Roman" panose="02020603050405020304" pitchFamily="18" charset="0"/>
              </a:rPr>
              <a:t>，s</a:t>
            </a:r>
            <a:r>
              <a:rPr lang="en-US" altLang="zh-CN" sz="2177" baseline="30000">
                <a:latin typeface="Times New Roman" panose="02020603050405020304" pitchFamily="18" charset="0"/>
                <a:ea typeface="楷体_GB2312"/>
                <a:cs typeface="Times New Roman" panose="02020603050405020304" pitchFamily="18" charset="0"/>
              </a:rPr>
              <a:t>-1</a:t>
            </a:r>
            <a:r>
              <a:rPr lang="en-US" altLang="zh-CN" sz="2177">
                <a:latin typeface="Times New Roman" panose="02020603050405020304" pitchFamily="18" charset="0"/>
                <a:ea typeface="楷体_GB2312"/>
                <a:cs typeface="Times New Roman" panose="02020603050405020304" pitchFamily="18" charset="0"/>
              </a:rPr>
              <a:t>, min</a:t>
            </a:r>
            <a:r>
              <a:rPr lang="en-US" altLang="zh-CN" sz="2177" baseline="30000">
                <a:latin typeface="Times New Roman" panose="02020603050405020304" pitchFamily="18" charset="0"/>
                <a:ea typeface="楷体_GB2312"/>
                <a:cs typeface="Times New Roman" panose="02020603050405020304" pitchFamily="18" charset="0"/>
              </a:rPr>
              <a:t>-1</a:t>
            </a:r>
            <a:r>
              <a:rPr lang="en-US" altLang="zh-CN" sz="2177">
                <a:latin typeface="Times New Roman" panose="02020603050405020304" pitchFamily="18" charset="0"/>
                <a:ea typeface="楷体_GB2312"/>
                <a:cs typeface="Times New Roman" panose="02020603050405020304" pitchFamily="18" charset="0"/>
              </a:rPr>
              <a:t>, h</a:t>
            </a:r>
            <a:r>
              <a:rPr lang="en-US" altLang="zh-CN" sz="2177" baseline="30000">
                <a:latin typeface="Times New Roman" panose="02020603050405020304" pitchFamily="18" charset="0"/>
                <a:ea typeface="楷体_GB2312"/>
                <a:cs typeface="Times New Roman" panose="02020603050405020304" pitchFamily="18" charset="0"/>
              </a:rPr>
              <a:t>-1</a:t>
            </a:r>
            <a:endParaRPr lang="en-US" altLang="zh-CN" sz="2177">
              <a:latin typeface="Times New Roman" panose="02020603050405020304" pitchFamily="18" charset="0"/>
              <a:ea typeface="楷体_GB2312"/>
              <a:cs typeface="Times New Roman" panose="02020603050405020304" pitchFamily="18" charset="0"/>
            </a:endParaRP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1633"/>
              <a:t>	</a:t>
            </a:r>
            <a:r>
              <a:rPr lang="en-US" altLang="zh-CN" sz="2177">
                <a:latin typeface="楷体_GB2312"/>
                <a:ea typeface="楷体_GB2312"/>
                <a:cs typeface="楷体_GB2312"/>
              </a:rPr>
              <a:t>式中</a:t>
            </a:r>
            <a:r>
              <a:rPr lang="en-US" altLang="zh-CN" sz="2177" b="1">
                <a:latin typeface="Times New Roman" panose="02020603050405020304" pitchFamily="18" charset="0"/>
                <a:cs typeface="Times New Roman" panose="02020603050405020304" pitchFamily="18" charset="0"/>
              </a:rPr>
              <a:t>[I]</a:t>
            </a:r>
            <a:r>
              <a:rPr lang="en-US" altLang="zh-CN" sz="1452" b="1">
                <a:latin typeface="Times New Roman" panose="02020603050405020304" pitchFamily="18" charset="0"/>
                <a:cs typeface="Times New Roman" panose="02020603050405020304" pitchFamily="18" charset="0"/>
              </a:rPr>
              <a:t>0</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[I]</a:t>
            </a:r>
            <a:r>
              <a:rPr lang="en-US" altLang="zh-CN" sz="2177">
                <a:latin typeface="楷体_GB2312"/>
                <a:ea typeface="楷体_GB2312"/>
                <a:cs typeface="楷体_GB2312"/>
              </a:rPr>
              <a:t>：引发剂</a:t>
            </a:r>
          </a:p>
          <a:p>
            <a:pPr eaLnBrk="1" hangingPunct="1">
              <a:lnSpc>
                <a:spcPts val="2177"/>
              </a:lnSpc>
            </a:pPr>
            <a:r>
              <a:rPr lang="en-US" altLang="zh-CN" sz="1633"/>
              <a:t>	</a:t>
            </a:r>
            <a:r>
              <a:rPr lang="en-US" altLang="zh-CN" sz="2177">
                <a:latin typeface="楷体_GB2312"/>
                <a:ea typeface="楷体_GB2312"/>
                <a:cs typeface="楷体_GB2312"/>
              </a:rPr>
              <a:t>起始浓度和分解时间为</a:t>
            </a:r>
          </a:p>
          <a:p>
            <a:pPr eaLnBrk="1" hangingPunct="1">
              <a:lnSpc>
                <a:spcPts val="2540"/>
              </a:lnSpc>
            </a:pPr>
            <a:r>
              <a:rPr lang="en-US" altLang="zh-CN" sz="1633"/>
              <a:t>	</a:t>
            </a:r>
            <a:r>
              <a:rPr lang="en-US" altLang="zh-CN" sz="2177" b="1">
                <a:latin typeface="Times New Roman" panose="02020603050405020304" pitchFamily="18" charset="0"/>
                <a:cs typeface="Times New Roman" panose="02020603050405020304" pitchFamily="18" charset="0"/>
              </a:rPr>
              <a:t>t</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时的浓度，</a:t>
            </a:r>
            <a:r>
              <a:rPr lang="en-US" altLang="zh-CN" sz="2177" b="1">
                <a:latin typeface="Times New Roman" panose="02020603050405020304" pitchFamily="18" charset="0"/>
                <a:cs typeface="Times New Roman" panose="02020603050405020304" pitchFamily="18" charset="0"/>
              </a:rPr>
              <a:t>mol/l</a:t>
            </a:r>
            <a:r>
              <a:rPr lang="en-US" altLang="zh-CN" sz="2177">
                <a:latin typeface="楷体_GB2312"/>
                <a:ea typeface="楷体_GB2312"/>
                <a:cs typeface="楷体_GB2312"/>
              </a:rPr>
              <a:t>。</a:t>
            </a:r>
          </a:p>
        </p:txBody>
      </p:sp>
      <p:cxnSp>
        <p:nvCxnSpPr>
          <p:cNvPr id="26" name="直接箭头连接符 25"/>
          <p:cNvCxnSpPr/>
          <p:nvPr/>
        </p:nvCxnSpPr>
        <p:spPr>
          <a:xfrm>
            <a:off x="8446265" y="2322994"/>
            <a:ext cx="898631"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3901267" y="4968483"/>
            <a:ext cx="489639" cy="27363"/>
          </a:xfrm>
          <a:custGeom>
            <a:avLst/>
            <a:gdLst>
              <a:gd name="connsiteX0" fmla="*/ 7283 w 539584"/>
              <a:gd name="connsiteY0" fmla="*/ 7283 h 29133"/>
              <a:gd name="connsiteX1" fmla="*/ 532301 w 539584"/>
              <a:gd name="connsiteY1" fmla="*/ 7283 h 29133"/>
            </a:gdLst>
            <a:ahLst/>
            <a:cxnLst>
              <a:cxn ang="0">
                <a:pos x="connsiteX0" y="connsiteY0"/>
              </a:cxn>
              <a:cxn ang="1">
                <a:pos x="connsiteX1" y="connsiteY1"/>
              </a:cxn>
            </a:cxnLst>
            <a:rect l="l" t="t" r="r" b="b"/>
            <a:pathLst>
              <a:path w="539584" h="29133">
                <a:moveTo>
                  <a:pt x="7283" y="7283"/>
                </a:moveTo>
                <a:lnTo>
                  <a:pt x="532301" y="7283"/>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2501479" y="4465883"/>
            <a:ext cx="2965194" cy="995118"/>
          </a:xfrm>
          <a:custGeom>
            <a:avLst/>
            <a:gdLst>
              <a:gd name="connsiteX0" fmla="*/ 6350 w 3117088"/>
              <a:gd name="connsiteY0" fmla="*/ 1007617 h 1013967"/>
              <a:gd name="connsiteX1" fmla="*/ 6350 w 3117088"/>
              <a:gd name="connsiteY1" fmla="*/ 6350 h 1013967"/>
              <a:gd name="connsiteX2" fmla="*/ 3110737 w 3117088"/>
              <a:gd name="connsiteY2" fmla="*/ 6350 h 1013967"/>
              <a:gd name="connsiteX3" fmla="*/ 3110737 w 3117088"/>
              <a:gd name="connsiteY3" fmla="*/ 1007617 h 1013967"/>
              <a:gd name="connsiteX4" fmla="*/ 6350 w 3117088"/>
              <a:gd name="connsiteY4" fmla="*/ 1007617 h 101396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117088" h="1013967">
                <a:moveTo>
                  <a:pt x="6350" y="1007617"/>
                </a:moveTo>
                <a:lnTo>
                  <a:pt x="6350" y="6350"/>
                </a:lnTo>
                <a:lnTo>
                  <a:pt x="3110737" y="6350"/>
                </a:lnTo>
                <a:lnTo>
                  <a:pt x="3110737" y="1007617"/>
                </a:lnTo>
                <a:lnTo>
                  <a:pt x="6350" y="1007617"/>
                </a:lnTo>
              </a:path>
            </a:pathLst>
          </a:custGeom>
          <a:solidFill>
            <a:srgbClr val="000000">
              <a:alpha val="0"/>
            </a:srgbClr>
          </a:solidFill>
          <a:ln w="12700">
            <a:solidFill>
              <a:srgbClr val="FFCC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4" name="Freeform 3"/>
          <p:cNvSpPr/>
          <p:nvPr/>
        </p:nvSpPr>
        <p:spPr>
          <a:xfrm>
            <a:off x="5964952" y="4929601"/>
            <a:ext cx="980717" cy="66245"/>
          </a:xfrm>
          <a:custGeom>
            <a:avLst/>
            <a:gdLst>
              <a:gd name="connsiteX0" fmla="*/ 810767 w 1081265"/>
              <a:gd name="connsiteY0" fmla="*/ 0 h 73152"/>
              <a:gd name="connsiteX1" fmla="*/ 810767 w 1081265"/>
              <a:gd name="connsiteY1" fmla="*/ 18288 h 73152"/>
              <a:gd name="connsiteX2" fmla="*/ 0 w 1081265"/>
              <a:gd name="connsiteY2" fmla="*/ 18288 h 73152"/>
              <a:gd name="connsiteX3" fmla="*/ 0 w 1081265"/>
              <a:gd name="connsiteY3" fmla="*/ 54864 h 73152"/>
              <a:gd name="connsiteX4" fmla="*/ 810767 w 1081265"/>
              <a:gd name="connsiteY4" fmla="*/ 54864 h 73152"/>
              <a:gd name="connsiteX5" fmla="*/ 810767 w 1081265"/>
              <a:gd name="connsiteY5" fmla="*/ 73152 h 73152"/>
              <a:gd name="connsiteX6" fmla="*/ 1081265 w 1081265"/>
              <a:gd name="connsiteY6" fmla="*/ 36576 h 73152"/>
              <a:gd name="connsiteX7" fmla="*/ 810767 w 1081265"/>
              <a:gd name="connsiteY7" fmla="*/ 0 h 73152"/>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1081265" h="73152">
                <a:moveTo>
                  <a:pt x="810767" y="0"/>
                </a:moveTo>
                <a:lnTo>
                  <a:pt x="810767" y="18288"/>
                </a:lnTo>
                <a:lnTo>
                  <a:pt x="0" y="18288"/>
                </a:lnTo>
                <a:lnTo>
                  <a:pt x="0" y="54864"/>
                </a:lnTo>
                <a:lnTo>
                  <a:pt x="810767" y="54864"/>
                </a:lnTo>
                <a:lnTo>
                  <a:pt x="810767" y="73152"/>
                </a:lnTo>
                <a:lnTo>
                  <a:pt x="1081265" y="36576"/>
                </a:lnTo>
                <a:lnTo>
                  <a:pt x="810767" y="0"/>
                </a:lnTo>
              </a:path>
            </a:pathLst>
          </a:custGeom>
          <a:solidFill>
            <a:srgbClr val="3399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5" name="Freeform 3"/>
          <p:cNvSpPr/>
          <p:nvPr/>
        </p:nvSpPr>
        <p:spPr>
          <a:xfrm>
            <a:off x="5959192" y="4923841"/>
            <a:ext cx="992238" cy="77766"/>
          </a:xfrm>
          <a:custGeom>
            <a:avLst/>
            <a:gdLst>
              <a:gd name="connsiteX0" fmla="*/ 817117 w 1093965"/>
              <a:gd name="connsiteY0" fmla="*/ 6350 h 85852"/>
              <a:gd name="connsiteX1" fmla="*/ 817117 w 1093965"/>
              <a:gd name="connsiteY1" fmla="*/ 24638 h 85852"/>
              <a:gd name="connsiteX2" fmla="*/ 6350 w 1093965"/>
              <a:gd name="connsiteY2" fmla="*/ 24638 h 85852"/>
              <a:gd name="connsiteX3" fmla="*/ 6350 w 1093965"/>
              <a:gd name="connsiteY3" fmla="*/ 61214 h 85852"/>
              <a:gd name="connsiteX4" fmla="*/ 817117 w 1093965"/>
              <a:gd name="connsiteY4" fmla="*/ 61214 h 85852"/>
              <a:gd name="connsiteX5" fmla="*/ 817117 w 1093965"/>
              <a:gd name="connsiteY5" fmla="*/ 79502 h 85852"/>
              <a:gd name="connsiteX6" fmla="*/ 1087615 w 1093965"/>
              <a:gd name="connsiteY6" fmla="*/ 42926 h 85852"/>
              <a:gd name="connsiteX7" fmla="*/ 817117 w 1093965"/>
              <a:gd name="connsiteY7" fmla="*/ 6350 h 85852"/>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1093965" h="85852">
                <a:moveTo>
                  <a:pt x="817117" y="6350"/>
                </a:moveTo>
                <a:lnTo>
                  <a:pt x="817117" y="24638"/>
                </a:lnTo>
                <a:lnTo>
                  <a:pt x="6350" y="24638"/>
                </a:lnTo>
                <a:lnTo>
                  <a:pt x="6350" y="61214"/>
                </a:lnTo>
                <a:lnTo>
                  <a:pt x="817117" y="61214"/>
                </a:lnTo>
                <a:lnTo>
                  <a:pt x="817117" y="79502"/>
                </a:lnTo>
                <a:lnTo>
                  <a:pt x="1087615" y="42926"/>
                </a:lnTo>
                <a:lnTo>
                  <a:pt x="817117" y="6350"/>
                </a:lnTo>
              </a:path>
            </a:pathLst>
          </a:custGeom>
          <a:solidFill>
            <a:srgbClr val="000000">
              <a:alpha val="0"/>
            </a:srgbClr>
          </a:solidFill>
          <a:ln w="12700">
            <a:solidFill>
              <a:srgbClr val="FFFFFF">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6" name="Freeform 3"/>
          <p:cNvSpPr/>
          <p:nvPr/>
        </p:nvSpPr>
        <p:spPr>
          <a:xfrm>
            <a:off x="8031514" y="4900797"/>
            <a:ext cx="511241" cy="27362"/>
          </a:xfrm>
          <a:custGeom>
            <a:avLst/>
            <a:gdLst>
              <a:gd name="connsiteX0" fmla="*/ 7480 w 563587"/>
              <a:gd name="connsiteY0" fmla="*/ 7480 h 29921"/>
              <a:gd name="connsiteX1" fmla="*/ 556107 w 563587"/>
              <a:gd name="connsiteY1" fmla="*/ 7480 h 29921"/>
            </a:gdLst>
            <a:ahLst/>
            <a:cxnLst>
              <a:cxn ang="0">
                <a:pos x="connsiteX0" y="connsiteY0"/>
              </a:cxn>
              <a:cxn ang="1">
                <a:pos x="connsiteX1" y="connsiteY1"/>
              </a:cxn>
            </a:cxnLst>
            <a:rect l="l" t="t" r="r" b="b"/>
            <a:pathLst>
              <a:path w="563587" h="29921">
                <a:moveTo>
                  <a:pt x="7480" y="7480"/>
                </a:moveTo>
                <a:lnTo>
                  <a:pt x="556107" y="748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8873979" y="4900797"/>
            <a:ext cx="766140" cy="27362"/>
          </a:xfrm>
          <a:custGeom>
            <a:avLst/>
            <a:gdLst>
              <a:gd name="connsiteX0" fmla="*/ 7480 w 844029"/>
              <a:gd name="connsiteY0" fmla="*/ 7480 h 29921"/>
              <a:gd name="connsiteX1" fmla="*/ 836548 w 844029"/>
              <a:gd name="connsiteY1" fmla="*/ 7480 h 29921"/>
            </a:gdLst>
            <a:ahLst/>
            <a:cxnLst>
              <a:cxn ang="0">
                <a:pos x="connsiteX0" y="connsiteY0"/>
              </a:cxn>
              <a:cxn ang="1">
                <a:pos x="connsiteX1" y="connsiteY1"/>
              </a:cxn>
            </a:cxnLst>
            <a:rect l="l" t="t" r="r" b="b"/>
            <a:pathLst>
              <a:path w="844029" h="29921">
                <a:moveTo>
                  <a:pt x="7480" y="7480"/>
                </a:moveTo>
                <a:lnTo>
                  <a:pt x="836548" y="748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7262492" y="4463002"/>
            <a:ext cx="2436672" cy="943274"/>
          </a:xfrm>
          <a:custGeom>
            <a:avLst/>
            <a:gdLst>
              <a:gd name="connsiteX0" fmla="*/ 6350 w 2685795"/>
              <a:gd name="connsiteY0" fmla="*/ 1032764 h 1039114"/>
              <a:gd name="connsiteX1" fmla="*/ 6350 w 2685795"/>
              <a:gd name="connsiteY1" fmla="*/ 6350 h 1039114"/>
              <a:gd name="connsiteX2" fmla="*/ 2679445 w 2685795"/>
              <a:gd name="connsiteY2" fmla="*/ 6350 h 1039114"/>
              <a:gd name="connsiteX3" fmla="*/ 2679445 w 2685795"/>
              <a:gd name="connsiteY3" fmla="*/ 1032764 h 1039114"/>
              <a:gd name="connsiteX4" fmla="*/ 6350 w 2685795"/>
              <a:gd name="connsiteY4" fmla="*/ 1032764 h 1039114"/>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685795" h="1039114">
                <a:moveTo>
                  <a:pt x="6350" y="1032764"/>
                </a:moveTo>
                <a:lnTo>
                  <a:pt x="6350" y="6350"/>
                </a:lnTo>
                <a:lnTo>
                  <a:pt x="2679445" y="6350"/>
                </a:lnTo>
                <a:lnTo>
                  <a:pt x="2679445" y="1032764"/>
                </a:lnTo>
                <a:lnTo>
                  <a:pt x="6350" y="1032764"/>
                </a:lnTo>
              </a:path>
            </a:pathLst>
          </a:custGeom>
          <a:solidFill>
            <a:srgbClr val="000000">
              <a:alpha val="0"/>
            </a:srgbClr>
          </a:solidFill>
          <a:ln w="12700">
            <a:solidFill>
              <a:srgbClr val="FFCC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66569"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59</a:t>
            </a:r>
          </a:p>
        </p:txBody>
      </p:sp>
      <p:sp>
        <p:nvSpPr>
          <p:cNvPr id="66570" name="TextBox 1"/>
          <p:cNvSpPr txBox="1">
            <a:spLocks noChangeArrowheads="1"/>
          </p:cNvSpPr>
          <p:nvPr/>
        </p:nvSpPr>
        <p:spPr bwMode="auto">
          <a:xfrm>
            <a:off x="2386269" y="733110"/>
            <a:ext cx="7372211" cy="3419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6200" algn="l"/>
                <a:tab pos="533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6200" algn="l"/>
                <a:tab pos="533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6200" algn="l"/>
                <a:tab pos="533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6200" algn="l"/>
                <a:tab pos="533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6200" algn="l"/>
                <a:tab pos="533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6200" algn="l"/>
                <a:tab pos="533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6200" algn="l"/>
                <a:tab pos="533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6200" algn="l"/>
                <a:tab pos="533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6200" algn="l"/>
                <a:tab pos="533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629"/>
              </a:lnSpc>
            </a:pPr>
            <a:r>
              <a:rPr lang="en-US" altLang="zh-CN" sz="1633"/>
              <a:t>	</a:t>
            </a:r>
            <a:r>
              <a:rPr lang="en-US" altLang="zh-CN" sz="2812">
                <a:latin typeface="楷体_GB2312"/>
                <a:ea typeface="楷体_GB2312"/>
                <a:cs typeface="楷体_GB2312"/>
              </a:rPr>
              <a:t>半衰期（</a:t>
            </a:r>
            <a:r>
              <a:rPr lang="en-US" altLang="zh-CN" sz="2812" b="1">
                <a:latin typeface="Times New Roman" panose="02020603050405020304" pitchFamily="18" charset="0"/>
                <a:cs typeface="Times New Roman" panose="02020603050405020304" pitchFamily="18" charset="0"/>
              </a:rPr>
              <a:t>t</a:t>
            </a:r>
            <a:r>
              <a:rPr lang="en-US" altLang="zh-CN" sz="1905" b="1">
                <a:latin typeface="Times New Roman" panose="02020603050405020304" pitchFamily="18" charset="0"/>
                <a:cs typeface="Times New Roman" panose="02020603050405020304" pitchFamily="18" charset="0"/>
              </a:rPr>
              <a:t>1/2</a:t>
            </a:r>
            <a:r>
              <a:rPr lang="en-US" altLang="zh-CN" sz="2812">
                <a:latin typeface="楷体_GB2312"/>
                <a:ea typeface="楷体_GB2312"/>
                <a:cs typeface="楷体_GB2312"/>
              </a:rPr>
              <a:t>）（</a:t>
            </a:r>
            <a:r>
              <a:rPr lang="en-US" altLang="zh-CN" sz="2812" b="1">
                <a:latin typeface="Times New Roman" panose="02020603050405020304" pitchFamily="18" charset="0"/>
                <a:cs typeface="Times New Roman" panose="02020603050405020304" pitchFamily="18" charset="0"/>
              </a:rPr>
              <a:t>Half</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Life</a:t>
            </a:r>
            <a:r>
              <a:rPr lang="en-US" altLang="zh-CN" sz="2812">
                <a:latin typeface="楷体_GB2312"/>
                <a:ea typeface="楷体_GB2312"/>
                <a:cs typeface="楷体_GB2312"/>
              </a:rPr>
              <a:t>）</a:t>
            </a:r>
          </a:p>
          <a:p>
            <a:pPr eaLnBrk="1" hangingPunct="1">
              <a:lnSpc>
                <a:spcPts val="907"/>
              </a:lnSpc>
            </a:pPr>
            <a:endParaRPr lang="en-US" altLang="zh-CN" sz="1633"/>
          </a:p>
          <a:p>
            <a:pPr eaLnBrk="1" hangingPunct="1">
              <a:lnSpc>
                <a:spcPts val="907"/>
              </a:lnSpc>
            </a:pPr>
            <a:endParaRPr lang="en-US" altLang="zh-CN" sz="1633"/>
          </a:p>
          <a:p>
            <a:pPr eaLnBrk="1" hangingPunct="1">
              <a:lnSpc>
                <a:spcPts val="2812"/>
              </a:lnSpc>
            </a:pPr>
            <a:r>
              <a:rPr lang="en-US" altLang="zh-CN" sz="1633"/>
              <a:t>		</a:t>
            </a:r>
            <a:r>
              <a:rPr lang="en-US" altLang="zh-CN" sz="2540">
                <a:latin typeface="楷体_GB2312"/>
                <a:ea typeface="楷体_GB2312"/>
                <a:cs typeface="楷体_GB2312"/>
              </a:rPr>
              <a:t>引发剂分解为一级反应，常用半衰期来衡量反应</a:t>
            </a:r>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速率的大小。</a:t>
            </a:r>
          </a:p>
          <a:p>
            <a:pPr eaLnBrk="1" hangingPunct="1">
              <a:lnSpc>
                <a:spcPts val="907"/>
              </a:lnSpc>
            </a:pPr>
            <a:endParaRPr lang="en-US" altLang="zh-CN" sz="1633"/>
          </a:p>
          <a:p>
            <a:pPr eaLnBrk="1" hangingPunct="1">
              <a:lnSpc>
                <a:spcPts val="907"/>
              </a:lnSpc>
            </a:pPr>
            <a:endParaRPr lang="en-US" altLang="zh-CN" sz="1633"/>
          </a:p>
          <a:p>
            <a:pPr eaLnBrk="1" hangingPunct="1">
              <a:lnSpc>
                <a:spcPts val="3357"/>
              </a:lnSpc>
            </a:pPr>
            <a:r>
              <a:rPr lang="en-US" altLang="zh-CN" sz="1633"/>
              <a:t>		</a:t>
            </a:r>
            <a:r>
              <a:rPr lang="en-US" altLang="zh-CN" sz="2540">
                <a:latin typeface="楷体_GB2312"/>
                <a:ea typeface="楷体_GB2312"/>
                <a:cs typeface="楷体_GB2312"/>
              </a:rPr>
              <a:t>半衰期：引发剂分解起至起始浓度一半所需的时</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间，以t</a:t>
            </a:r>
            <a:r>
              <a:rPr lang="en-US" altLang="zh-CN" sz="1724">
                <a:latin typeface="楷体_GB2312"/>
                <a:ea typeface="楷体_GB2312"/>
                <a:cs typeface="楷体_GB2312"/>
              </a:rPr>
              <a:t>1/2</a:t>
            </a:r>
            <a:r>
              <a:rPr lang="en-US" altLang="zh-CN" sz="2540">
                <a:latin typeface="楷体_GB2312"/>
                <a:ea typeface="楷体_GB2312"/>
                <a:cs typeface="楷体_GB2312"/>
              </a:rPr>
              <a:t>表示。</a:t>
            </a:r>
          </a:p>
          <a:p>
            <a:pPr eaLnBrk="1" hangingPunct="1">
              <a:lnSpc>
                <a:spcPts val="907"/>
              </a:lnSpc>
            </a:pPr>
            <a:endParaRPr lang="en-US" altLang="zh-CN" sz="1633"/>
          </a:p>
          <a:p>
            <a:pPr eaLnBrk="1" hangingPunct="1">
              <a:lnSpc>
                <a:spcPts val="907"/>
              </a:lnSpc>
            </a:pPr>
            <a:endParaRPr lang="en-US" altLang="zh-CN" sz="1633"/>
          </a:p>
          <a:p>
            <a:pPr eaLnBrk="1" hangingPunct="1">
              <a:lnSpc>
                <a:spcPts val="3629"/>
              </a:lnSpc>
            </a:pPr>
            <a:r>
              <a:rPr lang="en-US" altLang="zh-CN" sz="1633"/>
              <a:t>	</a:t>
            </a:r>
            <a:r>
              <a:rPr lang="en-US" altLang="zh-CN" sz="2540" b="1">
                <a:latin typeface="Times New Roman" panose="02020603050405020304" pitchFamily="18" charset="0"/>
                <a:cs typeface="Times New Roman" panose="02020603050405020304" pitchFamily="18" charset="0"/>
              </a:rPr>
              <a:t>t</a:t>
            </a:r>
            <a:r>
              <a:rPr lang="en-US" altLang="zh-CN" sz="1724" b="1">
                <a:latin typeface="Times New Roman" panose="02020603050405020304" pitchFamily="18" charset="0"/>
                <a:cs typeface="Times New Roman" panose="02020603050405020304" pitchFamily="18" charset="0"/>
              </a:rPr>
              <a:t>1/2</a:t>
            </a:r>
            <a:r>
              <a:rPr lang="en-US" altLang="zh-CN" sz="2540">
                <a:latin typeface="楷体_GB2312"/>
                <a:ea typeface="楷体_GB2312"/>
                <a:cs typeface="楷体_GB2312"/>
              </a:rPr>
              <a:t>与</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d</a:t>
            </a:r>
            <a:r>
              <a:rPr lang="en-US" altLang="zh-CN" sz="2540">
                <a:latin typeface="楷体_GB2312"/>
                <a:ea typeface="楷体_GB2312"/>
                <a:cs typeface="楷体_GB2312"/>
              </a:rPr>
              <a:t>的关系：</a:t>
            </a:r>
          </a:p>
        </p:txBody>
      </p:sp>
      <p:sp>
        <p:nvSpPr>
          <p:cNvPr id="21" name="TextBox 1"/>
          <p:cNvSpPr txBox="1"/>
          <p:nvPr/>
        </p:nvSpPr>
        <p:spPr>
          <a:xfrm>
            <a:off x="4460032" y="4735185"/>
            <a:ext cx="774251" cy="430887"/>
          </a:xfrm>
          <a:prstGeom prst="rect">
            <a:avLst/>
          </a:prstGeom>
          <a:noFill/>
        </p:spPr>
        <p:txBody>
          <a:bodyPr wrap="none" lIns="0" tIns="0" rIns="0">
            <a:spAutoFit/>
          </a:bodyPr>
          <a:lstStyle/>
          <a:p>
            <a:pPr>
              <a:lnSpc>
                <a:spcPts val="2994"/>
              </a:lnSpc>
              <a:defRPr/>
            </a:pPr>
            <a:r>
              <a:rPr lang="en-US" altLang="zh-CN" sz="2501" dirty="0">
                <a:latin typeface="Symbol" pitchFamily="18" charset="0"/>
                <a:cs typeface="Symbol" pitchFamily="18" charset="0"/>
              </a:rPr>
              <a:t>=</a:t>
            </a:r>
            <a:r>
              <a:rPr lang="en-US" altLang="zh-CN" sz="2501" dirty="0">
                <a:latin typeface="Times New Roman" pitchFamily="18" charset="0"/>
                <a:cs typeface="Times New Roman" pitchFamily="18" charset="0"/>
              </a:rPr>
              <a:t> -ln2</a:t>
            </a:r>
          </a:p>
        </p:txBody>
      </p:sp>
      <p:sp>
        <p:nvSpPr>
          <p:cNvPr id="22" name="TextBox 1"/>
          <p:cNvSpPr txBox="1"/>
          <p:nvPr/>
        </p:nvSpPr>
        <p:spPr>
          <a:xfrm>
            <a:off x="3907028" y="4412600"/>
            <a:ext cx="492122" cy="1046440"/>
          </a:xfrm>
          <a:prstGeom prst="rect">
            <a:avLst/>
          </a:prstGeom>
          <a:noFill/>
        </p:spPr>
        <p:txBody>
          <a:bodyPr wrap="none" lIns="0" tIns="0" rIns="0">
            <a:spAutoFit/>
          </a:bodyPr>
          <a:lstStyle/>
          <a:p>
            <a:pPr>
              <a:lnSpc>
                <a:spcPts val="4173"/>
              </a:lnSpc>
              <a:tabLst>
                <a:tab pos="69131" algn="l"/>
              </a:tabLst>
              <a:defRPr/>
            </a:pPr>
            <a:r>
              <a:rPr lang="en-US" altLang="zh-CN" sz="1633" dirty="0"/>
              <a:t>	</a:t>
            </a:r>
            <a:r>
              <a:rPr lang="en-US" altLang="zh-CN" sz="3419" dirty="0">
                <a:latin typeface="Symbol" pitchFamily="18" charset="0"/>
                <a:cs typeface="Symbol" pitchFamily="18" charset="0"/>
              </a:rPr>
              <a:t>[</a:t>
            </a:r>
            <a:r>
              <a:rPr lang="en-US" altLang="zh-CN" sz="2501" i="1" dirty="0">
                <a:latin typeface="Times New Roman" pitchFamily="18" charset="0"/>
                <a:cs typeface="Times New Roman" pitchFamily="18" charset="0"/>
              </a:rPr>
              <a:t>I</a:t>
            </a:r>
            <a:r>
              <a:rPr lang="en-US" altLang="zh-CN" sz="3419" dirty="0">
                <a:latin typeface="Symbol" pitchFamily="18" charset="0"/>
                <a:cs typeface="Symbol" pitchFamily="18" charset="0"/>
              </a:rPr>
              <a:t>]</a:t>
            </a:r>
          </a:p>
          <a:p>
            <a:pPr>
              <a:lnSpc>
                <a:spcPts val="3629"/>
              </a:lnSpc>
              <a:tabLst>
                <a:tab pos="69131" algn="l"/>
              </a:tabLst>
              <a:defRPr/>
            </a:pPr>
            <a:r>
              <a:rPr lang="en-US" altLang="zh-CN" sz="3419" dirty="0">
                <a:latin typeface="Symbol" pitchFamily="18" charset="0"/>
                <a:cs typeface="Symbol" pitchFamily="18" charset="0"/>
              </a:rPr>
              <a:t>[</a:t>
            </a:r>
            <a:r>
              <a:rPr lang="en-US" altLang="zh-CN" sz="2501" i="1" dirty="0">
                <a:latin typeface="Times New Roman" pitchFamily="18" charset="0"/>
                <a:cs typeface="Times New Roman" pitchFamily="18" charset="0"/>
              </a:rPr>
              <a:t>I</a:t>
            </a:r>
            <a:r>
              <a:rPr lang="en-US" altLang="zh-CN" sz="3419" dirty="0">
                <a:latin typeface="Symbol" pitchFamily="18" charset="0"/>
                <a:cs typeface="Symbol" pitchFamily="18" charset="0"/>
              </a:rPr>
              <a:t>]</a:t>
            </a:r>
            <a:r>
              <a:rPr lang="en-US" altLang="zh-CN" sz="1459" dirty="0">
                <a:latin typeface="Times New Roman" pitchFamily="18" charset="0"/>
                <a:cs typeface="Times New Roman" pitchFamily="18" charset="0"/>
              </a:rPr>
              <a:t>0</a:t>
            </a:r>
          </a:p>
        </p:txBody>
      </p:sp>
      <p:sp>
        <p:nvSpPr>
          <p:cNvPr id="23" name="TextBox 1"/>
          <p:cNvSpPr txBox="1"/>
          <p:nvPr/>
        </p:nvSpPr>
        <p:spPr>
          <a:xfrm>
            <a:off x="2674290" y="4735185"/>
            <a:ext cx="1019510" cy="447174"/>
          </a:xfrm>
          <a:prstGeom prst="rect">
            <a:avLst/>
          </a:prstGeom>
          <a:noFill/>
        </p:spPr>
        <p:txBody>
          <a:bodyPr wrap="none" lIns="0" tIns="0" rIns="0">
            <a:spAutoFit/>
          </a:bodyPr>
          <a:lstStyle/>
          <a:p>
            <a:pPr>
              <a:lnSpc>
                <a:spcPts val="3447"/>
              </a:lnSpc>
              <a:defRPr/>
            </a:pPr>
            <a:r>
              <a:rPr lang="en-US" altLang="zh-CN" sz="2501" i="1" dirty="0">
                <a:latin typeface="Times New Roman" pitchFamily="18" charset="0"/>
                <a:cs typeface="Times New Roman" pitchFamily="18" charset="0"/>
              </a:rPr>
              <a:t>-</a:t>
            </a:r>
            <a:r>
              <a:rPr lang="en-US" altLang="zh-CN" sz="2501" i="1" dirty="0" err="1">
                <a:latin typeface="Times New Roman" pitchFamily="18" charset="0"/>
                <a:cs typeface="Times New Roman" pitchFamily="18" charset="0"/>
              </a:rPr>
              <a:t>k</a:t>
            </a:r>
            <a:r>
              <a:rPr lang="en-US" altLang="zh-CN" sz="1459" i="1" dirty="0" err="1">
                <a:latin typeface="Times New Roman" pitchFamily="18" charset="0"/>
                <a:cs typeface="Times New Roman" pitchFamily="18" charset="0"/>
              </a:rPr>
              <a:t>d</a:t>
            </a:r>
            <a:r>
              <a:rPr lang="en-US" altLang="zh-CN" sz="2501" i="1" dirty="0" err="1">
                <a:latin typeface="Times New Roman" pitchFamily="18" charset="0"/>
                <a:cs typeface="Times New Roman" pitchFamily="18" charset="0"/>
              </a:rPr>
              <a:t>t</a:t>
            </a:r>
            <a:r>
              <a:rPr lang="en-US" altLang="zh-CN" sz="2501" dirty="0">
                <a:latin typeface="Times New Roman" pitchFamily="18" charset="0"/>
                <a:cs typeface="Times New Roman" pitchFamily="18" charset="0"/>
              </a:rPr>
              <a:t> </a:t>
            </a:r>
            <a:r>
              <a:rPr lang="en-US" altLang="zh-CN" sz="2501" dirty="0">
                <a:latin typeface="Symbol" pitchFamily="18" charset="0"/>
                <a:cs typeface="Symbol" pitchFamily="18" charset="0"/>
              </a:rPr>
              <a:t>=</a:t>
            </a:r>
            <a:r>
              <a:rPr lang="en-US" altLang="zh-CN" sz="2501" dirty="0">
                <a:latin typeface="Times New Roman" pitchFamily="18" charset="0"/>
                <a:cs typeface="Times New Roman" pitchFamily="18" charset="0"/>
              </a:rPr>
              <a:t> ln</a:t>
            </a:r>
          </a:p>
        </p:txBody>
      </p:sp>
      <p:sp>
        <p:nvSpPr>
          <p:cNvPr id="24" name="TextBox 1"/>
          <p:cNvSpPr txBox="1"/>
          <p:nvPr/>
        </p:nvSpPr>
        <p:spPr>
          <a:xfrm>
            <a:off x="8895582" y="4493246"/>
            <a:ext cx="742191" cy="895951"/>
          </a:xfrm>
          <a:prstGeom prst="rect">
            <a:avLst/>
          </a:prstGeom>
          <a:noFill/>
        </p:spPr>
        <p:txBody>
          <a:bodyPr wrap="none" lIns="0" tIns="0" rIns="0">
            <a:spAutoFit/>
          </a:bodyPr>
          <a:lstStyle/>
          <a:p>
            <a:pPr>
              <a:lnSpc>
                <a:spcPts val="2812"/>
              </a:lnSpc>
              <a:tabLst>
                <a:tab pos="207393" algn="l"/>
              </a:tabLst>
              <a:defRPr/>
            </a:pPr>
            <a:r>
              <a:rPr lang="en-US" altLang="zh-CN" sz="2565" dirty="0">
                <a:latin typeface="Times New Roman" pitchFamily="18" charset="0"/>
                <a:cs typeface="Times New Roman" pitchFamily="18" charset="0"/>
              </a:rPr>
              <a:t>0.693</a:t>
            </a:r>
          </a:p>
          <a:p>
            <a:pPr>
              <a:lnSpc>
                <a:spcPts val="907"/>
              </a:lnSpc>
              <a:defRPr/>
            </a:pPr>
            <a:endParaRPr lang="en-US" altLang="zh-CN" sz="1633" dirty="0"/>
          </a:p>
          <a:p>
            <a:pPr>
              <a:lnSpc>
                <a:spcPts val="3084"/>
              </a:lnSpc>
              <a:tabLst>
                <a:tab pos="207393" algn="l"/>
              </a:tabLst>
              <a:defRPr/>
            </a:pPr>
            <a:r>
              <a:rPr lang="en-US" altLang="zh-CN" sz="1633" dirty="0"/>
              <a:t>	</a:t>
            </a:r>
            <a:r>
              <a:rPr lang="en-US" altLang="zh-CN" sz="2565" i="1" dirty="0">
                <a:latin typeface="Times New Roman" pitchFamily="18" charset="0"/>
                <a:cs typeface="Times New Roman" pitchFamily="18" charset="0"/>
              </a:rPr>
              <a:t>k</a:t>
            </a:r>
            <a:r>
              <a:rPr lang="en-US" altLang="zh-CN" sz="1496" i="1" dirty="0">
                <a:latin typeface="Times New Roman" pitchFamily="18" charset="0"/>
                <a:cs typeface="Times New Roman" pitchFamily="18" charset="0"/>
              </a:rPr>
              <a:t>d</a:t>
            </a:r>
          </a:p>
        </p:txBody>
      </p:sp>
      <p:sp>
        <p:nvSpPr>
          <p:cNvPr id="25" name="TextBox 1"/>
          <p:cNvSpPr txBox="1"/>
          <p:nvPr/>
        </p:nvSpPr>
        <p:spPr>
          <a:xfrm>
            <a:off x="8054555" y="4493246"/>
            <a:ext cx="421590" cy="895951"/>
          </a:xfrm>
          <a:prstGeom prst="rect">
            <a:avLst/>
          </a:prstGeom>
          <a:noFill/>
        </p:spPr>
        <p:txBody>
          <a:bodyPr wrap="none" lIns="0" tIns="0" rIns="0">
            <a:spAutoFit/>
          </a:bodyPr>
          <a:lstStyle/>
          <a:p>
            <a:pPr>
              <a:lnSpc>
                <a:spcPts val="2812"/>
              </a:lnSpc>
              <a:tabLst>
                <a:tab pos="80654" algn="l"/>
              </a:tabLst>
              <a:defRPr/>
            </a:pPr>
            <a:r>
              <a:rPr lang="en-US" altLang="zh-CN" sz="2565" dirty="0">
                <a:latin typeface="Times New Roman" pitchFamily="18" charset="0"/>
                <a:cs typeface="Times New Roman" pitchFamily="18" charset="0"/>
              </a:rPr>
              <a:t>ln2</a:t>
            </a:r>
          </a:p>
          <a:p>
            <a:pPr>
              <a:lnSpc>
                <a:spcPts val="907"/>
              </a:lnSpc>
              <a:defRPr/>
            </a:pPr>
            <a:endParaRPr lang="en-US" altLang="zh-CN" sz="1633" dirty="0"/>
          </a:p>
          <a:p>
            <a:pPr>
              <a:lnSpc>
                <a:spcPts val="3084"/>
              </a:lnSpc>
              <a:tabLst>
                <a:tab pos="80654" algn="l"/>
              </a:tabLst>
              <a:defRPr/>
            </a:pPr>
            <a:r>
              <a:rPr lang="en-US" altLang="zh-CN" sz="1633" dirty="0"/>
              <a:t>	</a:t>
            </a:r>
            <a:r>
              <a:rPr lang="en-US" altLang="zh-CN" sz="2565" i="1" dirty="0">
                <a:latin typeface="Times New Roman" pitchFamily="18" charset="0"/>
                <a:cs typeface="Times New Roman" pitchFamily="18" charset="0"/>
              </a:rPr>
              <a:t>k</a:t>
            </a:r>
            <a:r>
              <a:rPr lang="en-US" altLang="zh-CN" sz="1496" i="1" dirty="0">
                <a:latin typeface="Times New Roman" pitchFamily="18" charset="0"/>
                <a:cs typeface="Times New Roman" pitchFamily="18" charset="0"/>
              </a:rPr>
              <a:t>d</a:t>
            </a:r>
          </a:p>
        </p:txBody>
      </p:sp>
      <p:sp>
        <p:nvSpPr>
          <p:cNvPr id="26" name="TextBox 1"/>
          <p:cNvSpPr txBox="1"/>
          <p:nvPr/>
        </p:nvSpPr>
        <p:spPr>
          <a:xfrm>
            <a:off x="7305696" y="4758226"/>
            <a:ext cx="336631" cy="379591"/>
          </a:xfrm>
          <a:prstGeom prst="rect">
            <a:avLst/>
          </a:prstGeom>
          <a:noFill/>
        </p:spPr>
        <p:txBody>
          <a:bodyPr wrap="none" lIns="0" tIns="0" rIns="0">
            <a:spAutoFit/>
          </a:bodyPr>
          <a:lstStyle/>
          <a:p>
            <a:pPr>
              <a:lnSpc>
                <a:spcPts val="2631"/>
              </a:lnSpc>
              <a:defRPr/>
            </a:pPr>
            <a:r>
              <a:rPr lang="en-US" altLang="zh-CN" sz="2565" i="1" dirty="0">
                <a:latin typeface="Times New Roman" pitchFamily="18" charset="0"/>
                <a:cs typeface="Times New Roman" pitchFamily="18" charset="0"/>
              </a:rPr>
              <a:t>t</a:t>
            </a:r>
            <a:r>
              <a:rPr lang="en-US" altLang="zh-CN" sz="1496" dirty="0">
                <a:latin typeface="Times New Roman" pitchFamily="18" charset="0"/>
                <a:cs typeface="Times New Roman" pitchFamily="18" charset="0"/>
              </a:rPr>
              <a:t>1/2</a:t>
            </a:r>
          </a:p>
        </p:txBody>
      </p:sp>
      <p:sp>
        <p:nvSpPr>
          <p:cNvPr id="27" name="TextBox 1"/>
          <p:cNvSpPr txBox="1"/>
          <p:nvPr/>
        </p:nvSpPr>
        <p:spPr>
          <a:xfrm>
            <a:off x="8619078" y="4654537"/>
            <a:ext cx="181140" cy="415114"/>
          </a:xfrm>
          <a:prstGeom prst="rect">
            <a:avLst/>
          </a:prstGeom>
          <a:noFill/>
        </p:spPr>
        <p:txBody>
          <a:bodyPr wrap="none" lIns="0" tIns="0" rIns="0">
            <a:spAutoFit/>
          </a:bodyPr>
          <a:lstStyle/>
          <a:p>
            <a:pPr>
              <a:lnSpc>
                <a:spcPts val="3084"/>
              </a:lnSpc>
              <a:defRPr/>
            </a:pPr>
            <a:r>
              <a:rPr lang="en-US" altLang="zh-CN" sz="2565" dirty="0">
                <a:latin typeface="Symbol" pitchFamily="18" charset="0"/>
                <a:cs typeface="Symbol" pitchFamily="18" charset="0"/>
              </a:rPr>
              <a:t>=</a:t>
            </a:r>
          </a:p>
        </p:txBody>
      </p:sp>
      <p:sp>
        <p:nvSpPr>
          <p:cNvPr id="28" name="TextBox 1"/>
          <p:cNvSpPr txBox="1"/>
          <p:nvPr/>
        </p:nvSpPr>
        <p:spPr>
          <a:xfrm>
            <a:off x="7778052" y="4654537"/>
            <a:ext cx="181140" cy="415114"/>
          </a:xfrm>
          <a:prstGeom prst="rect">
            <a:avLst/>
          </a:prstGeom>
          <a:noFill/>
        </p:spPr>
        <p:txBody>
          <a:bodyPr wrap="none" lIns="0" tIns="0" rIns="0">
            <a:spAutoFit/>
          </a:bodyPr>
          <a:lstStyle/>
          <a:p>
            <a:pPr>
              <a:lnSpc>
                <a:spcPts val="3084"/>
              </a:lnSpc>
              <a:defRPr/>
            </a:pPr>
            <a:r>
              <a:rPr lang="en-US" altLang="zh-CN" sz="2565" dirty="0">
                <a:latin typeface="Symbol" pitchFamily="18" charset="0"/>
                <a:cs typeface="Symbol" pitchFamily="18" charset="0"/>
              </a:rPr>
              <a:t>=</a:t>
            </a:r>
          </a:p>
        </p:txBody>
      </p:sp>
      <p:cxnSp>
        <p:nvCxnSpPr>
          <p:cNvPr id="19" name="直接连接符 18"/>
          <p:cNvCxnSpPr>
            <a:endCxn id="22" idx="3"/>
          </p:cNvCxnSpPr>
          <p:nvPr/>
        </p:nvCxnSpPr>
        <p:spPr>
          <a:xfrm flipV="1">
            <a:off x="3901267" y="4935820"/>
            <a:ext cx="497883" cy="125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5" idx="1"/>
            <a:endCxn id="25" idx="3"/>
          </p:cNvCxnSpPr>
          <p:nvPr/>
        </p:nvCxnSpPr>
        <p:spPr>
          <a:xfrm>
            <a:off x="8054555" y="4941222"/>
            <a:ext cx="421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4" idx="1"/>
            <a:endCxn id="24" idx="3"/>
          </p:cNvCxnSpPr>
          <p:nvPr/>
        </p:nvCxnSpPr>
        <p:spPr>
          <a:xfrm>
            <a:off x="8895582" y="4941222"/>
            <a:ext cx="7421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582" name="TextBox 33"/>
          <p:cNvSpPr txBox="1">
            <a:spLocks noChangeArrowheads="1"/>
          </p:cNvSpPr>
          <p:nvPr/>
        </p:nvSpPr>
        <p:spPr bwMode="auto">
          <a:xfrm>
            <a:off x="4644366" y="3014250"/>
            <a:ext cx="6152164" cy="1209049"/>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814">
                <a:latin typeface="Times New Roman" panose="02020603050405020304" pitchFamily="18" charset="0"/>
                <a:cs typeface="Times New Roman" panose="02020603050405020304" pitchFamily="18" charset="0"/>
              </a:rPr>
              <a:t>The differences in the decomposition rates of various initiators can be conveniently expressed in terms of the initiator </a:t>
            </a:r>
            <a:r>
              <a:rPr lang="en-US" altLang="zh-CN" sz="1814" b="1">
                <a:solidFill>
                  <a:srgbClr val="FF0000"/>
                </a:solidFill>
                <a:latin typeface="Times New Roman" panose="02020603050405020304" pitchFamily="18" charset="0"/>
                <a:cs typeface="Times New Roman" panose="02020603050405020304" pitchFamily="18" charset="0"/>
              </a:rPr>
              <a:t>half-life</a:t>
            </a:r>
            <a:r>
              <a:rPr lang="en-US" altLang="zh-CN" sz="1814">
                <a:latin typeface="Times New Roman" panose="02020603050405020304" pitchFamily="18" charset="0"/>
                <a:cs typeface="Times New Roman" panose="02020603050405020304" pitchFamily="18" charset="0"/>
              </a:rPr>
              <a:t>, defined as the time for the concentration of </a:t>
            </a:r>
            <a:r>
              <a:rPr lang="en-US" altLang="zh-CN" sz="1814" b="1">
                <a:solidFill>
                  <a:srgbClr val="FF0000"/>
                </a:solidFill>
                <a:latin typeface="Times New Roman" panose="02020603050405020304" pitchFamily="18" charset="0"/>
                <a:cs typeface="Times New Roman" panose="02020603050405020304" pitchFamily="18" charset="0"/>
              </a:rPr>
              <a:t>I</a:t>
            </a:r>
            <a:r>
              <a:rPr lang="en-US" altLang="zh-CN" sz="1814">
                <a:latin typeface="Times New Roman" panose="02020603050405020304" pitchFamily="18" charset="0"/>
                <a:cs typeface="Times New Roman" panose="02020603050405020304" pitchFamily="18" charset="0"/>
              </a:rPr>
              <a:t> to decrease </a:t>
            </a:r>
            <a:r>
              <a:rPr lang="en-US" altLang="zh-CN" sz="1814" b="1">
                <a:solidFill>
                  <a:srgbClr val="FF0000"/>
                </a:solidFill>
                <a:latin typeface="Times New Roman" panose="02020603050405020304" pitchFamily="18" charset="0"/>
                <a:cs typeface="Times New Roman" panose="02020603050405020304" pitchFamily="18" charset="0"/>
              </a:rPr>
              <a:t>to one half its original value</a:t>
            </a:r>
            <a:r>
              <a:rPr lang="en-US" altLang="zh-CN" sz="1814">
                <a:latin typeface="Times New Roman" panose="02020603050405020304" pitchFamily="18" charset="0"/>
                <a:cs typeface="Times New Roman" panose="02020603050405020304" pitchFamily="18" charset="0"/>
              </a:rPr>
              <a:t>.</a:t>
            </a:r>
            <a:endParaRPr lang="zh-CN" altLang="en-US" sz="1814">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60</a:t>
            </a:r>
          </a:p>
        </p:txBody>
      </p:sp>
      <p:grpSp>
        <p:nvGrpSpPr>
          <p:cNvPr id="67587" name="组合 18"/>
          <p:cNvGrpSpPr>
            <a:grpSpLocks/>
          </p:cNvGrpSpPr>
          <p:nvPr/>
        </p:nvGrpSpPr>
        <p:grpSpPr bwMode="auto">
          <a:xfrm>
            <a:off x="1810224" y="1286114"/>
            <a:ext cx="7481589" cy="1471841"/>
            <a:chOff x="1257300" y="1473200"/>
            <a:chExt cx="8247481" cy="1622777"/>
          </a:xfrm>
        </p:grpSpPr>
        <p:sp>
          <p:nvSpPr>
            <p:cNvPr id="67600" name="TextBox 1"/>
            <p:cNvSpPr txBox="1">
              <a:spLocks noChangeArrowheads="1"/>
            </p:cNvSpPr>
            <p:nvPr/>
          </p:nvSpPr>
          <p:spPr bwMode="auto">
            <a:xfrm>
              <a:off x="1612900" y="1473200"/>
              <a:ext cx="7891881" cy="963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分解速率常数或半衰期可用来表示引发剂的活性。</a:t>
              </a:r>
            </a:p>
            <a:p>
              <a:pPr eaLnBrk="1" hangingPunct="1">
                <a:lnSpc>
                  <a:spcPts val="907"/>
                </a:lnSpc>
              </a:pPr>
              <a:endParaRPr lang="en-US" altLang="zh-CN" sz="1633"/>
            </a:p>
            <a:p>
              <a:pPr eaLnBrk="1" hangingPunct="1">
                <a:lnSpc>
                  <a:spcPts val="3357"/>
                </a:lnSpc>
              </a:pPr>
              <a:r>
                <a:rPr lang="en-US" altLang="zh-CN" sz="2540">
                  <a:latin typeface="楷体_GB2312"/>
                  <a:ea typeface="楷体_GB2312"/>
                  <a:cs typeface="楷体_GB2312"/>
                </a:rPr>
                <a:t>分解速率越大，或半衰期越短，表示引发剂的活性</a:t>
              </a:r>
            </a:p>
          </p:txBody>
        </p:sp>
        <p:sp>
          <p:nvSpPr>
            <p:cNvPr id="67601" name="TextBox 1"/>
            <p:cNvSpPr txBox="1">
              <a:spLocks noChangeArrowheads="1"/>
            </p:cNvSpPr>
            <p:nvPr/>
          </p:nvSpPr>
          <p:spPr bwMode="auto">
            <a:xfrm>
              <a:off x="1257300" y="2705100"/>
              <a:ext cx="2585272" cy="39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越大,</a:t>
              </a:r>
              <a:r>
                <a:rPr lang="zh-CN" altLang="en-US" sz="2540">
                  <a:latin typeface="楷体_GB2312"/>
                  <a:ea typeface="楷体_GB2312"/>
                  <a:cs typeface="楷体_GB2312"/>
                </a:rPr>
                <a:t>与</a:t>
              </a:r>
              <a:r>
                <a:rPr lang="en-US" altLang="zh-CN" sz="2540">
                  <a:latin typeface="楷体_GB2312"/>
                  <a:ea typeface="楷体_GB2312"/>
                  <a:cs typeface="楷体_GB2312"/>
                </a:rPr>
                <a:t>[I]</a:t>
              </a:r>
              <a:r>
                <a:rPr lang="zh-CN" altLang="en-US" sz="2540">
                  <a:latin typeface="楷体_GB2312"/>
                  <a:ea typeface="楷体_GB2312"/>
                  <a:cs typeface="楷体_GB2312"/>
                </a:rPr>
                <a:t>无关</a:t>
              </a:r>
              <a:r>
                <a:rPr lang="en-US" altLang="zh-CN" sz="2540">
                  <a:latin typeface="楷体_GB2312"/>
                  <a:ea typeface="楷体_GB2312"/>
                  <a:cs typeface="楷体_GB2312"/>
                </a:rPr>
                <a:t>。</a:t>
              </a:r>
            </a:p>
          </p:txBody>
        </p:sp>
      </p:grpSp>
      <p:grpSp>
        <p:nvGrpSpPr>
          <p:cNvPr id="67588" name="组合 1"/>
          <p:cNvGrpSpPr>
            <a:grpSpLocks/>
          </p:cNvGrpSpPr>
          <p:nvPr/>
        </p:nvGrpSpPr>
        <p:grpSpPr bwMode="auto">
          <a:xfrm>
            <a:off x="1810224" y="2809752"/>
            <a:ext cx="3685304" cy="1284355"/>
            <a:chOff x="2057400" y="3175000"/>
            <a:chExt cx="4062084" cy="1414805"/>
          </a:xfrm>
        </p:grpSpPr>
        <p:sp>
          <p:nvSpPr>
            <p:cNvPr id="67598" name="TextBox 1"/>
            <p:cNvSpPr txBox="1">
              <a:spLocks noChangeArrowheads="1"/>
            </p:cNvSpPr>
            <p:nvPr/>
          </p:nvSpPr>
          <p:spPr bwMode="auto">
            <a:xfrm>
              <a:off x="2057400" y="3175000"/>
              <a:ext cx="2602632" cy="94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8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8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8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8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8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8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b="1">
                  <a:latin typeface="Times New Roman" panose="02020603050405020304" pitchFamily="18" charset="0"/>
                  <a:cs typeface="Times New Roman" panose="02020603050405020304" pitchFamily="18" charset="0"/>
                </a:rPr>
                <a:t>t</a:t>
              </a:r>
              <a:r>
                <a:rPr lang="en-US" altLang="zh-CN" sz="1724" b="1">
                  <a:latin typeface="Times New Roman" panose="02020603050405020304" pitchFamily="18" charset="0"/>
                  <a:cs typeface="Times New Roman" panose="02020603050405020304" pitchFamily="18" charset="0"/>
                </a:rPr>
                <a:t>1/2</a:t>
              </a:r>
              <a:r>
                <a:rPr lang="en-US" altLang="zh-CN" sz="2540">
                  <a:latin typeface="楷体_GB2312"/>
                  <a:ea typeface="楷体_GB2312"/>
                  <a:cs typeface="楷体_GB2312"/>
                </a:rPr>
                <a:t>≥</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6h</a:t>
              </a:r>
              <a:r>
                <a:rPr lang="en-US" altLang="zh-CN" sz="2540">
                  <a:latin typeface="楷体_GB2312"/>
                  <a:ea typeface="楷体_GB2312"/>
                  <a:cs typeface="楷体_GB2312"/>
                </a:rPr>
                <a:t>，低活性</a:t>
              </a:r>
            </a:p>
            <a:p>
              <a:pPr eaLnBrk="1" hangingPunct="1">
                <a:lnSpc>
                  <a:spcPts val="3357"/>
                </a:lnSpc>
              </a:pPr>
              <a:r>
                <a:rPr lang="en-US" altLang="zh-CN" sz="2540" b="1">
                  <a:latin typeface="Times New Roman" panose="02020603050405020304" pitchFamily="18" charset="0"/>
                  <a:cs typeface="Times New Roman" panose="02020603050405020304" pitchFamily="18" charset="0"/>
                </a:rPr>
                <a:t>t</a:t>
              </a:r>
              <a:r>
                <a:rPr lang="en-US" altLang="zh-CN" sz="1724" b="1">
                  <a:latin typeface="Times New Roman" panose="02020603050405020304" pitchFamily="18" charset="0"/>
                  <a:cs typeface="Times New Roman" panose="02020603050405020304" pitchFamily="18" charset="0"/>
                </a:rPr>
                <a:t>1/2</a:t>
              </a:r>
              <a:r>
                <a:rPr lang="en-US" altLang="zh-CN" sz="2540">
                  <a:latin typeface="楷体_GB2312"/>
                  <a:ea typeface="楷体_GB2312"/>
                  <a:cs typeface="楷体_GB2312"/>
                </a:rPr>
                <a:t>≤</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1h</a:t>
              </a:r>
              <a:r>
                <a:rPr lang="en-US" altLang="zh-CN" sz="2540">
                  <a:latin typeface="楷体_GB2312"/>
                  <a:ea typeface="楷体_GB2312"/>
                  <a:cs typeface="楷体_GB2312"/>
                </a:rPr>
                <a:t>，高活性</a:t>
              </a:r>
            </a:p>
          </p:txBody>
        </p:sp>
        <p:sp>
          <p:nvSpPr>
            <p:cNvPr id="67599" name="TextBox 1"/>
            <p:cNvSpPr txBox="1">
              <a:spLocks noChangeArrowheads="1"/>
            </p:cNvSpPr>
            <p:nvPr/>
          </p:nvSpPr>
          <p:spPr bwMode="auto">
            <a:xfrm>
              <a:off x="2057400" y="4114800"/>
              <a:ext cx="4062084" cy="475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b="1">
                  <a:latin typeface="Times New Roman" panose="02020603050405020304" pitchFamily="18" charset="0"/>
                  <a:cs typeface="Times New Roman" panose="02020603050405020304" pitchFamily="18" charset="0"/>
                </a:rPr>
                <a:t>6h</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a:t>
              </a:r>
              <a:r>
                <a:rPr lang="en-US" altLang="zh-CN" sz="1724" b="1">
                  <a:latin typeface="Times New Roman" panose="02020603050405020304" pitchFamily="18" charset="0"/>
                  <a:cs typeface="Times New Roman" panose="02020603050405020304" pitchFamily="18" charset="0"/>
                </a:rPr>
                <a:t>1/2</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1h</a:t>
              </a:r>
              <a:r>
                <a:rPr lang="en-US" altLang="zh-CN" sz="2540">
                  <a:latin typeface="楷体_GB2312"/>
                  <a:ea typeface="楷体_GB2312"/>
                  <a:cs typeface="楷体_GB2312"/>
                </a:rPr>
                <a:t>，中等活性</a:t>
              </a:r>
            </a:p>
          </p:txBody>
        </p:sp>
      </p:grpSp>
      <p:grpSp>
        <p:nvGrpSpPr>
          <p:cNvPr id="67589" name="组合 11"/>
          <p:cNvGrpSpPr>
            <a:grpSpLocks/>
          </p:cNvGrpSpPr>
          <p:nvPr/>
        </p:nvGrpSpPr>
        <p:grpSpPr bwMode="auto">
          <a:xfrm>
            <a:off x="1805904" y="4239780"/>
            <a:ext cx="7137385" cy="924082"/>
            <a:chOff x="1257300" y="5118100"/>
            <a:chExt cx="7867207" cy="1017866"/>
          </a:xfrm>
        </p:grpSpPr>
        <p:sp>
          <p:nvSpPr>
            <p:cNvPr id="67596" name="TextBox 1"/>
            <p:cNvSpPr txBox="1">
              <a:spLocks noChangeArrowheads="1"/>
            </p:cNvSpPr>
            <p:nvPr/>
          </p:nvSpPr>
          <p:spPr bwMode="auto">
            <a:xfrm>
              <a:off x="1968500" y="5118100"/>
              <a:ext cx="7156007" cy="4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812" b="1">
                  <a:solidFill>
                    <a:srgbClr val="000099"/>
                  </a:solidFill>
                  <a:latin typeface="楷体_GB2312"/>
                  <a:ea typeface="楷体_GB2312"/>
                  <a:cs typeface="楷体_GB2312"/>
                </a:rPr>
                <a:t>实际应用时，常选择半衰期与聚合时间相</a:t>
              </a:r>
            </a:p>
          </p:txBody>
        </p:sp>
        <p:sp>
          <p:nvSpPr>
            <p:cNvPr id="67597" name="TextBox 1"/>
            <p:cNvSpPr txBox="1">
              <a:spLocks noChangeArrowheads="1"/>
            </p:cNvSpPr>
            <p:nvPr/>
          </p:nvSpPr>
          <p:spPr bwMode="auto">
            <a:xfrm>
              <a:off x="1257300" y="5689600"/>
              <a:ext cx="2385336" cy="4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812" b="1">
                  <a:solidFill>
                    <a:srgbClr val="000099"/>
                  </a:solidFill>
                  <a:latin typeface="楷体_GB2312"/>
                  <a:ea typeface="楷体_GB2312"/>
                  <a:cs typeface="楷体_GB2312"/>
                </a:rPr>
                <a:t>当的引发剂。</a:t>
              </a:r>
            </a:p>
          </p:txBody>
        </p:sp>
      </p:grpSp>
      <p:sp>
        <p:nvSpPr>
          <p:cNvPr id="67590" name="TextBox 19"/>
          <p:cNvSpPr txBox="1">
            <a:spLocks noChangeArrowheads="1"/>
          </p:cNvSpPr>
          <p:nvPr/>
        </p:nvSpPr>
        <p:spPr bwMode="auto">
          <a:xfrm>
            <a:off x="4989993" y="2189064"/>
            <a:ext cx="5668286" cy="846194"/>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633">
                <a:latin typeface="Times New Roman" panose="02020603050405020304" pitchFamily="18" charset="0"/>
                <a:cs typeface="Times New Roman" panose="02020603050405020304" pitchFamily="18" charset="0"/>
              </a:rPr>
              <a:t>The differences in the rates of decomposition of the various initiators are related to differences in the structures of the initiators and of the radicals produced. </a:t>
            </a:r>
            <a:r>
              <a:rPr lang="en-US" altLang="zh-CN" sz="1633" i="1">
                <a:latin typeface="Times New Roman" panose="02020603050405020304" pitchFamily="18" charset="0"/>
                <a:cs typeface="Times New Roman" panose="02020603050405020304" pitchFamily="18" charset="0"/>
              </a:rPr>
              <a:t>k</a:t>
            </a:r>
            <a:r>
              <a:rPr lang="en-US" altLang="zh-CN" sz="1633" i="1" baseline="-25000">
                <a:latin typeface="Times New Roman" panose="02020603050405020304" pitchFamily="18" charset="0"/>
                <a:cs typeface="Times New Roman" panose="02020603050405020304" pitchFamily="18" charset="0"/>
              </a:rPr>
              <a:t>d</a:t>
            </a:r>
            <a:r>
              <a:rPr lang="en-US" altLang="zh-CN" sz="1633">
                <a:latin typeface="Times New Roman" panose="02020603050405020304" pitchFamily="18" charset="0"/>
                <a:cs typeface="Times New Roman" panose="02020603050405020304" pitchFamily="18" charset="0"/>
              </a:rPr>
              <a:t> increases in the order:</a:t>
            </a:r>
            <a:endParaRPr lang="zh-CN" altLang="en-US" sz="1633">
              <a:latin typeface="Times New Roman" panose="02020603050405020304" pitchFamily="18" charset="0"/>
              <a:cs typeface="Times New Roman" panose="02020603050405020304" pitchFamily="18" charset="0"/>
            </a:endParaRPr>
          </a:p>
        </p:txBody>
      </p:sp>
      <p:sp>
        <p:nvSpPr>
          <p:cNvPr id="21" name="TextBox 20"/>
          <p:cNvSpPr txBox="1">
            <a:spLocks noRot="1" noChangeAspect="1" noMove="1" noResize="1" noEditPoints="1" noAdjustHandles="1" noChangeArrowheads="1" noChangeShapeType="1" noTextEdit="1"/>
          </p:cNvSpPr>
          <p:nvPr/>
        </p:nvSpPr>
        <p:spPr>
          <a:xfrm>
            <a:off x="9298992" y="387481"/>
            <a:ext cx="1041191" cy="598307"/>
          </a:xfrm>
          <a:prstGeom prst="rect">
            <a:avLst/>
          </a:prstGeom>
          <a:blipFill rotWithShape="1">
            <a:blip r:embed="rId2"/>
            <a:stretch>
              <a:fillRect/>
            </a:stretch>
          </a:blipFill>
          <a:ln>
            <a:solidFill>
              <a:srgbClr val="0070C0"/>
            </a:solidFill>
          </a:ln>
        </p:spPr>
        <p:txBody>
          <a:bodyPr/>
          <a:lstStyle/>
          <a:p>
            <a:pPr>
              <a:defRPr/>
            </a:pPr>
            <a:r>
              <a:rPr lang="zh-CN" altLang="en-US" sz="1633">
                <a:noFill/>
              </a:rPr>
              <a:t> </a:t>
            </a:r>
          </a:p>
        </p:txBody>
      </p:sp>
      <p:sp>
        <p:nvSpPr>
          <p:cNvPr id="25" name="TextBox 24"/>
          <p:cNvSpPr txBox="1">
            <a:spLocks noRot="1" noChangeAspect="1" noMove="1" noResize="1" noEditPoints="1" noAdjustHandles="1" noChangeArrowheads="1" noChangeShapeType="1" noTextEdit="1"/>
          </p:cNvSpPr>
          <p:nvPr/>
        </p:nvSpPr>
        <p:spPr>
          <a:xfrm>
            <a:off x="7409384" y="387481"/>
            <a:ext cx="1334527" cy="598307"/>
          </a:xfrm>
          <a:prstGeom prst="rect">
            <a:avLst/>
          </a:prstGeom>
          <a:blipFill rotWithShape="1">
            <a:blip r:embed="rId3"/>
            <a:stretch>
              <a:fillRect/>
            </a:stretch>
          </a:blipFill>
          <a:ln>
            <a:solidFill>
              <a:srgbClr val="0070C0"/>
            </a:solidFill>
          </a:ln>
        </p:spPr>
        <p:txBody>
          <a:bodyPr/>
          <a:lstStyle/>
          <a:p>
            <a:pPr>
              <a:defRPr/>
            </a:pPr>
            <a:r>
              <a:rPr lang="zh-CN" altLang="en-US" sz="1633">
                <a:noFill/>
              </a:rPr>
              <a:t> </a:t>
            </a:r>
          </a:p>
        </p:txBody>
      </p:sp>
      <p:cxnSp>
        <p:nvCxnSpPr>
          <p:cNvPr id="23" name="直接箭头连接符 22"/>
          <p:cNvCxnSpPr>
            <a:stCxn id="25" idx="3"/>
            <a:endCxn id="21" idx="1"/>
          </p:cNvCxnSpPr>
          <p:nvPr/>
        </p:nvCxnSpPr>
        <p:spPr>
          <a:xfrm>
            <a:off x="8744370" y="687025"/>
            <a:ext cx="554443"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67594" name="TextBox 25"/>
          <p:cNvSpPr txBox="1">
            <a:spLocks noChangeArrowheads="1"/>
          </p:cNvSpPr>
          <p:nvPr/>
        </p:nvSpPr>
        <p:spPr bwMode="auto">
          <a:xfrm>
            <a:off x="5410506" y="3152500"/>
            <a:ext cx="5247773" cy="38549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905" b="1">
                <a:solidFill>
                  <a:srgbClr val="000099"/>
                </a:solidFill>
              </a:rPr>
              <a:t>R = allyl, benzyl &gt; tertiary &gt; secondary &gt; primary</a:t>
            </a:r>
            <a:endParaRPr lang="zh-CN" altLang="en-US" sz="1905" b="1">
              <a:solidFill>
                <a:srgbClr val="000099"/>
              </a:solidFill>
            </a:endParaRPr>
          </a:p>
        </p:txBody>
      </p:sp>
      <p:sp>
        <p:nvSpPr>
          <p:cNvPr id="67595" name="TextBox 29"/>
          <p:cNvSpPr txBox="1">
            <a:spLocks noChangeArrowheads="1"/>
          </p:cNvSpPr>
          <p:nvPr/>
        </p:nvSpPr>
        <p:spPr bwMode="auto">
          <a:xfrm>
            <a:off x="3970392" y="4696301"/>
            <a:ext cx="6687887" cy="1600053"/>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85750" indent="-2857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buFont typeface="Arial" panose="020B0604020202020204" pitchFamily="34" charset="0"/>
              <a:buChar char="•"/>
            </a:pPr>
            <a:r>
              <a:rPr lang="en-US" altLang="zh-CN" sz="1633">
                <a:latin typeface="Times New Roman" panose="02020603050405020304" pitchFamily="18" charset="0"/>
                <a:cs typeface="Times New Roman" panose="02020603050405020304" pitchFamily="18" charset="0"/>
              </a:rPr>
              <a:t>If the half-life time of this initiator under the experimental conditions chosen is long as compared with the duration of the polymerization process, the initiator concentration can be assumed to </a:t>
            </a:r>
            <a:r>
              <a:rPr lang="en-US" altLang="zh-CN" sz="1633" b="1">
                <a:solidFill>
                  <a:srgbClr val="000099"/>
                </a:solidFill>
                <a:latin typeface="Times New Roman" panose="02020603050405020304" pitchFamily="18" charset="0"/>
                <a:cs typeface="Times New Roman" panose="02020603050405020304" pitchFamily="18" charset="0"/>
              </a:rPr>
              <a:t>be constant</a:t>
            </a:r>
            <a:r>
              <a:rPr lang="en-US" altLang="zh-CN" sz="1633">
                <a:latin typeface="Times New Roman" panose="02020603050405020304" pitchFamily="18" charset="0"/>
                <a:cs typeface="Times New Roman" panose="02020603050405020304" pitchFamily="18" charset="0"/>
              </a:rPr>
              <a:t>.</a:t>
            </a:r>
          </a:p>
          <a:p>
            <a:pPr algn="just" eaLnBrk="1" hangingPunct="1">
              <a:buFont typeface="Arial" panose="020B0604020202020204" pitchFamily="34" charset="0"/>
              <a:buChar char="•"/>
            </a:pPr>
            <a:r>
              <a:rPr lang="en-US" altLang="zh-CN" sz="1633">
                <a:latin typeface="Times New Roman" panose="02020603050405020304" pitchFamily="18" charset="0"/>
                <a:cs typeface="Times New Roman" panose="02020603050405020304" pitchFamily="18" charset="0"/>
              </a:rPr>
              <a:t>In fact, the initiator concentration can also be maintained constant by </a:t>
            </a:r>
            <a:r>
              <a:rPr lang="en-US" altLang="zh-CN" sz="1633" b="1">
                <a:solidFill>
                  <a:srgbClr val="000099"/>
                </a:solidFill>
                <a:latin typeface="Times New Roman" panose="02020603050405020304" pitchFamily="18" charset="0"/>
                <a:cs typeface="Times New Roman" panose="02020603050405020304" pitchFamily="18" charset="0"/>
              </a:rPr>
              <a:t>continuously adding </a:t>
            </a:r>
            <a:r>
              <a:rPr lang="en-US" altLang="zh-CN" sz="1633">
                <a:latin typeface="Times New Roman" panose="02020603050405020304" pitchFamily="18" charset="0"/>
                <a:cs typeface="Times New Roman" panose="02020603050405020304" pitchFamily="18" charset="0"/>
              </a:rPr>
              <a:t>it to the reaction mixture at a rate equal to its decomposition rate.</a:t>
            </a:r>
            <a:endParaRPr lang="zh-CN" altLang="en-US" sz="1633">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Box 3"/>
          <p:cNvSpPr txBox="1">
            <a:spLocks noChangeArrowheads="1"/>
          </p:cNvSpPr>
          <p:nvPr/>
        </p:nvSpPr>
        <p:spPr bwMode="auto">
          <a:xfrm>
            <a:off x="2155850" y="1286115"/>
            <a:ext cx="8364179" cy="87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540">
                <a:latin typeface="Times New Roman" panose="02020603050405020304" pitchFamily="18" charset="0"/>
                <a:cs typeface="Times New Roman" panose="02020603050405020304" pitchFamily="18" charset="0"/>
              </a:rPr>
              <a:t>引发剂分解速率常数</a:t>
            </a:r>
            <a:r>
              <a:rPr lang="en-US" altLang="zh-CN" sz="2540" i="1">
                <a:latin typeface="Times New Roman" panose="02020603050405020304" pitchFamily="18" charset="0"/>
                <a:cs typeface="Times New Roman" panose="02020603050405020304" pitchFamily="18" charset="0"/>
              </a:rPr>
              <a:t>k</a:t>
            </a:r>
            <a:r>
              <a:rPr lang="en-US" altLang="zh-CN" sz="2540" i="1" baseline="-25000">
                <a:latin typeface="Times New Roman" panose="02020603050405020304" pitchFamily="18" charset="0"/>
                <a:cs typeface="Times New Roman" panose="02020603050405020304" pitchFamily="18" charset="0"/>
              </a:rPr>
              <a:t>d</a:t>
            </a:r>
            <a:r>
              <a:rPr lang="zh-CN" altLang="en-US" sz="2540">
                <a:latin typeface="Times New Roman" panose="02020603050405020304" pitchFamily="18" charset="0"/>
                <a:cs typeface="Times New Roman" panose="02020603050405020304" pitchFamily="18" charset="0"/>
              </a:rPr>
              <a:t>与温度有着很大的关系，其变化规律符合</a:t>
            </a:r>
            <a:r>
              <a:rPr lang="en-US" altLang="zh-CN" sz="2540">
                <a:latin typeface="Times New Roman" panose="02020603050405020304" pitchFamily="18" charset="0"/>
                <a:cs typeface="Times New Roman" panose="02020603050405020304" pitchFamily="18" charset="0"/>
              </a:rPr>
              <a:t>Arrhenius</a:t>
            </a:r>
            <a:r>
              <a:rPr lang="zh-CN" altLang="en-US" sz="2540">
                <a:latin typeface="Times New Roman" panose="02020603050405020304" pitchFamily="18" charset="0"/>
                <a:cs typeface="Times New Roman" panose="02020603050405020304" pitchFamily="18" charset="0"/>
              </a:rPr>
              <a:t>公式，即：</a:t>
            </a:r>
          </a:p>
        </p:txBody>
      </p:sp>
      <p:sp>
        <p:nvSpPr>
          <p:cNvPr id="5" name="TextBox 4"/>
          <p:cNvSpPr txBox="1">
            <a:spLocks noRot="1" noChangeAspect="1" noMove="1" noResize="1" noEditPoints="1" noAdjustHandles="1" noChangeArrowheads="1" noChangeShapeType="1" noTextEdit="1"/>
          </p:cNvSpPr>
          <p:nvPr/>
        </p:nvSpPr>
        <p:spPr>
          <a:xfrm>
            <a:off x="4524233" y="2322995"/>
            <a:ext cx="1800446" cy="572713"/>
          </a:xfrm>
          <a:prstGeom prst="rect">
            <a:avLst/>
          </a:prstGeom>
          <a:blipFill rotWithShape="1">
            <a:blip r:embed="rId2"/>
            <a:stretch>
              <a:fillRect/>
            </a:stretch>
          </a:blipFill>
          <a:ln>
            <a:solidFill>
              <a:srgbClr val="0070C0"/>
            </a:solidFill>
          </a:ln>
        </p:spPr>
        <p:txBody>
          <a:bodyPr/>
          <a:lstStyle/>
          <a:p>
            <a:pPr>
              <a:defRPr/>
            </a:pPr>
            <a:r>
              <a:rPr lang="zh-CN" altLang="en-US" sz="1633">
                <a:noFill/>
              </a:rPr>
              <a:t> </a:t>
            </a:r>
          </a:p>
        </p:txBody>
      </p:sp>
      <p:sp>
        <p:nvSpPr>
          <p:cNvPr id="68612" name="TextBox 5"/>
          <p:cNvSpPr txBox="1">
            <a:spLocks noChangeArrowheads="1"/>
          </p:cNvSpPr>
          <p:nvPr/>
        </p:nvSpPr>
        <p:spPr bwMode="auto">
          <a:xfrm>
            <a:off x="7685885" y="2609576"/>
            <a:ext cx="694421"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(3-18)</a:t>
            </a:r>
            <a:endParaRPr lang="zh-CN" altLang="en-US" sz="1633"/>
          </a:p>
        </p:txBody>
      </p:sp>
      <p:sp>
        <p:nvSpPr>
          <p:cNvPr id="7" name="TextBox 6"/>
          <p:cNvSpPr txBox="1">
            <a:spLocks noRot="1" noChangeAspect="1" noMove="1" noResize="1" noEditPoints="1" noAdjustHandles="1" noChangeArrowheads="1" noChangeShapeType="1" noTextEdit="1"/>
          </p:cNvSpPr>
          <p:nvPr/>
        </p:nvSpPr>
        <p:spPr>
          <a:xfrm>
            <a:off x="4529451" y="3221623"/>
            <a:ext cx="2605071" cy="804684"/>
          </a:xfrm>
          <a:prstGeom prst="rect">
            <a:avLst/>
          </a:prstGeom>
          <a:blipFill rotWithShape="1">
            <a:blip r:embed="rId3"/>
            <a:stretch>
              <a:fillRect/>
            </a:stretch>
          </a:blipFill>
          <a:ln>
            <a:solidFill>
              <a:srgbClr val="0070C0"/>
            </a:solidFill>
          </a:ln>
        </p:spPr>
        <p:txBody>
          <a:bodyPr/>
          <a:lstStyle/>
          <a:p>
            <a:pPr>
              <a:defRPr/>
            </a:pPr>
            <a:r>
              <a:rPr lang="zh-CN" altLang="en-US" sz="1633">
                <a:noFill/>
              </a:rPr>
              <a:t> </a:t>
            </a:r>
          </a:p>
        </p:txBody>
      </p:sp>
      <p:sp>
        <p:nvSpPr>
          <p:cNvPr id="68614" name="TextBox 7"/>
          <p:cNvSpPr txBox="1">
            <a:spLocks noChangeArrowheads="1"/>
          </p:cNvSpPr>
          <p:nvPr/>
        </p:nvSpPr>
        <p:spPr bwMode="auto">
          <a:xfrm>
            <a:off x="7779493" y="3600374"/>
            <a:ext cx="694421"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(3-19)</a:t>
            </a:r>
            <a:endParaRPr lang="zh-CN" altLang="en-US" sz="1633"/>
          </a:p>
        </p:txBody>
      </p:sp>
      <p:sp>
        <p:nvSpPr>
          <p:cNvPr id="68615" name="TextBox 8"/>
          <p:cNvSpPr txBox="1">
            <a:spLocks noChangeArrowheads="1"/>
          </p:cNvSpPr>
          <p:nvPr/>
        </p:nvSpPr>
        <p:spPr bwMode="auto">
          <a:xfrm>
            <a:off x="2501477" y="4189382"/>
            <a:ext cx="7534673" cy="109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177">
                <a:latin typeface="Times New Roman" panose="02020603050405020304" pitchFamily="18" charset="0"/>
                <a:cs typeface="Times New Roman" panose="02020603050405020304" pitchFamily="18" charset="0"/>
              </a:rPr>
              <a:t>E</a:t>
            </a:r>
            <a:r>
              <a:rPr lang="en-US" altLang="zh-CN" sz="2177" baseline="-25000">
                <a:latin typeface="Times New Roman" panose="02020603050405020304" pitchFamily="18" charset="0"/>
                <a:cs typeface="Times New Roman" panose="02020603050405020304" pitchFamily="18" charset="0"/>
              </a:rPr>
              <a:t>d</a:t>
            </a:r>
            <a:r>
              <a:rPr lang="zh-CN" altLang="en-US" sz="2177">
                <a:latin typeface="Times New Roman" panose="02020603050405020304" pitchFamily="18" charset="0"/>
                <a:cs typeface="Times New Roman" panose="02020603050405020304" pitchFamily="18" charset="0"/>
              </a:rPr>
              <a:t>为引发剂的分解活化能，可以通过测定不同温度下引发剂的分解速率常数</a:t>
            </a:r>
            <a:r>
              <a:rPr lang="en-US" altLang="zh-CN" sz="2177">
                <a:latin typeface="Times New Roman" panose="02020603050405020304" pitchFamily="18" charset="0"/>
                <a:cs typeface="Times New Roman" panose="02020603050405020304" pitchFamily="18" charset="0"/>
              </a:rPr>
              <a:t>k</a:t>
            </a:r>
            <a:r>
              <a:rPr lang="en-US" altLang="zh-CN" sz="2177" baseline="-25000">
                <a:latin typeface="Times New Roman" panose="02020603050405020304" pitchFamily="18" charset="0"/>
                <a:cs typeface="Times New Roman" panose="02020603050405020304" pitchFamily="18" charset="0"/>
              </a:rPr>
              <a:t>d</a:t>
            </a:r>
            <a:r>
              <a:rPr lang="zh-CN" altLang="en-US" sz="2177" baseline="-25000">
                <a:latin typeface="Times New Roman" panose="02020603050405020304" pitchFamily="18" charset="0"/>
                <a:cs typeface="Times New Roman" panose="02020603050405020304" pitchFamily="18" charset="0"/>
              </a:rPr>
              <a:t>，</a:t>
            </a:r>
            <a:r>
              <a:rPr lang="zh-CN" altLang="en-US" sz="2177">
                <a:latin typeface="Times New Roman" panose="02020603050405020304" pitchFamily="18" charset="0"/>
                <a:cs typeface="Times New Roman" panose="02020603050405020304" pitchFamily="18" charset="0"/>
              </a:rPr>
              <a:t>并作</a:t>
            </a:r>
            <a:r>
              <a:rPr lang="en-US" altLang="zh-CN" sz="2177">
                <a:latin typeface="Times New Roman" panose="02020603050405020304" pitchFamily="18" charset="0"/>
                <a:cs typeface="Times New Roman" panose="02020603050405020304" pitchFamily="18" charset="0"/>
              </a:rPr>
              <a:t>lnk</a:t>
            </a:r>
            <a:r>
              <a:rPr lang="en-US" altLang="zh-CN" sz="2177" baseline="-25000">
                <a:latin typeface="Times New Roman" panose="02020603050405020304" pitchFamily="18" charset="0"/>
                <a:cs typeface="Times New Roman" panose="02020603050405020304" pitchFamily="18" charset="0"/>
              </a:rPr>
              <a:t>d</a:t>
            </a:r>
            <a:r>
              <a:rPr lang="zh-CN" altLang="en-US" sz="2177">
                <a:latin typeface="Times New Roman" panose="02020603050405020304" pitchFamily="18" charset="0"/>
                <a:cs typeface="Times New Roman" panose="02020603050405020304" pitchFamily="18" charset="0"/>
              </a:rPr>
              <a:t>与</a:t>
            </a:r>
            <a:r>
              <a:rPr lang="en-US" altLang="zh-CN" sz="2177">
                <a:latin typeface="Times New Roman" panose="02020603050405020304" pitchFamily="18" charset="0"/>
                <a:cs typeface="Times New Roman" panose="02020603050405020304" pitchFamily="18" charset="0"/>
              </a:rPr>
              <a:t>1/T</a:t>
            </a:r>
            <a:r>
              <a:rPr lang="zh-CN" altLang="en-US" sz="2177">
                <a:latin typeface="Times New Roman" panose="02020603050405020304" pitchFamily="18" charset="0"/>
                <a:cs typeface="Times New Roman" panose="02020603050405020304" pitchFamily="18" charset="0"/>
              </a:rPr>
              <a:t>的图，从图的斜率得到分解活化能</a:t>
            </a:r>
            <a:r>
              <a:rPr lang="en-US" altLang="zh-CN" sz="2177">
                <a:latin typeface="Times New Roman" panose="02020603050405020304" pitchFamily="18" charset="0"/>
                <a:cs typeface="Times New Roman" panose="02020603050405020304" pitchFamily="18" charset="0"/>
              </a:rPr>
              <a:t>E</a:t>
            </a:r>
            <a:r>
              <a:rPr lang="en-US" altLang="zh-CN" sz="2177" baseline="-25000">
                <a:latin typeface="Times New Roman" panose="02020603050405020304" pitchFamily="18" charset="0"/>
                <a:cs typeface="Times New Roman" panose="02020603050405020304" pitchFamily="18" charset="0"/>
              </a:rPr>
              <a:t>d</a:t>
            </a:r>
            <a:r>
              <a:rPr lang="zh-CN" altLang="en-US" sz="2177">
                <a:latin typeface="Times New Roman" panose="02020603050405020304" pitchFamily="18" charset="0"/>
                <a:cs typeface="Times New Roman" panose="02020603050405020304" pitchFamily="18" charset="0"/>
              </a:rPr>
              <a:t>的数值，截距获得常数</a:t>
            </a:r>
            <a:r>
              <a:rPr lang="en-US" altLang="zh-CN" sz="2177">
                <a:latin typeface="Times New Roman" panose="02020603050405020304" pitchFamily="18" charset="0"/>
                <a:cs typeface="Times New Roman" panose="02020603050405020304" pitchFamily="18" charset="0"/>
              </a:rPr>
              <a:t>A</a:t>
            </a:r>
            <a:r>
              <a:rPr lang="en-US" altLang="zh-CN" sz="2177" baseline="-25000">
                <a:latin typeface="Times New Roman" panose="02020603050405020304" pitchFamily="18" charset="0"/>
                <a:cs typeface="Times New Roman" panose="02020603050405020304" pitchFamily="18" charset="0"/>
              </a:rPr>
              <a:t>d</a:t>
            </a:r>
            <a:r>
              <a:rPr lang="zh-CN" altLang="en-US" sz="2177">
                <a:latin typeface="Times New Roman" panose="02020603050405020304" pitchFamily="18" charset="0"/>
                <a:cs typeface="Times New Roman" panose="02020603050405020304" pitchFamily="18" charset="0"/>
              </a:rPr>
              <a:t>的值。</a:t>
            </a:r>
          </a:p>
        </p:txBody>
      </p:sp>
      <p:sp>
        <p:nvSpPr>
          <p:cNvPr id="68616" name="TextBox 9"/>
          <p:cNvSpPr txBox="1">
            <a:spLocks noChangeArrowheads="1"/>
          </p:cNvSpPr>
          <p:nvPr/>
        </p:nvSpPr>
        <p:spPr bwMode="auto">
          <a:xfrm>
            <a:off x="4497474" y="5278106"/>
            <a:ext cx="3041519" cy="1013739"/>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996">
                <a:latin typeface="Times New Roman" panose="02020603050405020304" pitchFamily="18" charset="0"/>
                <a:cs typeface="Times New Roman" panose="02020603050405020304" pitchFamily="18" charset="0"/>
              </a:rPr>
              <a:t>K</a:t>
            </a:r>
            <a:r>
              <a:rPr lang="en-US" altLang="zh-CN" sz="1996" baseline="-25000">
                <a:latin typeface="Times New Roman" panose="02020603050405020304" pitchFamily="18" charset="0"/>
                <a:cs typeface="Times New Roman" panose="02020603050405020304" pitchFamily="18" charset="0"/>
              </a:rPr>
              <a:t>d</a:t>
            </a:r>
            <a:r>
              <a:rPr lang="en-US" altLang="zh-CN" sz="1996">
                <a:latin typeface="Times New Roman" panose="02020603050405020304" pitchFamily="18" charset="0"/>
                <a:cs typeface="Times New Roman" panose="02020603050405020304" pitchFamily="18" charset="0"/>
              </a:rPr>
              <a:t> </a:t>
            </a:r>
            <a:r>
              <a:rPr lang="zh-CN" altLang="en-US" sz="1996">
                <a:latin typeface="Times New Roman" panose="02020603050405020304" pitchFamily="18" charset="0"/>
                <a:cs typeface="Times New Roman" panose="02020603050405020304" pitchFamily="18" charset="0"/>
              </a:rPr>
              <a:t>约 </a:t>
            </a:r>
            <a:r>
              <a:rPr lang="en-US" altLang="zh-CN" sz="1996">
                <a:latin typeface="Times New Roman" panose="02020603050405020304" pitchFamily="18" charset="0"/>
                <a:cs typeface="Times New Roman" panose="02020603050405020304" pitchFamily="18" charset="0"/>
              </a:rPr>
              <a:t>10</a:t>
            </a:r>
            <a:r>
              <a:rPr lang="en-US" altLang="zh-CN" sz="1996" baseline="30000">
                <a:latin typeface="Times New Roman" panose="02020603050405020304" pitchFamily="18" charset="0"/>
                <a:cs typeface="Times New Roman" panose="02020603050405020304" pitchFamily="18" charset="0"/>
              </a:rPr>
              <a:t>-4</a:t>
            </a:r>
            <a:r>
              <a:rPr lang="en-US" altLang="zh-CN" sz="1996">
                <a:latin typeface="Times New Roman" panose="02020603050405020304" pitchFamily="18" charset="0"/>
                <a:cs typeface="Times New Roman" panose="02020603050405020304" pitchFamily="18" charset="0"/>
              </a:rPr>
              <a:t> ~10</a:t>
            </a:r>
            <a:r>
              <a:rPr lang="en-US" altLang="zh-CN" sz="1996" baseline="30000">
                <a:latin typeface="Times New Roman" panose="02020603050405020304" pitchFamily="18" charset="0"/>
                <a:cs typeface="Times New Roman" panose="02020603050405020304" pitchFamily="18" charset="0"/>
              </a:rPr>
              <a:t>-6</a:t>
            </a:r>
            <a:r>
              <a:rPr lang="en-US" altLang="zh-CN" sz="1996">
                <a:latin typeface="Times New Roman" panose="02020603050405020304" pitchFamily="18" charset="0"/>
                <a:cs typeface="Times New Roman" panose="02020603050405020304" pitchFamily="18" charset="0"/>
              </a:rPr>
              <a:t> s</a:t>
            </a:r>
            <a:r>
              <a:rPr lang="en-US" altLang="zh-CN" sz="1996" baseline="30000">
                <a:latin typeface="Times New Roman" panose="02020603050405020304" pitchFamily="18" charset="0"/>
                <a:cs typeface="Times New Roman" panose="02020603050405020304" pitchFamily="18" charset="0"/>
              </a:rPr>
              <a:t>-1</a:t>
            </a:r>
            <a:r>
              <a:rPr lang="zh-CN" altLang="en-US" sz="1996">
                <a:latin typeface="Times New Roman" panose="02020603050405020304" pitchFamily="18" charset="0"/>
                <a:cs typeface="Times New Roman" panose="02020603050405020304" pitchFamily="18" charset="0"/>
              </a:rPr>
              <a:t>；</a:t>
            </a:r>
            <a:endParaRPr lang="en-US" altLang="zh-CN" sz="1996">
              <a:latin typeface="Times New Roman" panose="02020603050405020304" pitchFamily="18" charset="0"/>
              <a:cs typeface="Times New Roman" panose="02020603050405020304" pitchFamily="18" charset="0"/>
            </a:endParaRPr>
          </a:p>
          <a:p>
            <a:pPr eaLnBrk="1" hangingPunct="1"/>
            <a:r>
              <a:rPr lang="en-US" altLang="zh-CN" sz="1996">
                <a:latin typeface="Times New Roman" panose="02020603050405020304" pitchFamily="18" charset="0"/>
                <a:cs typeface="Times New Roman" panose="02020603050405020304" pitchFamily="18" charset="0"/>
              </a:rPr>
              <a:t>E</a:t>
            </a:r>
            <a:r>
              <a:rPr lang="en-US" altLang="zh-CN" sz="1996" baseline="-25000">
                <a:latin typeface="Times New Roman" panose="02020603050405020304" pitchFamily="18" charset="0"/>
                <a:cs typeface="Times New Roman" panose="02020603050405020304" pitchFamily="18" charset="0"/>
              </a:rPr>
              <a:t>d</a:t>
            </a:r>
            <a:r>
              <a:rPr lang="en-US" altLang="zh-CN" sz="1996">
                <a:latin typeface="Times New Roman" panose="02020603050405020304" pitchFamily="18" charset="0"/>
                <a:cs typeface="Times New Roman" panose="02020603050405020304" pitchFamily="18" charset="0"/>
              </a:rPr>
              <a:t> </a:t>
            </a:r>
            <a:r>
              <a:rPr lang="zh-CN" altLang="en-US" sz="1996">
                <a:latin typeface="Times New Roman" panose="02020603050405020304" pitchFamily="18" charset="0"/>
                <a:cs typeface="Times New Roman" panose="02020603050405020304" pitchFamily="18" charset="0"/>
              </a:rPr>
              <a:t>约 </a:t>
            </a:r>
            <a:r>
              <a:rPr lang="en-US" altLang="zh-CN" sz="1996">
                <a:latin typeface="Times New Roman" panose="02020603050405020304" pitchFamily="18" charset="0"/>
                <a:cs typeface="Times New Roman" panose="02020603050405020304" pitchFamily="18" charset="0"/>
              </a:rPr>
              <a:t>105~150 kJ/mol</a:t>
            </a:r>
            <a:r>
              <a:rPr lang="zh-CN" altLang="en-US" sz="1996">
                <a:latin typeface="Times New Roman" panose="02020603050405020304" pitchFamily="18" charset="0"/>
                <a:cs typeface="Times New Roman" panose="02020603050405020304" pitchFamily="18" charset="0"/>
              </a:rPr>
              <a:t>；</a:t>
            </a:r>
            <a:endParaRPr lang="en-US" altLang="zh-CN" sz="1996">
              <a:latin typeface="Times New Roman" panose="02020603050405020304" pitchFamily="18" charset="0"/>
              <a:cs typeface="Times New Roman" panose="02020603050405020304" pitchFamily="18" charset="0"/>
            </a:endParaRPr>
          </a:p>
          <a:p>
            <a:pPr eaLnBrk="1" hangingPunct="1"/>
            <a:r>
              <a:rPr lang="en-US" altLang="zh-CN" sz="1996">
                <a:latin typeface="Times New Roman" panose="02020603050405020304" pitchFamily="18" charset="0"/>
                <a:cs typeface="Times New Roman" panose="02020603050405020304" pitchFamily="18" charset="0"/>
              </a:rPr>
              <a:t>A</a:t>
            </a:r>
            <a:r>
              <a:rPr lang="en-US" altLang="zh-CN" sz="1996" baseline="-25000">
                <a:latin typeface="Times New Roman" panose="02020603050405020304" pitchFamily="18" charset="0"/>
                <a:cs typeface="Times New Roman" panose="02020603050405020304" pitchFamily="18" charset="0"/>
              </a:rPr>
              <a:t>d </a:t>
            </a:r>
            <a:r>
              <a:rPr lang="zh-CN" altLang="en-US" sz="1996">
                <a:latin typeface="Times New Roman" panose="02020603050405020304" pitchFamily="18" charset="0"/>
                <a:cs typeface="Times New Roman" panose="02020603050405020304" pitchFamily="18" charset="0"/>
              </a:rPr>
              <a:t>约 </a:t>
            </a:r>
            <a:r>
              <a:rPr lang="en-US" altLang="zh-CN" sz="1996">
                <a:latin typeface="Times New Roman" panose="02020603050405020304" pitchFamily="18" charset="0"/>
                <a:cs typeface="Times New Roman" panose="02020603050405020304" pitchFamily="18" charset="0"/>
              </a:rPr>
              <a:t>10</a:t>
            </a:r>
            <a:r>
              <a:rPr lang="en-US" altLang="zh-CN" sz="1996" baseline="30000">
                <a:latin typeface="Times New Roman" panose="02020603050405020304" pitchFamily="18" charset="0"/>
                <a:cs typeface="Times New Roman" panose="02020603050405020304" pitchFamily="18" charset="0"/>
              </a:rPr>
              <a:t>13</a:t>
            </a:r>
            <a:r>
              <a:rPr lang="en-US" altLang="zh-CN" sz="1996">
                <a:latin typeface="Times New Roman" panose="02020603050405020304" pitchFamily="18" charset="0"/>
                <a:cs typeface="Times New Roman" panose="02020603050405020304" pitchFamily="18" charset="0"/>
              </a:rPr>
              <a:t>~ 10</a:t>
            </a:r>
            <a:r>
              <a:rPr lang="en-US" altLang="zh-CN" sz="1996" baseline="30000">
                <a:latin typeface="Times New Roman" panose="02020603050405020304" pitchFamily="18" charset="0"/>
                <a:cs typeface="Times New Roman" panose="02020603050405020304" pitchFamily="18" charset="0"/>
              </a:rPr>
              <a:t>14</a:t>
            </a:r>
            <a:r>
              <a:rPr lang="zh-CN" altLang="en-US" sz="1996">
                <a:latin typeface="Times New Roman" panose="02020603050405020304" pitchFamily="18" charset="0"/>
                <a:cs typeface="Times New Roman" panose="02020603050405020304" pitchFamily="18" charset="0"/>
              </a:rPr>
              <a:t>左右。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61</a:t>
            </a:r>
          </a:p>
        </p:txBody>
      </p:sp>
      <p:sp>
        <p:nvSpPr>
          <p:cNvPr id="69635" name="TextBox 1"/>
          <p:cNvSpPr txBox="1">
            <a:spLocks noChangeArrowheads="1"/>
          </p:cNvSpPr>
          <p:nvPr/>
        </p:nvSpPr>
        <p:spPr bwMode="auto">
          <a:xfrm>
            <a:off x="2351707" y="1405643"/>
            <a:ext cx="5970545"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3)</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引发剂效率</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(Initiation</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Efficiency,</a:t>
            </a:r>
            <a:r>
              <a:rPr lang="en-US" altLang="zh-CN" sz="2812">
                <a:latin typeface="Times New Roman" panose="02020603050405020304" pitchFamily="18" charset="0"/>
                <a:cs typeface="Times New Roman" panose="02020603050405020304" pitchFamily="18" charset="0"/>
              </a:rPr>
              <a:t> </a:t>
            </a:r>
            <a:r>
              <a:rPr lang="en-US" altLang="zh-CN" sz="2812" b="1" i="1">
                <a:latin typeface="Times New Roman" panose="02020603050405020304" pitchFamily="18" charset="0"/>
                <a:cs typeface="Times New Roman" panose="02020603050405020304" pitchFamily="18" charset="0"/>
              </a:rPr>
              <a:t>f</a:t>
            </a:r>
            <a:r>
              <a:rPr lang="en-US" altLang="zh-CN" sz="2812" b="1">
                <a:latin typeface="Times New Roman" panose="02020603050405020304" pitchFamily="18" charset="0"/>
                <a:cs typeface="Times New Roman" panose="02020603050405020304" pitchFamily="18" charset="0"/>
              </a:rPr>
              <a:t>)</a:t>
            </a:r>
          </a:p>
        </p:txBody>
      </p:sp>
      <p:sp>
        <p:nvSpPr>
          <p:cNvPr id="69636" name="TextBox 1"/>
          <p:cNvSpPr txBox="1">
            <a:spLocks noChangeArrowheads="1"/>
          </p:cNvSpPr>
          <p:nvPr/>
        </p:nvSpPr>
        <p:spPr bwMode="auto">
          <a:xfrm>
            <a:off x="2870148" y="2246667"/>
            <a:ext cx="6617196" cy="777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i="1" dirty="0" err="1">
                <a:latin typeface="Times New Roman" panose="02020603050405020304" pitchFamily="18" charset="0"/>
                <a:cs typeface="Times New Roman" panose="02020603050405020304" pitchFamily="18" charset="0"/>
              </a:rPr>
              <a:t>f</a:t>
            </a:r>
            <a:r>
              <a:rPr lang="en-US" altLang="zh-CN" sz="2540" dirty="0" err="1">
                <a:latin typeface="楷体_GB2312"/>
                <a:ea typeface="楷体_GB2312"/>
                <a:cs typeface="楷体_GB2312"/>
              </a:rPr>
              <a:t>：用于引发聚合的引发剂占所消耗的引发剂总</a:t>
            </a:r>
            <a:endParaRPr lang="en-US" altLang="zh-CN" sz="2540" dirty="0">
              <a:latin typeface="楷体_GB2312"/>
              <a:ea typeface="楷体_GB2312"/>
              <a:cs typeface="楷体_GB2312"/>
            </a:endParaRPr>
          </a:p>
          <a:p>
            <a:pPr eaLnBrk="1" hangingPunct="1">
              <a:lnSpc>
                <a:spcPts val="2994"/>
              </a:lnSpc>
            </a:pPr>
            <a:r>
              <a:rPr lang="en-US" altLang="zh-CN" sz="2540" dirty="0" err="1">
                <a:latin typeface="楷体_GB2312"/>
                <a:ea typeface="楷体_GB2312"/>
                <a:cs typeface="楷体_GB2312"/>
              </a:rPr>
              <a:t>量的分率成为引发剂效率</a:t>
            </a:r>
            <a:endParaRPr lang="en-US" altLang="zh-CN" sz="2540" dirty="0">
              <a:latin typeface="楷体_GB2312"/>
              <a:ea typeface="楷体_GB2312"/>
              <a:cs typeface="楷体_GB2312"/>
            </a:endParaRPr>
          </a:p>
        </p:txBody>
      </p:sp>
      <p:sp>
        <p:nvSpPr>
          <p:cNvPr id="69637" name="TextBox 1"/>
          <p:cNvSpPr txBox="1">
            <a:spLocks noChangeArrowheads="1"/>
          </p:cNvSpPr>
          <p:nvPr/>
        </p:nvSpPr>
        <p:spPr bwMode="auto">
          <a:xfrm>
            <a:off x="2386270" y="3410281"/>
            <a:ext cx="7248779" cy="1277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533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533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533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533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533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dirty="0">
                <a:latin typeface="Times New Roman" panose="02020603050405020304" pitchFamily="18" charset="0"/>
                <a:cs typeface="Times New Roman" panose="02020603050405020304" pitchFamily="18" charset="0"/>
              </a:rPr>
              <a:t>	</a:t>
            </a:r>
            <a:r>
              <a:rPr lang="en-US" altLang="zh-CN" sz="2540" dirty="0" err="1">
                <a:latin typeface="Times New Roman" panose="02020603050405020304" pitchFamily="18" charset="0"/>
                <a:ea typeface="楷体_GB2312"/>
                <a:cs typeface="Times New Roman" panose="02020603050405020304" pitchFamily="18" charset="0"/>
              </a:rPr>
              <a:t>主要是因为引发过程中诱导分解（或</a:t>
            </a:r>
            <a:r>
              <a:rPr lang="en-US" altLang="zh-CN" sz="2540" dirty="0">
                <a:latin typeface="Times New Roman" panose="02020603050405020304" pitchFamily="18" charset="0"/>
                <a:ea typeface="楷体_GB2312"/>
                <a:cs typeface="Times New Roman" panose="02020603050405020304" pitchFamily="18" charset="0"/>
              </a:rPr>
              <a:t>/</a:t>
            </a:r>
            <a:r>
              <a:rPr lang="en-US" altLang="zh-CN" sz="2540" dirty="0" err="1">
                <a:latin typeface="Times New Roman" panose="02020603050405020304" pitchFamily="18" charset="0"/>
                <a:ea typeface="楷体_GB2312"/>
                <a:cs typeface="Times New Roman" panose="02020603050405020304" pitchFamily="18" charset="0"/>
              </a:rPr>
              <a:t>和）笼蔽</a:t>
            </a:r>
            <a:endParaRPr lang="en-US" altLang="zh-CN" sz="2540" dirty="0">
              <a:latin typeface="Times New Roman" panose="02020603050405020304" pitchFamily="18" charset="0"/>
              <a:ea typeface="楷体_GB2312"/>
              <a:cs typeface="Times New Roman" panose="02020603050405020304" pitchFamily="18" charset="0"/>
            </a:endParaRPr>
          </a:p>
          <a:p>
            <a:pPr eaLnBrk="1" hangingPunct="1">
              <a:lnSpc>
                <a:spcPts val="907"/>
              </a:lnSpc>
            </a:pPr>
            <a:endParaRPr lang="en-US" altLang="zh-CN" sz="1633" dirty="0">
              <a:latin typeface="Times New Roman" panose="02020603050405020304" pitchFamily="18" charset="0"/>
              <a:cs typeface="Times New Roman" panose="02020603050405020304" pitchFamily="18" charset="0"/>
            </a:endParaRPr>
          </a:p>
          <a:p>
            <a:pPr eaLnBrk="1" hangingPunct="1">
              <a:lnSpc>
                <a:spcPts val="2722"/>
              </a:lnSpc>
            </a:pPr>
            <a:r>
              <a:rPr lang="en-US" altLang="zh-CN" sz="2540" dirty="0" err="1">
                <a:latin typeface="Times New Roman" panose="02020603050405020304" pitchFamily="18" charset="0"/>
                <a:ea typeface="楷体_GB2312"/>
                <a:cs typeface="楷体_GB2312"/>
              </a:rPr>
              <a:t>效应伴随的副反应损耗了一部分的引发剂。</a:t>
            </a:r>
            <a:r>
              <a:rPr lang="en-US" altLang="zh-CN" sz="2540" i="1" dirty="0" err="1">
                <a:latin typeface="Times New Roman" panose="02020603050405020304" pitchFamily="18" charset="0"/>
                <a:ea typeface="楷体_GB2312"/>
                <a:cs typeface="楷体_GB2312"/>
              </a:rPr>
              <a:t>f</a:t>
            </a:r>
            <a:r>
              <a:rPr lang="en-US" altLang="zh-CN" sz="2540" dirty="0" err="1">
                <a:latin typeface="Times New Roman" panose="02020603050405020304" pitchFamily="18" charset="0"/>
                <a:ea typeface="楷体_GB2312"/>
                <a:cs typeface="楷体_GB2312"/>
              </a:rPr>
              <a:t>：一般</a:t>
            </a:r>
            <a:endParaRPr lang="en-US" altLang="zh-CN" sz="2540" dirty="0">
              <a:latin typeface="Times New Roman" panose="02020603050405020304" pitchFamily="18" charset="0"/>
              <a:ea typeface="楷体_GB2312"/>
              <a:cs typeface="楷体_GB2312"/>
            </a:endParaRPr>
          </a:p>
          <a:p>
            <a:pPr eaLnBrk="1" hangingPunct="1">
              <a:lnSpc>
                <a:spcPts val="907"/>
              </a:lnSpc>
            </a:pPr>
            <a:endParaRPr lang="en-US" altLang="zh-CN" sz="1633" dirty="0">
              <a:latin typeface="Times New Roman" panose="02020603050405020304" pitchFamily="18" charset="0"/>
              <a:cs typeface="Times New Roman" panose="02020603050405020304" pitchFamily="18" charset="0"/>
            </a:endParaRPr>
          </a:p>
          <a:p>
            <a:pPr eaLnBrk="1" hangingPunct="1">
              <a:lnSpc>
                <a:spcPts val="2722"/>
              </a:lnSpc>
            </a:pPr>
            <a:r>
              <a:rPr lang="en-US" altLang="zh-CN" sz="2540" dirty="0">
                <a:latin typeface="Times New Roman" panose="02020603050405020304" pitchFamily="18" charset="0"/>
                <a:ea typeface="楷体_GB2312"/>
                <a:cs typeface="楷体_GB2312"/>
              </a:rPr>
              <a:t>为0.5～0.8，</a:t>
            </a:r>
          </a:p>
        </p:txBody>
      </p:sp>
      <p:sp>
        <p:nvSpPr>
          <p:cNvPr id="69638" name="TextBox 1"/>
          <p:cNvSpPr txBox="1">
            <a:spLocks noChangeArrowheads="1"/>
          </p:cNvSpPr>
          <p:nvPr/>
        </p:nvSpPr>
        <p:spPr bwMode="auto">
          <a:xfrm>
            <a:off x="2501477" y="4699181"/>
            <a:ext cx="7742050" cy="162801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996">
                <a:latin typeface="Times New Roman" panose="02020603050405020304" pitchFamily="18" charset="0"/>
                <a:cs typeface="Times New Roman" panose="02020603050405020304" pitchFamily="18" charset="0"/>
              </a:rPr>
              <a:t>Not all the free radicals formed actually start a polymer chain. There is wastage of initiator due to two reactions. One is the </a:t>
            </a:r>
            <a:r>
              <a:rPr lang="en-US" altLang="zh-CN" sz="1996" b="1">
                <a:solidFill>
                  <a:srgbClr val="FF0000"/>
                </a:solidFill>
                <a:latin typeface="Times New Roman" panose="02020603050405020304" pitchFamily="18" charset="0"/>
                <a:cs typeface="Times New Roman" panose="02020603050405020304" pitchFamily="18" charset="0"/>
              </a:rPr>
              <a:t>induced decomposition</a:t>
            </a:r>
            <a:r>
              <a:rPr lang="en-US" altLang="zh-CN" sz="1996">
                <a:latin typeface="Times New Roman" panose="02020603050405020304" pitchFamily="18" charset="0"/>
                <a:cs typeface="Times New Roman" panose="02020603050405020304" pitchFamily="18" charset="0"/>
              </a:rPr>
              <a:t> or initiator by the attack of propagating radicals on the initiator. Another is the side reactions of the radicals formed in the primary step of initiator decomposition, </a:t>
            </a:r>
            <a:r>
              <a:rPr lang="en-US" altLang="zh-CN" sz="1996" b="1">
                <a:solidFill>
                  <a:srgbClr val="FF0000"/>
                </a:solidFill>
                <a:latin typeface="Times New Roman" panose="02020603050405020304" pitchFamily="18" charset="0"/>
                <a:cs typeface="Times New Roman" panose="02020603050405020304" pitchFamily="18" charset="0"/>
              </a:rPr>
              <a:t>“cage” effect.</a:t>
            </a:r>
            <a:endParaRPr lang="zh-CN" altLang="en-US" sz="1996" b="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62</a:t>
            </a:r>
          </a:p>
        </p:txBody>
      </p:sp>
      <p:sp>
        <p:nvSpPr>
          <p:cNvPr id="70659" name="TextBox 1"/>
          <p:cNvSpPr txBox="1">
            <a:spLocks noChangeArrowheads="1"/>
          </p:cNvSpPr>
          <p:nvPr/>
        </p:nvSpPr>
        <p:spPr bwMode="auto">
          <a:xfrm>
            <a:off x="2224976" y="3672382"/>
            <a:ext cx="325409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诱导分解的影响因素</a:t>
            </a:r>
            <a:r>
              <a:rPr lang="en-US" altLang="zh-CN" sz="2540">
                <a:latin typeface="Times New Roman" panose="02020603050405020304" pitchFamily="18" charset="0"/>
                <a:cs typeface="Times New Roman" panose="02020603050405020304" pitchFamily="18" charset="0"/>
              </a:rPr>
              <a:t>：</a:t>
            </a:r>
          </a:p>
        </p:txBody>
      </p:sp>
      <p:sp>
        <p:nvSpPr>
          <p:cNvPr id="70660" name="TextBox 1"/>
          <p:cNvSpPr txBox="1">
            <a:spLocks noChangeArrowheads="1"/>
          </p:cNvSpPr>
          <p:nvPr/>
        </p:nvSpPr>
        <p:spPr bwMode="auto">
          <a:xfrm>
            <a:off x="2443875" y="4162018"/>
            <a:ext cx="7343357"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dirty="0" err="1">
                <a:latin typeface="楷体_GB2312"/>
                <a:ea typeface="楷体_GB2312"/>
                <a:cs typeface="楷体_GB2312"/>
              </a:rPr>
              <a:t>引发剂种类：</a:t>
            </a:r>
            <a:r>
              <a:rPr lang="en-US" altLang="zh-CN" sz="2540" b="1" dirty="0" err="1">
                <a:latin typeface="Times New Roman" panose="02020603050405020304" pitchFamily="18" charset="0"/>
                <a:cs typeface="Times New Roman" panose="02020603050405020304" pitchFamily="18" charset="0"/>
              </a:rPr>
              <a:t>AIBN</a:t>
            </a:r>
            <a:r>
              <a:rPr lang="en-US" altLang="zh-CN" sz="2540" dirty="0" err="1">
                <a:latin typeface="楷体_GB2312"/>
                <a:ea typeface="楷体_GB2312"/>
                <a:cs typeface="楷体_GB2312"/>
              </a:rPr>
              <a:t>无诱导分解，而</a:t>
            </a:r>
            <a:r>
              <a:rPr lang="en-US" altLang="zh-CN" sz="2540" b="1" dirty="0" err="1">
                <a:latin typeface="Times New Roman" panose="02020603050405020304" pitchFamily="18" charset="0"/>
                <a:cs typeface="Times New Roman" panose="02020603050405020304" pitchFamily="18" charset="0"/>
              </a:rPr>
              <a:t>ROOH</a:t>
            </a:r>
            <a:r>
              <a:rPr lang="en-US" altLang="zh-CN" sz="2540" dirty="0" err="1">
                <a:latin typeface="楷体_GB2312"/>
                <a:ea typeface="楷体_GB2312"/>
                <a:cs typeface="楷体_GB2312"/>
              </a:rPr>
              <a:t>特别容易</a:t>
            </a:r>
            <a:endParaRPr lang="en-US" altLang="zh-CN" sz="2540" dirty="0">
              <a:latin typeface="楷体_GB2312"/>
              <a:ea typeface="楷体_GB2312"/>
              <a:cs typeface="楷体_GB2312"/>
            </a:endParaRPr>
          </a:p>
          <a:p>
            <a:pPr eaLnBrk="1" hangingPunct="1">
              <a:lnSpc>
                <a:spcPts val="907"/>
              </a:lnSpc>
            </a:pPr>
            <a:endParaRPr lang="en-US" altLang="zh-CN" sz="1633" dirty="0"/>
          </a:p>
          <a:p>
            <a:pPr eaLnBrk="1" hangingPunct="1">
              <a:lnSpc>
                <a:spcPts val="2994"/>
              </a:lnSpc>
            </a:pPr>
            <a:r>
              <a:rPr lang="en-US" altLang="zh-CN" sz="2540" dirty="0" err="1">
                <a:latin typeface="楷体_GB2312"/>
                <a:ea typeface="楷体_GB2312"/>
                <a:cs typeface="楷体_GB2312"/>
              </a:rPr>
              <a:t>诱导分解</a:t>
            </a:r>
            <a:r>
              <a:rPr lang="en-US" altLang="zh-CN" sz="2540" dirty="0">
                <a:latin typeface="楷体_GB2312"/>
                <a:ea typeface="楷体_GB2312"/>
                <a:cs typeface="楷体_GB2312"/>
              </a:rPr>
              <a:t>；</a:t>
            </a:r>
          </a:p>
        </p:txBody>
      </p:sp>
      <p:sp>
        <p:nvSpPr>
          <p:cNvPr id="70661" name="TextBox 1"/>
          <p:cNvSpPr txBox="1">
            <a:spLocks noChangeArrowheads="1"/>
          </p:cNvSpPr>
          <p:nvPr/>
        </p:nvSpPr>
        <p:spPr bwMode="auto">
          <a:xfrm>
            <a:off x="2443872" y="5198900"/>
            <a:ext cx="4881144"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dirty="0" err="1">
                <a:latin typeface="楷体_GB2312"/>
                <a:ea typeface="楷体_GB2312"/>
                <a:cs typeface="楷体_GB2312"/>
              </a:rPr>
              <a:t>引发剂浓度：浓度大易诱导分解</a:t>
            </a:r>
            <a:r>
              <a:rPr lang="en-US" altLang="zh-CN" sz="2540" dirty="0">
                <a:latin typeface="楷体_GB2312"/>
                <a:ea typeface="楷体_GB2312"/>
                <a:cs typeface="楷体_GB2312"/>
              </a:rPr>
              <a:t>；</a:t>
            </a:r>
          </a:p>
          <a:p>
            <a:pPr eaLnBrk="1" hangingPunct="1">
              <a:lnSpc>
                <a:spcPts val="907"/>
              </a:lnSpc>
            </a:pPr>
            <a:endParaRPr lang="en-US" altLang="zh-CN" sz="1633" dirty="0"/>
          </a:p>
          <a:p>
            <a:pPr eaLnBrk="1" hangingPunct="1">
              <a:lnSpc>
                <a:spcPts val="2994"/>
              </a:lnSpc>
            </a:pPr>
            <a:r>
              <a:rPr lang="en-US" altLang="zh-CN" sz="2540" dirty="0" err="1">
                <a:latin typeface="楷体_GB2312"/>
                <a:ea typeface="楷体_GB2312"/>
                <a:cs typeface="楷体_GB2312"/>
              </a:rPr>
              <a:t>单体的相对活性</a:t>
            </a:r>
            <a:endParaRPr lang="en-US" altLang="zh-CN" sz="2540" dirty="0">
              <a:latin typeface="楷体_GB2312"/>
              <a:ea typeface="楷体_GB2312"/>
              <a:cs typeface="楷体_GB2312"/>
            </a:endParaRPr>
          </a:p>
        </p:txBody>
      </p:sp>
      <p:sp>
        <p:nvSpPr>
          <p:cNvPr id="70662" name="TextBox 1"/>
          <p:cNvSpPr txBox="1">
            <a:spLocks noChangeArrowheads="1"/>
          </p:cNvSpPr>
          <p:nvPr/>
        </p:nvSpPr>
        <p:spPr bwMode="auto">
          <a:xfrm>
            <a:off x="2294102" y="594859"/>
            <a:ext cx="5799665"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a:latin typeface="楷体_GB2312"/>
                <a:ea typeface="楷体_GB2312"/>
                <a:cs typeface="楷体_GB2312"/>
              </a:rPr>
              <a:t>诱导分解（</a:t>
            </a:r>
            <a:r>
              <a:rPr lang="en-US" altLang="zh-CN" sz="2812" b="1">
                <a:latin typeface="Times New Roman" panose="02020603050405020304" pitchFamily="18" charset="0"/>
                <a:cs typeface="Times New Roman" panose="02020603050405020304" pitchFamily="18" charset="0"/>
              </a:rPr>
              <a:t>Induced</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Decomposition</a:t>
            </a:r>
            <a:r>
              <a:rPr lang="en-US" altLang="zh-CN" sz="2812">
                <a:latin typeface="楷体_GB2312"/>
                <a:ea typeface="楷体_GB2312"/>
                <a:cs typeface="楷体_GB2312"/>
              </a:rPr>
              <a:t>）</a:t>
            </a:r>
          </a:p>
        </p:txBody>
      </p:sp>
      <p:sp>
        <p:nvSpPr>
          <p:cNvPr id="70663" name="TextBox 1"/>
          <p:cNvSpPr txBox="1">
            <a:spLocks noChangeArrowheads="1"/>
          </p:cNvSpPr>
          <p:nvPr/>
        </p:nvSpPr>
        <p:spPr bwMode="auto">
          <a:xfrm>
            <a:off x="2425152" y="1440206"/>
            <a:ext cx="7200689" cy="114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85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85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85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85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85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85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85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85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85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实质上是自由基向引发剂的</a:t>
            </a:r>
            <a:r>
              <a:rPr lang="en-US" altLang="zh-CN" sz="2540">
                <a:solidFill>
                  <a:srgbClr val="FF0000"/>
                </a:solidFill>
                <a:latin typeface="楷体_GB2312"/>
                <a:ea typeface="楷体_GB2312"/>
                <a:cs typeface="楷体_GB2312"/>
              </a:rPr>
              <a:t>转移</a:t>
            </a:r>
            <a:r>
              <a:rPr lang="en-US" altLang="zh-CN" sz="2540">
                <a:latin typeface="楷体_GB2312"/>
                <a:ea typeface="楷体_GB2312"/>
                <a:cs typeface="楷体_GB2312"/>
              </a:rPr>
              <a:t>反应，使自由</a:t>
            </a:r>
          </a:p>
          <a:p>
            <a:pPr eaLnBrk="1" hangingPunct="1">
              <a:lnSpc>
                <a:spcPts val="3175"/>
              </a:lnSpc>
            </a:pPr>
            <a:r>
              <a:rPr lang="en-US" altLang="zh-CN" sz="2540">
                <a:latin typeface="楷体_GB2312"/>
                <a:ea typeface="楷体_GB2312"/>
                <a:cs typeface="楷体_GB2312"/>
              </a:rPr>
              <a:t>基终止，产生新自由基，自由基数目无增减，但消</a:t>
            </a:r>
          </a:p>
          <a:p>
            <a:pPr eaLnBrk="1" hangingPunct="1">
              <a:lnSpc>
                <a:spcPts val="2994"/>
              </a:lnSpc>
            </a:pPr>
            <a:r>
              <a:rPr lang="en-US" altLang="zh-CN" sz="2540">
                <a:latin typeface="楷体_GB2312"/>
                <a:ea typeface="楷体_GB2312"/>
                <a:cs typeface="楷体_GB2312"/>
              </a:rPr>
              <a:t>耗一分子引发剂，使</a:t>
            </a:r>
            <a:r>
              <a:rPr lang="en-US" altLang="zh-CN" sz="2540" b="1">
                <a:solidFill>
                  <a:srgbClr val="FF0000"/>
                </a:solidFill>
                <a:latin typeface="楷体_GB2312"/>
                <a:ea typeface="楷体_GB2312"/>
                <a:cs typeface="楷体_GB2312"/>
              </a:rPr>
              <a:t>引发剂效率降低</a:t>
            </a:r>
            <a:r>
              <a:rPr lang="en-US" altLang="zh-CN" sz="2540">
                <a:latin typeface="楷体_GB2312"/>
                <a:ea typeface="楷体_GB2312"/>
                <a:cs typeface="楷体_GB2312"/>
              </a:rPr>
              <a:t>。</a:t>
            </a:r>
          </a:p>
        </p:txBody>
      </p:sp>
      <p:graphicFrame>
        <p:nvGraphicFramePr>
          <p:cNvPr id="70664" name="对象 1"/>
          <p:cNvGraphicFramePr>
            <a:graphicFrameLocks noChangeAspect="1"/>
          </p:cNvGraphicFramePr>
          <p:nvPr/>
        </p:nvGraphicFramePr>
        <p:xfrm>
          <a:off x="2708853" y="2806872"/>
          <a:ext cx="6687887" cy="616369"/>
        </p:xfrm>
        <a:graphic>
          <a:graphicData uri="http://schemas.openxmlformats.org/presentationml/2006/ole">
            <mc:AlternateContent xmlns:mc="http://schemas.openxmlformats.org/markup-compatibility/2006">
              <mc:Choice xmlns:v="urn:schemas-microsoft-com:vml" Requires="v">
                <p:oleObj spid="_x0000_s4101" name="CS ChemDraw Drawing" r:id="rId3" imgW="5770850" imgH="531509" progId="ChemDraw.Document.6.0">
                  <p:embed/>
                </p:oleObj>
              </mc:Choice>
              <mc:Fallback>
                <p:oleObj name="CS ChemDraw Drawing" r:id="rId3" imgW="5770850" imgH="531509" progId="ChemDraw.Document.6.0">
                  <p:embed/>
                  <p:pic>
                    <p:nvPicPr>
                      <p:cNvPr id="70664"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8853" y="2806872"/>
                        <a:ext cx="6687887" cy="616369"/>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椭圆 11"/>
          <p:cNvSpPr/>
          <p:nvPr/>
        </p:nvSpPr>
        <p:spPr>
          <a:xfrm>
            <a:off x="2570602" y="2806872"/>
            <a:ext cx="622129" cy="553004"/>
          </a:xfrm>
          <a:prstGeom prst="ellipse">
            <a:avLst/>
          </a:prstGeom>
          <a:noFill/>
        </p:spPr>
        <p:style>
          <a:lnRef idx="2">
            <a:schemeClr val="accent2"/>
          </a:lnRef>
          <a:fillRef idx="1">
            <a:schemeClr val="lt1"/>
          </a:fillRef>
          <a:effectRef idx="0">
            <a:schemeClr val="accent2"/>
          </a:effectRef>
          <a:fontRef idx="minor">
            <a:schemeClr val="dk1"/>
          </a:fontRef>
        </p:style>
        <p:txBody>
          <a:bodyPr anchor="ctr"/>
          <a:lstStyle/>
          <a:p>
            <a:pPr algn="ctr">
              <a:defRPr/>
            </a:pPr>
            <a:endParaRPr lang="zh-CN" altLang="en-US" sz="1633"/>
          </a:p>
        </p:txBody>
      </p:sp>
      <p:sp>
        <p:nvSpPr>
          <p:cNvPr id="21" name="椭圆 20"/>
          <p:cNvSpPr/>
          <p:nvPr/>
        </p:nvSpPr>
        <p:spPr>
          <a:xfrm>
            <a:off x="8791893" y="2838555"/>
            <a:ext cx="622129" cy="553004"/>
          </a:xfrm>
          <a:prstGeom prst="ellipse">
            <a:avLst/>
          </a:prstGeom>
          <a:noFill/>
        </p:spPr>
        <p:style>
          <a:lnRef idx="2">
            <a:schemeClr val="accent2"/>
          </a:lnRef>
          <a:fillRef idx="1">
            <a:schemeClr val="lt1"/>
          </a:fillRef>
          <a:effectRef idx="0">
            <a:schemeClr val="accent2"/>
          </a:effectRef>
          <a:fontRef idx="minor">
            <a:schemeClr val="dk1"/>
          </a:fontRef>
        </p:style>
        <p:txBody>
          <a:bodyPr anchor="ctr"/>
          <a:lstStyle/>
          <a:p>
            <a:pPr algn="ctr">
              <a:defRPr/>
            </a:pPr>
            <a:endParaRPr lang="zh-CN" altLang="en-US" sz="1633"/>
          </a:p>
        </p:txBody>
      </p:sp>
      <p:sp>
        <p:nvSpPr>
          <p:cNvPr id="70667" name="TextBox 17"/>
          <p:cNvSpPr txBox="1">
            <a:spLocks noChangeArrowheads="1"/>
          </p:cNvSpPr>
          <p:nvPr/>
        </p:nvSpPr>
        <p:spPr bwMode="auto">
          <a:xfrm>
            <a:off x="9483147" y="2327315"/>
            <a:ext cx="760380" cy="539058"/>
          </a:xfrm>
          <a:prstGeom prst="rect">
            <a:avLst/>
          </a:prstGeom>
          <a:noFill/>
          <a:ln w="38100">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903" b="1">
                <a:latin typeface="Times New Roman" panose="02020603050405020304" pitchFamily="18" charset="0"/>
                <a:cs typeface="Times New Roman" panose="02020603050405020304" pitchFamily="18" charset="0"/>
              </a:rPr>
              <a:t>1:1</a:t>
            </a:r>
            <a:endParaRPr lang="zh-CN" altLang="en-US" sz="2903" b="1">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63</a:t>
            </a:r>
          </a:p>
        </p:txBody>
      </p:sp>
      <p:sp>
        <p:nvSpPr>
          <p:cNvPr id="71683" name="TextBox 1"/>
          <p:cNvSpPr txBox="1">
            <a:spLocks noChangeArrowheads="1"/>
          </p:cNvSpPr>
          <p:nvPr/>
        </p:nvSpPr>
        <p:spPr bwMode="auto">
          <a:xfrm>
            <a:off x="2294102" y="525734"/>
            <a:ext cx="3954609"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a:latin typeface="楷体_GB2312"/>
                <a:ea typeface="楷体_GB2312"/>
                <a:cs typeface="楷体_GB2312"/>
              </a:rPr>
              <a:t>笼蔽效应（</a:t>
            </a:r>
            <a:r>
              <a:rPr lang="en-US" altLang="zh-CN" sz="2812" b="1">
                <a:solidFill>
                  <a:srgbClr val="0000FF"/>
                </a:solidFill>
                <a:latin typeface="Times New Roman" panose="02020603050405020304" pitchFamily="18" charset="0"/>
                <a:cs typeface="Times New Roman" panose="02020603050405020304" pitchFamily="18" charset="0"/>
              </a:rPr>
              <a:t>Cage</a:t>
            </a:r>
            <a:r>
              <a:rPr lang="en-US" altLang="zh-CN" sz="2812">
                <a:solidFill>
                  <a:srgbClr val="0000FF"/>
                </a:solidFill>
                <a:latin typeface="Times New Roman" panose="02020603050405020304" pitchFamily="18" charset="0"/>
                <a:cs typeface="Times New Roman" panose="02020603050405020304" pitchFamily="18" charset="0"/>
              </a:rPr>
              <a:t> </a:t>
            </a:r>
            <a:r>
              <a:rPr lang="en-US" altLang="zh-CN" sz="2812" b="1">
                <a:solidFill>
                  <a:srgbClr val="0000FF"/>
                </a:solidFill>
                <a:latin typeface="Times New Roman" panose="02020603050405020304" pitchFamily="18" charset="0"/>
                <a:cs typeface="Times New Roman" panose="02020603050405020304" pitchFamily="18" charset="0"/>
              </a:rPr>
              <a:t>Effect</a:t>
            </a:r>
            <a:r>
              <a:rPr lang="en-US" altLang="zh-CN" sz="2812">
                <a:latin typeface="楷体_GB2312"/>
                <a:ea typeface="楷体_GB2312"/>
                <a:cs typeface="楷体_GB2312"/>
              </a:rPr>
              <a:t>）</a:t>
            </a:r>
          </a:p>
        </p:txBody>
      </p:sp>
      <p:sp>
        <p:nvSpPr>
          <p:cNvPr id="71684" name="TextBox 1"/>
          <p:cNvSpPr txBox="1">
            <a:spLocks noChangeArrowheads="1"/>
          </p:cNvSpPr>
          <p:nvPr/>
        </p:nvSpPr>
        <p:spPr bwMode="auto">
          <a:xfrm>
            <a:off x="4160488" y="1355238"/>
            <a:ext cx="5875663" cy="342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ct val="125000"/>
              </a:lnSpc>
            </a:pPr>
            <a:r>
              <a:rPr lang="en-US" altLang="zh-CN" sz="1633" dirty="0"/>
              <a:t>	</a:t>
            </a:r>
            <a:r>
              <a:rPr lang="en-US" altLang="zh-CN" sz="2540" dirty="0">
                <a:latin typeface="楷体_GB2312"/>
                <a:ea typeface="楷体_GB2312"/>
                <a:cs typeface="楷体_GB2312"/>
              </a:rPr>
              <a:t>当体系中引发剂浓度较低时，引发剂分子处于单体或溶剂的包围中而不能发挥作用，</a:t>
            </a:r>
            <a:r>
              <a:rPr lang="en-US" altLang="zh-CN" sz="2540" dirty="0">
                <a:solidFill>
                  <a:srgbClr val="FF0000"/>
                </a:solidFill>
                <a:latin typeface="楷体_GB2312"/>
                <a:ea typeface="楷体_GB2312"/>
                <a:cs typeface="楷体_GB2312"/>
              </a:rPr>
              <a:t>称为笼蔽效应</a:t>
            </a:r>
            <a:r>
              <a:rPr lang="en-US" altLang="zh-CN" sz="2540" dirty="0">
                <a:latin typeface="楷体_GB2312"/>
                <a:ea typeface="楷体_GB2312"/>
                <a:cs typeface="楷体_GB2312"/>
              </a:rPr>
              <a:t>。自由基在单体或溶剂的</a:t>
            </a:r>
            <a:r>
              <a:rPr lang="en-US" altLang="zh-CN" sz="2540" b="1" dirty="0">
                <a:latin typeface="Times New Roman" panose="02020603050405020304" pitchFamily="18" charset="0"/>
                <a:cs typeface="Times New Roman" panose="02020603050405020304" pitchFamily="18" charset="0"/>
              </a:rPr>
              <a:t>“</a:t>
            </a:r>
            <a:r>
              <a:rPr lang="en-US" altLang="zh-CN" sz="2540" dirty="0">
                <a:latin typeface="楷体_GB2312"/>
                <a:ea typeface="楷体_GB2312"/>
                <a:cs typeface="楷体_GB2312"/>
              </a:rPr>
              <a:t>笼子</a:t>
            </a:r>
            <a:r>
              <a:rPr lang="en-US" altLang="zh-CN" sz="2540" b="1" dirty="0">
                <a:latin typeface="Times New Roman" panose="02020603050405020304" pitchFamily="18" charset="0"/>
                <a:cs typeface="Times New Roman" panose="02020603050405020304" pitchFamily="18" charset="0"/>
              </a:rPr>
              <a:t>”</a:t>
            </a:r>
            <a:r>
              <a:rPr lang="en-US" altLang="zh-CN" sz="2540" dirty="0">
                <a:latin typeface="楷体_GB2312"/>
                <a:ea typeface="楷体_GB2312"/>
                <a:cs typeface="楷体_GB2312"/>
              </a:rPr>
              <a:t>中的的平均寿命约为</a:t>
            </a:r>
            <a:r>
              <a:rPr lang="en-US" altLang="zh-CN" sz="2540" b="1" dirty="0">
                <a:latin typeface="Times New Roman" panose="02020603050405020304" pitchFamily="18" charset="0"/>
                <a:cs typeface="Times New Roman" panose="02020603050405020304" pitchFamily="18" charset="0"/>
              </a:rPr>
              <a:t>10</a:t>
            </a:r>
            <a:r>
              <a:rPr lang="en-US" altLang="zh-CN" sz="2540" b="1" baseline="30000" dirty="0">
                <a:latin typeface="Times New Roman" panose="02020603050405020304" pitchFamily="18" charset="0"/>
                <a:cs typeface="Times New Roman" panose="02020603050405020304" pitchFamily="18" charset="0"/>
              </a:rPr>
              <a:t>-11</a:t>
            </a:r>
            <a:r>
              <a:rPr lang="en-US" altLang="zh-CN" sz="2540" dirty="0">
                <a:latin typeface="楷体_GB2312"/>
                <a:ea typeface="楷体_GB2312"/>
                <a:cs typeface="楷体_GB2312"/>
              </a:rPr>
              <a:t>～</a:t>
            </a:r>
            <a:r>
              <a:rPr lang="en-US" altLang="zh-CN" sz="2540" b="1" dirty="0">
                <a:latin typeface="Times New Roman" panose="02020603050405020304" pitchFamily="18" charset="0"/>
                <a:cs typeface="Times New Roman" panose="02020603050405020304" pitchFamily="18" charset="0"/>
              </a:rPr>
              <a:t>10</a:t>
            </a:r>
            <a:r>
              <a:rPr lang="en-US" altLang="zh-CN" sz="2540" b="1" baseline="30000" dirty="0">
                <a:latin typeface="Times New Roman" panose="02020603050405020304" pitchFamily="18" charset="0"/>
                <a:cs typeface="Times New Roman" panose="02020603050405020304" pitchFamily="18" charset="0"/>
              </a:rPr>
              <a:t>-9</a:t>
            </a:r>
            <a:r>
              <a:rPr lang="en-US" altLang="zh-CN" sz="2540" dirty="0">
                <a:latin typeface="楷体_GB2312"/>
                <a:ea typeface="楷体_GB2312"/>
                <a:cs typeface="楷体_GB2312"/>
              </a:rPr>
              <a:t>，如来不及扩散出笼子，就可能发生副反应，形成稳定分子。结果是消耗了引发剂，降低了引发剂效率。</a:t>
            </a:r>
          </a:p>
        </p:txBody>
      </p:sp>
      <p:sp>
        <p:nvSpPr>
          <p:cNvPr id="71685" name="TextBox 1"/>
          <p:cNvSpPr txBox="1">
            <a:spLocks noChangeArrowheads="1"/>
          </p:cNvSpPr>
          <p:nvPr/>
        </p:nvSpPr>
        <p:spPr bwMode="auto">
          <a:xfrm>
            <a:off x="3089044" y="4984325"/>
            <a:ext cx="6508192"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b="1">
                <a:solidFill>
                  <a:srgbClr val="0000FF"/>
                </a:solidFill>
                <a:latin typeface="楷体_GB2312"/>
                <a:ea typeface="楷体_GB2312"/>
                <a:cs typeface="楷体_GB2312"/>
              </a:rPr>
              <a:t>大多数引发剂均可观察到这些现象，偶氮类引</a:t>
            </a:r>
          </a:p>
        </p:txBody>
      </p:sp>
      <p:sp>
        <p:nvSpPr>
          <p:cNvPr id="71686" name="TextBox 1"/>
          <p:cNvSpPr txBox="1">
            <a:spLocks noChangeArrowheads="1"/>
          </p:cNvSpPr>
          <p:nvPr/>
        </p:nvSpPr>
        <p:spPr bwMode="auto">
          <a:xfrm>
            <a:off x="2443873" y="5468204"/>
            <a:ext cx="195245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b="1">
                <a:solidFill>
                  <a:srgbClr val="0000FF"/>
                </a:solidFill>
                <a:latin typeface="楷体_GB2312"/>
                <a:ea typeface="楷体_GB2312"/>
                <a:cs typeface="楷体_GB2312"/>
              </a:rPr>
              <a:t>发剂易发生。</a:t>
            </a:r>
          </a:p>
        </p:txBody>
      </p:sp>
      <p:graphicFrame>
        <p:nvGraphicFramePr>
          <p:cNvPr id="71687" name="对象 1"/>
          <p:cNvGraphicFramePr>
            <a:graphicFrameLocks noChangeAspect="1"/>
          </p:cNvGraphicFramePr>
          <p:nvPr/>
        </p:nvGraphicFramePr>
        <p:xfrm>
          <a:off x="1741098" y="1493491"/>
          <a:ext cx="2217775" cy="1719495"/>
        </p:xfrm>
        <a:graphic>
          <a:graphicData uri="http://schemas.openxmlformats.org/presentationml/2006/ole">
            <mc:AlternateContent xmlns:mc="http://schemas.openxmlformats.org/markup-compatibility/2006">
              <mc:Choice xmlns:v="urn:schemas-microsoft-com:vml" Requires="v">
                <p:oleObj spid="_x0000_s5125" name="CS ChemDraw Drawing" r:id="rId3" imgW="1916863" imgH="1485630" progId="ChemDraw.Document.6.0">
                  <p:embed/>
                </p:oleObj>
              </mc:Choice>
              <mc:Fallback>
                <p:oleObj name="CS ChemDraw Drawing" r:id="rId3" imgW="1916863" imgH="1485630" progId="ChemDraw.Document.6.0">
                  <p:embed/>
                  <p:pic>
                    <p:nvPicPr>
                      <p:cNvPr id="71687"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1098" y="1493491"/>
                        <a:ext cx="2217775" cy="1719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64</a:t>
            </a:r>
          </a:p>
        </p:txBody>
      </p:sp>
      <p:sp>
        <p:nvSpPr>
          <p:cNvPr id="72707" name="TextBox 1"/>
          <p:cNvSpPr txBox="1">
            <a:spLocks noChangeArrowheads="1"/>
          </p:cNvSpPr>
          <p:nvPr/>
        </p:nvSpPr>
        <p:spPr bwMode="auto">
          <a:xfrm>
            <a:off x="2029121" y="663985"/>
            <a:ext cx="5511124"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4</a:t>
            </a:r>
            <a:r>
              <a:rPr lang="en-US" altLang="zh-CN" sz="2812">
                <a:latin typeface="楷体_GB2312"/>
                <a:ea typeface="楷体_GB2312"/>
                <a:cs typeface="楷体_GB2312"/>
              </a:rPr>
              <a:t>）引发剂的选择</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Initiator</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selection</a:t>
            </a:r>
          </a:p>
        </p:txBody>
      </p:sp>
      <p:sp>
        <p:nvSpPr>
          <p:cNvPr id="72708" name="TextBox 1"/>
          <p:cNvSpPr txBox="1">
            <a:spLocks noChangeArrowheads="1"/>
          </p:cNvSpPr>
          <p:nvPr/>
        </p:nvSpPr>
        <p:spPr bwMode="auto">
          <a:xfrm>
            <a:off x="2543240" y="1286114"/>
            <a:ext cx="328295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a)</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根据聚合方法选择：</a:t>
            </a:r>
          </a:p>
        </p:txBody>
      </p:sp>
      <p:sp>
        <p:nvSpPr>
          <p:cNvPr id="15" name="TextBox 1"/>
          <p:cNvSpPr txBox="1"/>
          <p:nvPr/>
        </p:nvSpPr>
        <p:spPr>
          <a:xfrm>
            <a:off x="2881668" y="1726788"/>
            <a:ext cx="4571764" cy="343812"/>
          </a:xfrm>
          <a:prstGeom prst="rect">
            <a:avLst/>
          </a:prstGeom>
          <a:noFill/>
        </p:spPr>
        <p:txBody>
          <a:bodyPr wrap="none" lIns="0" tIns="0" rIns="0">
            <a:spAutoFit/>
          </a:bodyPr>
          <a:lstStyle/>
          <a:p>
            <a:pPr>
              <a:lnSpc>
                <a:spcPts val="2268"/>
              </a:lnSpc>
              <a:defRPr/>
            </a:pPr>
            <a:r>
              <a:rPr lang="en-US" altLang="zh-CN" sz="2542" b="1" dirty="0">
                <a:latin typeface="Times New Roman" pitchFamily="18" charset="0"/>
                <a:cs typeface="Times New Roman" pitchFamily="18" charset="0"/>
              </a:rPr>
              <a:t>Based</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on</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polymerization</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method</a:t>
            </a:r>
          </a:p>
        </p:txBody>
      </p:sp>
      <p:sp>
        <p:nvSpPr>
          <p:cNvPr id="72710" name="TextBox 1"/>
          <p:cNvSpPr txBox="1">
            <a:spLocks noChangeArrowheads="1"/>
          </p:cNvSpPr>
          <p:nvPr/>
        </p:nvSpPr>
        <p:spPr bwMode="auto">
          <a:xfrm>
            <a:off x="2881668" y="2246669"/>
            <a:ext cx="6833602"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本体、悬浮和溶液聚合宜采用偶氮类或过氧化类</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油溶性引发剂，乳液聚合和水溶液聚合应采用过</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硫酸盐、氢过氧化物或氧化还原引发剂。</a:t>
            </a:r>
          </a:p>
        </p:txBody>
      </p:sp>
      <p:sp>
        <p:nvSpPr>
          <p:cNvPr id="72711" name="TextBox 1"/>
          <p:cNvSpPr txBox="1">
            <a:spLocks noChangeArrowheads="1"/>
          </p:cNvSpPr>
          <p:nvPr/>
        </p:nvSpPr>
        <p:spPr bwMode="auto">
          <a:xfrm>
            <a:off x="2582125" y="3882638"/>
            <a:ext cx="3300584"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b)</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根据聚合温度选择：</a:t>
            </a:r>
          </a:p>
        </p:txBody>
      </p:sp>
      <p:sp>
        <p:nvSpPr>
          <p:cNvPr id="18" name="TextBox 1"/>
          <p:cNvSpPr txBox="1"/>
          <p:nvPr/>
        </p:nvSpPr>
        <p:spPr>
          <a:xfrm>
            <a:off x="2904711" y="4300270"/>
            <a:ext cx="5251951" cy="343812"/>
          </a:xfrm>
          <a:prstGeom prst="rect">
            <a:avLst/>
          </a:prstGeom>
          <a:noFill/>
        </p:spPr>
        <p:txBody>
          <a:bodyPr wrap="none" lIns="0" tIns="0" rIns="0">
            <a:spAutoFit/>
          </a:bodyPr>
          <a:lstStyle/>
          <a:p>
            <a:pPr>
              <a:lnSpc>
                <a:spcPts val="2268"/>
              </a:lnSpc>
              <a:defRPr/>
            </a:pPr>
            <a:r>
              <a:rPr lang="en-US" altLang="zh-CN" sz="2542" b="1" dirty="0">
                <a:latin typeface="Times New Roman" pitchFamily="18" charset="0"/>
                <a:cs typeface="Times New Roman" pitchFamily="18" charset="0"/>
              </a:rPr>
              <a:t>Based</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on</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polymerization</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temperature</a:t>
            </a:r>
          </a:p>
        </p:txBody>
      </p:sp>
      <p:sp>
        <p:nvSpPr>
          <p:cNvPr id="72713" name="TextBox 1"/>
          <p:cNvSpPr txBox="1">
            <a:spLocks noChangeArrowheads="1"/>
          </p:cNvSpPr>
          <p:nvPr/>
        </p:nvSpPr>
        <p:spPr bwMode="auto">
          <a:xfrm>
            <a:off x="2904710" y="4782707"/>
            <a:ext cx="5846152" cy="4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994"/>
              </a:lnSpc>
            </a:pPr>
            <a:r>
              <a:rPr lang="en-US" altLang="zh-CN" sz="2268">
                <a:latin typeface="楷体_GB2312"/>
                <a:ea typeface="楷体_GB2312"/>
                <a:cs typeface="楷体_GB2312"/>
              </a:rPr>
              <a:t>选择</a:t>
            </a:r>
            <a:r>
              <a:rPr lang="en-US" altLang="zh-CN" sz="2268" b="1">
                <a:latin typeface="Times New Roman" panose="02020603050405020304" pitchFamily="18" charset="0"/>
                <a:cs typeface="Times New Roman" panose="02020603050405020304" pitchFamily="18" charset="0"/>
              </a:rPr>
              <a:t>t</a:t>
            </a:r>
            <a:r>
              <a:rPr lang="en-US" altLang="zh-CN" sz="1452" b="1">
                <a:latin typeface="Times New Roman" panose="02020603050405020304" pitchFamily="18" charset="0"/>
                <a:cs typeface="Times New Roman" panose="02020603050405020304" pitchFamily="18" charset="0"/>
              </a:rPr>
              <a:t>1/2</a:t>
            </a:r>
            <a:r>
              <a:rPr lang="en-US" altLang="zh-CN" sz="2268">
                <a:latin typeface="楷体_GB2312"/>
                <a:ea typeface="楷体_GB2312"/>
                <a:cs typeface="楷体_GB2312"/>
              </a:rPr>
              <a:t>与聚合时间同数量级或相当的引发剂。</a:t>
            </a:r>
          </a:p>
        </p:txBody>
      </p:sp>
      <p:sp>
        <p:nvSpPr>
          <p:cNvPr id="72714" name="TextBox 1"/>
          <p:cNvSpPr txBox="1">
            <a:spLocks noChangeArrowheads="1"/>
          </p:cNvSpPr>
          <p:nvPr/>
        </p:nvSpPr>
        <p:spPr bwMode="auto">
          <a:xfrm>
            <a:off x="2904710" y="5278106"/>
            <a:ext cx="6093015" cy="80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聚合温度高，选用低活性或中等活性的引发剂。</a:t>
            </a:r>
          </a:p>
          <a:p>
            <a:pPr eaLnBrk="1" hangingPunct="1">
              <a:lnSpc>
                <a:spcPts val="907"/>
              </a:lnSpc>
            </a:pPr>
            <a:endParaRPr lang="en-US" altLang="zh-CN" sz="1633"/>
          </a:p>
          <a:p>
            <a:pPr eaLnBrk="1" hangingPunct="1">
              <a:lnSpc>
                <a:spcPts val="2722"/>
              </a:lnSpc>
            </a:pPr>
            <a:r>
              <a:rPr lang="en-US" altLang="zh-CN" sz="2268">
                <a:latin typeface="楷体_GB2312"/>
                <a:ea typeface="楷体_GB2312"/>
                <a:cs typeface="楷体_GB2312"/>
              </a:rPr>
              <a:t>聚合温度低，则选用高活性的引发剂。</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348ECCA8-D25E-4DE0-B445-4E960094D825}"/>
              </a:ext>
            </a:extLst>
          </p:cNvPr>
          <p:cNvSpPr>
            <a:spLocks noGrp="1"/>
          </p:cNvSpPr>
          <p:nvPr>
            <p:ph sz="quarter" idx="1"/>
          </p:nvPr>
        </p:nvSpPr>
        <p:spPr>
          <a:xfrm>
            <a:off x="1774940" y="260434"/>
            <a:ext cx="8457978" cy="5638652"/>
          </a:xfrm>
        </p:spPr>
        <p:txBody>
          <a:bodyPr/>
          <a:lstStyle/>
          <a:p>
            <a:pPr marL="0" indent="0">
              <a:buNone/>
              <a:defRPr/>
            </a:pPr>
            <a:r>
              <a:rPr lang="en-US" altLang="zh-CN" b="1" dirty="0">
                <a:latin typeface="楷体" panose="02010609060101010101" pitchFamily="49" charset="-122"/>
                <a:ea typeface="楷体" panose="02010609060101010101" pitchFamily="49" charset="-122"/>
                <a:cs typeface="Arial" panose="020B0604020202020204" pitchFamily="34" charset="0"/>
              </a:rPr>
              <a:t>2. </a:t>
            </a:r>
            <a:r>
              <a:rPr lang="zh-CN" altLang="en-US" b="1" dirty="0">
                <a:latin typeface="楷体" panose="02010609060101010101" pitchFamily="49" charset="-122"/>
                <a:ea typeface="楷体" panose="02010609060101010101" pitchFamily="49" charset="-122"/>
                <a:cs typeface="Arial" panose="020B0604020202020204" pitchFamily="34" charset="0"/>
              </a:rPr>
              <a:t>热引发  </a:t>
            </a:r>
            <a:r>
              <a:rPr lang="zh-CN" altLang="en-US" sz="2000" b="1" dirty="0">
                <a:solidFill>
                  <a:srgbClr val="FF0000"/>
                </a:solidFill>
                <a:latin typeface="楷体" panose="02010609060101010101" pitchFamily="49" charset="-122"/>
                <a:ea typeface="楷体" panose="02010609060101010101" pitchFamily="49" charset="-122"/>
                <a:cs typeface="Arial" panose="020B0604020202020204" pitchFamily="34" charset="0"/>
              </a:rPr>
              <a:t>（苯乙烯单体在高温下的自发聚合）</a:t>
            </a:r>
          </a:p>
          <a:p>
            <a:pPr marL="0" indent="0">
              <a:lnSpc>
                <a:spcPct val="200000"/>
              </a:lnSpc>
              <a:spcBef>
                <a:spcPct val="0"/>
              </a:spcBef>
              <a:buNone/>
              <a:defRPr/>
            </a:pPr>
            <a:r>
              <a:rPr lang="zh-CN" altLang="en-US" dirty="0">
                <a:latin typeface="楷体" panose="02010609060101010101" pitchFamily="49" charset="-122"/>
                <a:ea typeface="楷体" panose="02010609060101010101" pitchFamily="49" charset="-122"/>
                <a:cs typeface="Arial" panose="020B0604020202020204" pitchFamily="34" charset="0"/>
              </a:rPr>
              <a:t>       </a:t>
            </a:r>
            <a:r>
              <a:rPr lang="zh-CN" altLang="en-US" b="1" dirty="0">
                <a:solidFill>
                  <a:srgbClr val="FF0000"/>
                </a:solidFill>
                <a:latin typeface="楷体" panose="02010609060101010101" pitchFamily="49" charset="-122"/>
                <a:ea typeface="楷体" panose="02010609060101010101" pitchFamily="49" charset="-122"/>
                <a:cs typeface="Arial" panose="020B0604020202020204" pitchFamily="34" charset="0"/>
              </a:rPr>
              <a:t>苯乙烯的热引发为二步、三分子机理：</a:t>
            </a:r>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r>
              <a:rPr lang="zh-CN" altLang="en-US" dirty="0"/>
              <a:t>        </a:t>
            </a:r>
            <a:endParaRPr lang="zh-CN" altLang="en-US" b="1" dirty="0"/>
          </a:p>
        </p:txBody>
      </p:sp>
      <p:pic>
        <p:nvPicPr>
          <p:cNvPr id="62467" name="Picture 10">
            <a:extLst>
              <a:ext uri="{FF2B5EF4-FFF2-40B4-BE49-F238E27FC236}">
                <a16:creationId xmlns:a16="http://schemas.microsoft.com/office/drawing/2014/main" id="{623C2F5A-39A0-42C4-B625-0C289A5B00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0107" y="1628825"/>
            <a:ext cx="6645100" cy="4530606"/>
          </a:xfrm>
          <a:prstGeom prst="rect">
            <a:avLst/>
          </a:prstGeom>
          <a:solidFill>
            <a:schemeClr val="accent5">
              <a:lumMod val="20000"/>
              <a:lumOff val="80000"/>
            </a:schemeClr>
          </a:solidFill>
          <a:ln>
            <a:noFill/>
          </a:ln>
        </p:spPr>
      </p:pic>
      <p:sp>
        <p:nvSpPr>
          <p:cNvPr id="77828" name="灯片编号占位符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15EBFB2F-6C68-46B9-B32B-60F06ED5621C}" type="slidenum">
              <a:rPr lang="en-US" altLang="zh-CN" sz="1400">
                <a:solidFill>
                  <a:srgbClr val="FFFFFF"/>
                </a:solidFill>
                <a:latin typeface="Times New Roman" panose="02020603050405020304" pitchFamily="18" charset="0"/>
              </a:rPr>
              <a:pPr>
                <a:spcBef>
                  <a:spcPct val="0"/>
                </a:spcBef>
                <a:buClrTx/>
                <a:buSzTx/>
                <a:buFontTx/>
                <a:buNone/>
              </a:pPr>
              <a:t>25</a:t>
            </a:fld>
            <a:endParaRPr lang="en-US" altLang="zh-CN" sz="1400">
              <a:solidFill>
                <a:srgbClr val="FFFFFF"/>
              </a:solidFill>
              <a:latin typeface="Times New Roman" panose="02020603050405020304" pitchFamily="18" charset="0"/>
            </a:endParaRPr>
          </a:p>
        </p:txBody>
      </p:sp>
      <p:sp>
        <p:nvSpPr>
          <p:cNvPr id="2" name="椭圆 1">
            <a:extLst>
              <a:ext uri="{FF2B5EF4-FFF2-40B4-BE49-F238E27FC236}">
                <a16:creationId xmlns:a16="http://schemas.microsoft.com/office/drawing/2014/main" id="{1A18F7C8-8960-4D9A-95E9-226C7E14018A}"/>
              </a:ext>
            </a:extLst>
          </p:cNvPr>
          <p:cNvSpPr/>
          <p:nvPr/>
        </p:nvSpPr>
        <p:spPr>
          <a:xfrm>
            <a:off x="2855998" y="1773282"/>
            <a:ext cx="792141" cy="79214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Tree>
    <p:extLst>
      <p:ext uri="{BB962C8B-B14F-4D97-AF65-F5344CB8AC3E}">
        <p14:creationId xmlns:p14="http://schemas.microsoft.com/office/powerpoint/2010/main" val="127462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4"/>
          <p:cNvSpPr txBox="1">
            <a:spLocks noChangeArrowheads="1"/>
          </p:cNvSpPr>
          <p:nvPr/>
        </p:nvSpPr>
        <p:spPr bwMode="auto">
          <a:xfrm>
            <a:off x="1992421" y="3284543"/>
            <a:ext cx="8424641"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a:solidFill>
                  <a:srgbClr val="9900CC"/>
                </a:solidFill>
                <a:latin typeface="Arial" panose="020B0604020202020204" pitchFamily="34" charset="0"/>
                <a:ea typeface="楷体" panose="02010609060101010101" pitchFamily="49" charset="-122"/>
                <a:cs typeface="Arial" panose="020B0604020202020204" pitchFamily="34" charset="0"/>
              </a:rPr>
              <a:t>引发速率 </a:t>
            </a:r>
            <a:r>
              <a:rPr lang="zh-CN" altLang="en-US">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a:solidFill>
                  <a:srgbClr val="9900CC"/>
                </a:solidFill>
                <a:latin typeface="Arial" panose="020B0604020202020204" pitchFamily="34" charset="0"/>
                <a:ea typeface="楷体" panose="02010609060101010101" pitchFamily="49" charset="-122"/>
                <a:cs typeface="Arial" panose="020B0604020202020204" pitchFamily="34" charset="0"/>
              </a:rPr>
              <a:t>  </a:t>
            </a:r>
            <a:r>
              <a:rPr lang="en-US" altLang="zh-CN">
                <a:solidFill>
                  <a:srgbClr val="9900CC"/>
                </a:solidFill>
                <a:latin typeface="Arial" panose="020B0604020202020204" pitchFamily="34" charset="0"/>
                <a:ea typeface="楷体" panose="02010609060101010101" pitchFamily="49" charset="-122"/>
                <a:cs typeface="Arial" panose="020B0604020202020204" pitchFamily="34" charset="0"/>
              </a:rPr>
              <a:t>[M]</a:t>
            </a:r>
            <a:r>
              <a:rPr lang="en-US" altLang="zh-CN" baseline="30000">
                <a:solidFill>
                  <a:srgbClr val="9900CC"/>
                </a:solidFill>
                <a:latin typeface="Arial" panose="020B0604020202020204" pitchFamily="34" charset="0"/>
                <a:ea typeface="楷体" panose="02010609060101010101" pitchFamily="49" charset="-122"/>
                <a:cs typeface="Arial" panose="020B0604020202020204" pitchFamily="34" charset="0"/>
              </a:rPr>
              <a:t>3</a:t>
            </a:r>
            <a:r>
              <a:rPr lang="en-US" altLang="zh-CN">
                <a:solidFill>
                  <a:srgbClr val="9900C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9900CC"/>
                </a:solidFill>
                <a:latin typeface="Arial" panose="020B0604020202020204" pitchFamily="34" charset="0"/>
                <a:ea typeface="楷体" panose="02010609060101010101" pitchFamily="49" charset="-122"/>
                <a:cs typeface="Arial" panose="020B0604020202020204" pitchFamily="34" charset="0"/>
              </a:rPr>
              <a:t>反应温度：</a:t>
            </a:r>
            <a:r>
              <a:rPr lang="en-US" altLang="zh-CN">
                <a:solidFill>
                  <a:srgbClr val="9900CC"/>
                </a:solidFill>
                <a:latin typeface="Arial" panose="020B0604020202020204" pitchFamily="34" charset="0"/>
                <a:ea typeface="楷体" panose="02010609060101010101" pitchFamily="49" charset="-122"/>
                <a:cs typeface="Arial" panose="020B0604020202020204" pitchFamily="34" charset="0"/>
              </a:rPr>
              <a:t>100 - 150 </a:t>
            </a:r>
            <a:r>
              <a:rPr lang="en-US" altLang="zh-CN">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a:solidFill>
                  <a:srgbClr val="9900CC"/>
                </a:solidFill>
                <a:latin typeface="Arial" panose="020B0604020202020204" pitchFamily="34" charset="0"/>
                <a:ea typeface="楷体" panose="02010609060101010101" pitchFamily="49" charset="-122"/>
                <a:cs typeface="Arial" panose="020B0604020202020204" pitchFamily="34" charset="0"/>
              </a:rPr>
              <a:t>C</a:t>
            </a:r>
          </a:p>
          <a:p>
            <a:pPr eaLnBrk="1" hangingPunct="1">
              <a:spcBef>
                <a:spcPct val="0"/>
              </a:spcBef>
              <a:buClrTx/>
              <a:buSzTx/>
              <a:buFontTx/>
              <a:buNone/>
            </a:pPr>
            <a:endParaRPr lang="en-US" altLang="zh-CN" sz="2000" b="1">
              <a:solidFill>
                <a:srgbClr val="9900CC"/>
              </a:solidFill>
              <a:latin typeface="Times New Roman" panose="02020603050405020304" pitchFamily="18" charset="0"/>
              <a:ea typeface="楷体" panose="02010609060101010101" pitchFamily="49" charset="-122"/>
              <a:cs typeface="Arial" panose="020B0604020202020204" pitchFamily="34" charset="0"/>
            </a:endParaRPr>
          </a:p>
          <a:p>
            <a:pPr eaLnBrk="1" hangingPunct="1">
              <a:spcBef>
                <a:spcPct val="0"/>
              </a:spcBef>
              <a:buClrTx/>
              <a:buSzTx/>
              <a:buFontTx/>
              <a:buNone/>
            </a:pPr>
            <a:r>
              <a:rPr lang="zh-CN" altLang="en-US" sz="2000">
                <a:latin typeface="Arial" panose="020B0604020202020204" pitchFamily="34" charset="0"/>
                <a:ea typeface="楷体" panose="02010609060101010101" pitchFamily="49" charset="-122"/>
                <a:cs typeface="Arial" panose="020B0604020202020204" pitchFamily="34" charset="0"/>
              </a:rPr>
              <a:t>特点</a:t>
            </a:r>
          </a:p>
          <a:p>
            <a:pPr eaLnBrk="1" hangingPunct="1">
              <a:spcBef>
                <a:spcPct val="0"/>
              </a:spcBef>
              <a:buClrTx/>
              <a:buSzTx/>
              <a:buFontTx/>
              <a:buNone/>
            </a:pPr>
            <a:r>
              <a:rPr lang="zh-CN" altLang="en-US" sz="2000">
                <a:latin typeface="Arial" panose="020B0604020202020204" pitchFamily="34" charset="0"/>
                <a:ea typeface="楷体" panose="02010609060101010101" pitchFamily="49" charset="-122"/>
                <a:cs typeface="Arial" panose="020B0604020202020204" pitchFamily="34" charset="0"/>
              </a:rPr>
              <a:t>聚合物纯度高（无残留引发剂）；</a:t>
            </a:r>
          </a:p>
          <a:p>
            <a:pPr eaLnBrk="1" hangingPunct="1">
              <a:spcBef>
                <a:spcPct val="0"/>
              </a:spcBef>
              <a:buClrTx/>
              <a:buSzTx/>
              <a:buFontTx/>
              <a:buNone/>
            </a:pPr>
            <a:r>
              <a:rPr lang="zh-CN" altLang="en-US" sz="2000">
                <a:latin typeface="Arial" panose="020B0604020202020204" pitchFamily="34" charset="0"/>
                <a:ea typeface="楷体" panose="02010609060101010101" pitchFamily="49" charset="-122"/>
                <a:cs typeface="Arial" panose="020B0604020202020204" pitchFamily="34" charset="0"/>
              </a:rPr>
              <a:t>速率不高；</a:t>
            </a:r>
          </a:p>
          <a:p>
            <a:pPr eaLnBrk="1" hangingPunct="1">
              <a:spcBef>
                <a:spcPct val="0"/>
              </a:spcBef>
              <a:buClrTx/>
              <a:buSzTx/>
              <a:buFontTx/>
              <a:buNone/>
            </a:pPr>
            <a:r>
              <a:rPr lang="zh-CN" altLang="en-US" sz="2000">
                <a:latin typeface="Arial" panose="020B0604020202020204" pitchFamily="34" charset="0"/>
                <a:ea typeface="楷体" panose="02010609060101010101" pitchFamily="49" charset="-122"/>
                <a:cs typeface="Arial" panose="020B0604020202020204" pitchFamily="34" charset="0"/>
              </a:rPr>
              <a:t>可热引发单体（</a:t>
            </a:r>
            <a:r>
              <a:rPr lang="en-US" altLang="zh-CN" sz="2000">
                <a:latin typeface="Arial" panose="020B0604020202020204" pitchFamily="34" charset="0"/>
                <a:ea typeface="楷体" panose="02010609060101010101" pitchFamily="49" charset="-122"/>
                <a:cs typeface="Arial" panose="020B0604020202020204" pitchFamily="34" charset="0"/>
              </a:rPr>
              <a:t>St, MMA </a:t>
            </a:r>
            <a:r>
              <a:rPr lang="zh-CN" altLang="en-US" sz="2000">
                <a:latin typeface="Arial" panose="020B0604020202020204" pitchFamily="34" charset="0"/>
                <a:ea typeface="楷体" panose="02010609060101010101" pitchFamily="49" charset="-122"/>
                <a:cs typeface="Arial" panose="020B0604020202020204" pitchFamily="34" charset="0"/>
              </a:rPr>
              <a:t>等）的贮存：</a:t>
            </a:r>
          </a:p>
          <a:p>
            <a:pPr eaLnBrk="1" hangingPunct="1">
              <a:spcBef>
                <a:spcPct val="0"/>
              </a:spcBef>
              <a:buClrTx/>
              <a:buSzTx/>
              <a:buFontTx/>
              <a:buNone/>
            </a:pPr>
            <a:r>
              <a:rPr lang="zh-CN" altLang="en-US" sz="2000">
                <a:latin typeface="Arial" panose="020B0604020202020204" pitchFamily="34" charset="0"/>
                <a:ea typeface="楷体" panose="02010609060101010101" pitchFamily="49" charset="-122"/>
                <a:cs typeface="Arial" panose="020B0604020202020204" pitchFamily="34" charset="0"/>
              </a:rPr>
              <a:t>       </a:t>
            </a:r>
            <a:endParaRPr lang="en-US" altLang="zh-CN" sz="2000">
              <a:latin typeface="Arial" panose="020B0604020202020204" pitchFamily="34" charset="0"/>
              <a:ea typeface="楷体" panose="02010609060101010101" pitchFamily="49" charset="-122"/>
              <a:cs typeface="Arial" panose="020B0604020202020204" pitchFamily="34" charset="0"/>
            </a:endParaRPr>
          </a:p>
          <a:p>
            <a:pPr eaLnBrk="1" hangingPunct="1">
              <a:spcBef>
                <a:spcPct val="0"/>
              </a:spcBef>
              <a:buClrTx/>
              <a:buSzTx/>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需加阻聚剂防止苯乙烯在室温贮存期间发生自聚。</a:t>
            </a:r>
          </a:p>
          <a:p>
            <a:pPr eaLnBrk="1" hangingPunct="1">
              <a:spcBef>
                <a:spcPct val="0"/>
              </a:spcBef>
              <a:buClrTx/>
              <a:buSzTx/>
              <a:buFontTx/>
              <a:buNone/>
            </a:pPr>
            <a:endPar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spcBef>
                <a:spcPct val="0"/>
              </a:spcBef>
              <a:buClrTx/>
              <a:buSzTx/>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热引发的工业应用：主要是苯乙烯的本体聚合（制备高纯度聚合物）</a:t>
            </a:r>
          </a:p>
          <a:p>
            <a:pPr eaLnBrk="1" hangingPunct="1">
              <a:spcBef>
                <a:spcPct val="0"/>
              </a:spcBef>
              <a:buClrTx/>
              <a:buSzTx/>
              <a:buFontTx/>
              <a:buNone/>
            </a:pPr>
            <a:endParaRPr lang="en-US" altLang="zh-CN">
              <a:latin typeface="Times New Roman" panose="02020603050405020304" pitchFamily="18" charset="0"/>
              <a:ea typeface="楷体" panose="02010609060101010101" pitchFamily="49" charset="-122"/>
              <a:cs typeface="Arial" panose="020B0604020202020204" pitchFamily="34" charset="0"/>
            </a:endParaRPr>
          </a:p>
        </p:txBody>
      </p:sp>
      <p:pic>
        <p:nvPicPr>
          <p:cNvPr id="78851" name="Picture 5" descr="RP10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6652" y="1316096"/>
            <a:ext cx="5616428" cy="187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2" name="Picture 6" descr="RP107-1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84247"/>
            <a:ext cx="2025597" cy="103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Text Box 7"/>
          <p:cNvSpPr txBox="1">
            <a:spLocks noChangeArrowheads="1"/>
          </p:cNvSpPr>
          <p:nvPr/>
        </p:nvSpPr>
        <p:spPr bwMode="auto">
          <a:xfrm>
            <a:off x="1632068" y="458868"/>
            <a:ext cx="4055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2000" b="1">
                <a:latin typeface="楷体" panose="02010609060101010101" pitchFamily="49" charset="-122"/>
                <a:ea typeface="楷体" panose="02010609060101010101" pitchFamily="49" charset="-122"/>
              </a:rPr>
              <a:t>另一种可能存在的双分子引发机理</a:t>
            </a:r>
          </a:p>
        </p:txBody>
      </p:sp>
      <p:sp>
        <p:nvSpPr>
          <p:cNvPr id="7885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DB78B238-3200-4051-907B-7F78162449AC}" type="slidenum">
              <a:rPr lang="en-US" altLang="zh-CN" sz="1400">
                <a:solidFill>
                  <a:srgbClr val="FFFFFF"/>
                </a:solidFill>
                <a:latin typeface="Times New Roman" panose="02020603050405020304" pitchFamily="18" charset="0"/>
              </a:rPr>
              <a:pPr>
                <a:spcBef>
                  <a:spcPct val="0"/>
                </a:spcBef>
                <a:buClrTx/>
                <a:buSzTx/>
                <a:buFontTx/>
                <a:buNone/>
              </a:pPr>
              <a:t>26</a:t>
            </a:fld>
            <a:endParaRPr lang="en-US" altLang="zh-CN" sz="1400">
              <a:solidFill>
                <a:srgbClr val="FFFFFF"/>
              </a:solidFill>
              <a:latin typeface="Times New Roman" panose="02020603050405020304" pitchFamily="18" charset="0"/>
            </a:endParaRPr>
          </a:p>
        </p:txBody>
      </p:sp>
    </p:spTree>
    <p:extLst>
      <p:ext uri="{BB962C8B-B14F-4D97-AF65-F5344CB8AC3E}">
        <p14:creationId xmlns:p14="http://schemas.microsoft.com/office/powerpoint/2010/main" val="1051607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8" descr="BHT inhibition"/>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063858" y="1700259"/>
            <a:ext cx="8137311" cy="341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90FB0FDA-7BE7-464B-B8D5-A84D65E75758}"/>
              </a:ext>
            </a:extLst>
          </p:cNvPr>
          <p:cNvSpPr txBox="1">
            <a:spLocks noChangeArrowheads="1"/>
          </p:cNvSpPr>
          <p:nvPr/>
        </p:nvSpPr>
        <p:spPr>
          <a:xfrm>
            <a:off x="2209902" y="609675"/>
            <a:ext cx="7772196" cy="587359"/>
          </a:xfrm>
          <a:prstGeom prst="rect">
            <a:avLst/>
          </a:prstGeom>
        </p:spPr>
        <p:txBody>
          <a:bodyPr anchor="b">
            <a:normAutofit/>
          </a:bodyPr>
          <a:lstStyle/>
          <a:p>
            <a:pPr eaLnBrk="1" hangingPunct="1">
              <a:defRPr/>
            </a:pPr>
            <a:r>
              <a:rPr lang="zh-CN" altLang="en-US" sz="1633" b="1" cap="small" dirty="0">
                <a:solidFill>
                  <a:srgbClr val="FF0000"/>
                </a:solidFill>
                <a:latin typeface="+mj-lt"/>
                <a:ea typeface="+mj-ea"/>
                <a:cs typeface="+mj-cs"/>
              </a:rPr>
              <a:t>苯乙烯等易热引发自聚的单体常添加酚类阻聚剂</a:t>
            </a:r>
          </a:p>
        </p:txBody>
      </p:sp>
      <p:sp>
        <p:nvSpPr>
          <p:cNvPr id="79876" name="灯片编号占位符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4618BDBB-919E-4790-89C5-29DF6670F84F}" type="slidenum">
              <a:rPr lang="en-US" altLang="zh-CN" sz="1400">
                <a:solidFill>
                  <a:srgbClr val="FFFFFF"/>
                </a:solidFill>
                <a:latin typeface="Times New Roman" panose="02020603050405020304" pitchFamily="18" charset="0"/>
              </a:rPr>
              <a:pPr>
                <a:spcBef>
                  <a:spcPct val="0"/>
                </a:spcBef>
                <a:buClrTx/>
                <a:buSzTx/>
                <a:buFontTx/>
                <a:buNone/>
              </a:pPr>
              <a:t>27</a:t>
            </a:fld>
            <a:endParaRPr lang="en-US" altLang="zh-CN" sz="1400">
              <a:solidFill>
                <a:srgbClr val="FFFFFF"/>
              </a:solidFill>
              <a:latin typeface="Times New Roman" panose="02020603050405020304" pitchFamily="18" charset="0"/>
            </a:endParaRPr>
          </a:p>
        </p:txBody>
      </p:sp>
      <p:pic>
        <p:nvPicPr>
          <p:cNvPr id="79877" name="图片 4" descr="BHT radical.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3384552"/>
            <a:ext cx="2119257" cy="201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8" name="TextBox 5"/>
          <p:cNvSpPr txBox="1">
            <a:spLocks noChangeArrowheads="1"/>
          </p:cNvSpPr>
          <p:nvPr/>
        </p:nvSpPr>
        <p:spPr bwMode="auto">
          <a:xfrm>
            <a:off x="2309916" y="3929051"/>
            <a:ext cx="31486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BHT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的另一用途</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抗氧化剂</a:t>
            </a:r>
          </a:p>
        </p:txBody>
      </p:sp>
    </p:spTree>
    <p:extLst>
      <p:ext uri="{BB962C8B-B14F-4D97-AF65-F5344CB8AC3E}">
        <p14:creationId xmlns:p14="http://schemas.microsoft.com/office/powerpoint/2010/main" val="862775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1B953AFD-87A8-48D0-9472-E524938FB195}"/>
              </a:ext>
            </a:extLst>
          </p:cNvPr>
          <p:cNvSpPr>
            <a:spLocks noGrp="1"/>
          </p:cNvSpPr>
          <p:nvPr>
            <p:ph sz="quarter" idx="1"/>
          </p:nvPr>
        </p:nvSpPr>
        <p:spPr>
          <a:xfrm>
            <a:off x="1981311" y="476329"/>
            <a:ext cx="8507189" cy="6121239"/>
          </a:xfrm>
        </p:spPr>
        <p:txBody>
          <a:bodyPr/>
          <a:lstStyle/>
          <a:p>
            <a:pPr marL="0" indent="0">
              <a:spcBef>
                <a:spcPts val="0"/>
              </a:spcBef>
              <a:spcAft>
                <a:spcPts val="600"/>
              </a:spcAft>
              <a:buNone/>
              <a:defRPr/>
            </a:pPr>
            <a:r>
              <a:rPr lang="en-US" altLang="zh-CN" b="1" dirty="0">
                <a:latin typeface="楷体" panose="02010609060101010101" pitchFamily="49" charset="-122"/>
                <a:ea typeface="楷体" panose="02010609060101010101" pitchFamily="49" charset="-122"/>
              </a:rPr>
              <a:t>3. </a:t>
            </a:r>
            <a:r>
              <a:rPr lang="zh-CN" altLang="en-US" b="1" dirty="0">
                <a:latin typeface="楷体" panose="02010609060101010101" pitchFamily="49" charset="-122"/>
                <a:ea typeface="楷体" panose="02010609060101010101" pitchFamily="49" charset="-122"/>
              </a:rPr>
              <a:t>光引发</a:t>
            </a:r>
          </a:p>
          <a:p>
            <a:pPr marL="0" indent="0">
              <a:spcBef>
                <a:spcPts val="0"/>
              </a:spcBef>
              <a:spcAft>
                <a:spcPts val="600"/>
              </a:spcAft>
              <a:buNone/>
              <a:defRPr/>
            </a:pPr>
            <a:r>
              <a:rPr lang="zh-CN" altLang="en-US" sz="2000" b="1" dirty="0">
                <a:solidFill>
                  <a:srgbClr val="0000CC"/>
                </a:solidFill>
                <a:latin typeface="楷体" panose="02010609060101010101" pitchFamily="49" charset="-122"/>
                <a:ea typeface="楷体" panose="02010609060101010101" pitchFamily="49" charset="-122"/>
              </a:rPr>
              <a:t>原理：单体或光敏剂吸收光子（紫外或可见区）后发生均裂，产生自由基， 引发聚合。</a:t>
            </a:r>
          </a:p>
          <a:p>
            <a:pPr marL="0" indent="0">
              <a:spcBef>
                <a:spcPts val="0"/>
              </a:spcBef>
              <a:spcAft>
                <a:spcPts val="600"/>
              </a:spcAft>
              <a:buNone/>
              <a:defRPr/>
            </a:pPr>
            <a:r>
              <a:rPr lang="en-US" altLang="zh-CN" sz="2000" b="1" dirty="0">
                <a:latin typeface="楷体" panose="02010609060101010101" pitchFamily="49" charset="-122"/>
                <a:ea typeface="楷体" panose="02010609060101010101" pitchFamily="49" charset="-122"/>
              </a:rPr>
              <a:t>1</a:t>
            </a:r>
            <a:r>
              <a:rPr lang="zh-CN" altLang="en-US" sz="2000" b="1" dirty="0">
                <a:latin typeface="楷体" panose="02010609060101010101" pitchFamily="49" charset="-122"/>
                <a:ea typeface="楷体" panose="02010609060101010101" pitchFamily="49" charset="-122"/>
              </a:rPr>
              <a:t>）直接光引发    （适用于少数单体）</a:t>
            </a:r>
          </a:p>
          <a:p>
            <a:pPr marL="0" indent="0">
              <a:spcBef>
                <a:spcPts val="0"/>
              </a:spcBef>
              <a:spcAft>
                <a:spcPts val="600"/>
              </a:spcAft>
              <a:buNone/>
              <a:defRPr/>
            </a:pPr>
            <a:endParaRPr lang="zh-CN" altLang="en-US" sz="2000" b="1" dirty="0">
              <a:latin typeface="楷体" panose="02010609060101010101" pitchFamily="49" charset="-122"/>
              <a:ea typeface="楷体" panose="02010609060101010101" pitchFamily="49" charset="-122"/>
            </a:endParaRPr>
          </a:p>
          <a:p>
            <a:pPr marL="0" indent="0">
              <a:spcBef>
                <a:spcPts val="0"/>
              </a:spcBef>
              <a:spcAft>
                <a:spcPts val="600"/>
              </a:spcAft>
              <a:buNone/>
              <a:defRPr/>
            </a:pPr>
            <a:endParaRPr lang="zh-CN" altLang="en-US" sz="2000" b="1" dirty="0">
              <a:latin typeface="楷体" panose="02010609060101010101" pitchFamily="49" charset="-122"/>
              <a:ea typeface="楷体" panose="02010609060101010101" pitchFamily="49" charset="-122"/>
            </a:endParaRPr>
          </a:p>
          <a:p>
            <a:pPr marL="0" indent="0">
              <a:spcBef>
                <a:spcPts val="0"/>
              </a:spcBef>
              <a:spcAft>
                <a:spcPts val="600"/>
              </a:spcAft>
              <a:buNone/>
              <a:defRPr/>
            </a:pPr>
            <a:endParaRPr lang="zh-CN" altLang="en-US" sz="2000" b="1" dirty="0">
              <a:latin typeface="楷体" panose="02010609060101010101" pitchFamily="49" charset="-122"/>
              <a:ea typeface="楷体" panose="02010609060101010101" pitchFamily="49" charset="-122"/>
            </a:endParaRPr>
          </a:p>
          <a:p>
            <a:pPr marL="0" indent="0">
              <a:spcBef>
                <a:spcPts val="0"/>
              </a:spcBef>
              <a:spcAft>
                <a:spcPts val="600"/>
              </a:spcAft>
              <a:buNone/>
              <a:defRPr/>
            </a:pPr>
            <a:endParaRPr lang="zh-CN" altLang="en-US" sz="2000" b="1" dirty="0">
              <a:latin typeface="楷体" panose="02010609060101010101" pitchFamily="49" charset="-122"/>
              <a:ea typeface="楷体" panose="02010609060101010101" pitchFamily="49" charset="-122"/>
            </a:endParaRPr>
          </a:p>
          <a:p>
            <a:pPr marL="0" indent="0">
              <a:spcBef>
                <a:spcPts val="0"/>
              </a:spcBef>
              <a:spcAft>
                <a:spcPts val="600"/>
              </a:spcAft>
              <a:buNone/>
              <a:defRPr/>
            </a:pPr>
            <a:endParaRPr lang="zh-CN" altLang="en-US" sz="1000" b="1" dirty="0">
              <a:solidFill>
                <a:srgbClr val="9900CC"/>
              </a:solidFill>
              <a:latin typeface="楷体" panose="02010609060101010101" pitchFamily="49" charset="-122"/>
              <a:ea typeface="楷体" panose="02010609060101010101" pitchFamily="49" charset="-122"/>
            </a:endParaRPr>
          </a:p>
          <a:p>
            <a:pPr marL="0" indent="0">
              <a:spcAft>
                <a:spcPts val="600"/>
              </a:spcAft>
              <a:buNone/>
              <a:defRPr/>
            </a:pPr>
            <a:r>
              <a:rPr lang="zh-CN" altLang="en-US" sz="2000" dirty="0">
                <a:solidFill>
                  <a:srgbClr val="9900CC"/>
                </a:solidFill>
                <a:latin typeface="Arial" panose="020B0604020202020204" pitchFamily="34" charset="0"/>
                <a:ea typeface="楷体" panose="02010609060101010101" pitchFamily="49" charset="-122"/>
                <a:cs typeface="Arial" panose="020B0604020202020204" pitchFamily="34" charset="0"/>
              </a:rPr>
              <a:t>引发速率：  </a:t>
            </a:r>
            <a:r>
              <a:rPr lang="en-US" altLang="zh-CN" sz="2000" i="1" dirty="0">
                <a:solidFill>
                  <a:srgbClr val="9900CC"/>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solidFill>
                  <a:srgbClr val="9900CC"/>
                </a:solidFill>
                <a:latin typeface="Arial" panose="020B0604020202020204" pitchFamily="34" charset="0"/>
                <a:ea typeface="楷体" panose="02010609060101010101" pitchFamily="49" charset="-122"/>
                <a:cs typeface="Arial" panose="020B0604020202020204" pitchFamily="34" charset="0"/>
              </a:rPr>
              <a:t>i</a:t>
            </a:r>
            <a:r>
              <a:rPr lang="en-US" altLang="zh-CN" sz="2000" dirty="0">
                <a:solidFill>
                  <a:srgbClr val="9900CC"/>
                </a:solidFill>
                <a:latin typeface="Arial" panose="020B0604020202020204" pitchFamily="34" charset="0"/>
                <a:ea typeface="楷体" panose="02010609060101010101" pitchFamily="49" charset="-122"/>
                <a:cs typeface="Arial" panose="020B0604020202020204" pitchFamily="34" charset="0"/>
              </a:rPr>
              <a:t> = 2 </a:t>
            </a:r>
            <a:r>
              <a:rPr lang="en-US" altLang="zh-CN" sz="2000" dirty="0">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000" i="1" dirty="0" err="1">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I</a:t>
            </a:r>
            <a:r>
              <a:rPr lang="en-US" altLang="zh-CN" sz="2000" baseline="-25000" dirty="0" err="1">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a:t>
            </a:r>
            <a:r>
              <a:rPr lang="en-US" altLang="zh-CN" sz="2000" dirty="0">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2   </a:t>
            </a:r>
            <a:r>
              <a:rPr lang="en-US" altLang="zh-CN" sz="2000" i="1" dirty="0">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I</a:t>
            </a:r>
            <a:r>
              <a:rPr lang="en-US" altLang="zh-CN" sz="2000" baseline="-25000" dirty="0">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o</a:t>
            </a:r>
            <a:r>
              <a:rPr lang="en-US" altLang="zh-CN" sz="2000" dirty="0">
                <a:solidFill>
                  <a:srgbClr val="9900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[M]</a:t>
            </a:r>
          </a:p>
          <a:p>
            <a:pPr>
              <a:spcAft>
                <a:spcPts val="600"/>
              </a:spcAft>
              <a:buFont typeface="Wingdings" panose="05000000000000000000" pitchFamily="2" charset="2"/>
              <a:buChar char="p"/>
              <a:defRPr/>
            </a:pP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  </a:t>
            </a:r>
            <a:r>
              <a:rPr lang="zh-CN" altLang="en-US"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引发效率</a:t>
            </a: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量子产率，为每个光子引起反应的次数，一般为</a:t>
            </a: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0.01-0.1)</a:t>
            </a:r>
            <a:r>
              <a:rPr lang="zh-CN" altLang="en-US"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p>
          <a:p>
            <a:pPr>
              <a:spcAft>
                <a:spcPts val="600"/>
              </a:spcAft>
              <a:buFont typeface="Wingdings" panose="05000000000000000000" pitchFamily="2" charset="2"/>
              <a:buChar char="p"/>
              <a:defRPr/>
            </a:pPr>
            <a:r>
              <a:rPr lang="en-US" altLang="zh-CN" sz="1800" b="1" i="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1800" b="1" i="1" dirty="0" err="1">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I</a:t>
            </a:r>
            <a:r>
              <a:rPr lang="en-US" altLang="zh-CN" sz="2000" b="1" baseline="-25000" dirty="0" err="1">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a:t>
            </a: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a:t>
            </a:r>
            <a:r>
              <a:rPr lang="zh-CN"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吸收光强度</a:t>
            </a: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与入射光强成正比， </a:t>
            </a:r>
            <a:r>
              <a:rPr lang="zh-CN" altLang="en-US" sz="20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p>
          <a:p>
            <a:pPr>
              <a:spcAft>
                <a:spcPts val="600"/>
              </a:spcAft>
              <a:buFont typeface="Wingdings" panose="05000000000000000000" pitchFamily="2" charset="2"/>
              <a:buChar char="p"/>
              <a:defRPr/>
            </a:pPr>
            <a:r>
              <a:rPr lang="zh-CN" altLang="en-US"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系数 </a:t>
            </a:r>
            <a:r>
              <a:rPr lang="en-US" altLang="zh-CN"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2 -- </a:t>
            </a:r>
            <a:r>
              <a:rPr lang="zh-CN" altLang="en-US" sz="1800"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表示一个光子产生两个自由基。</a:t>
            </a:r>
          </a:p>
          <a:p>
            <a:pPr marL="0" indent="0">
              <a:spcBef>
                <a:spcPts val="0"/>
              </a:spcBef>
              <a:spcAft>
                <a:spcPts val="600"/>
              </a:spcAft>
              <a:defRPr/>
            </a:pPr>
            <a:endParaRPr lang="zh-CN" altLang="en-US" sz="800" b="1" dirty="0">
              <a:latin typeface="楷体" panose="02010609060101010101" pitchFamily="49" charset="-122"/>
              <a:ea typeface="楷体" panose="02010609060101010101" pitchFamily="49" charset="-122"/>
              <a:sym typeface="Symbol" panose="05050102010706020507" pitchFamily="18" charset="2"/>
            </a:endParaRPr>
          </a:p>
          <a:p>
            <a:pPr marL="0" indent="0">
              <a:spcBef>
                <a:spcPts val="0"/>
              </a:spcBef>
              <a:spcAft>
                <a:spcPts val="600"/>
              </a:spcAft>
              <a:buNone/>
              <a:defRPr/>
            </a:pPr>
            <a:r>
              <a:rPr lang="zh-CN" altLang="en-US" sz="2000" b="1" dirty="0">
                <a:latin typeface="楷体" panose="02010609060101010101" pitchFamily="49" charset="-122"/>
                <a:ea typeface="楷体" panose="02010609060101010101" pitchFamily="49" charset="-122"/>
                <a:sym typeface="Symbol" panose="05050102010706020507" pitchFamily="18" charset="2"/>
              </a:rPr>
              <a:t>   </a:t>
            </a:r>
            <a:r>
              <a:rPr lang="zh-CN" altLang="en-US" sz="2000" b="1" dirty="0">
                <a:solidFill>
                  <a:srgbClr val="FF0000"/>
                </a:solidFill>
                <a:latin typeface="楷体" panose="02010609060101010101" pitchFamily="49" charset="-122"/>
                <a:ea typeface="楷体" panose="02010609060101010101" pitchFamily="49" charset="-122"/>
                <a:sym typeface="Symbol" panose="05050102010706020507" pitchFamily="18" charset="2"/>
              </a:rPr>
              <a:t>可直接光引发聚合的单体：丙烯酰胺，丙烯腈，丙烯酸， 丙烯酸酯等</a:t>
            </a:r>
            <a:endParaRPr lang="zh-CN" altLang="en-US" sz="2000" b="1" dirty="0">
              <a:solidFill>
                <a:srgbClr val="008080"/>
              </a:solidFill>
              <a:latin typeface="楷体" panose="02010609060101010101" pitchFamily="49" charset="-122"/>
              <a:ea typeface="楷体" panose="02010609060101010101" pitchFamily="49" charset="-122"/>
              <a:sym typeface="Symbol" panose="05050102010706020507" pitchFamily="18" charset="2"/>
            </a:endParaRPr>
          </a:p>
        </p:txBody>
      </p:sp>
      <p:pic>
        <p:nvPicPr>
          <p:cNvPr id="8089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436" y="1989178"/>
            <a:ext cx="5972018" cy="1752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灯片编号占位符 3"/>
          <p:cNvSpPr>
            <a:spLocks noGrp="1"/>
          </p:cNvSpPr>
          <p:nvPr>
            <p:ph type="sldNum" sz="quarter" idx="11"/>
          </p:nvPr>
        </p:nvSpPr>
        <p:spPr bwMode="auto">
          <a:xfrm>
            <a:off x="9609048" y="6121332"/>
            <a:ext cx="609584" cy="52068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3A66DD27-DDD4-4908-B313-8F316471177F}" type="slidenum">
              <a:rPr lang="en-US" altLang="zh-CN" sz="1400">
                <a:latin typeface="Times New Roman" panose="02020603050405020304" pitchFamily="18" charset="0"/>
              </a:rPr>
              <a:pPr>
                <a:spcBef>
                  <a:spcPct val="0"/>
                </a:spcBef>
                <a:buClrTx/>
                <a:buSzTx/>
                <a:buFontTx/>
                <a:buNone/>
              </a:pPr>
              <a:t>28</a:t>
            </a:fld>
            <a:endParaRPr lang="en-US" altLang="zh-CN" sz="1400">
              <a:latin typeface="Times New Roman" panose="02020603050405020304" pitchFamily="18" charset="0"/>
            </a:endParaRPr>
          </a:p>
        </p:txBody>
      </p:sp>
    </p:spTree>
    <p:extLst>
      <p:ext uri="{BB962C8B-B14F-4D97-AF65-F5344CB8AC3E}">
        <p14:creationId xmlns:p14="http://schemas.microsoft.com/office/powerpoint/2010/main" val="721757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p:cNvSpPr>
          <p:nvPr>
            <p:ph sz="quarter" idx="1"/>
          </p:nvPr>
        </p:nvSpPr>
        <p:spPr>
          <a:xfrm>
            <a:off x="1847963" y="333458"/>
            <a:ext cx="8569100" cy="6191088"/>
          </a:xfrm>
        </p:spPr>
        <p:txBody>
          <a:bodyPr/>
          <a:lstStyle/>
          <a:p>
            <a:pPr>
              <a:spcAft>
                <a:spcPts val="600"/>
              </a:spcAft>
              <a:buNone/>
            </a:pPr>
            <a:r>
              <a:rPr lang="en-US" altLang="zh-CN" sz="2000">
                <a:latin typeface="Arial" panose="020B0604020202020204" pitchFamily="34" charset="0"/>
                <a:ea typeface="楷体" panose="02010609060101010101" pitchFamily="49" charset="-122"/>
                <a:cs typeface="Arial" panose="020B0604020202020204" pitchFamily="34" charset="0"/>
              </a:rPr>
              <a:t>2</a:t>
            </a:r>
            <a:r>
              <a:rPr lang="zh-CN" altLang="en-US" sz="2000">
                <a:latin typeface="Arial" panose="020B0604020202020204" pitchFamily="34" charset="0"/>
                <a:ea typeface="楷体" panose="02010609060101010101" pitchFamily="49" charset="-122"/>
                <a:cs typeface="Arial" panose="020B0604020202020204" pitchFamily="34" charset="0"/>
              </a:rPr>
              <a:t>）</a:t>
            </a:r>
            <a:r>
              <a:rPr lang="zh-CN" altLang="en-US" sz="2000" b="1">
                <a:latin typeface="Arial" panose="020B0604020202020204" pitchFamily="34" charset="0"/>
                <a:ea typeface="楷体" panose="02010609060101010101" pitchFamily="49" charset="-122"/>
                <a:cs typeface="Arial" panose="020B0604020202020204" pitchFamily="34" charset="0"/>
              </a:rPr>
              <a:t>光敏聚合</a:t>
            </a:r>
            <a:r>
              <a:rPr lang="zh-CN" altLang="en-US" sz="2000">
                <a:latin typeface="Arial" panose="020B0604020202020204" pitchFamily="34" charset="0"/>
                <a:ea typeface="楷体" panose="02010609060101010101" pitchFamily="49" charset="-122"/>
                <a:cs typeface="Arial" panose="020B0604020202020204" pitchFamily="34" charset="0"/>
              </a:rPr>
              <a:t>     （适用于各种单体）</a:t>
            </a:r>
          </a:p>
          <a:p>
            <a:pPr>
              <a:spcAft>
                <a:spcPts val="600"/>
              </a:spcAft>
              <a:buNone/>
            </a:pPr>
            <a:r>
              <a:rPr lang="zh-CN" altLang="en-US" sz="2000" b="1">
                <a:solidFill>
                  <a:srgbClr val="CC0066"/>
                </a:solidFill>
                <a:latin typeface="Arial" panose="020B0604020202020204" pitchFamily="34" charset="0"/>
                <a:ea typeface="楷体" panose="02010609060101010101" pitchFamily="49" charset="-122"/>
                <a:cs typeface="Arial" panose="020B0604020202020204" pitchFamily="34" charset="0"/>
              </a:rPr>
              <a:t>直接光敏引发</a:t>
            </a:r>
            <a:r>
              <a:rPr lang="zh-CN" altLang="en-US" sz="2000" b="1">
                <a:latin typeface="Arial" panose="020B0604020202020204" pitchFamily="34" charset="0"/>
                <a:ea typeface="楷体" panose="02010609060101010101" pitchFamily="49" charset="-122"/>
                <a:cs typeface="Arial" panose="020B0604020202020204" pitchFamily="34" charset="0"/>
              </a:rPr>
              <a:t>：</a:t>
            </a:r>
          </a:p>
          <a:p>
            <a:pPr>
              <a:spcAft>
                <a:spcPts val="600"/>
              </a:spcAft>
              <a:buNone/>
            </a:pPr>
            <a:r>
              <a:rPr lang="zh-CN" altLang="en-US" sz="2000" b="1">
                <a:latin typeface="Arial" panose="020B0604020202020204" pitchFamily="34" charset="0"/>
                <a:ea typeface="楷体" panose="02010609060101010101" pitchFamily="49" charset="-122"/>
                <a:cs typeface="Arial" panose="020B0604020202020204" pitchFamily="34" charset="0"/>
              </a:rPr>
              <a:t>        光敏引发剂（</a:t>
            </a:r>
            <a:r>
              <a:rPr lang="en-US" altLang="zh-CN" sz="2000" b="1">
                <a:latin typeface="Arial" panose="020B0604020202020204" pitchFamily="34" charset="0"/>
                <a:ea typeface="楷体" panose="02010609060101010101" pitchFamily="49" charset="-122"/>
                <a:cs typeface="Arial" panose="020B0604020202020204" pitchFamily="34" charset="0"/>
              </a:rPr>
              <a:t>S</a:t>
            </a:r>
            <a:r>
              <a:rPr lang="zh-CN" altLang="en-US" sz="2000" b="1">
                <a:latin typeface="Arial" panose="020B0604020202020204" pitchFamily="34" charset="0"/>
                <a:ea typeface="楷体" panose="02010609060101010101" pitchFamily="49" charset="-122"/>
                <a:cs typeface="Arial" panose="020B0604020202020204" pitchFamily="34" charset="0"/>
              </a:rPr>
              <a:t>）吸收光子产生自由基，引发聚合</a:t>
            </a:r>
          </a:p>
          <a:p>
            <a:pPr eaLnBrk="1" hangingPunct="1">
              <a:buFontTx/>
              <a:buNone/>
            </a:pPr>
            <a:endParaRPr lang="zh-CN" altLang="en-US" sz="2000" b="1">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zh-CN" altLang="en-US" sz="2000" b="1">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r>
              <a:rPr lang="zh-CN" altLang="en-US" sz="2000" b="1">
                <a:latin typeface="Arial" panose="020B0604020202020204" pitchFamily="34" charset="0"/>
                <a:ea typeface="楷体" panose="02010609060101010101" pitchFamily="49" charset="-122"/>
                <a:cs typeface="Arial" panose="020B0604020202020204" pitchFamily="34" charset="0"/>
              </a:rPr>
              <a:t>特点：</a:t>
            </a:r>
          </a:p>
          <a:p>
            <a:pPr eaLnBrk="1" hangingPunct="1">
              <a:buFont typeface="Wingdings" panose="05000000000000000000" pitchFamily="2" charset="2"/>
              <a:buChar char="u"/>
            </a:pPr>
            <a:r>
              <a:rPr lang="zh-CN" altLang="en-US" sz="2000" b="1">
                <a:latin typeface="Arial" panose="020B0604020202020204" pitchFamily="34" charset="0"/>
                <a:ea typeface="楷体" panose="02010609060101010101" pitchFamily="49" charset="-122"/>
                <a:cs typeface="Arial" panose="020B0604020202020204" pitchFamily="34" charset="0"/>
              </a:rPr>
              <a:t>引发效率高于单体直接引发；</a:t>
            </a:r>
          </a:p>
          <a:p>
            <a:pPr eaLnBrk="1" hangingPunct="1">
              <a:buFont typeface="Wingdings" panose="05000000000000000000" pitchFamily="2" charset="2"/>
              <a:buChar char="u"/>
            </a:pPr>
            <a:r>
              <a:rPr lang="zh-CN" altLang="en-US" sz="2000" b="1">
                <a:latin typeface="Arial" panose="020B0604020202020204" pitchFamily="34" charset="0"/>
                <a:ea typeface="楷体" panose="02010609060101010101" pitchFamily="49" charset="-122"/>
                <a:cs typeface="Arial" panose="020B0604020202020204" pitchFamily="34" charset="0"/>
              </a:rPr>
              <a:t>可使用波长较长的光源（可见光）；</a:t>
            </a:r>
          </a:p>
          <a:p>
            <a:pPr eaLnBrk="1" hangingPunct="1"/>
            <a:endParaRPr lang="zh-CN" altLang="en-US" sz="2000" b="1">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r>
              <a:rPr lang="zh-CN" altLang="en-US" sz="1800" b="1">
                <a:latin typeface="Arial" panose="020B0604020202020204" pitchFamily="34" charset="0"/>
                <a:ea typeface="楷体" panose="02010609060101010101" pitchFamily="49" charset="-122"/>
                <a:cs typeface="Arial" panose="020B0604020202020204" pitchFamily="34" charset="0"/>
              </a:rPr>
              <a:t>常用的光敏剂：安息香及醚类</a:t>
            </a:r>
            <a:endParaRPr lang="zh-CN" altLang="en-US" sz="2000" b="1">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zh-CN" altLang="en-US" sz="1200" b="1">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zh-CN" altLang="en-US" sz="2000" b="1">
              <a:solidFill>
                <a:srgbClr val="CC0066"/>
              </a:solidFill>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zh-CN" altLang="en-US" sz="900" b="1">
              <a:solidFill>
                <a:srgbClr val="CC0066"/>
              </a:solidFill>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r>
              <a:rPr lang="zh-CN" altLang="en-US" sz="2000" b="1">
                <a:solidFill>
                  <a:srgbClr val="CC0066"/>
                </a:solidFill>
                <a:latin typeface="Arial" panose="020B0604020202020204" pitchFamily="34" charset="0"/>
                <a:ea typeface="楷体" panose="02010609060101010101" pitchFamily="49" charset="-122"/>
                <a:cs typeface="Arial" panose="020B0604020202020204" pitchFamily="34" charset="0"/>
              </a:rPr>
              <a:t>间接光敏引发</a:t>
            </a:r>
            <a:r>
              <a:rPr lang="zh-CN" altLang="en-US" sz="2000" b="1">
                <a:latin typeface="Arial" panose="020B0604020202020204" pitchFamily="34" charset="0"/>
                <a:ea typeface="楷体" panose="02010609060101010101" pitchFamily="49" charset="-122"/>
                <a:cs typeface="Arial" panose="020B0604020202020204" pitchFamily="34" charset="0"/>
              </a:rPr>
              <a:t>： 光敏剂吸收的光能量传递给另一分子后再产生自由基</a:t>
            </a:r>
          </a:p>
          <a:p>
            <a:pPr eaLnBrk="1" hangingPunct="1">
              <a:buFontTx/>
              <a:buNone/>
            </a:pPr>
            <a:endParaRPr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buFontTx/>
              <a:buNone/>
            </a:pPr>
            <a:endParaRPr lang="en-US" altLang="zh-CN" sz="2000">
              <a:ea typeface="楷体" panose="02010609060101010101" pitchFamily="49" charset="-122"/>
              <a:cs typeface="Arial" panose="020B0604020202020204" pitchFamily="34" charset="0"/>
            </a:endParaRPr>
          </a:p>
        </p:txBody>
      </p:sp>
      <p:pic>
        <p:nvPicPr>
          <p:cNvPr id="8192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89" y="1700258"/>
            <a:ext cx="5148128" cy="4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0681" y="5619695"/>
            <a:ext cx="7391206" cy="827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灯片编号占位符 5"/>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A6AA4290-005D-4E3A-9EFB-71A811A7BA63}" type="slidenum">
              <a:rPr lang="en-US" altLang="zh-CN" sz="1400">
                <a:solidFill>
                  <a:srgbClr val="FFFFFF"/>
                </a:solidFill>
                <a:latin typeface="Times New Roman" panose="02020603050405020304" pitchFamily="18" charset="0"/>
              </a:rPr>
              <a:pPr>
                <a:spcBef>
                  <a:spcPct val="0"/>
                </a:spcBef>
                <a:buClrTx/>
                <a:buSzTx/>
                <a:buFontTx/>
                <a:buNone/>
              </a:pPr>
              <a:t>29</a:t>
            </a:fld>
            <a:endParaRPr lang="en-US" altLang="zh-CN" sz="1400">
              <a:solidFill>
                <a:srgbClr val="FFFFFF"/>
              </a:solidFill>
              <a:latin typeface="Times New Roman" panose="02020603050405020304" pitchFamily="18" charset="0"/>
            </a:endParaRPr>
          </a:p>
        </p:txBody>
      </p:sp>
      <p:pic>
        <p:nvPicPr>
          <p:cNvPr id="81926" name="Picture 9" descr="Photochemical initiato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5392756" y="4005249"/>
            <a:ext cx="3962296" cy="9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5414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a:extLst>
              <a:ext uri="{FF2B5EF4-FFF2-40B4-BE49-F238E27FC236}">
                <a16:creationId xmlns:a16="http://schemas.microsoft.com/office/drawing/2014/main" id="{2EC24AB1-C78E-4312-85BF-94BB3B4598FF}"/>
              </a:ext>
            </a:extLst>
          </p:cNvPr>
          <p:cNvSpPr>
            <a:spLocks noGrp="1"/>
          </p:cNvSpPr>
          <p:nvPr>
            <p:ph sz="quarter" idx="1"/>
          </p:nvPr>
        </p:nvSpPr>
        <p:spPr>
          <a:xfrm>
            <a:off x="1847963" y="333456"/>
            <a:ext cx="8381780" cy="5791048"/>
          </a:xfrm>
        </p:spPr>
        <p:txBody>
          <a:bodyPr/>
          <a:lstStyle/>
          <a:p>
            <a:pPr marL="0" indent="0">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间接光引发聚合的引发速率：</a:t>
            </a:r>
          </a:p>
          <a:p>
            <a:pPr marL="0" indent="0">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a:t>
            </a:r>
            <a:r>
              <a:rPr lang="en-US" altLang="zh-CN" sz="2000" i="1"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i</a:t>
            </a:r>
            <a:r>
              <a:rPr lang="en-US" altLang="zh-CN" sz="2000" dirty="0">
                <a:latin typeface="Arial" panose="020B0604020202020204" pitchFamily="34" charset="0"/>
                <a:ea typeface="楷体" panose="02010609060101010101" pitchFamily="49" charset="-122"/>
                <a:cs typeface="Arial" panose="020B0604020202020204" pitchFamily="34" charset="0"/>
              </a:rPr>
              <a:t> = </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2   </a:t>
            </a:r>
            <a:r>
              <a:rPr lang="en-US" altLang="zh-CN" sz="2000" i="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I</a:t>
            </a:r>
            <a:r>
              <a:rPr lang="en-US" altLang="zh-CN" sz="2000" baseline="-25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o</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[S]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光敏剂</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S</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的消光系数）</a:t>
            </a:r>
          </a:p>
          <a:p>
            <a:pPr marL="0" indent="0">
              <a:buNone/>
              <a:defRPr/>
            </a:pPr>
            <a:endParaRPr lang="zh-CN" altLang="en-US" sz="12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a:p>
            <a:pPr marL="0" indent="0">
              <a:buNone/>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光引发聚合的特点</a:t>
            </a:r>
            <a:r>
              <a:rPr lang="en-US" altLang="zh-CN"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endPar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a:p>
            <a:pPr eaLnBrk="1" hangingPunct="1">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可方便地控制自由基的产生，利用于测定聚合动力学参数等基础研究；</a:t>
            </a:r>
          </a:p>
          <a:p>
            <a:pPr eaLnBrk="1" hangingPunct="1">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可在较低温度下进行聚合；</a:t>
            </a:r>
          </a:p>
          <a:p>
            <a:pPr eaLnBrk="1" hangingPunct="1">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产物较纯净；</a:t>
            </a:r>
          </a:p>
          <a:p>
            <a:pPr eaLnBrk="1" hangingPunct="1">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光不易透过厚的单体层，仅适于制备薄膜类产品（如：表面改性）。</a:t>
            </a:r>
          </a:p>
          <a:p>
            <a:pPr marL="0" indent="0">
              <a:defRPr/>
            </a:pPr>
            <a:endPar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a:p>
            <a:pPr marL="0" indent="0">
              <a:buNone/>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工业应用实例：印刷电路版和集成电路制造</a:t>
            </a:r>
          </a:p>
          <a:p>
            <a:pPr marL="0" indent="0">
              <a:buNone/>
              <a:defRPr/>
            </a:pPr>
            <a:endParaRPr lang="zh-CN" altLang="en-US" sz="2000" b="1" dirty="0">
              <a:sym typeface="Symbol" panose="05050102010706020507" pitchFamily="18" charset="2"/>
            </a:endParaRPr>
          </a:p>
          <a:p>
            <a:pPr marL="0" indent="0">
              <a:buNone/>
              <a:defRPr/>
            </a:pPr>
            <a:endParaRPr lang="zh-CN" altLang="en-US" sz="2000" dirty="0">
              <a:sym typeface="Symbol" panose="05050102010706020507" pitchFamily="18" charset="2"/>
            </a:endParaRPr>
          </a:p>
          <a:p>
            <a:pPr eaLnBrk="1" hangingPunct="1">
              <a:buFontTx/>
              <a:buNone/>
              <a:defRPr/>
            </a:pPr>
            <a:endParaRPr lang="zh-CN" altLang="en-US" sz="2000" dirty="0">
              <a:sym typeface="Symbol" panose="05050102010706020507" pitchFamily="18" charset="2"/>
            </a:endParaRPr>
          </a:p>
          <a:p>
            <a:pPr eaLnBrk="1" hangingPunct="1">
              <a:buFontTx/>
              <a:buNone/>
              <a:defRPr/>
            </a:pPr>
            <a:endParaRPr lang="zh-CN" altLang="en-US" sz="2000" dirty="0">
              <a:sym typeface="Symbol" panose="05050102010706020507" pitchFamily="18" charset="2"/>
            </a:endParaRPr>
          </a:p>
          <a:p>
            <a:pPr eaLnBrk="1" hangingPunct="1">
              <a:buFontTx/>
              <a:buNone/>
              <a:defRPr/>
            </a:pPr>
            <a:endParaRPr lang="en-US" altLang="zh-CN" sz="2000" dirty="0">
              <a:sym typeface="Symbol" panose="05050102010706020507" pitchFamily="18" charset="2"/>
            </a:endParaRPr>
          </a:p>
        </p:txBody>
      </p:sp>
      <p:sp>
        <p:nvSpPr>
          <p:cNvPr id="82947" name="Line 4"/>
          <p:cNvSpPr>
            <a:spLocks noChangeShapeType="1"/>
          </p:cNvSpPr>
          <p:nvPr/>
        </p:nvSpPr>
        <p:spPr bwMode="auto">
          <a:xfrm>
            <a:off x="2133707" y="5257752"/>
            <a:ext cx="17525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48" name="Line 5"/>
          <p:cNvSpPr>
            <a:spLocks noChangeShapeType="1"/>
          </p:cNvSpPr>
          <p:nvPr/>
        </p:nvSpPr>
        <p:spPr bwMode="auto">
          <a:xfrm flipH="1">
            <a:off x="2209903"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49" name="Line 6"/>
          <p:cNvSpPr>
            <a:spLocks noChangeShapeType="1"/>
          </p:cNvSpPr>
          <p:nvPr/>
        </p:nvSpPr>
        <p:spPr bwMode="auto">
          <a:xfrm flipH="1">
            <a:off x="2362298"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0" name="Line 7"/>
          <p:cNvSpPr>
            <a:spLocks noChangeShapeType="1"/>
          </p:cNvSpPr>
          <p:nvPr/>
        </p:nvSpPr>
        <p:spPr bwMode="auto">
          <a:xfrm flipH="1">
            <a:off x="2514695"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1" name="Line 8"/>
          <p:cNvSpPr>
            <a:spLocks noChangeShapeType="1"/>
          </p:cNvSpPr>
          <p:nvPr/>
        </p:nvSpPr>
        <p:spPr bwMode="auto">
          <a:xfrm flipH="1">
            <a:off x="2667090"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2" name="Line 9"/>
          <p:cNvSpPr>
            <a:spLocks noChangeShapeType="1"/>
          </p:cNvSpPr>
          <p:nvPr/>
        </p:nvSpPr>
        <p:spPr bwMode="auto">
          <a:xfrm flipH="1">
            <a:off x="2895684"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3" name="Line 10"/>
          <p:cNvSpPr>
            <a:spLocks noChangeShapeType="1"/>
          </p:cNvSpPr>
          <p:nvPr/>
        </p:nvSpPr>
        <p:spPr bwMode="auto">
          <a:xfrm flipH="1">
            <a:off x="3124278"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4" name="Line 11"/>
          <p:cNvSpPr>
            <a:spLocks noChangeShapeType="1"/>
          </p:cNvSpPr>
          <p:nvPr/>
        </p:nvSpPr>
        <p:spPr bwMode="auto">
          <a:xfrm flipH="1">
            <a:off x="3276675"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5" name="Line 12"/>
          <p:cNvSpPr>
            <a:spLocks noChangeShapeType="1"/>
          </p:cNvSpPr>
          <p:nvPr/>
        </p:nvSpPr>
        <p:spPr bwMode="auto">
          <a:xfrm flipH="1">
            <a:off x="3429070"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6" name="Line 13"/>
          <p:cNvSpPr>
            <a:spLocks noChangeShapeType="1"/>
          </p:cNvSpPr>
          <p:nvPr/>
        </p:nvSpPr>
        <p:spPr bwMode="auto">
          <a:xfrm flipH="1">
            <a:off x="3581466"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7" name="Line 14"/>
          <p:cNvSpPr>
            <a:spLocks noChangeShapeType="1"/>
          </p:cNvSpPr>
          <p:nvPr/>
        </p:nvSpPr>
        <p:spPr bwMode="auto">
          <a:xfrm flipH="1">
            <a:off x="3733862" y="5257752"/>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58" name="Rectangle 15"/>
          <p:cNvSpPr>
            <a:spLocks noChangeArrowheads="1"/>
          </p:cNvSpPr>
          <p:nvPr/>
        </p:nvSpPr>
        <p:spPr bwMode="auto">
          <a:xfrm>
            <a:off x="2133707" y="5181554"/>
            <a:ext cx="1676356" cy="76198"/>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59" name="Rectangle 16"/>
          <p:cNvSpPr>
            <a:spLocks noChangeArrowheads="1"/>
          </p:cNvSpPr>
          <p:nvPr/>
        </p:nvSpPr>
        <p:spPr bwMode="auto">
          <a:xfrm>
            <a:off x="2133704" y="5029159"/>
            <a:ext cx="304792" cy="76198"/>
          </a:xfrm>
          <a:prstGeom prst="rect">
            <a:avLst/>
          </a:prstGeom>
          <a:solidFill>
            <a:schemeClr val="accent2"/>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60" name="Rectangle 17"/>
          <p:cNvSpPr>
            <a:spLocks noChangeArrowheads="1"/>
          </p:cNvSpPr>
          <p:nvPr/>
        </p:nvSpPr>
        <p:spPr bwMode="auto">
          <a:xfrm>
            <a:off x="2667090" y="5029159"/>
            <a:ext cx="457188" cy="76198"/>
          </a:xfrm>
          <a:prstGeom prst="rect">
            <a:avLst/>
          </a:prstGeom>
          <a:solidFill>
            <a:schemeClr val="accent2"/>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61" name="Rectangle 18"/>
          <p:cNvSpPr>
            <a:spLocks noChangeArrowheads="1"/>
          </p:cNvSpPr>
          <p:nvPr/>
        </p:nvSpPr>
        <p:spPr bwMode="auto">
          <a:xfrm>
            <a:off x="3352872" y="5029159"/>
            <a:ext cx="457188" cy="76198"/>
          </a:xfrm>
          <a:prstGeom prst="rect">
            <a:avLst/>
          </a:prstGeom>
          <a:solidFill>
            <a:schemeClr val="accent2"/>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62" name="Line 19"/>
          <p:cNvSpPr>
            <a:spLocks noChangeShapeType="1"/>
          </p:cNvSpPr>
          <p:nvPr/>
        </p:nvSpPr>
        <p:spPr bwMode="auto">
          <a:xfrm>
            <a:off x="2133704"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3" name="Line 20"/>
          <p:cNvSpPr>
            <a:spLocks noChangeShapeType="1"/>
          </p:cNvSpPr>
          <p:nvPr/>
        </p:nvSpPr>
        <p:spPr bwMode="auto">
          <a:xfrm>
            <a:off x="2362298"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4" name="Line 21"/>
          <p:cNvSpPr>
            <a:spLocks noChangeShapeType="1"/>
          </p:cNvSpPr>
          <p:nvPr/>
        </p:nvSpPr>
        <p:spPr bwMode="auto">
          <a:xfrm>
            <a:off x="2590892"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5" name="Line 22"/>
          <p:cNvSpPr>
            <a:spLocks noChangeShapeType="1"/>
          </p:cNvSpPr>
          <p:nvPr/>
        </p:nvSpPr>
        <p:spPr bwMode="auto">
          <a:xfrm>
            <a:off x="2895684"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6" name="Line 23"/>
          <p:cNvSpPr>
            <a:spLocks noChangeShapeType="1"/>
          </p:cNvSpPr>
          <p:nvPr/>
        </p:nvSpPr>
        <p:spPr bwMode="auto">
          <a:xfrm>
            <a:off x="3124278"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7" name="Line 24"/>
          <p:cNvSpPr>
            <a:spLocks noChangeShapeType="1"/>
          </p:cNvSpPr>
          <p:nvPr/>
        </p:nvSpPr>
        <p:spPr bwMode="auto">
          <a:xfrm>
            <a:off x="3352872"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8" name="Line 25"/>
          <p:cNvSpPr>
            <a:spLocks noChangeShapeType="1"/>
          </p:cNvSpPr>
          <p:nvPr/>
        </p:nvSpPr>
        <p:spPr bwMode="auto">
          <a:xfrm>
            <a:off x="3581466"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69" name="Line 26"/>
          <p:cNvSpPr>
            <a:spLocks noChangeShapeType="1"/>
          </p:cNvSpPr>
          <p:nvPr/>
        </p:nvSpPr>
        <p:spPr bwMode="auto">
          <a:xfrm>
            <a:off x="3810060" y="4571972"/>
            <a:ext cx="0" cy="22859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0" name="Line 27"/>
          <p:cNvSpPr>
            <a:spLocks noChangeShapeType="1"/>
          </p:cNvSpPr>
          <p:nvPr/>
        </p:nvSpPr>
        <p:spPr bwMode="auto">
          <a:xfrm>
            <a:off x="4114854" y="5105356"/>
            <a:ext cx="10667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1" name="Line 28"/>
          <p:cNvSpPr>
            <a:spLocks noChangeShapeType="1"/>
          </p:cNvSpPr>
          <p:nvPr/>
        </p:nvSpPr>
        <p:spPr bwMode="auto">
          <a:xfrm>
            <a:off x="5410219" y="5105356"/>
            <a:ext cx="16001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2" name="Line 29"/>
          <p:cNvSpPr>
            <a:spLocks noChangeShapeType="1"/>
          </p:cNvSpPr>
          <p:nvPr/>
        </p:nvSpPr>
        <p:spPr bwMode="auto">
          <a:xfrm flipH="1">
            <a:off x="5486416"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3" name="Line 30"/>
          <p:cNvSpPr>
            <a:spLocks noChangeShapeType="1"/>
          </p:cNvSpPr>
          <p:nvPr/>
        </p:nvSpPr>
        <p:spPr bwMode="auto">
          <a:xfrm flipH="1">
            <a:off x="5715010"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4" name="Line 31"/>
          <p:cNvSpPr>
            <a:spLocks noChangeShapeType="1"/>
          </p:cNvSpPr>
          <p:nvPr/>
        </p:nvSpPr>
        <p:spPr bwMode="auto">
          <a:xfrm flipH="1">
            <a:off x="5943604"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5" name="Line 32"/>
          <p:cNvSpPr>
            <a:spLocks noChangeShapeType="1"/>
          </p:cNvSpPr>
          <p:nvPr/>
        </p:nvSpPr>
        <p:spPr bwMode="auto">
          <a:xfrm flipH="1">
            <a:off x="6172199"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6" name="Line 33"/>
          <p:cNvSpPr>
            <a:spLocks noChangeShapeType="1"/>
          </p:cNvSpPr>
          <p:nvPr/>
        </p:nvSpPr>
        <p:spPr bwMode="auto">
          <a:xfrm flipH="1">
            <a:off x="6400793"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7" name="Line 34"/>
          <p:cNvSpPr>
            <a:spLocks noChangeShapeType="1"/>
          </p:cNvSpPr>
          <p:nvPr/>
        </p:nvSpPr>
        <p:spPr bwMode="auto">
          <a:xfrm flipH="1">
            <a:off x="6629387"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8" name="Line 35"/>
          <p:cNvSpPr>
            <a:spLocks noChangeShapeType="1"/>
          </p:cNvSpPr>
          <p:nvPr/>
        </p:nvSpPr>
        <p:spPr bwMode="auto">
          <a:xfrm flipH="1">
            <a:off x="6857980" y="5105356"/>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79" name="Rectangle 37"/>
          <p:cNvSpPr>
            <a:spLocks noChangeArrowheads="1"/>
          </p:cNvSpPr>
          <p:nvPr/>
        </p:nvSpPr>
        <p:spPr bwMode="auto">
          <a:xfrm>
            <a:off x="5715012" y="5029159"/>
            <a:ext cx="228594" cy="76198"/>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80" name="Rectangle 38"/>
          <p:cNvSpPr>
            <a:spLocks noChangeArrowheads="1"/>
          </p:cNvSpPr>
          <p:nvPr/>
        </p:nvSpPr>
        <p:spPr bwMode="auto">
          <a:xfrm>
            <a:off x="6476992" y="5029159"/>
            <a:ext cx="228594" cy="76198"/>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endParaRPr lang="zh-CN" altLang="en-US">
              <a:latin typeface="Times New Roman" panose="02020603050405020304" pitchFamily="18" charset="0"/>
            </a:endParaRPr>
          </a:p>
        </p:txBody>
      </p:sp>
      <p:sp>
        <p:nvSpPr>
          <p:cNvPr id="82981" name="Line 39"/>
          <p:cNvSpPr>
            <a:spLocks noChangeShapeType="1"/>
          </p:cNvSpPr>
          <p:nvPr/>
        </p:nvSpPr>
        <p:spPr bwMode="auto">
          <a:xfrm>
            <a:off x="7238970" y="5105356"/>
            <a:ext cx="6857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2" name="Line 40"/>
          <p:cNvSpPr>
            <a:spLocks noChangeShapeType="1"/>
          </p:cNvSpPr>
          <p:nvPr/>
        </p:nvSpPr>
        <p:spPr bwMode="auto">
          <a:xfrm>
            <a:off x="8153346" y="5181554"/>
            <a:ext cx="304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3" name="Line 41"/>
          <p:cNvSpPr>
            <a:spLocks noChangeShapeType="1"/>
          </p:cNvSpPr>
          <p:nvPr/>
        </p:nvSpPr>
        <p:spPr bwMode="auto">
          <a:xfrm flipV="1">
            <a:off x="8458138" y="5105356"/>
            <a:ext cx="0"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4" name="Line 42"/>
          <p:cNvSpPr>
            <a:spLocks noChangeShapeType="1"/>
          </p:cNvSpPr>
          <p:nvPr/>
        </p:nvSpPr>
        <p:spPr bwMode="auto">
          <a:xfrm>
            <a:off x="8458140" y="5105356"/>
            <a:ext cx="2285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5" name="Line 43"/>
          <p:cNvSpPr>
            <a:spLocks noChangeShapeType="1"/>
          </p:cNvSpPr>
          <p:nvPr/>
        </p:nvSpPr>
        <p:spPr bwMode="auto">
          <a:xfrm>
            <a:off x="8686732" y="5105356"/>
            <a:ext cx="0"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6" name="Line 44"/>
          <p:cNvSpPr>
            <a:spLocks noChangeShapeType="1"/>
          </p:cNvSpPr>
          <p:nvPr/>
        </p:nvSpPr>
        <p:spPr bwMode="auto">
          <a:xfrm>
            <a:off x="8686732" y="5181554"/>
            <a:ext cx="4571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7" name="Line 45"/>
          <p:cNvSpPr>
            <a:spLocks noChangeShapeType="1"/>
          </p:cNvSpPr>
          <p:nvPr/>
        </p:nvSpPr>
        <p:spPr bwMode="auto">
          <a:xfrm flipV="1">
            <a:off x="9143920" y="5105356"/>
            <a:ext cx="0"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8" name="Line 46"/>
          <p:cNvSpPr>
            <a:spLocks noChangeShapeType="1"/>
          </p:cNvSpPr>
          <p:nvPr/>
        </p:nvSpPr>
        <p:spPr bwMode="auto">
          <a:xfrm>
            <a:off x="9143923" y="5105356"/>
            <a:ext cx="2285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89" name="Line 47"/>
          <p:cNvSpPr>
            <a:spLocks noChangeShapeType="1"/>
          </p:cNvSpPr>
          <p:nvPr/>
        </p:nvSpPr>
        <p:spPr bwMode="auto">
          <a:xfrm>
            <a:off x="9372514" y="5105356"/>
            <a:ext cx="0"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0" name="Line 48"/>
          <p:cNvSpPr>
            <a:spLocks noChangeShapeType="1"/>
          </p:cNvSpPr>
          <p:nvPr/>
        </p:nvSpPr>
        <p:spPr bwMode="auto">
          <a:xfrm>
            <a:off x="9372516" y="5181554"/>
            <a:ext cx="2285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1" name="Line 49"/>
          <p:cNvSpPr>
            <a:spLocks noChangeShapeType="1"/>
          </p:cNvSpPr>
          <p:nvPr/>
        </p:nvSpPr>
        <p:spPr bwMode="auto">
          <a:xfrm flipH="1">
            <a:off x="8305742"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2" name="Line 50"/>
          <p:cNvSpPr>
            <a:spLocks noChangeShapeType="1"/>
          </p:cNvSpPr>
          <p:nvPr/>
        </p:nvSpPr>
        <p:spPr bwMode="auto">
          <a:xfrm flipH="1">
            <a:off x="8458140" y="5105357"/>
            <a:ext cx="152396" cy="152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3" name="Line 51"/>
          <p:cNvSpPr>
            <a:spLocks noChangeShapeType="1"/>
          </p:cNvSpPr>
          <p:nvPr/>
        </p:nvSpPr>
        <p:spPr bwMode="auto">
          <a:xfrm flipH="1">
            <a:off x="8610534"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4" name="Line 52"/>
          <p:cNvSpPr>
            <a:spLocks noChangeShapeType="1"/>
          </p:cNvSpPr>
          <p:nvPr/>
        </p:nvSpPr>
        <p:spPr bwMode="auto">
          <a:xfrm flipH="1">
            <a:off x="8762931"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5" name="Line 54"/>
          <p:cNvSpPr>
            <a:spLocks noChangeShapeType="1"/>
          </p:cNvSpPr>
          <p:nvPr/>
        </p:nvSpPr>
        <p:spPr bwMode="auto">
          <a:xfrm flipH="1">
            <a:off x="8915326"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6" name="Line 55"/>
          <p:cNvSpPr>
            <a:spLocks noChangeShapeType="1"/>
          </p:cNvSpPr>
          <p:nvPr/>
        </p:nvSpPr>
        <p:spPr bwMode="auto">
          <a:xfrm flipH="1">
            <a:off x="9067723" y="5105357"/>
            <a:ext cx="152396" cy="152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7" name="Line 56"/>
          <p:cNvSpPr>
            <a:spLocks noChangeShapeType="1"/>
          </p:cNvSpPr>
          <p:nvPr/>
        </p:nvSpPr>
        <p:spPr bwMode="auto">
          <a:xfrm flipH="1">
            <a:off x="9220120" y="5105357"/>
            <a:ext cx="152396" cy="152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8" name="Line 57"/>
          <p:cNvSpPr>
            <a:spLocks noChangeShapeType="1"/>
          </p:cNvSpPr>
          <p:nvPr/>
        </p:nvSpPr>
        <p:spPr bwMode="auto">
          <a:xfrm flipH="1">
            <a:off x="9372514"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2999" name="Line 58"/>
          <p:cNvSpPr>
            <a:spLocks noChangeShapeType="1"/>
          </p:cNvSpPr>
          <p:nvPr/>
        </p:nvSpPr>
        <p:spPr bwMode="auto">
          <a:xfrm flipH="1">
            <a:off x="9524911"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3000" name="Line 59"/>
          <p:cNvSpPr>
            <a:spLocks noChangeShapeType="1"/>
          </p:cNvSpPr>
          <p:nvPr/>
        </p:nvSpPr>
        <p:spPr bwMode="auto">
          <a:xfrm flipH="1">
            <a:off x="8153346" y="5181554"/>
            <a:ext cx="76198" cy="76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3001" name="Text Box 61"/>
          <p:cNvSpPr txBox="1">
            <a:spLocks noChangeArrowheads="1"/>
          </p:cNvSpPr>
          <p:nvPr/>
        </p:nvSpPr>
        <p:spPr bwMode="auto">
          <a:xfrm>
            <a:off x="7299297" y="4773578"/>
            <a:ext cx="5950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600">
                <a:latin typeface="Times New Roman" panose="02020603050405020304" pitchFamily="18" charset="0"/>
              </a:rPr>
              <a:t>蚀刻</a:t>
            </a:r>
          </a:p>
        </p:txBody>
      </p:sp>
      <p:sp>
        <p:nvSpPr>
          <p:cNvPr id="83002" name="Text Box 62"/>
          <p:cNvSpPr txBox="1">
            <a:spLocks noChangeArrowheads="1"/>
          </p:cNvSpPr>
          <p:nvPr/>
        </p:nvSpPr>
        <p:spPr bwMode="auto">
          <a:xfrm>
            <a:off x="4038656" y="4800564"/>
            <a:ext cx="11079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600">
                <a:latin typeface="Times New Roman" panose="02020603050405020304" pitchFamily="18" charset="0"/>
              </a:rPr>
              <a:t>（</a:t>
            </a:r>
            <a:r>
              <a:rPr lang="en-US" altLang="zh-CN" sz="1600">
                <a:latin typeface="Times New Roman" panose="02020603050405020304" pitchFamily="18" charset="0"/>
              </a:rPr>
              <a:t>1</a:t>
            </a:r>
            <a:r>
              <a:rPr lang="zh-CN" altLang="en-US" sz="1600">
                <a:latin typeface="Times New Roman" panose="02020603050405020304" pitchFamily="18" charset="0"/>
              </a:rPr>
              <a:t>）光聚</a:t>
            </a:r>
          </a:p>
        </p:txBody>
      </p:sp>
      <p:sp>
        <p:nvSpPr>
          <p:cNvPr id="83003" name="Text Box 63"/>
          <p:cNvSpPr txBox="1">
            <a:spLocks noChangeArrowheads="1"/>
          </p:cNvSpPr>
          <p:nvPr/>
        </p:nvSpPr>
        <p:spPr bwMode="auto">
          <a:xfrm>
            <a:off x="4038656" y="5105356"/>
            <a:ext cx="110799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600">
                <a:latin typeface="Times New Roman" panose="02020603050405020304" pitchFamily="18" charset="0"/>
              </a:rPr>
              <a:t>（</a:t>
            </a:r>
            <a:r>
              <a:rPr lang="en-US" altLang="zh-CN" sz="1600">
                <a:latin typeface="Times New Roman" panose="02020603050405020304" pitchFamily="18" charset="0"/>
              </a:rPr>
              <a:t>2</a:t>
            </a:r>
            <a:r>
              <a:rPr lang="zh-CN" altLang="en-US" sz="1600">
                <a:latin typeface="Times New Roman" panose="02020603050405020304" pitchFamily="18" charset="0"/>
              </a:rPr>
              <a:t>）溶解</a:t>
            </a:r>
          </a:p>
        </p:txBody>
      </p:sp>
      <p:sp>
        <p:nvSpPr>
          <p:cNvPr id="83004" name="Text Box 64"/>
          <p:cNvSpPr txBox="1">
            <a:spLocks noChangeArrowheads="1"/>
          </p:cNvSpPr>
          <p:nvPr/>
        </p:nvSpPr>
        <p:spPr bwMode="auto">
          <a:xfrm>
            <a:off x="2057509" y="5333953"/>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200">
                <a:latin typeface="Times New Roman" panose="02020603050405020304" pitchFamily="18" charset="0"/>
              </a:rPr>
              <a:t>基片</a:t>
            </a:r>
          </a:p>
        </p:txBody>
      </p:sp>
      <p:sp>
        <p:nvSpPr>
          <p:cNvPr id="83005" name="Line 65"/>
          <p:cNvSpPr>
            <a:spLocks noChangeShapeType="1"/>
          </p:cNvSpPr>
          <p:nvPr/>
        </p:nvSpPr>
        <p:spPr bwMode="auto">
          <a:xfrm>
            <a:off x="3200478" y="5181554"/>
            <a:ext cx="152396" cy="3047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3006" name="Text Box 66"/>
          <p:cNvSpPr txBox="1">
            <a:spLocks noChangeArrowheads="1"/>
          </p:cNvSpPr>
          <p:nvPr/>
        </p:nvSpPr>
        <p:spPr bwMode="auto">
          <a:xfrm>
            <a:off x="2819487" y="5516511"/>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200">
                <a:latin typeface="Times New Roman" panose="02020603050405020304" pitchFamily="18" charset="0"/>
              </a:rPr>
              <a:t>未交联聚合物</a:t>
            </a:r>
          </a:p>
        </p:txBody>
      </p:sp>
      <p:sp>
        <p:nvSpPr>
          <p:cNvPr id="83007" name="Line 67"/>
          <p:cNvSpPr>
            <a:spLocks noChangeShapeType="1"/>
          </p:cNvSpPr>
          <p:nvPr/>
        </p:nvSpPr>
        <p:spPr bwMode="auto">
          <a:xfrm>
            <a:off x="3733862" y="5029159"/>
            <a:ext cx="304792" cy="5333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3008" name="Text Box 68"/>
          <p:cNvSpPr txBox="1">
            <a:spLocks noChangeArrowheads="1"/>
          </p:cNvSpPr>
          <p:nvPr/>
        </p:nvSpPr>
        <p:spPr bwMode="auto">
          <a:xfrm>
            <a:off x="3946585" y="5516511"/>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200">
                <a:latin typeface="Times New Roman" panose="02020603050405020304" pitchFamily="18" charset="0"/>
              </a:rPr>
              <a:t>掩模</a:t>
            </a:r>
          </a:p>
        </p:txBody>
      </p:sp>
      <p:sp>
        <p:nvSpPr>
          <p:cNvPr id="83009" name="Line 69"/>
          <p:cNvSpPr>
            <a:spLocks noChangeShapeType="1"/>
          </p:cNvSpPr>
          <p:nvPr/>
        </p:nvSpPr>
        <p:spPr bwMode="auto">
          <a:xfrm>
            <a:off x="5791211" y="5105356"/>
            <a:ext cx="228594" cy="3809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33"/>
          </a:p>
        </p:txBody>
      </p:sp>
      <p:sp>
        <p:nvSpPr>
          <p:cNvPr id="83010" name="Text Box 70"/>
          <p:cNvSpPr txBox="1">
            <a:spLocks noChangeArrowheads="1"/>
          </p:cNvSpPr>
          <p:nvPr/>
        </p:nvSpPr>
        <p:spPr bwMode="auto">
          <a:xfrm>
            <a:off x="5638811" y="5562545"/>
            <a:ext cx="14414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400">
                <a:latin typeface="Times New Roman" panose="02020603050405020304" pitchFamily="18" charset="0"/>
              </a:rPr>
              <a:t>光聚交联聚合物</a:t>
            </a:r>
          </a:p>
        </p:txBody>
      </p:sp>
      <p:sp>
        <p:nvSpPr>
          <p:cNvPr id="83011" name="Text Box 71"/>
          <p:cNvSpPr txBox="1">
            <a:spLocks noChangeArrowheads="1"/>
          </p:cNvSpPr>
          <p:nvPr/>
        </p:nvSpPr>
        <p:spPr bwMode="auto">
          <a:xfrm>
            <a:off x="2803612" y="5714941"/>
            <a:ext cx="12618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50" indent="-285750">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00" indent="-22860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00" indent="-22860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00" indent="-22860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eaLnBrk="1" hangingPunct="1">
              <a:spcBef>
                <a:spcPct val="0"/>
              </a:spcBef>
              <a:buClrTx/>
              <a:buSzTx/>
              <a:buFontTx/>
              <a:buNone/>
            </a:pPr>
            <a:r>
              <a:rPr lang="zh-CN" altLang="en-US" sz="1400">
                <a:latin typeface="Times New Roman" panose="02020603050405020304" pitchFamily="18" charset="0"/>
              </a:rPr>
              <a:t>（感光树脂）</a:t>
            </a:r>
          </a:p>
        </p:txBody>
      </p:sp>
      <p:sp>
        <p:nvSpPr>
          <p:cNvPr id="83012" name="灯片编号占位符 67"/>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C604E366-D0C0-4CB6-A8F6-8AEBE936ED9C}" type="slidenum">
              <a:rPr lang="en-US" altLang="zh-CN" sz="1400">
                <a:solidFill>
                  <a:srgbClr val="FFFFFF"/>
                </a:solidFill>
                <a:latin typeface="Times New Roman" panose="02020603050405020304" pitchFamily="18" charset="0"/>
              </a:rPr>
              <a:pPr>
                <a:spcBef>
                  <a:spcPct val="0"/>
                </a:spcBef>
                <a:buClrTx/>
                <a:buSzTx/>
                <a:buFontTx/>
                <a:buNone/>
              </a:pPr>
              <a:t>30</a:t>
            </a:fld>
            <a:endParaRPr lang="en-US" altLang="zh-CN" sz="1400">
              <a:solidFill>
                <a:srgbClr val="FFFFFF"/>
              </a:solidFill>
              <a:latin typeface="Times New Roman" panose="02020603050405020304" pitchFamily="18" charset="0"/>
            </a:endParaRPr>
          </a:p>
        </p:txBody>
      </p:sp>
    </p:spTree>
    <p:extLst>
      <p:ext uri="{BB962C8B-B14F-4D97-AF65-F5344CB8AC3E}">
        <p14:creationId xmlns:p14="http://schemas.microsoft.com/office/powerpoint/2010/main" val="3282000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59B7C2C0-CE55-4358-AB8A-16602149ABAC}" type="slidenum">
              <a:rPr lang="en-US" altLang="zh-CN" sz="1400">
                <a:solidFill>
                  <a:srgbClr val="FFFFFF"/>
                </a:solidFill>
                <a:latin typeface="Times New Roman" panose="02020603050405020304" pitchFamily="18" charset="0"/>
              </a:rPr>
              <a:pPr>
                <a:spcBef>
                  <a:spcPct val="0"/>
                </a:spcBef>
                <a:buClrTx/>
                <a:buSzTx/>
                <a:buFontTx/>
                <a:buNone/>
              </a:pPr>
              <a:t>31</a:t>
            </a:fld>
            <a:endParaRPr lang="en-US" altLang="zh-CN" sz="1400">
              <a:solidFill>
                <a:srgbClr val="FFFFFF"/>
              </a:solidFill>
              <a:latin typeface="Times New Roman" panose="02020603050405020304" pitchFamily="18" charset="0"/>
            </a:endParaRPr>
          </a:p>
        </p:txBody>
      </p:sp>
      <p:pic>
        <p:nvPicPr>
          <p:cNvPr id="83971" name="图片 2" descr="光刻4.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7962" y="3352804"/>
            <a:ext cx="3590831" cy="2304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2" name="图片 3" descr="光聚交联.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43329" y="333457"/>
            <a:ext cx="6314909" cy="2592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3" name="图片 4" descr="cexhmUr91R1E.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4052" y="3352805"/>
            <a:ext cx="4814760" cy="23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3918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p:cNvSpPr>
          <p:nvPr>
            <p:ph sz="quarter" idx="1"/>
          </p:nvPr>
        </p:nvSpPr>
        <p:spPr>
          <a:xfrm>
            <a:off x="1919397" y="404894"/>
            <a:ext cx="8534176" cy="5714850"/>
          </a:xfrm>
        </p:spPr>
        <p:txBody>
          <a:bodyPr>
            <a:normAutofit fontScale="92500" lnSpcReduction="20000"/>
          </a:bodyPr>
          <a:lstStyle/>
          <a:p>
            <a:pPr eaLnBrk="1" hangingPunct="1">
              <a:buFontTx/>
              <a:buNone/>
            </a:pPr>
            <a:r>
              <a:rPr lang="en-US" altLang="zh-CN" b="1">
                <a:latin typeface="楷体" panose="02010609060101010101" pitchFamily="49" charset="-122"/>
                <a:ea typeface="楷体" panose="02010609060101010101" pitchFamily="49" charset="-122"/>
              </a:rPr>
              <a:t>4. </a:t>
            </a:r>
            <a:r>
              <a:rPr lang="zh-CN" altLang="en-US" b="1">
                <a:latin typeface="楷体" panose="02010609060101010101" pitchFamily="49" charset="-122"/>
                <a:ea typeface="楷体" panose="02010609060101010101" pitchFamily="49" charset="-122"/>
              </a:rPr>
              <a:t>辐射聚合</a:t>
            </a:r>
          </a:p>
          <a:p>
            <a:pPr eaLnBrk="1" hangingPunct="1">
              <a:lnSpc>
                <a:spcPct val="200000"/>
              </a:lnSpc>
              <a:buFontTx/>
              <a:buNone/>
            </a:pPr>
            <a:r>
              <a:rPr lang="zh-CN" altLang="en-US" sz="2000" b="1">
                <a:latin typeface="楷体" panose="02010609060101010101" pitchFamily="49" charset="-122"/>
                <a:ea typeface="楷体" panose="02010609060101010101" pitchFamily="49" charset="-122"/>
              </a:rPr>
              <a:t>常用的高能射线：</a:t>
            </a:r>
          </a:p>
          <a:p>
            <a:pPr eaLnBrk="1" hangingPunct="1">
              <a:buClr>
                <a:srgbClr val="9900FF"/>
              </a:buClr>
              <a:buSzPct val="100000"/>
              <a:buFont typeface="Wingdings" panose="05000000000000000000" pitchFamily="2" charset="2"/>
              <a:buChar char="u"/>
            </a:pPr>
            <a:r>
              <a:rPr lang="zh-CN" altLang="en-US" sz="2000">
                <a:latin typeface="楷体" panose="02010609060101010101" pitchFamily="49" charset="-122"/>
                <a:ea typeface="楷体" panose="02010609060101010101" pitchFamily="49" charset="-122"/>
                <a:sym typeface="Symbol" panose="05050102010706020507" pitchFamily="18" charset="2"/>
              </a:rPr>
              <a:t>  </a:t>
            </a:r>
            <a:r>
              <a:rPr lang="zh-CN" altLang="en-US" sz="2000">
                <a:latin typeface="楷体" panose="02010609060101010101" pitchFamily="49" charset="-122"/>
                <a:ea typeface="楷体" panose="02010609060101010101" pitchFamily="49" charset="-122"/>
              </a:rPr>
              <a:t>射线 （</a:t>
            </a:r>
            <a:r>
              <a:rPr lang="zh-CN" altLang="en-US" sz="2000">
                <a:latin typeface="楷体" panose="02010609060101010101" pitchFamily="49" charset="-122"/>
                <a:ea typeface="楷体" panose="02010609060101010101" pitchFamily="49" charset="-122"/>
                <a:sym typeface="Symbol" panose="05050102010706020507" pitchFamily="18" charset="2"/>
              </a:rPr>
              <a:t> </a:t>
            </a:r>
            <a:r>
              <a:rPr lang="en-US" altLang="zh-CN" sz="2000">
                <a:latin typeface="楷体" panose="02010609060101010101" pitchFamily="49" charset="-122"/>
                <a:ea typeface="楷体" panose="02010609060101010101" pitchFamily="49" charset="-122"/>
                <a:sym typeface="Symbol" panose="05050102010706020507" pitchFamily="18" charset="2"/>
              </a:rPr>
              <a:t>= 0.5 - 0.001 A);</a:t>
            </a:r>
          </a:p>
          <a:p>
            <a:pPr eaLnBrk="1" hangingPunct="1">
              <a:buClr>
                <a:srgbClr val="9900FF"/>
              </a:buClr>
              <a:buSzPct val="100000"/>
              <a:buFont typeface="Wingdings" panose="05000000000000000000" pitchFamily="2" charset="2"/>
              <a:buChar char="u"/>
            </a:pPr>
            <a:r>
              <a:rPr lang="en-US" altLang="zh-CN" sz="2000">
                <a:latin typeface="楷体" panose="02010609060101010101" pitchFamily="49" charset="-122"/>
                <a:ea typeface="楷体" panose="02010609060101010101" pitchFamily="49" charset="-122"/>
                <a:sym typeface="Symbol" panose="05050102010706020507" pitchFamily="18" charset="2"/>
              </a:rPr>
              <a:t> X-</a:t>
            </a:r>
            <a:r>
              <a:rPr lang="zh-CN" altLang="zh-CN" sz="2000">
                <a:latin typeface="楷体" panose="02010609060101010101" pitchFamily="49" charset="-122"/>
                <a:ea typeface="楷体" panose="02010609060101010101" pitchFamily="49" charset="-122"/>
                <a:sym typeface="Symbol" panose="05050102010706020507" pitchFamily="18" charset="2"/>
              </a:rPr>
              <a:t>射线 （</a:t>
            </a:r>
            <a:r>
              <a:rPr lang="zh-CN" altLang="en-US" sz="2000">
                <a:latin typeface="楷体" panose="02010609060101010101" pitchFamily="49" charset="-122"/>
                <a:ea typeface="楷体" panose="02010609060101010101" pitchFamily="49" charset="-122"/>
                <a:sym typeface="Symbol" panose="05050102010706020507" pitchFamily="18" charset="2"/>
              </a:rPr>
              <a:t> </a:t>
            </a:r>
            <a:r>
              <a:rPr lang="en-US" altLang="zh-CN" sz="2000">
                <a:latin typeface="楷体" panose="02010609060101010101" pitchFamily="49" charset="-122"/>
                <a:ea typeface="楷体" panose="02010609060101010101" pitchFamily="49" charset="-122"/>
                <a:sym typeface="Symbol" panose="05050102010706020507" pitchFamily="18" charset="2"/>
              </a:rPr>
              <a:t>= 100 - 0.1 A);</a:t>
            </a:r>
          </a:p>
          <a:p>
            <a:pPr eaLnBrk="1" hangingPunct="1">
              <a:buClr>
                <a:srgbClr val="9900FF"/>
              </a:buClr>
              <a:buSzPct val="100000"/>
              <a:buFont typeface="Wingdings" panose="05000000000000000000" pitchFamily="2" charset="2"/>
              <a:buChar char="u"/>
            </a:pPr>
            <a:r>
              <a:rPr lang="en-US" altLang="zh-CN" sz="2000">
                <a:latin typeface="楷体" panose="02010609060101010101" pitchFamily="49" charset="-122"/>
                <a:ea typeface="楷体" panose="02010609060101010101" pitchFamily="49" charset="-122"/>
                <a:sym typeface="Symbol" panose="05050102010706020507" pitchFamily="18" charset="2"/>
              </a:rPr>
              <a:t> -</a:t>
            </a:r>
            <a:r>
              <a:rPr lang="zh-CN" altLang="en-US" sz="2000">
                <a:latin typeface="楷体" panose="02010609060101010101" pitchFamily="49" charset="-122"/>
                <a:ea typeface="楷体" panose="02010609060101010101" pitchFamily="49" charset="-122"/>
                <a:sym typeface="Symbol" panose="05050102010706020507" pitchFamily="18" charset="2"/>
              </a:rPr>
              <a:t>射线  （高能电子流）；</a:t>
            </a:r>
            <a:r>
              <a:rPr lang="en-US" altLang="zh-CN" sz="2000">
                <a:latin typeface="楷体" panose="02010609060101010101" pitchFamily="49" charset="-122"/>
                <a:ea typeface="楷体" panose="02010609060101010101" pitchFamily="49" charset="-122"/>
                <a:sym typeface="Symbol" panose="05050102010706020507" pitchFamily="18" charset="2"/>
              </a:rPr>
              <a:t>-</a:t>
            </a:r>
            <a:r>
              <a:rPr lang="zh-CN" altLang="en-US" sz="2000">
                <a:latin typeface="楷体" panose="02010609060101010101" pitchFamily="49" charset="-122"/>
                <a:ea typeface="楷体" panose="02010609060101010101" pitchFamily="49" charset="-122"/>
                <a:sym typeface="Symbol" panose="05050102010706020507" pitchFamily="18" charset="2"/>
              </a:rPr>
              <a:t>射线 （氦核流）；中子流；等。</a:t>
            </a:r>
          </a:p>
          <a:p>
            <a:pPr eaLnBrk="1" hangingPunct="1">
              <a:buFontTx/>
              <a:buNone/>
            </a:pPr>
            <a:r>
              <a:rPr lang="zh-CN" altLang="en-US" sz="2000">
                <a:latin typeface="楷体" panose="02010609060101010101" pitchFamily="49" charset="-122"/>
                <a:ea typeface="楷体" panose="02010609060101010101" pitchFamily="49" charset="-122"/>
                <a:sym typeface="Symbol" panose="05050102010706020507" pitchFamily="18" charset="2"/>
              </a:rPr>
              <a:t>     </a:t>
            </a:r>
            <a:r>
              <a:rPr lang="zh-CN" altLang="en-US" sz="1800">
                <a:latin typeface="楷体" panose="02010609060101010101" pitchFamily="49" charset="-122"/>
                <a:ea typeface="楷体" panose="02010609060101010101" pitchFamily="49" charset="-122"/>
                <a:sym typeface="Symbol" panose="05050102010706020507" pitchFamily="18" charset="2"/>
              </a:rPr>
              <a:t>（可将分子的外层电子打出，形成离子自由基，引发聚合）</a:t>
            </a:r>
            <a:endParaRPr lang="zh-CN" altLang="en-US" sz="2000">
              <a:latin typeface="楷体" panose="02010609060101010101" pitchFamily="49" charset="-122"/>
              <a:ea typeface="楷体" panose="02010609060101010101" pitchFamily="49" charset="-122"/>
              <a:sym typeface="Symbol" panose="05050102010706020507" pitchFamily="18" charset="2"/>
            </a:endParaRPr>
          </a:p>
          <a:p>
            <a:pPr eaLnBrk="1" hangingPunct="1">
              <a:buFontTx/>
              <a:buNone/>
            </a:pPr>
            <a:endParaRPr lang="zh-CN" altLang="en-US" sz="2000" b="1">
              <a:latin typeface="楷体" panose="02010609060101010101" pitchFamily="49" charset="-122"/>
              <a:ea typeface="楷体" panose="02010609060101010101" pitchFamily="49" charset="-122"/>
              <a:sym typeface="Symbol" panose="05050102010706020507" pitchFamily="18" charset="2"/>
            </a:endParaRPr>
          </a:p>
          <a:p>
            <a:pPr eaLnBrk="1" hangingPunct="1">
              <a:buFontTx/>
              <a:buNone/>
            </a:pPr>
            <a:endParaRPr lang="zh-CN" altLang="en-US" sz="2000" b="1">
              <a:latin typeface="楷体" panose="02010609060101010101" pitchFamily="49" charset="-122"/>
              <a:ea typeface="楷体" panose="02010609060101010101" pitchFamily="49" charset="-122"/>
              <a:sym typeface="Symbol" panose="05050102010706020507" pitchFamily="18" charset="2"/>
            </a:endParaRPr>
          </a:p>
          <a:p>
            <a:pPr eaLnBrk="1" hangingPunct="1">
              <a:buFontTx/>
              <a:buNone/>
            </a:pPr>
            <a:endParaRPr lang="zh-CN" altLang="en-US" sz="2000" b="1">
              <a:latin typeface="楷体" panose="02010609060101010101" pitchFamily="49" charset="-122"/>
              <a:ea typeface="楷体" panose="02010609060101010101" pitchFamily="49" charset="-122"/>
              <a:sym typeface="Symbol" panose="05050102010706020507" pitchFamily="18" charset="2"/>
            </a:endParaRPr>
          </a:p>
          <a:p>
            <a:pPr eaLnBrk="1" hangingPunct="1">
              <a:buFontTx/>
              <a:buNone/>
            </a:pPr>
            <a:endParaRPr lang="en-US" altLang="zh-CN" sz="2000" b="1">
              <a:solidFill>
                <a:srgbClr val="9900CC"/>
              </a:solidFill>
              <a:latin typeface="楷体" panose="02010609060101010101" pitchFamily="49" charset="-122"/>
              <a:ea typeface="楷体" panose="02010609060101010101" pitchFamily="49" charset="-122"/>
              <a:sym typeface="Symbol" panose="05050102010706020507" pitchFamily="18" charset="2"/>
            </a:endParaRPr>
          </a:p>
          <a:p>
            <a:pPr eaLnBrk="1" hangingPunct="1">
              <a:buFontTx/>
              <a:buNone/>
            </a:pPr>
            <a:r>
              <a:rPr lang="zh-CN" altLang="en-US" sz="2000" b="1">
                <a:solidFill>
                  <a:srgbClr val="9900CC"/>
                </a:solidFill>
                <a:latin typeface="楷体" panose="02010609060101010101" pitchFamily="49" charset="-122"/>
                <a:ea typeface="楷体" panose="02010609060101010101" pitchFamily="49" charset="-122"/>
                <a:sym typeface="Symbol" panose="05050102010706020507" pitchFamily="18" charset="2"/>
              </a:rPr>
              <a:t>特点：</a:t>
            </a:r>
          </a:p>
          <a:p>
            <a:pPr eaLnBrk="1" hangingPunct="1">
              <a:buClr>
                <a:srgbClr val="9900FF"/>
              </a:buClr>
              <a:buSzPct val="100000"/>
              <a:buFont typeface="Wingdings" panose="05000000000000000000" pitchFamily="2" charset="2"/>
              <a:buChar char="u"/>
            </a:pPr>
            <a:r>
              <a:rPr lang="zh-CN" altLang="en-US" sz="2000" b="1">
                <a:solidFill>
                  <a:srgbClr val="9900CC"/>
                </a:solidFill>
                <a:latin typeface="楷体" panose="02010609060101010101" pitchFamily="49" charset="-122"/>
                <a:ea typeface="楷体" panose="02010609060101010101" pitchFamily="49" charset="-122"/>
                <a:sym typeface="Symbol" panose="05050102010706020507" pitchFamily="18" charset="2"/>
              </a:rPr>
              <a:t>可用于固相聚合（穿透力强）；</a:t>
            </a:r>
          </a:p>
          <a:p>
            <a:pPr eaLnBrk="1" hangingPunct="1">
              <a:buClr>
                <a:srgbClr val="9900FF"/>
              </a:buClr>
              <a:buSzPct val="100000"/>
              <a:buFont typeface="Wingdings" panose="05000000000000000000" pitchFamily="2" charset="2"/>
              <a:buChar char="u"/>
            </a:pPr>
            <a:r>
              <a:rPr lang="zh-CN" altLang="en-US" sz="2000" b="1">
                <a:solidFill>
                  <a:srgbClr val="9900CC"/>
                </a:solidFill>
                <a:latin typeface="楷体" panose="02010609060101010101" pitchFamily="49" charset="-122"/>
                <a:ea typeface="楷体" panose="02010609060101010101" pitchFamily="49" charset="-122"/>
                <a:sym typeface="Symbol" panose="05050102010706020507" pitchFamily="18" charset="2"/>
              </a:rPr>
              <a:t>引发过程的微观机理复杂；</a:t>
            </a:r>
          </a:p>
          <a:p>
            <a:pPr eaLnBrk="1" hangingPunct="1">
              <a:buClr>
                <a:srgbClr val="9900FF"/>
              </a:buClr>
              <a:buSzPct val="100000"/>
              <a:buFont typeface="Wingdings" panose="05000000000000000000" pitchFamily="2" charset="2"/>
              <a:buChar char="u"/>
            </a:pPr>
            <a:r>
              <a:rPr lang="zh-CN" altLang="en-US" sz="2000" b="1">
                <a:solidFill>
                  <a:srgbClr val="9900CC"/>
                </a:solidFill>
                <a:latin typeface="楷体" panose="02010609060101010101" pitchFamily="49" charset="-122"/>
                <a:ea typeface="楷体" panose="02010609060101010101" pitchFamily="49" charset="-122"/>
                <a:sym typeface="Symbol" panose="05050102010706020507" pitchFamily="18" charset="2"/>
              </a:rPr>
              <a:t>可同时引起聚合物降解、交联等反应。</a:t>
            </a:r>
            <a:endParaRPr lang="en-US" altLang="zh-CN" sz="2000" b="1">
              <a:solidFill>
                <a:srgbClr val="9900CC"/>
              </a:solidFill>
              <a:latin typeface="楷体" panose="02010609060101010101" pitchFamily="49" charset="-122"/>
              <a:ea typeface="楷体" panose="02010609060101010101" pitchFamily="49" charset="-122"/>
              <a:sym typeface="Symbol" panose="05050102010706020507" pitchFamily="18" charset="2"/>
            </a:endParaRPr>
          </a:p>
          <a:p>
            <a:pPr>
              <a:spcBef>
                <a:spcPts val="1200"/>
              </a:spcBef>
              <a:buNone/>
            </a:pPr>
            <a:r>
              <a:rPr lang="zh-CN" altLang="en-US" sz="2000" b="1">
                <a:latin typeface="楷体" panose="02010609060101010101" pitchFamily="49" charset="-122"/>
                <a:ea typeface="楷体" panose="02010609060101010101" pitchFamily="49" charset="-122"/>
                <a:sym typeface="Symbol" panose="05050102010706020507" pitchFamily="18" charset="2"/>
              </a:rPr>
              <a:t>重要工业应用： 辐照交联法强化高性能电缆的护套和绝缘层</a:t>
            </a:r>
          </a:p>
        </p:txBody>
      </p:sp>
      <p:pic>
        <p:nvPicPr>
          <p:cNvPr id="8499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211" y="3198821"/>
            <a:ext cx="5257662" cy="102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331" y="4359251"/>
            <a:ext cx="3735289" cy="811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灯片编号占位符 4"/>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70FE9953-CB86-4FFA-9B93-EA3E52DD49AC}" type="slidenum">
              <a:rPr lang="en-US" altLang="zh-CN" sz="1400">
                <a:solidFill>
                  <a:srgbClr val="FFFFFF"/>
                </a:solidFill>
                <a:latin typeface="Times New Roman" panose="02020603050405020304" pitchFamily="18" charset="0"/>
              </a:rPr>
              <a:pPr>
                <a:spcBef>
                  <a:spcPct val="0"/>
                </a:spcBef>
                <a:buClrTx/>
                <a:buSzTx/>
                <a:buFontTx/>
                <a:buNone/>
              </a:pPr>
              <a:t>32</a:t>
            </a:fld>
            <a:endParaRPr lang="en-US" altLang="zh-CN" sz="1400">
              <a:solidFill>
                <a:srgbClr val="FFFFFF"/>
              </a:solidFill>
              <a:latin typeface="Times New Roman" panose="02020603050405020304" pitchFamily="18" charset="0"/>
            </a:endParaRPr>
          </a:p>
        </p:txBody>
      </p:sp>
    </p:spTree>
    <p:extLst>
      <p:ext uri="{BB962C8B-B14F-4D97-AF65-F5344CB8AC3E}">
        <p14:creationId xmlns:p14="http://schemas.microsoft.com/office/powerpoint/2010/main" val="191973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18FC8EE6-07AA-41FA-93BF-37A799D2F4E9}"/>
              </a:ext>
            </a:extLst>
          </p:cNvPr>
          <p:cNvSpPr>
            <a:spLocks noGrp="1"/>
          </p:cNvSpPr>
          <p:nvPr>
            <p:ph sz="quarter" idx="1"/>
          </p:nvPr>
        </p:nvSpPr>
        <p:spPr>
          <a:xfrm>
            <a:off x="1602847" y="318356"/>
            <a:ext cx="8986307" cy="5544992"/>
          </a:xfrm>
        </p:spPr>
        <p:txBody>
          <a:bodyPr/>
          <a:lstStyle/>
          <a:p>
            <a:pPr marL="0" indent="0">
              <a:buNone/>
              <a:defRPr/>
            </a:pPr>
            <a:r>
              <a:rPr lang="en-US" altLang="zh-CN" dirty="0">
                <a:latin typeface="Arial" panose="020B0604020202020204" pitchFamily="34" charset="0"/>
                <a:ea typeface="楷体" panose="02010609060101010101" pitchFamily="49" charset="-122"/>
                <a:cs typeface="Arial" panose="020B0604020202020204" pitchFamily="34" charset="0"/>
              </a:rPr>
              <a:t>5. </a:t>
            </a:r>
            <a:r>
              <a:rPr lang="zh-CN" altLang="en-US" dirty="0">
                <a:latin typeface="Arial" panose="020B0604020202020204" pitchFamily="34" charset="0"/>
                <a:ea typeface="楷体" panose="02010609060101010101" pitchFamily="49" charset="-122"/>
                <a:cs typeface="Arial" panose="020B0604020202020204" pitchFamily="34" charset="0"/>
              </a:rPr>
              <a:t>电化学聚合</a:t>
            </a:r>
          </a:p>
          <a:p>
            <a:pPr eaLnBrk="1" hangingPunct="1">
              <a:lnSpc>
                <a:spcPct val="120000"/>
              </a:lnSpc>
              <a:spcBef>
                <a:spcPct val="55000"/>
              </a:spcBef>
              <a:buClr>
                <a:srgbClr val="FF0000"/>
              </a:buClr>
              <a:buSzPct val="100000"/>
              <a:buFont typeface="Wingdings" panose="05000000000000000000" pitchFamily="2" charset="2"/>
              <a:buChar char="p"/>
              <a:defRPr/>
            </a:pPr>
            <a:r>
              <a:rPr lang="zh-CN" altLang="en-US" dirty="0">
                <a:latin typeface="Arial" panose="020B0604020202020204" pitchFamily="34" charset="0"/>
                <a:ea typeface="楷体" panose="02010609060101010101" pitchFamily="49" charset="-122"/>
                <a:cs typeface="Arial" panose="020B0604020202020204" pitchFamily="34" charset="0"/>
              </a:rPr>
              <a:t>原理：对含单体和电解质的电解池两极施加电压，则单体在阴极获得一个电子成为阴离子自由基，在阳极可失去电子成为阳离子自由基，二者均可能引发自由基聚合或离子聚合</a:t>
            </a:r>
            <a:r>
              <a:rPr lang="en-US" altLang="zh-CN" dirty="0">
                <a:latin typeface="Arial" panose="020B0604020202020204" pitchFamily="34" charset="0"/>
                <a:ea typeface="楷体" panose="02010609060101010101" pitchFamily="49" charset="-122"/>
                <a:cs typeface="Arial" panose="020B0604020202020204" pitchFamily="34" charset="0"/>
              </a:rPr>
              <a:t>.</a:t>
            </a:r>
            <a:endParaRPr lang="zh-CN" altLang="en-US" dirty="0">
              <a:latin typeface="Arial" panose="020B0604020202020204" pitchFamily="34" charset="0"/>
              <a:ea typeface="楷体" panose="02010609060101010101" pitchFamily="49" charset="-122"/>
              <a:cs typeface="Arial" panose="020B0604020202020204" pitchFamily="34" charset="0"/>
            </a:endParaRPr>
          </a:p>
          <a:p>
            <a:pPr eaLnBrk="1" hangingPunct="1">
              <a:lnSpc>
                <a:spcPct val="120000"/>
              </a:lnSpc>
              <a:spcBef>
                <a:spcPct val="55000"/>
              </a:spcBef>
              <a:buClr>
                <a:srgbClr val="FF0000"/>
              </a:buClr>
              <a:buSzPct val="100000"/>
              <a:buFont typeface="Wingdings" panose="05000000000000000000" pitchFamily="2" charset="2"/>
              <a:buChar char="p"/>
              <a:defRPr/>
            </a:pPr>
            <a:r>
              <a:rPr lang="zh-CN" altLang="en-US" dirty="0">
                <a:latin typeface="Arial" panose="020B0604020202020204" pitchFamily="34" charset="0"/>
                <a:ea typeface="楷体" panose="02010609060101010101" pitchFamily="49" charset="-122"/>
                <a:cs typeface="Arial" panose="020B0604020202020204" pitchFamily="34" charset="0"/>
              </a:rPr>
              <a:t>电化学聚合的主要用途：在金属表面形成高分子薄层，或制备特殊结构和性能的聚合物薄膜</a:t>
            </a:r>
            <a:r>
              <a:rPr lang="en-US" altLang="zh-CN" dirty="0">
                <a:latin typeface="Arial" panose="020B0604020202020204" pitchFamily="34" charset="0"/>
                <a:ea typeface="楷体" panose="02010609060101010101" pitchFamily="49" charset="-122"/>
                <a:cs typeface="Arial" panose="020B0604020202020204" pitchFamily="34" charset="0"/>
              </a:rPr>
              <a:t>.</a:t>
            </a:r>
            <a:endParaRPr lang="zh-CN" altLang="en-US" dirty="0">
              <a:latin typeface="Arial" panose="020B0604020202020204" pitchFamily="34" charset="0"/>
              <a:ea typeface="楷体" panose="02010609060101010101" pitchFamily="49" charset="-122"/>
              <a:cs typeface="Arial" panose="020B0604020202020204" pitchFamily="34" charset="0"/>
            </a:endParaRPr>
          </a:p>
          <a:p>
            <a:pPr marL="0" indent="0">
              <a:spcBef>
                <a:spcPct val="45000"/>
              </a:spcBef>
              <a:buNone/>
              <a:defRPr/>
            </a:pPr>
            <a:r>
              <a:rPr lang="zh-CN" altLang="en-US"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小结：</a:t>
            </a:r>
          </a:p>
          <a:p>
            <a:pPr marL="0" indent="0">
              <a:buNone/>
              <a:defRPr/>
            </a:pPr>
            <a:r>
              <a:rPr lang="zh-CN" altLang="en-US" b="1"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应根据具体的聚合体系和特殊要求选择引发方式。</a:t>
            </a:r>
          </a:p>
          <a:p>
            <a:pPr eaLnBrk="1" hangingPunct="1">
              <a:defRPr/>
            </a:pPr>
            <a:endParaRPr lang="en-US" altLang="zh-CN" dirty="0"/>
          </a:p>
        </p:txBody>
      </p:sp>
      <p:sp>
        <p:nvSpPr>
          <p:cNvPr id="86019" name="灯片编号占位符 2"/>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1pPr>
            <a:lvl2pPr marL="742981" indent="-285762">
              <a:spcBef>
                <a:spcPct val="20000"/>
              </a:spcBef>
              <a:buClr>
                <a:schemeClr val="accent1"/>
              </a:buClr>
              <a:buSzPct val="80000"/>
              <a:buFont typeface="Wingdings 2" panose="05020102010507070707" pitchFamily="18" charset="2"/>
              <a:buChar char=""/>
              <a:defRPr sz="2100">
                <a:solidFill>
                  <a:schemeClr val="tx1"/>
                </a:solidFill>
                <a:latin typeface="Century Schoolbook" panose="02040604050505020304" pitchFamily="18" charset="0"/>
                <a:ea typeface="宋体" panose="02010600030101010101" pitchFamily="2" charset="-122"/>
              </a:defRPr>
            </a:lvl2pPr>
            <a:lvl3pPr marL="1143048" indent="-228610">
              <a:spcBef>
                <a:spcPct val="20000"/>
              </a:spcBef>
              <a:buClr>
                <a:srgbClr val="E0752F"/>
              </a:buClr>
              <a:buSzPct val="60000"/>
              <a:buFont typeface="Wingdings" panose="05000000000000000000" pitchFamily="2" charset="2"/>
              <a:buChar char=""/>
              <a:defRPr sz="2400">
                <a:solidFill>
                  <a:schemeClr val="tx1"/>
                </a:solidFill>
                <a:latin typeface="Century Schoolbook" panose="02040604050505020304" pitchFamily="18" charset="0"/>
                <a:ea typeface="宋体" panose="02010600030101010101" pitchFamily="2" charset="-122"/>
              </a:defRPr>
            </a:lvl3pPr>
            <a:lvl4pPr marL="1600267" indent="-228610">
              <a:spcBef>
                <a:spcPct val="20000"/>
              </a:spcBef>
              <a:buClr>
                <a:srgbClr val="FEC3AE"/>
              </a:buClr>
              <a:buSzPct val="60000"/>
              <a:buFont typeface="Wingdings" panose="05000000000000000000" pitchFamily="2" charset="2"/>
              <a:buChar char=""/>
              <a:defRPr sz="2000">
                <a:solidFill>
                  <a:schemeClr val="tx1"/>
                </a:solidFill>
                <a:latin typeface="Century Schoolbook" panose="02040604050505020304" pitchFamily="18" charset="0"/>
                <a:ea typeface="宋体" panose="02010600030101010101" pitchFamily="2" charset="-122"/>
              </a:defRPr>
            </a:lvl4pPr>
            <a:lvl5pPr marL="2057487" indent="-228610">
              <a:spcBef>
                <a:spcPct val="20000"/>
              </a:spcBef>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5pPr>
            <a:lvl6pPr marL="2514707"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6pPr>
            <a:lvl7pPr marL="2971926"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7pPr>
            <a:lvl8pPr marL="3429145"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8pPr>
            <a:lvl9pPr marL="3886364" indent="-22861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Century Schoolbook" panose="02040604050505020304" pitchFamily="18" charset="0"/>
                <a:ea typeface="宋体" panose="02010600030101010101" pitchFamily="2" charset="-122"/>
              </a:defRPr>
            </a:lvl9pPr>
          </a:lstStyle>
          <a:p>
            <a:pPr>
              <a:spcBef>
                <a:spcPct val="0"/>
              </a:spcBef>
              <a:buClrTx/>
              <a:buSzTx/>
              <a:buFontTx/>
              <a:buNone/>
            </a:pPr>
            <a:fld id="{224634FF-7437-4BF2-9963-94CE677BD640}" type="slidenum">
              <a:rPr lang="en-US" altLang="zh-CN" sz="1400">
                <a:solidFill>
                  <a:srgbClr val="FFFFFF"/>
                </a:solidFill>
                <a:latin typeface="Times New Roman" panose="02020603050405020304" pitchFamily="18" charset="0"/>
              </a:rPr>
              <a:pPr>
                <a:spcBef>
                  <a:spcPct val="0"/>
                </a:spcBef>
                <a:buClrTx/>
                <a:buSzTx/>
                <a:buFontTx/>
                <a:buNone/>
              </a:pPr>
              <a:t>33</a:t>
            </a:fld>
            <a:endParaRPr lang="en-US" altLang="zh-CN" sz="1400">
              <a:solidFill>
                <a:srgbClr val="FFFFFF"/>
              </a:solidFill>
              <a:latin typeface="Times New Roman" panose="02020603050405020304" pitchFamily="18" charset="0"/>
            </a:endParaRPr>
          </a:p>
        </p:txBody>
      </p:sp>
      <p:sp>
        <p:nvSpPr>
          <p:cNvPr id="86020" name="矩形 1"/>
          <p:cNvSpPr>
            <a:spLocks noChangeArrowheads="1"/>
          </p:cNvSpPr>
          <p:nvPr/>
        </p:nvSpPr>
        <p:spPr bwMode="auto">
          <a:xfrm>
            <a:off x="2121005" y="5811774"/>
            <a:ext cx="81277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FF0000"/>
                </a:solidFill>
                <a:latin typeface="黑体" panose="02010609060101010101" pitchFamily="49" charset="-122"/>
                <a:ea typeface="黑体" panose="02010609060101010101" pitchFamily="49" charset="-122"/>
              </a:rPr>
              <a:t>电化学反应：当前研究的热点：电化学聚合研究相当少！</a:t>
            </a:r>
          </a:p>
        </p:txBody>
      </p:sp>
    </p:spTree>
    <p:extLst>
      <p:ext uri="{BB962C8B-B14F-4D97-AF65-F5344CB8AC3E}">
        <p14:creationId xmlns:p14="http://schemas.microsoft.com/office/powerpoint/2010/main" val="1398452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idx="1"/>
          </p:nvPr>
        </p:nvSpPr>
        <p:spPr>
          <a:xfrm>
            <a:off x="4920868" y="387481"/>
            <a:ext cx="3940150" cy="553004"/>
          </a:xfrm>
        </p:spPr>
        <p:txBody>
          <a:bodyPr>
            <a:normAutofit lnSpcReduction="10000"/>
          </a:bodyPr>
          <a:lstStyle/>
          <a:p>
            <a:pPr marL="0" indent="0">
              <a:buNone/>
            </a:pPr>
            <a:r>
              <a:rPr lang="en-US" altLang="zh-CN" sz="3629" b="1">
                <a:latin typeface="Times New Roman" panose="02020603050405020304" pitchFamily="18" charset="0"/>
                <a:cs typeface="Times New Roman" panose="02020603050405020304" pitchFamily="18" charset="0"/>
              </a:rPr>
              <a:t>Polymerization</a:t>
            </a:r>
            <a:endParaRPr lang="zh-CN" altLang="en-US" sz="3629" b="1">
              <a:latin typeface="Times New Roman" panose="02020603050405020304" pitchFamily="18" charset="0"/>
              <a:cs typeface="Times New Roman" panose="02020603050405020304" pitchFamily="18" charset="0"/>
            </a:endParaRPr>
          </a:p>
        </p:txBody>
      </p:sp>
      <p:pic>
        <p:nvPicPr>
          <p:cNvPr id="7577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595" y="455166"/>
            <a:ext cx="3024238" cy="3830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0" name="TextBox 3"/>
          <p:cNvSpPr txBox="1">
            <a:spLocks noChangeArrowheads="1"/>
          </p:cNvSpPr>
          <p:nvPr/>
        </p:nvSpPr>
        <p:spPr bwMode="auto">
          <a:xfrm>
            <a:off x="7271133" y="2370519"/>
            <a:ext cx="3940150" cy="42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177" b="1">
                <a:solidFill>
                  <a:srgbClr val="FF0000"/>
                </a:solidFill>
                <a:latin typeface="Times New Roman" panose="02020603050405020304" pitchFamily="18" charset="0"/>
                <a:cs typeface="Times New Roman" panose="02020603050405020304" pitchFamily="18" charset="0"/>
              </a:rPr>
              <a:t>Kinetics investigation</a:t>
            </a:r>
            <a:endParaRPr lang="zh-CN" altLang="en-US" sz="2177" b="1">
              <a:solidFill>
                <a:srgbClr val="FF0000"/>
              </a:solidFill>
              <a:latin typeface="Times New Roman" panose="02020603050405020304" pitchFamily="18" charset="0"/>
              <a:cs typeface="Times New Roman" panose="02020603050405020304" pitchFamily="18" charset="0"/>
            </a:endParaRPr>
          </a:p>
        </p:txBody>
      </p:sp>
      <p:sp>
        <p:nvSpPr>
          <p:cNvPr id="75781" name="TextBox 5"/>
          <p:cNvSpPr txBox="1">
            <a:spLocks noChangeArrowheads="1"/>
          </p:cNvSpPr>
          <p:nvPr/>
        </p:nvSpPr>
        <p:spPr bwMode="auto">
          <a:xfrm>
            <a:off x="4638605" y="3112178"/>
            <a:ext cx="4781176" cy="7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177" b="1">
                <a:solidFill>
                  <a:srgbClr val="0000FF"/>
                </a:solidFill>
                <a:latin typeface="Times New Roman" panose="02020603050405020304" pitchFamily="18" charset="0"/>
                <a:cs typeface="Times New Roman" panose="02020603050405020304" pitchFamily="18" charset="0"/>
              </a:rPr>
              <a:t>Concentration of monomer, initiator;</a:t>
            </a:r>
          </a:p>
          <a:p>
            <a:pPr algn="ctr" eaLnBrk="1" hangingPunct="1"/>
            <a:r>
              <a:rPr lang="en-US" altLang="zh-CN" sz="2177" b="1">
                <a:solidFill>
                  <a:srgbClr val="0000FF"/>
                </a:solidFill>
                <a:latin typeface="Times New Roman" panose="02020603050405020304" pitchFamily="18" charset="0"/>
                <a:cs typeface="Times New Roman" panose="02020603050405020304" pitchFamily="18" charset="0"/>
              </a:rPr>
              <a:t>Temperature</a:t>
            </a:r>
            <a:endParaRPr lang="zh-CN" altLang="en-US" sz="2177" b="1">
              <a:solidFill>
                <a:srgbClr val="0000FF"/>
              </a:solidFill>
              <a:latin typeface="Times New Roman" panose="02020603050405020304" pitchFamily="18" charset="0"/>
              <a:cs typeface="Times New Roman" panose="02020603050405020304" pitchFamily="18" charset="0"/>
            </a:endParaRPr>
          </a:p>
        </p:txBody>
      </p:sp>
      <p:cxnSp>
        <p:nvCxnSpPr>
          <p:cNvPr id="7" name="直接箭头连接符 6"/>
          <p:cNvCxnSpPr/>
          <p:nvPr/>
        </p:nvCxnSpPr>
        <p:spPr>
          <a:xfrm>
            <a:off x="7029193" y="2177542"/>
            <a:ext cx="0" cy="911592"/>
          </a:xfrm>
          <a:prstGeom prst="straightConnector1">
            <a:avLst/>
          </a:prstGeom>
          <a:ln w="76200">
            <a:solidFill>
              <a:srgbClr val="7030A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5783" name="TextBox 8"/>
          <p:cNvSpPr txBox="1">
            <a:spLocks noChangeArrowheads="1"/>
          </p:cNvSpPr>
          <p:nvPr/>
        </p:nvSpPr>
        <p:spPr bwMode="auto">
          <a:xfrm>
            <a:off x="5059118" y="1424365"/>
            <a:ext cx="3940150" cy="7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177" b="1" dirty="0">
                <a:solidFill>
                  <a:srgbClr val="0000FF"/>
                </a:solidFill>
                <a:latin typeface="Times New Roman" panose="02020603050405020304" pitchFamily="18" charset="0"/>
                <a:cs typeface="Times New Roman" panose="02020603050405020304" pitchFamily="18" charset="0"/>
              </a:rPr>
              <a:t>Rate of Polymerization</a:t>
            </a:r>
          </a:p>
          <a:p>
            <a:pPr algn="ctr" eaLnBrk="1" hangingPunct="1"/>
            <a:r>
              <a:rPr lang="en-US" altLang="zh-CN" sz="2177" b="1" dirty="0">
                <a:solidFill>
                  <a:srgbClr val="0000FF"/>
                </a:solidFill>
                <a:latin typeface="Times New Roman" panose="02020603050405020304" pitchFamily="18" charset="0"/>
                <a:cs typeface="Times New Roman" panose="02020603050405020304" pitchFamily="18" charset="0"/>
              </a:rPr>
              <a:t>Molecular weight of Polymers</a:t>
            </a:r>
            <a:endParaRPr lang="zh-CN" altLang="en-US" sz="2177" b="1" dirty="0">
              <a:solidFill>
                <a:srgbClr val="0000FF"/>
              </a:solidFill>
              <a:latin typeface="Times New Roman" panose="02020603050405020304" pitchFamily="18" charset="0"/>
              <a:cs typeface="Times New Roman" panose="02020603050405020304" pitchFamily="18" charset="0"/>
            </a:endParaRPr>
          </a:p>
        </p:txBody>
      </p:sp>
      <p:sp>
        <p:nvSpPr>
          <p:cNvPr id="75784" name="TextBox 10"/>
          <p:cNvSpPr txBox="1">
            <a:spLocks noChangeArrowheads="1"/>
          </p:cNvSpPr>
          <p:nvPr/>
        </p:nvSpPr>
        <p:spPr bwMode="auto">
          <a:xfrm>
            <a:off x="2425153" y="4604135"/>
            <a:ext cx="7645562" cy="7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A kinetic model should be based on a </a:t>
            </a:r>
            <a:r>
              <a:rPr lang="en-US" altLang="zh-CN" sz="2177" b="1">
                <a:solidFill>
                  <a:srgbClr val="FF0000"/>
                </a:solidFill>
                <a:latin typeface="Times New Roman" panose="02020603050405020304" pitchFamily="18" charset="0"/>
                <a:cs typeface="Times New Roman" panose="02020603050405020304" pitchFamily="18" charset="0"/>
              </a:rPr>
              <a:t>physically meaningful</a:t>
            </a:r>
            <a:r>
              <a:rPr lang="en-US" altLang="zh-CN" sz="2177">
                <a:latin typeface="Times New Roman" panose="02020603050405020304" pitchFamily="18" charset="0"/>
                <a:cs typeface="Times New Roman" panose="02020603050405020304" pitchFamily="18" charset="0"/>
              </a:rPr>
              <a:t> reaction mechanism.</a:t>
            </a:r>
            <a:endParaRPr lang="zh-CN" altLang="en-US" sz="2177">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67</a:t>
            </a:r>
          </a:p>
        </p:txBody>
      </p:sp>
      <p:sp>
        <p:nvSpPr>
          <p:cNvPr id="76803" name="TextBox 1"/>
          <p:cNvSpPr txBox="1">
            <a:spLocks noChangeArrowheads="1"/>
          </p:cNvSpPr>
          <p:nvPr/>
        </p:nvSpPr>
        <p:spPr bwMode="auto">
          <a:xfrm>
            <a:off x="1948474" y="525734"/>
            <a:ext cx="6243697"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3.7</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聚合速率（</a:t>
            </a:r>
            <a:r>
              <a:rPr lang="en-US" altLang="zh-CN" sz="2812" b="1">
                <a:latin typeface="Times New Roman" panose="02020603050405020304" pitchFamily="18" charset="0"/>
                <a:cs typeface="Times New Roman" panose="02020603050405020304" pitchFamily="18" charset="0"/>
              </a:rPr>
              <a:t>Rate</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of</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Polymerization</a:t>
            </a:r>
            <a:r>
              <a:rPr lang="en-US" altLang="zh-CN" sz="2812">
                <a:latin typeface="楷体_GB2312"/>
                <a:ea typeface="楷体_GB2312"/>
                <a:cs typeface="楷体_GB2312"/>
              </a:rPr>
              <a:t>）</a:t>
            </a:r>
          </a:p>
        </p:txBody>
      </p:sp>
      <p:sp>
        <p:nvSpPr>
          <p:cNvPr id="76804" name="TextBox 1"/>
          <p:cNvSpPr txBox="1">
            <a:spLocks noChangeArrowheads="1"/>
          </p:cNvSpPr>
          <p:nvPr/>
        </p:nvSpPr>
        <p:spPr bwMode="auto">
          <a:xfrm>
            <a:off x="2224978" y="1216989"/>
            <a:ext cx="146835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3.7.1</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概述</a:t>
            </a:r>
          </a:p>
        </p:txBody>
      </p:sp>
      <p:sp>
        <p:nvSpPr>
          <p:cNvPr id="76805" name="TextBox 1"/>
          <p:cNvSpPr txBox="1">
            <a:spLocks noChangeArrowheads="1"/>
          </p:cNvSpPr>
          <p:nvPr/>
        </p:nvSpPr>
        <p:spPr bwMode="auto">
          <a:xfrm>
            <a:off x="2736217" y="1741188"/>
            <a:ext cx="6807954" cy="4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994"/>
              </a:lnSpc>
            </a:pPr>
            <a:r>
              <a:rPr lang="en-US" altLang="zh-CN" sz="2268" b="1">
                <a:latin typeface="Times New Roman" panose="02020603050405020304" pitchFamily="18" charset="0"/>
                <a:cs typeface="Times New Roman" panose="02020603050405020304" pitchFamily="18" charset="0"/>
              </a:rPr>
              <a:t>R</a:t>
            </a:r>
            <a:r>
              <a:rPr lang="en-US" altLang="zh-CN" sz="1452" b="1">
                <a:latin typeface="Times New Roman" panose="02020603050405020304" pitchFamily="18" charset="0"/>
                <a:cs typeface="Times New Roman" panose="02020603050405020304" pitchFamily="18" charset="0"/>
              </a:rPr>
              <a:t>p</a:t>
            </a:r>
            <a:r>
              <a:rPr lang="en-US" altLang="zh-CN" sz="2268">
                <a:latin typeface="楷体_GB2312"/>
                <a:ea typeface="楷体_GB2312"/>
                <a:cs typeface="楷体_GB2312"/>
              </a:rPr>
              <a:t>：单位时间内单体消耗量或聚合物的生成量, </a:t>
            </a:r>
            <a:r>
              <a:rPr lang="en-US" altLang="zh-CN" sz="2268">
                <a:latin typeface="Times New Roman" panose="02020603050405020304" pitchFamily="18" charset="0"/>
                <a:ea typeface="楷体_GB2312"/>
                <a:cs typeface="Times New Roman" panose="02020603050405020304" pitchFamily="18" charset="0"/>
              </a:rPr>
              <a:t>mol/Ls</a:t>
            </a:r>
          </a:p>
        </p:txBody>
      </p:sp>
      <p:sp>
        <p:nvSpPr>
          <p:cNvPr id="76806" name="TextBox 1"/>
          <p:cNvSpPr txBox="1">
            <a:spLocks noChangeArrowheads="1"/>
          </p:cNvSpPr>
          <p:nvPr/>
        </p:nvSpPr>
        <p:spPr bwMode="auto">
          <a:xfrm>
            <a:off x="2512998" y="3099214"/>
            <a:ext cx="6840014" cy="700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268">
                <a:latin typeface="楷体_GB2312"/>
                <a:ea typeface="楷体_GB2312"/>
                <a:cs typeface="楷体_GB2312"/>
              </a:rPr>
              <a:t>转化率</a:t>
            </a:r>
            <a:r>
              <a:rPr lang="en-US" altLang="zh-CN" sz="2268" b="1">
                <a:latin typeface="Times New Roman" panose="02020603050405020304" pitchFamily="18" charset="0"/>
                <a:cs typeface="Times New Roman" panose="02020603050405020304" pitchFamily="18" charset="0"/>
              </a:rPr>
              <a:t>(Conversion)</a:t>
            </a:r>
            <a:r>
              <a:rPr lang="en-US" altLang="zh-CN" sz="2268">
                <a:latin typeface="楷体_GB2312"/>
                <a:ea typeface="楷体_GB2312"/>
                <a:cs typeface="楷体_GB2312"/>
              </a:rPr>
              <a:t>：参加反应的单体量占总单体量的</a:t>
            </a:r>
          </a:p>
          <a:p>
            <a:pPr eaLnBrk="1" hangingPunct="1">
              <a:lnSpc>
                <a:spcPts val="2722"/>
              </a:lnSpc>
            </a:pPr>
            <a:r>
              <a:rPr lang="en-US" altLang="zh-CN" sz="2268">
                <a:latin typeface="楷体_GB2312"/>
                <a:ea typeface="楷体_GB2312"/>
                <a:cs typeface="楷体_GB2312"/>
              </a:rPr>
              <a:t>百分比。</a:t>
            </a:r>
          </a:p>
        </p:txBody>
      </p:sp>
      <p:sp>
        <p:nvSpPr>
          <p:cNvPr id="76807" name="TextBox 1"/>
          <p:cNvSpPr txBox="1">
            <a:spLocks noChangeArrowheads="1"/>
          </p:cNvSpPr>
          <p:nvPr/>
        </p:nvSpPr>
        <p:spPr bwMode="auto">
          <a:xfrm>
            <a:off x="3057362" y="3840876"/>
            <a:ext cx="517769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可用</a:t>
            </a:r>
            <a:r>
              <a:rPr lang="en-US" altLang="zh-CN" sz="2177" b="1">
                <a:latin typeface="Times New Roman" panose="02020603050405020304" pitchFamily="18" charset="0"/>
                <a:cs typeface="Times New Roman" panose="02020603050405020304" pitchFamily="18" charset="0"/>
              </a:rPr>
              <a:t>C</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t</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曲线表示聚合过程中速率的变化</a:t>
            </a:r>
          </a:p>
        </p:txBody>
      </p:sp>
      <p:sp>
        <p:nvSpPr>
          <p:cNvPr id="76808" name="TextBox 1"/>
          <p:cNvSpPr txBox="1">
            <a:spLocks noChangeArrowheads="1"/>
          </p:cNvSpPr>
          <p:nvPr/>
        </p:nvSpPr>
        <p:spPr bwMode="auto">
          <a:xfrm>
            <a:off x="3076083" y="4301712"/>
            <a:ext cx="322363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通常呈</a:t>
            </a:r>
            <a:r>
              <a:rPr lang="en-US" altLang="zh-CN" sz="2177" b="1">
                <a:latin typeface="Times New Roman" panose="02020603050405020304" pitchFamily="18" charset="0"/>
                <a:cs typeface="Times New Roman" panose="02020603050405020304" pitchFamily="18" charset="0"/>
              </a:rPr>
              <a:t>S</a:t>
            </a:r>
            <a:r>
              <a:rPr lang="en-US" altLang="zh-CN" sz="2177">
                <a:latin typeface="楷体_GB2312"/>
                <a:ea typeface="楷体_GB2312"/>
                <a:cs typeface="楷体_GB2312"/>
              </a:rPr>
              <a:t>型。据此，可将聚</a:t>
            </a:r>
          </a:p>
        </p:txBody>
      </p:sp>
      <p:sp>
        <p:nvSpPr>
          <p:cNvPr id="76809" name="TextBox 1"/>
          <p:cNvSpPr txBox="1">
            <a:spLocks noChangeArrowheads="1"/>
          </p:cNvSpPr>
          <p:nvPr/>
        </p:nvSpPr>
        <p:spPr bwMode="auto">
          <a:xfrm>
            <a:off x="3045841" y="4661740"/>
            <a:ext cx="167353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合过程分为：</a:t>
            </a:r>
          </a:p>
        </p:txBody>
      </p:sp>
      <p:sp>
        <p:nvSpPr>
          <p:cNvPr id="76810" name="TextBox 1"/>
          <p:cNvSpPr txBox="1">
            <a:spLocks noChangeArrowheads="1"/>
          </p:cNvSpPr>
          <p:nvPr/>
        </p:nvSpPr>
        <p:spPr bwMode="auto">
          <a:xfrm>
            <a:off x="3063122" y="5138415"/>
            <a:ext cx="3347070"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b="1">
                <a:latin typeface="Times New Roman" panose="02020603050405020304" pitchFamily="18" charset="0"/>
                <a:cs typeface="Times New Roman" panose="02020603050405020304" pitchFamily="18" charset="0"/>
              </a:rPr>
              <a:t>1—</a:t>
            </a:r>
            <a:r>
              <a:rPr lang="en-US" altLang="zh-CN" sz="2177">
                <a:latin typeface="楷体_GB2312"/>
                <a:ea typeface="楷体_GB2312"/>
                <a:cs typeface="楷体_GB2312"/>
              </a:rPr>
              <a:t>诱导期；</a:t>
            </a:r>
            <a:r>
              <a:rPr lang="en-US" altLang="zh-CN" sz="2177" b="1">
                <a:latin typeface="Times New Roman" panose="02020603050405020304" pitchFamily="18" charset="0"/>
                <a:cs typeface="Times New Roman" panose="02020603050405020304" pitchFamily="18" charset="0"/>
              </a:rPr>
              <a:t>2—</a:t>
            </a:r>
            <a:r>
              <a:rPr lang="en-US" altLang="zh-CN" sz="2177">
                <a:latin typeface="楷体_GB2312"/>
                <a:ea typeface="楷体_GB2312"/>
                <a:cs typeface="楷体_GB2312"/>
              </a:rPr>
              <a:t>聚合初期；</a:t>
            </a:r>
          </a:p>
          <a:p>
            <a:pPr eaLnBrk="1" hangingPunct="1">
              <a:lnSpc>
                <a:spcPts val="2540"/>
              </a:lnSpc>
            </a:pPr>
            <a:r>
              <a:rPr lang="en-US" altLang="zh-CN" sz="2177" b="1">
                <a:latin typeface="Times New Roman" panose="02020603050405020304" pitchFamily="18" charset="0"/>
                <a:cs typeface="Times New Roman" panose="02020603050405020304" pitchFamily="18" charset="0"/>
              </a:rPr>
              <a:t>3—</a:t>
            </a:r>
            <a:r>
              <a:rPr lang="en-US" altLang="zh-CN" sz="2177">
                <a:latin typeface="楷体_GB2312"/>
                <a:ea typeface="楷体_GB2312"/>
                <a:cs typeface="楷体_GB2312"/>
              </a:rPr>
              <a:t>聚合中期；</a:t>
            </a:r>
            <a:r>
              <a:rPr lang="en-US" altLang="zh-CN" sz="2177" b="1">
                <a:latin typeface="Times New Roman" panose="02020603050405020304" pitchFamily="18" charset="0"/>
                <a:cs typeface="Times New Roman" panose="02020603050405020304" pitchFamily="18" charset="0"/>
              </a:rPr>
              <a:t>4—</a:t>
            </a:r>
            <a:r>
              <a:rPr lang="en-US" altLang="zh-CN" sz="2177">
                <a:latin typeface="楷体_GB2312"/>
                <a:ea typeface="楷体_GB2312"/>
                <a:cs typeface="楷体_GB2312"/>
              </a:rPr>
              <a:t>聚合后期</a:t>
            </a:r>
          </a:p>
        </p:txBody>
      </p:sp>
      <p:pic>
        <p:nvPicPr>
          <p:cNvPr id="76811"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1658" y="4301710"/>
            <a:ext cx="2924871" cy="2089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a:spLocks noRot="1" noChangeAspect="1" noMove="1" noResize="1" noEditPoints="1" noAdjustHandles="1" noChangeArrowheads="1" noChangeShapeType="1" noTextEdit="1"/>
          </p:cNvSpPr>
          <p:nvPr/>
        </p:nvSpPr>
        <p:spPr>
          <a:xfrm>
            <a:off x="5429236" y="1200826"/>
            <a:ext cx="776938" cy="561138"/>
          </a:xfrm>
          <a:prstGeom prst="rect">
            <a:avLst/>
          </a:prstGeom>
          <a:blipFill rotWithShape="1">
            <a:blip r:embed="rId3"/>
            <a:stretch>
              <a:fillRect/>
            </a:stretch>
          </a:blipFill>
          <a:ln>
            <a:solidFill>
              <a:srgbClr val="7030A0"/>
            </a:solidFill>
          </a:ln>
        </p:spPr>
        <p:txBody>
          <a:bodyPr/>
          <a:lstStyle/>
          <a:p>
            <a:pPr>
              <a:defRPr/>
            </a:pPr>
            <a:r>
              <a:rPr lang="zh-CN" altLang="en-US" sz="1633">
                <a:noFill/>
              </a:rPr>
              <a:t> </a:t>
            </a:r>
          </a:p>
        </p:txBody>
      </p:sp>
      <p:sp>
        <p:nvSpPr>
          <p:cNvPr id="29" name="TextBox 28"/>
          <p:cNvSpPr txBox="1">
            <a:spLocks noRot="1" noChangeAspect="1" noMove="1" noResize="1" noEditPoints="1" noAdjustHandles="1" noChangeArrowheads="1" noChangeShapeType="1" noTextEdit="1"/>
          </p:cNvSpPr>
          <p:nvPr/>
        </p:nvSpPr>
        <p:spPr>
          <a:xfrm>
            <a:off x="7926737" y="1187331"/>
            <a:ext cx="622796" cy="562767"/>
          </a:xfrm>
          <a:prstGeom prst="rect">
            <a:avLst/>
          </a:prstGeom>
          <a:blipFill rotWithShape="1">
            <a:blip r:embed="rId4"/>
            <a:stretch>
              <a:fillRect/>
            </a:stretch>
          </a:blipFill>
          <a:ln>
            <a:solidFill>
              <a:srgbClr val="7030A0"/>
            </a:solidFill>
          </a:ln>
        </p:spPr>
        <p:txBody>
          <a:bodyPr/>
          <a:lstStyle/>
          <a:p>
            <a:pPr>
              <a:defRPr/>
            </a:pPr>
            <a:r>
              <a:rPr lang="zh-CN" altLang="en-US" sz="1633">
                <a:noFill/>
              </a:rPr>
              <a:t> </a:t>
            </a:r>
          </a:p>
        </p:txBody>
      </p:sp>
      <p:sp>
        <p:nvSpPr>
          <p:cNvPr id="15" name="TextBox 14"/>
          <p:cNvSpPr txBox="1">
            <a:spLocks noRot="1" noChangeAspect="1" noMove="1" noResize="1" noEditPoints="1" noAdjustHandles="1" noChangeArrowheads="1" noChangeShapeType="1" noTextEdit="1"/>
          </p:cNvSpPr>
          <p:nvPr/>
        </p:nvSpPr>
        <p:spPr>
          <a:xfrm>
            <a:off x="3375389" y="2166725"/>
            <a:ext cx="2679758" cy="734650"/>
          </a:xfrm>
          <a:prstGeom prst="rect">
            <a:avLst/>
          </a:prstGeom>
          <a:blipFill rotWithShape="1">
            <a:blip r:embed="rId5"/>
            <a:stretch>
              <a:fillRect/>
            </a:stretch>
          </a:blipFill>
          <a:ln>
            <a:solidFill>
              <a:srgbClr val="0000FF"/>
            </a:solidFill>
          </a:ln>
        </p:spPr>
        <p:txBody>
          <a:bodyPr/>
          <a:lstStyle/>
          <a:p>
            <a:pPr>
              <a:defRPr/>
            </a:pPr>
            <a:r>
              <a:rPr lang="zh-CN" altLang="en-US" sz="1633">
                <a:noFill/>
              </a:rPr>
              <a:t> </a:t>
            </a:r>
          </a:p>
        </p:txBody>
      </p:sp>
      <p:sp>
        <p:nvSpPr>
          <p:cNvPr id="76815" name="TextBox 21"/>
          <p:cNvSpPr txBox="1">
            <a:spLocks noChangeArrowheads="1"/>
          </p:cNvSpPr>
          <p:nvPr/>
        </p:nvSpPr>
        <p:spPr bwMode="auto">
          <a:xfrm>
            <a:off x="6649004" y="2366199"/>
            <a:ext cx="3318021" cy="45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359">
                <a:solidFill>
                  <a:srgbClr val="FF0000"/>
                </a:solidFill>
              </a:rPr>
              <a:t>聚合速率的理论意义</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3"/>
          <p:cNvPicPr>
            <a:picLocks noChangeAspect="1" noChangeArrowheads="1"/>
          </p:cNvPicPr>
          <p:nvPr/>
        </p:nvPicPr>
        <p:blipFill>
          <a:blip r:embed="rId2">
            <a:extLst>
              <a:ext uri="{28A0092B-C50C-407E-A947-70E740481C1C}">
                <a14:useLocalDpi xmlns:a14="http://schemas.microsoft.com/office/drawing/2010/main" val="0"/>
              </a:ext>
            </a:extLst>
          </a:blip>
          <a:srcRect l="58000" t="4398" r="1950" b="57422"/>
          <a:stretch>
            <a:fillRect/>
          </a:stretch>
        </p:blipFill>
        <p:spPr bwMode="auto">
          <a:xfrm>
            <a:off x="7275455" y="1339398"/>
            <a:ext cx="3330982" cy="238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68</a:t>
            </a:r>
          </a:p>
        </p:txBody>
      </p:sp>
      <p:sp>
        <p:nvSpPr>
          <p:cNvPr id="77828" name="TextBox 1"/>
          <p:cNvSpPr txBox="1">
            <a:spLocks noChangeArrowheads="1"/>
          </p:cNvSpPr>
          <p:nvPr/>
        </p:nvSpPr>
        <p:spPr bwMode="auto">
          <a:xfrm>
            <a:off x="2628208" y="4159140"/>
            <a:ext cx="5512728"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若体系纯度高，无阻聚杂质，则无诱导期。</a:t>
            </a:r>
          </a:p>
        </p:txBody>
      </p:sp>
      <p:sp>
        <p:nvSpPr>
          <p:cNvPr id="77829" name="TextBox 1"/>
          <p:cNvSpPr txBox="1">
            <a:spLocks noChangeArrowheads="1"/>
          </p:cNvSpPr>
          <p:nvPr/>
        </p:nvSpPr>
        <p:spPr bwMode="auto">
          <a:xfrm>
            <a:off x="2628207" y="4573890"/>
            <a:ext cx="5815695" cy="4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994"/>
              </a:lnSpc>
            </a:pPr>
            <a:r>
              <a:rPr lang="en-US" altLang="zh-CN" sz="2268">
                <a:latin typeface="楷体_GB2312"/>
                <a:ea typeface="楷体_GB2312"/>
                <a:cs typeface="楷体_GB2312"/>
              </a:rPr>
              <a:t>可通过精制单体、反应釜内通过</a:t>
            </a:r>
            <a:r>
              <a:rPr lang="en-US" altLang="zh-CN" sz="2268" b="1">
                <a:latin typeface="Times New Roman" panose="02020603050405020304" pitchFamily="18" charset="0"/>
                <a:cs typeface="Times New Roman" panose="02020603050405020304" pitchFamily="18" charset="0"/>
              </a:rPr>
              <a:t>N</a:t>
            </a:r>
            <a:r>
              <a:rPr lang="en-US" altLang="zh-CN" sz="1452" b="1">
                <a:latin typeface="Times New Roman" panose="02020603050405020304" pitchFamily="18" charset="0"/>
                <a:cs typeface="Times New Roman" panose="02020603050405020304" pitchFamily="18" charset="0"/>
              </a:rPr>
              <a:t>2</a:t>
            </a:r>
            <a:r>
              <a:rPr lang="en-US" altLang="zh-CN" sz="2268">
                <a:latin typeface="楷体_GB2312"/>
                <a:ea typeface="楷体_GB2312"/>
                <a:cs typeface="楷体_GB2312"/>
              </a:rPr>
              <a:t>等消除或减</a:t>
            </a:r>
          </a:p>
        </p:txBody>
      </p:sp>
      <p:sp>
        <p:nvSpPr>
          <p:cNvPr id="77830" name="TextBox 1"/>
          <p:cNvSpPr txBox="1">
            <a:spLocks noChangeArrowheads="1"/>
          </p:cNvSpPr>
          <p:nvPr/>
        </p:nvSpPr>
        <p:spPr bwMode="auto">
          <a:xfrm>
            <a:off x="2386268" y="5023208"/>
            <a:ext cx="3771866"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少杂质，缩短或消除诱导期。</a:t>
            </a:r>
          </a:p>
        </p:txBody>
      </p:sp>
      <p:sp>
        <p:nvSpPr>
          <p:cNvPr id="77831" name="TextBox 1"/>
          <p:cNvSpPr txBox="1">
            <a:spLocks noChangeArrowheads="1"/>
          </p:cNvSpPr>
          <p:nvPr/>
        </p:nvSpPr>
        <p:spPr bwMode="auto">
          <a:xfrm>
            <a:off x="2121287" y="1324997"/>
            <a:ext cx="4315284"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solidFill>
                  <a:srgbClr val="0000FF"/>
                </a:solidFill>
                <a:latin typeface="Times New Roman" panose="02020603050405020304" pitchFamily="18" charset="0"/>
                <a:cs typeface="Times New Roman" panose="02020603050405020304" pitchFamily="18" charset="0"/>
              </a:rPr>
              <a:t>a.</a:t>
            </a:r>
            <a:r>
              <a:rPr lang="en-US" altLang="zh-CN" sz="2540">
                <a:solidFill>
                  <a:srgbClr val="0000FF"/>
                </a:solidFill>
                <a:latin typeface="Times New Roman" panose="02020603050405020304" pitchFamily="18" charset="0"/>
                <a:cs typeface="Times New Roman" panose="02020603050405020304" pitchFamily="18" charset="0"/>
              </a:rPr>
              <a:t> </a:t>
            </a:r>
            <a:r>
              <a:rPr lang="en-US" altLang="zh-CN" sz="2540">
                <a:solidFill>
                  <a:srgbClr val="0000FF"/>
                </a:solidFill>
                <a:latin typeface="楷体_GB2312"/>
                <a:ea typeface="楷体_GB2312"/>
                <a:cs typeface="楷体_GB2312"/>
              </a:rPr>
              <a:t>诱导期（</a:t>
            </a:r>
            <a:r>
              <a:rPr lang="en-US" altLang="zh-CN" sz="2540" b="1">
                <a:solidFill>
                  <a:srgbClr val="0000FF"/>
                </a:solidFill>
                <a:latin typeface="Times New Roman" panose="02020603050405020304" pitchFamily="18" charset="0"/>
                <a:cs typeface="Times New Roman" panose="02020603050405020304" pitchFamily="18" charset="0"/>
              </a:rPr>
              <a:t>Induction</a:t>
            </a:r>
            <a:r>
              <a:rPr lang="en-US" altLang="zh-CN" sz="2540">
                <a:solidFill>
                  <a:srgbClr val="0000FF"/>
                </a:solidFill>
                <a:latin typeface="Times New Roman" panose="02020603050405020304" pitchFamily="18" charset="0"/>
                <a:cs typeface="Times New Roman" panose="02020603050405020304" pitchFamily="18" charset="0"/>
              </a:rPr>
              <a:t> </a:t>
            </a:r>
            <a:r>
              <a:rPr lang="en-US" altLang="zh-CN" sz="2540" b="1">
                <a:solidFill>
                  <a:srgbClr val="0000FF"/>
                </a:solidFill>
                <a:latin typeface="Times New Roman" panose="02020603050405020304" pitchFamily="18" charset="0"/>
                <a:cs typeface="Times New Roman" panose="02020603050405020304" pitchFamily="18" charset="0"/>
              </a:rPr>
              <a:t>Period</a:t>
            </a:r>
            <a:r>
              <a:rPr lang="en-US" altLang="zh-CN" sz="2540">
                <a:solidFill>
                  <a:srgbClr val="0000FF"/>
                </a:solidFill>
                <a:latin typeface="楷体_GB2312"/>
                <a:ea typeface="楷体_GB2312"/>
                <a:cs typeface="楷体_GB2312"/>
              </a:rPr>
              <a:t>）</a:t>
            </a:r>
          </a:p>
        </p:txBody>
      </p:sp>
      <p:sp>
        <p:nvSpPr>
          <p:cNvPr id="77832" name="TextBox 1"/>
          <p:cNvSpPr txBox="1">
            <a:spLocks noChangeArrowheads="1"/>
          </p:cNvSpPr>
          <p:nvPr/>
        </p:nvSpPr>
        <p:spPr bwMode="auto">
          <a:xfrm>
            <a:off x="3019920" y="2142981"/>
            <a:ext cx="3625993"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反应开始时，体系中的杂质使</a:t>
            </a:r>
          </a:p>
        </p:txBody>
      </p:sp>
      <p:sp>
        <p:nvSpPr>
          <p:cNvPr id="77833" name="TextBox 1"/>
          <p:cNvSpPr txBox="1">
            <a:spLocks noChangeArrowheads="1"/>
          </p:cNvSpPr>
          <p:nvPr/>
        </p:nvSpPr>
        <p:spPr bwMode="auto">
          <a:xfrm>
            <a:off x="2432351" y="2546213"/>
            <a:ext cx="4183838"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solidFill>
                  <a:srgbClr val="0000FF"/>
                </a:solidFill>
                <a:latin typeface="楷体_GB2312"/>
                <a:ea typeface="楷体_GB2312"/>
                <a:cs typeface="楷体_GB2312"/>
              </a:rPr>
              <a:t>初级自由基终止，无聚合物形成。</a:t>
            </a:r>
          </a:p>
        </p:txBody>
      </p:sp>
      <p:sp>
        <p:nvSpPr>
          <p:cNvPr id="77834" name="TextBox 1"/>
          <p:cNvSpPr txBox="1">
            <a:spLocks noChangeArrowheads="1"/>
          </p:cNvSpPr>
          <p:nvPr/>
        </p:nvSpPr>
        <p:spPr bwMode="auto">
          <a:xfrm>
            <a:off x="2386270" y="3306593"/>
            <a:ext cx="3579506"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solidFill>
                  <a:srgbClr val="0000FF"/>
                </a:solidFill>
                <a:latin typeface="楷体_GB2312"/>
                <a:ea typeface="楷体_GB2312"/>
                <a:cs typeface="楷体_GB2312"/>
              </a:rPr>
              <a:t>特点：曲线不通过原点。</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795260" y="5767747"/>
            <a:ext cx="324026" cy="14401"/>
          </a:xfrm>
          <a:custGeom>
            <a:avLst/>
            <a:gdLst>
              <a:gd name="connsiteX0" fmla="*/ 0 w 357377"/>
              <a:gd name="connsiteY0" fmla="*/ 8001 h 16002"/>
              <a:gd name="connsiteX1" fmla="*/ 357377 w 357377"/>
              <a:gd name="connsiteY1" fmla="*/ 8001 h 16002"/>
            </a:gdLst>
            <a:ahLst/>
            <a:cxnLst>
              <a:cxn ang="0">
                <a:pos x="connsiteX0" y="connsiteY0"/>
              </a:cxn>
              <a:cxn ang="1">
                <a:pos x="connsiteX1" y="connsiteY1"/>
              </a:cxn>
            </a:cxnLst>
            <a:rect l="l" t="t" r="r" b="b"/>
            <a:pathLst>
              <a:path w="357377" h="16002">
                <a:moveTo>
                  <a:pt x="0" y="8001"/>
                </a:moveTo>
                <a:lnTo>
                  <a:pt x="357377" y="800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2782302" y="5754785"/>
            <a:ext cx="324025" cy="14401"/>
          </a:xfrm>
          <a:custGeom>
            <a:avLst/>
            <a:gdLst>
              <a:gd name="connsiteX0" fmla="*/ 0 w 357377"/>
              <a:gd name="connsiteY0" fmla="*/ 8001 h 16002"/>
              <a:gd name="connsiteX1" fmla="*/ 357377 w 357377"/>
              <a:gd name="connsiteY1" fmla="*/ 8001 h 16002"/>
            </a:gdLst>
            <a:ahLst/>
            <a:cxnLst>
              <a:cxn ang="0">
                <a:pos x="connsiteX0" y="connsiteY0"/>
              </a:cxn>
              <a:cxn ang="1">
                <a:pos x="connsiteX1" y="connsiteY1"/>
              </a:cxn>
            </a:cxnLst>
            <a:rect l="l" t="t" r="r" b="b"/>
            <a:pathLst>
              <a:path w="357377" h="16002">
                <a:moveTo>
                  <a:pt x="0" y="8001"/>
                </a:moveTo>
                <a:lnTo>
                  <a:pt x="357377" y="8001"/>
                </a:lnTo>
              </a:path>
            </a:pathLst>
          </a:custGeom>
          <a:ln w="12700">
            <a:solidFill>
              <a:srgbClr val="00FFCC">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3443313" y="5767747"/>
            <a:ext cx="730138" cy="14401"/>
          </a:xfrm>
          <a:custGeom>
            <a:avLst/>
            <a:gdLst>
              <a:gd name="connsiteX0" fmla="*/ 0 w 803910"/>
              <a:gd name="connsiteY0" fmla="*/ 8001 h 16002"/>
              <a:gd name="connsiteX1" fmla="*/ 803910 w 803910"/>
              <a:gd name="connsiteY1" fmla="*/ 8001 h 16002"/>
            </a:gdLst>
            <a:ahLst/>
            <a:cxnLst>
              <a:cxn ang="0">
                <a:pos x="connsiteX0" y="connsiteY0"/>
              </a:cxn>
              <a:cxn ang="1">
                <a:pos x="connsiteX1" y="connsiteY1"/>
              </a:cxn>
            </a:cxnLst>
            <a:rect l="l" t="t" r="r" b="b"/>
            <a:pathLst>
              <a:path w="803910" h="16002">
                <a:moveTo>
                  <a:pt x="0" y="8001"/>
                </a:moveTo>
                <a:lnTo>
                  <a:pt x="803910" y="800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3430351" y="5754785"/>
            <a:ext cx="730137" cy="14401"/>
          </a:xfrm>
          <a:custGeom>
            <a:avLst/>
            <a:gdLst>
              <a:gd name="connsiteX0" fmla="*/ 0 w 803910"/>
              <a:gd name="connsiteY0" fmla="*/ 8001 h 16002"/>
              <a:gd name="connsiteX1" fmla="*/ 803910 w 803910"/>
              <a:gd name="connsiteY1" fmla="*/ 8001 h 16002"/>
            </a:gdLst>
            <a:ahLst/>
            <a:cxnLst>
              <a:cxn ang="0">
                <a:pos x="connsiteX0" y="connsiteY0"/>
              </a:cxn>
              <a:cxn ang="1">
                <a:pos x="connsiteX1" y="connsiteY1"/>
              </a:cxn>
            </a:cxnLst>
            <a:rect l="l" t="t" r="r" b="b"/>
            <a:pathLst>
              <a:path w="803910" h="16002">
                <a:moveTo>
                  <a:pt x="0" y="8001"/>
                </a:moveTo>
                <a:lnTo>
                  <a:pt x="803910" y="8001"/>
                </a:lnTo>
              </a:path>
            </a:pathLst>
          </a:custGeom>
          <a:ln w="12700">
            <a:solidFill>
              <a:srgbClr val="00FFCC">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5865584" y="5767747"/>
            <a:ext cx="730138" cy="14401"/>
          </a:xfrm>
          <a:custGeom>
            <a:avLst/>
            <a:gdLst>
              <a:gd name="connsiteX0" fmla="*/ 0 w 803909"/>
              <a:gd name="connsiteY0" fmla="*/ 8001 h 16002"/>
              <a:gd name="connsiteX1" fmla="*/ 803909 w 803909"/>
              <a:gd name="connsiteY1" fmla="*/ 8001 h 16002"/>
            </a:gdLst>
            <a:ahLst/>
            <a:cxnLst>
              <a:cxn ang="0">
                <a:pos x="connsiteX0" y="connsiteY0"/>
              </a:cxn>
              <a:cxn ang="1">
                <a:pos x="connsiteX1" y="connsiteY1"/>
              </a:cxn>
            </a:cxnLst>
            <a:rect l="l" t="t" r="r" b="b"/>
            <a:pathLst>
              <a:path w="803909" h="16002">
                <a:moveTo>
                  <a:pt x="0" y="8001"/>
                </a:moveTo>
                <a:lnTo>
                  <a:pt x="803909" y="800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5852621" y="5754785"/>
            <a:ext cx="730137" cy="14401"/>
          </a:xfrm>
          <a:custGeom>
            <a:avLst/>
            <a:gdLst>
              <a:gd name="connsiteX0" fmla="*/ 0 w 803910"/>
              <a:gd name="connsiteY0" fmla="*/ 8001 h 16002"/>
              <a:gd name="connsiteX1" fmla="*/ 803910 w 803910"/>
              <a:gd name="connsiteY1" fmla="*/ 8001 h 16002"/>
            </a:gdLst>
            <a:ahLst/>
            <a:cxnLst>
              <a:cxn ang="0">
                <a:pos x="connsiteX0" y="connsiteY0"/>
              </a:cxn>
              <a:cxn ang="1">
                <a:pos x="connsiteX1" y="connsiteY1"/>
              </a:cxn>
            </a:cxnLst>
            <a:rect l="l" t="t" r="r" b="b"/>
            <a:pathLst>
              <a:path w="803910" h="16002">
                <a:moveTo>
                  <a:pt x="0" y="8001"/>
                </a:moveTo>
                <a:lnTo>
                  <a:pt x="803910" y="8001"/>
                </a:lnTo>
              </a:path>
            </a:pathLst>
          </a:custGeom>
          <a:ln w="12700">
            <a:solidFill>
              <a:srgbClr val="00FFCC">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8856"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69</a:t>
            </a:r>
          </a:p>
        </p:txBody>
      </p:sp>
      <p:sp>
        <p:nvSpPr>
          <p:cNvPr id="78857" name="TextBox 1"/>
          <p:cNvSpPr txBox="1">
            <a:spLocks noChangeArrowheads="1"/>
          </p:cNvSpPr>
          <p:nvPr/>
        </p:nvSpPr>
        <p:spPr bwMode="auto">
          <a:xfrm>
            <a:off x="2386270" y="1405642"/>
            <a:ext cx="7587013" cy="382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42900" algn="l"/>
                <a:tab pos="3810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42900" algn="l"/>
                <a:tab pos="3810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42900" algn="l"/>
                <a:tab pos="3810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42900" algn="l"/>
                <a:tab pos="3810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42900" algn="l"/>
                <a:tab pos="3810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42900" algn="l"/>
                <a:tab pos="3810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42900" algn="l"/>
                <a:tab pos="3810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42900" algn="l"/>
                <a:tab pos="3810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42900" algn="l"/>
                <a:tab pos="3810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268" b="1">
                <a:latin typeface="Times New Roman" panose="02020603050405020304" pitchFamily="18" charset="0"/>
                <a:cs typeface="Times New Roman" panose="02020603050405020304" pitchFamily="18" charset="0"/>
              </a:rPr>
              <a:t>b.</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聚合初期（</a:t>
            </a:r>
            <a:r>
              <a:rPr lang="en-US" altLang="zh-CN" sz="2268" b="1">
                <a:latin typeface="Times New Roman" panose="02020603050405020304" pitchFamily="18" charset="0"/>
                <a:cs typeface="Times New Roman" panose="02020603050405020304" pitchFamily="18" charset="0"/>
              </a:rPr>
              <a:t>Beginning</a:t>
            </a:r>
            <a:r>
              <a:rPr lang="en-US" altLang="zh-CN" sz="2268">
                <a:latin typeface="Times New Roman" panose="02020603050405020304" pitchFamily="18" charset="0"/>
                <a:cs typeface="Times New Roman" panose="02020603050405020304" pitchFamily="18" charset="0"/>
              </a:rPr>
              <a:t> </a:t>
            </a:r>
            <a:r>
              <a:rPr lang="en-US" altLang="zh-CN" sz="2268" b="1">
                <a:latin typeface="Times New Roman" panose="02020603050405020304" pitchFamily="18" charset="0"/>
                <a:cs typeface="Times New Roman" panose="02020603050405020304" pitchFamily="18" charset="0"/>
              </a:rPr>
              <a:t>Period</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a:t>
            </a:r>
          </a:p>
          <a:p>
            <a:pPr eaLnBrk="1" hangingPunct="1">
              <a:lnSpc>
                <a:spcPts val="907"/>
              </a:lnSpc>
            </a:pPr>
            <a:endParaRPr lang="en-US" altLang="zh-CN" sz="1633"/>
          </a:p>
          <a:p>
            <a:pPr eaLnBrk="1" hangingPunct="1">
              <a:lnSpc>
                <a:spcPts val="2449"/>
              </a:lnSpc>
            </a:pPr>
            <a:r>
              <a:rPr lang="en-US" altLang="zh-CN" sz="1633"/>
              <a:t>		</a:t>
            </a:r>
            <a:r>
              <a:rPr lang="en-US" altLang="zh-CN" sz="2177">
                <a:latin typeface="楷体_GB2312"/>
                <a:ea typeface="楷体_GB2312"/>
                <a:cs typeface="楷体_GB2312"/>
              </a:rPr>
              <a:t>诱导期后，</a:t>
            </a:r>
            <a:r>
              <a:rPr lang="en-US" altLang="zh-CN" sz="2177" b="1">
                <a:latin typeface="Times New Roman" panose="02020603050405020304" pitchFamily="18" charset="0"/>
                <a:cs typeface="Times New Roman" panose="02020603050405020304" pitchFamily="18" charset="0"/>
              </a:rPr>
              <a:t>C</a:t>
            </a:r>
            <a:r>
              <a:rPr lang="en-US" altLang="zh-CN" sz="2177">
                <a:latin typeface="楷体_GB2312"/>
                <a:ea typeface="楷体_GB2312"/>
                <a:cs typeface="楷体_GB2312"/>
              </a:rPr>
              <a:t>在</a:t>
            </a:r>
            <a:r>
              <a:rPr lang="en-US" altLang="zh-CN" sz="2177" b="1">
                <a:latin typeface="Times New Roman" panose="02020603050405020304" pitchFamily="18" charset="0"/>
                <a:cs typeface="Times New Roman" panose="02020603050405020304" pitchFamily="18" charset="0"/>
              </a:rPr>
              <a:t>10</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20%</a:t>
            </a:r>
            <a:r>
              <a:rPr lang="en-US" altLang="zh-CN" sz="2177">
                <a:latin typeface="楷体_GB2312"/>
                <a:ea typeface="楷体_GB2312"/>
                <a:cs typeface="楷体_GB2312"/>
              </a:rPr>
              <a:t>以下的阶段。</a:t>
            </a:r>
          </a:p>
          <a:p>
            <a:pPr eaLnBrk="1" hangingPunct="1">
              <a:lnSpc>
                <a:spcPts val="907"/>
              </a:lnSpc>
            </a:pPr>
            <a:endParaRPr lang="en-US" altLang="zh-CN" sz="1633"/>
          </a:p>
          <a:p>
            <a:pPr eaLnBrk="1" hangingPunct="1">
              <a:lnSpc>
                <a:spcPts val="2812"/>
              </a:lnSpc>
            </a:pPr>
            <a:r>
              <a:rPr lang="en-US" altLang="zh-CN" sz="1633"/>
              <a:t>		</a:t>
            </a:r>
            <a:r>
              <a:rPr lang="en-US" altLang="zh-CN" sz="2177">
                <a:latin typeface="楷体_GB2312"/>
                <a:ea typeface="楷体_GB2312"/>
                <a:cs typeface="楷体_GB2312"/>
              </a:rPr>
              <a:t>特点：</a:t>
            </a:r>
            <a:r>
              <a:rPr lang="en-US" altLang="zh-CN" sz="2177" b="1">
                <a:latin typeface="Times New Roman" panose="02020603050405020304" pitchFamily="18" charset="0"/>
                <a:cs typeface="Times New Roman" panose="02020603050405020304" pitchFamily="18" charset="0"/>
              </a:rPr>
              <a:t>R</a:t>
            </a:r>
            <a:r>
              <a:rPr lang="en-US" altLang="zh-CN" sz="1452" b="1">
                <a:latin typeface="Times New Roman" panose="02020603050405020304" pitchFamily="18" charset="0"/>
                <a:cs typeface="Times New Roman" panose="02020603050405020304" pitchFamily="18" charset="0"/>
              </a:rPr>
              <a:t>p</a:t>
            </a:r>
            <a:r>
              <a:rPr lang="en-US" altLang="zh-CN" sz="2177">
                <a:latin typeface="楷体_GB2312"/>
                <a:ea typeface="楷体_GB2312"/>
                <a:cs typeface="楷体_GB2312"/>
              </a:rPr>
              <a:t>不随</a:t>
            </a:r>
            <a:r>
              <a:rPr lang="en-US" altLang="zh-CN" sz="2177" b="1">
                <a:latin typeface="Times New Roman" panose="02020603050405020304" pitchFamily="18" charset="0"/>
                <a:cs typeface="Times New Roman" panose="02020603050405020304" pitchFamily="18" charset="0"/>
              </a:rPr>
              <a:t>t</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而变化（</a:t>
            </a:r>
            <a:r>
              <a:rPr lang="en-US" altLang="zh-CN" sz="2177" b="1">
                <a:latin typeface="Times New Roman" panose="02020603050405020304" pitchFamily="18" charset="0"/>
                <a:cs typeface="Times New Roman" panose="02020603050405020304" pitchFamily="18" charset="0"/>
              </a:rPr>
              <a:t>C</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t</a:t>
            </a:r>
            <a:r>
              <a:rPr lang="en-US" altLang="zh-CN" sz="2177">
                <a:latin typeface="楷体_GB2312"/>
                <a:ea typeface="楷体_GB2312"/>
                <a:cs typeface="楷体_GB2312"/>
              </a:rPr>
              <a:t>曲线几乎呈直线）。</a:t>
            </a:r>
          </a:p>
          <a:p>
            <a:pPr eaLnBrk="1" hangingPunct="1">
              <a:lnSpc>
                <a:spcPts val="3266"/>
              </a:lnSpc>
            </a:pPr>
            <a:r>
              <a:rPr lang="en-US" altLang="zh-CN" sz="2268" b="1">
                <a:latin typeface="Times New Roman" panose="02020603050405020304" pitchFamily="18" charset="0"/>
                <a:cs typeface="Times New Roman" panose="02020603050405020304" pitchFamily="18" charset="0"/>
              </a:rPr>
              <a:t>c.</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聚合中期（</a:t>
            </a:r>
            <a:r>
              <a:rPr lang="en-US" altLang="zh-CN" sz="2268" b="1">
                <a:latin typeface="Times New Roman" panose="02020603050405020304" pitchFamily="18" charset="0"/>
                <a:cs typeface="Times New Roman" panose="02020603050405020304" pitchFamily="18" charset="0"/>
              </a:rPr>
              <a:t>Middle</a:t>
            </a:r>
            <a:r>
              <a:rPr lang="en-US" altLang="zh-CN" sz="2268">
                <a:latin typeface="Times New Roman" panose="02020603050405020304" pitchFamily="18" charset="0"/>
                <a:cs typeface="Times New Roman" panose="02020603050405020304" pitchFamily="18" charset="0"/>
              </a:rPr>
              <a:t> </a:t>
            </a:r>
            <a:r>
              <a:rPr lang="en-US" altLang="zh-CN" sz="2268" b="1">
                <a:latin typeface="Times New Roman" panose="02020603050405020304" pitchFamily="18" charset="0"/>
                <a:cs typeface="Times New Roman" panose="02020603050405020304" pitchFamily="18" charset="0"/>
              </a:rPr>
              <a:t>Period</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a:t>
            </a:r>
          </a:p>
          <a:p>
            <a:pPr eaLnBrk="1" hangingPunct="1">
              <a:lnSpc>
                <a:spcPts val="907"/>
              </a:lnSpc>
            </a:pPr>
            <a:endParaRPr lang="en-US" altLang="zh-CN" sz="1633"/>
          </a:p>
          <a:p>
            <a:pPr eaLnBrk="1" hangingPunct="1">
              <a:lnSpc>
                <a:spcPts val="2812"/>
              </a:lnSpc>
            </a:pPr>
            <a:r>
              <a:rPr lang="en-US" altLang="zh-CN" sz="1633"/>
              <a:t>		</a:t>
            </a:r>
            <a:r>
              <a:rPr lang="en-US" altLang="zh-CN" sz="2177" b="1">
                <a:latin typeface="Times New Roman" panose="02020603050405020304" pitchFamily="18" charset="0"/>
                <a:cs typeface="Times New Roman" panose="02020603050405020304" pitchFamily="18" charset="0"/>
              </a:rPr>
              <a:t>C</a:t>
            </a:r>
            <a:r>
              <a:rPr lang="en-US" altLang="zh-CN" sz="2177">
                <a:latin typeface="楷体_GB2312"/>
                <a:ea typeface="楷体_GB2312"/>
                <a:cs typeface="楷体_GB2312"/>
              </a:rPr>
              <a:t>达</a:t>
            </a:r>
            <a:r>
              <a:rPr lang="en-US" altLang="zh-CN" sz="2177" b="1">
                <a:latin typeface="Times New Roman" panose="02020603050405020304" pitchFamily="18" charset="0"/>
                <a:cs typeface="Times New Roman" panose="02020603050405020304" pitchFamily="18" charset="0"/>
              </a:rPr>
              <a:t>10</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20%</a:t>
            </a:r>
            <a:r>
              <a:rPr lang="en-US" altLang="zh-CN" sz="2177">
                <a:latin typeface="楷体_GB2312"/>
                <a:ea typeface="楷体_GB2312"/>
                <a:cs typeface="楷体_GB2312"/>
              </a:rPr>
              <a:t>以上的阶段。</a:t>
            </a:r>
            <a:r>
              <a:rPr lang="en-US" altLang="zh-CN" sz="2177" b="1">
                <a:latin typeface="Times New Roman" panose="02020603050405020304" pitchFamily="18" charset="0"/>
                <a:cs typeface="Times New Roman" panose="02020603050405020304" pitchFamily="18" charset="0"/>
              </a:rPr>
              <a:t>R</a:t>
            </a:r>
            <a:r>
              <a:rPr lang="en-US" altLang="zh-CN" sz="1452" b="1">
                <a:latin typeface="Times New Roman" panose="02020603050405020304" pitchFamily="18" charset="0"/>
                <a:cs typeface="Times New Roman" panose="02020603050405020304" pitchFamily="18" charset="0"/>
              </a:rPr>
              <a:t>p</a:t>
            </a:r>
            <a:r>
              <a:rPr lang="en-US" altLang="zh-CN" sz="2177">
                <a:latin typeface="楷体_GB2312"/>
                <a:ea typeface="楷体_GB2312"/>
                <a:cs typeface="楷体_GB2312"/>
              </a:rPr>
              <a:t>逐渐增加，出现自动加速现</a:t>
            </a:r>
          </a:p>
          <a:p>
            <a:pPr eaLnBrk="1" hangingPunct="1">
              <a:lnSpc>
                <a:spcPts val="2994"/>
              </a:lnSpc>
            </a:pPr>
            <a:r>
              <a:rPr lang="en-US" altLang="zh-CN" sz="1633"/>
              <a:t>	</a:t>
            </a:r>
            <a:r>
              <a:rPr lang="en-US" altLang="zh-CN" sz="2177">
                <a:latin typeface="楷体_GB2312"/>
                <a:ea typeface="楷体_GB2312"/>
                <a:cs typeface="楷体_GB2312"/>
              </a:rPr>
              <a:t>象，也称加速阶段。</a:t>
            </a:r>
          </a:p>
          <a:p>
            <a:pPr eaLnBrk="1" hangingPunct="1">
              <a:lnSpc>
                <a:spcPts val="907"/>
              </a:lnSpc>
            </a:pPr>
            <a:endParaRPr lang="en-US" altLang="zh-CN" sz="1633"/>
          </a:p>
          <a:p>
            <a:pPr eaLnBrk="1" hangingPunct="1">
              <a:lnSpc>
                <a:spcPts val="2722"/>
              </a:lnSpc>
            </a:pPr>
            <a:r>
              <a:rPr lang="en-US" altLang="zh-CN" sz="2268" b="1">
                <a:latin typeface="Times New Roman" panose="02020603050405020304" pitchFamily="18" charset="0"/>
                <a:cs typeface="Times New Roman" panose="02020603050405020304" pitchFamily="18" charset="0"/>
              </a:rPr>
              <a:t>d.</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聚合后期（</a:t>
            </a:r>
            <a:r>
              <a:rPr lang="en-US" altLang="zh-CN" sz="2268" b="1">
                <a:latin typeface="Times New Roman" panose="02020603050405020304" pitchFamily="18" charset="0"/>
                <a:cs typeface="Times New Roman" panose="02020603050405020304" pitchFamily="18" charset="0"/>
              </a:rPr>
              <a:t>Later</a:t>
            </a:r>
            <a:r>
              <a:rPr lang="en-US" altLang="zh-CN" sz="2268">
                <a:latin typeface="Times New Roman" panose="02020603050405020304" pitchFamily="18" charset="0"/>
                <a:cs typeface="Times New Roman" panose="02020603050405020304" pitchFamily="18" charset="0"/>
              </a:rPr>
              <a:t> </a:t>
            </a:r>
            <a:r>
              <a:rPr lang="en-US" altLang="zh-CN" sz="2268" b="1">
                <a:latin typeface="Times New Roman" panose="02020603050405020304" pitchFamily="18" charset="0"/>
                <a:cs typeface="Times New Roman" panose="02020603050405020304" pitchFamily="18" charset="0"/>
              </a:rPr>
              <a:t>Period</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a:t>
            </a:r>
          </a:p>
          <a:p>
            <a:pPr eaLnBrk="1" hangingPunct="1">
              <a:lnSpc>
                <a:spcPts val="907"/>
              </a:lnSpc>
            </a:pPr>
            <a:endParaRPr lang="en-US" altLang="zh-CN" sz="1633"/>
          </a:p>
          <a:p>
            <a:pPr eaLnBrk="1" hangingPunct="1">
              <a:lnSpc>
                <a:spcPts val="2812"/>
              </a:lnSpc>
            </a:pPr>
            <a:r>
              <a:rPr lang="en-US" altLang="zh-CN" sz="1633"/>
              <a:t>		</a:t>
            </a:r>
            <a:r>
              <a:rPr lang="en-US" altLang="zh-CN" sz="2177" b="1">
                <a:latin typeface="Times New Roman" panose="02020603050405020304" pitchFamily="18" charset="0"/>
                <a:cs typeface="Times New Roman" panose="02020603050405020304" pitchFamily="18" charset="0"/>
              </a:rPr>
              <a:t>C</a:t>
            </a:r>
            <a:r>
              <a:rPr lang="en-US" altLang="zh-CN" sz="2177">
                <a:latin typeface="楷体_GB2312"/>
                <a:ea typeface="楷体_GB2312"/>
                <a:cs typeface="楷体_GB2312"/>
              </a:rPr>
              <a:t>在</a:t>
            </a:r>
            <a:r>
              <a:rPr lang="en-US" altLang="zh-CN" sz="2177" b="1">
                <a:latin typeface="Times New Roman" panose="02020603050405020304" pitchFamily="18" charset="0"/>
                <a:cs typeface="Times New Roman" panose="02020603050405020304" pitchFamily="18" charset="0"/>
              </a:rPr>
              <a:t>70%</a:t>
            </a:r>
            <a:r>
              <a:rPr lang="en-US" altLang="zh-CN" sz="2177">
                <a:latin typeface="楷体_GB2312"/>
                <a:ea typeface="楷体_GB2312"/>
                <a:cs typeface="楷体_GB2312"/>
              </a:rPr>
              <a:t>以上，最后可达</a:t>
            </a:r>
            <a:r>
              <a:rPr lang="en-US" altLang="zh-CN" sz="2177" b="1">
                <a:latin typeface="Times New Roman" panose="02020603050405020304" pitchFamily="18" charset="0"/>
                <a:cs typeface="Times New Roman" panose="02020603050405020304" pitchFamily="18" charset="0"/>
              </a:rPr>
              <a:t>90</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95%</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R</a:t>
            </a:r>
            <a:r>
              <a:rPr lang="en-US" altLang="zh-CN" sz="1452" b="1">
                <a:latin typeface="Times New Roman" panose="02020603050405020304" pitchFamily="18" charset="0"/>
                <a:cs typeface="Times New Roman" panose="02020603050405020304" pitchFamily="18" charset="0"/>
              </a:rPr>
              <a:t>p</a:t>
            </a:r>
            <a:r>
              <a:rPr lang="en-US" altLang="zh-CN" sz="2177">
                <a:latin typeface="楷体_GB2312"/>
                <a:ea typeface="楷体_GB2312"/>
                <a:cs typeface="楷体_GB2312"/>
              </a:rPr>
              <a:t>较慢，最后接近零，</a:t>
            </a:r>
          </a:p>
          <a:p>
            <a:pPr eaLnBrk="1" hangingPunct="1">
              <a:lnSpc>
                <a:spcPts val="2994"/>
              </a:lnSpc>
            </a:pPr>
            <a:r>
              <a:rPr lang="en-US" altLang="zh-CN" sz="1633"/>
              <a:t>	</a:t>
            </a:r>
            <a:r>
              <a:rPr lang="en-US" altLang="zh-CN" sz="2177">
                <a:latin typeface="楷体_GB2312"/>
                <a:ea typeface="楷体_GB2312"/>
                <a:cs typeface="楷体_GB2312"/>
              </a:rPr>
              <a:t>也称减速阶段。</a:t>
            </a:r>
          </a:p>
        </p:txBody>
      </p:sp>
      <p:sp>
        <p:nvSpPr>
          <p:cNvPr id="78858" name="TextBox 1"/>
          <p:cNvSpPr txBox="1">
            <a:spLocks noChangeArrowheads="1"/>
          </p:cNvSpPr>
          <p:nvPr/>
        </p:nvSpPr>
        <p:spPr bwMode="auto">
          <a:xfrm>
            <a:off x="2777981" y="5449482"/>
            <a:ext cx="130163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即：匀速</a:t>
            </a:r>
          </a:p>
        </p:txBody>
      </p:sp>
      <p:sp>
        <p:nvSpPr>
          <p:cNvPr id="78859" name="TextBox 1"/>
          <p:cNvSpPr txBox="1">
            <a:spLocks noChangeArrowheads="1"/>
          </p:cNvSpPr>
          <p:nvPr/>
        </p:nvSpPr>
        <p:spPr bwMode="auto">
          <a:xfrm>
            <a:off x="5842542" y="5449482"/>
            <a:ext cx="650819"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加速</a:t>
            </a:r>
          </a:p>
        </p:txBody>
      </p:sp>
      <p:sp>
        <p:nvSpPr>
          <p:cNvPr id="78860" name="TextBox 1"/>
          <p:cNvSpPr txBox="1">
            <a:spLocks noChangeArrowheads="1"/>
          </p:cNvSpPr>
          <p:nvPr/>
        </p:nvSpPr>
        <p:spPr bwMode="auto">
          <a:xfrm>
            <a:off x="8273453" y="5449482"/>
            <a:ext cx="650819"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u="sng">
                <a:latin typeface="楷体_GB2312"/>
                <a:ea typeface="楷体_GB2312"/>
                <a:cs typeface="楷体_GB2312"/>
              </a:rPr>
              <a:t>减速</a:t>
            </a:r>
          </a:p>
        </p:txBody>
      </p:sp>
      <p:pic>
        <p:nvPicPr>
          <p:cNvPr id="78861" name="Picture 3"/>
          <p:cNvPicPr>
            <a:picLocks noChangeAspect="1" noChangeArrowheads="1"/>
          </p:cNvPicPr>
          <p:nvPr/>
        </p:nvPicPr>
        <p:blipFill>
          <a:blip r:embed="rId2">
            <a:extLst>
              <a:ext uri="{28A0092B-C50C-407E-A947-70E740481C1C}">
                <a14:useLocalDpi xmlns:a14="http://schemas.microsoft.com/office/drawing/2010/main" val="0"/>
              </a:ext>
            </a:extLst>
          </a:blip>
          <a:srcRect l="58000" t="4398" r="1950" b="57422"/>
          <a:stretch>
            <a:fillRect/>
          </a:stretch>
        </p:blipFill>
        <p:spPr bwMode="auto">
          <a:xfrm>
            <a:off x="7685886" y="91"/>
            <a:ext cx="3189852" cy="2282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箭头连接符 17"/>
          <p:cNvCxnSpPr/>
          <p:nvPr/>
        </p:nvCxnSpPr>
        <p:spPr>
          <a:xfrm>
            <a:off x="4229613" y="5605012"/>
            <a:ext cx="1451634" cy="0"/>
          </a:xfrm>
          <a:prstGeom prst="straightConnector1">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6582758" y="5628054"/>
            <a:ext cx="1451634" cy="0"/>
          </a:xfrm>
          <a:prstGeom prst="straightConnector1">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70</a:t>
            </a:r>
          </a:p>
        </p:txBody>
      </p:sp>
      <p:sp>
        <p:nvSpPr>
          <p:cNvPr id="79875" name="TextBox 1"/>
          <p:cNvSpPr txBox="1">
            <a:spLocks noChangeArrowheads="1"/>
          </p:cNvSpPr>
          <p:nvPr/>
        </p:nvSpPr>
        <p:spPr bwMode="auto">
          <a:xfrm>
            <a:off x="2512998" y="2292752"/>
            <a:ext cx="6900928" cy="139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聚合动力学主要研究聚合速率、分子量与引</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发剂浓度、单体浓度、聚合温度等因素间的定量</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关系。</a:t>
            </a:r>
          </a:p>
        </p:txBody>
      </p:sp>
      <p:sp>
        <p:nvSpPr>
          <p:cNvPr id="79876" name="TextBox 1"/>
          <p:cNvSpPr txBox="1">
            <a:spLocks noChangeArrowheads="1"/>
          </p:cNvSpPr>
          <p:nvPr/>
        </p:nvSpPr>
        <p:spPr bwMode="auto">
          <a:xfrm>
            <a:off x="2996878" y="3801992"/>
            <a:ext cx="6508192"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聚合速率可用单位时间内单体的消耗量或单位</a:t>
            </a:r>
          </a:p>
        </p:txBody>
      </p:sp>
      <p:sp>
        <p:nvSpPr>
          <p:cNvPr id="79877" name="TextBox 1"/>
          <p:cNvSpPr txBox="1">
            <a:spLocks noChangeArrowheads="1"/>
          </p:cNvSpPr>
          <p:nvPr/>
        </p:nvSpPr>
        <p:spPr bwMode="auto">
          <a:xfrm>
            <a:off x="2513000" y="4331953"/>
            <a:ext cx="4555734"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时间内聚合物的生成量来表示。</a:t>
            </a:r>
          </a:p>
        </p:txBody>
      </p:sp>
      <p:sp>
        <p:nvSpPr>
          <p:cNvPr id="79878" name="TextBox 1"/>
          <p:cNvSpPr txBox="1">
            <a:spLocks noChangeArrowheads="1"/>
          </p:cNvSpPr>
          <p:nvPr/>
        </p:nvSpPr>
        <p:spPr bwMode="auto">
          <a:xfrm>
            <a:off x="2007518" y="551656"/>
            <a:ext cx="4775346"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3.7.2</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微观聚合动力学研究方法</a:t>
            </a:r>
          </a:p>
        </p:txBody>
      </p:sp>
      <p:sp>
        <p:nvSpPr>
          <p:cNvPr id="17" name="TextBox 1"/>
          <p:cNvSpPr txBox="1"/>
          <p:nvPr/>
        </p:nvSpPr>
        <p:spPr>
          <a:xfrm>
            <a:off x="2489958" y="1329316"/>
            <a:ext cx="7038722" cy="343812"/>
          </a:xfrm>
          <a:prstGeom prst="rect">
            <a:avLst/>
          </a:prstGeom>
          <a:noFill/>
        </p:spPr>
        <p:txBody>
          <a:bodyPr wrap="none" lIns="0" tIns="0" rIns="0">
            <a:spAutoFit/>
          </a:bodyPr>
          <a:lstStyle/>
          <a:p>
            <a:pPr>
              <a:lnSpc>
                <a:spcPts val="2268"/>
              </a:lnSpc>
              <a:defRPr/>
            </a:pPr>
            <a:r>
              <a:rPr lang="en-US" altLang="zh-CN" sz="2542" b="1" dirty="0">
                <a:latin typeface="Times New Roman" pitchFamily="18" charset="0"/>
                <a:cs typeface="Times New Roman" pitchFamily="18" charset="0"/>
              </a:rPr>
              <a:t>Research</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approach</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of</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micropolymerization</a:t>
            </a:r>
            <a:r>
              <a:rPr lang="en-US" altLang="zh-CN" sz="2542" dirty="0">
                <a:latin typeface="Times New Roman" pitchFamily="18" charset="0"/>
                <a:cs typeface="Times New Roman" pitchFamily="18" charset="0"/>
              </a:rPr>
              <a:t> </a:t>
            </a:r>
            <a:r>
              <a:rPr lang="en-US" altLang="zh-CN" sz="2542" b="1" dirty="0">
                <a:latin typeface="Times New Roman" pitchFamily="18" charset="0"/>
                <a:cs typeface="Times New Roman" pitchFamily="18" charset="0"/>
              </a:rPr>
              <a:t>kinetic</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71</a:t>
            </a:r>
          </a:p>
        </p:txBody>
      </p:sp>
      <p:sp>
        <p:nvSpPr>
          <p:cNvPr id="80899" name="TextBox 1"/>
          <p:cNvSpPr txBox="1">
            <a:spLocks noChangeArrowheads="1"/>
          </p:cNvSpPr>
          <p:nvPr/>
        </p:nvSpPr>
        <p:spPr bwMode="auto">
          <a:xfrm>
            <a:off x="2320024" y="1144981"/>
            <a:ext cx="6182783"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聚合速率的测定分为</a:t>
            </a:r>
            <a:r>
              <a:rPr lang="en-US" altLang="zh-CN" sz="2540" b="1">
                <a:solidFill>
                  <a:srgbClr val="0000FF"/>
                </a:solidFill>
                <a:latin typeface="楷体_GB2312"/>
                <a:ea typeface="楷体_GB2312"/>
                <a:cs typeface="楷体_GB2312"/>
              </a:rPr>
              <a:t>直接法</a:t>
            </a:r>
            <a:r>
              <a:rPr lang="en-US" altLang="zh-CN" sz="2540">
                <a:latin typeface="楷体_GB2312"/>
                <a:ea typeface="楷体_GB2312"/>
                <a:cs typeface="楷体_GB2312"/>
              </a:rPr>
              <a:t>和</a:t>
            </a:r>
            <a:r>
              <a:rPr lang="en-US" altLang="zh-CN" sz="2540" b="1">
                <a:solidFill>
                  <a:srgbClr val="0000FF"/>
                </a:solidFill>
                <a:latin typeface="楷体_GB2312"/>
                <a:ea typeface="楷体_GB2312"/>
                <a:cs typeface="楷体_GB2312"/>
              </a:rPr>
              <a:t>间接法</a:t>
            </a:r>
            <a:r>
              <a:rPr lang="en-US" altLang="zh-CN" sz="2540">
                <a:latin typeface="楷体_GB2312"/>
                <a:ea typeface="楷体_GB2312"/>
                <a:cs typeface="楷体_GB2312"/>
              </a:rPr>
              <a:t>两种。</a:t>
            </a:r>
          </a:p>
          <a:p>
            <a:pPr eaLnBrk="1" hangingPunct="1">
              <a:lnSpc>
                <a:spcPts val="907"/>
              </a:lnSpc>
            </a:pPr>
            <a:endParaRPr lang="en-US" altLang="zh-CN" sz="1633"/>
          </a:p>
          <a:p>
            <a:pPr eaLnBrk="1" hangingPunct="1">
              <a:lnSpc>
                <a:spcPts val="2994"/>
              </a:lnSpc>
            </a:pPr>
            <a:r>
              <a:rPr lang="en-US" altLang="zh-CN" sz="2540" b="1">
                <a:solidFill>
                  <a:srgbClr val="0000FF"/>
                </a:solidFill>
                <a:latin typeface="楷体_GB2312"/>
                <a:ea typeface="楷体_GB2312"/>
                <a:cs typeface="楷体_GB2312"/>
              </a:rPr>
              <a:t>（</a:t>
            </a:r>
            <a:r>
              <a:rPr lang="en-US" altLang="zh-CN" sz="2540" b="1">
                <a:solidFill>
                  <a:srgbClr val="0000FF"/>
                </a:solidFill>
                <a:latin typeface="Times New Roman" panose="02020603050405020304" pitchFamily="18" charset="0"/>
                <a:cs typeface="Times New Roman" panose="02020603050405020304" pitchFamily="18" charset="0"/>
              </a:rPr>
              <a:t>1</a:t>
            </a:r>
            <a:r>
              <a:rPr lang="en-US" altLang="zh-CN" sz="2540" b="1">
                <a:solidFill>
                  <a:srgbClr val="0000FF"/>
                </a:solidFill>
                <a:latin typeface="楷体_GB2312"/>
                <a:ea typeface="楷体_GB2312"/>
                <a:cs typeface="楷体_GB2312"/>
              </a:rPr>
              <a:t>）直接法</a:t>
            </a:r>
          </a:p>
        </p:txBody>
      </p:sp>
      <p:sp>
        <p:nvSpPr>
          <p:cNvPr id="80900" name="TextBox 1"/>
          <p:cNvSpPr txBox="1">
            <a:spLocks noChangeArrowheads="1"/>
          </p:cNvSpPr>
          <p:nvPr/>
        </p:nvSpPr>
        <p:spPr bwMode="auto">
          <a:xfrm>
            <a:off x="2351707" y="2115619"/>
            <a:ext cx="7484421"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533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533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533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533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533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常用的有</a:t>
            </a:r>
            <a:r>
              <a:rPr lang="en-US" altLang="zh-CN" sz="2540">
                <a:solidFill>
                  <a:srgbClr val="0000FF"/>
                </a:solidFill>
                <a:latin typeface="楷体_GB2312"/>
                <a:ea typeface="楷体_GB2312"/>
                <a:cs typeface="楷体_GB2312"/>
              </a:rPr>
              <a:t>沉淀法</a:t>
            </a:r>
            <a:r>
              <a:rPr lang="en-US" altLang="zh-CN" sz="2540">
                <a:latin typeface="楷体_GB2312"/>
                <a:ea typeface="楷体_GB2312"/>
                <a:cs typeface="楷体_GB2312"/>
              </a:rPr>
              <a:t>。即定时从聚合容器中取样，加</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沉淀剂使聚合物沉淀，然后经分离、精制、干燥、称</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重等步骤求得聚合物量。</a:t>
            </a:r>
          </a:p>
          <a:p>
            <a:pPr eaLnBrk="1" hangingPunct="1">
              <a:lnSpc>
                <a:spcPts val="907"/>
              </a:lnSpc>
            </a:pPr>
            <a:endParaRPr lang="en-US" altLang="zh-CN" sz="1633"/>
          </a:p>
          <a:p>
            <a:pPr eaLnBrk="1" hangingPunct="1">
              <a:lnSpc>
                <a:spcPts val="2994"/>
              </a:lnSpc>
            </a:pPr>
            <a:r>
              <a:rPr lang="en-US" altLang="zh-CN" sz="2540" b="1">
                <a:solidFill>
                  <a:srgbClr val="0000FF"/>
                </a:solidFill>
                <a:latin typeface="楷体_GB2312"/>
                <a:ea typeface="楷体_GB2312"/>
                <a:cs typeface="楷体_GB2312"/>
              </a:rPr>
              <a:t>（</a:t>
            </a:r>
            <a:r>
              <a:rPr lang="en-US" altLang="zh-CN" sz="2540" b="1">
                <a:solidFill>
                  <a:srgbClr val="0000FF"/>
                </a:solidFill>
                <a:latin typeface="Times New Roman" panose="02020603050405020304" pitchFamily="18" charset="0"/>
                <a:cs typeface="Times New Roman" panose="02020603050405020304" pitchFamily="18" charset="0"/>
              </a:rPr>
              <a:t>2</a:t>
            </a:r>
            <a:r>
              <a:rPr lang="en-US" altLang="zh-CN" sz="2540" b="1">
                <a:solidFill>
                  <a:srgbClr val="0000FF"/>
                </a:solidFill>
                <a:latin typeface="楷体_GB2312"/>
                <a:ea typeface="楷体_GB2312"/>
                <a:cs typeface="楷体_GB2312"/>
              </a:rPr>
              <a:t>）间接法</a:t>
            </a:r>
          </a:p>
        </p:txBody>
      </p:sp>
      <p:sp>
        <p:nvSpPr>
          <p:cNvPr id="80901" name="TextBox 1"/>
          <p:cNvSpPr txBox="1">
            <a:spLocks noChangeArrowheads="1"/>
          </p:cNvSpPr>
          <p:nvPr/>
        </p:nvSpPr>
        <p:spPr bwMode="auto">
          <a:xfrm>
            <a:off x="2351706" y="4120256"/>
            <a:ext cx="7372211" cy="864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533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533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533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533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533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533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通过聚合过程中的密度、黏度、折光率、介电常</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数、吸收光谱等物理量的变化间接求得聚合物量。</a:t>
            </a:r>
          </a:p>
        </p:txBody>
      </p:sp>
      <p:sp>
        <p:nvSpPr>
          <p:cNvPr id="80902" name="TextBox 1"/>
          <p:cNvSpPr txBox="1">
            <a:spLocks noChangeArrowheads="1"/>
          </p:cNvSpPr>
          <p:nvPr/>
        </p:nvSpPr>
        <p:spPr bwMode="auto">
          <a:xfrm>
            <a:off x="2420831" y="5265148"/>
            <a:ext cx="6086603"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最常用：</a:t>
            </a:r>
            <a:r>
              <a:rPr lang="en-US" altLang="zh-CN" sz="2540">
                <a:solidFill>
                  <a:srgbClr val="0000FF"/>
                </a:solidFill>
                <a:latin typeface="楷体_GB2312"/>
                <a:ea typeface="楷体_GB2312"/>
                <a:cs typeface="楷体_GB2312"/>
              </a:rPr>
              <a:t>膨胀计法（</a:t>
            </a:r>
            <a:r>
              <a:rPr lang="en-US" altLang="zh-CN" sz="2540" b="1">
                <a:solidFill>
                  <a:srgbClr val="0000FF"/>
                </a:solidFill>
                <a:latin typeface="Times New Roman" panose="02020603050405020304" pitchFamily="18" charset="0"/>
                <a:cs typeface="Times New Roman" panose="02020603050405020304" pitchFamily="18" charset="0"/>
              </a:rPr>
              <a:t>Dilatometer</a:t>
            </a:r>
            <a:r>
              <a:rPr lang="en-US" altLang="zh-CN" sz="2540">
                <a:solidFill>
                  <a:srgbClr val="0000FF"/>
                </a:solidFill>
                <a:latin typeface="Times New Roman" panose="02020603050405020304" pitchFamily="18" charset="0"/>
                <a:cs typeface="Times New Roman" panose="02020603050405020304" pitchFamily="18" charset="0"/>
              </a:rPr>
              <a:t> </a:t>
            </a:r>
            <a:r>
              <a:rPr lang="en-US" altLang="zh-CN" sz="2540" b="1">
                <a:solidFill>
                  <a:srgbClr val="0000FF"/>
                </a:solidFill>
                <a:latin typeface="Times New Roman" panose="02020603050405020304" pitchFamily="18" charset="0"/>
                <a:cs typeface="Times New Roman" panose="02020603050405020304" pitchFamily="18" charset="0"/>
              </a:rPr>
              <a:t>Method</a:t>
            </a:r>
            <a:r>
              <a:rPr lang="en-US" altLang="zh-CN" sz="2540">
                <a:solidFill>
                  <a:srgbClr val="0000FF"/>
                </a:solidFill>
                <a:latin typeface="楷体_GB2312"/>
                <a:ea typeface="楷体_GB2312"/>
                <a:cs typeface="楷体_GB2312"/>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3"/>
          <p:cNvSpPr/>
          <p:nvPr/>
        </p:nvSpPr>
        <p:spPr>
          <a:xfrm>
            <a:off x="7037834" y="4133216"/>
            <a:ext cx="1008079" cy="28802"/>
          </a:xfrm>
          <a:custGeom>
            <a:avLst/>
            <a:gdLst>
              <a:gd name="connsiteX0" fmla="*/ 7905 w 1112329"/>
              <a:gd name="connsiteY0" fmla="*/ 7905 h 31623"/>
              <a:gd name="connsiteX1" fmla="*/ 1104424 w 1112329"/>
              <a:gd name="connsiteY1" fmla="*/ 7905 h 31623"/>
            </a:gdLst>
            <a:ahLst/>
            <a:cxnLst>
              <a:cxn ang="0">
                <a:pos x="connsiteX0" y="connsiteY0"/>
              </a:cxn>
              <a:cxn ang="1">
                <a:pos x="connsiteX1" y="connsiteY1"/>
              </a:cxn>
            </a:cxnLst>
            <a:rect l="l" t="t" r="r" b="b"/>
            <a:pathLst>
              <a:path w="1112329" h="31623">
                <a:moveTo>
                  <a:pt x="7905" y="7905"/>
                </a:moveTo>
                <a:lnTo>
                  <a:pt x="1104424" y="7905"/>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81930" name="TextBox 1"/>
          <p:cNvSpPr txBox="1">
            <a:spLocks noChangeArrowheads="1"/>
          </p:cNvSpPr>
          <p:nvPr/>
        </p:nvSpPr>
        <p:spPr bwMode="auto">
          <a:xfrm>
            <a:off x="2017599" y="656783"/>
            <a:ext cx="8778931" cy="1412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38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8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8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8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8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8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3266" dirty="0" err="1">
                <a:solidFill>
                  <a:srgbClr val="0000FF"/>
                </a:solidFill>
                <a:latin typeface="楷体_GB2312"/>
                <a:ea typeface="楷体_GB2312"/>
                <a:cs typeface="楷体_GB2312"/>
              </a:rPr>
              <a:t>膨胀计法</a:t>
            </a:r>
            <a:r>
              <a:rPr lang="en-US" altLang="zh-CN" sz="3266" dirty="0">
                <a:solidFill>
                  <a:srgbClr val="0000FF"/>
                </a:solidFill>
                <a:latin typeface="楷体_GB2312"/>
                <a:ea typeface="楷体_GB2312"/>
                <a:cs typeface="楷体_GB2312"/>
              </a:rPr>
              <a:t>：</a:t>
            </a:r>
          </a:p>
          <a:p>
            <a:pPr eaLnBrk="1" hangingPunct="1">
              <a:lnSpc>
                <a:spcPts val="907"/>
              </a:lnSpc>
            </a:pPr>
            <a:endParaRPr lang="en-US" altLang="zh-CN" sz="1633" dirty="0">
              <a:solidFill>
                <a:srgbClr val="0000FF"/>
              </a:solidFill>
            </a:endParaRPr>
          </a:p>
          <a:p>
            <a:pPr eaLnBrk="1" hangingPunct="1">
              <a:lnSpc>
                <a:spcPts val="3357"/>
              </a:lnSpc>
            </a:pPr>
            <a:r>
              <a:rPr lang="en-US" altLang="zh-CN" sz="1633" dirty="0">
                <a:solidFill>
                  <a:srgbClr val="0000FF"/>
                </a:solidFill>
              </a:rPr>
              <a:t>	</a:t>
            </a:r>
            <a:r>
              <a:rPr lang="en-US" altLang="zh-CN" sz="2540" dirty="0" err="1">
                <a:solidFill>
                  <a:srgbClr val="0000FF"/>
                </a:solidFill>
                <a:latin typeface="楷体_GB2312"/>
                <a:ea typeface="楷体_GB2312"/>
                <a:cs typeface="楷体_GB2312"/>
              </a:rPr>
              <a:t>原理：聚合物的密度高于单体的密度。随聚合过程的进行，聚合体系的体积将逐渐收缩，且与转化率（</a:t>
            </a:r>
            <a:r>
              <a:rPr lang="en-US" altLang="zh-CN" sz="2540" b="1" dirty="0" err="1">
                <a:solidFill>
                  <a:srgbClr val="0000FF"/>
                </a:solidFill>
                <a:latin typeface="Times New Roman" panose="02020603050405020304" pitchFamily="18" charset="0"/>
                <a:cs typeface="Times New Roman" panose="02020603050405020304" pitchFamily="18" charset="0"/>
              </a:rPr>
              <a:t>C</a:t>
            </a:r>
            <a:r>
              <a:rPr lang="en-US" altLang="zh-CN" sz="2540" dirty="0" err="1">
                <a:solidFill>
                  <a:srgbClr val="0000FF"/>
                </a:solidFill>
                <a:latin typeface="楷体_GB2312"/>
                <a:ea typeface="楷体_GB2312"/>
                <a:cs typeface="楷体_GB2312"/>
              </a:rPr>
              <a:t>）成线性关系</a:t>
            </a:r>
            <a:r>
              <a:rPr lang="en-US" altLang="zh-CN" sz="2540" dirty="0">
                <a:solidFill>
                  <a:srgbClr val="0000FF"/>
                </a:solidFill>
                <a:latin typeface="楷体_GB2312"/>
                <a:ea typeface="楷体_GB2312"/>
                <a:cs typeface="楷体_GB2312"/>
              </a:rPr>
              <a:t>。</a:t>
            </a:r>
          </a:p>
        </p:txBody>
      </p:sp>
      <p:sp>
        <p:nvSpPr>
          <p:cNvPr id="81943" name="TextBox 1"/>
          <p:cNvSpPr txBox="1">
            <a:spLocks noChangeArrowheads="1"/>
          </p:cNvSpPr>
          <p:nvPr/>
        </p:nvSpPr>
        <p:spPr bwMode="auto">
          <a:xfrm>
            <a:off x="2708854" y="5297724"/>
            <a:ext cx="5346015" cy="892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581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581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581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581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dirty="0" err="1">
                <a:latin typeface="楷体_GB2312"/>
                <a:ea typeface="楷体_GB2312"/>
                <a:cs typeface="楷体_GB2312"/>
              </a:rPr>
              <a:t>式中v</a:t>
            </a:r>
            <a:r>
              <a:rPr lang="en-US" altLang="zh-CN" sz="1452" dirty="0" err="1">
                <a:latin typeface="Times New Roman" panose="02020603050405020304" pitchFamily="18" charset="0"/>
                <a:cs typeface="Times New Roman" panose="02020603050405020304" pitchFamily="18" charset="0"/>
              </a:rPr>
              <a:t>m、vp</a:t>
            </a:r>
            <a:r>
              <a:rPr lang="en-US" altLang="zh-CN" sz="2177" dirty="0" err="1">
                <a:latin typeface="楷体_GB2312"/>
                <a:ea typeface="楷体_GB2312"/>
                <a:cs typeface="楷体_GB2312"/>
              </a:rPr>
              <a:t>分别为单体和聚合物的比容</a:t>
            </a:r>
            <a:endParaRPr lang="en-US" altLang="zh-CN" sz="2177" dirty="0">
              <a:latin typeface="楷体_GB2312"/>
              <a:ea typeface="楷体_GB2312"/>
              <a:cs typeface="楷体_GB2312"/>
            </a:endParaRPr>
          </a:p>
          <a:p>
            <a:pPr eaLnBrk="1" hangingPunct="1">
              <a:lnSpc>
                <a:spcPts val="907"/>
              </a:lnSpc>
            </a:pPr>
            <a:endParaRPr lang="en-US" altLang="zh-CN" sz="1633" dirty="0"/>
          </a:p>
          <a:p>
            <a:pPr eaLnBrk="1" hangingPunct="1">
              <a:lnSpc>
                <a:spcPts val="3175"/>
              </a:lnSpc>
            </a:pPr>
            <a:r>
              <a:rPr lang="en-US" altLang="zh-CN" sz="2540" b="1" i="1" dirty="0">
                <a:latin typeface="Times New Roman" panose="02020603050405020304" pitchFamily="18" charset="0"/>
                <a:cs typeface="Times New Roman" panose="02020603050405020304" pitchFamily="18" charset="0"/>
              </a:rPr>
              <a:t>K</a:t>
            </a:r>
            <a:r>
              <a:rPr lang="en-US" altLang="zh-CN" sz="2540" dirty="0">
                <a:latin typeface="Times New Roman" panose="02020603050405020304" pitchFamily="18" charset="0"/>
                <a:cs typeface="Times New Roman" panose="02020603050405020304" pitchFamily="18" charset="0"/>
              </a:rPr>
              <a:t> </a:t>
            </a:r>
            <a:r>
              <a:rPr lang="en-US" altLang="zh-CN" sz="2540" dirty="0">
                <a:latin typeface="楷体_GB2312"/>
                <a:ea typeface="楷体_GB2312"/>
                <a:cs typeface="楷体_GB2312"/>
              </a:rPr>
              <a:t>为转化率为</a:t>
            </a:r>
            <a:r>
              <a:rPr lang="en-US" altLang="zh-CN" sz="2540" b="1" dirty="0">
                <a:latin typeface="Times New Roman" panose="02020603050405020304" pitchFamily="18" charset="0"/>
                <a:cs typeface="Times New Roman" panose="02020603050405020304" pitchFamily="18" charset="0"/>
              </a:rPr>
              <a:t>100%</a:t>
            </a:r>
            <a:r>
              <a:rPr lang="en-US" altLang="zh-CN" sz="2540" dirty="0">
                <a:latin typeface="楷体_GB2312"/>
                <a:ea typeface="楷体_GB2312"/>
                <a:cs typeface="楷体_GB2312"/>
              </a:rPr>
              <a:t>时的体积变化率。</a:t>
            </a:r>
            <a:endParaRPr lang="en-US" altLang="zh-CN" sz="1089" dirty="0">
              <a:latin typeface="Times New Roman" panose="02020603050405020304" pitchFamily="18" charset="0"/>
              <a:cs typeface="Times New Roman" panose="02020603050405020304" pitchFamily="18" charset="0"/>
            </a:endParaRPr>
          </a:p>
        </p:txBody>
      </p:sp>
      <p:pic>
        <p:nvPicPr>
          <p:cNvPr id="81944"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2387" y="2014812"/>
            <a:ext cx="2772219" cy="2180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688720" y="2083041"/>
            <a:ext cx="4570482" cy="427361"/>
          </a:xfrm>
          <a:prstGeom prst="rect">
            <a:avLst/>
          </a:prstGeom>
        </p:spPr>
        <p:txBody>
          <a:bodyPr wrap="none">
            <a:spAutoFit/>
          </a:bodyPr>
          <a:lstStyle/>
          <a:p>
            <a:r>
              <a:rPr lang="en-US" altLang="zh-CN" sz="2177" dirty="0" err="1">
                <a:latin typeface="Times New Roman" panose="02020603050405020304" pitchFamily="18" charset="0"/>
                <a:cs typeface="Times New Roman" panose="02020603050405020304" pitchFamily="18" charset="0"/>
              </a:rPr>
              <a:t>Vm、Vp</a:t>
            </a:r>
            <a:r>
              <a:rPr lang="en-US" altLang="zh-CN" sz="2177" dirty="0" err="1">
                <a:latin typeface="楷体_GB2312"/>
                <a:ea typeface="楷体_GB2312"/>
                <a:cs typeface="楷体_GB2312"/>
              </a:rPr>
              <a:t>分别为单体和聚合物的</a:t>
            </a:r>
            <a:r>
              <a:rPr lang="zh-CN" altLang="en-US" sz="2177" dirty="0">
                <a:latin typeface="楷体_GB2312"/>
                <a:ea typeface="楷体_GB2312"/>
                <a:cs typeface="楷体_GB2312"/>
              </a:rPr>
              <a:t>体积</a:t>
            </a:r>
            <a:endParaRPr lang="zh-CN" altLang="en-US" sz="2177" dirty="0"/>
          </a:p>
        </p:txBody>
      </p:sp>
      <p:graphicFrame>
        <p:nvGraphicFramePr>
          <p:cNvPr id="3" name="对象 2"/>
          <p:cNvGraphicFramePr>
            <a:graphicFrameLocks noChangeAspect="1"/>
          </p:cNvGraphicFramePr>
          <p:nvPr>
            <p:extLst/>
          </p:nvPr>
        </p:nvGraphicFramePr>
        <p:xfrm>
          <a:off x="1807335" y="2736157"/>
          <a:ext cx="6155054" cy="621723"/>
        </p:xfrm>
        <a:graphic>
          <a:graphicData uri="http://schemas.openxmlformats.org/presentationml/2006/ole">
            <mc:AlternateContent xmlns:mc="http://schemas.openxmlformats.org/markup-compatibility/2006">
              <mc:Choice xmlns:v="urn:schemas-microsoft-com:vml" Requires="v">
                <p:oleObj spid="_x0000_s7179" name="公式" r:id="rId4" imgW="5029200" imgH="507960" progId="Equation.3">
                  <p:embed/>
                </p:oleObj>
              </mc:Choice>
              <mc:Fallback>
                <p:oleObj name="公式" r:id="rId4" imgW="5029200" imgH="507960" progId="Equation.3">
                  <p:embed/>
                  <p:pic>
                    <p:nvPicPr>
                      <p:cNvPr id="3" name="对象 2"/>
                      <p:cNvPicPr/>
                      <p:nvPr/>
                    </p:nvPicPr>
                    <p:blipFill>
                      <a:blip r:embed="rId5"/>
                      <a:stretch>
                        <a:fillRect/>
                      </a:stretch>
                    </p:blipFill>
                    <p:spPr>
                      <a:xfrm>
                        <a:off x="1807335" y="2736157"/>
                        <a:ext cx="6155054" cy="621723"/>
                      </a:xfrm>
                      <a:prstGeom prst="rect">
                        <a:avLst/>
                      </a:prstGeom>
                    </p:spPr>
                  </p:pic>
                </p:oleObj>
              </mc:Fallback>
            </mc:AlternateContent>
          </a:graphicData>
        </a:graphic>
      </p:graphicFrame>
      <p:graphicFrame>
        <p:nvGraphicFramePr>
          <p:cNvPr id="33" name="对象 32"/>
          <p:cNvGraphicFramePr>
            <a:graphicFrameLocks noChangeAspect="1"/>
          </p:cNvGraphicFramePr>
          <p:nvPr>
            <p:extLst/>
          </p:nvPr>
        </p:nvGraphicFramePr>
        <p:xfrm>
          <a:off x="1807335" y="3620728"/>
          <a:ext cx="5602330" cy="780541"/>
        </p:xfrm>
        <a:graphic>
          <a:graphicData uri="http://schemas.openxmlformats.org/presentationml/2006/ole">
            <mc:AlternateContent xmlns:mc="http://schemas.openxmlformats.org/markup-compatibility/2006">
              <mc:Choice xmlns:v="urn:schemas-microsoft-com:vml" Requires="v">
                <p:oleObj spid="_x0000_s7180" name="公式" r:id="rId6" imgW="3377880" imgH="469800" progId="Equation.3">
                  <p:embed/>
                </p:oleObj>
              </mc:Choice>
              <mc:Fallback>
                <p:oleObj name="公式" r:id="rId6" imgW="3377880" imgH="469800" progId="Equation.3">
                  <p:embed/>
                  <p:pic>
                    <p:nvPicPr>
                      <p:cNvPr id="33" name="对象 32"/>
                      <p:cNvPicPr/>
                      <p:nvPr/>
                    </p:nvPicPr>
                    <p:blipFill>
                      <a:blip r:embed="rId7"/>
                      <a:stretch>
                        <a:fillRect/>
                      </a:stretch>
                    </p:blipFill>
                    <p:spPr>
                      <a:xfrm>
                        <a:off x="1807335" y="3620728"/>
                        <a:ext cx="5602330" cy="780541"/>
                      </a:xfrm>
                      <a:prstGeom prst="rect">
                        <a:avLst/>
                      </a:prstGeom>
                    </p:spPr>
                  </p:pic>
                </p:oleObj>
              </mc:Fallback>
            </mc:AlternateContent>
          </a:graphicData>
        </a:graphic>
      </p:graphicFrame>
      <p:graphicFrame>
        <p:nvGraphicFramePr>
          <p:cNvPr id="34" name="对象 33"/>
          <p:cNvGraphicFramePr>
            <a:graphicFrameLocks noChangeAspect="1"/>
          </p:cNvGraphicFramePr>
          <p:nvPr>
            <p:extLst/>
          </p:nvPr>
        </p:nvGraphicFramePr>
        <p:xfrm>
          <a:off x="2534477" y="4459227"/>
          <a:ext cx="5013035" cy="780541"/>
        </p:xfrm>
        <a:graphic>
          <a:graphicData uri="http://schemas.openxmlformats.org/presentationml/2006/ole">
            <mc:AlternateContent xmlns:mc="http://schemas.openxmlformats.org/markup-compatibility/2006">
              <mc:Choice xmlns:v="urn:schemas-microsoft-com:vml" Requires="v">
                <p:oleObj spid="_x0000_s7181" name="公式" r:id="rId8" imgW="3022560" imgH="469800" progId="Equation.3">
                  <p:embed/>
                </p:oleObj>
              </mc:Choice>
              <mc:Fallback>
                <p:oleObj name="公式" r:id="rId8" imgW="3022560" imgH="469800" progId="Equation.3">
                  <p:embed/>
                  <p:pic>
                    <p:nvPicPr>
                      <p:cNvPr id="34" name="对象 33"/>
                      <p:cNvPicPr/>
                      <p:nvPr/>
                    </p:nvPicPr>
                    <p:blipFill>
                      <a:blip r:embed="rId9"/>
                      <a:stretch>
                        <a:fillRect/>
                      </a:stretch>
                    </p:blipFill>
                    <p:spPr>
                      <a:xfrm>
                        <a:off x="2534477" y="4459227"/>
                        <a:ext cx="5013035" cy="780541"/>
                      </a:xfrm>
                      <a:prstGeom prst="rect">
                        <a:avLst/>
                      </a:prstGeom>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73</a:t>
            </a:r>
          </a:p>
        </p:txBody>
      </p:sp>
      <p:sp>
        <p:nvSpPr>
          <p:cNvPr id="82947" name="TextBox 1"/>
          <p:cNvSpPr txBox="1">
            <a:spLocks noChangeArrowheads="1"/>
          </p:cNvSpPr>
          <p:nvPr/>
        </p:nvSpPr>
        <p:spPr bwMode="auto">
          <a:xfrm>
            <a:off x="2029121" y="610700"/>
            <a:ext cx="4414670"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3.7.3</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自由基聚合微观动力学</a:t>
            </a:r>
          </a:p>
        </p:txBody>
      </p:sp>
      <p:sp>
        <p:nvSpPr>
          <p:cNvPr id="82948" name="TextBox 1"/>
          <p:cNvSpPr txBox="1">
            <a:spLocks noChangeArrowheads="1"/>
          </p:cNvSpPr>
          <p:nvPr/>
        </p:nvSpPr>
        <p:spPr bwMode="auto">
          <a:xfrm>
            <a:off x="2590765" y="1216989"/>
            <a:ext cx="7256795" cy="886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19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19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19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19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19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19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19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19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19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540"/>
              </a:lnSpc>
            </a:pPr>
            <a:r>
              <a:rPr lang="en-US" altLang="zh-CN" sz="2812" b="1">
                <a:latin typeface="Times New Roman" panose="02020603050405020304" pitchFamily="18" charset="0"/>
                <a:cs typeface="Times New Roman" panose="02020603050405020304" pitchFamily="18" charset="0"/>
              </a:rPr>
              <a:t>Micro-kinetic</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of</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free</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radical</a:t>
            </a:r>
            <a:r>
              <a:rPr lang="en-US" altLang="zh-CN" sz="2812">
                <a:latin typeface="Times New Roman" panose="02020603050405020304" pitchFamily="18" charset="0"/>
                <a:cs typeface="Times New Roman" panose="02020603050405020304" pitchFamily="18" charset="0"/>
              </a:rPr>
              <a:t> </a:t>
            </a:r>
            <a:r>
              <a:rPr lang="en-US" altLang="zh-CN" sz="2812" b="1">
                <a:latin typeface="Times New Roman" panose="02020603050405020304" pitchFamily="18" charset="0"/>
                <a:cs typeface="Times New Roman" panose="02020603050405020304" pitchFamily="18" charset="0"/>
              </a:rPr>
              <a:t>polymerization</a:t>
            </a:r>
          </a:p>
          <a:p>
            <a:pPr eaLnBrk="1" hangingPunct="1">
              <a:lnSpc>
                <a:spcPts val="907"/>
              </a:lnSpc>
            </a:pPr>
            <a:endParaRPr lang="en-US" altLang="zh-CN" sz="1633"/>
          </a:p>
          <a:p>
            <a:pPr eaLnBrk="1" hangingPunct="1">
              <a:lnSpc>
                <a:spcPts val="3357"/>
              </a:lnSpc>
            </a:pPr>
            <a:r>
              <a:rPr lang="en-US" altLang="zh-CN" sz="1633"/>
              <a:t>	</a:t>
            </a:r>
            <a:r>
              <a:rPr lang="en-US" altLang="zh-CN" sz="2540">
                <a:latin typeface="楷体_GB2312"/>
                <a:ea typeface="楷体_GB2312"/>
                <a:cs typeface="楷体_GB2312"/>
              </a:rPr>
              <a:t>研究聚合初期的反应速率与引发剂浓度、单体浓</a:t>
            </a:r>
          </a:p>
        </p:txBody>
      </p:sp>
      <p:sp>
        <p:nvSpPr>
          <p:cNvPr id="82949" name="TextBox 1"/>
          <p:cNvSpPr txBox="1">
            <a:spLocks noChangeArrowheads="1"/>
          </p:cNvSpPr>
          <p:nvPr/>
        </p:nvSpPr>
        <p:spPr bwMode="auto">
          <a:xfrm>
            <a:off x="2321466" y="2288433"/>
            <a:ext cx="4230325"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度、温度等参数的定量关系。</a:t>
            </a:r>
          </a:p>
        </p:txBody>
      </p:sp>
      <p:sp>
        <p:nvSpPr>
          <p:cNvPr id="82950" name="TextBox 1"/>
          <p:cNvSpPr txBox="1">
            <a:spLocks noChangeArrowheads="1"/>
          </p:cNvSpPr>
          <p:nvPr/>
        </p:nvSpPr>
        <p:spPr bwMode="auto">
          <a:xfrm>
            <a:off x="2317145" y="2972486"/>
            <a:ext cx="7551747" cy="140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22300" algn="l"/>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22300" algn="l"/>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22300" algn="l"/>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22300" algn="l"/>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22300" algn="l"/>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22300" algn="l"/>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22300" algn="l"/>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22300" algn="l"/>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22300" algn="l"/>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自由基聚合由链引发、链增长和链终止等基元反</a:t>
            </a:r>
          </a:p>
          <a:p>
            <a:pPr eaLnBrk="1" hangingPunct="1">
              <a:lnSpc>
                <a:spcPts val="907"/>
              </a:lnSpc>
            </a:pPr>
            <a:endParaRPr lang="en-US" altLang="zh-CN" sz="1633"/>
          </a:p>
          <a:p>
            <a:pPr eaLnBrk="1" hangingPunct="1">
              <a:lnSpc>
                <a:spcPts val="907"/>
              </a:lnSpc>
            </a:pPr>
            <a:endParaRPr lang="en-US" altLang="zh-CN" sz="1633"/>
          </a:p>
          <a:p>
            <a:pPr eaLnBrk="1" hangingPunct="1">
              <a:lnSpc>
                <a:spcPts val="2631"/>
              </a:lnSpc>
            </a:pPr>
            <a:r>
              <a:rPr lang="en-US" altLang="zh-CN" sz="2540">
                <a:latin typeface="楷体_GB2312"/>
                <a:ea typeface="楷体_GB2312"/>
                <a:cs typeface="楷体_GB2312"/>
              </a:rPr>
              <a:t>应组成，各基元反应对聚合总速率有不同的贡献。</a:t>
            </a:r>
          </a:p>
          <a:p>
            <a:pPr eaLnBrk="1" hangingPunct="1">
              <a:lnSpc>
                <a:spcPts val="907"/>
              </a:lnSpc>
            </a:pPr>
            <a:endParaRPr lang="en-US" altLang="zh-CN" sz="1633"/>
          </a:p>
          <a:p>
            <a:pPr eaLnBrk="1" hangingPunct="1">
              <a:lnSpc>
                <a:spcPts val="3084"/>
              </a:lnSpc>
            </a:pPr>
            <a:r>
              <a:rPr lang="en-US" altLang="zh-CN" sz="1633"/>
              <a:t>		</a:t>
            </a:r>
            <a:r>
              <a:rPr lang="en-US" altLang="zh-CN" sz="2540">
                <a:latin typeface="楷体_GB2312"/>
                <a:ea typeface="楷体_GB2312"/>
                <a:cs typeface="楷体_GB2312"/>
              </a:rPr>
              <a:t>根据自由基聚合机理和质量作用定律，可以由各</a:t>
            </a:r>
          </a:p>
        </p:txBody>
      </p:sp>
      <p:sp>
        <p:nvSpPr>
          <p:cNvPr id="82951" name="TextBox 1"/>
          <p:cNvSpPr txBox="1">
            <a:spLocks noChangeArrowheads="1"/>
          </p:cNvSpPr>
          <p:nvPr/>
        </p:nvSpPr>
        <p:spPr bwMode="auto">
          <a:xfrm>
            <a:off x="2321465" y="4535010"/>
            <a:ext cx="5206554"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基元反应得总聚合速率的普适方程。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3"/>
          <p:cNvSpPr txBox="1">
            <a:spLocks noChangeArrowheads="1"/>
          </p:cNvSpPr>
          <p:nvPr/>
        </p:nvSpPr>
        <p:spPr bwMode="auto">
          <a:xfrm>
            <a:off x="1810222" y="1120499"/>
            <a:ext cx="8087677" cy="53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903" b="1">
                <a:latin typeface="Times New Roman" panose="02020603050405020304" pitchFamily="18" charset="0"/>
                <a:cs typeface="Times New Roman" panose="02020603050405020304" pitchFamily="18" charset="0"/>
              </a:rPr>
              <a:t>Free Radical Polymerization Mechanism</a:t>
            </a:r>
            <a:endParaRPr lang="zh-CN" altLang="en-US" sz="2903" b="1">
              <a:latin typeface="Times New Roman" panose="02020603050405020304" pitchFamily="18" charset="0"/>
              <a:cs typeface="Times New Roman" panose="02020603050405020304" pitchFamily="18" charset="0"/>
            </a:endParaRPr>
          </a:p>
        </p:txBody>
      </p:sp>
      <p:graphicFrame>
        <p:nvGraphicFramePr>
          <p:cNvPr id="83971" name="对象 4"/>
          <p:cNvGraphicFramePr>
            <a:graphicFrameLocks noChangeAspect="1"/>
          </p:cNvGraphicFramePr>
          <p:nvPr/>
        </p:nvGraphicFramePr>
        <p:xfrm>
          <a:off x="2708853" y="2392122"/>
          <a:ext cx="2212014" cy="1124728"/>
        </p:xfrm>
        <a:graphic>
          <a:graphicData uri="http://schemas.openxmlformats.org/presentationml/2006/ole">
            <mc:AlternateContent xmlns:mc="http://schemas.openxmlformats.org/markup-compatibility/2006">
              <mc:Choice xmlns:v="urn:schemas-microsoft-com:vml" Requires="v">
                <p:oleObj spid="_x0000_s8206" name="CS ChemDraw Drawing" r:id="rId3" imgW="1121322" imgH="569609" progId="ChemDraw.Document.6.0">
                  <p:embed/>
                </p:oleObj>
              </mc:Choice>
              <mc:Fallback>
                <p:oleObj name="CS ChemDraw Drawing" r:id="rId3" imgW="1121322" imgH="569609" progId="ChemDraw.Document.6.0">
                  <p:embed/>
                  <p:pic>
                    <p:nvPicPr>
                      <p:cNvPr id="83971"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8853" y="2392122"/>
                        <a:ext cx="2212014" cy="112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2" name="对象 5"/>
          <p:cNvGraphicFramePr>
            <a:graphicFrameLocks noChangeAspect="1"/>
          </p:cNvGraphicFramePr>
          <p:nvPr/>
        </p:nvGraphicFramePr>
        <p:xfrm>
          <a:off x="2639730" y="4880635"/>
          <a:ext cx="2625327" cy="541483"/>
        </p:xfrm>
        <a:graphic>
          <a:graphicData uri="http://schemas.openxmlformats.org/presentationml/2006/ole">
            <mc:AlternateContent xmlns:mc="http://schemas.openxmlformats.org/markup-compatibility/2006">
              <mc:Choice xmlns:v="urn:schemas-microsoft-com:vml" Requires="v">
                <p:oleObj spid="_x0000_s8207" name="CS ChemDraw Drawing" r:id="rId5" imgW="1362010" imgH="280211" progId="ChemDraw.Document.6.0">
                  <p:embed/>
                </p:oleObj>
              </mc:Choice>
              <mc:Fallback>
                <p:oleObj name="CS ChemDraw Drawing" r:id="rId5" imgW="1362010" imgH="280211" progId="ChemDraw.Document.6.0">
                  <p:embed/>
                  <p:pic>
                    <p:nvPicPr>
                      <p:cNvPr id="83972"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9730" y="4880635"/>
                        <a:ext cx="2625327" cy="54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3" name="对象 6"/>
          <p:cNvGraphicFramePr>
            <a:graphicFrameLocks noChangeAspect="1"/>
          </p:cNvGraphicFramePr>
          <p:nvPr/>
        </p:nvGraphicFramePr>
        <p:xfrm>
          <a:off x="6372503" y="2449724"/>
          <a:ext cx="2834143" cy="1565403"/>
        </p:xfrm>
        <a:graphic>
          <a:graphicData uri="http://schemas.openxmlformats.org/presentationml/2006/ole">
            <mc:AlternateContent xmlns:mc="http://schemas.openxmlformats.org/markup-compatibility/2006">
              <mc:Choice xmlns:v="urn:schemas-microsoft-com:vml" Requires="v">
                <p:oleObj spid="_x0000_s8208" name="CS ChemDraw Drawing" r:id="rId7" imgW="1680767" imgH="927911" progId="ChemDraw.Document.6.0">
                  <p:embed/>
                </p:oleObj>
              </mc:Choice>
              <mc:Fallback>
                <p:oleObj name="CS ChemDraw Drawing" r:id="rId7" imgW="1680767" imgH="927911" progId="ChemDraw.Document.6.0">
                  <p:embed/>
                  <p:pic>
                    <p:nvPicPr>
                      <p:cNvPr id="83973"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503" y="2449724"/>
                        <a:ext cx="2834143" cy="156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4" name="对象 7"/>
          <p:cNvGraphicFramePr>
            <a:graphicFrameLocks noChangeAspect="1"/>
          </p:cNvGraphicFramePr>
          <p:nvPr/>
        </p:nvGraphicFramePr>
        <p:xfrm>
          <a:off x="6441629" y="5018886"/>
          <a:ext cx="3078962" cy="1035441"/>
        </p:xfrm>
        <a:graphic>
          <a:graphicData uri="http://schemas.openxmlformats.org/presentationml/2006/ole">
            <mc:AlternateContent xmlns:mc="http://schemas.openxmlformats.org/markup-compatibility/2006">
              <mc:Choice xmlns:v="urn:schemas-microsoft-com:vml" Requires="v">
                <p:oleObj spid="_x0000_s8209" name="CS ChemDraw Drawing" r:id="rId9" imgW="1793413" imgH="603115" progId="ChemDraw.Document.6.0">
                  <p:embed/>
                </p:oleObj>
              </mc:Choice>
              <mc:Fallback>
                <p:oleObj name="CS ChemDraw Drawing" r:id="rId9" imgW="1793413" imgH="603115" progId="ChemDraw.Document.6.0">
                  <p:embed/>
                  <p:pic>
                    <p:nvPicPr>
                      <p:cNvPr id="83974"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1629" y="5018886"/>
                        <a:ext cx="3078962" cy="103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5" name="TextBox 8"/>
          <p:cNvSpPr txBox="1">
            <a:spLocks noChangeArrowheads="1"/>
          </p:cNvSpPr>
          <p:nvPr/>
        </p:nvSpPr>
        <p:spPr bwMode="auto">
          <a:xfrm>
            <a:off x="2305622" y="1883761"/>
            <a:ext cx="1589885" cy="45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359" b="1">
                <a:solidFill>
                  <a:srgbClr val="0000FF"/>
                </a:solidFill>
                <a:latin typeface="Times New Roman" panose="02020603050405020304" pitchFamily="18" charset="0"/>
                <a:cs typeface="Times New Roman" panose="02020603050405020304" pitchFamily="18" charset="0"/>
              </a:rPr>
              <a:t>Initiation:</a:t>
            </a:r>
            <a:endParaRPr lang="zh-CN" altLang="en-US" sz="2359" b="1">
              <a:solidFill>
                <a:srgbClr val="0000FF"/>
              </a:solidFill>
              <a:latin typeface="Times New Roman" panose="02020603050405020304" pitchFamily="18" charset="0"/>
              <a:cs typeface="Times New Roman" panose="02020603050405020304" pitchFamily="18" charset="0"/>
            </a:endParaRPr>
          </a:p>
        </p:txBody>
      </p:sp>
      <p:sp>
        <p:nvSpPr>
          <p:cNvPr id="83976" name="TextBox 9"/>
          <p:cNvSpPr txBox="1">
            <a:spLocks noChangeArrowheads="1"/>
          </p:cNvSpPr>
          <p:nvPr/>
        </p:nvSpPr>
        <p:spPr bwMode="auto">
          <a:xfrm>
            <a:off x="2363226" y="4258508"/>
            <a:ext cx="2471235" cy="45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359" b="1">
                <a:solidFill>
                  <a:srgbClr val="0000FF"/>
                </a:solidFill>
                <a:latin typeface="Times New Roman" panose="02020603050405020304" pitchFamily="18" charset="0"/>
                <a:cs typeface="Times New Roman" panose="02020603050405020304" pitchFamily="18" charset="0"/>
              </a:rPr>
              <a:t>Propagation:</a:t>
            </a:r>
            <a:endParaRPr lang="zh-CN" altLang="en-US" sz="2359" b="1">
              <a:solidFill>
                <a:srgbClr val="0000FF"/>
              </a:solidFill>
              <a:latin typeface="Times New Roman" panose="02020603050405020304" pitchFamily="18" charset="0"/>
              <a:cs typeface="Times New Roman" panose="02020603050405020304" pitchFamily="18" charset="0"/>
            </a:endParaRPr>
          </a:p>
        </p:txBody>
      </p:sp>
      <p:sp>
        <p:nvSpPr>
          <p:cNvPr id="83977" name="TextBox 10"/>
          <p:cNvSpPr txBox="1">
            <a:spLocks noChangeArrowheads="1"/>
          </p:cNvSpPr>
          <p:nvPr/>
        </p:nvSpPr>
        <p:spPr bwMode="auto">
          <a:xfrm>
            <a:off x="6096000" y="1883760"/>
            <a:ext cx="2695892" cy="45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359" b="1">
                <a:solidFill>
                  <a:srgbClr val="0000FF"/>
                </a:solidFill>
                <a:latin typeface="Times New Roman" panose="02020603050405020304" pitchFamily="18" charset="0"/>
                <a:cs typeface="Times New Roman" panose="02020603050405020304" pitchFamily="18" charset="0"/>
              </a:rPr>
              <a:t>Chain Transfer:</a:t>
            </a:r>
            <a:endParaRPr lang="zh-CN" altLang="en-US" sz="2359" b="1">
              <a:solidFill>
                <a:srgbClr val="0000FF"/>
              </a:solidFill>
              <a:latin typeface="Times New Roman" panose="02020603050405020304" pitchFamily="18" charset="0"/>
              <a:cs typeface="Times New Roman" panose="02020603050405020304" pitchFamily="18" charset="0"/>
            </a:endParaRPr>
          </a:p>
        </p:txBody>
      </p:sp>
      <p:sp>
        <p:nvSpPr>
          <p:cNvPr id="83978" name="TextBox 11"/>
          <p:cNvSpPr txBox="1">
            <a:spLocks noChangeArrowheads="1"/>
          </p:cNvSpPr>
          <p:nvPr/>
        </p:nvSpPr>
        <p:spPr bwMode="auto">
          <a:xfrm>
            <a:off x="6165126" y="4327633"/>
            <a:ext cx="2557641" cy="455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359" b="1">
                <a:solidFill>
                  <a:srgbClr val="0000FF"/>
                </a:solidFill>
                <a:latin typeface="Times New Roman" panose="02020603050405020304" pitchFamily="18" charset="0"/>
                <a:cs typeface="Times New Roman" panose="02020603050405020304" pitchFamily="18" charset="0"/>
              </a:rPr>
              <a:t>Termination:</a:t>
            </a:r>
            <a:endParaRPr lang="zh-CN" altLang="en-US" sz="2359" b="1">
              <a:solidFill>
                <a:srgbClr val="0000FF"/>
              </a:solidFill>
              <a:latin typeface="Times New Roman" panose="02020603050405020304" pitchFamily="18" charset="0"/>
              <a:cs typeface="Times New Roman" panose="02020603050405020304" pitchFamily="18" charset="0"/>
            </a:endParaRPr>
          </a:p>
        </p:txBody>
      </p:sp>
      <p:cxnSp>
        <p:nvCxnSpPr>
          <p:cNvPr id="14" name="直接连接符 13"/>
          <p:cNvCxnSpPr/>
          <p:nvPr/>
        </p:nvCxnSpPr>
        <p:spPr>
          <a:xfrm>
            <a:off x="2363226" y="2333074"/>
            <a:ext cx="29723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34251" y="2333074"/>
            <a:ext cx="29723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409310" y="4758225"/>
            <a:ext cx="29723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234251" y="4758225"/>
            <a:ext cx="297239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a:xfrm>
            <a:off x="1660451" y="249230"/>
            <a:ext cx="5057678" cy="760380"/>
          </a:xfrm>
        </p:spPr>
        <p:txBody>
          <a:bodyPr/>
          <a:lstStyle/>
          <a:p>
            <a:r>
              <a:rPr lang="zh-CN" altLang="en-US" sz="3266">
                <a:latin typeface="Times New Roman" panose="02020603050405020304" pitchFamily="18" charset="0"/>
                <a:cs typeface="Times New Roman" panose="02020603050405020304" pitchFamily="18" charset="0"/>
              </a:rPr>
              <a:t>链引发 </a:t>
            </a:r>
            <a:r>
              <a:rPr lang="en-US" altLang="zh-CN" sz="3266">
                <a:latin typeface="Times New Roman" panose="02020603050405020304" pitchFamily="18" charset="0"/>
                <a:cs typeface="Times New Roman" panose="02020603050405020304" pitchFamily="18" charset="0"/>
              </a:rPr>
              <a:t>Initiation and Start</a:t>
            </a:r>
            <a:endParaRPr lang="zh-CN" altLang="en-US" sz="3266">
              <a:latin typeface="Times New Roman" panose="02020603050405020304" pitchFamily="18" charset="0"/>
              <a:cs typeface="Times New Roman" panose="02020603050405020304" pitchFamily="18" charset="0"/>
            </a:endParaRPr>
          </a:p>
        </p:txBody>
      </p:sp>
      <p:graphicFrame>
        <p:nvGraphicFramePr>
          <p:cNvPr id="84995" name="对象 3"/>
          <p:cNvGraphicFramePr>
            <a:graphicFrameLocks noChangeAspect="1"/>
          </p:cNvGraphicFramePr>
          <p:nvPr/>
        </p:nvGraphicFramePr>
        <p:xfrm>
          <a:off x="2086724" y="1424365"/>
          <a:ext cx="2212014" cy="1124728"/>
        </p:xfrm>
        <a:graphic>
          <a:graphicData uri="http://schemas.openxmlformats.org/presentationml/2006/ole">
            <mc:AlternateContent xmlns:mc="http://schemas.openxmlformats.org/markup-compatibility/2006">
              <mc:Choice xmlns:v="urn:schemas-microsoft-com:vml" Requires="v">
                <p:oleObj spid="_x0000_s9221" name="CS ChemDraw Drawing" r:id="rId3" imgW="1121322" imgH="569609" progId="ChemDraw.Document.6.0">
                  <p:embed/>
                </p:oleObj>
              </mc:Choice>
              <mc:Fallback>
                <p:oleObj name="CS ChemDraw Drawing" r:id="rId3" imgW="1121322" imgH="569609" progId="ChemDraw.Document.6.0">
                  <p:embed/>
                  <p:pic>
                    <p:nvPicPr>
                      <p:cNvPr id="84995"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6724" y="1424365"/>
                        <a:ext cx="2212014" cy="112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4996" name="TextBox 4"/>
          <p:cNvSpPr txBox="1">
            <a:spLocks noChangeArrowheads="1"/>
          </p:cNvSpPr>
          <p:nvPr/>
        </p:nvSpPr>
        <p:spPr bwMode="auto">
          <a:xfrm>
            <a:off x="4857503" y="1582776"/>
            <a:ext cx="1935512"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540"/>
              <a:t>分解速率：</a:t>
            </a:r>
          </a:p>
        </p:txBody>
      </p:sp>
      <p:sp>
        <p:nvSpPr>
          <p:cNvPr id="6" name="TextBox 5"/>
          <p:cNvSpPr txBox="1">
            <a:spLocks noRot="1" noChangeAspect="1" noMove="1" noResize="1" noEditPoints="1" noAdjustHandles="1" noChangeArrowheads="1" noChangeShapeType="1" noTextEdit="1"/>
          </p:cNvSpPr>
          <p:nvPr/>
        </p:nvSpPr>
        <p:spPr>
          <a:xfrm>
            <a:off x="6510755" y="1582438"/>
            <a:ext cx="2625721" cy="734650"/>
          </a:xfrm>
          <a:prstGeom prst="rect">
            <a:avLst/>
          </a:prstGeom>
          <a:blipFill rotWithShape="1">
            <a:blip r:embed="rId5"/>
            <a:stretch>
              <a:fillRect/>
            </a:stretch>
          </a:blipFill>
        </p:spPr>
        <p:txBody>
          <a:bodyPr/>
          <a:lstStyle/>
          <a:p>
            <a:pPr>
              <a:defRPr/>
            </a:pPr>
            <a:r>
              <a:rPr lang="zh-CN" altLang="en-US" sz="1633">
                <a:noFill/>
              </a:rPr>
              <a:t> </a:t>
            </a:r>
          </a:p>
        </p:txBody>
      </p:sp>
      <p:sp>
        <p:nvSpPr>
          <p:cNvPr id="84998" name="TextBox 6"/>
          <p:cNvSpPr txBox="1">
            <a:spLocks noChangeArrowheads="1"/>
          </p:cNvSpPr>
          <p:nvPr/>
        </p:nvSpPr>
        <p:spPr bwMode="auto">
          <a:xfrm>
            <a:off x="2086726" y="3053131"/>
            <a:ext cx="2106886"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540"/>
              <a:t>链引发速率：</a:t>
            </a:r>
          </a:p>
        </p:txBody>
      </p:sp>
      <p:sp>
        <p:nvSpPr>
          <p:cNvPr id="8" name="TextBox 7"/>
          <p:cNvSpPr txBox="1">
            <a:spLocks noRot="1" noChangeAspect="1" noMove="1" noResize="1" noEditPoints="1" noAdjustHandles="1" noChangeArrowheads="1" noChangeShapeType="1" noTextEdit="1"/>
          </p:cNvSpPr>
          <p:nvPr/>
        </p:nvSpPr>
        <p:spPr>
          <a:xfrm>
            <a:off x="4196458" y="3157527"/>
            <a:ext cx="3024572" cy="734650"/>
          </a:xfrm>
          <a:prstGeom prst="rect">
            <a:avLst/>
          </a:prstGeom>
          <a:blipFill rotWithShape="1">
            <a:blip r:embed="rId6"/>
            <a:stretch>
              <a:fillRect/>
            </a:stretch>
          </a:blipFill>
        </p:spPr>
        <p:txBody>
          <a:bodyPr/>
          <a:lstStyle/>
          <a:p>
            <a:pPr>
              <a:defRPr/>
            </a:pPr>
            <a:r>
              <a:rPr lang="zh-CN" altLang="en-US" sz="1633">
                <a:noFill/>
              </a:rPr>
              <a:t> </a:t>
            </a:r>
          </a:p>
        </p:txBody>
      </p:sp>
      <p:sp>
        <p:nvSpPr>
          <p:cNvPr id="85000" name="TextBox 8"/>
          <p:cNvSpPr txBox="1">
            <a:spLocks noChangeArrowheads="1"/>
          </p:cNvSpPr>
          <p:nvPr/>
        </p:nvSpPr>
        <p:spPr bwMode="auto">
          <a:xfrm>
            <a:off x="8722767" y="3290750"/>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(3-30)</a:t>
            </a:r>
            <a:endParaRPr lang="zh-CN" altLang="en-US" sz="1633"/>
          </a:p>
        </p:txBody>
      </p:sp>
      <p:sp>
        <p:nvSpPr>
          <p:cNvPr id="85001" name="TextBox 9"/>
          <p:cNvSpPr txBox="1">
            <a:spLocks noChangeArrowheads="1"/>
          </p:cNvSpPr>
          <p:nvPr/>
        </p:nvSpPr>
        <p:spPr bwMode="auto">
          <a:xfrm>
            <a:off x="2992558" y="4120256"/>
            <a:ext cx="7284094" cy="1040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177"/>
              <a:t>2 – </a:t>
            </a:r>
            <a:r>
              <a:rPr lang="zh-CN" altLang="en-US" sz="2177"/>
              <a:t>一分子引发剂分解成两个初级自由基；</a:t>
            </a:r>
            <a:endParaRPr lang="en-US" altLang="zh-CN" sz="2177"/>
          </a:p>
          <a:p>
            <a:pPr eaLnBrk="1" hangingPunct="1">
              <a:lnSpc>
                <a:spcPct val="150000"/>
              </a:lnSpc>
            </a:pPr>
            <a:r>
              <a:rPr lang="en-US" altLang="zh-CN" sz="2177"/>
              <a:t>f  - </a:t>
            </a:r>
            <a:r>
              <a:rPr lang="zh-CN" altLang="en-US" sz="2177"/>
              <a:t>引发效率，因为初级自由基并非全部参加引发单体。</a:t>
            </a:r>
          </a:p>
        </p:txBody>
      </p:sp>
      <p:sp>
        <p:nvSpPr>
          <p:cNvPr id="85002" name="TextBox 10"/>
          <p:cNvSpPr txBox="1">
            <a:spLocks noChangeArrowheads="1"/>
          </p:cNvSpPr>
          <p:nvPr/>
        </p:nvSpPr>
        <p:spPr bwMode="auto">
          <a:xfrm>
            <a:off x="2224975" y="5295389"/>
            <a:ext cx="8225928" cy="846194"/>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633" dirty="0">
                <a:latin typeface="Times New Roman" panose="02020603050405020304" pitchFamily="18" charset="0"/>
                <a:cs typeface="Times New Roman" panose="02020603050405020304" pitchFamily="18" charset="0"/>
              </a:rPr>
              <a:t>Equation (3-30) implicitly assumes that the decomposition of the initiator is the rate determining step. Here f</a:t>
            </a:r>
            <a:r>
              <a:rPr lang="zh-CN" altLang="en-US" sz="1633" dirty="0">
                <a:latin typeface="Times New Roman" panose="02020603050405020304" pitchFamily="18" charset="0"/>
                <a:cs typeface="Times New Roman" panose="02020603050405020304" pitchFamily="18" charset="0"/>
              </a:rPr>
              <a:t> </a:t>
            </a:r>
            <a:r>
              <a:rPr lang="en-US" altLang="zh-CN" sz="1633" dirty="0">
                <a:latin typeface="Times New Roman" panose="02020603050405020304" pitchFamily="18" charset="0"/>
                <a:cs typeface="Times New Roman" panose="02020603050405020304" pitchFamily="18" charset="0"/>
              </a:rPr>
              <a:t>is the probability factor for a primary radical to undergo reaction with a monomer M rather than to combine with another radical and form a “dead” product.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a:xfrm>
            <a:off x="1660451" y="249230"/>
            <a:ext cx="5057678" cy="760380"/>
          </a:xfrm>
        </p:spPr>
        <p:txBody>
          <a:bodyPr/>
          <a:lstStyle/>
          <a:p>
            <a:pPr algn="l"/>
            <a:r>
              <a:rPr lang="zh-CN" altLang="en-US" sz="3266">
                <a:latin typeface="Times New Roman" panose="02020603050405020304" pitchFamily="18" charset="0"/>
                <a:cs typeface="Times New Roman" panose="02020603050405020304" pitchFamily="18" charset="0"/>
              </a:rPr>
              <a:t>链增长 </a:t>
            </a:r>
            <a:r>
              <a:rPr lang="en-US" altLang="zh-CN" sz="3266">
                <a:latin typeface="Times New Roman" panose="02020603050405020304" pitchFamily="18" charset="0"/>
                <a:cs typeface="Times New Roman" panose="02020603050405020304" pitchFamily="18" charset="0"/>
              </a:rPr>
              <a:t>Propagation</a:t>
            </a:r>
            <a:endParaRPr lang="zh-CN" altLang="en-US" sz="3266">
              <a:latin typeface="Times New Roman" panose="02020603050405020304" pitchFamily="18" charset="0"/>
              <a:cs typeface="Times New Roman" panose="02020603050405020304" pitchFamily="18" charset="0"/>
            </a:endParaRPr>
          </a:p>
        </p:txBody>
      </p:sp>
      <p:graphicFrame>
        <p:nvGraphicFramePr>
          <p:cNvPr id="86019" name="对象 4"/>
          <p:cNvGraphicFramePr>
            <a:graphicFrameLocks noChangeAspect="1"/>
          </p:cNvGraphicFramePr>
          <p:nvPr/>
        </p:nvGraphicFramePr>
        <p:xfrm>
          <a:off x="2017599" y="1700865"/>
          <a:ext cx="3715493" cy="3456272"/>
        </p:xfrm>
        <a:graphic>
          <a:graphicData uri="http://schemas.openxmlformats.org/presentationml/2006/ole">
            <mc:AlternateContent xmlns:mc="http://schemas.openxmlformats.org/markup-compatibility/2006">
              <mc:Choice xmlns:v="urn:schemas-microsoft-com:vml" Requires="v">
                <p:oleObj spid="_x0000_s10245" name="CS ChemDraw Drawing" r:id="rId3" imgW="1526791" imgH="1421589" progId="ChemDraw.Document.6.0">
                  <p:embed/>
                </p:oleObj>
              </mc:Choice>
              <mc:Fallback>
                <p:oleObj name="CS ChemDraw Drawing" r:id="rId3" imgW="1526791" imgH="1421589" progId="ChemDraw.Document.6.0">
                  <p:embed/>
                  <p:pic>
                    <p:nvPicPr>
                      <p:cNvPr id="86019"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599" y="1700865"/>
                        <a:ext cx="3715493" cy="345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a:spLocks noRot="1" noChangeAspect="1" noMove="1" noResize="1" noEditPoints="1" noAdjustHandles="1" noChangeArrowheads="1" noChangeShapeType="1" noTextEdit="1"/>
          </p:cNvSpPr>
          <p:nvPr/>
        </p:nvSpPr>
        <p:spPr>
          <a:xfrm>
            <a:off x="6579879" y="1908243"/>
            <a:ext cx="2741939" cy="444688"/>
          </a:xfrm>
          <a:prstGeom prst="rect">
            <a:avLst/>
          </a:prstGeom>
          <a:blipFill rotWithShape="1">
            <a:blip r:embed="rId5"/>
            <a:stretch>
              <a:fillRect r="-404" b="-12500"/>
            </a:stretch>
          </a:blipFill>
        </p:spPr>
        <p:txBody>
          <a:bodyPr/>
          <a:lstStyle/>
          <a:p>
            <a:pPr>
              <a:defRPr/>
            </a:pPr>
            <a:r>
              <a:rPr lang="zh-CN" altLang="en-US" sz="1633">
                <a:noFill/>
              </a:rPr>
              <a:t> </a:t>
            </a:r>
          </a:p>
        </p:txBody>
      </p:sp>
      <p:sp>
        <p:nvSpPr>
          <p:cNvPr id="7" name="TextBox 6"/>
          <p:cNvSpPr txBox="1">
            <a:spLocks noRot="1" noChangeAspect="1" noMove="1" noResize="1" noEditPoints="1" noAdjustHandles="1" noChangeArrowheads="1" noChangeShapeType="1" noTextEdit="1"/>
          </p:cNvSpPr>
          <p:nvPr/>
        </p:nvSpPr>
        <p:spPr>
          <a:xfrm>
            <a:off x="6579879" y="2737747"/>
            <a:ext cx="2741939" cy="444688"/>
          </a:xfrm>
          <a:prstGeom prst="rect">
            <a:avLst/>
          </a:prstGeom>
          <a:blipFill rotWithShape="1">
            <a:blip r:embed="rId6"/>
            <a:stretch>
              <a:fillRect r="-404" b="-12500"/>
            </a:stretch>
          </a:blipFill>
        </p:spPr>
        <p:txBody>
          <a:bodyPr/>
          <a:lstStyle/>
          <a:p>
            <a:pPr>
              <a:defRPr/>
            </a:pPr>
            <a:r>
              <a:rPr lang="zh-CN" altLang="en-US" sz="1633">
                <a:noFill/>
              </a:rPr>
              <a:t> </a:t>
            </a:r>
          </a:p>
        </p:txBody>
      </p:sp>
      <p:sp>
        <p:nvSpPr>
          <p:cNvPr id="8" name="TextBox 7"/>
          <p:cNvSpPr txBox="1">
            <a:spLocks noRot="1" noChangeAspect="1" noMove="1" noResize="1" noEditPoints="1" noAdjustHandles="1" noChangeArrowheads="1" noChangeShapeType="1" noTextEdit="1"/>
          </p:cNvSpPr>
          <p:nvPr/>
        </p:nvSpPr>
        <p:spPr>
          <a:xfrm>
            <a:off x="6579879" y="3429002"/>
            <a:ext cx="2741939" cy="444688"/>
          </a:xfrm>
          <a:prstGeom prst="rect">
            <a:avLst/>
          </a:prstGeom>
          <a:blipFill rotWithShape="1">
            <a:blip r:embed="rId7"/>
            <a:stretch>
              <a:fillRect r="-404" b="-12500"/>
            </a:stretch>
          </a:blipFill>
        </p:spPr>
        <p:txBody>
          <a:bodyPr/>
          <a:lstStyle/>
          <a:p>
            <a:pPr>
              <a:defRPr/>
            </a:pPr>
            <a:r>
              <a:rPr lang="zh-CN" altLang="en-US" sz="1633">
                <a:noFill/>
              </a:rPr>
              <a:t> </a:t>
            </a:r>
          </a:p>
        </p:txBody>
      </p:sp>
      <p:sp>
        <p:nvSpPr>
          <p:cNvPr id="9" name="TextBox 8"/>
          <p:cNvSpPr txBox="1">
            <a:spLocks noRot="1" noChangeAspect="1" noMove="1" noResize="1" noEditPoints="1" noAdjustHandles="1" noChangeArrowheads="1" noChangeShapeType="1" noTextEdit="1"/>
          </p:cNvSpPr>
          <p:nvPr/>
        </p:nvSpPr>
        <p:spPr>
          <a:xfrm>
            <a:off x="6579880" y="4673259"/>
            <a:ext cx="2752874" cy="444688"/>
          </a:xfrm>
          <a:prstGeom prst="rect">
            <a:avLst/>
          </a:prstGeom>
          <a:blipFill rotWithShape="1">
            <a:blip r:embed="rId8"/>
            <a:stretch>
              <a:fillRect r="-402" b="-12500"/>
            </a:stretch>
          </a:blipFill>
        </p:spPr>
        <p:txBody>
          <a:bodyPr/>
          <a:lstStyle/>
          <a:p>
            <a:pPr>
              <a:defRPr/>
            </a:pPr>
            <a:r>
              <a:rPr lang="zh-CN" altLang="en-US" sz="1633">
                <a:no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1660451" y="249230"/>
            <a:ext cx="5057678" cy="760380"/>
          </a:xfrm>
        </p:spPr>
        <p:txBody>
          <a:bodyPr/>
          <a:lstStyle/>
          <a:p>
            <a:pPr algn="l"/>
            <a:r>
              <a:rPr lang="zh-CN" altLang="en-US" sz="3266">
                <a:latin typeface="Times New Roman" panose="02020603050405020304" pitchFamily="18" charset="0"/>
                <a:cs typeface="Times New Roman" panose="02020603050405020304" pitchFamily="18" charset="0"/>
              </a:rPr>
              <a:t>链终止 </a:t>
            </a:r>
            <a:r>
              <a:rPr lang="en-US" altLang="zh-CN" sz="3266">
                <a:latin typeface="Times New Roman" panose="02020603050405020304" pitchFamily="18" charset="0"/>
                <a:cs typeface="Times New Roman" panose="02020603050405020304" pitchFamily="18" charset="0"/>
              </a:rPr>
              <a:t>Termination</a:t>
            </a:r>
            <a:endParaRPr lang="zh-CN" altLang="en-US" sz="3266">
              <a:latin typeface="Times New Roman" panose="02020603050405020304" pitchFamily="18" charset="0"/>
              <a:cs typeface="Times New Roman" panose="02020603050405020304" pitchFamily="18" charset="0"/>
            </a:endParaRPr>
          </a:p>
        </p:txBody>
      </p:sp>
      <p:graphicFrame>
        <p:nvGraphicFramePr>
          <p:cNvPr id="87043" name="对象 4"/>
          <p:cNvGraphicFramePr>
            <a:graphicFrameLocks noChangeAspect="1"/>
          </p:cNvGraphicFramePr>
          <p:nvPr/>
        </p:nvGraphicFramePr>
        <p:xfrm>
          <a:off x="1879348" y="1493488"/>
          <a:ext cx="5306818" cy="1797262"/>
        </p:xfrm>
        <a:graphic>
          <a:graphicData uri="http://schemas.openxmlformats.org/presentationml/2006/ole">
            <mc:AlternateContent xmlns:mc="http://schemas.openxmlformats.org/markup-compatibility/2006">
              <mc:Choice xmlns:v="urn:schemas-microsoft-com:vml" Requires="v">
                <p:oleObj spid="_x0000_s11269" name="CS ChemDraw Drawing" r:id="rId3" imgW="1889310" imgH="639594" progId="ChemDraw.Document.6.0">
                  <p:embed/>
                </p:oleObj>
              </mc:Choice>
              <mc:Fallback>
                <p:oleObj name="CS ChemDraw Drawing" r:id="rId3" imgW="1889310" imgH="639594" progId="ChemDraw.Document.6.0">
                  <p:embed/>
                  <p:pic>
                    <p:nvPicPr>
                      <p:cNvPr id="87043"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348" y="1493488"/>
                        <a:ext cx="5306818" cy="179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a:spLocks noRot="1" noChangeAspect="1" noMove="1" noResize="1" noEditPoints="1" noAdjustHandles="1" noChangeArrowheads="1" noChangeShapeType="1" noTextEdit="1"/>
          </p:cNvSpPr>
          <p:nvPr/>
        </p:nvSpPr>
        <p:spPr>
          <a:xfrm>
            <a:off x="7616762" y="1769992"/>
            <a:ext cx="2162827" cy="418803"/>
          </a:xfrm>
          <a:prstGeom prst="rect">
            <a:avLst/>
          </a:prstGeom>
          <a:blipFill rotWithShape="1">
            <a:blip r:embed="rId5"/>
            <a:stretch>
              <a:fillRect b="-17105"/>
            </a:stretch>
          </a:blipFill>
        </p:spPr>
        <p:txBody>
          <a:bodyPr/>
          <a:lstStyle/>
          <a:p>
            <a:pPr>
              <a:defRPr/>
            </a:pPr>
            <a:r>
              <a:rPr lang="zh-CN" altLang="en-US" sz="1633">
                <a:noFill/>
              </a:rPr>
              <a:t> </a:t>
            </a:r>
          </a:p>
        </p:txBody>
      </p:sp>
      <p:sp>
        <p:nvSpPr>
          <p:cNvPr id="7" name="TextBox 6"/>
          <p:cNvSpPr txBox="1">
            <a:spLocks noRot="1" noChangeAspect="1" noMove="1" noResize="1" noEditPoints="1" noAdjustHandles="1" noChangeArrowheads="1" noChangeShapeType="1" noTextEdit="1"/>
          </p:cNvSpPr>
          <p:nvPr/>
        </p:nvSpPr>
        <p:spPr>
          <a:xfrm>
            <a:off x="7616760" y="2737748"/>
            <a:ext cx="2218085" cy="418803"/>
          </a:xfrm>
          <a:prstGeom prst="rect">
            <a:avLst/>
          </a:prstGeom>
          <a:blipFill rotWithShape="1">
            <a:blip r:embed="rId6"/>
            <a:stretch>
              <a:fillRect b="-17105"/>
            </a:stretch>
          </a:blipFill>
        </p:spPr>
        <p:txBody>
          <a:bodyPr/>
          <a:lstStyle/>
          <a:p>
            <a:pPr>
              <a:defRPr/>
            </a:pPr>
            <a:r>
              <a:rPr lang="zh-CN" altLang="en-US" sz="1633">
                <a:noFill/>
              </a:rPr>
              <a:t> </a:t>
            </a:r>
          </a:p>
        </p:txBody>
      </p:sp>
      <p:sp>
        <p:nvSpPr>
          <p:cNvPr id="87046" name="TextBox 7"/>
          <p:cNvSpPr txBox="1">
            <a:spLocks noChangeArrowheads="1"/>
          </p:cNvSpPr>
          <p:nvPr/>
        </p:nvSpPr>
        <p:spPr bwMode="auto">
          <a:xfrm>
            <a:off x="2708855" y="3705503"/>
            <a:ext cx="7284094" cy="537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177"/>
              <a:t>2 – </a:t>
            </a:r>
            <a:r>
              <a:rPr lang="zh-CN" altLang="en-US" sz="2177"/>
              <a:t>每次终止消失了两个链自由基。</a:t>
            </a:r>
          </a:p>
        </p:txBody>
      </p:sp>
      <p:sp>
        <p:nvSpPr>
          <p:cNvPr id="87047" name="TextBox 8"/>
          <p:cNvSpPr txBox="1">
            <a:spLocks noChangeArrowheads="1"/>
          </p:cNvSpPr>
          <p:nvPr/>
        </p:nvSpPr>
        <p:spPr bwMode="auto">
          <a:xfrm>
            <a:off x="2517321" y="4949761"/>
            <a:ext cx="7284094" cy="1040093"/>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177"/>
              <a:t>聚合反应如此复杂，在作动力学分析前必须做一些合理的简化假定，即处理自由基动力学的“三个假定”。</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1660451" y="249230"/>
            <a:ext cx="5057678" cy="760380"/>
          </a:xfrm>
        </p:spPr>
        <p:txBody>
          <a:bodyPr/>
          <a:lstStyle/>
          <a:p>
            <a:pPr algn="l"/>
            <a:r>
              <a:rPr lang="en-US" altLang="zh-CN" sz="3266">
                <a:latin typeface="Times New Roman" panose="02020603050405020304" pitchFamily="18" charset="0"/>
                <a:cs typeface="Times New Roman" panose="02020603050405020304" pitchFamily="18" charset="0"/>
              </a:rPr>
              <a:t>(1) </a:t>
            </a:r>
            <a:r>
              <a:rPr lang="zh-CN" altLang="en-US" sz="3266">
                <a:latin typeface="Times New Roman" panose="02020603050405020304" pitchFamily="18" charset="0"/>
                <a:cs typeface="Times New Roman" panose="02020603050405020304" pitchFamily="18" charset="0"/>
              </a:rPr>
              <a:t>等活性理论</a:t>
            </a:r>
          </a:p>
        </p:txBody>
      </p:sp>
      <p:sp>
        <p:nvSpPr>
          <p:cNvPr id="88067" name="TextBox 4"/>
          <p:cNvSpPr txBox="1">
            <a:spLocks noChangeArrowheads="1"/>
          </p:cNvSpPr>
          <p:nvPr/>
        </p:nvSpPr>
        <p:spPr bwMode="auto">
          <a:xfrm>
            <a:off x="2017599" y="1216989"/>
            <a:ext cx="8225928" cy="1097416"/>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In order to obtain a kinetic expression for the rate of polymerization, it is necessary to assume that kp and kt are independent of the size of the radical.</a:t>
            </a:r>
          </a:p>
        </p:txBody>
      </p:sp>
      <p:sp>
        <p:nvSpPr>
          <p:cNvPr id="6" name="TextBox 5"/>
          <p:cNvSpPr txBox="1">
            <a:spLocks noRot="1" noChangeAspect="1" noMove="1" noResize="1" noEditPoints="1" noAdjustHandles="1" noChangeArrowheads="1" noChangeShapeType="1" noTextEdit="1"/>
          </p:cNvSpPr>
          <p:nvPr/>
        </p:nvSpPr>
        <p:spPr>
          <a:xfrm>
            <a:off x="2625165" y="2305875"/>
            <a:ext cx="5179409" cy="444688"/>
          </a:xfrm>
          <a:prstGeom prst="rect">
            <a:avLst/>
          </a:prstGeom>
          <a:blipFill rotWithShape="1">
            <a:blip r:embed="rId2"/>
            <a:stretch>
              <a:fillRect b="-10000"/>
            </a:stretch>
          </a:blipFill>
        </p:spPr>
        <p:txBody>
          <a:bodyPr/>
          <a:lstStyle/>
          <a:p>
            <a:pPr>
              <a:defRPr/>
            </a:pPr>
            <a:r>
              <a:rPr lang="zh-CN" altLang="en-US" sz="1633">
                <a:noFill/>
              </a:rPr>
              <a:t> </a:t>
            </a:r>
          </a:p>
        </p:txBody>
      </p:sp>
      <p:sp>
        <p:nvSpPr>
          <p:cNvPr id="7" name="TextBox 6"/>
          <p:cNvSpPr txBox="1">
            <a:spLocks noRot="1" noChangeAspect="1" noMove="1" noResize="1" noEditPoints="1" noAdjustHandles="1" noChangeArrowheads="1" noChangeShapeType="1" noTextEdit="1"/>
          </p:cNvSpPr>
          <p:nvPr/>
        </p:nvSpPr>
        <p:spPr>
          <a:xfrm>
            <a:off x="4222221" y="2750563"/>
            <a:ext cx="1849596" cy="692247"/>
          </a:xfrm>
          <a:prstGeom prst="rect">
            <a:avLst/>
          </a:prstGeom>
          <a:blipFill rotWithShape="1">
            <a:blip r:embed="rId3"/>
            <a:stretch>
              <a:fillRect/>
            </a:stretch>
          </a:blipFill>
        </p:spPr>
        <p:txBody>
          <a:bodyPr/>
          <a:lstStyle/>
          <a:p>
            <a:pPr>
              <a:defRPr/>
            </a:pPr>
            <a:r>
              <a:rPr lang="zh-CN" altLang="en-US" sz="1633">
                <a:noFill/>
              </a:rPr>
              <a:t> </a:t>
            </a:r>
          </a:p>
        </p:txBody>
      </p:sp>
      <p:sp>
        <p:nvSpPr>
          <p:cNvPr id="8" name="TextBox 7"/>
          <p:cNvSpPr txBox="1">
            <a:spLocks noRot="1" noChangeAspect="1" noMove="1" noResize="1" noEditPoints="1" noAdjustHandles="1" noChangeArrowheads="1" noChangeShapeType="1" noTextEdit="1"/>
          </p:cNvSpPr>
          <p:nvPr/>
        </p:nvSpPr>
        <p:spPr>
          <a:xfrm>
            <a:off x="2622339" y="3359876"/>
            <a:ext cx="5179409" cy="444688"/>
          </a:xfrm>
          <a:prstGeom prst="rect">
            <a:avLst/>
          </a:prstGeom>
          <a:blipFill rotWithShape="1">
            <a:blip r:embed="rId4"/>
            <a:stretch>
              <a:fillRect b="-10000"/>
            </a:stretch>
          </a:blipFill>
        </p:spPr>
        <p:txBody>
          <a:bodyPr/>
          <a:lstStyle/>
          <a:p>
            <a:pPr>
              <a:defRPr/>
            </a:pPr>
            <a:r>
              <a:rPr lang="zh-CN" altLang="en-US" sz="1633">
                <a:noFill/>
              </a:rPr>
              <a:t> </a:t>
            </a:r>
          </a:p>
        </p:txBody>
      </p:sp>
      <p:sp>
        <p:nvSpPr>
          <p:cNvPr id="88071" name="TextBox 8"/>
          <p:cNvSpPr txBox="1">
            <a:spLocks noChangeArrowheads="1"/>
          </p:cNvSpPr>
          <p:nvPr/>
        </p:nvSpPr>
        <p:spPr bwMode="auto">
          <a:xfrm>
            <a:off x="3231615" y="2858716"/>
            <a:ext cx="394660"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33"/>
              <a:t>令</a:t>
            </a:r>
          </a:p>
        </p:txBody>
      </p:sp>
      <p:sp>
        <p:nvSpPr>
          <p:cNvPr id="88072" name="TextBox 9"/>
          <p:cNvSpPr txBox="1">
            <a:spLocks noChangeArrowheads="1"/>
          </p:cNvSpPr>
          <p:nvPr/>
        </p:nvSpPr>
        <p:spPr bwMode="auto">
          <a:xfrm>
            <a:off x="7409384" y="2479966"/>
            <a:ext cx="3179770" cy="1488228"/>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814">
                <a:latin typeface="Times New Roman" panose="02020603050405020304" pitchFamily="18" charset="0"/>
                <a:cs typeface="Times New Roman" panose="02020603050405020304" pitchFamily="18" charset="0"/>
              </a:rPr>
              <a:t>It is generally assumed that the rate constant of this reaction remains the same regardless of the length of the chain to which the radical site is attached.</a:t>
            </a:r>
          </a:p>
        </p:txBody>
      </p:sp>
      <p:sp>
        <p:nvSpPr>
          <p:cNvPr id="88073" name="TextBox 10"/>
          <p:cNvSpPr txBox="1">
            <a:spLocks noChangeArrowheads="1"/>
          </p:cNvSpPr>
          <p:nvPr/>
        </p:nvSpPr>
        <p:spPr bwMode="auto">
          <a:xfrm>
            <a:off x="2017600" y="3960402"/>
            <a:ext cx="2704587"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33"/>
              <a:t>则链增长速率方程可写成：</a:t>
            </a:r>
          </a:p>
        </p:txBody>
      </p:sp>
      <p:sp>
        <p:nvSpPr>
          <p:cNvPr id="12" name="TextBox 11"/>
          <p:cNvSpPr txBox="1">
            <a:spLocks noRot="1" noChangeAspect="1" noMove="1" noResize="1" noEditPoints="1" noAdjustHandles="1" noChangeArrowheads="1" noChangeShapeType="1" noTextEdit="1"/>
          </p:cNvSpPr>
          <p:nvPr/>
        </p:nvSpPr>
        <p:spPr>
          <a:xfrm>
            <a:off x="3232064" y="4465883"/>
            <a:ext cx="2225589" cy="418803"/>
          </a:xfrm>
          <a:prstGeom prst="rect">
            <a:avLst/>
          </a:prstGeom>
          <a:blipFill rotWithShape="1">
            <a:blip r:embed="rId5"/>
            <a:stretch>
              <a:fillRect r="-248" b="-18667"/>
            </a:stretch>
          </a:blipFill>
        </p:spPr>
        <p:txBody>
          <a:bodyPr/>
          <a:lstStyle/>
          <a:p>
            <a:pPr>
              <a:defRPr/>
            </a:pPr>
            <a:r>
              <a:rPr lang="zh-CN" altLang="en-US" sz="1633">
                <a:noFill/>
              </a:rPr>
              <a:t> </a:t>
            </a:r>
          </a:p>
        </p:txBody>
      </p:sp>
      <p:sp>
        <p:nvSpPr>
          <p:cNvPr id="88075" name="TextBox 12"/>
          <p:cNvSpPr txBox="1">
            <a:spLocks noChangeArrowheads="1"/>
          </p:cNvSpPr>
          <p:nvPr/>
        </p:nvSpPr>
        <p:spPr bwMode="auto">
          <a:xfrm>
            <a:off x="2017601" y="4968481"/>
            <a:ext cx="1654620"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33"/>
              <a:t>链终止总速率：</a:t>
            </a:r>
          </a:p>
        </p:txBody>
      </p:sp>
      <p:sp>
        <p:nvSpPr>
          <p:cNvPr id="14" name="TextBox 13"/>
          <p:cNvSpPr txBox="1">
            <a:spLocks noRot="1" noChangeAspect="1" noMove="1" noResize="1" noEditPoints="1" noAdjustHandles="1" noChangeArrowheads="1" noChangeShapeType="1" noTextEdit="1"/>
          </p:cNvSpPr>
          <p:nvPr/>
        </p:nvSpPr>
        <p:spPr>
          <a:xfrm>
            <a:off x="3232073" y="5433639"/>
            <a:ext cx="3477752" cy="418803"/>
          </a:xfrm>
          <a:prstGeom prst="rect">
            <a:avLst/>
          </a:prstGeom>
          <a:blipFill rotWithShape="1">
            <a:blip r:embed="rId6"/>
            <a:stretch>
              <a:fillRect b="-18667"/>
            </a:stretch>
          </a:blipFill>
        </p:spPr>
        <p:txBody>
          <a:bodyPr/>
          <a:lstStyle/>
          <a:p>
            <a:pPr>
              <a:defRPr/>
            </a:pPr>
            <a:r>
              <a:rPr lang="zh-CN" altLang="en-US" sz="1633">
                <a:noFill/>
              </a:rPr>
              <a:t> </a:t>
            </a:r>
          </a:p>
        </p:txBody>
      </p:sp>
      <p:sp>
        <p:nvSpPr>
          <p:cNvPr id="88077" name="TextBox 14"/>
          <p:cNvSpPr txBox="1">
            <a:spLocks noChangeArrowheads="1"/>
          </p:cNvSpPr>
          <p:nvPr/>
        </p:nvSpPr>
        <p:spPr bwMode="auto">
          <a:xfrm>
            <a:off x="7409383" y="4455801"/>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(3-31)</a:t>
            </a:r>
            <a:endParaRPr lang="zh-CN" altLang="en-US" sz="1633"/>
          </a:p>
        </p:txBody>
      </p:sp>
      <p:sp>
        <p:nvSpPr>
          <p:cNvPr id="88078" name="TextBox 15"/>
          <p:cNvSpPr txBox="1">
            <a:spLocks noChangeArrowheads="1"/>
          </p:cNvSpPr>
          <p:nvPr/>
        </p:nvSpPr>
        <p:spPr bwMode="auto">
          <a:xfrm>
            <a:off x="7409383" y="5517166"/>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(3-32)</a:t>
            </a:r>
            <a:endParaRPr lang="zh-CN" altLang="en-US" sz="1633"/>
          </a:p>
        </p:txBody>
      </p:sp>
      <p:sp>
        <p:nvSpPr>
          <p:cNvPr id="88079" name="TextBox 16"/>
          <p:cNvSpPr txBox="1">
            <a:spLocks noChangeArrowheads="1"/>
          </p:cNvSpPr>
          <p:nvPr/>
        </p:nvSpPr>
        <p:spPr bwMode="auto">
          <a:xfrm>
            <a:off x="2017599" y="5986643"/>
            <a:ext cx="7569236" cy="650691"/>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814">
                <a:latin typeface="Times New Roman" panose="02020603050405020304" pitchFamily="18" charset="0"/>
                <a:cs typeface="Times New Roman" panose="02020603050405020304" pitchFamily="18" charset="0"/>
              </a:rPr>
              <a:t>The use of the factor 2 in the termination rate equation follows the generally accepted convertion for reactions destroying radicals in pairs.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xfrm>
            <a:off x="1660451" y="249230"/>
            <a:ext cx="7753571" cy="760380"/>
          </a:xfrm>
        </p:spPr>
        <p:txBody>
          <a:bodyPr/>
          <a:lstStyle/>
          <a:p>
            <a:pPr algn="l"/>
            <a:r>
              <a:rPr lang="en-US" altLang="zh-CN" sz="3266">
                <a:latin typeface="Times New Roman" panose="02020603050405020304" pitchFamily="18" charset="0"/>
                <a:cs typeface="Times New Roman" panose="02020603050405020304" pitchFamily="18" charset="0"/>
              </a:rPr>
              <a:t>(2) </a:t>
            </a:r>
            <a:r>
              <a:rPr lang="zh-CN" altLang="en-US" sz="3266">
                <a:latin typeface="Times New Roman" panose="02020603050405020304" pitchFamily="18" charset="0"/>
                <a:cs typeface="Times New Roman" panose="02020603050405020304" pitchFamily="18" charset="0"/>
              </a:rPr>
              <a:t>稳态处理</a:t>
            </a:r>
            <a:r>
              <a:rPr lang="en-US" altLang="zh-CN" sz="3266">
                <a:latin typeface="Times New Roman" panose="02020603050405020304" pitchFamily="18" charset="0"/>
                <a:cs typeface="Times New Roman" panose="02020603050405020304" pitchFamily="18" charset="0"/>
              </a:rPr>
              <a:t>(the steady-state assumption)</a:t>
            </a:r>
            <a:endParaRPr lang="zh-CN" altLang="en-US" sz="3266">
              <a:latin typeface="Times New Roman" panose="02020603050405020304" pitchFamily="18" charset="0"/>
              <a:cs typeface="Times New Roman" panose="02020603050405020304" pitchFamily="18" charset="0"/>
            </a:endParaRPr>
          </a:p>
        </p:txBody>
      </p:sp>
      <p:sp>
        <p:nvSpPr>
          <p:cNvPr id="89091" name="TextBox 4"/>
          <p:cNvSpPr txBox="1">
            <a:spLocks noChangeArrowheads="1"/>
          </p:cNvSpPr>
          <p:nvPr/>
        </p:nvSpPr>
        <p:spPr bwMode="auto">
          <a:xfrm>
            <a:off x="1948473" y="2622539"/>
            <a:ext cx="8225928" cy="1097416"/>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If the number of growing sites is assumed to stay constant (over small time intervals, the rates of initiation and of termination are to be set equal. The “steady state equation” results:</a:t>
            </a:r>
          </a:p>
        </p:txBody>
      </p:sp>
      <p:sp>
        <p:nvSpPr>
          <p:cNvPr id="7" name="TextBox 6"/>
          <p:cNvSpPr txBox="1">
            <a:spLocks noRot="1" noChangeAspect="1" noMove="1" noResize="1" noEditPoints="1" noAdjustHandles="1" noChangeArrowheads="1" noChangeShapeType="1" noTextEdit="1"/>
          </p:cNvSpPr>
          <p:nvPr/>
        </p:nvSpPr>
        <p:spPr>
          <a:xfrm>
            <a:off x="4127665" y="5088013"/>
            <a:ext cx="2911262" cy="702658"/>
          </a:xfrm>
          <a:prstGeom prst="rect">
            <a:avLst/>
          </a:prstGeom>
          <a:blipFill rotWithShape="1">
            <a:blip r:embed="rId2"/>
            <a:stretch>
              <a:fillRect/>
            </a:stretch>
          </a:blipFill>
        </p:spPr>
        <p:txBody>
          <a:bodyPr/>
          <a:lstStyle/>
          <a:p>
            <a:pPr>
              <a:defRPr/>
            </a:pPr>
            <a:r>
              <a:rPr lang="zh-CN" altLang="en-US" sz="1633">
                <a:noFill/>
              </a:rPr>
              <a:t> </a:t>
            </a:r>
          </a:p>
        </p:txBody>
      </p:sp>
      <p:sp>
        <p:nvSpPr>
          <p:cNvPr id="89093" name="TextBox 10"/>
          <p:cNvSpPr txBox="1">
            <a:spLocks noChangeArrowheads="1"/>
          </p:cNvSpPr>
          <p:nvPr/>
        </p:nvSpPr>
        <p:spPr bwMode="auto">
          <a:xfrm>
            <a:off x="2085286" y="4612776"/>
            <a:ext cx="1579278" cy="42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177"/>
              <a:t>由此得到：</a:t>
            </a:r>
          </a:p>
        </p:txBody>
      </p:sp>
      <p:sp>
        <p:nvSpPr>
          <p:cNvPr id="12" name="TextBox 11"/>
          <p:cNvSpPr txBox="1">
            <a:spLocks noRot="1" noChangeAspect="1" noMove="1" noResize="1" noEditPoints="1" noAdjustHandles="1" noChangeArrowheads="1" noChangeShapeType="1" noTextEdit="1"/>
          </p:cNvSpPr>
          <p:nvPr/>
        </p:nvSpPr>
        <p:spPr>
          <a:xfrm>
            <a:off x="4160490" y="3912880"/>
            <a:ext cx="2636424" cy="418803"/>
          </a:xfrm>
          <a:prstGeom prst="rect">
            <a:avLst/>
          </a:prstGeom>
          <a:blipFill rotWithShape="1">
            <a:blip r:embed="rId3"/>
            <a:stretch>
              <a:fillRect b="-18667"/>
            </a:stretch>
          </a:blipFill>
        </p:spPr>
        <p:txBody>
          <a:bodyPr/>
          <a:lstStyle/>
          <a:p>
            <a:pPr>
              <a:defRPr/>
            </a:pPr>
            <a:r>
              <a:rPr lang="zh-CN" altLang="en-US" sz="1633">
                <a:noFill/>
              </a:rPr>
              <a:t> </a:t>
            </a:r>
          </a:p>
        </p:txBody>
      </p:sp>
      <p:sp>
        <p:nvSpPr>
          <p:cNvPr id="89095" name="TextBox 14"/>
          <p:cNvSpPr txBox="1">
            <a:spLocks noChangeArrowheads="1"/>
          </p:cNvSpPr>
          <p:nvPr/>
        </p:nvSpPr>
        <p:spPr bwMode="auto">
          <a:xfrm>
            <a:off x="7893262" y="5272346"/>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(3-33)</a:t>
            </a:r>
            <a:endParaRPr lang="zh-CN" altLang="en-US" sz="1633"/>
          </a:p>
        </p:txBody>
      </p:sp>
      <p:sp>
        <p:nvSpPr>
          <p:cNvPr id="89096" name="TextBox 17"/>
          <p:cNvSpPr txBox="1">
            <a:spLocks noChangeArrowheads="1"/>
          </p:cNvSpPr>
          <p:nvPr/>
        </p:nvSpPr>
        <p:spPr bwMode="auto">
          <a:xfrm>
            <a:off x="2137131" y="1536694"/>
            <a:ext cx="7710367" cy="87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2540">
                <a:latin typeface="Times New Roman" panose="02020603050405020304" pitchFamily="18" charset="0"/>
                <a:cs typeface="Times New Roman" panose="02020603050405020304" pitchFamily="18" charset="0"/>
              </a:rPr>
              <a:t>经过很短一段时间后，假定体系中自由基浓度保持不变，进入“稳定状态”，或者说，</a:t>
            </a:r>
            <a:r>
              <a:rPr lang="en-US" altLang="zh-CN" sz="2540">
                <a:latin typeface="Times New Roman" panose="02020603050405020304" pitchFamily="18" charset="0"/>
                <a:cs typeface="Times New Roman" panose="02020603050405020304" pitchFamily="18" charset="0"/>
              </a:rPr>
              <a:t>Ri=Rt</a:t>
            </a:r>
            <a:r>
              <a:rPr lang="zh-CN" altLang="en-US" sz="2540">
                <a:latin typeface="Times New Roman" panose="02020603050405020304" pitchFamily="18" charset="0"/>
                <a:cs typeface="Times New Roman" panose="02020603050405020304" pitchFamily="18" charset="0"/>
              </a:rPr>
              <a:t>，构成平衡。</a:t>
            </a:r>
            <a:endParaRPr lang="en-US" altLang="zh-CN" sz="254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a:xfrm>
            <a:off x="1660451" y="249230"/>
            <a:ext cx="7753571" cy="760380"/>
          </a:xfrm>
        </p:spPr>
        <p:txBody>
          <a:bodyPr/>
          <a:lstStyle/>
          <a:p>
            <a:pPr algn="l"/>
            <a:r>
              <a:rPr lang="en-US" altLang="zh-CN" sz="3266">
                <a:latin typeface="Times New Roman" panose="02020603050405020304" pitchFamily="18" charset="0"/>
                <a:cs typeface="Times New Roman" panose="02020603050405020304" pitchFamily="18" charset="0"/>
              </a:rPr>
              <a:t>(3) </a:t>
            </a:r>
            <a:r>
              <a:rPr lang="zh-CN" altLang="en-US" sz="3266">
                <a:latin typeface="Times New Roman" panose="02020603050405020304" pitchFamily="18" charset="0"/>
                <a:cs typeface="Times New Roman" panose="02020603050405020304" pitchFamily="18" charset="0"/>
              </a:rPr>
              <a:t>聚合总速率等于链增长速率</a:t>
            </a:r>
          </a:p>
        </p:txBody>
      </p:sp>
      <p:sp>
        <p:nvSpPr>
          <p:cNvPr id="90115" name="TextBox 4"/>
          <p:cNvSpPr txBox="1">
            <a:spLocks noChangeArrowheads="1"/>
          </p:cNvSpPr>
          <p:nvPr/>
        </p:nvSpPr>
        <p:spPr bwMode="auto">
          <a:xfrm>
            <a:off x="1964315" y="1216988"/>
            <a:ext cx="8225928" cy="1097416"/>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Monomer disappears by the initiation reaction </a:t>
            </a:r>
            <a:r>
              <a:rPr lang="en-US" altLang="zh-CN" sz="2177" i="1">
                <a:latin typeface="Times New Roman" panose="02020603050405020304" pitchFamily="18" charset="0"/>
                <a:cs typeface="Times New Roman" panose="02020603050405020304" pitchFamily="18" charset="0"/>
              </a:rPr>
              <a:t>R</a:t>
            </a:r>
            <a:r>
              <a:rPr lang="en-US" altLang="zh-CN" sz="2177" i="1" baseline="-25000">
                <a:latin typeface="Times New Roman" panose="02020603050405020304" pitchFamily="18" charset="0"/>
                <a:cs typeface="Times New Roman" panose="02020603050405020304" pitchFamily="18" charset="0"/>
              </a:rPr>
              <a:t>i</a:t>
            </a:r>
            <a:r>
              <a:rPr lang="en-US" altLang="zh-CN" sz="2177">
                <a:latin typeface="Times New Roman" panose="02020603050405020304" pitchFamily="18" charset="0"/>
                <a:cs typeface="Times New Roman" panose="02020603050405020304" pitchFamily="18" charset="0"/>
              </a:rPr>
              <a:t> as well as by the propagation reactions </a:t>
            </a:r>
            <a:r>
              <a:rPr lang="en-US" altLang="zh-CN" sz="2177" i="1">
                <a:latin typeface="Times New Roman" panose="02020603050405020304" pitchFamily="18" charset="0"/>
                <a:cs typeface="Times New Roman" panose="02020603050405020304" pitchFamily="18" charset="0"/>
              </a:rPr>
              <a:t>R</a:t>
            </a:r>
            <a:r>
              <a:rPr lang="en-US" altLang="zh-CN" sz="2177" i="1" baseline="-25000">
                <a:latin typeface="Times New Roman" panose="02020603050405020304" pitchFamily="18" charset="0"/>
                <a:cs typeface="Times New Roman" panose="02020603050405020304" pitchFamily="18" charset="0"/>
              </a:rPr>
              <a:t>p</a:t>
            </a:r>
            <a:r>
              <a:rPr lang="en-US" altLang="zh-CN" sz="2177">
                <a:latin typeface="Times New Roman" panose="02020603050405020304" pitchFamily="18" charset="0"/>
                <a:cs typeface="Times New Roman" panose="02020603050405020304" pitchFamily="18" charset="0"/>
              </a:rPr>
              <a:t>. The rate of monomer disappearance, which is synonymous with the rate of polymerization, is given by:</a:t>
            </a:r>
          </a:p>
        </p:txBody>
      </p:sp>
      <p:sp>
        <p:nvSpPr>
          <p:cNvPr id="12" name="TextBox 11"/>
          <p:cNvSpPr txBox="1">
            <a:spLocks noRot="1" noChangeAspect="1" noMove="1" noResize="1" noEditPoints="1" noAdjustHandles="1" noChangeArrowheads="1" noChangeShapeType="1" noTextEdit="1"/>
          </p:cNvSpPr>
          <p:nvPr/>
        </p:nvSpPr>
        <p:spPr>
          <a:xfrm>
            <a:off x="3947679" y="2392121"/>
            <a:ext cx="3596355" cy="734650"/>
          </a:xfrm>
          <a:prstGeom prst="rect">
            <a:avLst/>
          </a:prstGeom>
          <a:blipFill rotWithShape="1">
            <a:blip r:embed="rId2"/>
            <a:stretch>
              <a:fillRect/>
            </a:stretch>
          </a:blipFill>
        </p:spPr>
        <p:txBody>
          <a:bodyPr/>
          <a:lstStyle/>
          <a:p>
            <a:pPr>
              <a:defRPr/>
            </a:pPr>
            <a:r>
              <a:rPr lang="zh-CN" altLang="en-US" sz="1633">
                <a:noFill/>
              </a:rPr>
              <a:t> </a:t>
            </a:r>
          </a:p>
        </p:txBody>
      </p:sp>
      <p:sp>
        <p:nvSpPr>
          <p:cNvPr id="90117" name="TextBox 8"/>
          <p:cNvSpPr txBox="1">
            <a:spLocks noChangeArrowheads="1"/>
          </p:cNvSpPr>
          <p:nvPr/>
        </p:nvSpPr>
        <p:spPr bwMode="auto">
          <a:xfrm>
            <a:off x="1964315" y="3151060"/>
            <a:ext cx="8225928" cy="1488228"/>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814">
                <a:latin typeface="Times New Roman" panose="02020603050405020304" pitchFamily="18" charset="0"/>
                <a:cs typeface="Times New Roman" panose="02020603050405020304" pitchFamily="18" charset="0"/>
              </a:rPr>
              <a:t>where </a:t>
            </a:r>
            <a:r>
              <a:rPr lang="en-US" altLang="zh-CN" sz="1814" i="1">
                <a:latin typeface="Times New Roman" panose="02020603050405020304" pitchFamily="18" charset="0"/>
                <a:cs typeface="Times New Roman" panose="02020603050405020304" pitchFamily="18" charset="0"/>
              </a:rPr>
              <a:t>R</a:t>
            </a:r>
            <a:r>
              <a:rPr lang="en-US" altLang="zh-CN" sz="1814" i="1" baseline="-25000">
                <a:latin typeface="Times New Roman" panose="02020603050405020304" pitchFamily="18" charset="0"/>
                <a:cs typeface="Times New Roman" panose="02020603050405020304" pitchFamily="18" charset="0"/>
              </a:rPr>
              <a:t>i</a:t>
            </a:r>
            <a:r>
              <a:rPr lang="en-US" altLang="zh-CN" sz="1814">
                <a:latin typeface="Times New Roman" panose="02020603050405020304" pitchFamily="18" charset="0"/>
                <a:cs typeface="Times New Roman" panose="02020603050405020304" pitchFamily="18" charset="0"/>
              </a:rPr>
              <a:t> and </a:t>
            </a:r>
            <a:r>
              <a:rPr lang="en-US" altLang="zh-CN" sz="1814" i="1">
                <a:latin typeface="Times New Roman" panose="02020603050405020304" pitchFamily="18" charset="0"/>
                <a:cs typeface="Times New Roman" panose="02020603050405020304" pitchFamily="18" charset="0"/>
              </a:rPr>
              <a:t>R</a:t>
            </a:r>
            <a:r>
              <a:rPr lang="en-US" altLang="zh-CN" sz="1814" i="1" baseline="-25000">
                <a:latin typeface="Times New Roman" panose="02020603050405020304" pitchFamily="18" charset="0"/>
                <a:cs typeface="Times New Roman" panose="02020603050405020304" pitchFamily="18" charset="0"/>
              </a:rPr>
              <a:t>p</a:t>
            </a:r>
            <a:r>
              <a:rPr lang="en-US" altLang="zh-CN" sz="1814">
                <a:latin typeface="Times New Roman" panose="02020603050405020304" pitchFamily="18" charset="0"/>
                <a:cs typeface="Times New Roman" panose="02020603050405020304" pitchFamily="18" charset="0"/>
              </a:rPr>
              <a:t> are the rates of initiation and progagation, respectively. However, the number of monomer molecules reacting in the initiation step is far less than the number in the propagation step for a process producing high polymer. To a very close approximation the former can be neglected and the polymerization rate is give simply by the rate of propagation.</a:t>
            </a:r>
          </a:p>
        </p:txBody>
      </p:sp>
      <p:sp>
        <p:nvSpPr>
          <p:cNvPr id="10" name="TextBox 9"/>
          <p:cNvSpPr txBox="1">
            <a:spLocks noRot="1" noChangeAspect="1" noMove="1" noResize="1" noEditPoints="1" noAdjustHandles="1" noChangeArrowheads="1" noChangeShapeType="1" noTextEdit="1"/>
          </p:cNvSpPr>
          <p:nvPr/>
        </p:nvSpPr>
        <p:spPr>
          <a:xfrm>
            <a:off x="2014544" y="4732398"/>
            <a:ext cx="2774221" cy="418803"/>
          </a:xfrm>
          <a:prstGeom prst="rect">
            <a:avLst/>
          </a:prstGeom>
          <a:blipFill rotWithShape="1">
            <a:blip r:embed="rId3"/>
            <a:stretch>
              <a:fillRect r="-199" b="-18667"/>
            </a:stretch>
          </a:blipFill>
        </p:spPr>
        <p:txBody>
          <a:bodyPr/>
          <a:lstStyle/>
          <a:p>
            <a:pPr>
              <a:defRPr/>
            </a:pPr>
            <a:r>
              <a:rPr lang="zh-CN" altLang="en-US" sz="1633">
                <a:noFill/>
              </a:rPr>
              <a:t> </a:t>
            </a:r>
          </a:p>
        </p:txBody>
      </p:sp>
      <p:sp>
        <p:nvSpPr>
          <p:cNvPr id="90119" name="TextBox 1"/>
          <p:cNvSpPr txBox="1">
            <a:spLocks noChangeArrowheads="1"/>
          </p:cNvSpPr>
          <p:nvPr/>
        </p:nvSpPr>
        <p:spPr bwMode="auto">
          <a:xfrm>
            <a:off x="4791259" y="4766867"/>
            <a:ext cx="954107" cy="399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996"/>
              <a:t>稳态时</a:t>
            </a:r>
          </a:p>
        </p:txBody>
      </p:sp>
      <p:sp>
        <p:nvSpPr>
          <p:cNvPr id="3" name="TextBox 2"/>
          <p:cNvSpPr txBox="1">
            <a:spLocks noRot="1" noChangeAspect="1" noMove="1" noResize="1" noEditPoints="1" noAdjustHandles="1" noChangeArrowheads="1" noChangeShapeType="1" noTextEdit="1"/>
          </p:cNvSpPr>
          <p:nvPr/>
        </p:nvSpPr>
        <p:spPr>
          <a:xfrm>
            <a:off x="5746943" y="4621180"/>
            <a:ext cx="1647175" cy="702658"/>
          </a:xfrm>
          <a:prstGeom prst="rect">
            <a:avLst/>
          </a:prstGeom>
          <a:blipFill rotWithShape="1">
            <a:blip r:embed="rId4"/>
            <a:stretch>
              <a:fillRect/>
            </a:stretch>
          </a:blipFill>
        </p:spPr>
        <p:txBody>
          <a:bodyPr/>
          <a:lstStyle/>
          <a:p>
            <a:pPr>
              <a:defRPr/>
            </a:pPr>
            <a:r>
              <a:rPr lang="zh-CN" altLang="en-US" sz="1633">
                <a:noFill/>
              </a:rPr>
              <a:t> </a:t>
            </a:r>
          </a:p>
        </p:txBody>
      </p:sp>
      <p:sp>
        <p:nvSpPr>
          <p:cNvPr id="13" name="TextBox 12"/>
          <p:cNvSpPr txBox="1">
            <a:spLocks noRot="1" noChangeAspect="1" noMove="1" noResize="1" noEditPoints="1" noAdjustHandles="1" noChangeArrowheads="1" noChangeShapeType="1" noTextEdit="1"/>
          </p:cNvSpPr>
          <p:nvPr/>
        </p:nvSpPr>
        <p:spPr>
          <a:xfrm>
            <a:off x="7616762" y="4702180"/>
            <a:ext cx="2884506" cy="977788"/>
          </a:xfrm>
          <a:prstGeom prst="rect">
            <a:avLst/>
          </a:prstGeom>
          <a:blipFill rotWithShape="1">
            <a:blip r:embed="rId5"/>
            <a:stretch>
              <a:fillRect/>
            </a:stretch>
          </a:blipFill>
          <a:ln>
            <a:solidFill>
              <a:srgbClr val="FF0000"/>
            </a:solidFill>
          </a:ln>
        </p:spPr>
        <p:txBody>
          <a:bodyPr/>
          <a:lstStyle/>
          <a:p>
            <a:pPr>
              <a:defRPr/>
            </a:pPr>
            <a:r>
              <a:rPr lang="zh-CN" altLang="en-US" sz="1633">
                <a:noFill/>
              </a:rPr>
              <a:t> </a:t>
            </a:r>
          </a:p>
        </p:txBody>
      </p:sp>
      <p:sp>
        <p:nvSpPr>
          <p:cNvPr id="14" name="TextBox 13"/>
          <p:cNvSpPr txBox="1">
            <a:spLocks noRot="1" noChangeAspect="1" noMove="1" noResize="1" noEditPoints="1" noAdjustHandles="1" noChangeArrowheads="1" noChangeShapeType="1" noTextEdit="1"/>
          </p:cNvSpPr>
          <p:nvPr/>
        </p:nvSpPr>
        <p:spPr>
          <a:xfrm>
            <a:off x="1533721" y="5364515"/>
            <a:ext cx="6217687" cy="1364659"/>
          </a:xfrm>
          <a:prstGeom prst="rect">
            <a:avLst/>
          </a:prstGeom>
          <a:blipFill rotWithShape="1">
            <a:blip r:embed="rId6"/>
            <a:stretch>
              <a:fillRect l="-622" t="-1606" r="-710" b="-5221"/>
            </a:stretch>
          </a:blipFill>
          <a:ln>
            <a:solidFill>
              <a:srgbClr val="000099"/>
            </a:solidFill>
          </a:ln>
        </p:spPr>
        <p:txBody>
          <a:bodyPr/>
          <a:lstStyle/>
          <a:p>
            <a:pPr>
              <a:defRPr/>
            </a:pPr>
            <a:r>
              <a:rPr lang="zh-CN" altLang="en-US" sz="1633">
                <a:noFill/>
              </a:rPr>
              <a:t> </a:t>
            </a:r>
          </a:p>
        </p:txBody>
      </p:sp>
      <p:sp>
        <p:nvSpPr>
          <p:cNvPr id="90123" name="TextBox 15"/>
          <p:cNvSpPr txBox="1">
            <a:spLocks noChangeArrowheads="1"/>
          </p:cNvSpPr>
          <p:nvPr/>
        </p:nvSpPr>
        <p:spPr bwMode="auto">
          <a:xfrm>
            <a:off x="9150481" y="5711580"/>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(3-34)</a:t>
            </a:r>
            <a:endParaRPr lang="zh-CN" altLang="en-US" sz="1633"/>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a:xfrm>
            <a:off x="1660451" y="249230"/>
            <a:ext cx="7753571" cy="760380"/>
          </a:xfrm>
        </p:spPr>
        <p:txBody>
          <a:bodyPr/>
          <a:lstStyle/>
          <a:p>
            <a:pPr algn="l"/>
            <a:r>
              <a:rPr lang="zh-CN" altLang="en-US" sz="3266">
                <a:latin typeface="Times New Roman" panose="02020603050405020304" pitchFamily="18" charset="0"/>
                <a:cs typeface="Times New Roman" panose="02020603050405020304" pitchFamily="18" charset="0"/>
              </a:rPr>
              <a:t>自由基聚合微观动力学</a:t>
            </a:r>
          </a:p>
        </p:txBody>
      </p:sp>
      <p:sp>
        <p:nvSpPr>
          <p:cNvPr id="5" name="TextBox 4"/>
          <p:cNvSpPr txBox="1">
            <a:spLocks noRot="1" noChangeAspect="1" noMove="1" noResize="1" noEditPoints="1" noAdjustHandles="1" noChangeArrowheads="1" noChangeShapeType="1" noTextEdit="1"/>
          </p:cNvSpPr>
          <p:nvPr/>
        </p:nvSpPr>
        <p:spPr>
          <a:xfrm>
            <a:off x="1963691" y="1216988"/>
            <a:ext cx="2335049" cy="753846"/>
          </a:xfrm>
          <a:prstGeom prst="rect">
            <a:avLst/>
          </a:prstGeom>
          <a:blipFill rotWithShape="1">
            <a:blip r:embed="rId2"/>
            <a:stretch>
              <a:fillRect l="-4481" t="-5072" r="-4245" b="-9420"/>
            </a:stretch>
          </a:blipFill>
          <a:ln>
            <a:solidFill>
              <a:srgbClr val="000099"/>
            </a:solidFill>
          </a:ln>
        </p:spPr>
        <p:txBody>
          <a:bodyPr/>
          <a:lstStyle/>
          <a:p>
            <a:pPr>
              <a:defRPr/>
            </a:pPr>
            <a:r>
              <a:rPr lang="zh-CN" altLang="en-US" sz="1633">
                <a:noFill/>
              </a:rPr>
              <a:t> </a:t>
            </a:r>
          </a:p>
        </p:txBody>
      </p:sp>
      <p:sp>
        <p:nvSpPr>
          <p:cNvPr id="91140" name="TextBox 8"/>
          <p:cNvSpPr txBox="1">
            <a:spLocks noChangeArrowheads="1"/>
          </p:cNvSpPr>
          <p:nvPr/>
        </p:nvSpPr>
        <p:spPr bwMode="auto">
          <a:xfrm>
            <a:off x="1962874" y="2668622"/>
            <a:ext cx="8225928"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聚合速率与单体浓度的一次方成正比；与引发剂浓度的平方根成正比：</a:t>
            </a:r>
            <a:endParaRPr lang="en-US" altLang="zh-CN" sz="1814">
              <a:latin typeface="Times New Roman" panose="02020603050405020304" pitchFamily="18" charset="0"/>
              <a:cs typeface="Times New Roman" panose="02020603050405020304" pitchFamily="18" charset="0"/>
            </a:endParaRPr>
          </a:p>
        </p:txBody>
      </p:sp>
      <p:sp>
        <p:nvSpPr>
          <p:cNvPr id="10" name="TextBox 9"/>
          <p:cNvSpPr txBox="1">
            <a:spLocks noRot="1" noChangeAspect="1" noMove="1" noResize="1" noEditPoints="1" noAdjustHandles="1" noChangeArrowheads="1" noChangeShapeType="1" noTextEdit="1"/>
          </p:cNvSpPr>
          <p:nvPr/>
        </p:nvSpPr>
        <p:spPr>
          <a:xfrm>
            <a:off x="6718129" y="3174700"/>
            <a:ext cx="1341449" cy="418803"/>
          </a:xfrm>
          <a:prstGeom prst="rect">
            <a:avLst/>
          </a:prstGeom>
          <a:blipFill rotWithShape="1">
            <a:blip r:embed="rId3"/>
            <a:stretch>
              <a:fillRect r="-826" b="-17105"/>
            </a:stretch>
          </a:blipFill>
        </p:spPr>
        <p:txBody>
          <a:bodyPr/>
          <a:lstStyle/>
          <a:p>
            <a:pPr>
              <a:defRPr/>
            </a:pPr>
            <a:r>
              <a:rPr lang="zh-CN" altLang="en-US" sz="1633">
                <a:noFill/>
              </a:rPr>
              <a:t> </a:t>
            </a:r>
          </a:p>
        </p:txBody>
      </p:sp>
      <p:sp>
        <p:nvSpPr>
          <p:cNvPr id="13" name="TextBox 12"/>
          <p:cNvSpPr txBox="1">
            <a:spLocks noRot="1" noChangeAspect="1" noMove="1" noResize="1" noEditPoints="1" noAdjustHandles="1" noChangeArrowheads="1" noChangeShapeType="1" noTextEdit="1"/>
          </p:cNvSpPr>
          <p:nvPr/>
        </p:nvSpPr>
        <p:spPr>
          <a:xfrm>
            <a:off x="7304895" y="253798"/>
            <a:ext cx="2884506" cy="977788"/>
          </a:xfrm>
          <a:prstGeom prst="rect">
            <a:avLst/>
          </a:prstGeom>
          <a:blipFill rotWithShape="1">
            <a:blip r:embed="rId4"/>
            <a:stretch>
              <a:fillRect/>
            </a:stretch>
          </a:blipFill>
          <a:ln>
            <a:solidFill>
              <a:srgbClr val="FF0000"/>
            </a:solidFill>
          </a:ln>
        </p:spPr>
        <p:txBody>
          <a:bodyPr/>
          <a:lstStyle/>
          <a:p>
            <a:pPr>
              <a:defRPr/>
            </a:pPr>
            <a:r>
              <a:rPr lang="zh-CN" altLang="en-US" sz="1633">
                <a:noFill/>
              </a:rPr>
              <a:t> </a:t>
            </a:r>
          </a:p>
        </p:txBody>
      </p:sp>
      <p:sp>
        <p:nvSpPr>
          <p:cNvPr id="91143" name="TextBox 15"/>
          <p:cNvSpPr txBox="1">
            <a:spLocks noChangeArrowheads="1"/>
          </p:cNvSpPr>
          <p:nvPr/>
        </p:nvSpPr>
        <p:spPr bwMode="auto">
          <a:xfrm>
            <a:off x="9588276" y="1971606"/>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(3-35)</a:t>
            </a:r>
            <a:endParaRPr lang="zh-CN" altLang="en-US" sz="1633"/>
          </a:p>
        </p:txBody>
      </p:sp>
      <p:sp>
        <p:nvSpPr>
          <p:cNvPr id="15" name="TextBox 14"/>
          <p:cNvSpPr txBox="1">
            <a:spLocks noRot="1" noChangeAspect="1" noMove="1" noResize="1" noEditPoints="1" noAdjustHandles="1" noChangeArrowheads="1" noChangeShapeType="1" noTextEdit="1"/>
          </p:cNvSpPr>
          <p:nvPr/>
        </p:nvSpPr>
        <p:spPr>
          <a:xfrm>
            <a:off x="5750374" y="1511950"/>
            <a:ext cx="3684594" cy="977788"/>
          </a:xfrm>
          <a:prstGeom prst="rect">
            <a:avLst/>
          </a:prstGeom>
          <a:blipFill rotWithShape="1">
            <a:blip r:embed="rId5"/>
            <a:stretch>
              <a:fillRect/>
            </a:stretch>
          </a:blipFill>
          <a:ln>
            <a:solidFill>
              <a:srgbClr val="FF0000"/>
            </a:solidFill>
          </a:ln>
        </p:spPr>
        <p:txBody>
          <a:bodyPr/>
          <a:lstStyle/>
          <a:p>
            <a:pPr>
              <a:defRPr/>
            </a:pPr>
            <a:r>
              <a:rPr lang="zh-CN" altLang="en-US" sz="1633">
                <a:noFill/>
              </a:rPr>
              <a:t> </a:t>
            </a:r>
          </a:p>
        </p:txBody>
      </p:sp>
      <p:cxnSp>
        <p:nvCxnSpPr>
          <p:cNvPr id="7" name="直接箭头连接符 6"/>
          <p:cNvCxnSpPr/>
          <p:nvPr/>
        </p:nvCxnSpPr>
        <p:spPr>
          <a:xfrm flipV="1">
            <a:off x="3953111" y="663983"/>
            <a:ext cx="5197370" cy="1106007"/>
          </a:xfrm>
          <a:prstGeom prst="straightConnector1">
            <a:avLst/>
          </a:prstGeom>
          <a:ln>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a:spLocks noRot="1" noChangeAspect="1" noMove="1" noResize="1" noEditPoints="1" noAdjustHandles="1" noChangeArrowheads="1" noChangeShapeType="1" noTextEdit="1"/>
          </p:cNvSpPr>
          <p:nvPr/>
        </p:nvSpPr>
        <p:spPr>
          <a:xfrm>
            <a:off x="8169765" y="3182616"/>
            <a:ext cx="1554108" cy="431775"/>
          </a:xfrm>
          <a:prstGeom prst="rect">
            <a:avLst/>
          </a:prstGeom>
          <a:blipFill rotWithShape="1">
            <a:blip r:embed="rId6"/>
            <a:stretch>
              <a:fillRect b="-16456"/>
            </a:stretch>
          </a:blipFill>
        </p:spPr>
        <p:txBody>
          <a:bodyPr/>
          <a:lstStyle/>
          <a:p>
            <a:pPr>
              <a:defRPr/>
            </a:pPr>
            <a:r>
              <a:rPr lang="zh-CN" altLang="en-US" sz="1633">
                <a:noFill/>
              </a:rPr>
              <a:t> </a:t>
            </a:r>
          </a:p>
        </p:txBody>
      </p:sp>
      <p:sp>
        <p:nvSpPr>
          <p:cNvPr id="91147" name="TextBox 16"/>
          <p:cNvSpPr txBox="1">
            <a:spLocks noChangeArrowheads="1"/>
          </p:cNvSpPr>
          <p:nvPr/>
        </p:nvSpPr>
        <p:spPr bwMode="auto">
          <a:xfrm>
            <a:off x="2032000" y="3705503"/>
            <a:ext cx="8225928"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实际情况：聚合速率与引发剂浓度的</a:t>
            </a:r>
            <a:r>
              <a:rPr lang="en-US" altLang="zh-CN" sz="1814">
                <a:latin typeface="Times New Roman" panose="02020603050405020304" pitchFamily="18" charset="0"/>
                <a:cs typeface="Times New Roman" panose="02020603050405020304" pitchFamily="18" charset="0"/>
              </a:rPr>
              <a:t>0.5~1</a:t>
            </a:r>
            <a:r>
              <a:rPr lang="zh-CN" altLang="en-US" sz="1814">
                <a:latin typeface="Times New Roman" panose="02020603050405020304" pitchFamily="18" charset="0"/>
                <a:cs typeface="Times New Roman" panose="02020603050405020304" pitchFamily="18" charset="0"/>
              </a:rPr>
              <a:t>次方成正比：</a:t>
            </a:r>
            <a:endParaRPr lang="en-US" altLang="zh-CN" sz="1814">
              <a:latin typeface="Times New Roman" panose="02020603050405020304" pitchFamily="18" charset="0"/>
              <a:cs typeface="Times New Roman" panose="02020603050405020304" pitchFamily="18" charset="0"/>
            </a:endParaRPr>
          </a:p>
        </p:txBody>
      </p:sp>
      <p:sp>
        <p:nvSpPr>
          <p:cNvPr id="18" name="TextBox 17"/>
          <p:cNvSpPr txBox="1">
            <a:spLocks noRot="1" noChangeAspect="1" noMove="1" noResize="1" noEditPoints="1" noAdjustHandles="1" noChangeArrowheads="1" noChangeShapeType="1" noTextEdit="1"/>
          </p:cNvSpPr>
          <p:nvPr/>
        </p:nvSpPr>
        <p:spPr>
          <a:xfrm>
            <a:off x="4091364" y="4189380"/>
            <a:ext cx="1765138" cy="423050"/>
          </a:xfrm>
          <a:prstGeom prst="rect">
            <a:avLst/>
          </a:prstGeom>
          <a:blipFill rotWithShape="1">
            <a:blip r:embed="rId7"/>
            <a:stretch>
              <a:fillRect b="-18421"/>
            </a:stretch>
          </a:blipFill>
        </p:spPr>
        <p:txBody>
          <a:bodyPr/>
          <a:lstStyle/>
          <a:p>
            <a:pPr>
              <a:defRPr/>
            </a:pPr>
            <a:r>
              <a:rPr lang="zh-CN" altLang="en-US" sz="1633">
                <a:noFill/>
              </a:rPr>
              <a:t> </a:t>
            </a:r>
          </a:p>
        </p:txBody>
      </p:sp>
      <p:sp>
        <p:nvSpPr>
          <p:cNvPr id="19" name="TextBox 18"/>
          <p:cNvSpPr txBox="1">
            <a:spLocks noRot="1" noChangeAspect="1" noMove="1" noResize="1" noEditPoints="1" noAdjustHandles="1" noChangeArrowheads="1" noChangeShapeType="1" noTextEdit="1"/>
          </p:cNvSpPr>
          <p:nvPr/>
        </p:nvSpPr>
        <p:spPr>
          <a:xfrm>
            <a:off x="4091364" y="5157136"/>
            <a:ext cx="1765138" cy="423050"/>
          </a:xfrm>
          <a:prstGeom prst="rect">
            <a:avLst/>
          </a:prstGeom>
          <a:blipFill rotWithShape="1">
            <a:blip r:embed="rId7"/>
            <a:stretch>
              <a:fillRect b="-18421"/>
            </a:stretch>
          </a:blipFill>
        </p:spPr>
        <p:txBody>
          <a:bodyPr/>
          <a:lstStyle/>
          <a:p>
            <a:pPr>
              <a:defRPr/>
            </a:pPr>
            <a:r>
              <a:rPr lang="zh-CN" altLang="en-US" sz="1633">
                <a:noFill/>
              </a:rPr>
              <a:t> </a:t>
            </a:r>
          </a:p>
        </p:txBody>
      </p:sp>
      <p:sp>
        <p:nvSpPr>
          <p:cNvPr id="20" name="TextBox 19"/>
          <p:cNvSpPr txBox="1">
            <a:spLocks noRot="1" noChangeAspect="1" noMove="1" noResize="1" noEditPoints="1" noAdjustHandles="1" noChangeArrowheads="1" noChangeShapeType="1" noTextEdit="1"/>
          </p:cNvSpPr>
          <p:nvPr/>
        </p:nvSpPr>
        <p:spPr>
          <a:xfrm>
            <a:off x="4091364" y="4673259"/>
            <a:ext cx="1501932" cy="423050"/>
          </a:xfrm>
          <a:prstGeom prst="rect">
            <a:avLst/>
          </a:prstGeom>
          <a:blipFill rotWithShape="1">
            <a:blip r:embed="rId8"/>
            <a:stretch>
              <a:fillRect b="-16883"/>
            </a:stretch>
          </a:blipFill>
        </p:spPr>
        <p:txBody>
          <a:bodyPr/>
          <a:lstStyle/>
          <a:p>
            <a:pPr>
              <a:defRPr/>
            </a:pPr>
            <a:r>
              <a:rPr lang="zh-CN" altLang="en-US" sz="1633">
                <a:noFill/>
              </a:rPr>
              <a:t> </a:t>
            </a:r>
          </a:p>
        </p:txBody>
      </p:sp>
      <p:sp>
        <p:nvSpPr>
          <p:cNvPr id="91151" name="TextBox 20"/>
          <p:cNvSpPr txBox="1">
            <a:spLocks noChangeArrowheads="1"/>
          </p:cNvSpPr>
          <p:nvPr/>
        </p:nvSpPr>
        <p:spPr bwMode="auto">
          <a:xfrm>
            <a:off x="5957749" y="4738064"/>
            <a:ext cx="8225928"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双基终止</a:t>
            </a:r>
            <a:endParaRPr lang="en-US" altLang="zh-CN" sz="1814">
              <a:latin typeface="Times New Roman" panose="02020603050405020304" pitchFamily="18" charset="0"/>
              <a:cs typeface="Times New Roman" panose="02020603050405020304" pitchFamily="18" charset="0"/>
            </a:endParaRPr>
          </a:p>
        </p:txBody>
      </p:sp>
      <p:sp>
        <p:nvSpPr>
          <p:cNvPr id="91152" name="TextBox 21"/>
          <p:cNvSpPr txBox="1">
            <a:spLocks noChangeArrowheads="1"/>
          </p:cNvSpPr>
          <p:nvPr/>
        </p:nvSpPr>
        <p:spPr bwMode="auto">
          <a:xfrm>
            <a:off x="5957750" y="5208982"/>
            <a:ext cx="3765897"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dirty="0">
                <a:latin typeface="Times New Roman" panose="02020603050405020304" pitchFamily="18" charset="0"/>
                <a:cs typeface="Times New Roman" panose="02020603050405020304" pitchFamily="18" charset="0"/>
              </a:rPr>
              <a:t>单基终止，凝胶效应、沉淀聚合。</a:t>
            </a:r>
            <a:endParaRPr lang="en-US" altLang="zh-CN" sz="1814" dirty="0">
              <a:latin typeface="Times New Roman" panose="02020603050405020304" pitchFamily="18" charset="0"/>
              <a:cs typeface="Times New Roman" panose="02020603050405020304" pitchFamily="18" charset="0"/>
            </a:endParaRPr>
          </a:p>
        </p:txBody>
      </p:sp>
      <p:sp>
        <p:nvSpPr>
          <p:cNvPr id="91153" name="TextBox 22"/>
          <p:cNvSpPr txBox="1">
            <a:spLocks noChangeArrowheads="1"/>
          </p:cNvSpPr>
          <p:nvPr/>
        </p:nvSpPr>
        <p:spPr bwMode="auto">
          <a:xfrm>
            <a:off x="5957750" y="4223944"/>
            <a:ext cx="3765897"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单基终止，双基终止共存。</a:t>
            </a:r>
            <a:endParaRPr lang="en-US" altLang="zh-CN" sz="1814">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1660451" y="249230"/>
            <a:ext cx="7753571" cy="760380"/>
          </a:xfrm>
        </p:spPr>
        <p:txBody>
          <a:bodyPr/>
          <a:lstStyle/>
          <a:p>
            <a:pPr algn="l"/>
            <a:r>
              <a:rPr lang="zh-CN" altLang="en-US" sz="3266">
                <a:latin typeface="Times New Roman" panose="02020603050405020304" pitchFamily="18" charset="0"/>
                <a:cs typeface="Times New Roman" panose="02020603050405020304" pitchFamily="18" charset="0"/>
              </a:rPr>
              <a:t>自由基聚合微观动力学</a:t>
            </a:r>
          </a:p>
        </p:txBody>
      </p:sp>
      <p:sp>
        <p:nvSpPr>
          <p:cNvPr id="92163" name="TextBox 4"/>
          <p:cNvSpPr txBox="1">
            <a:spLocks noChangeArrowheads="1"/>
          </p:cNvSpPr>
          <p:nvPr/>
        </p:nvSpPr>
        <p:spPr bwMode="auto">
          <a:xfrm>
            <a:off x="2294100" y="1441646"/>
            <a:ext cx="2903269" cy="762388"/>
          </a:xfrm>
          <a:prstGeom prst="rect">
            <a:avLst/>
          </a:prstGeom>
          <a:noFill/>
          <a:ln w="952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177">
                <a:latin typeface="Times New Roman" panose="02020603050405020304" pitchFamily="18" charset="0"/>
                <a:cs typeface="Times New Roman" panose="02020603050405020304" pitchFamily="18" charset="0"/>
              </a:rPr>
              <a:t>低转化率或稀溶液中，</a:t>
            </a:r>
            <a:r>
              <a:rPr lang="en-US" altLang="zh-CN" sz="2177">
                <a:latin typeface="Times New Roman" panose="02020603050405020304" pitchFamily="18" charset="0"/>
                <a:cs typeface="Times New Roman" panose="02020603050405020304" pitchFamily="18" charset="0"/>
              </a:rPr>
              <a:t>f</a:t>
            </a:r>
            <a:r>
              <a:rPr lang="zh-CN" altLang="en-US" sz="2177">
                <a:latin typeface="Times New Roman" panose="02020603050405020304" pitchFamily="18" charset="0"/>
                <a:cs typeface="Times New Roman" panose="02020603050405020304" pitchFamily="18" charset="0"/>
              </a:rPr>
              <a:t>与</a:t>
            </a:r>
            <a:r>
              <a:rPr lang="en-US" altLang="zh-CN" sz="2177">
                <a:latin typeface="Times New Roman" panose="02020603050405020304" pitchFamily="18" charset="0"/>
                <a:cs typeface="Times New Roman" panose="02020603050405020304" pitchFamily="18" charset="0"/>
              </a:rPr>
              <a:t>[M]</a:t>
            </a:r>
            <a:r>
              <a:rPr lang="zh-CN" altLang="en-US" sz="2177">
                <a:latin typeface="Times New Roman" panose="02020603050405020304" pitchFamily="18" charset="0"/>
                <a:cs typeface="Times New Roman" panose="02020603050405020304" pitchFamily="18" charset="0"/>
              </a:rPr>
              <a:t>无关</a:t>
            </a:r>
            <a:endParaRPr lang="en-US" altLang="zh-CN" sz="2177">
              <a:latin typeface="Times New Roman" panose="02020603050405020304" pitchFamily="18" charset="0"/>
              <a:cs typeface="Times New Roman" panose="02020603050405020304" pitchFamily="18" charset="0"/>
            </a:endParaRPr>
          </a:p>
        </p:txBody>
      </p:sp>
      <p:sp>
        <p:nvSpPr>
          <p:cNvPr id="92164" name="TextBox 15"/>
          <p:cNvSpPr txBox="1">
            <a:spLocks noChangeArrowheads="1"/>
          </p:cNvSpPr>
          <p:nvPr/>
        </p:nvSpPr>
        <p:spPr bwMode="auto">
          <a:xfrm>
            <a:off x="9588276" y="1971606"/>
            <a:ext cx="1382509"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a:t>(3-35)</a:t>
            </a:r>
            <a:endParaRPr lang="zh-CN" altLang="en-US" sz="1633"/>
          </a:p>
        </p:txBody>
      </p:sp>
      <p:sp>
        <p:nvSpPr>
          <p:cNvPr id="15" name="TextBox 14"/>
          <p:cNvSpPr txBox="1">
            <a:spLocks noRot="1" noChangeAspect="1" noMove="1" noResize="1" noEditPoints="1" noAdjustHandles="1" noChangeArrowheads="1" noChangeShapeType="1" noTextEdit="1"/>
          </p:cNvSpPr>
          <p:nvPr/>
        </p:nvSpPr>
        <p:spPr>
          <a:xfrm>
            <a:off x="5751462" y="1329419"/>
            <a:ext cx="3684594" cy="977788"/>
          </a:xfrm>
          <a:prstGeom prst="rect">
            <a:avLst/>
          </a:prstGeom>
          <a:blipFill rotWithShape="1">
            <a:blip r:embed="rId2"/>
            <a:stretch>
              <a:fillRect/>
            </a:stretch>
          </a:blipFill>
          <a:ln>
            <a:solidFill>
              <a:srgbClr val="FF0000"/>
            </a:solidFill>
          </a:ln>
        </p:spPr>
        <p:txBody>
          <a:bodyPr/>
          <a:lstStyle/>
          <a:p>
            <a:pPr>
              <a:defRPr/>
            </a:pPr>
            <a:r>
              <a:rPr lang="zh-CN" altLang="en-US" sz="1633">
                <a:noFill/>
              </a:rPr>
              <a:t> </a:t>
            </a:r>
          </a:p>
        </p:txBody>
      </p:sp>
      <p:sp>
        <p:nvSpPr>
          <p:cNvPr id="92166" name="TextBox 16"/>
          <p:cNvSpPr txBox="1">
            <a:spLocks noChangeArrowheads="1"/>
          </p:cNvSpPr>
          <p:nvPr/>
        </p:nvSpPr>
        <p:spPr bwMode="auto">
          <a:xfrm>
            <a:off x="2032002" y="3705503"/>
            <a:ext cx="1022481"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积分：</a:t>
            </a:r>
            <a:endParaRPr lang="en-US" altLang="zh-CN" sz="1814">
              <a:latin typeface="Times New Roman" panose="02020603050405020304" pitchFamily="18" charset="0"/>
              <a:cs typeface="Times New Roman" panose="02020603050405020304" pitchFamily="18" charset="0"/>
            </a:endParaRPr>
          </a:p>
        </p:txBody>
      </p:sp>
      <p:sp>
        <p:nvSpPr>
          <p:cNvPr id="92167" name="TextBox 22"/>
          <p:cNvSpPr txBox="1">
            <a:spLocks noChangeArrowheads="1"/>
          </p:cNvSpPr>
          <p:nvPr/>
        </p:nvSpPr>
        <p:spPr bwMode="auto">
          <a:xfrm>
            <a:off x="2032001" y="4841752"/>
            <a:ext cx="3765897" cy="3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zh-CN" altLang="en-US" sz="1814">
                <a:latin typeface="Times New Roman" panose="02020603050405020304" pitchFamily="18" charset="0"/>
                <a:cs typeface="Times New Roman" panose="02020603050405020304" pitchFamily="18" charset="0"/>
              </a:rPr>
              <a:t>式中：</a:t>
            </a:r>
            <a:endParaRPr lang="en-US" altLang="zh-CN" sz="1814">
              <a:latin typeface="Times New Roman" panose="02020603050405020304" pitchFamily="18" charset="0"/>
              <a:cs typeface="Times New Roman" panose="02020603050405020304" pitchFamily="18" charset="0"/>
            </a:endParaRPr>
          </a:p>
        </p:txBody>
      </p:sp>
      <p:sp>
        <p:nvSpPr>
          <p:cNvPr id="24" name="TextBox 23"/>
          <p:cNvSpPr txBox="1">
            <a:spLocks noRot="1" noChangeAspect="1" noMove="1" noResize="1" noEditPoints="1" noAdjustHandles="1" noChangeArrowheads="1" noChangeShapeType="1" noTextEdit="1"/>
          </p:cNvSpPr>
          <p:nvPr/>
        </p:nvSpPr>
        <p:spPr>
          <a:xfrm>
            <a:off x="2708855" y="2318834"/>
            <a:ext cx="4286100" cy="977788"/>
          </a:xfrm>
          <a:prstGeom prst="rect">
            <a:avLst/>
          </a:prstGeom>
          <a:blipFill rotWithShape="1">
            <a:blip r:embed="rId3"/>
            <a:stretch>
              <a:fillRect/>
            </a:stretch>
          </a:blipFill>
          <a:ln>
            <a:solidFill>
              <a:srgbClr val="FF0000"/>
            </a:solidFill>
          </a:ln>
        </p:spPr>
        <p:txBody>
          <a:bodyPr/>
          <a:lstStyle/>
          <a:p>
            <a:pPr>
              <a:defRPr/>
            </a:pPr>
            <a:r>
              <a:rPr lang="zh-CN" altLang="en-US" sz="1633">
                <a:noFill/>
              </a:rPr>
              <a:t> </a:t>
            </a:r>
          </a:p>
        </p:txBody>
      </p:sp>
      <p:sp>
        <p:nvSpPr>
          <p:cNvPr id="2" name="右弧形箭头 1"/>
          <p:cNvSpPr/>
          <p:nvPr/>
        </p:nvSpPr>
        <p:spPr>
          <a:xfrm>
            <a:off x="7755011" y="1971607"/>
            <a:ext cx="570285" cy="9677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3" name="TextBox 2"/>
          <p:cNvSpPr txBox="1">
            <a:spLocks noRot="1" noChangeAspect="1" noMove="1" noResize="1" noEditPoints="1" noAdjustHandles="1" noChangeArrowheads="1" noChangeShapeType="1" noTextEdit="1"/>
          </p:cNvSpPr>
          <p:nvPr/>
        </p:nvSpPr>
        <p:spPr>
          <a:xfrm>
            <a:off x="2998761" y="3530581"/>
            <a:ext cx="3613339" cy="895889"/>
          </a:xfrm>
          <a:prstGeom prst="rect">
            <a:avLst/>
          </a:prstGeom>
          <a:blipFill rotWithShape="1">
            <a:blip r:embed="rId4"/>
            <a:stretch>
              <a:fillRect/>
            </a:stretch>
          </a:blipFill>
        </p:spPr>
        <p:txBody>
          <a:bodyPr/>
          <a:lstStyle/>
          <a:p>
            <a:pPr>
              <a:defRPr/>
            </a:pPr>
            <a:r>
              <a:rPr lang="zh-CN" altLang="en-US" sz="1633">
                <a:noFill/>
              </a:rPr>
              <a:t> </a:t>
            </a:r>
          </a:p>
        </p:txBody>
      </p:sp>
      <p:sp>
        <p:nvSpPr>
          <p:cNvPr id="6" name="TextBox 5"/>
          <p:cNvSpPr txBox="1">
            <a:spLocks noRot="1" noChangeAspect="1" noMove="1" noResize="1" noEditPoints="1" noAdjustHandles="1" noChangeArrowheads="1" noChangeShapeType="1" noTextEdit="1"/>
          </p:cNvSpPr>
          <p:nvPr/>
        </p:nvSpPr>
        <p:spPr>
          <a:xfrm>
            <a:off x="3029774" y="4841508"/>
            <a:ext cx="2167597" cy="702658"/>
          </a:xfrm>
          <a:prstGeom prst="rect">
            <a:avLst/>
          </a:prstGeom>
          <a:blipFill rotWithShape="1">
            <a:blip r:embed="rId5"/>
            <a:stretch>
              <a:fillRect/>
            </a:stretch>
          </a:blipFill>
        </p:spPr>
        <p:txBody>
          <a:bodyPr/>
          <a:lstStyle/>
          <a:p>
            <a:pPr>
              <a:defRPr/>
            </a:pPr>
            <a:r>
              <a:rPr lang="zh-CN" altLang="en-US" sz="1633">
                <a:noFill/>
              </a:rPr>
              <a:t> </a:t>
            </a:r>
          </a:p>
        </p:txBody>
      </p:sp>
      <p:sp>
        <p:nvSpPr>
          <p:cNvPr id="11" name="TextBox 10"/>
          <p:cNvSpPr txBox="1">
            <a:spLocks noRot="1" noChangeAspect="1" noMove="1" noResize="1" noEditPoints="1" noAdjustHandles="1" noChangeArrowheads="1" noChangeShapeType="1" noTextEdit="1"/>
          </p:cNvSpPr>
          <p:nvPr/>
        </p:nvSpPr>
        <p:spPr>
          <a:xfrm>
            <a:off x="5335620" y="5192835"/>
            <a:ext cx="5253534" cy="618491"/>
          </a:xfrm>
          <a:prstGeom prst="rect">
            <a:avLst/>
          </a:prstGeom>
          <a:blipFill rotWithShape="1">
            <a:blip r:embed="rId6"/>
            <a:stretch>
              <a:fillRect/>
            </a:stretch>
          </a:blipFill>
          <a:ln>
            <a:solidFill>
              <a:srgbClr val="FF0000"/>
            </a:solidFill>
          </a:ln>
        </p:spPr>
        <p:txBody>
          <a:bodyPr/>
          <a:lstStyle/>
          <a:p>
            <a:pPr>
              <a:defRPr/>
            </a:pPr>
            <a:r>
              <a:rPr lang="zh-CN" altLang="en-US" sz="1633">
                <a:noFill/>
              </a:rPr>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2017599" y="180105"/>
            <a:ext cx="7880300" cy="1036882"/>
          </a:xfrm>
        </p:spPr>
        <p:txBody>
          <a:bodyPr/>
          <a:lstStyle/>
          <a:p>
            <a:pPr algn="l"/>
            <a:r>
              <a:rPr lang="zh-CN" altLang="en-US" sz="2903"/>
              <a:t>自由基聚合基元反应速率常数</a:t>
            </a:r>
            <a:br>
              <a:rPr lang="en-US" altLang="zh-CN" sz="2903"/>
            </a:br>
            <a:r>
              <a:rPr lang="en-US" altLang="zh-CN" sz="2903">
                <a:latin typeface="Times New Roman" panose="02020603050405020304" pitchFamily="18" charset="0"/>
                <a:cs typeface="Times New Roman" panose="02020603050405020304" pitchFamily="18" charset="0"/>
              </a:rPr>
              <a:t>Rate Constants of Free Radical Polymerization</a:t>
            </a:r>
            <a:endParaRPr lang="zh-CN" altLang="en-US" sz="2903">
              <a:latin typeface="Times New Roman" panose="02020603050405020304" pitchFamily="18" charset="0"/>
              <a:cs typeface="Times New Roman" panose="02020603050405020304" pitchFamily="18" charset="0"/>
            </a:endParaRPr>
          </a:p>
        </p:txBody>
      </p:sp>
      <p:grpSp>
        <p:nvGrpSpPr>
          <p:cNvPr id="93187" name="组合 6"/>
          <p:cNvGrpSpPr>
            <a:grpSpLocks/>
          </p:cNvGrpSpPr>
          <p:nvPr/>
        </p:nvGrpSpPr>
        <p:grpSpPr bwMode="auto">
          <a:xfrm>
            <a:off x="1741097" y="2314355"/>
            <a:ext cx="6981670" cy="2428031"/>
            <a:chOff x="1384300" y="2560637"/>
            <a:chExt cx="7696200" cy="2677656"/>
          </a:xfrm>
        </p:grpSpPr>
        <p:sp>
          <p:nvSpPr>
            <p:cNvPr id="4" name="TextBox 3"/>
            <p:cNvSpPr txBox="1">
              <a:spLocks noRot="1" noChangeAspect="1" noMove="1" noResize="1" noEditPoints="1" noAdjustHandles="1" noChangeArrowheads="1" noChangeShapeType="1" noTextEdit="1"/>
            </p:cNvSpPr>
            <p:nvPr/>
          </p:nvSpPr>
          <p:spPr>
            <a:xfrm>
              <a:off x="1384300" y="2560637"/>
              <a:ext cx="7696200" cy="2677656"/>
            </a:xfrm>
            <a:prstGeom prst="rect">
              <a:avLst/>
            </a:prstGeom>
            <a:blipFill rotWithShape="1">
              <a:blip r:embed="rId3"/>
              <a:stretch>
                <a:fillRect l="-1664"/>
              </a:stretch>
            </a:blipFill>
          </p:spPr>
          <p:txBody>
            <a:bodyPr/>
            <a:lstStyle/>
            <a:p>
              <a:pPr>
                <a:defRPr/>
              </a:pPr>
              <a:r>
                <a:rPr lang="zh-CN" altLang="en-US" sz="1633">
                  <a:noFill/>
                </a:rPr>
                <a:t> </a:t>
              </a:r>
            </a:p>
          </p:txBody>
        </p:sp>
        <p:cxnSp>
          <p:nvCxnSpPr>
            <p:cNvPr id="6" name="直接连接符 5"/>
            <p:cNvCxnSpPr/>
            <p:nvPr/>
          </p:nvCxnSpPr>
          <p:spPr>
            <a:xfrm>
              <a:off x="1765300" y="5228764"/>
              <a:ext cx="3657600" cy="0"/>
            </a:xfrm>
            <a:prstGeom prst="line">
              <a:avLst/>
            </a:prstGeom>
          </p:spPr>
          <p:style>
            <a:lnRef idx="3">
              <a:schemeClr val="accent2"/>
            </a:lnRef>
            <a:fillRef idx="0">
              <a:schemeClr val="accent2"/>
            </a:fillRef>
            <a:effectRef idx="2">
              <a:schemeClr val="accent2"/>
            </a:effectRef>
            <a:fontRef idx="minor">
              <a:schemeClr val="tx1"/>
            </a:fontRef>
          </p:style>
        </p:cxnSp>
      </p:grpSp>
      <p:pic>
        <p:nvPicPr>
          <p:cNvPr id="9318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2996" y="1493491"/>
            <a:ext cx="5265055" cy="63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3189" name="组合 8"/>
          <p:cNvGrpSpPr>
            <a:grpSpLocks/>
          </p:cNvGrpSpPr>
          <p:nvPr/>
        </p:nvGrpSpPr>
        <p:grpSpPr bwMode="auto">
          <a:xfrm>
            <a:off x="6494913" y="3028649"/>
            <a:ext cx="3361225" cy="864068"/>
            <a:chOff x="5043576" y="3338423"/>
            <a:chExt cx="3703771" cy="953038"/>
          </a:xfrm>
        </p:grpSpPr>
        <p:sp>
          <p:nvSpPr>
            <p:cNvPr id="8" name="TextBox 7"/>
            <p:cNvSpPr txBox="1">
              <a:spLocks noRot="1" noChangeAspect="1" noMove="1" noResize="1" noEditPoints="1" noAdjustHandles="1" noChangeArrowheads="1" noChangeShapeType="1" noTextEdit="1"/>
            </p:cNvSpPr>
            <p:nvPr/>
          </p:nvSpPr>
          <p:spPr>
            <a:xfrm>
              <a:off x="5043576" y="3338423"/>
              <a:ext cx="3260316" cy="461665"/>
            </a:xfrm>
            <a:prstGeom prst="rect">
              <a:avLst/>
            </a:prstGeom>
            <a:blipFill rotWithShape="1">
              <a:blip r:embed="rId5"/>
              <a:stretch>
                <a:fillRect b="-18667"/>
              </a:stretch>
            </a:blipFill>
          </p:spPr>
          <p:txBody>
            <a:bodyPr/>
            <a:lstStyle/>
            <a:p>
              <a:pPr>
                <a:defRPr/>
              </a:pPr>
              <a:r>
                <a:rPr lang="zh-CN" altLang="en-US" sz="1633">
                  <a:noFill/>
                </a:rPr>
                <a:t> </a:t>
              </a:r>
            </a:p>
          </p:txBody>
        </p:sp>
        <p:sp>
          <p:nvSpPr>
            <p:cNvPr id="10" name="TextBox 9"/>
            <p:cNvSpPr txBox="1">
              <a:spLocks noRot="1" noChangeAspect="1" noMove="1" noResize="1" noEditPoints="1" noAdjustHandles="1" noChangeArrowheads="1" noChangeShapeType="1" noTextEdit="1"/>
            </p:cNvSpPr>
            <p:nvPr/>
          </p:nvSpPr>
          <p:spPr>
            <a:xfrm>
              <a:off x="5043576" y="3829796"/>
              <a:ext cx="3703771" cy="461665"/>
            </a:xfrm>
            <a:prstGeom prst="rect">
              <a:avLst/>
            </a:prstGeom>
            <a:blipFill rotWithShape="1">
              <a:blip r:embed="rId6"/>
              <a:stretch>
                <a:fillRect b="-17105"/>
              </a:stretch>
            </a:blipFill>
          </p:spPr>
          <p:txBody>
            <a:bodyPr/>
            <a:lstStyle/>
            <a:p>
              <a:pPr>
                <a:defRPr/>
              </a:pPr>
              <a:r>
                <a:rPr lang="zh-CN" altLang="en-US" sz="1633">
                  <a:noFill/>
                </a:rPr>
                <a:t> </a:t>
              </a:r>
            </a:p>
          </p:txBody>
        </p:sp>
      </p:grpSp>
      <p:sp>
        <p:nvSpPr>
          <p:cNvPr id="11" name="TextBox 10"/>
          <p:cNvSpPr txBox="1">
            <a:spLocks noRot="1" noChangeAspect="1" noMove="1" noResize="1" noEditPoints="1" noAdjustHandles="1" noChangeArrowheads="1" noChangeShapeType="1" noTextEdit="1"/>
          </p:cNvSpPr>
          <p:nvPr/>
        </p:nvSpPr>
        <p:spPr>
          <a:xfrm>
            <a:off x="5819498" y="4345657"/>
            <a:ext cx="5119750" cy="418803"/>
          </a:xfrm>
          <a:prstGeom prst="rect">
            <a:avLst/>
          </a:prstGeom>
          <a:blipFill rotWithShape="1">
            <a:blip r:embed="rId7"/>
            <a:stretch>
              <a:fillRect b="-15385"/>
            </a:stretch>
          </a:blipFill>
          <a:ln>
            <a:solidFill>
              <a:schemeClr val="accent1"/>
            </a:solidFill>
          </a:ln>
        </p:spPr>
        <p:txBody>
          <a:bodyPr/>
          <a:lstStyle/>
          <a:p>
            <a:pPr>
              <a:defRPr/>
            </a:pPr>
            <a:r>
              <a:rPr lang="zh-CN" altLang="en-US" sz="1633">
                <a:noFill/>
              </a:rPr>
              <a:t> </a:t>
            </a:r>
          </a:p>
        </p:txBody>
      </p:sp>
      <p:sp>
        <p:nvSpPr>
          <p:cNvPr id="13" name="TextBox 12"/>
          <p:cNvSpPr txBox="1">
            <a:spLocks noRot="1" noChangeAspect="1" noMove="1" noResize="1" noEditPoints="1" noAdjustHandles="1" noChangeArrowheads="1" noChangeShapeType="1" noTextEdit="1"/>
          </p:cNvSpPr>
          <p:nvPr/>
        </p:nvSpPr>
        <p:spPr>
          <a:xfrm>
            <a:off x="5819500" y="4838075"/>
            <a:ext cx="4920702" cy="418803"/>
          </a:xfrm>
          <a:prstGeom prst="rect">
            <a:avLst/>
          </a:prstGeom>
          <a:blipFill rotWithShape="1">
            <a:blip r:embed="rId8"/>
            <a:stretch>
              <a:fillRect b="-15385"/>
            </a:stretch>
          </a:blipFill>
          <a:ln>
            <a:solidFill>
              <a:schemeClr val="accent1"/>
            </a:solidFill>
          </a:ln>
        </p:spPr>
        <p:txBody>
          <a:bodyPr/>
          <a:lstStyle/>
          <a:p>
            <a:pPr>
              <a:defRPr/>
            </a:pPr>
            <a:r>
              <a:rPr lang="zh-CN" altLang="en-US" sz="1633">
                <a:noFill/>
              </a:rPr>
              <a:t> </a:t>
            </a:r>
          </a:p>
        </p:txBody>
      </p:sp>
      <p:cxnSp>
        <p:nvCxnSpPr>
          <p:cNvPr id="14" name="直接连接符 13"/>
          <p:cNvCxnSpPr/>
          <p:nvPr/>
        </p:nvCxnSpPr>
        <p:spPr>
          <a:xfrm>
            <a:off x="6721009" y="4755345"/>
            <a:ext cx="3318021" cy="0"/>
          </a:xfrm>
          <a:prstGeom prst="line">
            <a:avLst/>
          </a:prstGeom>
        </p:spPr>
        <p:style>
          <a:lnRef idx="3">
            <a:schemeClr val="accent2"/>
          </a:lnRef>
          <a:fillRef idx="0">
            <a:schemeClr val="accent2"/>
          </a:fillRef>
          <a:effectRef idx="2">
            <a:schemeClr val="accent2"/>
          </a:effectRef>
          <a:fontRef idx="minor">
            <a:schemeClr val="tx1"/>
          </a:fontRef>
        </p:style>
      </p:cxnSp>
      <p:sp>
        <p:nvSpPr>
          <p:cNvPr id="93193" name="TextBox 11"/>
          <p:cNvSpPr txBox="1">
            <a:spLocks noChangeArrowheads="1"/>
          </p:cNvSpPr>
          <p:nvPr/>
        </p:nvSpPr>
        <p:spPr bwMode="auto">
          <a:xfrm>
            <a:off x="2155850" y="5502765"/>
            <a:ext cx="6912544" cy="8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633"/>
              <a:t>链增长和链终止是一对竞争反应，从一对活性链的双基终止和一个活性链单体的增长反应比较，似乎</a:t>
            </a:r>
            <a:r>
              <a:rPr lang="en-US" altLang="zh-CN" sz="1633"/>
              <a:t>R</a:t>
            </a:r>
            <a:r>
              <a:rPr lang="en-US" altLang="zh-CN" sz="1633" baseline="-25000"/>
              <a:t>t</a:t>
            </a:r>
            <a:r>
              <a:rPr lang="en-US" altLang="zh-CN" sz="1633"/>
              <a:t>&gt;&gt;R</a:t>
            </a:r>
            <a:r>
              <a:rPr lang="en-US" altLang="zh-CN" sz="1633" baseline="-25000"/>
              <a:t>P</a:t>
            </a:r>
            <a:r>
              <a:rPr lang="zh-CN" altLang="en-US" sz="1633"/>
              <a:t>，但从整个体系宏观来看，</a:t>
            </a:r>
            <a:r>
              <a:rPr lang="en-US" altLang="zh-CN" sz="1633"/>
              <a:t>R</a:t>
            </a:r>
            <a:r>
              <a:rPr lang="en-US" altLang="zh-CN" sz="1633" baseline="-25000"/>
              <a:t>P</a:t>
            </a:r>
            <a:r>
              <a:rPr lang="en-US" altLang="zh-CN" sz="1633">
                <a:latin typeface="Times New Roman" panose="02020603050405020304" pitchFamily="18" charset="0"/>
                <a:cs typeface="Times New Roman" panose="02020603050405020304" pitchFamily="18" charset="0"/>
              </a:rPr>
              <a:t>∞[M]</a:t>
            </a:r>
            <a:r>
              <a:rPr lang="zh-CN" altLang="en-US" sz="1633">
                <a:latin typeface="Times New Roman" panose="02020603050405020304" pitchFamily="18" charset="0"/>
                <a:cs typeface="Times New Roman" panose="02020603050405020304" pitchFamily="18" charset="0"/>
              </a:rPr>
              <a:t>，而</a:t>
            </a:r>
            <a:r>
              <a:rPr lang="en-US" altLang="zh-CN" sz="1633">
                <a:latin typeface="Times New Roman" panose="02020603050405020304" pitchFamily="18" charset="0"/>
                <a:cs typeface="Times New Roman" panose="02020603050405020304" pitchFamily="18" charset="0"/>
              </a:rPr>
              <a:t>[M]</a:t>
            </a:r>
            <a:r>
              <a:rPr lang="zh-CN" altLang="en-US" sz="1633">
                <a:latin typeface="Times New Roman" panose="02020603050405020304" pitchFamily="18" charset="0"/>
                <a:cs typeface="Times New Roman" panose="02020603050405020304" pitchFamily="18" charset="0"/>
              </a:rPr>
              <a:t>远大于自由基浓度，结果，增长的总速率要比终止的总速率大的多。</a:t>
            </a:r>
            <a:endParaRPr lang="zh-CN" altLang="en-US" sz="1633"/>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1879348" y="110979"/>
            <a:ext cx="7880300" cy="1036882"/>
          </a:xfrm>
        </p:spPr>
        <p:txBody>
          <a:bodyPr/>
          <a:lstStyle/>
          <a:p>
            <a:pPr algn="l"/>
            <a:r>
              <a:rPr lang="zh-CN" altLang="en-US" sz="2903"/>
              <a:t>温度对聚合速率的影响</a:t>
            </a:r>
            <a:br>
              <a:rPr lang="en-US" altLang="zh-CN" sz="2903"/>
            </a:br>
            <a:r>
              <a:rPr lang="en-US" altLang="zh-CN" sz="2903">
                <a:latin typeface="Times New Roman" panose="02020603050405020304" pitchFamily="18" charset="0"/>
                <a:cs typeface="Times New Roman" panose="02020603050405020304" pitchFamily="18" charset="0"/>
              </a:rPr>
              <a:t>Effect of Temperature on the Rate Constants</a:t>
            </a:r>
            <a:endParaRPr lang="zh-CN" altLang="en-US" sz="2903">
              <a:latin typeface="Times New Roman" panose="02020603050405020304" pitchFamily="18" charset="0"/>
              <a:cs typeface="Times New Roman" panose="02020603050405020304" pitchFamily="18" charset="0"/>
            </a:endParaRPr>
          </a:p>
        </p:txBody>
      </p:sp>
      <p:sp>
        <p:nvSpPr>
          <p:cNvPr id="94211" name="TextBox 3"/>
          <p:cNvSpPr txBox="1">
            <a:spLocks noChangeArrowheads="1"/>
          </p:cNvSpPr>
          <p:nvPr/>
        </p:nvSpPr>
        <p:spPr bwMode="auto">
          <a:xfrm>
            <a:off x="1741097" y="2184743"/>
            <a:ext cx="6981670" cy="61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zh-CN" altLang="en-US" sz="2540"/>
              <a:t>温度对聚合速率的影响：</a:t>
            </a:r>
            <a:endParaRPr lang="en-US" altLang="zh-CN" sz="2540"/>
          </a:p>
        </p:txBody>
      </p:sp>
      <p:sp>
        <p:nvSpPr>
          <p:cNvPr id="15" name="TextBox 14"/>
          <p:cNvSpPr txBox="1">
            <a:spLocks noRot="1" noChangeAspect="1" noMove="1" noResize="1" noEditPoints="1" noAdjustHandles="1" noChangeArrowheads="1" noChangeShapeType="1" noTextEdit="1"/>
          </p:cNvSpPr>
          <p:nvPr/>
        </p:nvSpPr>
        <p:spPr>
          <a:xfrm>
            <a:off x="5751462" y="1329419"/>
            <a:ext cx="3684594" cy="977788"/>
          </a:xfrm>
          <a:prstGeom prst="rect">
            <a:avLst/>
          </a:prstGeom>
          <a:blipFill rotWithShape="1">
            <a:blip r:embed="rId3"/>
            <a:stretch>
              <a:fillRect/>
            </a:stretch>
          </a:blipFill>
          <a:ln>
            <a:solidFill>
              <a:srgbClr val="FF0000"/>
            </a:solidFill>
          </a:ln>
        </p:spPr>
        <p:txBody>
          <a:bodyPr/>
          <a:lstStyle/>
          <a:p>
            <a:pPr>
              <a:defRPr/>
            </a:pPr>
            <a:r>
              <a:rPr lang="zh-CN" altLang="en-US" sz="1633">
                <a:noFill/>
              </a:rPr>
              <a:t> </a:t>
            </a:r>
          </a:p>
        </p:txBody>
      </p:sp>
      <p:sp>
        <p:nvSpPr>
          <p:cNvPr id="3" name="TextBox 2"/>
          <p:cNvSpPr txBox="1">
            <a:spLocks noRot="1" noChangeAspect="1" noMove="1" noResize="1" noEditPoints="1" noAdjustHandles="1" noChangeArrowheads="1" noChangeShapeType="1" noTextEdit="1"/>
          </p:cNvSpPr>
          <p:nvPr/>
        </p:nvSpPr>
        <p:spPr>
          <a:xfrm>
            <a:off x="1819688" y="3196044"/>
            <a:ext cx="1498093" cy="569980"/>
          </a:xfrm>
          <a:prstGeom prst="rect">
            <a:avLst/>
          </a:prstGeom>
          <a:blipFill rotWithShape="1">
            <a:blip r:embed="rId4"/>
            <a:stretch>
              <a:fillRect/>
            </a:stretch>
          </a:blipFill>
        </p:spPr>
        <p:txBody>
          <a:bodyPr/>
          <a:lstStyle/>
          <a:p>
            <a:pPr>
              <a:defRPr/>
            </a:pPr>
            <a:r>
              <a:rPr lang="zh-CN" altLang="en-US" sz="1633">
                <a:noFill/>
              </a:rPr>
              <a:t> </a:t>
            </a:r>
          </a:p>
        </p:txBody>
      </p:sp>
      <p:sp>
        <p:nvSpPr>
          <p:cNvPr id="5" name="TextBox 4"/>
          <p:cNvSpPr txBox="1">
            <a:spLocks noRot="1" noChangeAspect="1" noMove="1" noResize="1" noEditPoints="1" noAdjustHandles="1" noChangeArrowheads="1" noChangeShapeType="1" noTextEdit="1"/>
          </p:cNvSpPr>
          <p:nvPr/>
        </p:nvSpPr>
        <p:spPr>
          <a:xfrm>
            <a:off x="3413635" y="3029694"/>
            <a:ext cx="2069701" cy="916248"/>
          </a:xfrm>
          <a:prstGeom prst="rect">
            <a:avLst/>
          </a:prstGeom>
          <a:blipFill rotWithShape="1">
            <a:blip r:embed="rId5"/>
            <a:stretch>
              <a:fillRect/>
            </a:stretch>
          </a:blipFill>
        </p:spPr>
        <p:txBody>
          <a:bodyPr/>
          <a:lstStyle/>
          <a:p>
            <a:pPr>
              <a:defRPr/>
            </a:pPr>
            <a:r>
              <a:rPr lang="zh-CN" altLang="en-US" sz="1633">
                <a:noFill/>
              </a:rPr>
              <a:t> </a:t>
            </a:r>
          </a:p>
        </p:txBody>
      </p:sp>
      <p:sp>
        <p:nvSpPr>
          <p:cNvPr id="16" name="TextBox 15"/>
          <p:cNvSpPr txBox="1">
            <a:spLocks noRot="1" noChangeAspect="1" noMove="1" noResize="1" noEditPoints="1" noAdjustHandles="1" noChangeArrowheads="1" noChangeShapeType="1" noTextEdit="1"/>
          </p:cNvSpPr>
          <p:nvPr/>
        </p:nvSpPr>
        <p:spPr>
          <a:xfrm>
            <a:off x="1810223" y="4120255"/>
            <a:ext cx="4087866" cy="967261"/>
          </a:xfrm>
          <a:prstGeom prst="rect">
            <a:avLst/>
          </a:prstGeom>
          <a:blipFill rotWithShape="1">
            <a:blip r:embed="rId6"/>
            <a:stretch>
              <a:fillRect/>
            </a:stretch>
          </a:blipFill>
        </p:spPr>
        <p:txBody>
          <a:bodyPr/>
          <a:lstStyle/>
          <a:p>
            <a:pPr>
              <a:defRPr/>
            </a:pPr>
            <a:r>
              <a:rPr lang="zh-CN" altLang="en-US" sz="1633">
                <a:noFill/>
              </a:rPr>
              <a:t> </a:t>
            </a:r>
          </a:p>
        </p:txBody>
      </p:sp>
      <p:sp>
        <p:nvSpPr>
          <p:cNvPr id="17" name="TextBox 16"/>
          <p:cNvSpPr txBox="1">
            <a:spLocks noChangeArrowheads="1"/>
          </p:cNvSpPr>
          <p:nvPr/>
        </p:nvSpPr>
        <p:spPr bwMode="auto">
          <a:xfrm>
            <a:off x="5989434" y="3290752"/>
            <a:ext cx="4265616" cy="53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903">
                <a:latin typeface="Times New Roman" panose="02020603050405020304" pitchFamily="18" charset="0"/>
                <a:cs typeface="Times New Roman" panose="02020603050405020304" pitchFamily="18" charset="0"/>
              </a:rPr>
              <a:t>Total Activity Energy:</a:t>
            </a:r>
            <a:endParaRPr lang="zh-CN" altLang="en-US" sz="2903">
              <a:latin typeface="Times New Roman" panose="02020603050405020304" pitchFamily="18" charset="0"/>
              <a:cs typeface="Times New Roman" panose="02020603050405020304" pitchFamily="18" charset="0"/>
            </a:endParaRPr>
          </a:p>
        </p:txBody>
      </p:sp>
      <p:sp>
        <p:nvSpPr>
          <p:cNvPr id="18" name="矩形 17"/>
          <p:cNvSpPr>
            <a:spLocks noRot="1" noChangeAspect="1" noMove="1" noResize="1" noEditPoints="1" noAdjustHandles="1" noChangeArrowheads="1" noChangeShapeType="1" noTextEdit="1"/>
          </p:cNvSpPr>
          <p:nvPr/>
        </p:nvSpPr>
        <p:spPr>
          <a:xfrm>
            <a:off x="8188420" y="4083090"/>
            <a:ext cx="2449183" cy="1522465"/>
          </a:xfrm>
          <a:prstGeom prst="rect">
            <a:avLst/>
          </a:prstGeom>
          <a:blipFill rotWithShape="1">
            <a:blip r:embed="rId7"/>
            <a:stretch>
              <a:fillRect b="-3597"/>
            </a:stretch>
          </a:blipFill>
          <a:ln>
            <a:solidFill>
              <a:srgbClr val="FF0000"/>
            </a:solidFill>
          </a:ln>
        </p:spPr>
        <p:txBody>
          <a:bodyPr/>
          <a:lstStyle/>
          <a:p>
            <a:pPr>
              <a:defRPr/>
            </a:pPr>
            <a:r>
              <a:rPr lang="zh-CN" altLang="en-US" sz="1633">
                <a:noFill/>
              </a:rPr>
              <a:t> </a:t>
            </a:r>
          </a:p>
        </p:txBody>
      </p:sp>
      <p:grpSp>
        <p:nvGrpSpPr>
          <p:cNvPr id="20" name="组合 19"/>
          <p:cNvGrpSpPr>
            <a:grpSpLocks/>
          </p:cNvGrpSpPr>
          <p:nvPr/>
        </p:nvGrpSpPr>
        <p:grpSpPr bwMode="auto">
          <a:xfrm>
            <a:off x="6072958" y="4258508"/>
            <a:ext cx="1774220" cy="1172252"/>
            <a:chOff x="5270500" y="3782020"/>
            <a:chExt cx="1955856" cy="1292944"/>
          </a:xfrm>
        </p:grpSpPr>
        <p:sp>
          <p:nvSpPr>
            <p:cNvPr id="19" name="TextBox 18"/>
            <p:cNvSpPr txBox="1">
              <a:spLocks noRot="1" noChangeAspect="1" noMove="1" noResize="1" noEditPoints="1" noAdjustHandles="1" noChangeArrowheads="1" noChangeShapeType="1" noTextEdit="1"/>
            </p:cNvSpPr>
            <p:nvPr/>
          </p:nvSpPr>
          <p:spPr>
            <a:xfrm>
              <a:off x="5270500" y="3782020"/>
              <a:ext cx="1955856" cy="369332"/>
            </a:xfrm>
            <a:prstGeom prst="rect">
              <a:avLst/>
            </a:prstGeom>
            <a:blipFill rotWithShape="1">
              <a:blip r:embed="rId8"/>
              <a:stretch>
                <a:fillRect b="-11475"/>
              </a:stretch>
            </a:blipFill>
          </p:spPr>
          <p:txBody>
            <a:bodyPr/>
            <a:lstStyle/>
            <a:p>
              <a:pPr>
                <a:defRPr/>
              </a:pPr>
              <a:r>
                <a:rPr lang="zh-CN" altLang="en-US" sz="1633">
                  <a:noFill/>
                </a:rPr>
                <a:t> </a:t>
              </a:r>
            </a:p>
          </p:txBody>
        </p:sp>
        <p:sp>
          <p:nvSpPr>
            <p:cNvPr id="21" name="TextBox 20"/>
            <p:cNvSpPr txBox="1">
              <a:spLocks noRot="1" noChangeAspect="1" noMove="1" noResize="1" noEditPoints="1" noAdjustHandles="1" noChangeArrowheads="1" noChangeShapeType="1" noTextEdit="1"/>
            </p:cNvSpPr>
            <p:nvPr/>
          </p:nvSpPr>
          <p:spPr>
            <a:xfrm>
              <a:off x="5270500" y="4705632"/>
              <a:ext cx="1793120" cy="369332"/>
            </a:xfrm>
            <a:prstGeom prst="rect">
              <a:avLst/>
            </a:prstGeom>
            <a:blipFill rotWithShape="1">
              <a:blip r:embed="rId9"/>
              <a:stretch>
                <a:fillRect b="-11475"/>
              </a:stretch>
            </a:blipFill>
          </p:spPr>
          <p:txBody>
            <a:bodyPr/>
            <a:lstStyle/>
            <a:p>
              <a:pPr>
                <a:defRPr/>
              </a:pPr>
              <a:r>
                <a:rPr lang="zh-CN" altLang="en-US" sz="1633">
                  <a:noFill/>
                </a:rPr>
                <a:t> </a:t>
              </a:r>
            </a:p>
          </p:txBody>
        </p:sp>
        <p:sp>
          <p:nvSpPr>
            <p:cNvPr id="22" name="TextBox 21"/>
            <p:cNvSpPr txBox="1">
              <a:spLocks noRot="1" noChangeAspect="1" noMove="1" noResize="1" noEditPoints="1" noAdjustHandles="1" noChangeArrowheads="1" noChangeShapeType="1" noTextEdit="1"/>
            </p:cNvSpPr>
            <p:nvPr/>
          </p:nvSpPr>
          <p:spPr>
            <a:xfrm>
              <a:off x="5270500" y="4259650"/>
              <a:ext cx="1827808" cy="369332"/>
            </a:xfrm>
            <a:prstGeom prst="rect">
              <a:avLst/>
            </a:prstGeom>
            <a:blipFill rotWithShape="1">
              <a:blip r:embed="rId10"/>
              <a:stretch>
                <a:fillRect b="-11475"/>
              </a:stretch>
            </a:blipFill>
          </p:spPr>
          <p:txBody>
            <a:bodyPr/>
            <a:lstStyle/>
            <a:p>
              <a:pPr>
                <a:defRPr/>
              </a:pPr>
              <a:r>
                <a:rPr lang="zh-CN" altLang="en-US" sz="1633">
                  <a:noFill/>
                </a:rPr>
                <a:t> </a:t>
              </a:r>
            </a:p>
          </p:txBody>
        </p:sp>
      </p:grpSp>
      <p:sp>
        <p:nvSpPr>
          <p:cNvPr id="23" name="TextBox 22"/>
          <p:cNvSpPr txBox="1">
            <a:spLocks noChangeArrowheads="1"/>
          </p:cNvSpPr>
          <p:nvPr/>
        </p:nvSpPr>
        <p:spPr bwMode="auto">
          <a:xfrm>
            <a:off x="2962314" y="5898797"/>
            <a:ext cx="4631405" cy="59490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266">
                <a:latin typeface="Times New Roman" panose="02020603050405020304" pitchFamily="18" charset="0"/>
                <a:cs typeface="Times New Roman" panose="02020603050405020304" pitchFamily="18" charset="0"/>
              </a:rPr>
              <a:t>E&gt;0, T</a:t>
            </a:r>
            <a:r>
              <a:rPr lang="zh-CN" altLang="en-US" sz="3266">
                <a:latin typeface="Times New Roman" panose="02020603050405020304" pitchFamily="18" charset="0"/>
                <a:cs typeface="Times New Roman" panose="02020603050405020304" pitchFamily="18" charset="0"/>
              </a:rPr>
              <a:t>增大，</a:t>
            </a:r>
            <a:r>
              <a:rPr lang="en-US" altLang="zh-CN" sz="3266">
                <a:latin typeface="Times New Roman" panose="02020603050405020304" pitchFamily="18" charset="0"/>
                <a:cs typeface="Times New Roman" panose="02020603050405020304" pitchFamily="18" charset="0"/>
              </a:rPr>
              <a:t>R</a:t>
            </a:r>
            <a:r>
              <a:rPr lang="en-US" altLang="zh-CN" sz="3266" baseline="-25000">
                <a:latin typeface="Times New Roman" panose="02020603050405020304" pitchFamily="18" charset="0"/>
                <a:cs typeface="Times New Roman" panose="02020603050405020304" pitchFamily="18" charset="0"/>
              </a:rPr>
              <a:t>P</a:t>
            </a:r>
            <a:r>
              <a:rPr lang="zh-CN" altLang="en-US" sz="3266">
                <a:latin typeface="Times New Roman" panose="02020603050405020304" pitchFamily="18" charset="0"/>
                <a:cs typeface="Times New Roman" panose="02020603050405020304" pitchFamily="18" charset="0"/>
              </a:rPr>
              <a:t>增大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1000"/>
                                        <p:tgtEl>
                                          <p:spTgt spid="20"/>
                                        </p:tgtEl>
                                      </p:cBhvr>
                                    </p:animEffect>
                                    <p:anim calcmode="lin" valueType="num">
                                      <p:cBhvr>
                                        <p:cTn id="18" dur="1000" fill="hold"/>
                                        <p:tgtEl>
                                          <p:spTgt spid="20"/>
                                        </p:tgtEl>
                                        <p:attrNameLst>
                                          <p:attrName>ppt_x</p:attrName>
                                        </p:attrNameLst>
                                      </p:cBhvr>
                                      <p:tavLst>
                                        <p:tav tm="0">
                                          <p:val>
                                            <p:strVal val="#ppt_x"/>
                                          </p:val>
                                        </p:tav>
                                        <p:tav tm="100000">
                                          <p:val>
                                            <p:strVal val="#ppt_x"/>
                                          </p:val>
                                        </p:tav>
                                      </p:tavLst>
                                    </p:anim>
                                    <p:anim calcmode="lin" valueType="num">
                                      <p:cBhvr>
                                        <p:cTn id="1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randombar(horizontal)">
                                      <p:cBhvr>
                                        <p:cTn id="2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2639728" y="110979"/>
            <a:ext cx="7465548" cy="1036882"/>
          </a:xfrm>
        </p:spPr>
        <p:txBody>
          <a:bodyPr/>
          <a:lstStyle/>
          <a:p>
            <a:r>
              <a:rPr lang="en-US" altLang="zh-CN" sz="3266" b="1">
                <a:latin typeface="Times New Roman" panose="02020603050405020304" pitchFamily="18" charset="0"/>
                <a:cs typeface="Times New Roman" panose="02020603050405020304" pitchFamily="18" charset="0"/>
              </a:rPr>
              <a:t>Summary</a:t>
            </a:r>
            <a:endParaRPr lang="zh-CN" altLang="en-US" sz="3266" b="1">
              <a:latin typeface="Times New Roman" panose="02020603050405020304" pitchFamily="18" charset="0"/>
              <a:cs typeface="Times New Roman" panose="02020603050405020304" pitchFamily="18" charset="0"/>
            </a:endParaRPr>
          </a:p>
        </p:txBody>
      </p:sp>
      <p:sp>
        <p:nvSpPr>
          <p:cNvPr id="95235" name="内容占位符 2"/>
          <p:cNvSpPr>
            <a:spLocks noGrp="1"/>
          </p:cNvSpPr>
          <p:nvPr>
            <p:ph idx="1"/>
          </p:nvPr>
        </p:nvSpPr>
        <p:spPr>
          <a:xfrm>
            <a:off x="1948474" y="1205466"/>
            <a:ext cx="8295053" cy="4105763"/>
          </a:xfrm>
        </p:spPr>
        <p:txBody>
          <a:bodyPr/>
          <a:lstStyle/>
          <a:p>
            <a:r>
              <a:rPr lang="zh-CN" altLang="en-US"/>
              <a:t>“等活性理论、稳态处理、聚合总速率等于链增长速率”三个假定；</a:t>
            </a:r>
            <a:endParaRPr lang="en-US" altLang="zh-CN"/>
          </a:p>
          <a:p>
            <a:endParaRPr lang="en-US" altLang="zh-CN"/>
          </a:p>
          <a:p>
            <a:endParaRPr lang="en-US" altLang="zh-CN"/>
          </a:p>
          <a:p>
            <a:endParaRPr lang="en-US" altLang="zh-CN"/>
          </a:p>
          <a:p>
            <a:endParaRPr lang="en-US" altLang="zh-CN"/>
          </a:p>
          <a:p>
            <a:r>
              <a:rPr lang="zh-CN" altLang="en-US"/>
              <a:t>转化率小于</a:t>
            </a:r>
            <a:r>
              <a:rPr lang="en-US" altLang="zh-CN"/>
              <a:t>10%</a:t>
            </a:r>
            <a:r>
              <a:rPr lang="zh-CN" altLang="en-US"/>
              <a:t>时候：</a:t>
            </a:r>
          </a:p>
        </p:txBody>
      </p:sp>
      <p:pic>
        <p:nvPicPr>
          <p:cNvPr id="1566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4735" y="5197460"/>
            <a:ext cx="3693890" cy="98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a:grpSpLocks/>
          </p:cNvGrpSpPr>
          <p:nvPr/>
        </p:nvGrpSpPr>
        <p:grpSpPr bwMode="auto">
          <a:xfrm>
            <a:off x="6080162" y="4658859"/>
            <a:ext cx="1552442" cy="990798"/>
            <a:chOff x="7090966" y="5798361"/>
            <a:chExt cx="1712912" cy="1091757"/>
          </a:xfrm>
        </p:grpSpPr>
        <p:pic>
          <p:nvPicPr>
            <p:cNvPr id="95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0966" y="5798361"/>
              <a:ext cx="1474788"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0966" y="6409106"/>
              <a:ext cx="1712912"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952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88624" y="1862160"/>
            <a:ext cx="3601724" cy="2582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接箭头连接符 10"/>
          <p:cNvCxnSpPr/>
          <p:nvPr/>
        </p:nvCxnSpPr>
        <p:spPr>
          <a:xfrm flipV="1">
            <a:off x="5681247" y="4120255"/>
            <a:ext cx="1175133" cy="107720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椭圆 11"/>
          <p:cNvSpPr/>
          <p:nvPr/>
        </p:nvSpPr>
        <p:spPr>
          <a:xfrm rot="2163256">
            <a:off x="7490030" y="2423802"/>
            <a:ext cx="668213" cy="165901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
        <p:nvSpPr>
          <p:cNvPr id="13" name="TextBox 12"/>
          <p:cNvSpPr txBox="1">
            <a:spLocks noChangeArrowheads="1"/>
          </p:cNvSpPr>
          <p:nvPr/>
        </p:nvSpPr>
        <p:spPr bwMode="auto">
          <a:xfrm>
            <a:off x="9727966" y="3374278"/>
            <a:ext cx="1036882" cy="762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4355" b="1">
                <a:solidFill>
                  <a:srgbClr val="FF0000"/>
                </a:solidFill>
              </a:rPr>
              <a:t>???</a:t>
            </a:r>
            <a:endParaRPr lang="zh-CN" altLang="en-US" sz="4355" b="1">
              <a:solidFill>
                <a:srgbClr val="FF0000"/>
              </a:solidFill>
            </a:endParaRPr>
          </a:p>
        </p:txBody>
      </p:sp>
      <p:sp>
        <p:nvSpPr>
          <p:cNvPr id="14" name="矩形 13"/>
          <p:cNvSpPr>
            <a:spLocks noChangeArrowheads="1"/>
          </p:cNvSpPr>
          <p:nvPr/>
        </p:nvSpPr>
        <p:spPr bwMode="auto">
          <a:xfrm>
            <a:off x="7632602" y="5080811"/>
            <a:ext cx="3161048" cy="1097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633" b="1">
                <a:solidFill>
                  <a:srgbClr val="0000FF"/>
                </a:solidFill>
                <a:latin typeface="Times New Roman" panose="02020603050405020304" pitchFamily="18" charset="0"/>
                <a:cs typeface="Times New Roman" panose="02020603050405020304" pitchFamily="18" charset="0"/>
              </a:rPr>
              <a:t>[M]</a:t>
            </a:r>
            <a:r>
              <a:rPr lang="zh-CN" altLang="en-US" sz="1633" b="1">
                <a:solidFill>
                  <a:srgbClr val="0000FF"/>
                </a:solidFill>
                <a:latin typeface="Times New Roman" panose="02020603050405020304" pitchFamily="18" charset="0"/>
                <a:cs typeface="Times New Roman" panose="02020603050405020304" pitchFamily="18" charset="0"/>
              </a:rPr>
              <a:t>、</a:t>
            </a:r>
            <a:r>
              <a:rPr lang="en-US" altLang="zh-CN" sz="1633" b="1">
                <a:solidFill>
                  <a:srgbClr val="0000FF"/>
                </a:solidFill>
                <a:latin typeface="Times New Roman" panose="02020603050405020304" pitchFamily="18" charset="0"/>
                <a:cs typeface="Times New Roman" panose="02020603050405020304" pitchFamily="18" charset="0"/>
              </a:rPr>
              <a:t>[I] </a:t>
            </a:r>
            <a:r>
              <a:rPr lang="zh-CN" altLang="en-US" sz="1633" b="1">
                <a:solidFill>
                  <a:srgbClr val="0000FF"/>
                </a:solidFill>
                <a:latin typeface="Times New Roman" panose="02020603050405020304" pitchFamily="18" charset="0"/>
                <a:cs typeface="Times New Roman" panose="02020603050405020304" pitchFamily="18" charset="0"/>
              </a:rPr>
              <a:t>随时间↓，</a:t>
            </a:r>
            <a:r>
              <a:rPr lang="en-US" altLang="zh-CN" sz="1633" b="1">
                <a:solidFill>
                  <a:srgbClr val="0000FF"/>
                </a:solidFill>
                <a:latin typeface="Times New Roman" panose="02020603050405020304" pitchFamily="18" charset="0"/>
                <a:cs typeface="Times New Roman" panose="02020603050405020304" pitchFamily="18" charset="0"/>
              </a:rPr>
              <a:t>Rp</a:t>
            </a:r>
            <a:r>
              <a:rPr lang="zh-CN" altLang="en-US" sz="1633" b="1">
                <a:solidFill>
                  <a:srgbClr val="0000FF"/>
                </a:solidFill>
                <a:latin typeface="Times New Roman" panose="02020603050405020304" pitchFamily="18" charset="0"/>
                <a:cs typeface="Times New Roman" panose="02020603050405020304" pitchFamily="18" charset="0"/>
              </a:rPr>
              <a:t>也应随之↓</a:t>
            </a:r>
          </a:p>
          <a:p>
            <a:pPr eaLnBrk="1" hangingPunct="1"/>
            <a:endParaRPr lang="zh-CN" altLang="en-US" sz="1633" b="1">
              <a:solidFill>
                <a:srgbClr val="0000FF"/>
              </a:solidFill>
              <a:latin typeface="Times New Roman" panose="02020603050405020304" pitchFamily="18" charset="0"/>
              <a:cs typeface="Times New Roman" panose="02020603050405020304" pitchFamily="18" charset="0"/>
            </a:endParaRPr>
          </a:p>
          <a:p>
            <a:pPr eaLnBrk="1" hangingPunct="1"/>
            <a:r>
              <a:rPr lang="zh-CN" altLang="en-US" sz="1633" b="1">
                <a:solidFill>
                  <a:srgbClr val="0000FF"/>
                </a:solidFill>
                <a:latin typeface="Times New Roman" panose="02020603050405020304" pitchFamily="18" charset="0"/>
                <a:cs typeface="Times New Roman" panose="02020603050405020304" pitchFamily="18" charset="0"/>
              </a:rPr>
              <a:t>聚合中期，</a:t>
            </a:r>
            <a:r>
              <a:rPr lang="en-US" altLang="zh-CN" sz="1633" b="1">
                <a:solidFill>
                  <a:srgbClr val="0000FF"/>
                </a:solidFill>
                <a:latin typeface="Times New Roman" panose="02020603050405020304" pitchFamily="18" charset="0"/>
                <a:cs typeface="Times New Roman" panose="02020603050405020304" pitchFamily="18" charset="0"/>
              </a:rPr>
              <a:t>Rp</a:t>
            </a:r>
            <a:r>
              <a:rPr lang="zh-CN" altLang="en-US" sz="1633" b="1">
                <a:solidFill>
                  <a:srgbClr val="0000FF"/>
                </a:solidFill>
                <a:latin typeface="Times New Roman" panose="02020603050405020304" pitchFamily="18" charset="0"/>
                <a:cs typeface="Times New Roman" panose="02020603050405020304" pitchFamily="18" charset="0"/>
              </a:rPr>
              <a:t>非但不下降，反而加快，在</a:t>
            </a:r>
            <a:r>
              <a:rPr lang="en-US" altLang="zh-CN" sz="1633" b="1">
                <a:solidFill>
                  <a:srgbClr val="0000FF"/>
                </a:solidFill>
                <a:latin typeface="Times New Roman" panose="02020603050405020304" pitchFamily="18" charset="0"/>
                <a:cs typeface="Times New Roman" panose="02020603050405020304" pitchFamily="18" charset="0"/>
              </a:rPr>
              <a:t>C</a:t>
            </a:r>
            <a:r>
              <a:rPr lang="zh-CN" altLang="en-US" sz="1633" b="1">
                <a:solidFill>
                  <a:srgbClr val="0000FF"/>
                </a:solidFill>
                <a:latin typeface="Times New Roman" panose="02020603050405020304" pitchFamily="18" charset="0"/>
                <a:cs typeface="Times New Roman" panose="02020603050405020304" pitchFamily="18" charset="0"/>
              </a:rPr>
              <a:t>～</a:t>
            </a:r>
            <a:r>
              <a:rPr lang="en-US" altLang="zh-CN" sz="1633" b="1">
                <a:solidFill>
                  <a:srgbClr val="0000FF"/>
                </a:solidFill>
                <a:latin typeface="Times New Roman" panose="02020603050405020304" pitchFamily="18" charset="0"/>
                <a:cs typeface="Times New Roman" panose="02020603050405020304" pitchFamily="18" charset="0"/>
              </a:rPr>
              <a:t>t</a:t>
            </a:r>
            <a:r>
              <a:rPr lang="zh-CN" altLang="en-US" sz="1633" b="1">
                <a:solidFill>
                  <a:srgbClr val="0000FF"/>
                </a:solidFill>
                <a:latin typeface="Times New Roman" panose="02020603050405020304" pitchFamily="18" charset="0"/>
                <a:cs typeface="Times New Roman" panose="02020603050405020304" pitchFamily="18" charset="0"/>
              </a:rPr>
              <a:t>曲线上表现为</a:t>
            </a:r>
            <a:r>
              <a:rPr lang="en-US" altLang="zh-CN" sz="1633" b="1">
                <a:solidFill>
                  <a:srgbClr val="0000FF"/>
                </a:solidFill>
                <a:latin typeface="Times New Roman" panose="02020603050405020304" pitchFamily="18" charset="0"/>
                <a:cs typeface="Times New Roman" panose="02020603050405020304" pitchFamily="18" charset="0"/>
              </a:rPr>
              <a:t>S</a:t>
            </a:r>
            <a:r>
              <a:rPr lang="zh-CN" altLang="en-US" sz="1633" b="1">
                <a:solidFill>
                  <a:srgbClr val="0000FF"/>
                </a:solidFill>
                <a:latin typeface="Times New Roman" panose="02020603050405020304" pitchFamily="18" charset="0"/>
                <a:cs typeface="Times New Roman" panose="02020603050405020304" pitchFamily="18" charset="0"/>
              </a:rPr>
              <a:t>型。</a:t>
            </a:r>
          </a:p>
        </p:txBody>
      </p:sp>
      <p:sp>
        <p:nvSpPr>
          <p:cNvPr id="16" name="矩形 15"/>
          <p:cNvSpPr>
            <a:spLocks noChangeArrowheads="1"/>
          </p:cNvSpPr>
          <p:nvPr/>
        </p:nvSpPr>
        <p:spPr bwMode="auto">
          <a:xfrm>
            <a:off x="2115300" y="2665742"/>
            <a:ext cx="3374642" cy="1097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266" b="1">
                <a:solidFill>
                  <a:srgbClr val="0000FF"/>
                </a:solidFill>
              </a:rPr>
              <a:t>自动加速现象</a:t>
            </a:r>
            <a:endParaRPr lang="en-US" altLang="zh-CN" sz="3266" b="1">
              <a:solidFill>
                <a:srgbClr val="0000FF"/>
              </a:solidFill>
            </a:endParaRPr>
          </a:p>
          <a:p>
            <a:pPr algn="ctr" eaLnBrk="1" hangingPunct="1"/>
            <a:r>
              <a:rPr lang="en-US" altLang="zh-CN" sz="3266" b="1">
                <a:solidFill>
                  <a:srgbClr val="0000FF"/>
                </a:solidFill>
                <a:latin typeface="Times New Roman" panose="02020603050405020304" pitchFamily="18" charset="0"/>
                <a:cs typeface="Times New Roman" panose="02020603050405020304" pitchFamily="18" charset="0"/>
              </a:rPr>
              <a:t>Auto-acceleration</a:t>
            </a:r>
            <a:endParaRPr lang="zh-CN" altLang="en-US" sz="3266" b="1">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56675"/>
                                        </p:tgtEl>
                                        <p:attrNameLst>
                                          <p:attrName>style.visibility</p:attrName>
                                        </p:attrNameLst>
                                      </p:cBhvr>
                                      <p:to>
                                        <p:strVal val="visible"/>
                                      </p:to>
                                    </p:set>
                                    <p:animEffect transition="in" filter="fade">
                                      <p:cBhvr>
                                        <p:cTn id="7" dur="1000"/>
                                        <p:tgtEl>
                                          <p:spTgt spid="156675"/>
                                        </p:tgtEl>
                                      </p:cBhvr>
                                    </p:animEffect>
                                    <p:anim calcmode="lin" valueType="num">
                                      <p:cBhvr>
                                        <p:cTn id="8" dur="1000" fill="hold"/>
                                        <p:tgtEl>
                                          <p:spTgt spid="156675"/>
                                        </p:tgtEl>
                                        <p:attrNameLst>
                                          <p:attrName>ppt_x</p:attrName>
                                        </p:attrNameLst>
                                      </p:cBhvr>
                                      <p:tavLst>
                                        <p:tav tm="0">
                                          <p:val>
                                            <p:strVal val="#ppt_x"/>
                                          </p:val>
                                        </p:tav>
                                        <p:tav tm="100000">
                                          <p:val>
                                            <p:strVal val="#ppt_x"/>
                                          </p:val>
                                        </p:tav>
                                      </p:tavLst>
                                    </p:anim>
                                    <p:anim calcmode="lin" valueType="num">
                                      <p:cBhvr>
                                        <p:cTn id="9" dur="1000" fill="hold"/>
                                        <p:tgtEl>
                                          <p:spTgt spid="15667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4"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down)">
                                      <p:cBhvr>
                                        <p:cTn id="14" dur="500"/>
                                        <p:tgtEl>
                                          <p:spTgt spid="11"/>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1" presetClass="entr" presetSubtype="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heel(1)">
                                      <p:cBhvr>
                                        <p:cTn id="19" dur="20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randombar(horizontal)">
                                      <p:cBhvr>
                                        <p:cTn id="31" dur="500"/>
                                        <p:tgtEl>
                                          <p:spTgt spid="1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1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80</a:t>
            </a:r>
          </a:p>
        </p:txBody>
      </p:sp>
      <p:sp>
        <p:nvSpPr>
          <p:cNvPr id="96259" name="TextBox 1"/>
          <p:cNvSpPr txBox="1">
            <a:spLocks noChangeArrowheads="1"/>
          </p:cNvSpPr>
          <p:nvPr/>
        </p:nvSpPr>
        <p:spPr bwMode="auto">
          <a:xfrm>
            <a:off x="2023359" y="3224506"/>
            <a:ext cx="8289293" cy="2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50000"/>
              </a:lnSpc>
            </a:pPr>
            <a:r>
              <a:rPr lang="en-US" altLang="zh-CN" sz="2540">
                <a:latin typeface="楷体_GB2312"/>
                <a:ea typeface="楷体_GB2312"/>
                <a:cs typeface="楷体_GB2312"/>
              </a:rPr>
              <a:t>随转化率的增加，体系的粘度增大，双基终止速率因链自由基的扩散困难而减小，</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C</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40</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50%</a:t>
            </a:r>
            <a:r>
              <a:rPr lang="en-US" altLang="zh-CN" sz="2540">
                <a:latin typeface="楷体_GB2312"/>
                <a:ea typeface="楷体_GB2312"/>
                <a:cs typeface="楷体_GB2312"/>
              </a:rPr>
              <a:t>时，</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a:t>
            </a:r>
            <a:r>
              <a:rPr lang="en-US" altLang="zh-CN" sz="2540">
                <a:latin typeface="楷体_GB2312"/>
                <a:ea typeface="楷体_GB2312"/>
                <a:cs typeface="楷体_GB2312"/>
              </a:rPr>
              <a:t>↓可达上百倍，活性链寿命则延长十多倍；而此时体系粘度还不足以严重妨碍单体扩散，</a:t>
            </a:r>
            <a:r>
              <a:rPr lang="en-US" altLang="zh-CN" sz="2540" b="1">
                <a:latin typeface="Times New Roman" panose="02020603050405020304" pitchFamily="18" charset="0"/>
                <a:cs typeface="Times New Roman" panose="02020603050405020304" pitchFamily="18" charset="0"/>
              </a:rPr>
              <a:t>kp</a:t>
            </a:r>
            <a:r>
              <a:rPr lang="en-US" altLang="zh-CN" sz="2540">
                <a:latin typeface="楷体_GB2312"/>
                <a:ea typeface="楷体_GB2312"/>
                <a:cs typeface="楷体_GB2312"/>
              </a:rPr>
              <a:t>变动不大，使</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t1/2</a:t>
            </a:r>
            <a:r>
              <a:rPr lang="en-US" altLang="zh-CN" sz="2540">
                <a:latin typeface="楷体_GB2312"/>
                <a:ea typeface="楷体_GB2312"/>
                <a:cs typeface="楷体_GB2312"/>
              </a:rPr>
              <a:t>增加了近</a:t>
            </a:r>
            <a:r>
              <a:rPr lang="en-US" altLang="zh-CN" sz="2540" b="1">
                <a:latin typeface="Times New Roman" panose="02020603050405020304" pitchFamily="18" charset="0"/>
                <a:cs typeface="Times New Roman" panose="02020603050405020304" pitchFamily="18" charset="0"/>
              </a:rPr>
              <a:t>7</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8</a:t>
            </a:r>
            <a:r>
              <a:rPr lang="en-US" altLang="zh-CN" sz="2540">
                <a:latin typeface="楷体_GB2312"/>
                <a:ea typeface="楷体_GB2312"/>
                <a:cs typeface="楷体_GB2312"/>
              </a:rPr>
              <a:t>倍，自动加速显著，分子量也迅速增加。</a:t>
            </a:r>
          </a:p>
        </p:txBody>
      </p:sp>
      <p:sp>
        <p:nvSpPr>
          <p:cNvPr id="96260" name="TextBox 1"/>
          <p:cNvSpPr txBox="1">
            <a:spLocks noChangeArrowheads="1"/>
          </p:cNvSpPr>
          <p:nvPr/>
        </p:nvSpPr>
        <p:spPr bwMode="auto">
          <a:xfrm>
            <a:off x="1771340" y="1450287"/>
            <a:ext cx="7340151"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latin typeface="Times New Roman" panose="02020603050405020304" pitchFamily="18" charset="0"/>
                <a:cs typeface="Times New Roman" panose="02020603050405020304" pitchFamily="18" charset="0"/>
              </a:rPr>
              <a:t>a)</a:t>
            </a:r>
            <a:r>
              <a:rPr lang="en-US" altLang="zh-CN" sz="2812">
                <a:latin typeface="Times New Roman" panose="02020603050405020304" pitchFamily="18" charset="0"/>
                <a:cs typeface="Times New Roman" panose="02020603050405020304" pitchFamily="18" charset="0"/>
              </a:rPr>
              <a:t> </a:t>
            </a:r>
            <a:r>
              <a:rPr lang="en-US" altLang="zh-CN" sz="2812">
                <a:latin typeface="楷体_GB2312"/>
                <a:ea typeface="楷体_GB2312"/>
                <a:cs typeface="楷体_GB2312"/>
              </a:rPr>
              <a:t>自动加速现象</a:t>
            </a:r>
            <a:r>
              <a:rPr lang="en-US" altLang="zh-CN" sz="2812" b="1">
                <a:latin typeface="Times New Roman" panose="02020603050405020304" pitchFamily="18" charset="0"/>
                <a:cs typeface="Times New Roman" panose="02020603050405020304" pitchFamily="18" charset="0"/>
              </a:rPr>
              <a:t>(Auto-acceleration)</a:t>
            </a:r>
            <a:r>
              <a:rPr lang="en-US" altLang="zh-CN" sz="2812">
                <a:latin typeface="楷体_GB2312"/>
                <a:ea typeface="楷体_GB2312"/>
                <a:cs typeface="楷体_GB2312"/>
              </a:rPr>
              <a:t>产生的原因</a:t>
            </a:r>
          </a:p>
        </p:txBody>
      </p:sp>
      <p:sp>
        <p:nvSpPr>
          <p:cNvPr id="96261" name="TextBox 1"/>
          <p:cNvSpPr txBox="1">
            <a:spLocks noChangeArrowheads="1"/>
          </p:cNvSpPr>
          <p:nvPr/>
        </p:nvSpPr>
        <p:spPr bwMode="auto">
          <a:xfrm>
            <a:off x="1988797" y="2007609"/>
            <a:ext cx="8290733" cy="11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540">
                <a:latin typeface="楷体_GB2312"/>
                <a:ea typeface="楷体_GB2312"/>
                <a:cs typeface="楷体_GB2312"/>
              </a:rPr>
              <a:t>因体系</a:t>
            </a:r>
            <a:r>
              <a:rPr lang="en-US" altLang="zh-CN" sz="2540" b="1">
                <a:solidFill>
                  <a:srgbClr val="FF0000"/>
                </a:solidFill>
                <a:latin typeface="楷体_GB2312"/>
                <a:ea typeface="楷体_GB2312"/>
                <a:cs typeface="楷体_GB2312"/>
              </a:rPr>
              <a:t>粘度</a:t>
            </a:r>
            <a:r>
              <a:rPr lang="en-US" altLang="zh-CN" sz="2540">
                <a:latin typeface="楷体_GB2312"/>
                <a:ea typeface="楷体_GB2312"/>
                <a:cs typeface="楷体_GB2312"/>
              </a:rPr>
              <a:t>引起的，又称</a:t>
            </a:r>
            <a:r>
              <a:rPr lang="en-US" altLang="zh-CN" sz="2540" b="1">
                <a:solidFill>
                  <a:srgbClr val="FF0000"/>
                </a:solidFill>
                <a:latin typeface="楷体_GB2312"/>
                <a:ea typeface="楷体_GB2312"/>
                <a:cs typeface="楷体_GB2312"/>
              </a:rPr>
              <a:t>凝胶效应</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Gel</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Effect</a:t>
            </a:r>
            <a:r>
              <a:rPr lang="en-US" altLang="zh-CN" sz="2540">
                <a:latin typeface="楷体_GB2312"/>
                <a:ea typeface="楷体_GB2312"/>
                <a:cs typeface="楷体_GB2312"/>
              </a:rPr>
              <a:t>）。这一现象可以由</a:t>
            </a:r>
            <a:r>
              <a:rPr lang="en-US" altLang="zh-CN" sz="2540" b="1">
                <a:solidFill>
                  <a:srgbClr val="FF0000"/>
                </a:solidFill>
                <a:latin typeface="楷体_GB2312"/>
                <a:ea typeface="楷体_GB2312"/>
                <a:cs typeface="楷体_GB2312"/>
              </a:rPr>
              <a:t>双基终止</a:t>
            </a:r>
            <a:r>
              <a:rPr lang="en-US" altLang="zh-CN" sz="2540">
                <a:latin typeface="楷体_GB2312"/>
                <a:ea typeface="楷体_GB2312"/>
                <a:cs typeface="楷体_GB2312"/>
              </a:rPr>
              <a:t>受</a:t>
            </a:r>
            <a:r>
              <a:rPr lang="en-US" altLang="zh-CN" sz="2540" b="1">
                <a:solidFill>
                  <a:srgbClr val="FF0000"/>
                </a:solidFill>
                <a:latin typeface="楷体_GB2312"/>
                <a:ea typeface="楷体_GB2312"/>
                <a:cs typeface="楷体_GB2312"/>
              </a:rPr>
              <a:t>扩散控制</a:t>
            </a:r>
            <a:r>
              <a:rPr lang="en-US" altLang="zh-CN" sz="2540">
                <a:latin typeface="楷体_GB2312"/>
                <a:ea typeface="楷体_GB2312"/>
                <a:cs typeface="楷体_GB2312"/>
              </a:rPr>
              <a:t>来解释:</a:t>
            </a:r>
          </a:p>
        </p:txBody>
      </p:sp>
      <p:sp>
        <p:nvSpPr>
          <p:cNvPr id="96262" name="矩形 11"/>
          <p:cNvSpPr>
            <a:spLocks noChangeArrowheads="1"/>
          </p:cNvSpPr>
          <p:nvPr/>
        </p:nvSpPr>
        <p:spPr bwMode="auto">
          <a:xfrm>
            <a:off x="1464596" y="388922"/>
            <a:ext cx="6167073" cy="59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66" b="1">
                <a:latin typeface="Times New Roman" panose="02020603050405020304" pitchFamily="18" charset="0"/>
                <a:cs typeface="Times New Roman" panose="02020603050405020304" pitchFamily="18" charset="0"/>
              </a:rPr>
              <a:t>3.7.5 </a:t>
            </a:r>
            <a:r>
              <a:rPr lang="zh-CN" altLang="en-US" sz="3266" b="1">
                <a:latin typeface="Times New Roman" panose="02020603050405020304" pitchFamily="18" charset="0"/>
                <a:cs typeface="Times New Roman" panose="02020603050405020304" pitchFamily="18" charset="0"/>
              </a:rPr>
              <a:t>凝胶效应和宏观聚合动力学</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Box 1"/>
          <p:cNvSpPr txBox="1">
            <a:spLocks noChangeArrowheads="1"/>
          </p:cNvSpPr>
          <p:nvPr/>
        </p:nvSpPr>
        <p:spPr bwMode="auto">
          <a:xfrm>
            <a:off x="2098245" y="5088013"/>
            <a:ext cx="8364179" cy="1149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711200" algn="l"/>
                <a:tab pos="7924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 pos="7924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 pos="7924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 pos="7924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 pos="7924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 pos="7924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 pos="7924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 pos="7924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 pos="7924800" algn="l"/>
              </a:tabLs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sz="2540">
                <a:latin typeface="楷体_GB2312"/>
                <a:ea typeface="楷体_GB2312"/>
                <a:cs typeface="楷体_GB2312"/>
              </a:rPr>
              <a:t>显然，当</a:t>
            </a:r>
            <a:r>
              <a:rPr lang="en-US" altLang="zh-CN" sz="2540">
                <a:latin typeface="Times New Roman" panose="02020603050405020304" pitchFamily="18" charset="0"/>
                <a:ea typeface="楷体_GB2312"/>
                <a:cs typeface="Times New Roman" panose="02020603050405020304" pitchFamily="18" charset="0"/>
              </a:rPr>
              <a:t>(</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a:t>
            </a:r>
            <a:r>
              <a:rPr lang="en-US" altLang="zh-CN" sz="2540" b="1">
                <a:latin typeface="Times New Roman" panose="02020603050405020304" pitchFamily="18" charset="0"/>
                <a:cs typeface="Times New Roman" panose="02020603050405020304" pitchFamily="18" charset="0"/>
              </a:rPr>
              <a:t>)</a:t>
            </a:r>
            <a:r>
              <a:rPr lang="en-US" altLang="zh-CN" sz="2540" b="1" baseline="30000">
                <a:latin typeface="Times New Roman" panose="02020603050405020304" pitchFamily="18" charset="0"/>
                <a:cs typeface="Times New Roman" panose="02020603050405020304" pitchFamily="18" charset="0"/>
              </a:rPr>
              <a:t>1/2</a:t>
            </a:r>
            <a:r>
              <a:rPr lang="en-US" altLang="zh-CN" sz="2540">
                <a:latin typeface="楷体_GB2312"/>
                <a:ea typeface="楷体_GB2312"/>
                <a:cs typeface="楷体_GB2312"/>
              </a:rPr>
              <a:t>的增大不足以抵消</a:t>
            </a:r>
            <a:r>
              <a:rPr lang="en-US" altLang="zh-CN" sz="2540" b="1">
                <a:latin typeface="Times New Roman" panose="02020603050405020304" pitchFamily="18" charset="0"/>
                <a:cs typeface="Times New Roman" panose="02020603050405020304" pitchFamily="18" charset="0"/>
              </a:rPr>
              <a:t>[M]</a:t>
            </a:r>
            <a:r>
              <a:rPr lang="en-US" altLang="zh-CN" sz="2540">
                <a:latin typeface="楷体_GB2312"/>
                <a:ea typeface="楷体_GB2312"/>
                <a:cs typeface="楷体_GB2312"/>
              </a:rPr>
              <a:t>和</a:t>
            </a:r>
            <a:r>
              <a:rPr lang="en-US" altLang="zh-CN" sz="2540" b="1">
                <a:latin typeface="Times New Roman" panose="02020603050405020304" pitchFamily="18" charset="0"/>
                <a:cs typeface="Times New Roman" panose="02020603050405020304" pitchFamily="18" charset="0"/>
              </a:rPr>
              <a:t>[I]</a:t>
            </a:r>
            <a:r>
              <a:rPr lang="en-US" altLang="zh-CN" sz="2540">
                <a:latin typeface="楷体_GB2312"/>
                <a:ea typeface="楷体_GB2312"/>
                <a:cs typeface="楷体_GB2312"/>
              </a:rPr>
              <a:t>的减小时，聚合速率呈下降的趋势。</a:t>
            </a:r>
            <a:endParaRPr lang="en-US" altLang="zh-CN" sz="1089">
              <a:latin typeface="Times New Roman" panose="02020603050405020304" pitchFamily="18" charset="0"/>
              <a:cs typeface="Times New Roman" panose="02020603050405020304" pitchFamily="18" charset="0"/>
            </a:endParaRPr>
          </a:p>
        </p:txBody>
      </p:sp>
      <p:sp>
        <p:nvSpPr>
          <p:cNvPr id="97283" name="TextBox 1"/>
          <p:cNvSpPr txBox="1">
            <a:spLocks noChangeArrowheads="1"/>
          </p:cNvSpPr>
          <p:nvPr/>
        </p:nvSpPr>
        <p:spPr bwMode="auto">
          <a:xfrm>
            <a:off x="2017599" y="1280353"/>
            <a:ext cx="8502429" cy="2005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25400" algn="l"/>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25400" algn="l"/>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25400" algn="l"/>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25400" algn="l"/>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25400" algn="l"/>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25400" algn="l"/>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25400" algn="l"/>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25400" algn="l"/>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25400" algn="l"/>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3266" b="1">
                <a:latin typeface="楷体_GB2312"/>
                <a:ea typeface="楷体_GB2312"/>
                <a:cs typeface="楷体_GB2312"/>
              </a:rPr>
              <a:t>关于自动加速和凝胶效应的几个重要的概念：</a:t>
            </a:r>
          </a:p>
          <a:p>
            <a:pPr eaLnBrk="1" hangingPunct="1">
              <a:lnSpc>
                <a:spcPts val="907"/>
              </a:lnSpc>
            </a:pPr>
            <a:endParaRPr lang="en-US" altLang="zh-CN" sz="1633"/>
          </a:p>
          <a:p>
            <a:pPr eaLnBrk="1" hangingPunct="1">
              <a:lnSpc>
                <a:spcPts val="907"/>
              </a:lnSpc>
            </a:pPr>
            <a:endParaRPr lang="en-US" altLang="zh-CN" sz="1633"/>
          </a:p>
          <a:p>
            <a:pPr eaLnBrk="1" hangingPunct="1">
              <a:lnSpc>
                <a:spcPct val="125000"/>
              </a:lnSpc>
            </a:pPr>
            <a:r>
              <a:rPr lang="en-US" altLang="zh-CN" sz="1633"/>
              <a:t>	</a:t>
            </a:r>
            <a:r>
              <a:rPr lang="en-US" altLang="zh-CN" sz="2540">
                <a:latin typeface="楷体_GB2312"/>
                <a:ea typeface="楷体_GB2312"/>
                <a:cs typeface="楷体_GB2312"/>
              </a:rPr>
              <a:t>自动加速由</a:t>
            </a:r>
            <a:r>
              <a:rPr lang="en-US" altLang="zh-CN" sz="2540" b="1">
                <a:solidFill>
                  <a:srgbClr val="FF0000"/>
                </a:solidFill>
                <a:latin typeface="楷体_GB2312"/>
                <a:ea typeface="楷体_GB2312"/>
                <a:cs typeface="楷体_GB2312"/>
              </a:rPr>
              <a:t>凝胶效应</a:t>
            </a:r>
            <a:r>
              <a:rPr lang="en-US" altLang="zh-CN" sz="2540">
                <a:latin typeface="楷体_GB2312"/>
                <a:ea typeface="楷体_GB2312"/>
                <a:cs typeface="楷体_GB2312"/>
              </a:rPr>
              <a:t>而引起。但凝胶效应的起点不一定就是自动加速的起点，凝胶效应（链自由基的扩散控制）有可能自聚合反应一开始就存在。</a:t>
            </a:r>
          </a:p>
        </p:txBody>
      </p:sp>
      <p:pic>
        <p:nvPicPr>
          <p:cNvPr id="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861" y="3429001"/>
            <a:ext cx="3693891" cy="98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28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6760" y="2868798"/>
            <a:ext cx="2985356" cy="2140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Box 1"/>
          <p:cNvSpPr txBox="1">
            <a:spLocks noChangeArrowheads="1"/>
          </p:cNvSpPr>
          <p:nvPr/>
        </p:nvSpPr>
        <p:spPr bwMode="auto">
          <a:xfrm>
            <a:off x="2106885" y="1129141"/>
            <a:ext cx="7966925" cy="85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00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00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00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00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00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00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对于均相聚合体系，只有双基终止的聚合反应才有</a:t>
            </a:r>
          </a:p>
          <a:p>
            <a:pPr eaLnBrk="1" hangingPunct="1">
              <a:lnSpc>
                <a:spcPts val="907"/>
              </a:lnSpc>
            </a:pPr>
            <a:endParaRPr lang="en-US" altLang="zh-CN" sz="1633"/>
          </a:p>
          <a:p>
            <a:pPr eaLnBrk="1" hangingPunct="1">
              <a:lnSpc>
                <a:spcPts val="3175"/>
              </a:lnSpc>
            </a:pPr>
            <a:r>
              <a:rPr lang="en-US" altLang="zh-CN" sz="2540">
                <a:latin typeface="楷体_GB2312"/>
                <a:ea typeface="楷体_GB2312"/>
                <a:cs typeface="楷体_GB2312"/>
              </a:rPr>
              <a:t>可能出现自动加速现象。</a:t>
            </a:r>
          </a:p>
        </p:txBody>
      </p:sp>
      <p:sp>
        <p:nvSpPr>
          <p:cNvPr id="98307" name="TextBox 1"/>
          <p:cNvSpPr txBox="1">
            <a:spLocks noChangeArrowheads="1"/>
          </p:cNvSpPr>
          <p:nvPr/>
        </p:nvSpPr>
        <p:spPr bwMode="auto">
          <a:xfrm>
            <a:off x="2513000" y="3456363"/>
            <a:ext cx="8015015" cy="2935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 pos="7797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 pos="7797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 pos="7797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 pos="7797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 pos="7797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 pos="7797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 pos="7797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 pos="7797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 pos="7797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1633"/>
              <a:t>	</a:t>
            </a:r>
            <a:r>
              <a:rPr lang="en-US" altLang="zh-CN" sz="2540">
                <a:latin typeface="楷体_GB2312"/>
                <a:ea typeface="楷体_GB2312"/>
                <a:cs typeface="楷体_GB2312"/>
              </a:rPr>
              <a:t>因为，单基终止时，</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a:t>
            </a:r>
            <a:r>
              <a:rPr lang="en-US" altLang="zh-CN" sz="2540">
                <a:latin typeface="楷体_GB2312"/>
                <a:ea typeface="楷体_GB2312"/>
                <a:cs typeface="楷体_GB2312"/>
              </a:rPr>
              <a:t>的下降幅度与</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a:latin typeface="楷体_GB2312"/>
                <a:ea typeface="楷体_GB2312"/>
                <a:cs typeface="楷体_GB2312"/>
              </a:rPr>
              <a:t>相当。</a:t>
            </a:r>
          </a:p>
          <a:p>
            <a:pPr eaLnBrk="1" hangingPunct="1">
              <a:lnSpc>
                <a:spcPts val="907"/>
              </a:lnSpc>
            </a:pPr>
            <a:endParaRPr lang="en-US" altLang="zh-CN" sz="1633"/>
          </a:p>
          <a:p>
            <a:pPr eaLnBrk="1" hangingPunct="1">
              <a:lnSpc>
                <a:spcPts val="3175"/>
              </a:lnSpc>
            </a:pPr>
            <a:r>
              <a:rPr lang="en-US" altLang="zh-CN" sz="2540">
                <a:latin typeface="楷体_GB2312"/>
                <a:ea typeface="楷体_GB2312"/>
                <a:cs typeface="楷体_GB2312"/>
              </a:rPr>
              <a:t>有可能不增反减，且随转化率的增加</a:t>
            </a:r>
            <a:r>
              <a:rPr lang="en-US" altLang="zh-CN" sz="2540" b="1">
                <a:latin typeface="Times New Roman" panose="02020603050405020304" pitchFamily="18" charset="0"/>
                <a:cs typeface="Times New Roman" panose="02020603050405020304" pitchFamily="18" charset="0"/>
              </a:rPr>
              <a:t>[M]</a:t>
            </a:r>
            <a:r>
              <a:rPr lang="en-US" altLang="zh-CN" sz="2540">
                <a:latin typeface="楷体_GB2312"/>
                <a:ea typeface="楷体_GB2312"/>
                <a:cs typeface="楷体_GB2312"/>
              </a:rPr>
              <a:t>和</a:t>
            </a:r>
            <a:r>
              <a:rPr lang="en-US" altLang="zh-CN" sz="2540" b="1">
                <a:latin typeface="Times New Roman" panose="02020603050405020304" pitchFamily="18" charset="0"/>
                <a:cs typeface="Times New Roman" panose="02020603050405020304" pitchFamily="18" charset="0"/>
              </a:rPr>
              <a:t>[I]</a:t>
            </a:r>
            <a:r>
              <a:rPr lang="en-US" altLang="zh-CN" sz="2540">
                <a:latin typeface="楷体_GB2312"/>
                <a:ea typeface="楷体_GB2312"/>
                <a:cs typeface="楷体_GB2312"/>
              </a:rPr>
              <a:t>的减</a:t>
            </a:r>
          </a:p>
          <a:p>
            <a:pPr eaLnBrk="1" hangingPunct="1">
              <a:lnSpc>
                <a:spcPts val="907"/>
              </a:lnSpc>
            </a:pPr>
            <a:endParaRPr lang="en-US" altLang="zh-CN" sz="1633"/>
          </a:p>
          <a:p>
            <a:pPr eaLnBrk="1" hangingPunct="1">
              <a:lnSpc>
                <a:spcPts val="907"/>
              </a:lnSpc>
            </a:pPr>
            <a:endParaRPr lang="en-US" altLang="zh-CN" sz="1633"/>
          </a:p>
          <a:p>
            <a:pPr eaLnBrk="1" hangingPunct="1">
              <a:lnSpc>
                <a:spcPts val="2812"/>
              </a:lnSpc>
            </a:pPr>
            <a:r>
              <a:rPr lang="en-US" altLang="zh-CN" sz="2540">
                <a:latin typeface="楷体_GB2312"/>
                <a:ea typeface="楷体_GB2312"/>
                <a:cs typeface="楷体_GB2312"/>
              </a:rPr>
              <a:t>小，故聚合速率通常呈下降的趋势。此时，仍有可</a:t>
            </a:r>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能存在着链自由基的扩散控制（即凝胶效应）。</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633"/>
              </a:lnSpc>
            </a:pPr>
            <a:r>
              <a:rPr lang="en-US" altLang="zh-CN" sz="1633"/>
              <a:t>		</a:t>
            </a:r>
            <a:r>
              <a:rPr lang="en-US" altLang="zh-CN" sz="1089">
                <a:latin typeface="Times New Roman" panose="02020603050405020304" pitchFamily="18" charset="0"/>
                <a:cs typeface="Times New Roman" panose="02020603050405020304" pitchFamily="18" charset="0"/>
              </a:rPr>
              <a:t>82</a:t>
            </a:r>
          </a:p>
        </p:txBody>
      </p:sp>
      <p:pic>
        <p:nvPicPr>
          <p:cNvPr id="9830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1362" y="2184744"/>
            <a:ext cx="3693891" cy="989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83</a:t>
            </a:r>
          </a:p>
        </p:txBody>
      </p:sp>
      <p:sp>
        <p:nvSpPr>
          <p:cNvPr id="99331" name="TextBox 1"/>
          <p:cNvSpPr txBox="1">
            <a:spLocks noChangeArrowheads="1"/>
          </p:cNvSpPr>
          <p:nvPr/>
        </p:nvSpPr>
        <p:spPr bwMode="auto">
          <a:xfrm>
            <a:off x="2512999" y="979368"/>
            <a:ext cx="7226337" cy="864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对非均相</a:t>
            </a:r>
            <a:r>
              <a:rPr lang="en-US" altLang="zh-CN" sz="2540">
                <a:solidFill>
                  <a:srgbClr val="FF0000"/>
                </a:solidFill>
                <a:latin typeface="楷体_GB2312"/>
                <a:ea typeface="楷体_GB2312"/>
                <a:cs typeface="楷体_GB2312"/>
              </a:rPr>
              <a:t>沉淀聚合</a:t>
            </a:r>
            <a:r>
              <a:rPr lang="en-US" altLang="zh-CN" sz="2540">
                <a:latin typeface="楷体_GB2312"/>
                <a:ea typeface="楷体_GB2312"/>
                <a:cs typeface="楷体_GB2312"/>
              </a:rPr>
              <a:t>，其链自由基的扩散控制严</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重，可能有单基终止反应；但其链增长反应有相当</a:t>
            </a:r>
          </a:p>
        </p:txBody>
      </p:sp>
      <p:sp>
        <p:nvSpPr>
          <p:cNvPr id="99332" name="TextBox 1"/>
          <p:cNvSpPr txBox="1">
            <a:spLocks noChangeArrowheads="1"/>
          </p:cNvSpPr>
          <p:nvPr/>
        </p:nvSpPr>
        <p:spPr bwMode="auto">
          <a:xfrm>
            <a:off x="2512999" y="1993208"/>
            <a:ext cx="7418698" cy="90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a:latin typeface="楷体_GB2312"/>
                <a:ea typeface="楷体_GB2312"/>
                <a:cs typeface="楷体_GB2312"/>
              </a:rPr>
              <a:t>一部分在均相体系中发生，因而</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a:t>
            </a:r>
            <a:r>
              <a:rPr lang="en-US" altLang="zh-CN" sz="2540">
                <a:latin typeface="楷体_GB2312"/>
                <a:ea typeface="楷体_GB2312"/>
                <a:cs typeface="楷体_GB2312"/>
              </a:rPr>
              <a:t>的下降幅度仍远</a:t>
            </a:r>
          </a:p>
          <a:p>
            <a:pPr eaLnBrk="1" hangingPunct="1">
              <a:lnSpc>
                <a:spcPts val="3901"/>
              </a:lnSpc>
            </a:pPr>
            <a:r>
              <a:rPr lang="en-US" altLang="zh-CN" sz="2540">
                <a:latin typeface="楷体_GB2312"/>
                <a:ea typeface="楷体_GB2312"/>
                <a:cs typeface="楷体_GB2312"/>
              </a:rPr>
              <a:t>比</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a:latin typeface="楷体_GB2312"/>
                <a:ea typeface="楷体_GB2312"/>
                <a:cs typeface="楷体_GB2312"/>
              </a:rPr>
              <a:t>大，</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t1/2</a:t>
            </a:r>
            <a:r>
              <a:rPr lang="en-US" altLang="zh-CN" sz="2540">
                <a:latin typeface="楷体_GB2312"/>
                <a:ea typeface="楷体_GB2312"/>
                <a:cs typeface="楷体_GB2312"/>
              </a:rPr>
              <a:t>增大，会出现明显的自动加速现象。</a:t>
            </a:r>
          </a:p>
        </p:txBody>
      </p:sp>
      <p:sp>
        <p:nvSpPr>
          <p:cNvPr id="99333" name="TextBox 1"/>
          <p:cNvSpPr txBox="1">
            <a:spLocks noChangeArrowheads="1"/>
          </p:cNvSpPr>
          <p:nvPr/>
        </p:nvSpPr>
        <p:spPr bwMode="auto">
          <a:xfrm>
            <a:off x="2651250" y="3202903"/>
            <a:ext cx="6952224" cy="90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1633"/>
              <a:t>	</a:t>
            </a:r>
            <a:r>
              <a:rPr lang="en-US" altLang="zh-CN" sz="2540">
                <a:latin typeface="楷体_GB2312"/>
                <a:ea typeface="楷体_GB2312"/>
                <a:cs typeface="楷体_GB2312"/>
              </a:rPr>
              <a:t>随着聚合转化率的继续提高，</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a:latin typeface="楷体_GB2312"/>
                <a:ea typeface="楷体_GB2312"/>
                <a:cs typeface="楷体_GB2312"/>
              </a:rPr>
              <a:t>也大幅度下</a:t>
            </a:r>
          </a:p>
          <a:p>
            <a:pPr eaLnBrk="1" hangingPunct="1">
              <a:lnSpc>
                <a:spcPts val="3901"/>
              </a:lnSpc>
            </a:pPr>
            <a:r>
              <a:rPr lang="en-US" altLang="zh-CN" sz="2540">
                <a:latin typeface="楷体_GB2312"/>
                <a:ea typeface="楷体_GB2312"/>
                <a:cs typeface="楷体_GB2312"/>
              </a:rPr>
              <a:t>降，</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p</a:t>
            </a:r>
            <a:r>
              <a:rPr lang="en-US" altLang="zh-CN" sz="2540" b="1">
                <a:latin typeface="Times New Roman" panose="02020603050405020304" pitchFamily="18" charset="0"/>
                <a:cs typeface="Times New Roman" panose="02020603050405020304" pitchFamily="18" charset="0"/>
              </a:rPr>
              <a:t>/k</a:t>
            </a:r>
            <a:r>
              <a:rPr lang="en-US" altLang="zh-CN" sz="1724" b="1">
                <a:latin typeface="Times New Roman" panose="02020603050405020304" pitchFamily="18" charset="0"/>
                <a:cs typeface="Times New Roman" panose="02020603050405020304" pitchFamily="18" charset="0"/>
              </a:rPr>
              <a:t>t1/2</a:t>
            </a:r>
            <a:r>
              <a:rPr lang="en-US" altLang="zh-CN" sz="2540">
                <a:latin typeface="楷体_GB2312"/>
                <a:ea typeface="楷体_GB2312"/>
                <a:cs typeface="楷体_GB2312"/>
              </a:rPr>
              <a:t>综合值减小，则聚合速率下降，最后</a:t>
            </a:r>
          </a:p>
        </p:txBody>
      </p:sp>
      <p:sp>
        <p:nvSpPr>
          <p:cNvPr id="99334" name="TextBox 1"/>
          <p:cNvSpPr txBox="1">
            <a:spLocks noChangeArrowheads="1"/>
          </p:cNvSpPr>
          <p:nvPr/>
        </p:nvSpPr>
        <p:spPr bwMode="auto">
          <a:xfrm>
            <a:off x="2651249" y="4239786"/>
            <a:ext cx="6833602" cy="132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会降低到不能再继续聚合的程度，转化率达到一</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极限值。该极限转化率的大小与聚合温度有关。</a:t>
            </a:r>
          </a:p>
          <a:p>
            <a:pPr eaLnBrk="1" hangingPunct="1">
              <a:lnSpc>
                <a:spcPts val="907"/>
              </a:lnSpc>
            </a:pPr>
            <a:endParaRPr lang="en-US" altLang="zh-CN" sz="1633"/>
          </a:p>
          <a:p>
            <a:pPr eaLnBrk="1" hangingPunct="1">
              <a:lnSpc>
                <a:spcPts val="2812"/>
              </a:lnSpc>
            </a:pPr>
            <a:r>
              <a:rPr lang="en-US" altLang="zh-CN" sz="2540">
                <a:latin typeface="楷体_GB2312"/>
                <a:ea typeface="楷体_GB2312"/>
                <a:cs typeface="楷体_GB2312"/>
              </a:rPr>
              <a:t>温度越高，极限转化率越大。</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84</a:t>
            </a:r>
          </a:p>
        </p:txBody>
      </p:sp>
      <p:sp>
        <p:nvSpPr>
          <p:cNvPr id="100355" name="TextBox 1"/>
          <p:cNvSpPr txBox="1">
            <a:spLocks noChangeArrowheads="1"/>
          </p:cNvSpPr>
          <p:nvPr/>
        </p:nvSpPr>
        <p:spPr bwMode="auto">
          <a:xfrm>
            <a:off x="2950794" y="3089136"/>
            <a:ext cx="4366580"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buFont typeface="Arial" panose="020B0604020202020204" pitchFamily="34" charset="0"/>
              <a:buChar char="•"/>
            </a:pPr>
            <a:r>
              <a:rPr lang="en-US" altLang="zh-CN" sz="2540">
                <a:latin typeface="楷体_GB2312"/>
                <a:ea typeface="楷体_GB2312"/>
                <a:cs typeface="楷体_GB2312"/>
              </a:rPr>
              <a:t>降低体系粘度：如溶液聚合</a:t>
            </a:r>
          </a:p>
        </p:txBody>
      </p:sp>
      <p:sp>
        <p:nvSpPr>
          <p:cNvPr id="100356" name="TextBox 1"/>
          <p:cNvSpPr txBox="1">
            <a:spLocks noChangeArrowheads="1"/>
          </p:cNvSpPr>
          <p:nvPr/>
        </p:nvSpPr>
        <p:spPr bwMode="auto">
          <a:xfrm>
            <a:off x="2921991" y="3774631"/>
            <a:ext cx="7008329"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buFont typeface="Arial" panose="020B0604020202020204" pitchFamily="34" charset="0"/>
              <a:buChar char="•"/>
            </a:pPr>
            <a:r>
              <a:rPr lang="en-US" altLang="zh-CN" sz="2540">
                <a:latin typeface="楷体_GB2312"/>
                <a:ea typeface="楷体_GB2312"/>
                <a:cs typeface="楷体_GB2312"/>
              </a:rPr>
              <a:t>强化传热：如</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MMA</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本体聚合制造有机玻璃，</a:t>
            </a:r>
          </a:p>
        </p:txBody>
      </p:sp>
      <p:sp>
        <p:nvSpPr>
          <p:cNvPr id="100357" name="TextBox 1"/>
          <p:cNvSpPr txBox="1">
            <a:spLocks noChangeArrowheads="1"/>
          </p:cNvSpPr>
          <p:nvPr/>
        </p:nvSpPr>
        <p:spPr bwMode="auto">
          <a:xfrm>
            <a:off x="2921992" y="4604135"/>
            <a:ext cx="5342809"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buFont typeface="Arial" panose="020B0604020202020204" pitchFamily="34" charset="0"/>
              <a:buChar char="•"/>
            </a:pPr>
            <a:r>
              <a:rPr lang="en-US" altLang="zh-CN" sz="2540">
                <a:latin typeface="楷体_GB2312"/>
                <a:ea typeface="楷体_GB2312"/>
                <a:cs typeface="楷体_GB2312"/>
              </a:rPr>
              <a:t>高温预聚、薄层聚合、高温熟化。</a:t>
            </a:r>
          </a:p>
        </p:txBody>
      </p:sp>
      <p:sp>
        <p:nvSpPr>
          <p:cNvPr id="100358" name="TextBox 1"/>
          <p:cNvSpPr txBox="1">
            <a:spLocks noChangeArrowheads="1"/>
          </p:cNvSpPr>
          <p:nvPr/>
        </p:nvSpPr>
        <p:spPr bwMode="auto">
          <a:xfrm>
            <a:off x="2017599" y="649582"/>
            <a:ext cx="5915081" cy="40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3266" b="1">
                <a:latin typeface="Times New Roman" panose="02020603050405020304" pitchFamily="18" charset="0"/>
                <a:cs typeface="Times New Roman" panose="02020603050405020304" pitchFamily="18" charset="0"/>
              </a:rPr>
              <a:t>b)</a:t>
            </a:r>
            <a:r>
              <a:rPr lang="en-US" altLang="zh-CN" sz="3266">
                <a:latin typeface="Times New Roman" panose="02020603050405020304" pitchFamily="18" charset="0"/>
                <a:cs typeface="Times New Roman" panose="02020603050405020304" pitchFamily="18" charset="0"/>
              </a:rPr>
              <a:t> </a:t>
            </a:r>
            <a:r>
              <a:rPr lang="en-US" altLang="zh-CN" sz="3266">
                <a:latin typeface="楷体_GB2312"/>
                <a:ea typeface="楷体_GB2312"/>
                <a:cs typeface="楷体_GB2312"/>
              </a:rPr>
              <a:t>自动加速的后果及采取的措施</a:t>
            </a:r>
          </a:p>
        </p:txBody>
      </p:sp>
      <p:sp>
        <p:nvSpPr>
          <p:cNvPr id="100359" name="TextBox 1"/>
          <p:cNvSpPr txBox="1">
            <a:spLocks noChangeArrowheads="1"/>
          </p:cNvSpPr>
          <p:nvPr/>
        </p:nvSpPr>
        <p:spPr bwMode="auto">
          <a:xfrm>
            <a:off x="2174573" y="1641822"/>
            <a:ext cx="8135240"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在自加速过程中若大量反应热不及时散发，有爆聚危险。</a:t>
            </a:r>
          </a:p>
        </p:txBody>
      </p:sp>
      <p:sp>
        <p:nvSpPr>
          <p:cNvPr id="100360" name="TextBox 1"/>
          <p:cNvSpPr txBox="1">
            <a:spLocks noChangeArrowheads="1"/>
          </p:cNvSpPr>
          <p:nvPr/>
        </p:nvSpPr>
        <p:spPr bwMode="auto">
          <a:xfrm>
            <a:off x="2363227" y="2253870"/>
            <a:ext cx="162704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采取措施：</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85</a:t>
            </a:r>
          </a:p>
        </p:txBody>
      </p:sp>
      <p:sp>
        <p:nvSpPr>
          <p:cNvPr id="101379" name="TextBox 1"/>
          <p:cNvSpPr txBox="1">
            <a:spLocks noChangeArrowheads="1"/>
          </p:cNvSpPr>
          <p:nvPr/>
        </p:nvSpPr>
        <p:spPr bwMode="auto">
          <a:xfrm>
            <a:off x="1980158" y="1329316"/>
            <a:ext cx="8470747" cy="21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8900" algn="l"/>
                <a:tab pos="165100" algn="l"/>
                <a:tab pos="266700" algn="l"/>
                <a:tab pos="457200" algn="l"/>
                <a:tab pos="698500" algn="l"/>
                <a:tab pos="2070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177">
                <a:latin typeface="楷体_GB2312"/>
                <a:ea typeface="楷体_GB2312"/>
                <a:cs typeface="楷体_GB2312"/>
              </a:rPr>
              <a:t>聚合度是表征聚合物的重要指标，影响聚合速率的诸因素如：引发剂浓度、单体浓度、聚合温度等，它们对聚合度同样也存在影响。</a:t>
            </a:r>
          </a:p>
          <a:p>
            <a:pPr eaLnBrk="1" hangingPunct="1">
              <a:lnSpc>
                <a:spcPts val="907"/>
              </a:lnSpc>
            </a:pPr>
            <a:endParaRPr lang="en-US" altLang="zh-CN" sz="1633"/>
          </a:p>
          <a:p>
            <a:pPr eaLnBrk="1" hangingPunct="1">
              <a:lnSpc>
                <a:spcPts val="2812"/>
              </a:lnSpc>
            </a:pPr>
            <a:r>
              <a:rPr lang="en-US" altLang="zh-CN" sz="1633"/>
              <a:t>	</a:t>
            </a:r>
            <a:r>
              <a:rPr lang="en-US" altLang="zh-CN" sz="2268" b="1">
                <a:solidFill>
                  <a:srgbClr val="FF0000"/>
                </a:solidFill>
                <a:latin typeface="Times New Roman" panose="02020603050405020304" pitchFamily="18" charset="0"/>
                <a:cs typeface="Times New Roman" panose="02020603050405020304" pitchFamily="18" charset="0"/>
              </a:rPr>
              <a:t>1</a:t>
            </a:r>
            <a:r>
              <a:rPr lang="en-US" altLang="zh-CN" sz="2268">
                <a:solidFill>
                  <a:srgbClr val="FF0000"/>
                </a:solidFill>
                <a:latin typeface="楷体_GB2312"/>
                <a:ea typeface="楷体_GB2312"/>
                <a:cs typeface="楷体_GB2312"/>
              </a:rPr>
              <a:t>）动力学链长（</a:t>
            </a:r>
            <a:r>
              <a:rPr lang="en-US" altLang="zh-CN" sz="2268" b="1">
                <a:solidFill>
                  <a:srgbClr val="FF0000"/>
                </a:solidFill>
                <a:latin typeface="Times New Roman" panose="02020603050405020304" pitchFamily="18" charset="0"/>
                <a:cs typeface="Times New Roman" panose="02020603050405020304" pitchFamily="18" charset="0"/>
              </a:rPr>
              <a:t>Kinetics</a:t>
            </a:r>
            <a:r>
              <a:rPr lang="en-US" altLang="zh-CN" sz="2268">
                <a:solidFill>
                  <a:srgbClr val="FF0000"/>
                </a:solidFill>
                <a:latin typeface="Times New Roman" panose="02020603050405020304" pitchFamily="18" charset="0"/>
                <a:cs typeface="Times New Roman" panose="02020603050405020304" pitchFamily="18" charset="0"/>
              </a:rPr>
              <a:t> </a:t>
            </a:r>
            <a:r>
              <a:rPr lang="en-US" altLang="zh-CN" sz="2268" b="1">
                <a:solidFill>
                  <a:srgbClr val="FF0000"/>
                </a:solidFill>
                <a:latin typeface="Times New Roman" panose="02020603050405020304" pitchFamily="18" charset="0"/>
                <a:cs typeface="Times New Roman" panose="02020603050405020304" pitchFamily="18" charset="0"/>
              </a:rPr>
              <a:t>Chain</a:t>
            </a:r>
            <a:r>
              <a:rPr lang="en-US" altLang="zh-CN" sz="2268">
                <a:solidFill>
                  <a:srgbClr val="FF0000"/>
                </a:solidFill>
                <a:latin typeface="Times New Roman" panose="02020603050405020304" pitchFamily="18" charset="0"/>
                <a:cs typeface="Times New Roman" panose="02020603050405020304" pitchFamily="18" charset="0"/>
              </a:rPr>
              <a:t> </a:t>
            </a:r>
            <a:r>
              <a:rPr lang="en-US" altLang="zh-CN" sz="2268" b="1">
                <a:solidFill>
                  <a:srgbClr val="FF0000"/>
                </a:solidFill>
                <a:latin typeface="Times New Roman" panose="02020603050405020304" pitchFamily="18" charset="0"/>
                <a:cs typeface="Times New Roman" panose="02020603050405020304" pitchFamily="18" charset="0"/>
              </a:rPr>
              <a:t>Length</a:t>
            </a:r>
            <a:r>
              <a:rPr lang="en-US" altLang="zh-CN" sz="2268">
                <a:solidFill>
                  <a:srgbClr val="FF0000"/>
                </a:solidFill>
                <a:latin typeface="楷体_GB2312"/>
                <a:ea typeface="楷体_GB2312"/>
                <a:cs typeface="楷体_GB2312"/>
              </a:rPr>
              <a:t>）</a:t>
            </a:r>
          </a:p>
          <a:p>
            <a:pPr eaLnBrk="1" hangingPunct="1">
              <a:lnSpc>
                <a:spcPts val="907"/>
              </a:lnSpc>
            </a:pPr>
            <a:endParaRPr lang="en-US" altLang="zh-CN" sz="1633">
              <a:solidFill>
                <a:srgbClr val="FF0000"/>
              </a:solidFill>
            </a:endParaRPr>
          </a:p>
          <a:p>
            <a:pPr eaLnBrk="1" hangingPunct="1">
              <a:lnSpc>
                <a:spcPts val="2812"/>
              </a:lnSpc>
            </a:pPr>
            <a:r>
              <a:rPr lang="en-US" altLang="zh-CN" sz="1633"/>
              <a:t>				</a:t>
            </a:r>
            <a:r>
              <a:rPr lang="en-US" altLang="zh-CN" sz="2177">
                <a:latin typeface="楷体_GB2312"/>
                <a:ea typeface="楷体_GB2312"/>
                <a:cs typeface="楷体_GB2312"/>
              </a:rPr>
              <a:t>定义：每个活性种从引发阶段到终止阶段所消耗的单体分子数。以</a:t>
            </a:r>
            <a:r>
              <a:rPr lang="en-US" altLang="zh-CN" sz="2177" b="1" i="1">
                <a:latin typeface="Times New Roman" panose="02020603050405020304" pitchFamily="18" charset="0"/>
                <a:cs typeface="Times New Roman" panose="02020603050405020304" pitchFamily="18" charset="0"/>
              </a:rPr>
              <a:t>v</a:t>
            </a:r>
            <a:r>
              <a:rPr lang="en-US" altLang="zh-CN" sz="2177">
                <a:latin typeface="楷体_GB2312"/>
                <a:ea typeface="楷体_GB2312"/>
                <a:cs typeface="楷体_GB2312"/>
              </a:rPr>
              <a:t>表示。</a:t>
            </a:r>
          </a:p>
        </p:txBody>
      </p:sp>
      <p:sp>
        <p:nvSpPr>
          <p:cNvPr id="101380" name="矩形 2"/>
          <p:cNvSpPr>
            <a:spLocks noChangeArrowheads="1"/>
          </p:cNvSpPr>
          <p:nvPr/>
        </p:nvSpPr>
        <p:spPr bwMode="auto">
          <a:xfrm>
            <a:off x="1939833" y="180106"/>
            <a:ext cx="8352658" cy="874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3266" b="1">
                <a:solidFill>
                  <a:srgbClr val="000000"/>
                </a:solidFill>
                <a:latin typeface="Times New Roman" panose="02020603050405020304" pitchFamily="18" charset="0"/>
                <a:cs typeface="Times New Roman" panose="02020603050405020304" pitchFamily="18" charset="0"/>
              </a:rPr>
              <a:t>3.8 </a:t>
            </a:r>
            <a:r>
              <a:rPr lang="en-US" altLang="zh-CN" sz="3266" b="1">
                <a:solidFill>
                  <a:srgbClr val="000000"/>
                </a:solidFill>
                <a:latin typeface="楷体_GB2312"/>
                <a:ea typeface="楷体_GB2312"/>
                <a:cs typeface="楷体_GB2312"/>
              </a:rPr>
              <a:t>动力学链长和聚合度</a:t>
            </a:r>
          </a:p>
          <a:p>
            <a:pPr eaLnBrk="1" hangingPunct="1">
              <a:lnSpc>
                <a:spcPts val="2994"/>
              </a:lnSpc>
            </a:pPr>
            <a:r>
              <a:rPr lang="en-US" altLang="zh-CN" sz="2540" b="1">
                <a:solidFill>
                  <a:srgbClr val="000000"/>
                </a:solidFill>
                <a:latin typeface="Times New Roman" panose="02020603050405020304" pitchFamily="18" charset="0"/>
                <a:cs typeface="Times New Roman" panose="02020603050405020304" pitchFamily="18" charset="0"/>
              </a:rPr>
              <a:t>(Kinetics</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Chain</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Length</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and</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Polymerization</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Degree)</a:t>
            </a:r>
          </a:p>
        </p:txBody>
      </p:sp>
      <p:sp>
        <p:nvSpPr>
          <p:cNvPr id="101381" name="TextBox 3"/>
          <p:cNvSpPr txBox="1">
            <a:spLocks noChangeArrowheads="1"/>
          </p:cNvSpPr>
          <p:nvPr/>
        </p:nvSpPr>
        <p:spPr bwMode="auto">
          <a:xfrm>
            <a:off x="1939835" y="4465883"/>
            <a:ext cx="8551393" cy="2102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The kinetic chain length is defined as the total number of growth steps (i.e. of monomer units added) that have occurred during the life-time of a radical-from its formation to its termination by mutual annihitation with another radial. If the process does not involve transfer reactions the kinetic chain length is equal to the average degree of polymerization attained by the radicals when they terminate.</a:t>
            </a:r>
            <a:endParaRPr lang="zh-CN" altLang="en-US" sz="2177">
              <a:latin typeface="Times New Roman" panose="02020603050405020304" pitchFamily="18" charset="0"/>
              <a:cs typeface="Times New Roman" panose="02020603050405020304" pitchFamily="18" charset="0"/>
            </a:endParaRPr>
          </a:p>
        </p:txBody>
      </p:sp>
      <p:sp>
        <p:nvSpPr>
          <p:cNvPr id="5" name="TextBox 4"/>
          <p:cNvSpPr txBox="1">
            <a:spLocks noRot="1" noChangeAspect="1" noMove="1" noResize="1" noEditPoints="1" noAdjustHandles="1" noChangeArrowheads="1" noChangeShapeType="1" noTextEdit="1"/>
          </p:cNvSpPr>
          <p:nvPr/>
        </p:nvSpPr>
        <p:spPr>
          <a:xfrm>
            <a:off x="2432354" y="3485487"/>
            <a:ext cx="4432041" cy="847029"/>
          </a:xfrm>
          <a:prstGeom prst="rect">
            <a:avLst/>
          </a:prstGeom>
          <a:blipFill rotWithShape="1">
            <a:blip r:embed="rId2"/>
            <a:stretch>
              <a:fillRect/>
            </a:stretch>
          </a:blipFill>
          <a:ln>
            <a:solidFill>
              <a:schemeClr val="accent1"/>
            </a:solidFill>
          </a:ln>
        </p:spPr>
        <p:txBody>
          <a:bodyPr/>
          <a:lstStyle/>
          <a:p>
            <a:r>
              <a:rPr lang="zh-CN" altLang="en-US" sz="1633">
                <a:noFill/>
              </a:rPr>
              <a:t> </a:t>
            </a:r>
          </a:p>
        </p:txBody>
      </p:sp>
      <p:sp>
        <p:nvSpPr>
          <p:cNvPr id="101383" name="TextBox 30"/>
          <p:cNvSpPr txBox="1">
            <a:spLocks noChangeArrowheads="1"/>
          </p:cNvSpPr>
          <p:nvPr/>
        </p:nvSpPr>
        <p:spPr bwMode="auto">
          <a:xfrm>
            <a:off x="7023433" y="3264829"/>
            <a:ext cx="3427470" cy="120904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1814">
                <a:solidFill>
                  <a:srgbClr val="0000FF"/>
                </a:solidFill>
                <a:latin typeface="Times New Roman" panose="02020603050405020304" pitchFamily="18" charset="0"/>
                <a:cs typeface="Times New Roman" panose="02020603050405020304" pitchFamily="18" charset="0"/>
              </a:rPr>
              <a:t>The average number of monomer molecules consumed (polymerized) per each radical, which initiates a polymer chain.</a:t>
            </a:r>
            <a:endParaRPr lang="zh-CN" altLang="en-US" sz="1814">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Box 1"/>
          <p:cNvSpPr txBox="1">
            <a:spLocks noChangeArrowheads="1"/>
          </p:cNvSpPr>
          <p:nvPr/>
        </p:nvSpPr>
        <p:spPr bwMode="auto">
          <a:xfrm>
            <a:off x="10247848" y="6332271"/>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86</a:t>
            </a:r>
          </a:p>
        </p:txBody>
      </p:sp>
      <p:sp>
        <p:nvSpPr>
          <p:cNvPr id="102403" name="TextBox 2"/>
          <p:cNvSpPr txBox="1">
            <a:spLocks noChangeArrowheads="1"/>
          </p:cNvSpPr>
          <p:nvPr/>
        </p:nvSpPr>
        <p:spPr bwMode="auto">
          <a:xfrm>
            <a:off x="1948474" y="1355239"/>
            <a:ext cx="2834143" cy="53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903"/>
              <a:t>无链转移时：</a:t>
            </a:r>
          </a:p>
        </p:txBody>
      </p:sp>
      <p:sp>
        <p:nvSpPr>
          <p:cNvPr id="4" name="TextBox 3"/>
          <p:cNvSpPr txBox="1">
            <a:spLocks noRot="1" noChangeAspect="1" noMove="1" noResize="1" noEditPoints="1" noAdjustHandles="1" noChangeArrowheads="1" noChangeShapeType="1" noTextEdit="1"/>
          </p:cNvSpPr>
          <p:nvPr/>
        </p:nvSpPr>
        <p:spPr>
          <a:xfrm>
            <a:off x="4160489" y="1216986"/>
            <a:ext cx="2265550" cy="995588"/>
          </a:xfrm>
          <a:prstGeom prst="rect">
            <a:avLst/>
          </a:prstGeom>
          <a:blipFill rotWithShape="1">
            <a:blip r:embed="rId2"/>
            <a:stretch>
              <a:fillRect/>
            </a:stretch>
          </a:blipFill>
        </p:spPr>
        <p:txBody>
          <a:bodyPr/>
          <a:lstStyle/>
          <a:p>
            <a:r>
              <a:rPr lang="zh-CN" altLang="en-US" sz="1633">
                <a:noFill/>
              </a:rPr>
              <a:t> </a:t>
            </a:r>
          </a:p>
        </p:txBody>
      </p:sp>
      <p:sp>
        <p:nvSpPr>
          <p:cNvPr id="102405" name="TextBox 50"/>
          <p:cNvSpPr txBox="1">
            <a:spLocks noChangeArrowheads="1"/>
          </p:cNvSpPr>
          <p:nvPr/>
        </p:nvSpPr>
        <p:spPr bwMode="auto">
          <a:xfrm>
            <a:off x="2108327" y="2350357"/>
            <a:ext cx="2834143" cy="53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903"/>
              <a:t>稳态时：</a:t>
            </a:r>
          </a:p>
        </p:txBody>
      </p:sp>
      <p:sp>
        <p:nvSpPr>
          <p:cNvPr id="52" name="TextBox 51"/>
          <p:cNvSpPr txBox="1">
            <a:spLocks noRot="1" noChangeAspect="1" noMove="1" noResize="1" noEditPoints="1" noAdjustHandles="1" noChangeArrowheads="1" noChangeShapeType="1" noTextEdit="1"/>
          </p:cNvSpPr>
          <p:nvPr/>
        </p:nvSpPr>
        <p:spPr>
          <a:xfrm>
            <a:off x="4160487" y="2257259"/>
            <a:ext cx="3433370" cy="530483"/>
          </a:xfrm>
          <a:prstGeom prst="rect">
            <a:avLst/>
          </a:prstGeom>
          <a:blipFill rotWithShape="1">
            <a:blip r:embed="rId3"/>
            <a:stretch>
              <a:fillRect/>
            </a:stretch>
          </a:blipFill>
        </p:spPr>
        <p:txBody>
          <a:bodyPr/>
          <a:lstStyle/>
          <a:p>
            <a:r>
              <a:rPr lang="zh-CN" altLang="en-US" sz="1633">
                <a:noFill/>
              </a:rPr>
              <a:t> </a:t>
            </a:r>
          </a:p>
        </p:txBody>
      </p:sp>
      <p:sp>
        <p:nvSpPr>
          <p:cNvPr id="5" name="TextBox 4"/>
          <p:cNvSpPr txBox="1">
            <a:spLocks noRot="1" noChangeAspect="1" noMove="1" noResize="1" noEditPoints="1" noAdjustHandles="1" noChangeArrowheads="1" noChangeShapeType="1" noTextEdit="1"/>
          </p:cNvSpPr>
          <p:nvPr/>
        </p:nvSpPr>
        <p:spPr>
          <a:xfrm>
            <a:off x="7824136" y="1378388"/>
            <a:ext cx="2573428" cy="474643"/>
          </a:xfrm>
          <a:prstGeom prst="rect">
            <a:avLst/>
          </a:prstGeom>
          <a:blipFill rotWithShape="1">
            <a:blip r:embed="rId4"/>
            <a:stretch>
              <a:fillRect/>
            </a:stretch>
          </a:blipFill>
        </p:spPr>
        <p:txBody>
          <a:bodyPr/>
          <a:lstStyle/>
          <a:p>
            <a:r>
              <a:rPr lang="zh-CN" altLang="en-US" sz="1633">
                <a:noFill/>
              </a:rPr>
              <a:t> </a:t>
            </a:r>
          </a:p>
        </p:txBody>
      </p:sp>
      <p:sp>
        <p:nvSpPr>
          <p:cNvPr id="53" name="TextBox 52"/>
          <p:cNvSpPr txBox="1">
            <a:spLocks noRot="1" noChangeAspect="1" noMove="1" noResize="1" noEditPoints="1" noAdjustHandles="1" noChangeArrowheads="1" noChangeShapeType="1" noTextEdit="1"/>
          </p:cNvSpPr>
          <p:nvPr/>
        </p:nvSpPr>
        <p:spPr>
          <a:xfrm>
            <a:off x="7824136" y="1995541"/>
            <a:ext cx="2269098" cy="885768"/>
          </a:xfrm>
          <a:prstGeom prst="rect">
            <a:avLst/>
          </a:prstGeom>
          <a:blipFill rotWithShape="1">
            <a:blip r:embed="rId5"/>
            <a:stretch>
              <a:fillRect/>
            </a:stretch>
          </a:blipFill>
        </p:spPr>
        <p:txBody>
          <a:bodyPr/>
          <a:lstStyle/>
          <a:p>
            <a:r>
              <a:rPr lang="zh-CN" altLang="en-US" sz="1633">
                <a:noFill/>
              </a:rPr>
              <a:t> </a:t>
            </a:r>
          </a:p>
        </p:txBody>
      </p:sp>
      <p:sp>
        <p:nvSpPr>
          <p:cNvPr id="6" name="矩形 5"/>
          <p:cNvSpPr/>
          <p:nvPr/>
        </p:nvSpPr>
        <p:spPr>
          <a:xfrm>
            <a:off x="7685885" y="1216988"/>
            <a:ext cx="3041519" cy="1808782"/>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
        <p:nvSpPr>
          <p:cNvPr id="7" name="TextBox 6"/>
          <p:cNvSpPr txBox="1">
            <a:spLocks noRot="1" noChangeAspect="1" noMove="1" noResize="1" noEditPoints="1" noAdjustHandles="1" noChangeArrowheads="1" noChangeShapeType="1" noTextEdit="1"/>
          </p:cNvSpPr>
          <p:nvPr/>
        </p:nvSpPr>
        <p:spPr>
          <a:xfrm>
            <a:off x="2352513" y="2984850"/>
            <a:ext cx="2430104" cy="957489"/>
          </a:xfrm>
          <a:prstGeom prst="rect">
            <a:avLst/>
          </a:prstGeom>
          <a:blipFill rotWithShape="1">
            <a:blip r:embed="rId6"/>
            <a:stretch>
              <a:fillRect/>
            </a:stretch>
          </a:blipFill>
        </p:spPr>
        <p:txBody>
          <a:bodyPr/>
          <a:lstStyle/>
          <a:p>
            <a:r>
              <a:rPr lang="zh-CN" altLang="en-US" sz="1633">
                <a:noFill/>
              </a:rPr>
              <a:t> </a:t>
            </a:r>
          </a:p>
        </p:txBody>
      </p:sp>
      <p:sp>
        <p:nvSpPr>
          <p:cNvPr id="54" name="TextBox 53"/>
          <p:cNvSpPr txBox="1">
            <a:spLocks noRot="1" noChangeAspect="1" noMove="1" noResize="1" noEditPoints="1" noAdjustHandles="1" noChangeArrowheads="1" noChangeShapeType="1" noTextEdit="1"/>
          </p:cNvSpPr>
          <p:nvPr/>
        </p:nvSpPr>
        <p:spPr>
          <a:xfrm>
            <a:off x="5909593" y="2945122"/>
            <a:ext cx="2226985" cy="1036945"/>
          </a:xfrm>
          <a:prstGeom prst="rect">
            <a:avLst/>
          </a:prstGeom>
          <a:blipFill rotWithShape="1">
            <a:blip r:embed="rId7"/>
            <a:stretch>
              <a:fillRect/>
            </a:stretch>
          </a:blipFill>
        </p:spPr>
        <p:txBody>
          <a:bodyPr/>
          <a:lstStyle/>
          <a:p>
            <a:r>
              <a:rPr lang="zh-CN" altLang="en-US" sz="1633">
                <a:noFill/>
              </a:rPr>
              <a:t> </a:t>
            </a:r>
          </a:p>
        </p:txBody>
      </p:sp>
      <p:sp>
        <p:nvSpPr>
          <p:cNvPr id="8" name="TextBox 7"/>
          <p:cNvSpPr txBox="1">
            <a:spLocks noRot="1" noChangeAspect="1" noMove="1" noResize="1" noEditPoints="1" noAdjustHandles="1" noChangeArrowheads="1" noChangeShapeType="1" noTextEdit="1"/>
          </p:cNvSpPr>
          <p:nvPr/>
        </p:nvSpPr>
        <p:spPr>
          <a:xfrm>
            <a:off x="1639181" y="3982006"/>
            <a:ext cx="1726632" cy="708069"/>
          </a:xfrm>
          <a:prstGeom prst="rect">
            <a:avLst/>
          </a:prstGeom>
          <a:blipFill rotWithShape="1">
            <a:blip r:embed="rId8"/>
            <a:stretch>
              <a:fillRect/>
            </a:stretch>
          </a:blipFill>
        </p:spPr>
        <p:txBody>
          <a:bodyPr/>
          <a:lstStyle/>
          <a:p>
            <a:r>
              <a:rPr lang="zh-CN" altLang="en-US" sz="1633">
                <a:noFill/>
              </a:rPr>
              <a:t> </a:t>
            </a:r>
          </a:p>
        </p:txBody>
      </p:sp>
      <p:sp>
        <p:nvSpPr>
          <p:cNvPr id="9" name="左右箭头 8"/>
          <p:cNvSpPr/>
          <p:nvPr/>
        </p:nvSpPr>
        <p:spPr>
          <a:xfrm>
            <a:off x="4917987" y="3256187"/>
            <a:ext cx="934634" cy="41475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
        <p:nvSpPr>
          <p:cNvPr id="10" name="左箭头 9"/>
          <p:cNvSpPr/>
          <p:nvPr/>
        </p:nvSpPr>
        <p:spPr>
          <a:xfrm rot="10800000">
            <a:off x="2353146" y="4690540"/>
            <a:ext cx="656692" cy="13249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
        <p:nvSpPr>
          <p:cNvPr id="11" name="TextBox 10"/>
          <p:cNvSpPr txBox="1">
            <a:spLocks noRot="1" noChangeAspect="1" noMove="1" noResize="1" noEditPoints="1" noAdjustHandles="1" noChangeArrowheads="1" noChangeShapeType="1" noTextEdit="1"/>
          </p:cNvSpPr>
          <p:nvPr/>
        </p:nvSpPr>
        <p:spPr>
          <a:xfrm>
            <a:off x="3365545" y="4222017"/>
            <a:ext cx="3330589" cy="1069227"/>
          </a:xfrm>
          <a:prstGeom prst="rect">
            <a:avLst/>
          </a:prstGeom>
          <a:blipFill rotWithShape="1">
            <a:blip r:embed="rId9"/>
            <a:stretch>
              <a:fillRect/>
            </a:stretch>
          </a:blipFill>
        </p:spPr>
        <p:txBody>
          <a:bodyPr/>
          <a:lstStyle/>
          <a:p>
            <a:r>
              <a:rPr lang="zh-CN" altLang="en-US" sz="1633">
                <a:noFill/>
              </a:rPr>
              <a:t> </a:t>
            </a:r>
          </a:p>
        </p:txBody>
      </p:sp>
      <p:sp>
        <p:nvSpPr>
          <p:cNvPr id="58" name="TextBox 57"/>
          <p:cNvSpPr txBox="1">
            <a:spLocks noRot="1" noChangeAspect="1" noMove="1" noResize="1" noEditPoints="1" noAdjustHandles="1" noChangeArrowheads="1" noChangeShapeType="1" noTextEdit="1"/>
          </p:cNvSpPr>
          <p:nvPr/>
        </p:nvSpPr>
        <p:spPr>
          <a:xfrm>
            <a:off x="2845686" y="5541035"/>
            <a:ext cx="1381934" cy="335042"/>
          </a:xfrm>
          <a:prstGeom prst="rect">
            <a:avLst/>
          </a:prstGeom>
          <a:blipFill rotWithShape="1">
            <a:blip r:embed="rId10"/>
            <a:stretch>
              <a:fillRect b="-14754"/>
            </a:stretch>
          </a:blipFill>
        </p:spPr>
        <p:txBody>
          <a:bodyPr/>
          <a:lstStyle/>
          <a:p>
            <a:r>
              <a:rPr lang="zh-CN" altLang="en-US" sz="1633">
                <a:noFill/>
              </a:rPr>
              <a:t> </a:t>
            </a:r>
          </a:p>
        </p:txBody>
      </p:sp>
      <p:sp>
        <p:nvSpPr>
          <p:cNvPr id="59" name="左箭头 58"/>
          <p:cNvSpPr/>
          <p:nvPr/>
        </p:nvSpPr>
        <p:spPr>
          <a:xfrm rot="10800000">
            <a:off x="3503796" y="5875753"/>
            <a:ext cx="656692" cy="1339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p>
        </p:txBody>
      </p:sp>
      <p:sp>
        <p:nvSpPr>
          <p:cNvPr id="24" name="TextBox 23"/>
          <p:cNvSpPr txBox="1">
            <a:spLocks noRot="1" noChangeAspect="1" noMove="1" noResize="1" noEditPoints="1" noAdjustHandles="1" noChangeArrowheads="1" noChangeShapeType="1" noTextEdit="1"/>
          </p:cNvSpPr>
          <p:nvPr/>
        </p:nvSpPr>
        <p:spPr>
          <a:xfrm>
            <a:off x="4644367" y="5348470"/>
            <a:ext cx="5349394" cy="1156245"/>
          </a:xfrm>
          <a:prstGeom prst="rect">
            <a:avLst/>
          </a:prstGeom>
          <a:blipFill rotWithShape="1">
            <a:blip r:embed="rId11"/>
            <a:stretch>
              <a:fillRect/>
            </a:stretch>
          </a:blipFill>
          <a:ln w="28575">
            <a:solidFill>
              <a:srgbClr val="FF0000"/>
            </a:solidFill>
          </a:ln>
        </p:spPr>
        <p:txBody>
          <a:bodyPr/>
          <a:lstStyle/>
          <a:p>
            <a:r>
              <a:rPr lang="zh-CN" altLang="en-US" sz="1633">
                <a:noFill/>
              </a:rPr>
              <a:t> </a:t>
            </a:r>
          </a:p>
        </p:txBody>
      </p:sp>
      <p:sp>
        <p:nvSpPr>
          <p:cNvPr id="34" name="TextBox 33"/>
          <p:cNvSpPr txBox="1">
            <a:spLocks noChangeArrowheads="1"/>
          </p:cNvSpPr>
          <p:nvPr/>
        </p:nvSpPr>
        <p:spPr bwMode="auto">
          <a:xfrm>
            <a:off x="7593718" y="4336274"/>
            <a:ext cx="3041519" cy="7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177" b="1" dirty="0">
                <a:solidFill>
                  <a:srgbClr val="0000FF"/>
                </a:solidFill>
              </a:rPr>
              <a:t>动力学链长与引发剂浓度的平方根成反比。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barn(inVertical)">
                                      <p:cBhvr>
                                        <p:cTn id="24" dur="500"/>
                                        <p:tgtEl>
                                          <p:spTgt spid="5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16"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circle(in)">
                                      <p:cBhvr>
                                        <p:cTn id="29" dur="2000"/>
                                        <p:tgtEl>
                                          <p:spTgt spid="10"/>
                                        </p:tgtEl>
                                      </p:cBhvr>
                                    </p:animEffect>
                                  </p:childTnLst>
                                </p:cTn>
                              </p:par>
                              <p:par>
                                <p:cTn id="30" presetID="6" presetClass="entr" presetSubtype="16"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circle(in)">
                                      <p:cBhvr>
                                        <p:cTn id="32" dur="20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1"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heel(1)">
                                      <p:cBhvr>
                                        <p:cTn id="37" dur="20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1"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barn(inVertical)">
                                      <p:cBhvr>
                                        <p:cTn id="42" dur="500"/>
                                        <p:tgtEl>
                                          <p:spTgt spid="58"/>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barn(inVertical)">
                                      <p:cBhvr>
                                        <p:cTn id="45" dur="500"/>
                                        <p:tgtEl>
                                          <p:spTgt spid="5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1" presetClass="entr" presetSubtype="1"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heel(1)">
                                      <p:cBhvr>
                                        <p:cTn id="50" dur="2000"/>
                                        <p:tgtEl>
                                          <p:spTgt spid="2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59" grpId="0" animBg="1"/>
      <p:bldP spid="3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Rot="1" noChangeAspect="1" noMove="1" noResize="1" noEditPoints="1" noAdjustHandles="1" noChangeArrowheads="1" noChangeShapeType="1" noTextEdit="1"/>
          </p:cNvSpPr>
          <p:nvPr/>
        </p:nvSpPr>
        <p:spPr>
          <a:xfrm>
            <a:off x="2570604" y="3567252"/>
            <a:ext cx="5349394" cy="1156245"/>
          </a:xfrm>
          <a:prstGeom prst="rect">
            <a:avLst/>
          </a:prstGeom>
          <a:blipFill rotWithShape="1">
            <a:blip r:embed="rId2"/>
            <a:stretch>
              <a:fillRect/>
            </a:stretch>
          </a:blipFill>
          <a:ln w="28575">
            <a:solidFill>
              <a:srgbClr val="FF0000"/>
            </a:solidFill>
          </a:ln>
        </p:spPr>
        <p:txBody>
          <a:bodyPr/>
          <a:lstStyle/>
          <a:p>
            <a:r>
              <a:rPr lang="zh-CN" altLang="en-US" sz="1633">
                <a:noFill/>
              </a:rPr>
              <a:t> </a:t>
            </a:r>
          </a:p>
        </p:txBody>
      </p:sp>
      <p:pic>
        <p:nvPicPr>
          <p:cNvPr id="1034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605" y="1908241"/>
            <a:ext cx="4726452" cy="1265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接箭头连接符 6"/>
          <p:cNvCxnSpPr/>
          <p:nvPr/>
        </p:nvCxnSpPr>
        <p:spPr>
          <a:xfrm>
            <a:off x="5957749" y="2875997"/>
            <a:ext cx="967756" cy="967756"/>
          </a:xfrm>
          <a:prstGeom prst="straightConnector1">
            <a:avLst/>
          </a:prstGeom>
          <a:ln>
            <a:headEnd type="arrow"/>
            <a:tailEnd type="arrow"/>
          </a:ln>
        </p:spPr>
        <p:style>
          <a:lnRef idx="3">
            <a:schemeClr val="accent1"/>
          </a:lnRef>
          <a:fillRef idx="0">
            <a:schemeClr val="accent1"/>
          </a:fillRef>
          <a:effectRef idx="2">
            <a:schemeClr val="accent1"/>
          </a:effectRef>
          <a:fontRef idx="minor">
            <a:schemeClr val="tx1"/>
          </a:fontRef>
        </p:style>
      </p:cxnSp>
      <p:sp>
        <p:nvSpPr>
          <p:cNvPr id="103429" name="TextBox 7"/>
          <p:cNvSpPr txBox="1">
            <a:spLocks noChangeArrowheads="1"/>
          </p:cNvSpPr>
          <p:nvPr/>
        </p:nvSpPr>
        <p:spPr bwMode="auto">
          <a:xfrm>
            <a:off x="2847104" y="5073611"/>
            <a:ext cx="7534673" cy="98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903"/>
              <a:t>引发剂浓度增加，聚合速率增加，但是动力学链长减小，聚合物分子量也相应减小。</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Box 3"/>
          <p:cNvSpPr txBox="1">
            <a:spLocks noChangeArrowheads="1"/>
          </p:cNvSpPr>
          <p:nvPr/>
        </p:nvSpPr>
        <p:spPr bwMode="auto">
          <a:xfrm>
            <a:off x="2086724" y="456608"/>
            <a:ext cx="6290415" cy="53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903" b="1">
                <a:latin typeface="Times New Roman" panose="02020603050405020304" pitchFamily="18" charset="0"/>
                <a:cs typeface="Times New Roman" panose="02020603050405020304" pitchFamily="18" charset="0"/>
              </a:rPr>
              <a:t>II. Average Degree of Polymerization</a:t>
            </a:r>
            <a:endParaRPr lang="zh-CN" altLang="en-US" sz="2903" b="1">
              <a:latin typeface="Times New Roman" panose="02020603050405020304" pitchFamily="18" charset="0"/>
              <a:cs typeface="Times New Roman" panose="02020603050405020304" pitchFamily="18" charset="0"/>
            </a:endParaRPr>
          </a:p>
        </p:txBody>
      </p:sp>
      <p:sp>
        <p:nvSpPr>
          <p:cNvPr id="5" name="TextBox 4"/>
          <p:cNvSpPr txBox="1">
            <a:spLocks noRot="1" noChangeAspect="1" noMove="1" noResize="1" noEditPoints="1" noAdjustHandles="1" noChangeArrowheads="1" noChangeShapeType="1" noTextEdit="1"/>
          </p:cNvSpPr>
          <p:nvPr/>
        </p:nvSpPr>
        <p:spPr>
          <a:xfrm>
            <a:off x="4527489" y="2645826"/>
            <a:ext cx="2883807" cy="969063"/>
          </a:xfrm>
          <a:prstGeom prst="rect">
            <a:avLst/>
          </a:prstGeom>
          <a:blipFill rotWithShape="1">
            <a:blip r:embed="rId2"/>
            <a:stretch>
              <a:fillRect/>
            </a:stretch>
          </a:blipFill>
        </p:spPr>
        <p:txBody>
          <a:bodyPr/>
          <a:lstStyle/>
          <a:p>
            <a:r>
              <a:rPr lang="zh-CN" altLang="en-US" sz="1633">
                <a:noFill/>
              </a:rPr>
              <a:t> </a:t>
            </a:r>
          </a:p>
        </p:txBody>
      </p:sp>
      <p:sp>
        <p:nvSpPr>
          <p:cNvPr id="6" name="TextBox 5"/>
          <p:cNvSpPr txBox="1">
            <a:spLocks noRot="1" noChangeAspect="1" noMove="1" noResize="1" noEditPoints="1" noAdjustHandles="1" noChangeArrowheads="1" noChangeShapeType="1" noTextEdit="1"/>
          </p:cNvSpPr>
          <p:nvPr/>
        </p:nvSpPr>
        <p:spPr>
          <a:xfrm>
            <a:off x="4527486" y="1329364"/>
            <a:ext cx="3064126" cy="969063"/>
          </a:xfrm>
          <a:prstGeom prst="rect">
            <a:avLst/>
          </a:prstGeom>
          <a:blipFill rotWithShape="1">
            <a:blip r:embed="rId3"/>
            <a:stretch>
              <a:fillRect/>
            </a:stretch>
          </a:blipFill>
        </p:spPr>
        <p:txBody>
          <a:bodyPr/>
          <a:lstStyle/>
          <a:p>
            <a:r>
              <a:rPr lang="zh-CN" altLang="en-US" sz="1633">
                <a:noFill/>
              </a:rPr>
              <a:t> </a:t>
            </a:r>
          </a:p>
        </p:txBody>
      </p:sp>
      <p:sp>
        <p:nvSpPr>
          <p:cNvPr id="104453" name="TextBox 6"/>
          <p:cNvSpPr txBox="1">
            <a:spLocks noChangeArrowheads="1"/>
          </p:cNvSpPr>
          <p:nvPr/>
        </p:nvSpPr>
        <p:spPr bwMode="auto">
          <a:xfrm>
            <a:off x="2101125" y="1562615"/>
            <a:ext cx="2281394" cy="51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722"/>
              <a:t>双基偶合终止</a:t>
            </a:r>
          </a:p>
        </p:txBody>
      </p:sp>
      <p:sp>
        <p:nvSpPr>
          <p:cNvPr id="104454" name="TextBox 7"/>
          <p:cNvSpPr txBox="1">
            <a:spLocks noChangeArrowheads="1"/>
          </p:cNvSpPr>
          <p:nvPr/>
        </p:nvSpPr>
        <p:spPr bwMode="auto">
          <a:xfrm>
            <a:off x="2101125" y="2628298"/>
            <a:ext cx="2281394" cy="51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722"/>
              <a:t>双基歧化终止</a:t>
            </a:r>
          </a:p>
        </p:txBody>
      </p:sp>
      <p:sp>
        <p:nvSpPr>
          <p:cNvPr id="9" name="右弧形箭头 8"/>
          <p:cNvSpPr/>
          <p:nvPr/>
        </p:nvSpPr>
        <p:spPr>
          <a:xfrm>
            <a:off x="7755010" y="1813195"/>
            <a:ext cx="414753" cy="147755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0" name="TextBox 9"/>
          <p:cNvSpPr txBox="1">
            <a:spLocks noRot="1" noChangeAspect="1" noMove="1" noResize="1" noEditPoints="1" noAdjustHandles="1" noChangeArrowheads="1" noChangeShapeType="1" noTextEdit="1"/>
          </p:cNvSpPr>
          <p:nvPr/>
        </p:nvSpPr>
        <p:spPr>
          <a:xfrm>
            <a:off x="8312302" y="1824511"/>
            <a:ext cx="2349427" cy="1240006"/>
          </a:xfrm>
          <a:prstGeom prst="rect">
            <a:avLst/>
          </a:prstGeom>
          <a:blipFill rotWithShape="1">
            <a:blip r:embed="rId4"/>
            <a:stretch>
              <a:fillRect/>
            </a:stretch>
          </a:blipFill>
        </p:spPr>
        <p:txBody>
          <a:bodyPr/>
          <a:lstStyle/>
          <a:p>
            <a:r>
              <a:rPr lang="zh-CN" altLang="en-US" sz="1633">
                <a:noFill/>
              </a:rPr>
              <a:t> </a:t>
            </a:r>
          </a:p>
        </p:txBody>
      </p:sp>
      <p:sp>
        <p:nvSpPr>
          <p:cNvPr id="104457" name="TextBox 10"/>
          <p:cNvSpPr txBox="1">
            <a:spLocks noChangeArrowheads="1"/>
          </p:cNvSpPr>
          <p:nvPr/>
        </p:nvSpPr>
        <p:spPr bwMode="auto">
          <a:xfrm>
            <a:off x="2101126" y="4051131"/>
            <a:ext cx="8156802" cy="81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359"/>
              <a:t>用</a:t>
            </a:r>
            <a:r>
              <a:rPr lang="en-US" altLang="zh-CN" sz="2359"/>
              <a:t>AIBN</a:t>
            </a:r>
            <a:r>
              <a:rPr lang="zh-CN" altLang="en-US" sz="2359"/>
              <a:t>引发，不发生链转移，用过氧化物引发，能发生链转移。</a:t>
            </a:r>
          </a:p>
        </p:txBody>
      </p:sp>
      <p:sp>
        <p:nvSpPr>
          <p:cNvPr id="104458" name="TextBox 11"/>
          <p:cNvSpPr txBox="1">
            <a:spLocks noChangeArrowheads="1"/>
          </p:cNvSpPr>
          <p:nvPr/>
        </p:nvSpPr>
        <p:spPr bwMode="auto">
          <a:xfrm>
            <a:off x="2101128" y="4949762"/>
            <a:ext cx="8488028" cy="1097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r>
              <a:rPr lang="en-US" altLang="zh-CN" sz="2177">
                <a:latin typeface="Times New Roman" panose="02020603050405020304" pitchFamily="18" charset="0"/>
                <a:cs typeface="Times New Roman" panose="02020603050405020304" pitchFamily="18" charset="0"/>
              </a:rPr>
              <a:t>If transfer has occurred, each radical has produced several chains and the kinetic chain length is then usually far larger than the polymerization degree of the polymer formed.</a:t>
            </a:r>
            <a:endParaRPr lang="zh-CN" altLang="en-US" sz="2177">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89</a:t>
            </a:r>
          </a:p>
        </p:txBody>
      </p:sp>
      <p:sp>
        <p:nvSpPr>
          <p:cNvPr id="105475" name="TextBox 1"/>
          <p:cNvSpPr txBox="1">
            <a:spLocks noChangeArrowheads="1"/>
          </p:cNvSpPr>
          <p:nvPr/>
        </p:nvSpPr>
        <p:spPr bwMode="auto">
          <a:xfrm>
            <a:off x="2252338" y="1483408"/>
            <a:ext cx="8208646" cy="121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77800" algn="l"/>
                <a:tab pos="698500" algn="l"/>
                <a:tab pos="2108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540">
                <a:latin typeface="楷体_GB2312"/>
                <a:ea typeface="楷体_GB2312"/>
                <a:cs typeface="楷体_GB2312"/>
              </a:rPr>
              <a:t>链转移是自由基</a:t>
            </a:r>
            <a:r>
              <a:rPr lang="en-US" altLang="zh-CN" sz="2540" b="1">
                <a:latin typeface="Times New Roman" panose="02020603050405020304" pitchFamily="18" charset="0"/>
                <a:cs typeface="Times New Roman" panose="02020603050405020304" pitchFamily="18" charset="0"/>
              </a:rPr>
              <a:t>M</a:t>
            </a:r>
            <a:r>
              <a:rPr lang="en-US" altLang="zh-CN" sz="1724" b="1" i="1">
                <a:latin typeface="Times New Roman" panose="02020603050405020304" pitchFamily="18" charset="0"/>
                <a:cs typeface="Times New Roman" panose="02020603050405020304" pitchFamily="18" charset="0"/>
              </a:rPr>
              <a:t>x</a:t>
            </a:r>
            <a:r>
              <a:rPr lang="en-US" altLang="zh-CN" sz="2540" b="1" i="1">
                <a:latin typeface="Times New Roman" panose="02020603050405020304" pitchFamily="18" charset="0"/>
                <a:cs typeface="Times New Roman" panose="02020603050405020304" pitchFamily="18" charset="0"/>
              </a:rPr>
              <a:t>·</a:t>
            </a:r>
            <a:r>
              <a:rPr lang="en-US" altLang="zh-CN" sz="2540">
                <a:latin typeface="楷体_GB2312"/>
                <a:ea typeface="楷体_GB2312"/>
                <a:cs typeface="楷体_GB2312"/>
              </a:rPr>
              <a:t>夺取另一分子</a:t>
            </a:r>
            <a:r>
              <a:rPr lang="en-US" altLang="zh-CN" sz="2540" b="1">
                <a:latin typeface="Times New Roman" panose="02020603050405020304" pitchFamily="18" charset="0"/>
                <a:cs typeface="Times New Roman" panose="02020603050405020304" pitchFamily="18" charset="0"/>
              </a:rPr>
              <a:t>YS</a:t>
            </a:r>
            <a:r>
              <a:rPr lang="en-US" altLang="zh-CN" sz="2540">
                <a:latin typeface="楷体_GB2312"/>
                <a:ea typeface="楷体_GB2312"/>
                <a:cs typeface="楷体_GB2312"/>
              </a:rPr>
              <a:t>中结合得较弱的原子</a:t>
            </a:r>
            <a:r>
              <a:rPr lang="en-US" altLang="zh-CN" sz="2540" b="1">
                <a:latin typeface="Times New Roman" panose="02020603050405020304" pitchFamily="18" charset="0"/>
                <a:cs typeface="Times New Roman" panose="02020603050405020304" pitchFamily="18" charset="0"/>
              </a:rPr>
              <a:t>Y</a:t>
            </a:r>
            <a:r>
              <a:rPr lang="en-US" altLang="zh-CN" sz="2540">
                <a:latin typeface="楷体_GB2312"/>
                <a:ea typeface="楷体_GB2312"/>
                <a:cs typeface="楷体_GB2312"/>
              </a:rPr>
              <a:t>（如氢、卤原子等）而终止，而</a:t>
            </a:r>
            <a:r>
              <a:rPr lang="en-US" altLang="zh-CN" sz="2540" b="1">
                <a:latin typeface="Times New Roman" panose="02020603050405020304" pitchFamily="18" charset="0"/>
                <a:cs typeface="Times New Roman" panose="02020603050405020304" pitchFamily="18" charset="0"/>
              </a:rPr>
              <a:t>YS</a:t>
            </a:r>
            <a:r>
              <a:rPr lang="en-US" altLang="zh-CN" sz="2540">
                <a:latin typeface="楷体_GB2312"/>
                <a:ea typeface="楷体_GB2312"/>
                <a:cs typeface="楷体_GB2312"/>
              </a:rPr>
              <a:t>失去</a:t>
            </a:r>
            <a:r>
              <a:rPr lang="en-US" altLang="zh-CN" sz="2540" b="1">
                <a:latin typeface="Times New Roman" panose="02020603050405020304" pitchFamily="18" charset="0"/>
                <a:cs typeface="Times New Roman" panose="02020603050405020304" pitchFamily="18" charset="0"/>
              </a:rPr>
              <a:t>Y</a:t>
            </a:r>
            <a:r>
              <a:rPr lang="en-US" altLang="zh-CN" sz="2540">
                <a:latin typeface="楷体_GB2312"/>
                <a:ea typeface="楷体_GB2312"/>
                <a:cs typeface="楷体_GB2312"/>
              </a:rPr>
              <a:t>后则成为新自由基</a:t>
            </a:r>
            <a:r>
              <a:rPr lang="en-US" altLang="zh-CN" sz="2540" b="1">
                <a:latin typeface="Times New Roman" panose="02020603050405020304" pitchFamily="18" charset="0"/>
                <a:cs typeface="Times New Roman" panose="02020603050405020304" pitchFamily="18" charset="0"/>
              </a:rPr>
              <a:t>S·</a:t>
            </a:r>
            <a:r>
              <a:rPr lang="en-US" altLang="zh-CN" sz="2540">
                <a:latin typeface="楷体_GB2312"/>
                <a:ea typeface="楷体_GB2312"/>
                <a:cs typeface="楷体_GB2312"/>
              </a:rPr>
              <a:t>，类似活性中在转移。</a:t>
            </a:r>
          </a:p>
        </p:txBody>
      </p:sp>
      <p:sp>
        <p:nvSpPr>
          <p:cNvPr id="105476" name="TextBox 1"/>
          <p:cNvSpPr txBox="1">
            <a:spLocks noChangeArrowheads="1"/>
          </p:cNvSpPr>
          <p:nvPr/>
        </p:nvSpPr>
        <p:spPr bwMode="auto">
          <a:xfrm>
            <a:off x="2317143" y="4228265"/>
            <a:ext cx="7809830"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如果新自由基有足够的活性，就可能再引发单体聚合。</a:t>
            </a:r>
          </a:p>
        </p:txBody>
      </p:sp>
      <p:sp>
        <p:nvSpPr>
          <p:cNvPr id="105477" name="矩形 2"/>
          <p:cNvSpPr>
            <a:spLocks noChangeArrowheads="1"/>
          </p:cNvSpPr>
          <p:nvPr/>
        </p:nvSpPr>
        <p:spPr bwMode="auto">
          <a:xfrm>
            <a:off x="1872148" y="201707"/>
            <a:ext cx="8708365" cy="874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b="1">
                <a:solidFill>
                  <a:srgbClr val="000000"/>
                </a:solidFill>
                <a:latin typeface="Times New Roman" panose="02020603050405020304" pitchFamily="18" charset="0"/>
                <a:cs typeface="Times New Roman" panose="02020603050405020304" pitchFamily="18" charset="0"/>
              </a:rPr>
              <a:t>3.9</a:t>
            </a:r>
            <a:r>
              <a:rPr lang="en-US" altLang="zh-CN" sz="2812">
                <a:solidFill>
                  <a:srgbClr val="000000"/>
                </a:solidFill>
                <a:latin typeface="Times New Roman" panose="02020603050405020304" pitchFamily="18" charset="0"/>
                <a:cs typeface="Times New Roman" panose="02020603050405020304" pitchFamily="18" charset="0"/>
              </a:rPr>
              <a:t>  </a:t>
            </a:r>
            <a:r>
              <a:rPr lang="en-US" altLang="zh-CN" sz="2812">
                <a:solidFill>
                  <a:srgbClr val="000000"/>
                </a:solidFill>
                <a:latin typeface="楷体_GB2312"/>
                <a:ea typeface="楷体_GB2312"/>
                <a:cs typeface="楷体_GB2312"/>
              </a:rPr>
              <a:t>链转移反应与聚合度</a:t>
            </a:r>
          </a:p>
          <a:p>
            <a:pPr eaLnBrk="1" hangingPunct="1">
              <a:lnSpc>
                <a:spcPts val="2994"/>
              </a:lnSpc>
            </a:pPr>
            <a:r>
              <a:rPr lang="en-US" altLang="zh-CN" sz="2540" b="1">
                <a:solidFill>
                  <a:srgbClr val="000000"/>
                </a:solidFill>
                <a:latin typeface="Times New Roman" panose="02020603050405020304" pitchFamily="18" charset="0"/>
                <a:cs typeface="Times New Roman" panose="02020603050405020304" pitchFamily="18" charset="0"/>
              </a:rPr>
              <a:t>(Chain</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Transfer</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Reaction</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and</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Polymerization</a:t>
            </a:r>
            <a:r>
              <a:rPr lang="en-US" altLang="zh-CN" sz="2540">
                <a:solidFill>
                  <a:srgbClr val="000000"/>
                </a:solidFill>
                <a:latin typeface="Times New Roman" panose="02020603050405020304" pitchFamily="18" charset="0"/>
                <a:cs typeface="Times New Roman" panose="02020603050405020304" pitchFamily="18" charset="0"/>
              </a:rPr>
              <a:t> </a:t>
            </a:r>
            <a:r>
              <a:rPr lang="en-US" altLang="zh-CN" sz="2540" b="1">
                <a:solidFill>
                  <a:srgbClr val="000000"/>
                </a:solidFill>
                <a:latin typeface="Times New Roman" panose="02020603050405020304" pitchFamily="18" charset="0"/>
                <a:cs typeface="Times New Roman" panose="02020603050405020304" pitchFamily="18" charset="0"/>
              </a:rPr>
              <a:t>Degree)</a:t>
            </a:r>
          </a:p>
        </p:txBody>
      </p:sp>
      <p:pic>
        <p:nvPicPr>
          <p:cNvPr id="105478"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3606" y="2945125"/>
            <a:ext cx="5692769" cy="780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7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3687" y="4811510"/>
            <a:ext cx="7544754" cy="829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90</a:t>
            </a:r>
          </a:p>
        </p:txBody>
      </p:sp>
      <p:sp>
        <p:nvSpPr>
          <p:cNvPr id="106499" name="TextBox 1"/>
          <p:cNvSpPr txBox="1">
            <a:spLocks noChangeArrowheads="1"/>
          </p:cNvSpPr>
          <p:nvPr/>
        </p:nvSpPr>
        <p:spPr bwMode="auto">
          <a:xfrm>
            <a:off x="1797263" y="558856"/>
            <a:ext cx="6545061"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3175" b="1">
                <a:latin typeface="楷体" panose="02010609060101010101" pitchFamily="49" charset="-122"/>
                <a:ea typeface="楷体" panose="02010609060101010101" pitchFamily="49" charset="-122"/>
                <a:cs typeface="Times New Roman" panose="02020603050405020304" pitchFamily="18" charset="0"/>
              </a:rPr>
              <a:t>3.9.1 </a:t>
            </a:r>
            <a:r>
              <a:rPr lang="en-US" altLang="zh-CN" sz="3175" b="1">
                <a:latin typeface="楷体" panose="02010609060101010101" pitchFamily="49" charset="-122"/>
                <a:ea typeface="楷体" panose="02010609060101010101" pitchFamily="49" charset="-122"/>
                <a:cs typeface="楷体_GB2312"/>
              </a:rPr>
              <a:t>链转移反应时对聚合度的影响</a:t>
            </a:r>
          </a:p>
        </p:txBody>
      </p:sp>
      <p:sp>
        <p:nvSpPr>
          <p:cNvPr id="106500" name="TextBox 1"/>
          <p:cNvSpPr txBox="1">
            <a:spLocks noChangeArrowheads="1"/>
          </p:cNvSpPr>
          <p:nvPr/>
        </p:nvSpPr>
        <p:spPr bwMode="auto">
          <a:xfrm>
            <a:off x="3261857" y="1440206"/>
            <a:ext cx="7126951" cy="371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3084">
                <a:latin typeface="楷体_GB2312"/>
                <a:ea typeface="楷体_GB2312"/>
                <a:cs typeface="楷体_GB2312"/>
              </a:rPr>
              <a:t>活性链向单体、引发剂、溶剂等低分子链</a:t>
            </a:r>
          </a:p>
        </p:txBody>
      </p:sp>
      <p:sp>
        <p:nvSpPr>
          <p:cNvPr id="106501" name="TextBox 1"/>
          <p:cNvSpPr txBox="1">
            <a:spLocks noChangeArrowheads="1"/>
          </p:cNvSpPr>
          <p:nvPr/>
        </p:nvSpPr>
        <p:spPr bwMode="auto">
          <a:xfrm>
            <a:off x="2651250" y="1970167"/>
            <a:ext cx="5543184" cy="371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3084">
                <a:latin typeface="楷体_GB2312"/>
                <a:ea typeface="楷体_GB2312"/>
                <a:cs typeface="楷体_GB2312"/>
              </a:rPr>
              <a:t>转移的反应式和速率方程如下：</a:t>
            </a:r>
          </a:p>
        </p:txBody>
      </p:sp>
      <p:sp>
        <p:nvSpPr>
          <p:cNvPr id="106502" name="TextBox 1"/>
          <p:cNvSpPr txBox="1">
            <a:spLocks noChangeArrowheads="1"/>
          </p:cNvSpPr>
          <p:nvPr/>
        </p:nvSpPr>
        <p:spPr bwMode="auto">
          <a:xfrm>
            <a:off x="2309945" y="5088012"/>
            <a:ext cx="7309693" cy="76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09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09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09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09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09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1633"/>
              <a:t>	</a:t>
            </a:r>
            <a:r>
              <a:rPr lang="en-US" altLang="zh-CN" sz="2177">
                <a:latin typeface="楷体_GB2312"/>
                <a:ea typeface="楷体_GB2312"/>
                <a:cs typeface="楷体_GB2312"/>
              </a:rPr>
              <a:t>链转移反应是</a:t>
            </a:r>
            <a:r>
              <a:rPr lang="en-US" altLang="zh-CN" sz="2177" b="1">
                <a:solidFill>
                  <a:srgbClr val="0000FF"/>
                </a:solidFill>
                <a:latin typeface="楷体_GB2312"/>
                <a:ea typeface="楷体_GB2312"/>
                <a:cs typeface="楷体_GB2312"/>
              </a:rPr>
              <a:t>活性中心转移而非消失</a:t>
            </a:r>
            <a:r>
              <a:rPr lang="en-US" altLang="zh-CN" sz="2177">
                <a:latin typeface="楷体_GB2312"/>
                <a:ea typeface="楷体_GB2312"/>
                <a:cs typeface="楷体_GB2312"/>
              </a:rPr>
              <a:t>。链转移后，动力</a:t>
            </a:r>
          </a:p>
          <a:p>
            <a:pPr eaLnBrk="1" hangingPunct="1">
              <a:lnSpc>
                <a:spcPts val="907"/>
              </a:lnSpc>
            </a:pPr>
            <a:endParaRPr lang="en-US" altLang="zh-CN" sz="1633"/>
          </a:p>
          <a:p>
            <a:pPr eaLnBrk="1" hangingPunct="1">
              <a:lnSpc>
                <a:spcPts val="2631"/>
              </a:lnSpc>
            </a:pPr>
            <a:r>
              <a:rPr lang="en-US" altLang="zh-CN" sz="2177">
                <a:latin typeface="楷体_GB2312"/>
              </a:rPr>
              <a:t>学链没有终止，它所消耗的单体数目，也属于该动力学链。</a:t>
            </a:r>
          </a:p>
        </p:txBody>
      </p:sp>
      <p:pic>
        <p:nvPicPr>
          <p:cNvPr id="106503"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9862" y="2530371"/>
            <a:ext cx="7906223" cy="2315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Box 1"/>
          <p:cNvSpPr txBox="1">
            <a:spLocks noChangeArrowheads="1"/>
          </p:cNvSpPr>
          <p:nvPr/>
        </p:nvSpPr>
        <p:spPr bwMode="auto">
          <a:xfrm>
            <a:off x="9609877" y="5190261"/>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91</a:t>
            </a:r>
          </a:p>
        </p:txBody>
      </p:sp>
      <p:sp>
        <p:nvSpPr>
          <p:cNvPr id="107523" name="TextBox 1"/>
          <p:cNvSpPr txBox="1">
            <a:spLocks noChangeArrowheads="1"/>
          </p:cNvSpPr>
          <p:nvPr/>
        </p:nvSpPr>
        <p:spPr bwMode="auto">
          <a:xfrm>
            <a:off x="1948474" y="1355238"/>
            <a:ext cx="8156802" cy="1224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tabLst>
                <a:tab pos="406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06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06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06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06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06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06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06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06400" algn="l"/>
              </a:tabLs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en-US" altLang="zh-CN" sz="2722">
                <a:latin typeface="楷体_GB2312"/>
                <a:ea typeface="楷体_GB2312"/>
                <a:cs typeface="楷体_GB2312"/>
              </a:rPr>
              <a:t>动力学链长：每个初级自由基自链引发开始</a:t>
            </a:r>
            <a:r>
              <a:rPr lang="en-US" altLang="zh-CN" sz="2722">
                <a:latin typeface="楷体_GB2312"/>
              </a:rPr>
              <a:t>到活性中心真正死亡止所消耗的单体分子总数。</a:t>
            </a:r>
          </a:p>
        </p:txBody>
      </p:sp>
      <p:sp>
        <p:nvSpPr>
          <p:cNvPr id="107524" name="TextBox 1"/>
          <p:cNvSpPr txBox="1">
            <a:spLocks noChangeArrowheads="1"/>
          </p:cNvSpPr>
          <p:nvPr/>
        </p:nvSpPr>
        <p:spPr bwMode="auto">
          <a:xfrm>
            <a:off x="1935514" y="2708945"/>
            <a:ext cx="8156802" cy="71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631"/>
              </a:lnSpc>
              <a:buFont typeface="Wingdings" panose="05000000000000000000" pitchFamily="2" charset="2"/>
              <a:buChar char="Ø"/>
            </a:pPr>
            <a:r>
              <a:rPr lang="en-US" altLang="zh-CN" sz="2722">
                <a:latin typeface="楷体_GB2312"/>
                <a:ea typeface="楷体_GB2312"/>
                <a:cs typeface="楷体_GB2312"/>
              </a:rPr>
              <a:t>链转移的结果使聚合度降低，聚合度须考虑链转移终止</a:t>
            </a:r>
          </a:p>
        </p:txBody>
      </p:sp>
      <p:sp>
        <p:nvSpPr>
          <p:cNvPr id="107525" name="TextBox 1"/>
          <p:cNvSpPr txBox="1">
            <a:spLocks noChangeArrowheads="1"/>
          </p:cNvSpPr>
          <p:nvPr/>
        </p:nvSpPr>
        <p:spPr bwMode="auto">
          <a:xfrm>
            <a:off x="1948473" y="3465003"/>
            <a:ext cx="7972468" cy="11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marL="457200" indent="-45720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en-US" altLang="zh-CN" sz="2540">
                <a:latin typeface="楷体_GB2312"/>
                <a:ea typeface="楷体_GB2312"/>
                <a:cs typeface="楷体_GB2312"/>
              </a:rPr>
              <a:t>聚合度：每个大分子所结合的单体数，链转移后必然后生成一个死的大分子。</a:t>
            </a:r>
          </a:p>
        </p:txBody>
      </p:sp>
      <p:sp>
        <p:nvSpPr>
          <p:cNvPr id="7" name="Freeform 3"/>
          <p:cNvSpPr/>
          <p:nvPr/>
        </p:nvSpPr>
        <p:spPr>
          <a:xfrm>
            <a:off x="2569163" y="5534449"/>
            <a:ext cx="6935586" cy="878469"/>
          </a:xfrm>
          <a:custGeom>
            <a:avLst/>
            <a:gdLst>
              <a:gd name="connsiteX0" fmla="*/ 6350 w 7644892"/>
              <a:gd name="connsiteY0" fmla="*/ 6350 h 968248"/>
              <a:gd name="connsiteX1" fmla="*/ 6350 w 7644892"/>
              <a:gd name="connsiteY1" fmla="*/ 961898 h 968248"/>
              <a:gd name="connsiteX2" fmla="*/ 7638542 w 7644892"/>
              <a:gd name="connsiteY2" fmla="*/ 961898 h 968248"/>
              <a:gd name="connsiteX3" fmla="*/ 7638542 w 7644892"/>
              <a:gd name="connsiteY3" fmla="*/ 6350 h 968248"/>
              <a:gd name="connsiteX4" fmla="*/ 6350 w 7644892"/>
              <a:gd name="connsiteY4" fmla="*/ 6350 h 96824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644892" h="968248">
                <a:moveTo>
                  <a:pt x="6350" y="6350"/>
                </a:moveTo>
                <a:lnTo>
                  <a:pt x="6350" y="961898"/>
                </a:lnTo>
                <a:lnTo>
                  <a:pt x="7638542" y="961898"/>
                </a:lnTo>
                <a:lnTo>
                  <a:pt x="7638542" y="6350"/>
                </a:lnTo>
                <a:lnTo>
                  <a:pt x="6350" y="6350"/>
                </a:lnTo>
              </a:path>
            </a:pathLst>
          </a:custGeom>
          <a:solidFill>
            <a:srgbClr val="000000">
              <a:alpha val="0"/>
            </a:srgbClr>
          </a:solidFill>
          <a:ln w="12700">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07527" name="TextBox 1"/>
          <p:cNvSpPr txBox="1">
            <a:spLocks noChangeArrowheads="1"/>
          </p:cNvSpPr>
          <p:nvPr/>
        </p:nvSpPr>
        <p:spPr bwMode="auto">
          <a:xfrm>
            <a:off x="3691012" y="4638696"/>
            <a:ext cx="6214843"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268">
                <a:latin typeface="楷体_GB2312"/>
                <a:ea typeface="楷体_GB2312"/>
                <a:cs typeface="楷体_GB2312"/>
              </a:rPr>
              <a:t>第一种情况：形成</a:t>
            </a:r>
            <a:r>
              <a:rPr lang="en-US" altLang="zh-CN" sz="2268" b="1">
                <a:latin typeface="Times New Roman" panose="02020603050405020304" pitchFamily="18" charset="0"/>
                <a:cs typeface="Times New Roman" panose="02020603050405020304" pitchFamily="18" charset="0"/>
              </a:rPr>
              <a:t>3</a:t>
            </a:r>
            <a:r>
              <a:rPr lang="en-US" altLang="zh-CN" sz="2268">
                <a:latin typeface="楷体_GB2312"/>
                <a:ea typeface="楷体_GB2312"/>
                <a:cs typeface="楷体_GB2312"/>
              </a:rPr>
              <a:t>条大分子（</a:t>
            </a:r>
            <a:r>
              <a:rPr lang="en-US" altLang="zh-CN" sz="2268" b="1">
                <a:latin typeface="Times New Roman" panose="02020603050405020304" pitchFamily="18" charset="0"/>
                <a:cs typeface="Times New Roman" panose="02020603050405020304" pitchFamily="18" charset="0"/>
              </a:rPr>
              <a:t>100</a:t>
            </a:r>
            <a:r>
              <a:rPr lang="en-US" altLang="zh-CN" sz="2268">
                <a:latin typeface="楷体_GB2312"/>
                <a:ea typeface="楷体_GB2312"/>
                <a:cs typeface="楷体_GB2312"/>
              </a:rPr>
              <a:t>，</a:t>
            </a:r>
            <a:r>
              <a:rPr lang="en-US" altLang="zh-CN" sz="2268" b="1">
                <a:latin typeface="Times New Roman" panose="02020603050405020304" pitchFamily="18" charset="0"/>
                <a:cs typeface="Times New Roman" panose="02020603050405020304" pitchFamily="18" charset="0"/>
              </a:rPr>
              <a:t>200</a:t>
            </a:r>
            <a:r>
              <a:rPr lang="en-US" altLang="zh-CN" sz="2268">
                <a:latin typeface="楷体_GB2312"/>
                <a:ea typeface="楷体_GB2312"/>
                <a:cs typeface="楷体_GB2312"/>
              </a:rPr>
              <a:t>，</a:t>
            </a:r>
            <a:r>
              <a:rPr lang="en-US" altLang="zh-CN" sz="2268" b="1">
                <a:latin typeface="Times New Roman" panose="02020603050405020304" pitchFamily="18" charset="0"/>
                <a:cs typeface="Times New Roman" panose="02020603050405020304" pitchFamily="18" charset="0"/>
              </a:rPr>
              <a:t>100</a:t>
            </a:r>
            <a:r>
              <a:rPr lang="en-US" altLang="zh-CN" sz="2268">
                <a:latin typeface="楷体_GB2312"/>
                <a:ea typeface="楷体_GB2312"/>
                <a:cs typeface="楷体_GB2312"/>
              </a:rPr>
              <a:t>）</a:t>
            </a:r>
          </a:p>
          <a:p>
            <a:pPr eaLnBrk="1" hangingPunct="1">
              <a:lnSpc>
                <a:spcPts val="907"/>
              </a:lnSpc>
            </a:pPr>
            <a:endParaRPr lang="en-US" altLang="zh-CN" sz="1633"/>
          </a:p>
          <a:p>
            <a:pPr eaLnBrk="1" hangingPunct="1">
              <a:lnSpc>
                <a:spcPts val="2722"/>
              </a:lnSpc>
            </a:pPr>
            <a:r>
              <a:rPr lang="en-US" altLang="zh-CN" sz="2268">
                <a:latin typeface="楷体_GB2312"/>
                <a:ea typeface="楷体_GB2312"/>
                <a:cs typeface="楷体_GB2312"/>
              </a:rPr>
              <a:t>第二种情况：一条大分子</a:t>
            </a:r>
            <a:r>
              <a:rPr lang="en-US" altLang="zh-CN" sz="2268" b="1">
                <a:latin typeface="Times New Roman" panose="02020603050405020304" pitchFamily="18" charset="0"/>
                <a:cs typeface="Times New Roman" panose="02020603050405020304" pitchFamily="18" charset="0"/>
              </a:rPr>
              <a:t>(400)</a:t>
            </a:r>
            <a:r>
              <a:rPr lang="en-US" altLang="zh-CN" sz="2268">
                <a:latin typeface="Times New Roman" panose="02020603050405020304" pitchFamily="18" charset="0"/>
                <a:cs typeface="Times New Roman" panose="02020603050405020304" pitchFamily="18" charset="0"/>
              </a:rPr>
              <a:t> </a:t>
            </a:r>
            <a:r>
              <a:rPr lang="en-US" altLang="zh-CN" sz="2268">
                <a:latin typeface="楷体_GB2312"/>
                <a:ea typeface="楷体_GB2312"/>
                <a:cs typeface="楷体_GB2312"/>
              </a:rPr>
              <a:t>只考虑歧化终止）</a:t>
            </a:r>
          </a:p>
        </p:txBody>
      </p:sp>
      <p:sp>
        <p:nvSpPr>
          <p:cNvPr id="107528" name="TextBox 1"/>
          <p:cNvSpPr txBox="1">
            <a:spLocks noChangeArrowheads="1"/>
          </p:cNvSpPr>
          <p:nvPr/>
        </p:nvSpPr>
        <p:spPr bwMode="auto">
          <a:xfrm>
            <a:off x="2661332" y="5632374"/>
            <a:ext cx="650819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链转移反应是活性中心的转移，不是消失，动</a:t>
            </a:r>
          </a:p>
          <a:p>
            <a:pPr eaLnBrk="1" hangingPunct="1">
              <a:lnSpc>
                <a:spcPts val="2994"/>
              </a:lnSpc>
            </a:pPr>
            <a:r>
              <a:rPr lang="en-US" altLang="zh-CN" sz="2540">
                <a:latin typeface="楷体_GB2312"/>
                <a:ea typeface="楷体_GB2312"/>
                <a:cs typeface="楷体_GB2312"/>
              </a:rPr>
              <a:t>力学链并没有终止。</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3"/>
          <p:cNvSpPr/>
          <p:nvPr/>
        </p:nvSpPr>
        <p:spPr>
          <a:xfrm>
            <a:off x="8902782" y="4481726"/>
            <a:ext cx="126730" cy="372990"/>
          </a:xfrm>
          <a:custGeom>
            <a:avLst/>
            <a:gdLst>
              <a:gd name="connsiteX0" fmla="*/ 133597 w 140715"/>
              <a:gd name="connsiteY0" fmla="*/ 7118 h 412000"/>
              <a:gd name="connsiteX1" fmla="*/ 7118 w 140715"/>
              <a:gd name="connsiteY1" fmla="*/ 404882 h 412000"/>
            </a:gdLst>
            <a:ahLst/>
            <a:cxnLst>
              <a:cxn ang="0">
                <a:pos x="connsiteX0" y="connsiteY0"/>
              </a:cxn>
              <a:cxn ang="1">
                <a:pos x="connsiteX1" y="connsiteY1"/>
              </a:cxn>
            </a:cxnLst>
            <a:rect l="l" t="t" r="r" b="b"/>
            <a:pathLst>
              <a:path w="140715" h="412000">
                <a:moveTo>
                  <a:pt x="133597" y="7118"/>
                </a:moveTo>
                <a:lnTo>
                  <a:pt x="7118" y="40488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4" name="Freeform 3"/>
          <p:cNvSpPr/>
          <p:nvPr/>
        </p:nvSpPr>
        <p:spPr>
          <a:xfrm>
            <a:off x="3709734" y="5504204"/>
            <a:ext cx="663892" cy="28802"/>
          </a:xfrm>
          <a:custGeom>
            <a:avLst/>
            <a:gdLst>
              <a:gd name="connsiteX0" fmla="*/ 7931 w 732904"/>
              <a:gd name="connsiteY0" fmla="*/ 7931 h 31724"/>
              <a:gd name="connsiteX1" fmla="*/ 724972 w 732904"/>
              <a:gd name="connsiteY1" fmla="*/ 7931 h 31724"/>
            </a:gdLst>
            <a:ahLst/>
            <a:cxnLst>
              <a:cxn ang="0">
                <a:pos x="connsiteX0" y="connsiteY0"/>
              </a:cxn>
              <a:cxn ang="1">
                <a:pos x="connsiteX1" y="connsiteY1"/>
              </a:cxn>
            </a:cxnLst>
            <a:rect l="l" t="t" r="r" b="b"/>
            <a:pathLst>
              <a:path w="732904" h="31724">
                <a:moveTo>
                  <a:pt x="7931" y="7931"/>
                </a:moveTo>
                <a:lnTo>
                  <a:pt x="724972" y="793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5" name="Freeform 3"/>
          <p:cNvSpPr/>
          <p:nvPr/>
        </p:nvSpPr>
        <p:spPr>
          <a:xfrm>
            <a:off x="5285219" y="5504204"/>
            <a:ext cx="606287" cy="28802"/>
          </a:xfrm>
          <a:custGeom>
            <a:avLst/>
            <a:gdLst>
              <a:gd name="connsiteX0" fmla="*/ 7931 w 669658"/>
              <a:gd name="connsiteY0" fmla="*/ 7931 h 31724"/>
              <a:gd name="connsiteX1" fmla="*/ 661727 w 669658"/>
              <a:gd name="connsiteY1" fmla="*/ 7931 h 31724"/>
            </a:gdLst>
            <a:ahLst/>
            <a:cxnLst>
              <a:cxn ang="0">
                <a:pos x="connsiteX0" y="connsiteY0"/>
              </a:cxn>
              <a:cxn ang="1">
                <a:pos x="connsiteX1" y="connsiteY1"/>
              </a:cxn>
            </a:cxnLst>
            <a:rect l="l" t="t" r="r" b="b"/>
            <a:pathLst>
              <a:path w="669658" h="31724">
                <a:moveTo>
                  <a:pt x="7931" y="7931"/>
                </a:moveTo>
                <a:lnTo>
                  <a:pt x="661727" y="793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6" name="Freeform 3"/>
          <p:cNvSpPr/>
          <p:nvPr/>
        </p:nvSpPr>
        <p:spPr>
          <a:xfrm>
            <a:off x="6831901" y="5504204"/>
            <a:ext cx="589006" cy="28802"/>
          </a:xfrm>
          <a:custGeom>
            <a:avLst/>
            <a:gdLst>
              <a:gd name="connsiteX0" fmla="*/ 7931 w 649084"/>
              <a:gd name="connsiteY0" fmla="*/ 7931 h 31724"/>
              <a:gd name="connsiteX1" fmla="*/ 641153 w 649084"/>
              <a:gd name="connsiteY1" fmla="*/ 7931 h 31724"/>
            </a:gdLst>
            <a:ahLst/>
            <a:cxnLst>
              <a:cxn ang="0">
                <a:pos x="connsiteX0" y="connsiteY0"/>
              </a:cxn>
              <a:cxn ang="1">
                <a:pos x="connsiteX1" y="connsiteY1"/>
              </a:cxn>
            </a:cxnLst>
            <a:rect l="l" t="t" r="r" b="b"/>
            <a:pathLst>
              <a:path w="649084" h="31724">
                <a:moveTo>
                  <a:pt x="7931" y="7931"/>
                </a:moveTo>
                <a:lnTo>
                  <a:pt x="641153" y="793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08550"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93</a:t>
            </a:r>
          </a:p>
        </p:txBody>
      </p:sp>
      <p:sp>
        <p:nvSpPr>
          <p:cNvPr id="108551" name="TextBox 1"/>
          <p:cNvSpPr txBox="1">
            <a:spLocks noChangeArrowheads="1"/>
          </p:cNvSpPr>
          <p:nvPr/>
        </p:nvSpPr>
        <p:spPr bwMode="auto">
          <a:xfrm>
            <a:off x="2684373" y="1330757"/>
            <a:ext cx="195245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平均聚合度：</a:t>
            </a:r>
          </a:p>
        </p:txBody>
      </p:sp>
      <p:grpSp>
        <p:nvGrpSpPr>
          <p:cNvPr id="108552" name="组合 2"/>
          <p:cNvGrpSpPr>
            <a:grpSpLocks/>
          </p:cNvGrpSpPr>
          <p:nvPr/>
        </p:nvGrpSpPr>
        <p:grpSpPr bwMode="auto">
          <a:xfrm>
            <a:off x="4848861" y="1156503"/>
            <a:ext cx="2057922" cy="1022156"/>
            <a:chOff x="5715000" y="876300"/>
            <a:chExt cx="2268538" cy="1126768"/>
          </a:xfrm>
        </p:grpSpPr>
        <p:sp>
          <p:nvSpPr>
            <p:cNvPr id="12" name="Freeform 3"/>
            <p:cNvSpPr/>
            <p:nvPr/>
          </p:nvSpPr>
          <p:spPr>
            <a:xfrm>
              <a:off x="6203950" y="1500188"/>
              <a:ext cx="430213" cy="26988"/>
            </a:xfrm>
            <a:custGeom>
              <a:avLst/>
              <a:gdLst>
                <a:gd name="connsiteX0" fmla="*/ 6693 w 429425"/>
                <a:gd name="connsiteY0" fmla="*/ 6692 h 26771"/>
                <a:gd name="connsiteX1" fmla="*/ 422732 w 429425"/>
                <a:gd name="connsiteY1" fmla="*/ 6692 h 26771"/>
              </a:gdLst>
              <a:ahLst/>
              <a:cxnLst>
                <a:cxn ang="0">
                  <a:pos x="connsiteX0" y="connsiteY0"/>
                </a:cxn>
                <a:cxn ang="1">
                  <a:pos x="connsiteX1" y="connsiteY1"/>
                </a:cxn>
              </a:cxnLst>
              <a:rect l="l" t="t" r="r" b="b"/>
              <a:pathLst>
                <a:path w="429425" h="26771">
                  <a:moveTo>
                    <a:pt x="6693" y="6692"/>
                  </a:moveTo>
                  <a:lnTo>
                    <a:pt x="422732" y="669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6962775" y="1500188"/>
              <a:ext cx="1020763" cy="26988"/>
            </a:xfrm>
            <a:custGeom>
              <a:avLst/>
              <a:gdLst>
                <a:gd name="connsiteX0" fmla="*/ 6692 w 1020749"/>
                <a:gd name="connsiteY0" fmla="*/ 6692 h 26771"/>
                <a:gd name="connsiteX1" fmla="*/ 1014056 w 1020749"/>
                <a:gd name="connsiteY1" fmla="*/ 6692 h 26771"/>
              </a:gdLst>
              <a:ahLst/>
              <a:cxnLst>
                <a:cxn ang="0">
                  <a:pos x="connsiteX0" y="connsiteY0"/>
                </a:cxn>
                <a:cxn ang="1">
                  <a:pos x="connsiteX1" y="connsiteY1"/>
                </a:cxn>
              </a:cxnLst>
              <a:rect l="l" t="t" r="r" b="b"/>
              <a:pathLst>
                <a:path w="1020749" h="26771">
                  <a:moveTo>
                    <a:pt x="6692" y="6692"/>
                  </a:moveTo>
                  <a:lnTo>
                    <a:pt x="1014056" y="669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 name="TextBox 1"/>
            <p:cNvSpPr txBox="1"/>
            <p:nvPr/>
          </p:nvSpPr>
          <p:spPr>
            <a:xfrm>
              <a:off x="6985000" y="876300"/>
              <a:ext cx="994856" cy="583768"/>
            </a:xfrm>
            <a:prstGeom prst="rect">
              <a:avLst/>
            </a:prstGeom>
            <a:noFill/>
          </p:spPr>
          <p:txBody>
            <a:bodyPr wrap="none" lIns="0" tIns="0" rIns="0">
              <a:spAutoFit/>
            </a:bodyPr>
            <a:lstStyle/>
            <a:p>
              <a:pPr>
                <a:lnSpc>
                  <a:spcPts val="4082"/>
                </a:lnSpc>
                <a:defRPr/>
              </a:pPr>
              <a:r>
                <a:rPr lang="en-US" altLang="zh-CN" sz="2299" b="1" i="1" dirty="0">
                  <a:latin typeface="Times New Roman" pitchFamily="18" charset="0"/>
                  <a:cs typeface="Times New Roman" pitchFamily="18" charset="0"/>
                </a:rPr>
                <a:t>k</a:t>
              </a:r>
              <a:r>
                <a:rPr lang="en-US" altLang="zh-CN" sz="1341" b="1" dirty="0">
                  <a:latin typeface="Times New Roman" pitchFamily="18" charset="0"/>
                  <a:cs typeface="Times New Roman" pitchFamily="18" charset="0"/>
                </a:rPr>
                <a:t>2</a:t>
              </a:r>
              <a:r>
                <a:rPr lang="en-US" altLang="zh-CN" sz="1341" dirty="0">
                  <a:latin typeface="Times New Roman" pitchFamily="18" charset="0"/>
                  <a:cs typeface="Times New Roman" pitchFamily="18" charset="0"/>
                </a:rPr>
                <a:t> </a:t>
              </a:r>
              <a:r>
                <a:rPr lang="en-US" altLang="zh-CN" sz="1341" b="1" i="1" dirty="0">
                  <a:latin typeface="Times New Roman" pitchFamily="18" charset="0"/>
                  <a:cs typeface="Times New Roman" pitchFamily="18" charset="0"/>
                </a:rPr>
                <a:t>p</a:t>
              </a:r>
              <a:r>
                <a:rPr lang="en-US" altLang="zh-CN" sz="3227" dirty="0">
                  <a:latin typeface="Symbol" pitchFamily="18" charset="0"/>
                  <a:cs typeface="Symbol" pitchFamily="18" charset="0"/>
                </a:rPr>
                <a:t>[</a:t>
              </a:r>
              <a:r>
                <a:rPr lang="en-US" altLang="zh-CN" sz="2299" b="1" i="1" dirty="0">
                  <a:latin typeface="Times New Roman" pitchFamily="18" charset="0"/>
                  <a:cs typeface="Times New Roman" pitchFamily="18" charset="0"/>
                </a:rPr>
                <a:t>M</a:t>
              </a:r>
              <a:r>
                <a:rPr lang="en-US" altLang="zh-CN" sz="3227" dirty="0">
                  <a:latin typeface="Symbol" pitchFamily="18" charset="0"/>
                  <a:cs typeface="Symbol" pitchFamily="18" charset="0"/>
                </a:rPr>
                <a:t>]</a:t>
              </a:r>
            </a:p>
          </p:txBody>
        </p:sp>
        <p:sp>
          <p:nvSpPr>
            <p:cNvPr id="32" name="TextBox 1"/>
            <p:cNvSpPr txBox="1"/>
            <p:nvPr/>
          </p:nvSpPr>
          <p:spPr>
            <a:xfrm>
              <a:off x="6297613" y="1084262"/>
              <a:ext cx="312770" cy="870808"/>
            </a:xfrm>
            <a:prstGeom prst="rect">
              <a:avLst/>
            </a:prstGeom>
            <a:noFill/>
          </p:spPr>
          <p:txBody>
            <a:bodyPr wrap="none" lIns="0" tIns="0" rIns="0">
              <a:spAutoFit/>
            </a:bodyPr>
            <a:lstStyle/>
            <a:p>
              <a:pPr>
                <a:lnSpc>
                  <a:spcPts val="2359"/>
                </a:lnSpc>
                <a:tabLst>
                  <a:tab pos="34565" algn="l"/>
                </a:tabLst>
                <a:defRPr/>
              </a:pPr>
              <a:r>
                <a:rPr lang="en-US" altLang="zh-CN" sz="2299" b="1" i="1" dirty="0">
                  <a:latin typeface="Times New Roman" pitchFamily="18" charset="0"/>
                  <a:cs typeface="Times New Roman" pitchFamily="18" charset="0"/>
                </a:rPr>
                <a:t>R</a:t>
              </a:r>
              <a:r>
                <a:rPr lang="en-US" altLang="zh-CN" sz="1341" b="1" i="1" dirty="0">
                  <a:latin typeface="Times New Roman" pitchFamily="18" charset="0"/>
                  <a:cs typeface="Times New Roman" pitchFamily="18" charset="0"/>
                </a:rPr>
                <a:t>p</a:t>
              </a:r>
            </a:p>
            <a:p>
              <a:pPr>
                <a:lnSpc>
                  <a:spcPts val="907"/>
                </a:lnSpc>
                <a:defRPr/>
              </a:pPr>
              <a:endParaRPr lang="en-US" altLang="zh-CN" sz="1633" dirty="0"/>
            </a:p>
            <a:p>
              <a:pPr>
                <a:lnSpc>
                  <a:spcPts val="2540"/>
                </a:lnSpc>
                <a:tabLst>
                  <a:tab pos="34565" algn="l"/>
                </a:tabLst>
                <a:defRPr/>
              </a:pPr>
              <a:r>
                <a:rPr lang="en-US" altLang="zh-CN" sz="1633" dirty="0"/>
                <a:t>	</a:t>
              </a:r>
              <a:r>
                <a:rPr lang="en-US" altLang="zh-CN" sz="2299" b="1" i="1" dirty="0">
                  <a:latin typeface="Times New Roman" pitchFamily="18" charset="0"/>
                  <a:cs typeface="Times New Roman" pitchFamily="18" charset="0"/>
                </a:rPr>
                <a:t>R</a:t>
              </a:r>
              <a:r>
                <a:rPr lang="en-US" altLang="zh-CN" sz="1341" b="1" i="1" dirty="0">
                  <a:latin typeface="Times New Roman" pitchFamily="18" charset="0"/>
                  <a:cs typeface="Times New Roman" pitchFamily="18" charset="0"/>
                </a:rPr>
                <a:t>t</a:t>
              </a:r>
            </a:p>
          </p:txBody>
        </p:sp>
        <p:sp>
          <p:nvSpPr>
            <p:cNvPr id="33" name="TextBox 1"/>
            <p:cNvSpPr txBox="1"/>
            <p:nvPr/>
          </p:nvSpPr>
          <p:spPr>
            <a:xfrm>
              <a:off x="7099300" y="1612901"/>
              <a:ext cx="683853" cy="390167"/>
            </a:xfrm>
            <a:prstGeom prst="rect">
              <a:avLst/>
            </a:prstGeom>
            <a:noFill/>
          </p:spPr>
          <p:txBody>
            <a:bodyPr wrap="none" lIns="0" tIns="0" rIns="0">
              <a:spAutoFit/>
            </a:bodyPr>
            <a:lstStyle/>
            <a:p>
              <a:pPr>
                <a:lnSpc>
                  <a:spcPts val="2359"/>
                </a:lnSpc>
                <a:defRPr/>
              </a:pPr>
              <a:r>
                <a:rPr lang="en-US" altLang="zh-CN" sz="2299" b="1" dirty="0">
                  <a:latin typeface="Times New Roman" pitchFamily="18" charset="0"/>
                  <a:cs typeface="Times New Roman" pitchFamily="18" charset="0"/>
                </a:rPr>
                <a:t>2</a:t>
              </a:r>
              <a:r>
                <a:rPr lang="en-US" altLang="zh-CN" sz="2299" b="1" i="1" dirty="0">
                  <a:latin typeface="Times New Roman" pitchFamily="18" charset="0"/>
                  <a:cs typeface="Times New Roman" pitchFamily="18" charset="0"/>
                </a:rPr>
                <a:t>k</a:t>
              </a:r>
              <a:r>
                <a:rPr lang="en-US" altLang="zh-CN" sz="1341" b="1" i="1" dirty="0">
                  <a:latin typeface="Times New Roman" pitchFamily="18" charset="0"/>
                  <a:cs typeface="Times New Roman" pitchFamily="18" charset="0"/>
                </a:rPr>
                <a:t>t</a:t>
              </a:r>
              <a:r>
                <a:rPr lang="en-US" altLang="zh-CN" sz="2299" b="1" i="1" dirty="0">
                  <a:latin typeface="Times New Roman" pitchFamily="18" charset="0"/>
                  <a:cs typeface="Times New Roman" pitchFamily="18" charset="0"/>
                </a:rPr>
                <a:t>k</a:t>
              </a:r>
              <a:r>
                <a:rPr lang="en-US" altLang="zh-CN" sz="1341" dirty="0">
                  <a:latin typeface="Times New Roman" pitchFamily="18" charset="0"/>
                  <a:cs typeface="Times New Roman" pitchFamily="18" charset="0"/>
                </a:rPr>
                <a:t> </a:t>
              </a:r>
              <a:r>
                <a:rPr lang="en-US" altLang="zh-CN" sz="1341" b="1" i="1" dirty="0">
                  <a:latin typeface="Times New Roman" pitchFamily="18" charset="0"/>
                  <a:cs typeface="Times New Roman" pitchFamily="18" charset="0"/>
                </a:rPr>
                <a:t>p</a:t>
              </a:r>
            </a:p>
          </p:txBody>
        </p:sp>
        <p:sp>
          <p:nvSpPr>
            <p:cNvPr id="34" name="TextBox 1"/>
            <p:cNvSpPr txBox="1"/>
            <p:nvPr/>
          </p:nvSpPr>
          <p:spPr>
            <a:xfrm>
              <a:off x="7823200" y="1041400"/>
              <a:ext cx="95421" cy="222508"/>
            </a:xfrm>
            <a:prstGeom prst="rect">
              <a:avLst/>
            </a:prstGeom>
            <a:noFill/>
          </p:spPr>
          <p:txBody>
            <a:bodyPr wrap="none" lIns="0" tIns="0" rIns="0">
              <a:spAutoFit/>
            </a:bodyPr>
            <a:lstStyle/>
            <a:p>
              <a:pPr>
                <a:lnSpc>
                  <a:spcPts val="1179"/>
                </a:lnSpc>
                <a:defRPr/>
              </a:pPr>
              <a:r>
                <a:rPr lang="en-US" altLang="zh-CN" sz="1341" b="1" dirty="0">
                  <a:latin typeface="Times New Roman" pitchFamily="18" charset="0"/>
                  <a:cs typeface="Times New Roman" pitchFamily="18" charset="0"/>
                </a:rPr>
                <a:t>2</a:t>
              </a:r>
            </a:p>
          </p:txBody>
        </p:sp>
        <p:sp>
          <p:nvSpPr>
            <p:cNvPr id="35" name="TextBox 1"/>
            <p:cNvSpPr txBox="1"/>
            <p:nvPr/>
          </p:nvSpPr>
          <p:spPr>
            <a:xfrm>
              <a:off x="6705601" y="1257300"/>
              <a:ext cx="178474" cy="417663"/>
            </a:xfrm>
            <a:prstGeom prst="rect">
              <a:avLst/>
            </a:prstGeom>
            <a:noFill/>
          </p:spPr>
          <p:txBody>
            <a:bodyPr wrap="none" lIns="0" tIns="0" rIns="0">
              <a:spAutoFit/>
            </a:bodyPr>
            <a:lstStyle/>
            <a:p>
              <a:pPr>
                <a:lnSpc>
                  <a:spcPts val="2812"/>
                </a:lnSpc>
                <a:defRPr/>
              </a:pPr>
              <a:r>
                <a:rPr lang="en-US" altLang="zh-CN" sz="2299" dirty="0">
                  <a:latin typeface="Symbol" pitchFamily="18" charset="0"/>
                  <a:cs typeface="Symbol" pitchFamily="18" charset="0"/>
                </a:rPr>
                <a:t>=</a:t>
              </a:r>
            </a:p>
          </p:txBody>
        </p:sp>
        <p:sp>
          <p:nvSpPr>
            <p:cNvPr id="36" name="TextBox 1"/>
            <p:cNvSpPr txBox="1"/>
            <p:nvPr/>
          </p:nvSpPr>
          <p:spPr>
            <a:xfrm>
              <a:off x="5715000" y="1257300"/>
              <a:ext cx="404657" cy="422752"/>
            </a:xfrm>
            <a:prstGeom prst="rect">
              <a:avLst/>
            </a:prstGeom>
            <a:noFill/>
          </p:spPr>
          <p:txBody>
            <a:bodyPr wrap="none" lIns="0" tIns="0" rIns="0">
              <a:spAutoFit/>
            </a:bodyPr>
            <a:lstStyle/>
            <a:p>
              <a:pPr>
                <a:lnSpc>
                  <a:spcPts val="2812"/>
                </a:lnSpc>
                <a:defRPr/>
              </a:pPr>
              <a:r>
                <a:rPr lang="en-US" altLang="zh-CN" sz="2299" b="1" i="1" dirty="0">
                  <a:latin typeface="Times New Roman" pitchFamily="18" charset="0"/>
                  <a:cs typeface="Times New Roman" pitchFamily="18" charset="0"/>
                </a:rPr>
                <a:t>v</a:t>
              </a:r>
              <a:r>
                <a:rPr lang="en-US" altLang="zh-CN" sz="2299" dirty="0">
                  <a:latin typeface="Times New Roman" pitchFamily="18" charset="0"/>
                  <a:cs typeface="Times New Roman" pitchFamily="18" charset="0"/>
                </a:rPr>
                <a:t> </a:t>
              </a:r>
              <a:r>
                <a:rPr lang="en-US" altLang="zh-CN" sz="2299" dirty="0">
                  <a:latin typeface="Symbol" pitchFamily="18" charset="0"/>
                  <a:cs typeface="Symbol" pitchFamily="18" charset="0"/>
                </a:rPr>
                <a:t>=</a:t>
              </a:r>
            </a:p>
          </p:txBody>
        </p:sp>
      </p:grpSp>
      <p:grpSp>
        <p:nvGrpSpPr>
          <p:cNvPr id="108553" name="组合 4"/>
          <p:cNvGrpSpPr>
            <a:grpSpLocks/>
          </p:cNvGrpSpPr>
          <p:nvPr/>
        </p:nvGrpSpPr>
        <p:grpSpPr bwMode="auto">
          <a:xfrm>
            <a:off x="2576364" y="2239466"/>
            <a:ext cx="6699327" cy="753202"/>
            <a:chOff x="1578768" y="2197100"/>
            <a:chExt cx="7384169" cy="830288"/>
          </a:xfrm>
        </p:grpSpPr>
        <p:sp>
          <p:nvSpPr>
            <p:cNvPr id="14" name="Freeform 3"/>
            <p:cNvSpPr/>
            <p:nvPr/>
          </p:nvSpPr>
          <p:spPr>
            <a:xfrm>
              <a:off x="1596229" y="2347912"/>
              <a:ext cx="369847" cy="25400"/>
            </a:xfrm>
            <a:custGeom>
              <a:avLst/>
              <a:gdLst>
                <a:gd name="connsiteX0" fmla="*/ 6350 w 369315"/>
                <a:gd name="connsiteY0" fmla="*/ 6350 h 24739"/>
                <a:gd name="connsiteX1" fmla="*/ 362966 w 369315"/>
                <a:gd name="connsiteY1" fmla="*/ 6350 h 24739"/>
              </a:gdLst>
              <a:ahLst/>
              <a:cxnLst>
                <a:cxn ang="0">
                  <a:pos x="connsiteX0" y="connsiteY0"/>
                </a:cxn>
                <a:cxn ang="1">
                  <a:pos x="connsiteX1" y="connsiteY1"/>
                </a:cxn>
              </a:cxnLst>
              <a:rect l="l" t="t" r="r" b="b"/>
              <a:pathLst>
                <a:path w="369315" h="24739">
                  <a:moveTo>
                    <a:pt x="6350" y="6350"/>
                  </a:moveTo>
                  <a:lnTo>
                    <a:pt x="362966"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2261320" y="2551112"/>
              <a:ext cx="3558793" cy="23813"/>
            </a:xfrm>
            <a:custGeom>
              <a:avLst/>
              <a:gdLst>
                <a:gd name="connsiteX0" fmla="*/ 6350 w 3558285"/>
                <a:gd name="connsiteY0" fmla="*/ 6350 h 24739"/>
                <a:gd name="connsiteX1" fmla="*/ 3551935 w 3558285"/>
                <a:gd name="connsiteY1" fmla="*/ 6350 h 24739"/>
              </a:gdLst>
              <a:ahLst/>
              <a:cxnLst>
                <a:cxn ang="0">
                  <a:pos x="connsiteX0" y="connsiteY0"/>
                </a:cxn>
                <a:cxn ang="1">
                  <a:pos x="connsiteX1" y="connsiteY1"/>
                </a:cxn>
              </a:cxnLst>
              <a:rect l="l" t="t" r="r" b="b"/>
              <a:pathLst>
                <a:path w="3558285" h="24739">
                  <a:moveTo>
                    <a:pt x="6350" y="6350"/>
                  </a:moveTo>
                  <a:lnTo>
                    <a:pt x="3551935"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6115356" y="2551112"/>
              <a:ext cx="2834971" cy="23813"/>
            </a:xfrm>
            <a:custGeom>
              <a:avLst/>
              <a:gdLst>
                <a:gd name="connsiteX0" fmla="*/ 6350 w 2835910"/>
                <a:gd name="connsiteY0" fmla="*/ 6350 h 24739"/>
                <a:gd name="connsiteX1" fmla="*/ 2829559 w 2835910"/>
                <a:gd name="connsiteY1" fmla="*/ 6350 h 24739"/>
              </a:gdLst>
              <a:ahLst/>
              <a:cxnLst>
                <a:cxn ang="0">
                  <a:pos x="connsiteX0" y="connsiteY0"/>
                </a:cxn>
                <a:cxn ang="1">
                  <a:pos x="connsiteX1" y="connsiteY1"/>
                </a:cxn>
              </a:cxnLst>
              <a:rect l="l" t="t" r="r" b="b"/>
              <a:pathLst>
                <a:path w="2835910" h="24739">
                  <a:moveTo>
                    <a:pt x="6350" y="6350"/>
                  </a:moveTo>
                  <a:lnTo>
                    <a:pt x="2829559"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7" name="TextBox 1"/>
            <p:cNvSpPr txBox="1"/>
            <p:nvPr/>
          </p:nvSpPr>
          <p:spPr>
            <a:xfrm>
              <a:off x="6261391" y="2227262"/>
              <a:ext cx="2701546" cy="800126"/>
            </a:xfrm>
            <a:prstGeom prst="rect">
              <a:avLst/>
            </a:prstGeom>
            <a:noFill/>
          </p:spPr>
          <p:txBody>
            <a:bodyPr wrap="none" lIns="0" tIns="0" rIns="0">
              <a:spAutoFit/>
            </a:bodyPr>
            <a:lstStyle/>
            <a:p>
              <a:pPr>
                <a:lnSpc>
                  <a:spcPts val="2177"/>
                </a:lnSpc>
                <a:tabLst>
                  <a:tab pos="1083054" algn="l"/>
                </a:tabLst>
                <a:defRPr/>
              </a:pPr>
              <a:r>
                <a:rPr lang="en-US" altLang="zh-CN" sz="1633" dirty="0"/>
                <a:t>	</a:t>
              </a:r>
              <a:r>
                <a:rPr lang="en-US" altLang="zh-CN" sz="2070" b="1" dirty="0">
                  <a:latin typeface="Times New Roman" pitchFamily="18" charset="0"/>
                  <a:cs typeface="Times New Roman" pitchFamily="18" charset="0"/>
                </a:rPr>
                <a:t>R</a:t>
              </a:r>
              <a:r>
                <a:rPr lang="en-US" altLang="zh-CN" sz="1207" dirty="0">
                  <a:latin typeface="Times New Roman" pitchFamily="18" charset="0"/>
                  <a:cs typeface="Times New Roman" pitchFamily="18" charset="0"/>
                </a:rPr>
                <a:t> </a:t>
              </a:r>
              <a:r>
                <a:rPr lang="en-US" altLang="zh-CN" sz="1207" b="1" i="1" dirty="0">
                  <a:latin typeface="Times New Roman" pitchFamily="18" charset="0"/>
                  <a:cs typeface="Times New Roman" pitchFamily="18" charset="0"/>
                </a:rPr>
                <a:t>p</a:t>
              </a:r>
            </a:p>
            <a:p>
              <a:pPr>
                <a:lnSpc>
                  <a:spcPts val="3084"/>
                </a:lnSpc>
                <a:tabLst>
                  <a:tab pos="1083054" algn="l"/>
                </a:tabLst>
                <a:defRPr/>
              </a:pPr>
              <a:r>
                <a:rPr lang="en-US" altLang="zh-CN" sz="2070" b="1" i="1" dirty="0">
                  <a:latin typeface="Times New Roman" pitchFamily="18" charset="0"/>
                  <a:cs typeface="Times New Roman" pitchFamily="18" charset="0"/>
                </a:rPr>
                <a:t>R</a:t>
              </a:r>
              <a:r>
                <a:rPr lang="en-US" altLang="zh-CN" sz="1207" b="1" i="1" dirty="0">
                  <a:latin typeface="Times New Roman" pitchFamily="18" charset="0"/>
                  <a:cs typeface="Times New Roman" pitchFamily="18" charset="0"/>
                </a:rPr>
                <a:t>t</a:t>
              </a:r>
              <a:r>
                <a:rPr lang="en-US" altLang="zh-CN" sz="2070" dirty="0">
                  <a:latin typeface="Times New Roman" pitchFamily="18" charset="0"/>
                  <a:cs typeface="Times New Roman" pitchFamily="18" charset="0"/>
                </a:rPr>
                <a:t> </a:t>
              </a:r>
              <a:r>
                <a:rPr lang="en-US" altLang="zh-CN" sz="2070" dirty="0">
                  <a:latin typeface="Symbol" pitchFamily="18" charset="0"/>
                  <a:cs typeface="Symbol" pitchFamily="18" charset="0"/>
                </a:rPr>
                <a:t>+</a:t>
              </a:r>
              <a:r>
                <a:rPr lang="en-US" altLang="zh-CN" sz="3116" dirty="0">
                  <a:latin typeface="Symbol" pitchFamily="18" charset="0"/>
                  <a:cs typeface="Symbol" pitchFamily="18" charset="0"/>
                </a:rPr>
                <a:t>(</a:t>
              </a:r>
              <a:r>
                <a:rPr lang="en-US" altLang="zh-CN" sz="2070" b="1" i="1" dirty="0">
                  <a:latin typeface="Times New Roman" pitchFamily="18" charset="0"/>
                  <a:cs typeface="Times New Roman" pitchFamily="18" charset="0"/>
                </a:rPr>
                <a:t>R</a:t>
              </a:r>
              <a:r>
                <a:rPr lang="en-US" altLang="zh-CN" sz="1207" b="1" i="1" dirty="0">
                  <a:latin typeface="Times New Roman" pitchFamily="18" charset="0"/>
                  <a:cs typeface="Times New Roman" pitchFamily="18" charset="0"/>
                </a:rPr>
                <a:t>tr</a:t>
              </a:r>
              <a:r>
                <a:rPr lang="en-US" altLang="zh-CN" sz="1207" b="1" dirty="0">
                  <a:latin typeface="Times New Roman" pitchFamily="18" charset="0"/>
                  <a:cs typeface="Times New Roman" pitchFamily="18" charset="0"/>
                </a:rPr>
                <a:t>,</a:t>
              </a:r>
              <a:r>
                <a:rPr lang="en-US" altLang="zh-CN" sz="1207" b="1" i="1" dirty="0">
                  <a:latin typeface="Times New Roman" pitchFamily="18" charset="0"/>
                  <a:cs typeface="Times New Roman" pitchFamily="18" charset="0"/>
                </a:rPr>
                <a:t>m</a:t>
              </a:r>
              <a:r>
                <a:rPr lang="en-US" altLang="zh-CN" sz="2070" dirty="0">
                  <a:latin typeface="Times New Roman" pitchFamily="18" charset="0"/>
                  <a:cs typeface="Times New Roman" pitchFamily="18" charset="0"/>
                </a:rPr>
                <a:t> </a:t>
              </a:r>
              <a:r>
                <a:rPr lang="en-US" altLang="zh-CN" sz="2070" dirty="0">
                  <a:latin typeface="Symbol" pitchFamily="18" charset="0"/>
                  <a:cs typeface="Symbol" pitchFamily="18" charset="0"/>
                </a:rPr>
                <a:t>+</a:t>
              </a:r>
              <a:r>
                <a:rPr lang="en-US" altLang="zh-CN" sz="2070" dirty="0">
                  <a:latin typeface="Times New Roman" pitchFamily="18" charset="0"/>
                  <a:cs typeface="Times New Roman" pitchFamily="18" charset="0"/>
                </a:rPr>
                <a:t> </a:t>
              </a:r>
              <a:r>
                <a:rPr lang="en-US" altLang="zh-CN" sz="2070" b="1" i="1" dirty="0">
                  <a:latin typeface="Times New Roman" pitchFamily="18" charset="0"/>
                  <a:cs typeface="Times New Roman" pitchFamily="18" charset="0"/>
                </a:rPr>
                <a:t>R</a:t>
              </a:r>
              <a:r>
                <a:rPr lang="en-US" altLang="zh-CN" sz="1207" b="1" i="1" dirty="0">
                  <a:latin typeface="Times New Roman" pitchFamily="18" charset="0"/>
                  <a:cs typeface="Times New Roman" pitchFamily="18" charset="0"/>
                </a:rPr>
                <a:t>tr</a:t>
              </a:r>
              <a:r>
                <a:rPr lang="en-US" altLang="zh-CN" sz="1207" b="1" dirty="0">
                  <a:latin typeface="Times New Roman" pitchFamily="18" charset="0"/>
                  <a:cs typeface="Times New Roman" pitchFamily="18" charset="0"/>
                </a:rPr>
                <a:t>,</a:t>
              </a:r>
              <a:r>
                <a:rPr lang="en-US" altLang="zh-CN" sz="1207" b="1" i="1" dirty="0">
                  <a:latin typeface="Times New Roman" pitchFamily="18" charset="0"/>
                  <a:cs typeface="Times New Roman" pitchFamily="18" charset="0"/>
                </a:rPr>
                <a:t>I</a:t>
              </a:r>
              <a:r>
                <a:rPr lang="en-US" altLang="zh-CN" sz="2070" dirty="0">
                  <a:latin typeface="Times New Roman" pitchFamily="18" charset="0"/>
                  <a:cs typeface="Times New Roman" pitchFamily="18" charset="0"/>
                </a:rPr>
                <a:t> </a:t>
              </a:r>
              <a:r>
                <a:rPr lang="en-US" altLang="zh-CN" sz="2070" dirty="0">
                  <a:latin typeface="Symbol" pitchFamily="18" charset="0"/>
                  <a:cs typeface="Symbol" pitchFamily="18" charset="0"/>
                </a:rPr>
                <a:t>+</a:t>
              </a:r>
              <a:r>
                <a:rPr lang="en-US" altLang="zh-CN" sz="2070" dirty="0">
                  <a:latin typeface="Times New Roman" pitchFamily="18" charset="0"/>
                  <a:cs typeface="Times New Roman" pitchFamily="18" charset="0"/>
                </a:rPr>
                <a:t> </a:t>
              </a:r>
              <a:r>
                <a:rPr lang="en-US" altLang="zh-CN" sz="2070" b="1" i="1" dirty="0">
                  <a:latin typeface="Times New Roman" pitchFamily="18" charset="0"/>
                  <a:cs typeface="Times New Roman" pitchFamily="18" charset="0"/>
                </a:rPr>
                <a:t>R</a:t>
              </a:r>
              <a:r>
                <a:rPr lang="en-US" altLang="zh-CN" sz="1207" b="1" i="1" dirty="0">
                  <a:latin typeface="Times New Roman" pitchFamily="18" charset="0"/>
                  <a:cs typeface="Times New Roman" pitchFamily="18" charset="0"/>
                </a:rPr>
                <a:t>tr</a:t>
              </a:r>
              <a:r>
                <a:rPr lang="en-US" altLang="zh-CN" sz="1207" b="1" dirty="0">
                  <a:latin typeface="Times New Roman" pitchFamily="18" charset="0"/>
                  <a:cs typeface="Times New Roman" pitchFamily="18" charset="0"/>
                </a:rPr>
                <a:t>,</a:t>
              </a:r>
              <a:r>
                <a:rPr lang="en-US" altLang="zh-CN" sz="1207" b="1" i="1" dirty="0">
                  <a:latin typeface="Times New Roman" pitchFamily="18" charset="0"/>
                  <a:cs typeface="Times New Roman" pitchFamily="18" charset="0"/>
                </a:rPr>
                <a:t>s</a:t>
              </a:r>
              <a:r>
                <a:rPr lang="en-US" altLang="zh-CN" sz="3116" dirty="0">
                  <a:latin typeface="Symbol" pitchFamily="18" charset="0"/>
                  <a:cs typeface="Symbol" pitchFamily="18" charset="0"/>
                </a:rPr>
                <a:t>)</a:t>
              </a:r>
            </a:p>
          </p:txBody>
        </p:sp>
        <p:sp>
          <p:nvSpPr>
            <p:cNvPr id="38" name="TextBox 1"/>
            <p:cNvSpPr txBox="1"/>
            <p:nvPr/>
          </p:nvSpPr>
          <p:spPr>
            <a:xfrm>
              <a:off x="5880432" y="2336800"/>
              <a:ext cx="160786" cy="390167"/>
            </a:xfrm>
            <a:prstGeom prst="rect">
              <a:avLst/>
            </a:prstGeom>
            <a:noFill/>
          </p:spPr>
          <p:txBody>
            <a:bodyPr wrap="none" lIns="0" tIns="0" rIns="0">
              <a:spAutoFit/>
            </a:bodyPr>
            <a:lstStyle/>
            <a:p>
              <a:pPr>
                <a:lnSpc>
                  <a:spcPts val="2449"/>
                </a:lnSpc>
                <a:defRPr/>
              </a:pPr>
              <a:r>
                <a:rPr lang="en-US" altLang="zh-CN" sz="2070" dirty="0">
                  <a:latin typeface="Symbol" pitchFamily="18" charset="0"/>
                  <a:cs typeface="Symbol" pitchFamily="18" charset="0"/>
                </a:rPr>
                <a:t>=</a:t>
              </a:r>
            </a:p>
          </p:txBody>
        </p:sp>
        <p:sp>
          <p:nvSpPr>
            <p:cNvPr id="39" name="TextBox 1"/>
            <p:cNvSpPr txBox="1"/>
            <p:nvPr/>
          </p:nvSpPr>
          <p:spPr>
            <a:xfrm>
              <a:off x="1578768" y="2344737"/>
              <a:ext cx="522994" cy="415330"/>
            </a:xfrm>
            <a:prstGeom prst="rect">
              <a:avLst/>
            </a:prstGeom>
            <a:noFill/>
          </p:spPr>
          <p:txBody>
            <a:bodyPr wrap="none" lIns="0" tIns="0" rIns="0">
              <a:spAutoFit/>
            </a:bodyPr>
            <a:lstStyle/>
            <a:p>
              <a:pPr>
                <a:lnSpc>
                  <a:spcPts val="2812"/>
                </a:lnSpc>
                <a:defRPr/>
              </a:pPr>
              <a:r>
                <a:rPr lang="en-US" altLang="zh-CN" sz="2070" b="1" i="1" dirty="0">
                  <a:latin typeface="Times New Roman" pitchFamily="18" charset="0"/>
                  <a:cs typeface="Times New Roman" pitchFamily="18" charset="0"/>
                </a:rPr>
                <a:t>X</a:t>
              </a:r>
              <a:r>
                <a:rPr lang="en-US" altLang="zh-CN" sz="1207" b="1" i="1" dirty="0">
                  <a:latin typeface="Times New Roman" pitchFamily="18" charset="0"/>
                  <a:cs typeface="Times New Roman" pitchFamily="18" charset="0"/>
                </a:rPr>
                <a:t>n</a:t>
              </a:r>
              <a:r>
                <a:rPr lang="en-US" altLang="zh-CN" sz="2070" dirty="0">
                  <a:latin typeface="Times New Roman" pitchFamily="18" charset="0"/>
                  <a:cs typeface="Times New Roman" pitchFamily="18" charset="0"/>
                </a:rPr>
                <a:t> </a:t>
              </a:r>
              <a:r>
                <a:rPr lang="en-US" altLang="zh-CN" sz="2070" dirty="0">
                  <a:latin typeface="Symbol" pitchFamily="18" charset="0"/>
                  <a:cs typeface="Symbol" pitchFamily="18" charset="0"/>
                </a:rPr>
                <a:t>=</a:t>
              </a:r>
            </a:p>
          </p:txBody>
        </p:sp>
        <p:sp>
          <p:nvSpPr>
            <p:cNvPr id="108590" name="TextBox 1"/>
            <p:cNvSpPr txBox="1">
              <a:spLocks noChangeArrowheads="1"/>
            </p:cNvSpPr>
            <p:nvPr/>
          </p:nvSpPr>
          <p:spPr bwMode="auto">
            <a:xfrm>
              <a:off x="2273300" y="2197100"/>
              <a:ext cx="3392392" cy="708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1181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181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181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181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181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181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181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181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181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1996"/>
                </a:lnSpc>
              </a:pPr>
              <a:r>
                <a:rPr lang="en-US" altLang="zh-CN" sz="1633"/>
                <a:t>	</a:t>
              </a:r>
              <a:r>
                <a:rPr lang="en-US" altLang="zh-CN" sz="1996">
                  <a:latin typeface="楷体_GB2312"/>
                  <a:ea typeface="楷体_GB2312"/>
                  <a:cs typeface="楷体_GB2312"/>
                </a:rPr>
                <a:t>增长速率</a:t>
              </a:r>
            </a:p>
            <a:p>
              <a:pPr eaLnBrk="1" hangingPunct="1">
                <a:lnSpc>
                  <a:spcPts val="2903"/>
                </a:lnSpc>
              </a:pPr>
              <a:r>
                <a:rPr lang="en-US" altLang="zh-CN" sz="1996">
                  <a:latin typeface="楷体_GB2312"/>
                  <a:ea typeface="楷体_GB2312"/>
                  <a:cs typeface="楷体_GB2312"/>
                </a:rPr>
                <a:t>形成大分子的所有终止速率</a:t>
              </a:r>
            </a:p>
          </p:txBody>
        </p:sp>
      </p:grpSp>
      <p:grpSp>
        <p:nvGrpSpPr>
          <p:cNvPr id="108554" name="组合 3"/>
          <p:cNvGrpSpPr>
            <a:grpSpLocks/>
          </p:cNvGrpSpPr>
          <p:nvPr/>
        </p:nvGrpSpPr>
        <p:grpSpPr bwMode="auto">
          <a:xfrm>
            <a:off x="2446753" y="3138098"/>
            <a:ext cx="7455467" cy="977608"/>
            <a:chOff x="1320800" y="3073400"/>
            <a:chExt cx="8218488" cy="1077660"/>
          </a:xfrm>
        </p:grpSpPr>
        <p:sp>
          <p:nvSpPr>
            <p:cNvPr id="17" name="Freeform 3"/>
            <p:cNvSpPr/>
            <p:nvPr/>
          </p:nvSpPr>
          <p:spPr>
            <a:xfrm>
              <a:off x="1362075" y="3689350"/>
              <a:ext cx="652463" cy="36512"/>
            </a:xfrm>
            <a:custGeom>
              <a:avLst/>
              <a:gdLst>
                <a:gd name="connsiteX0" fmla="*/ 8800 w 651589"/>
                <a:gd name="connsiteY0" fmla="*/ 8800 h 35201"/>
                <a:gd name="connsiteX1" fmla="*/ 642789 w 651589"/>
                <a:gd name="connsiteY1" fmla="*/ 8800 h 35201"/>
              </a:gdLst>
              <a:ahLst/>
              <a:cxnLst>
                <a:cxn ang="0">
                  <a:pos x="connsiteX0" y="connsiteY0"/>
                </a:cxn>
                <a:cxn ang="1">
                  <a:pos x="connsiteX1" y="connsiteY1"/>
                </a:cxn>
              </a:cxnLst>
              <a:rect l="l" t="t" r="r" b="b"/>
              <a:pathLst>
                <a:path w="651589" h="35201">
                  <a:moveTo>
                    <a:pt x="8800" y="8800"/>
                  </a:moveTo>
                  <a:lnTo>
                    <a:pt x="642789"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1320800" y="3646487"/>
              <a:ext cx="736600" cy="34925"/>
            </a:xfrm>
            <a:custGeom>
              <a:avLst/>
              <a:gdLst>
                <a:gd name="connsiteX0" fmla="*/ 8800 w 736927"/>
                <a:gd name="connsiteY0" fmla="*/ 8800 h 35201"/>
                <a:gd name="connsiteX1" fmla="*/ 728126 w 736927"/>
                <a:gd name="connsiteY1" fmla="*/ 8800 h 35201"/>
              </a:gdLst>
              <a:ahLst/>
              <a:cxnLst>
                <a:cxn ang="0">
                  <a:pos x="connsiteX0" y="connsiteY0"/>
                </a:cxn>
                <a:cxn ang="1">
                  <a:pos x="connsiteX1" y="connsiteY1"/>
                </a:cxn>
              </a:cxnLst>
              <a:rect l="l" t="t" r="r" b="b"/>
              <a:pathLst>
                <a:path w="736927" h="35201">
                  <a:moveTo>
                    <a:pt x="8800" y="8800"/>
                  </a:moveTo>
                  <a:lnTo>
                    <a:pt x="728126"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2587625" y="3646487"/>
              <a:ext cx="1630363" cy="34925"/>
            </a:xfrm>
            <a:custGeom>
              <a:avLst/>
              <a:gdLst>
                <a:gd name="connsiteX0" fmla="*/ 8800 w 1631527"/>
                <a:gd name="connsiteY0" fmla="*/ 8800 h 35201"/>
                <a:gd name="connsiteX1" fmla="*/ 1622726 w 1631527"/>
                <a:gd name="connsiteY1" fmla="*/ 8800 h 35201"/>
              </a:gdLst>
              <a:ahLst/>
              <a:cxnLst>
                <a:cxn ang="0">
                  <a:pos x="connsiteX0" y="connsiteY0"/>
                </a:cxn>
                <a:cxn ang="1">
                  <a:pos x="connsiteX1" y="connsiteY1"/>
                </a:cxn>
              </a:cxnLst>
              <a:rect l="l" t="t" r="r" b="b"/>
              <a:pathLst>
                <a:path w="1631527" h="35201">
                  <a:moveTo>
                    <a:pt x="8800" y="8800"/>
                  </a:moveTo>
                  <a:lnTo>
                    <a:pt x="1622726"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0" name="Freeform 3"/>
            <p:cNvSpPr/>
            <p:nvPr/>
          </p:nvSpPr>
          <p:spPr>
            <a:xfrm>
              <a:off x="4692650" y="3646487"/>
              <a:ext cx="987425" cy="34925"/>
            </a:xfrm>
            <a:custGeom>
              <a:avLst/>
              <a:gdLst>
                <a:gd name="connsiteX0" fmla="*/ 8800 w 986863"/>
                <a:gd name="connsiteY0" fmla="*/ 8800 h 35201"/>
                <a:gd name="connsiteX1" fmla="*/ 978062 w 986863"/>
                <a:gd name="connsiteY1" fmla="*/ 8800 h 35201"/>
              </a:gdLst>
              <a:ahLst/>
              <a:cxnLst>
                <a:cxn ang="0">
                  <a:pos x="connsiteX0" y="connsiteY0"/>
                </a:cxn>
                <a:cxn ang="1">
                  <a:pos x="connsiteX1" y="connsiteY1"/>
                </a:cxn>
              </a:cxnLst>
              <a:rect l="l" t="t" r="r" b="b"/>
              <a:pathLst>
                <a:path w="986863" h="35201">
                  <a:moveTo>
                    <a:pt x="8800" y="8800"/>
                  </a:moveTo>
                  <a:lnTo>
                    <a:pt x="978062"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Freeform 3"/>
            <p:cNvSpPr/>
            <p:nvPr/>
          </p:nvSpPr>
          <p:spPr>
            <a:xfrm>
              <a:off x="6153150" y="3646487"/>
              <a:ext cx="1433513" cy="34925"/>
            </a:xfrm>
            <a:custGeom>
              <a:avLst/>
              <a:gdLst>
                <a:gd name="connsiteX0" fmla="*/ 8800 w 1434155"/>
                <a:gd name="connsiteY0" fmla="*/ 8800 h 35201"/>
                <a:gd name="connsiteX1" fmla="*/ 1425354 w 1434155"/>
                <a:gd name="connsiteY1" fmla="*/ 8800 h 35201"/>
              </a:gdLst>
              <a:ahLst/>
              <a:cxnLst>
                <a:cxn ang="0">
                  <a:pos x="connsiteX0" y="connsiteY0"/>
                </a:cxn>
                <a:cxn ang="1">
                  <a:pos x="connsiteX1" y="connsiteY1"/>
                </a:cxn>
              </a:cxnLst>
              <a:rect l="l" t="t" r="r" b="b"/>
              <a:pathLst>
                <a:path w="1434155" h="35201">
                  <a:moveTo>
                    <a:pt x="8800" y="8800"/>
                  </a:moveTo>
                  <a:lnTo>
                    <a:pt x="1425354"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2" name="Freeform 3"/>
            <p:cNvSpPr/>
            <p:nvPr/>
          </p:nvSpPr>
          <p:spPr>
            <a:xfrm>
              <a:off x="8061325" y="3646487"/>
              <a:ext cx="1477963" cy="34925"/>
            </a:xfrm>
            <a:custGeom>
              <a:avLst/>
              <a:gdLst>
                <a:gd name="connsiteX0" fmla="*/ 8800 w 1478351"/>
                <a:gd name="connsiteY0" fmla="*/ 8800 h 35201"/>
                <a:gd name="connsiteX1" fmla="*/ 1469551 w 1478351"/>
                <a:gd name="connsiteY1" fmla="*/ 8800 h 35201"/>
              </a:gdLst>
              <a:ahLst/>
              <a:cxnLst>
                <a:cxn ang="0">
                  <a:pos x="connsiteX0" y="connsiteY0"/>
                </a:cxn>
                <a:cxn ang="1">
                  <a:pos x="connsiteX1" y="connsiteY1"/>
                </a:cxn>
              </a:cxnLst>
              <a:rect l="l" t="t" r="r" b="b"/>
              <a:pathLst>
                <a:path w="1478351" h="35201">
                  <a:moveTo>
                    <a:pt x="8800" y="8800"/>
                  </a:moveTo>
                  <a:lnTo>
                    <a:pt x="1469551" y="880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8" name="TextBox 1"/>
            <p:cNvSpPr txBox="1"/>
            <p:nvPr/>
          </p:nvSpPr>
          <p:spPr>
            <a:xfrm>
              <a:off x="3149601" y="3556000"/>
              <a:ext cx="879996" cy="559804"/>
            </a:xfrm>
            <a:prstGeom prst="rect">
              <a:avLst/>
            </a:prstGeom>
            <a:noFill/>
          </p:spPr>
          <p:txBody>
            <a:bodyPr wrap="none" lIns="0" tIns="0" rIns="0">
              <a:spAutoFit/>
            </a:bodyPr>
            <a:lstStyle/>
            <a:p>
              <a:pPr>
                <a:lnSpc>
                  <a:spcPts val="3629"/>
                </a:lnSpc>
                <a:defRPr/>
              </a:pPr>
              <a:r>
                <a:rPr lang="en-US" altLang="zh-CN" sz="3026" dirty="0">
                  <a:latin typeface="Symbol" pitchFamily="18" charset="0"/>
                  <a:cs typeface="Symbol" pitchFamily="18" charset="0"/>
                </a:rPr>
                <a:t>[</a:t>
              </a:r>
              <a:r>
                <a:rPr lang="en-US" altLang="zh-CN" sz="2156" b="1" i="1" dirty="0">
                  <a:latin typeface="Times New Roman" pitchFamily="18" charset="0"/>
                  <a:cs typeface="Times New Roman" pitchFamily="18" charset="0"/>
                </a:rPr>
                <a:t>M</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p>
          </p:txBody>
        </p:sp>
        <p:sp>
          <p:nvSpPr>
            <p:cNvPr id="29" name="TextBox 1"/>
            <p:cNvSpPr txBox="1"/>
            <p:nvPr/>
          </p:nvSpPr>
          <p:spPr>
            <a:xfrm>
              <a:off x="2628900" y="3784600"/>
              <a:ext cx="151967" cy="323797"/>
            </a:xfrm>
            <a:prstGeom prst="rect">
              <a:avLst/>
            </a:prstGeom>
            <a:noFill/>
          </p:spPr>
          <p:txBody>
            <a:bodyPr wrap="none" lIns="0" tIns="0" rIns="0">
              <a:spAutoFit/>
            </a:bodyPr>
            <a:lstStyle/>
            <a:p>
              <a:pPr>
                <a:lnSpc>
                  <a:spcPts val="1905"/>
                </a:lnSpc>
                <a:defRPr/>
              </a:pPr>
              <a:r>
                <a:rPr lang="en-US" altLang="zh-CN" sz="2156" b="1" i="1" dirty="0">
                  <a:latin typeface="Times New Roman" pitchFamily="18" charset="0"/>
                  <a:cs typeface="Times New Roman" pitchFamily="18" charset="0"/>
                </a:rPr>
                <a:t>k</a:t>
              </a:r>
            </a:p>
          </p:txBody>
        </p:sp>
        <p:sp>
          <p:nvSpPr>
            <p:cNvPr id="41" name="TextBox 1"/>
            <p:cNvSpPr txBox="1"/>
            <p:nvPr/>
          </p:nvSpPr>
          <p:spPr>
            <a:xfrm>
              <a:off x="8102600" y="3302000"/>
              <a:ext cx="190136" cy="771852"/>
            </a:xfrm>
            <a:prstGeom prst="rect">
              <a:avLst/>
            </a:prstGeom>
            <a:noFill/>
          </p:spPr>
          <p:txBody>
            <a:bodyPr wrap="none" lIns="0" tIns="0" rIns="0">
              <a:spAutoFit/>
            </a:bodyPr>
            <a:lstStyle/>
            <a:p>
              <a:pPr>
                <a:lnSpc>
                  <a:spcPts val="1905"/>
                </a:lnSpc>
                <a:tabLst>
                  <a:tab pos="34565" algn="l"/>
                </a:tabLst>
                <a:defRPr/>
              </a:pPr>
              <a:r>
                <a:rPr lang="en-US" altLang="zh-CN" sz="2156" b="1" i="1" dirty="0">
                  <a:latin typeface="Times New Roman" pitchFamily="18" charset="0"/>
                  <a:cs typeface="Times New Roman" pitchFamily="18" charset="0"/>
                </a:rPr>
                <a:t>k</a:t>
              </a:r>
            </a:p>
            <a:p>
              <a:pPr>
                <a:lnSpc>
                  <a:spcPts val="907"/>
                </a:lnSpc>
                <a:defRPr/>
              </a:pPr>
              <a:endParaRPr lang="en-US" altLang="zh-CN" sz="1633" dirty="0"/>
            </a:p>
            <a:p>
              <a:pPr>
                <a:lnSpc>
                  <a:spcPts val="2268"/>
                </a:lnSpc>
                <a:tabLst>
                  <a:tab pos="34565" algn="l"/>
                </a:tabLst>
                <a:defRPr/>
              </a:pPr>
              <a:r>
                <a:rPr lang="en-US" altLang="zh-CN" sz="1633" dirty="0"/>
                <a:t>	</a:t>
              </a:r>
              <a:r>
                <a:rPr lang="en-US" altLang="zh-CN" sz="2156" b="1" i="1" dirty="0">
                  <a:latin typeface="Times New Roman" pitchFamily="18" charset="0"/>
                  <a:cs typeface="Times New Roman" pitchFamily="18" charset="0"/>
                </a:rPr>
                <a:t>k</a:t>
              </a:r>
            </a:p>
          </p:txBody>
        </p:sp>
        <p:sp>
          <p:nvSpPr>
            <p:cNvPr id="42" name="TextBox 1"/>
            <p:cNvSpPr txBox="1"/>
            <p:nvPr/>
          </p:nvSpPr>
          <p:spPr>
            <a:xfrm>
              <a:off x="6184900" y="3302000"/>
              <a:ext cx="177412" cy="771852"/>
            </a:xfrm>
            <a:prstGeom prst="rect">
              <a:avLst/>
            </a:prstGeom>
            <a:noFill/>
          </p:spPr>
          <p:txBody>
            <a:bodyPr wrap="none" lIns="0" tIns="0" rIns="0">
              <a:spAutoFit/>
            </a:bodyPr>
            <a:lstStyle/>
            <a:p>
              <a:pPr>
                <a:lnSpc>
                  <a:spcPts val="1905"/>
                </a:lnSpc>
                <a:tabLst>
                  <a:tab pos="23044" algn="l"/>
                </a:tabLst>
                <a:defRPr/>
              </a:pPr>
              <a:r>
                <a:rPr lang="en-US" altLang="zh-CN" sz="2156" b="1" i="1" dirty="0">
                  <a:latin typeface="Times New Roman" pitchFamily="18" charset="0"/>
                  <a:cs typeface="Times New Roman" pitchFamily="18" charset="0"/>
                </a:rPr>
                <a:t>k</a:t>
              </a:r>
            </a:p>
            <a:p>
              <a:pPr>
                <a:lnSpc>
                  <a:spcPts val="907"/>
                </a:lnSpc>
                <a:defRPr/>
              </a:pPr>
              <a:endParaRPr lang="en-US" altLang="zh-CN" sz="1633" dirty="0"/>
            </a:p>
            <a:p>
              <a:pPr>
                <a:lnSpc>
                  <a:spcPts val="2268"/>
                </a:lnSpc>
                <a:tabLst>
                  <a:tab pos="23044" algn="l"/>
                </a:tabLst>
                <a:defRPr/>
              </a:pPr>
              <a:r>
                <a:rPr lang="en-US" altLang="zh-CN" sz="1633" dirty="0"/>
                <a:t>	</a:t>
              </a:r>
              <a:r>
                <a:rPr lang="en-US" altLang="zh-CN" sz="2156" b="1" i="1" dirty="0">
                  <a:latin typeface="Times New Roman" pitchFamily="18" charset="0"/>
                  <a:cs typeface="Times New Roman" pitchFamily="18" charset="0"/>
                </a:rPr>
                <a:t>k</a:t>
              </a:r>
            </a:p>
          </p:txBody>
        </p:sp>
        <p:sp>
          <p:nvSpPr>
            <p:cNvPr id="43" name="TextBox 1"/>
            <p:cNvSpPr txBox="1"/>
            <p:nvPr/>
          </p:nvSpPr>
          <p:spPr>
            <a:xfrm>
              <a:off x="4724400" y="3302000"/>
              <a:ext cx="151967" cy="323797"/>
            </a:xfrm>
            <a:prstGeom prst="rect">
              <a:avLst/>
            </a:prstGeom>
            <a:noFill/>
          </p:spPr>
          <p:txBody>
            <a:bodyPr wrap="none" lIns="0" tIns="0" rIns="0">
              <a:spAutoFit/>
            </a:bodyPr>
            <a:lstStyle/>
            <a:p>
              <a:pPr>
                <a:lnSpc>
                  <a:spcPts val="1905"/>
                </a:lnSpc>
                <a:defRPr/>
              </a:pPr>
              <a:r>
                <a:rPr lang="en-US" altLang="zh-CN" sz="2156" b="1" i="1" dirty="0">
                  <a:latin typeface="Times New Roman" pitchFamily="18" charset="0"/>
                  <a:cs typeface="Times New Roman" pitchFamily="18" charset="0"/>
                </a:rPr>
                <a:t>k</a:t>
              </a:r>
            </a:p>
          </p:txBody>
        </p:sp>
        <p:sp>
          <p:nvSpPr>
            <p:cNvPr id="44" name="TextBox 1"/>
            <p:cNvSpPr txBox="1"/>
            <p:nvPr/>
          </p:nvSpPr>
          <p:spPr>
            <a:xfrm>
              <a:off x="1790701" y="3937000"/>
              <a:ext cx="98955" cy="209078"/>
            </a:xfrm>
            <a:prstGeom prst="rect">
              <a:avLst/>
            </a:prstGeom>
            <a:noFill/>
          </p:spPr>
          <p:txBody>
            <a:bodyPr wrap="none" lIns="0" tIns="0" rIns="0">
              <a:spAutoFit/>
            </a:bodyPr>
            <a:lstStyle/>
            <a:p>
              <a:pPr>
                <a:lnSpc>
                  <a:spcPts val="1089"/>
                </a:lnSpc>
                <a:defRPr/>
              </a:pPr>
              <a:r>
                <a:rPr lang="en-US" altLang="zh-CN" sz="1256" b="1" i="1" dirty="0">
                  <a:latin typeface="Times New Roman" pitchFamily="18" charset="0"/>
                  <a:cs typeface="Times New Roman" pitchFamily="18" charset="0"/>
                </a:rPr>
                <a:t>n</a:t>
              </a:r>
            </a:p>
          </p:txBody>
        </p:sp>
        <p:sp>
          <p:nvSpPr>
            <p:cNvPr id="45" name="TextBox 1"/>
            <p:cNvSpPr txBox="1"/>
            <p:nvPr/>
          </p:nvSpPr>
          <p:spPr>
            <a:xfrm>
              <a:off x="8382000" y="3073400"/>
              <a:ext cx="1153184" cy="1040444"/>
            </a:xfrm>
            <a:prstGeom prst="rect">
              <a:avLst/>
            </a:prstGeom>
            <a:noFill/>
          </p:spPr>
          <p:txBody>
            <a:bodyPr wrap="none" lIns="0" tIns="0" rIns="0">
              <a:spAutoFit/>
            </a:bodyPr>
            <a:lstStyle/>
            <a:p>
              <a:pPr>
                <a:lnSpc>
                  <a:spcPts val="3811"/>
                </a:lnSpc>
                <a:tabLst>
                  <a:tab pos="69131" algn="l"/>
                </a:tabLst>
                <a:defRPr/>
              </a:pPr>
              <a:r>
                <a:rPr lang="en-US" altLang="zh-CN" sz="1256" b="1" i="1" dirty="0">
                  <a:latin typeface="Times New Roman" pitchFamily="18" charset="0"/>
                  <a:cs typeface="Times New Roman" pitchFamily="18" charset="0"/>
                </a:rPr>
                <a:t>tr</a:t>
              </a:r>
              <a:r>
                <a:rPr lang="en-US" altLang="zh-CN" sz="1256" dirty="0">
                  <a:latin typeface="Times New Roman" pitchFamily="18" charset="0"/>
                  <a:cs typeface="Times New Roman" pitchFamily="18" charset="0"/>
                </a:rPr>
                <a:t>   </a:t>
              </a:r>
              <a:r>
                <a:rPr lang="en-US" altLang="zh-CN" sz="1256" b="1" dirty="0">
                  <a:latin typeface="Times New Roman" pitchFamily="18" charset="0"/>
                  <a:cs typeface="Times New Roman" pitchFamily="18" charset="0"/>
                </a:rPr>
                <a:t>,</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s</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r>
                <a:rPr lang="en-US" altLang="zh-CN" sz="2156" b="1" i="1" dirty="0">
                  <a:latin typeface="Times New Roman" pitchFamily="18" charset="0"/>
                  <a:cs typeface="Times New Roman" pitchFamily="18" charset="0"/>
                </a:rPr>
                <a:t>S</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p>
            <a:p>
              <a:pPr>
                <a:lnSpc>
                  <a:spcPts val="3175"/>
                </a:lnSpc>
                <a:tabLst>
                  <a:tab pos="69131" algn="l"/>
                </a:tabLst>
                <a:defRPr/>
              </a:pPr>
              <a:r>
                <a:rPr lang="en-US" altLang="zh-CN" sz="1633" dirty="0"/>
                <a:t>	</a:t>
              </a:r>
              <a:r>
                <a:rPr lang="en-US" altLang="zh-CN" sz="1256" b="1" i="1" dirty="0">
                  <a:latin typeface="Times New Roman" pitchFamily="18" charset="0"/>
                  <a:cs typeface="Times New Roman" pitchFamily="18" charset="0"/>
                </a:rPr>
                <a:t>p</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r>
                <a:rPr lang="en-US" altLang="zh-CN" sz="2156" b="1" i="1" dirty="0">
                  <a:latin typeface="Times New Roman" pitchFamily="18" charset="0"/>
                  <a:cs typeface="Times New Roman" pitchFamily="18" charset="0"/>
                </a:rPr>
                <a:t>M</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p>
          </p:txBody>
        </p:sp>
        <p:sp>
          <p:nvSpPr>
            <p:cNvPr id="46" name="TextBox 1"/>
            <p:cNvSpPr txBox="1"/>
            <p:nvPr/>
          </p:nvSpPr>
          <p:spPr>
            <a:xfrm>
              <a:off x="6464300" y="3073400"/>
              <a:ext cx="1140462" cy="1040444"/>
            </a:xfrm>
            <a:prstGeom prst="rect">
              <a:avLst/>
            </a:prstGeom>
            <a:noFill/>
          </p:spPr>
          <p:txBody>
            <a:bodyPr wrap="none" lIns="0" tIns="0" rIns="0">
              <a:spAutoFit/>
            </a:bodyPr>
            <a:lstStyle/>
            <a:p>
              <a:pPr>
                <a:lnSpc>
                  <a:spcPts val="3811"/>
                </a:lnSpc>
                <a:tabLst>
                  <a:tab pos="57609" algn="l"/>
                </a:tabLst>
                <a:defRPr/>
              </a:pPr>
              <a:r>
                <a:rPr lang="en-US" altLang="zh-CN" sz="1256" b="1" i="1" dirty="0">
                  <a:latin typeface="Times New Roman" pitchFamily="18" charset="0"/>
                  <a:cs typeface="Times New Roman" pitchFamily="18" charset="0"/>
                </a:rPr>
                <a:t>tr</a:t>
              </a:r>
              <a:r>
                <a:rPr lang="en-US" altLang="zh-CN" sz="1256" dirty="0">
                  <a:latin typeface="Times New Roman" pitchFamily="18" charset="0"/>
                  <a:cs typeface="Times New Roman" pitchFamily="18" charset="0"/>
                </a:rPr>
                <a:t>   </a:t>
              </a:r>
              <a:r>
                <a:rPr lang="en-US" altLang="zh-CN" sz="1256" b="1" dirty="0">
                  <a:latin typeface="Times New Roman" pitchFamily="18" charset="0"/>
                  <a:cs typeface="Times New Roman" pitchFamily="18" charset="0"/>
                </a:rPr>
                <a:t>,</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I</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r>
                <a:rPr lang="en-US" altLang="zh-CN" sz="2156" b="1" i="1" dirty="0">
                  <a:latin typeface="Times New Roman" pitchFamily="18" charset="0"/>
                  <a:cs typeface="Times New Roman" pitchFamily="18" charset="0"/>
                </a:rPr>
                <a:t>I</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p>
            <a:p>
              <a:pPr>
                <a:lnSpc>
                  <a:spcPts val="3175"/>
                </a:lnSpc>
                <a:tabLst>
                  <a:tab pos="57609" algn="l"/>
                </a:tabLst>
                <a:defRPr/>
              </a:pPr>
              <a:r>
                <a:rPr lang="en-US" altLang="zh-CN" sz="1633" dirty="0"/>
                <a:t>	</a:t>
              </a:r>
              <a:r>
                <a:rPr lang="en-US" altLang="zh-CN" sz="1256" b="1" i="1" dirty="0">
                  <a:latin typeface="Times New Roman" pitchFamily="18" charset="0"/>
                  <a:cs typeface="Times New Roman" pitchFamily="18" charset="0"/>
                </a:rPr>
                <a:t>p</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r>
                <a:rPr lang="en-US" altLang="zh-CN" sz="2156" b="1" i="1" dirty="0">
                  <a:latin typeface="Times New Roman" pitchFamily="18" charset="0"/>
                  <a:cs typeface="Times New Roman" pitchFamily="18" charset="0"/>
                </a:rPr>
                <a:t>M</a:t>
              </a:r>
              <a:r>
                <a:rPr lang="en-US" altLang="zh-CN" sz="3026" dirty="0">
                  <a:latin typeface="Times New Roman" pitchFamily="18" charset="0"/>
                  <a:cs typeface="Times New Roman" pitchFamily="18" charset="0"/>
                </a:rPr>
                <a:t>   </a:t>
              </a:r>
              <a:r>
                <a:rPr lang="en-US" altLang="zh-CN" sz="3026" dirty="0">
                  <a:latin typeface="Symbol" pitchFamily="18" charset="0"/>
                  <a:cs typeface="Symbol" pitchFamily="18" charset="0"/>
                </a:rPr>
                <a:t>]</a:t>
              </a:r>
            </a:p>
          </p:txBody>
        </p:sp>
        <p:sp>
          <p:nvSpPr>
            <p:cNvPr id="47" name="TextBox 1"/>
            <p:cNvSpPr txBox="1"/>
            <p:nvPr/>
          </p:nvSpPr>
          <p:spPr>
            <a:xfrm>
              <a:off x="4927600" y="3454400"/>
              <a:ext cx="554150" cy="658759"/>
            </a:xfrm>
            <a:prstGeom prst="rect">
              <a:avLst/>
            </a:prstGeom>
            <a:noFill/>
          </p:spPr>
          <p:txBody>
            <a:bodyPr wrap="none" lIns="0" tIns="0" rIns="0">
              <a:spAutoFit/>
            </a:bodyPr>
            <a:lstStyle/>
            <a:p>
              <a:pPr>
                <a:lnSpc>
                  <a:spcPts val="1089"/>
                </a:lnSpc>
                <a:tabLst>
                  <a:tab pos="69131" algn="l"/>
                </a:tabLst>
                <a:defRPr/>
              </a:pPr>
              <a:r>
                <a:rPr lang="en-US" altLang="zh-CN" sz="1633" dirty="0"/>
                <a:t>	</a:t>
              </a:r>
              <a:r>
                <a:rPr lang="en-US" altLang="zh-CN" sz="1256" b="1" i="1" dirty="0">
                  <a:latin typeface="Times New Roman" pitchFamily="18" charset="0"/>
                  <a:cs typeface="Times New Roman" pitchFamily="18" charset="0"/>
                </a:rPr>
                <a:t>tr</a:t>
              </a:r>
              <a:r>
                <a:rPr lang="en-US" altLang="zh-CN" sz="1256" dirty="0">
                  <a:latin typeface="Times New Roman" pitchFamily="18" charset="0"/>
                  <a:cs typeface="Times New Roman" pitchFamily="18" charset="0"/>
                </a:rPr>
                <a:t>   </a:t>
              </a:r>
              <a:r>
                <a:rPr lang="en-US" altLang="zh-CN" sz="1256" b="1" dirty="0">
                  <a:latin typeface="Times New Roman" pitchFamily="18" charset="0"/>
                  <a:cs typeface="Times New Roman" pitchFamily="18" charset="0"/>
                </a:rPr>
                <a:t>,</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m</a:t>
              </a:r>
            </a:p>
            <a:p>
              <a:pPr>
                <a:lnSpc>
                  <a:spcPts val="907"/>
                </a:lnSpc>
                <a:defRPr/>
              </a:pPr>
              <a:endParaRPr lang="en-US" altLang="zh-CN" sz="1633" dirty="0"/>
            </a:p>
            <a:p>
              <a:pPr>
                <a:lnSpc>
                  <a:spcPts val="2268"/>
                </a:lnSpc>
                <a:tabLst>
                  <a:tab pos="69131" algn="l"/>
                </a:tabLst>
                <a:defRPr/>
              </a:pPr>
              <a:r>
                <a:rPr lang="en-US" altLang="zh-CN" sz="2156" b="1" i="1" dirty="0">
                  <a:latin typeface="Times New Roman" pitchFamily="18" charset="0"/>
                  <a:cs typeface="Times New Roman" pitchFamily="18" charset="0"/>
                </a:rPr>
                <a:t>k</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p</a:t>
              </a:r>
            </a:p>
          </p:txBody>
        </p:sp>
        <p:sp>
          <p:nvSpPr>
            <p:cNvPr id="48" name="TextBox 1"/>
            <p:cNvSpPr txBox="1"/>
            <p:nvPr/>
          </p:nvSpPr>
          <p:spPr>
            <a:xfrm>
              <a:off x="3975100" y="3708400"/>
              <a:ext cx="88353" cy="209078"/>
            </a:xfrm>
            <a:prstGeom prst="rect">
              <a:avLst/>
            </a:prstGeom>
            <a:noFill/>
          </p:spPr>
          <p:txBody>
            <a:bodyPr wrap="none" lIns="0" tIns="0" rIns="0">
              <a:spAutoFit/>
            </a:bodyPr>
            <a:lstStyle/>
            <a:p>
              <a:pPr>
                <a:lnSpc>
                  <a:spcPts val="1089"/>
                </a:lnSpc>
                <a:defRPr/>
              </a:pPr>
              <a:r>
                <a:rPr lang="en-US" altLang="zh-CN" sz="1256" b="1" dirty="0">
                  <a:latin typeface="Times New Roman" pitchFamily="18" charset="0"/>
                  <a:cs typeface="Times New Roman" pitchFamily="18" charset="0"/>
                </a:rPr>
                <a:t>2</a:t>
              </a:r>
            </a:p>
          </p:txBody>
        </p:sp>
        <p:sp>
          <p:nvSpPr>
            <p:cNvPr id="49" name="TextBox 1"/>
            <p:cNvSpPr txBox="1"/>
            <p:nvPr/>
          </p:nvSpPr>
          <p:spPr>
            <a:xfrm>
              <a:off x="2768600" y="3289301"/>
              <a:ext cx="1182163" cy="861759"/>
            </a:xfrm>
            <a:prstGeom prst="rect">
              <a:avLst/>
            </a:prstGeom>
            <a:noFill/>
          </p:spPr>
          <p:txBody>
            <a:bodyPr wrap="none" lIns="0" tIns="0" rIns="0">
              <a:spAutoFit/>
            </a:bodyPr>
            <a:lstStyle/>
            <a:p>
              <a:pPr>
                <a:lnSpc>
                  <a:spcPts val="2268"/>
                </a:lnSpc>
                <a:tabLst>
                  <a:tab pos="161306" algn="l"/>
                </a:tabLst>
                <a:defRPr/>
              </a:pPr>
              <a:r>
                <a:rPr lang="en-US" altLang="zh-CN" sz="2156" b="1" dirty="0">
                  <a:latin typeface="Times New Roman" pitchFamily="18" charset="0"/>
                  <a:cs typeface="Times New Roman" pitchFamily="18" charset="0"/>
                </a:rPr>
                <a:t>2</a:t>
              </a:r>
              <a:r>
                <a:rPr lang="en-US" altLang="zh-CN" sz="2156" dirty="0">
                  <a:latin typeface="Times New Roman" pitchFamily="18" charset="0"/>
                  <a:cs typeface="Times New Roman" pitchFamily="18" charset="0"/>
                </a:rPr>
                <a:t> </a:t>
              </a:r>
              <a:r>
                <a:rPr lang="en-US" altLang="zh-CN" sz="2156" b="1" i="1" dirty="0">
                  <a:latin typeface="Times New Roman" pitchFamily="18" charset="0"/>
                  <a:cs typeface="Times New Roman" pitchFamily="18" charset="0"/>
                </a:rPr>
                <a:t>k</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t</a:t>
              </a:r>
              <a:r>
                <a:rPr lang="en-US" altLang="zh-CN" sz="2156" dirty="0">
                  <a:latin typeface="Times New Roman" pitchFamily="18" charset="0"/>
                  <a:cs typeface="Times New Roman" pitchFamily="18" charset="0"/>
                </a:rPr>
                <a:t>  R</a:t>
              </a:r>
              <a:r>
                <a:rPr lang="en-US" altLang="zh-CN" sz="1256" dirty="0">
                  <a:latin typeface="Times New Roman" pitchFamily="18" charset="0"/>
                  <a:cs typeface="Times New Roman" pitchFamily="18" charset="0"/>
                </a:rPr>
                <a:t>    </a:t>
              </a:r>
              <a:r>
                <a:rPr lang="en-US" altLang="zh-CN" sz="1256" b="1" i="1" dirty="0">
                  <a:latin typeface="Times New Roman" pitchFamily="18" charset="0"/>
                  <a:cs typeface="Times New Roman" pitchFamily="18" charset="0"/>
                </a:rPr>
                <a:t>p</a:t>
              </a:r>
            </a:p>
            <a:p>
              <a:pPr>
                <a:lnSpc>
                  <a:spcPts val="907"/>
                </a:lnSpc>
                <a:defRPr/>
              </a:pPr>
              <a:endParaRPr lang="en-US" altLang="zh-CN" sz="1633" dirty="0"/>
            </a:p>
            <a:p>
              <a:pPr>
                <a:lnSpc>
                  <a:spcPts val="907"/>
                </a:lnSpc>
                <a:defRPr/>
              </a:pPr>
              <a:endParaRPr lang="en-US" altLang="zh-CN" sz="1633" dirty="0"/>
            </a:p>
            <a:p>
              <a:pPr>
                <a:lnSpc>
                  <a:spcPts val="1633"/>
                </a:lnSpc>
                <a:tabLst>
                  <a:tab pos="161306" algn="l"/>
                </a:tabLst>
                <a:defRPr/>
              </a:pPr>
              <a:r>
                <a:rPr lang="en-US" altLang="zh-CN" sz="1633" dirty="0"/>
                <a:t>	</a:t>
              </a:r>
              <a:r>
                <a:rPr lang="en-US" altLang="zh-CN" sz="1256" b="1" i="1" dirty="0">
                  <a:latin typeface="Times New Roman" pitchFamily="18" charset="0"/>
                  <a:cs typeface="Times New Roman" pitchFamily="18" charset="0"/>
                </a:rPr>
                <a:t>p</a:t>
              </a:r>
            </a:p>
          </p:txBody>
        </p:sp>
        <p:sp>
          <p:nvSpPr>
            <p:cNvPr id="50" name="TextBox 1"/>
            <p:cNvSpPr txBox="1"/>
            <p:nvPr/>
          </p:nvSpPr>
          <p:spPr>
            <a:xfrm>
              <a:off x="1397000" y="3327400"/>
              <a:ext cx="306055" cy="771852"/>
            </a:xfrm>
            <a:prstGeom prst="rect">
              <a:avLst/>
            </a:prstGeom>
            <a:noFill/>
          </p:spPr>
          <p:txBody>
            <a:bodyPr wrap="none" lIns="0" tIns="0" rIns="0">
              <a:spAutoFit/>
            </a:bodyPr>
            <a:lstStyle/>
            <a:p>
              <a:pPr>
                <a:lnSpc>
                  <a:spcPts val="1905"/>
                </a:lnSpc>
                <a:tabLst>
                  <a:tab pos="138262" algn="l"/>
                </a:tabLst>
                <a:defRPr/>
              </a:pPr>
              <a:r>
                <a:rPr lang="en-US" altLang="zh-CN" sz="1633" dirty="0"/>
                <a:t>	</a:t>
              </a:r>
              <a:r>
                <a:rPr lang="en-US" altLang="zh-CN" sz="2156" b="1" dirty="0">
                  <a:latin typeface="Times New Roman" pitchFamily="18" charset="0"/>
                  <a:cs typeface="Times New Roman" pitchFamily="18" charset="0"/>
                </a:rPr>
                <a:t>1</a:t>
              </a:r>
            </a:p>
            <a:p>
              <a:pPr>
                <a:lnSpc>
                  <a:spcPts val="907"/>
                </a:lnSpc>
                <a:defRPr/>
              </a:pPr>
              <a:endParaRPr lang="en-US" altLang="zh-CN" sz="1633" dirty="0"/>
            </a:p>
            <a:p>
              <a:pPr>
                <a:lnSpc>
                  <a:spcPts val="2268"/>
                </a:lnSpc>
                <a:tabLst>
                  <a:tab pos="138262" algn="l"/>
                </a:tabLst>
                <a:defRPr/>
              </a:pPr>
              <a:r>
                <a:rPr lang="en-US" altLang="zh-CN" sz="2156" b="1" i="1" dirty="0">
                  <a:latin typeface="Times New Roman" pitchFamily="18" charset="0"/>
                  <a:cs typeface="Times New Roman" pitchFamily="18" charset="0"/>
                </a:rPr>
                <a:t>X</a:t>
              </a:r>
            </a:p>
          </p:txBody>
        </p:sp>
        <p:sp>
          <p:nvSpPr>
            <p:cNvPr id="51" name="TextBox 1"/>
            <p:cNvSpPr txBox="1"/>
            <p:nvPr/>
          </p:nvSpPr>
          <p:spPr>
            <a:xfrm>
              <a:off x="7670800" y="3416301"/>
              <a:ext cx="167872" cy="392146"/>
            </a:xfrm>
            <a:prstGeom prst="rect">
              <a:avLst/>
            </a:prstGeom>
            <a:noFill/>
          </p:spPr>
          <p:txBody>
            <a:bodyPr wrap="none" lIns="0" tIns="0" rIns="0">
              <a:spAutoFit/>
            </a:bodyPr>
            <a:lstStyle/>
            <a:p>
              <a:pPr>
                <a:lnSpc>
                  <a:spcPts val="2631"/>
                </a:lnSpc>
                <a:defRPr/>
              </a:pPr>
              <a:r>
                <a:rPr lang="en-US" altLang="zh-CN" sz="2156" dirty="0">
                  <a:latin typeface="Symbol" pitchFamily="18" charset="0"/>
                  <a:cs typeface="Symbol" pitchFamily="18" charset="0"/>
                </a:rPr>
                <a:t>+</a:t>
              </a:r>
            </a:p>
          </p:txBody>
        </p:sp>
        <p:sp>
          <p:nvSpPr>
            <p:cNvPr id="52" name="TextBox 1"/>
            <p:cNvSpPr txBox="1"/>
            <p:nvPr/>
          </p:nvSpPr>
          <p:spPr>
            <a:xfrm>
              <a:off x="5765800" y="3416301"/>
              <a:ext cx="167872" cy="392146"/>
            </a:xfrm>
            <a:prstGeom prst="rect">
              <a:avLst/>
            </a:prstGeom>
            <a:noFill/>
          </p:spPr>
          <p:txBody>
            <a:bodyPr wrap="none" lIns="0" tIns="0" rIns="0">
              <a:spAutoFit/>
            </a:bodyPr>
            <a:lstStyle/>
            <a:p>
              <a:pPr>
                <a:lnSpc>
                  <a:spcPts val="2631"/>
                </a:lnSpc>
                <a:defRPr/>
              </a:pPr>
              <a:r>
                <a:rPr lang="en-US" altLang="zh-CN" sz="2156" dirty="0">
                  <a:latin typeface="Symbol" pitchFamily="18" charset="0"/>
                  <a:cs typeface="Symbol" pitchFamily="18" charset="0"/>
                </a:rPr>
                <a:t>+</a:t>
              </a:r>
            </a:p>
          </p:txBody>
        </p:sp>
        <p:sp>
          <p:nvSpPr>
            <p:cNvPr id="53" name="TextBox 1"/>
            <p:cNvSpPr txBox="1"/>
            <p:nvPr/>
          </p:nvSpPr>
          <p:spPr>
            <a:xfrm>
              <a:off x="4305300" y="3416301"/>
              <a:ext cx="167872" cy="392146"/>
            </a:xfrm>
            <a:prstGeom prst="rect">
              <a:avLst/>
            </a:prstGeom>
            <a:noFill/>
          </p:spPr>
          <p:txBody>
            <a:bodyPr wrap="none" lIns="0" tIns="0" rIns="0">
              <a:spAutoFit/>
            </a:bodyPr>
            <a:lstStyle/>
            <a:p>
              <a:pPr>
                <a:lnSpc>
                  <a:spcPts val="2631"/>
                </a:lnSpc>
                <a:defRPr/>
              </a:pPr>
              <a:r>
                <a:rPr lang="en-US" altLang="zh-CN" sz="2156" dirty="0">
                  <a:latin typeface="Symbol" pitchFamily="18" charset="0"/>
                  <a:cs typeface="Symbol" pitchFamily="18" charset="0"/>
                </a:rPr>
                <a:t>+</a:t>
              </a:r>
            </a:p>
          </p:txBody>
        </p:sp>
        <p:sp>
          <p:nvSpPr>
            <p:cNvPr id="54" name="TextBox 1"/>
            <p:cNvSpPr txBox="1"/>
            <p:nvPr/>
          </p:nvSpPr>
          <p:spPr>
            <a:xfrm>
              <a:off x="2184400" y="3416301"/>
              <a:ext cx="167872" cy="392146"/>
            </a:xfrm>
            <a:prstGeom prst="rect">
              <a:avLst/>
            </a:prstGeom>
            <a:noFill/>
          </p:spPr>
          <p:txBody>
            <a:bodyPr wrap="none" lIns="0" tIns="0" rIns="0">
              <a:spAutoFit/>
            </a:bodyPr>
            <a:lstStyle/>
            <a:p>
              <a:pPr>
                <a:lnSpc>
                  <a:spcPts val="2631"/>
                </a:lnSpc>
                <a:defRPr/>
              </a:pPr>
              <a:r>
                <a:rPr lang="en-US" altLang="zh-CN" sz="2156" dirty="0">
                  <a:latin typeface="Symbol" pitchFamily="18" charset="0"/>
                  <a:cs typeface="Symbol" pitchFamily="18" charset="0"/>
                </a:rPr>
                <a:t>=</a:t>
              </a:r>
            </a:p>
          </p:txBody>
        </p:sp>
      </p:grpSp>
      <p:sp>
        <p:nvSpPr>
          <p:cNvPr id="108555" name="TextBox 1"/>
          <p:cNvSpPr txBox="1">
            <a:spLocks noChangeArrowheads="1"/>
          </p:cNvSpPr>
          <p:nvPr/>
        </p:nvSpPr>
        <p:spPr bwMode="auto">
          <a:xfrm>
            <a:off x="2186093" y="4429881"/>
            <a:ext cx="7218194" cy="450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357"/>
              </a:lnSpc>
            </a:pPr>
            <a:r>
              <a:rPr lang="en-US" altLang="zh-CN" sz="2540">
                <a:latin typeface="楷体_GB2312"/>
                <a:ea typeface="楷体_GB2312"/>
                <a:cs typeface="楷体_GB2312"/>
              </a:rPr>
              <a:t>链转移常数（</a:t>
            </a:r>
            <a:r>
              <a:rPr lang="en-US" altLang="zh-CN" sz="2540" b="1">
                <a:latin typeface="Times New Roman" panose="02020603050405020304" pitchFamily="18" charset="0"/>
                <a:cs typeface="Times New Roman" panose="02020603050405020304" pitchFamily="18" charset="0"/>
              </a:rPr>
              <a:t>Chain</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Transfer</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Constant</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a:t>
            </a:r>
            <a:r>
              <a:rPr lang="en-US" altLang="zh-CN" sz="2359">
                <a:latin typeface="Times New Roman" panose="02020603050405020304" pitchFamily="18" charset="0"/>
                <a:cs typeface="Times New Roman" panose="02020603050405020304" pitchFamily="18" charset="0"/>
              </a:rPr>
              <a:t> </a:t>
            </a:r>
            <a:r>
              <a:rPr lang="en-US" altLang="zh-CN" sz="2359" b="1" i="1">
                <a:latin typeface="Times New Roman" panose="02020603050405020304" pitchFamily="18" charset="0"/>
                <a:cs typeface="Times New Roman" panose="02020603050405020304" pitchFamily="18" charset="0"/>
              </a:rPr>
              <a:t>C</a:t>
            </a:r>
            <a:r>
              <a:rPr lang="en-US" altLang="zh-CN" sz="2359">
                <a:latin typeface="Times New Roman" panose="02020603050405020304" pitchFamily="18" charset="0"/>
                <a:cs typeface="Times New Roman" panose="02020603050405020304" pitchFamily="18" charset="0"/>
              </a:rPr>
              <a:t> </a:t>
            </a:r>
            <a:r>
              <a:rPr lang="en-US" altLang="zh-CN" sz="2359">
                <a:latin typeface="Symbol" panose="05050102010706020507" pitchFamily="18" charset="2"/>
              </a:rPr>
              <a:t>=</a:t>
            </a:r>
            <a:r>
              <a:rPr lang="en-US" altLang="zh-CN" sz="2359">
                <a:latin typeface="Times New Roman" panose="02020603050405020304" pitchFamily="18" charset="0"/>
                <a:cs typeface="Times New Roman" panose="02020603050405020304" pitchFamily="18" charset="0"/>
              </a:rPr>
              <a:t> </a:t>
            </a:r>
            <a:r>
              <a:rPr lang="en-US" altLang="zh-CN" sz="2359" b="1" i="1">
                <a:latin typeface="Times New Roman" panose="02020603050405020304" pitchFamily="18" charset="0"/>
                <a:cs typeface="Times New Roman" panose="02020603050405020304" pitchFamily="18" charset="0"/>
              </a:rPr>
              <a:t>k</a:t>
            </a:r>
            <a:r>
              <a:rPr lang="en-US" altLang="zh-CN" sz="1361" b="1" i="1">
                <a:latin typeface="Times New Roman" panose="02020603050405020304" pitchFamily="18" charset="0"/>
                <a:cs typeface="Times New Roman" panose="02020603050405020304" pitchFamily="18" charset="0"/>
              </a:rPr>
              <a:t>tr</a:t>
            </a:r>
            <a:r>
              <a:rPr lang="en-US" altLang="zh-CN" sz="2359">
                <a:latin typeface="Times New Roman" panose="02020603050405020304" pitchFamily="18" charset="0"/>
                <a:cs typeface="Times New Roman" panose="02020603050405020304" pitchFamily="18" charset="0"/>
              </a:rPr>
              <a:t>   </a:t>
            </a:r>
            <a:r>
              <a:rPr lang="en-US" altLang="zh-CN" sz="2359" b="1" i="1">
                <a:latin typeface="Times New Roman" panose="02020603050405020304" pitchFamily="18" charset="0"/>
                <a:cs typeface="Times New Roman" panose="02020603050405020304" pitchFamily="18" charset="0"/>
              </a:rPr>
              <a:t>k</a:t>
            </a:r>
            <a:r>
              <a:rPr lang="en-US" altLang="zh-CN" sz="1361">
                <a:latin typeface="Times New Roman" panose="02020603050405020304" pitchFamily="18" charset="0"/>
                <a:cs typeface="Times New Roman" panose="02020603050405020304" pitchFamily="18" charset="0"/>
              </a:rPr>
              <a:t> </a:t>
            </a:r>
            <a:r>
              <a:rPr lang="en-US" altLang="zh-CN" sz="1361" b="1" i="1">
                <a:latin typeface="Times New Roman" panose="02020603050405020304" pitchFamily="18" charset="0"/>
                <a:cs typeface="Times New Roman" panose="02020603050405020304" pitchFamily="18" charset="0"/>
              </a:rPr>
              <a:t>p</a:t>
            </a:r>
          </a:p>
        </p:txBody>
      </p:sp>
      <p:sp>
        <p:nvSpPr>
          <p:cNvPr id="56" name="TextBox 1"/>
          <p:cNvSpPr txBox="1"/>
          <p:nvPr/>
        </p:nvSpPr>
        <p:spPr>
          <a:xfrm>
            <a:off x="6852062" y="5100973"/>
            <a:ext cx="439223" cy="931024"/>
          </a:xfrm>
          <a:prstGeom prst="rect">
            <a:avLst/>
          </a:prstGeom>
          <a:noFill/>
        </p:spPr>
        <p:txBody>
          <a:bodyPr wrap="none" lIns="0" tIns="0" rIns="0">
            <a:spAutoFit/>
          </a:bodyPr>
          <a:lstStyle/>
          <a:p>
            <a:pPr>
              <a:lnSpc>
                <a:spcPts val="2812"/>
              </a:lnSpc>
              <a:tabLst>
                <a:tab pos="92175" algn="l"/>
              </a:tabLst>
              <a:defRPr/>
            </a:pPr>
            <a:r>
              <a:rPr lang="en-US" altLang="zh-CN" sz="2725" b="1" i="1" dirty="0">
                <a:latin typeface="Times New Roman" pitchFamily="18" charset="0"/>
                <a:cs typeface="Times New Roman" pitchFamily="18" charset="0"/>
              </a:rPr>
              <a:t>k</a:t>
            </a:r>
            <a:r>
              <a:rPr lang="en-US" altLang="zh-CN" sz="1589" b="1" i="1" dirty="0">
                <a:latin typeface="Times New Roman" pitchFamily="18" charset="0"/>
                <a:cs typeface="Times New Roman" pitchFamily="18" charset="0"/>
              </a:rPr>
              <a:t>tr</a:t>
            </a:r>
            <a:r>
              <a:rPr lang="en-US" altLang="zh-CN" sz="1589" b="1" dirty="0">
                <a:latin typeface="Times New Roman" pitchFamily="18" charset="0"/>
                <a:cs typeface="Times New Roman" pitchFamily="18" charset="0"/>
              </a:rPr>
              <a:t>,</a:t>
            </a:r>
            <a:r>
              <a:rPr lang="en-US" altLang="zh-CN" sz="1589" b="1" i="1" dirty="0">
                <a:latin typeface="Times New Roman" pitchFamily="18" charset="0"/>
                <a:cs typeface="Times New Roman" pitchFamily="18" charset="0"/>
              </a:rPr>
              <a:t>s</a:t>
            </a:r>
          </a:p>
          <a:p>
            <a:pPr>
              <a:lnSpc>
                <a:spcPts val="907"/>
              </a:lnSpc>
              <a:defRPr/>
            </a:pPr>
            <a:endParaRPr lang="en-US" altLang="zh-CN" sz="1633" dirty="0"/>
          </a:p>
          <a:p>
            <a:pPr>
              <a:lnSpc>
                <a:spcPts val="3175"/>
              </a:lnSpc>
              <a:tabLst>
                <a:tab pos="92175" algn="l"/>
              </a:tabLst>
              <a:defRPr/>
            </a:pPr>
            <a:r>
              <a:rPr lang="en-US" altLang="zh-CN" sz="1633" dirty="0"/>
              <a:t>	</a:t>
            </a:r>
            <a:r>
              <a:rPr lang="en-US" altLang="zh-CN" sz="2725" b="1" i="1" dirty="0">
                <a:latin typeface="Times New Roman" pitchFamily="18" charset="0"/>
                <a:cs typeface="Times New Roman" pitchFamily="18" charset="0"/>
              </a:rPr>
              <a:t>k</a:t>
            </a:r>
            <a:r>
              <a:rPr lang="en-US" altLang="zh-CN" sz="1589" dirty="0">
                <a:latin typeface="Times New Roman" pitchFamily="18" charset="0"/>
                <a:cs typeface="Times New Roman" pitchFamily="18" charset="0"/>
              </a:rPr>
              <a:t> </a:t>
            </a:r>
            <a:r>
              <a:rPr lang="en-US" altLang="zh-CN" sz="1589" b="1" i="1" dirty="0">
                <a:latin typeface="Times New Roman" pitchFamily="18" charset="0"/>
                <a:cs typeface="Times New Roman" pitchFamily="18" charset="0"/>
              </a:rPr>
              <a:t>p</a:t>
            </a:r>
          </a:p>
        </p:txBody>
      </p:sp>
      <p:sp>
        <p:nvSpPr>
          <p:cNvPr id="57" name="TextBox 1"/>
          <p:cNvSpPr txBox="1"/>
          <p:nvPr/>
        </p:nvSpPr>
        <p:spPr>
          <a:xfrm>
            <a:off x="5308261" y="5100973"/>
            <a:ext cx="439223" cy="931024"/>
          </a:xfrm>
          <a:prstGeom prst="rect">
            <a:avLst/>
          </a:prstGeom>
          <a:noFill/>
        </p:spPr>
        <p:txBody>
          <a:bodyPr wrap="none" lIns="0" tIns="0" rIns="0">
            <a:spAutoFit/>
          </a:bodyPr>
          <a:lstStyle/>
          <a:p>
            <a:pPr>
              <a:lnSpc>
                <a:spcPts val="2812"/>
              </a:lnSpc>
              <a:tabLst>
                <a:tab pos="103697" algn="l"/>
              </a:tabLst>
              <a:defRPr/>
            </a:pPr>
            <a:r>
              <a:rPr lang="en-US" altLang="zh-CN" sz="2725" b="1" i="1" dirty="0">
                <a:latin typeface="Times New Roman" pitchFamily="18" charset="0"/>
                <a:cs typeface="Times New Roman" pitchFamily="18" charset="0"/>
              </a:rPr>
              <a:t>k</a:t>
            </a:r>
            <a:r>
              <a:rPr lang="en-US" altLang="zh-CN" sz="1589" b="1" i="1" dirty="0">
                <a:latin typeface="Times New Roman" pitchFamily="18" charset="0"/>
                <a:cs typeface="Times New Roman" pitchFamily="18" charset="0"/>
              </a:rPr>
              <a:t>tr</a:t>
            </a:r>
            <a:r>
              <a:rPr lang="en-US" altLang="zh-CN" sz="1589" b="1" dirty="0">
                <a:latin typeface="Times New Roman" pitchFamily="18" charset="0"/>
                <a:cs typeface="Times New Roman" pitchFamily="18" charset="0"/>
              </a:rPr>
              <a:t>,</a:t>
            </a:r>
            <a:r>
              <a:rPr lang="en-US" altLang="zh-CN" sz="1589" b="1" i="1" dirty="0">
                <a:latin typeface="Times New Roman" pitchFamily="18" charset="0"/>
                <a:cs typeface="Times New Roman" pitchFamily="18" charset="0"/>
              </a:rPr>
              <a:t>I</a:t>
            </a:r>
          </a:p>
          <a:p>
            <a:pPr>
              <a:lnSpc>
                <a:spcPts val="907"/>
              </a:lnSpc>
              <a:defRPr/>
            </a:pPr>
            <a:endParaRPr lang="en-US" altLang="zh-CN" sz="1633" dirty="0"/>
          </a:p>
          <a:p>
            <a:pPr>
              <a:lnSpc>
                <a:spcPts val="3175"/>
              </a:lnSpc>
              <a:tabLst>
                <a:tab pos="103697" algn="l"/>
              </a:tabLst>
              <a:defRPr/>
            </a:pPr>
            <a:r>
              <a:rPr lang="en-US" altLang="zh-CN" sz="1633" dirty="0"/>
              <a:t>	</a:t>
            </a:r>
            <a:r>
              <a:rPr lang="en-US" altLang="zh-CN" sz="2725" b="1" i="1" dirty="0">
                <a:latin typeface="Times New Roman" pitchFamily="18" charset="0"/>
                <a:cs typeface="Times New Roman" pitchFamily="18" charset="0"/>
              </a:rPr>
              <a:t>k</a:t>
            </a:r>
            <a:r>
              <a:rPr lang="en-US" altLang="zh-CN" sz="1589" dirty="0">
                <a:latin typeface="Times New Roman" pitchFamily="18" charset="0"/>
                <a:cs typeface="Times New Roman" pitchFamily="18" charset="0"/>
              </a:rPr>
              <a:t> </a:t>
            </a:r>
            <a:r>
              <a:rPr lang="en-US" altLang="zh-CN" sz="1589" b="1" i="1" dirty="0">
                <a:latin typeface="Times New Roman" pitchFamily="18" charset="0"/>
                <a:cs typeface="Times New Roman" pitchFamily="18" charset="0"/>
              </a:rPr>
              <a:t>p</a:t>
            </a:r>
          </a:p>
        </p:txBody>
      </p:sp>
      <p:sp>
        <p:nvSpPr>
          <p:cNvPr id="58" name="TextBox 1"/>
          <p:cNvSpPr txBox="1"/>
          <p:nvPr/>
        </p:nvSpPr>
        <p:spPr>
          <a:xfrm>
            <a:off x="3729897" y="5100973"/>
            <a:ext cx="519373" cy="931024"/>
          </a:xfrm>
          <a:prstGeom prst="rect">
            <a:avLst/>
          </a:prstGeom>
          <a:noFill/>
        </p:spPr>
        <p:txBody>
          <a:bodyPr wrap="none" lIns="0" tIns="0" rIns="0">
            <a:spAutoFit/>
          </a:bodyPr>
          <a:lstStyle/>
          <a:p>
            <a:pPr>
              <a:lnSpc>
                <a:spcPts val="2812"/>
              </a:lnSpc>
              <a:tabLst>
                <a:tab pos="138262" algn="l"/>
              </a:tabLst>
              <a:defRPr/>
            </a:pPr>
            <a:r>
              <a:rPr lang="en-US" altLang="zh-CN" sz="2725" b="1" i="1" dirty="0">
                <a:latin typeface="Times New Roman" pitchFamily="18" charset="0"/>
                <a:cs typeface="Times New Roman" pitchFamily="18" charset="0"/>
              </a:rPr>
              <a:t>k</a:t>
            </a:r>
            <a:r>
              <a:rPr lang="en-US" altLang="zh-CN" sz="1589" b="1" i="1" dirty="0">
                <a:latin typeface="Times New Roman" pitchFamily="18" charset="0"/>
                <a:cs typeface="Times New Roman" pitchFamily="18" charset="0"/>
              </a:rPr>
              <a:t>tr</a:t>
            </a:r>
            <a:r>
              <a:rPr lang="en-US" altLang="zh-CN" sz="1589" b="1" dirty="0">
                <a:latin typeface="Times New Roman" pitchFamily="18" charset="0"/>
                <a:cs typeface="Times New Roman" pitchFamily="18" charset="0"/>
              </a:rPr>
              <a:t>,</a:t>
            </a:r>
            <a:r>
              <a:rPr lang="en-US" altLang="zh-CN" sz="1589" b="1" i="1" dirty="0">
                <a:latin typeface="Times New Roman" pitchFamily="18" charset="0"/>
                <a:cs typeface="Times New Roman" pitchFamily="18" charset="0"/>
              </a:rPr>
              <a:t>m</a:t>
            </a:r>
          </a:p>
          <a:p>
            <a:pPr>
              <a:lnSpc>
                <a:spcPts val="907"/>
              </a:lnSpc>
              <a:defRPr/>
            </a:pPr>
            <a:endParaRPr lang="en-US" altLang="zh-CN" sz="1633" dirty="0"/>
          </a:p>
          <a:p>
            <a:pPr>
              <a:lnSpc>
                <a:spcPts val="3175"/>
              </a:lnSpc>
              <a:tabLst>
                <a:tab pos="138262" algn="l"/>
              </a:tabLst>
              <a:defRPr/>
            </a:pPr>
            <a:r>
              <a:rPr lang="en-US" altLang="zh-CN" sz="1633" dirty="0"/>
              <a:t>	</a:t>
            </a:r>
            <a:r>
              <a:rPr lang="en-US" altLang="zh-CN" sz="2725" b="1" i="1" dirty="0">
                <a:latin typeface="Times New Roman" pitchFamily="18" charset="0"/>
                <a:cs typeface="Times New Roman" pitchFamily="18" charset="0"/>
              </a:rPr>
              <a:t>k</a:t>
            </a:r>
            <a:r>
              <a:rPr lang="en-US" altLang="zh-CN" sz="1589" dirty="0">
                <a:latin typeface="Times New Roman" pitchFamily="18" charset="0"/>
                <a:cs typeface="Times New Roman" pitchFamily="18" charset="0"/>
              </a:rPr>
              <a:t> </a:t>
            </a:r>
            <a:r>
              <a:rPr lang="en-US" altLang="zh-CN" sz="1589" b="1" i="1" dirty="0">
                <a:latin typeface="Times New Roman" pitchFamily="18" charset="0"/>
                <a:cs typeface="Times New Roman" pitchFamily="18" charset="0"/>
              </a:rPr>
              <a:t>p</a:t>
            </a:r>
          </a:p>
        </p:txBody>
      </p:sp>
      <p:sp>
        <p:nvSpPr>
          <p:cNvPr id="59" name="TextBox 1"/>
          <p:cNvSpPr txBox="1"/>
          <p:nvPr/>
        </p:nvSpPr>
        <p:spPr>
          <a:xfrm>
            <a:off x="5930388" y="5239224"/>
            <a:ext cx="803105" cy="482633"/>
          </a:xfrm>
          <a:prstGeom prst="rect">
            <a:avLst/>
          </a:prstGeom>
          <a:noFill/>
        </p:spPr>
        <p:txBody>
          <a:bodyPr wrap="none" lIns="0" tIns="0" rIns="0">
            <a:spAutoFit/>
          </a:bodyPr>
          <a:lstStyle/>
          <a:p>
            <a:pPr>
              <a:lnSpc>
                <a:spcPts val="3720"/>
              </a:lnSpc>
              <a:defRPr/>
            </a:pPr>
            <a:r>
              <a:rPr lang="en-US" altLang="zh-CN" sz="2725" b="1" dirty="0">
                <a:latin typeface="Times New Roman" pitchFamily="18" charset="0"/>
                <a:cs typeface="Times New Roman" pitchFamily="18" charset="0"/>
              </a:rPr>
              <a:t>, </a:t>
            </a:r>
            <a:r>
              <a:rPr lang="en-US" altLang="zh-CN" sz="2725" b="1" i="1" dirty="0">
                <a:latin typeface="Times New Roman" pitchFamily="18" charset="0"/>
                <a:cs typeface="Times New Roman" pitchFamily="18" charset="0"/>
              </a:rPr>
              <a:t>C</a:t>
            </a:r>
            <a:r>
              <a:rPr lang="en-US" altLang="zh-CN" sz="1589" b="1" i="1" dirty="0">
                <a:latin typeface="Times New Roman" pitchFamily="18" charset="0"/>
                <a:cs typeface="Times New Roman" pitchFamily="18" charset="0"/>
              </a:rPr>
              <a:t>S</a:t>
            </a:r>
            <a:r>
              <a:rPr lang="en-US" altLang="zh-CN" sz="2725" dirty="0">
                <a:latin typeface="Times New Roman" pitchFamily="18" charset="0"/>
                <a:cs typeface="Times New Roman" pitchFamily="18" charset="0"/>
              </a:rPr>
              <a:t> </a:t>
            </a:r>
            <a:r>
              <a:rPr lang="en-US" altLang="zh-CN" sz="2725" dirty="0">
                <a:latin typeface="Symbol" pitchFamily="18" charset="0"/>
                <a:cs typeface="Symbol" pitchFamily="18" charset="0"/>
              </a:rPr>
              <a:t>=</a:t>
            </a:r>
          </a:p>
        </p:txBody>
      </p:sp>
      <p:sp>
        <p:nvSpPr>
          <p:cNvPr id="60" name="TextBox 1"/>
          <p:cNvSpPr txBox="1"/>
          <p:nvPr/>
        </p:nvSpPr>
        <p:spPr>
          <a:xfrm>
            <a:off x="4421151" y="5239224"/>
            <a:ext cx="767839" cy="482633"/>
          </a:xfrm>
          <a:prstGeom prst="rect">
            <a:avLst/>
          </a:prstGeom>
          <a:noFill/>
        </p:spPr>
        <p:txBody>
          <a:bodyPr wrap="none" lIns="0" tIns="0" rIns="0">
            <a:spAutoFit/>
          </a:bodyPr>
          <a:lstStyle/>
          <a:p>
            <a:pPr>
              <a:lnSpc>
                <a:spcPts val="3720"/>
              </a:lnSpc>
              <a:defRPr/>
            </a:pPr>
            <a:r>
              <a:rPr lang="en-US" altLang="zh-CN" sz="2725" b="1" dirty="0">
                <a:latin typeface="Times New Roman" pitchFamily="18" charset="0"/>
                <a:cs typeface="Times New Roman" pitchFamily="18" charset="0"/>
              </a:rPr>
              <a:t>, </a:t>
            </a:r>
            <a:r>
              <a:rPr lang="en-US" altLang="zh-CN" sz="2725" b="1" i="1" dirty="0">
                <a:latin typeface="Times New Roman" pitchFamily="18" charset="0"/>
                <a:cs typeface="Times New Roman" pitchFamily="18" charset="0"/>
              </a:rPr>
              <a:t>C</a:t>
            </a:r>
            <a:r>
              <a:rPr lang="en-US" altLang="zh-CN" sz="1589" b="1" i="1" dirty="0">
                <a:latin typeface="Times New Roman" pitchFamily="18" charset="0"/>
                <a:cs typeface="Times New Roman" pitchFamily="18" charset="0"/>
              </a:rPr>
              <a:t>I</a:t>
            </a:r>
            <a:r>
              <a:rPr lang="en-US" altLang="zh-CN" sz="2725" dirty="0">
                <a:latin typeface="Times New Roman" pitchFamily="18" charset="0"/>
                <a:cs typeface="Times New Roman" pitchFamily="18" charset="0"/>
              </a:rPr>
              <a:t> </a:t>
            </a:r>
            <a:r>
              <a:rPr lang="en-US" altLang="zh-CN" sz="2725" dirty="0">
                <a:latin typeface="Symbol" pitchFamily="18" charset="0"/>
                <a:cs typeface="Symbol" pitchFamily="18" charset="0"/>
              </a:rPr>
              <a:t>=</a:t>
            </a:r>
          </a:p>
        </p:txBody>
      </p:sp>
      <p:sp>
        <p:nvSpPr>
          <p:cNvPr id="61" name="TextBox 1"/>
          <p:cNvSpPr txBox="1"/>
          <p:nvPr/>
        </p:nvSpPr>
        <p:spPr>
          <a:xfrm>
            <a:off x="2854307" y="5239224"/>
            <a:ext cx="782265" cy="482633"/>
          </a:xfrm>
          <a:prstGeom prst="rect">
            <a:avLst/>
          </a:prstGeom>
          <a:noFill/>
        </p:spPr>
        <p:txBody>
          <a:bodyPr wrap="none" lIns="0" tIns="0" rIns="0">
            <a:spAutoFit/>
          </a:bodyPr>
          <a:lstStyle/>
          <a:p>
            <a:pPr>
              <a:lnSpc>
                <a:spcPts val="3720"/>
              </a:lnSpc>
              <a:defRPr/>
            </a:pPr>
            <a:r>
              <a:rPr lang="en-US" altLang="zh-CN" sz="2725" b="1" i="1" dirty="0">
                <a:latin typeface="Times New Roman" pitchFamily="18" charset="0"/>
                <a:cs typeface="Times New Roman" pitchFamily="18" charset="0"/>
              </a:rPr>
              <a:t>C</a:t>
            </a:r>
            <a:r>
              <a:rPr lang="en-US" altLang="zh-CN" sz="1589" b="1" i="1" dirty="0">
                <a:latin typeface="Times New Roman" pitchFamily="18" charset="0"/>
                <a:cs typeface="Times New Roman" pitchFamily="18" charset="0"/>
              </a:rPr>
              <a:t>M</a:t>
            </a:r>
            <a:r>
              <a:rPr lang="en-US" altLang="zh-CN" sz="2725" dirty="0">
                <a:latin typeface="Times New Roman" pitchFamily="18" charset="0"/>
                <a:cs typeface="Times New Roman" pitchFamily="18" charset="0"/>
              </a:rPr>
              <a:t>  </a:t>
            </a:r>
            <a:r>
              <a:rPr lang="en-US" altLang="zh-CN" sz="2725" dirty="0">
                <a:latin typeface="Symbol" pitchFamily="18" charset="0"/>
                <a:cs typeface="Symbol" pitchFamily="18"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3"/>
          <p:cNvSpPr/>
          <p:nvPr/>
        </p:nvSpPr>
        <p:spPr>
          <a:xfrm>
            <a:off x="2472675" y="4228264"/>
            <a:ext cx="387391" cy="24482"/>
          </a:xfrm>
          <a:custGeom>
            <a:avLst/>
            <a:gdLst>
              <a:gd name="connsiteX0" fmla="*/ 6951 w 427664"/>
              <a:gd name="connsiteY0" fmla="*/ 6951 h 27804"/>
              <a:gd name="connsiteX1" fmla="*/ 420713 w 427664"/>
              <a:gd name="connsiteY1" fmla="*/ 6951 h 27804"/>
            </a:gdLst>
            <a:ahLst/>
            <a:cxnLst>
              <a:cxn ang="0">
                <a:pos x="connsiteX0" y="connsiteY0"/>
              </a:cxn>
              <a:cxn ang="1">
                <a:pos x="connsiteX1" y="connsiteY1"/>
              </a:cxn>
            </a:cxnLst>
            <a:rect l="l" t="t" r="r" b="b"/>
            <a:pathLst>
              <a:path w="427664" h="27804">
                <a:moveTo>
                  <a:pt x="6951" y="6951"/>
                </a:moveTo>
                <a:lnTo>
                  <a:pt x="420713" y="695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0" name="Freeform 3"/>
          <p:cNvSpPr/>
          <p:nvPr/>
        </p:nvSpPr>
        <p:spPr>
          <a:xfrm>
            <a:off x="2445313" y="4186502"/>
            <a:ext cx="442114" cy="25922"/>
          </a:xfrm>
          <a:custGeom>
            <a:avLst/>
            <a:gdLst>
              <a:gd name="connsiteX0" fmla="*/ 6951 w 487103"/>
              <a:gd name="connsiteY0" fmla="*/ 6951 h 27804"/>
              <a:gd name="connsiteX1" fmla="*/ 480152 w 487103"/>
              <a:gd name="connsiteY1" fmla="*/ 6951 h 27804"/>
            </a:gdLst>
            <a:ahLst/>
            <a:cxnLst>
              <a:cxn ang="0">
                <a:pos x="connsiteX0" y="connsiteY0"/>
              </a:cxn>
              <a:cxn ang="1">
                <a:pos x="connsiteX1" y="connsiteY1"/>
              </a:cxn>
            </a:cxnLst>
            <a:rect l="l" t="t" r="r" b="b"/>
            <a:pathLst>
              <a:path w="487103" h="27804">
                <a:moveTo>
                  <a:pt x="6951" y="6951"/>
                </a:moveTo>
                <a:lnTo>
                  <a:pt x="480152" y="695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Freeform 3"/>
          <p:cNvSpPr/>
          <p:nvPr/>
        </p:nvSpPr>
        <p:spPr>
          <a:xfrm>
            <a:off x="3246016" y="4228264"/>
            <a:ext cx="714296" cy="24482"/>
          </a:xfrm>
          <a:custGeom>
            <a:avLst/>
            <a:gdLst>
              <a:gd name="connsiteX0" fmla="*/ 6951 w 787340"/>
              <a:gd name="connsiteY0" fmla="*/ 6951 h 27804"/>
              <a:gd name="connsiteX1" fmla="*/ 780388 w 787340"/>
              <a:gd name="connsiteY1" fmla="*/ 6951 h 27804"/>
            </a:gdLst>
            <a:ahLst/>
            <a:cxnLst>
              <a:cxn ang="0">
                <a:pos x="connsiteX0" y="connsiteY0"/>
              </a:cxn>
              <a:cxn ang="1">
                <a:pos x="connsiteX1" y="connsiteY1"/>
              </a:cxn>
            </a:cxnLst>
            <a:rect l="l" t="t" r="r" b="b"/>
            <a:pathLst>
              <a:path w="787340" h="27804">
                <a:moveTo>
                  <a:pt x="6951" y="6951"/>
                </a:moveTo>
                <a:lnTo>
                  <a:pt x="780388" y="695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2" name="Freeform 3"/>
          <p:cNvSpPr/>
          <p:nvPr/>
        </p:nvSpPr>
        <p:spPr>
          <a:xfrm>
            <a:off x="3218655" y="4186502"/>
            <a:ext cx="769021" cy="25922"/>
          </a:xfrm>
          <a:custGeom>
            <a:avLst/>
            <a:gdLst>
              <a:gd name="connsiteX0" fmla="*/ 6951 w 846778"/>
              <a:gd name="connsiteY0" fmla="*/ 6951 h 27804"/>
              <a:gd name="connsiteX1" fmla="*/ 839827 w 846778"/>
              <a:gd name="connsiteY1" fmla="*/ 6951 h 27804"/>
            </a:gdLst>
            <a:ahLst/>
            <a:cxnLst>
              <a:cxn ang="0">
                <a:pos x="connsiteX0" y="connsiteY0"/>
              </a:cxn>
              <a:cxn ang="1">
                <a:pos x="connsiteX1" y="connsiteY1"/>
              </a:cxn>
            </a:cxnLst>
            <a:rect l="l" t="t" r="r" b="b"/>
            <a:pathLst>
              <a:path w="846778" h="27804">
                <a:moveTo>
                  <a:pt x="6951" y="6951"/>
                </a:moveTo>
                <a:lnTo>
                  <a:pt x="839827" y="695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5" name="Freeform 3"/>
          <p:cNvSpPr/>
          <p:nvPr/>
        </p:nvSpPr>
        <p:spPr>
          <a:xfrm>
            <a:off x="2549001" y="4931040"/>
            <a:ext cx="689814" cy="25922"/>
          </a:xfrm>
          <a:custGeom>
            <a:avLst/>
            <a:gdLst>
              <a:gd name="connsiteX0" fmla="*/ 7118 w 760996"/>
              <a:gd name="connsiteY0" fmla="*/ 7118 h 28473"/>
              <a:gd name="connsiteX1" fmla="*/ 753878 w 760996"/>
              <a:gd name="connsiteY1" fmla="*/ 7118 h 28473"/>
            </a:gdLst>
            <a:ahLst/>
            <a:cxnLst>
              <a:cxn ang="0">
                <a:pos x="connsiteX0" y="connsiteY0"/>
              </a:cxn>
              <a:cxn ang="1">
                <a:pos x="connsiteX1" y="connsiteY1"/>
              </a:cxn>
            </a:cxnLst>
            <a:rect l="l" t="t" r="r" b="b"/>
            <a:pathLst>
              <a:path w="760996" h="28473">
                <a:moveTo>
                  <a:pt x="7118" y="7118"/>
                </a:moveTo>
                <a:lnTo>
                  <a:pt x="753878" y="7118"/>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0" name="Freeform 3"/>
          <p:cNvSpPr/>
          <p:nvPr/>
        </p:nvSpPr>
        <p:spPr>
          <a:xfrm>
            <a:off x="3215775" y="1942804"/>
            <a:ext cx="131051" cy="718616"/>
          </a:xfrm>
          <a:custGeom>
            <a:avLst/>
            <a:gdLst>
              <a:gd name="connsiteX0" fmla="*/ 0 w 144017"/>
              <a:gd name="connsiteY0" fmla="*/ 594360 h 792480"/>
              <a:gd name="connsiteX1" fmla="*/ 35813 w 144017"/>
              <a:gd name="connsiteY1" fmla="*/ 594360 h 792480"/>
              <a:gd name="connsiteX2" fmla="*/ 35813 w 144017"/>
              <a:gd name="connsiteY2" fmla="*/ 0 h 792480"/>
              <a:gd name="connsiteX3" fmla="*/ 108203 w 144017"/>
              <a:gd name="connsiteY3" fmla="*/ 0 h 792480"/>
              <a:gd name="connsiteX4" fmla="*/ 108203 w 144017"/>
              <a:gd name="connsiteY4" fmla="*/ 594360 h 792480"/>
              <a:gd name="connsiteX5" fmla="*/ 144017 w 144017"/>
              <a:gd name="connsiteY5" fmla="*/ 594360 h 792480"/>
              <a:gd name="connsiteX6" fmla="*/ 71627 w 144017"/>
              <a:gd name="connsiteY6" fmla="*/ 792480 h 792480"/>
              <a:gd name="connsiteX7" fmla="*/ 0 w 144017"/>
              <a:gd name="connsiteY7" fmla="*/ 594360 h 7924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144017" h="792480">
                <a:moveTo>
                  <a:pt x="0" y="594360"/>
                </a:moveTo>
                <a:lnTo>
                  <a:pt x="35813" y="594360"/>
                </a:lnTo>
                <a:lnTo>
                  <a:pt x="35813" y="0"/>
                </a:lnTo>
                <a:lnTo>
                  <a:pt x="108203" y="0"/>
                </a:lnTo>
                <a:lnTo>
                  <a:pt x="108203" y="594360"/>
                </a:lnTo>
                <a:lnTo>
                  <a:pt x="144017" y="594360"/>
                </a:lnTo>
                <a:lnTo>
                  <a:pt x="71627" y="792480"/>
                </a:lnTo>
                <a:lnTo>
                  <a:pt x="0" y="594360"/>
                </a:lnTo>
              </a:path>
            </a:pathLst>
          </a:custGeom>
          <a:solidFill>
            <a:srgbClr val="3399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32" name="Freeform 3"/>
          <p:cNvSpPr/>
          <p:nvPr/>
        </p:nvSpPr>
        <p:spPr>
          <a:xfrm>
            <a:off x="7010475" y="3529811"/>
            <a:ext cx="849667" cy="260660"/>
          </a:xfrm>
          <a:custGeom>
            <a:avLst/>
            <a:gdLst>
              <a:gd name="connsiteX0" fmla="*/ 702564 w 936485"/>
              <a:gd name="connsiteY0" fmla="*/ 0 h 287273"/>
              <a:gd name="connsiteX1" fmla="*/ 702564 w 936485"/>
              <a:gd name="connsiteY1" fmla="*/ 71627 h 287273"/>
              <a:gd name="connsiteX2" fmla="*/ 0 w 936485"/>
              <a:gd name="connsiteY2" fmla="*/ 71627 h 287273"/>
              <a:gd name="connsiteX3" fmla="*/ 117335 w 936485"/>
              <a:gd name="connsiteY3" fmla="*/ 144017 h 287273"/>
              <a:gd name="connsiteX4" fmla="*/ 0 w 936485"/>
              <a:gd name="connsiteY4" fmla="*/ 215645 h 287273"/>
              <a:gd name="connsiteX5" fmla="*/ 702564 w 936485"/>
              <a:gd name="connsiteY5" fmla="*/ 215645 h 287273"/>
              <a:gd name="connsiteX6" fmla="*/ 702564 w 936485"/>
              <a:gd name="connsiteY6" fmla="*/ 287273 h 287273"/>
              <a:gd name="connsiteX7" fmla="*/ 936485 w 936485"/>
              <a:gd name="connsiteY7" fmla="*/ 144017 h 287273"/>
              <a:gd name="connsiteX8" fmla="*/ 702564 w 936485"/>
              <a:gd name="connsiteY8" fmla="*/ 0 h 2872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Lst>
            <a:rect l="l" t="t" r="r" b="b"/>
            <a:pathLst>
              <a:path w="936485" h="287273">
                <a:moveTo>
                  <a:pt x="702564" y="0"/>
                </a:moveTo>
                <a:lnTo>
                  <a:pt x="702564" y="71627"/>
                </a:lnTo>
                <a:lnTo>
                  <a:pt x="0" y="71627"/>
                </a:lnTo>
                <a:lnTo>
                  <a:pt x="117335" y="144017"/>
                </a:lnTo>
                <a:lnTo>
                  <a:pt x="0" y="215645"/>
                </a:lnTo>
                <a:lnTo>
                  <a:pt x="702564" y="215645"/>
                </a:lnTo>
                <a:lnTo>
                  <a:pt x="702564" y="287273"/>
                </a:lnTo>
                <a:lnTo>
                  <a:pt x="936485" y="144017"/>
                </a:lnTo>
                <a:lnTo>
                  <a:pt x="702564" y="0"/>
                </a:lnTo>
              </a:path>
            </a:pathLst>
          </a:custGeom>
          <a:solidFill>
            <a:srgbClr val="3399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09577"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94</a:t>
            </a:r>
          </a:p>
        </p:txBody>
      </p:sp>
      <p:sp>
        <p:nvSpPr>
          <p:cNvPr id="109578" name="TextBox 1"/>
          <p:cNvSpPr txBox="1">
            <a:spLocks noChangeArrowheads="1"/>
          </p:cNvSpPr>
          <p:nvPr/>
        </p:nvSpPr>
        <p:spPr bwMode="auto">
          <a:xfrm>
            <a:off x="2586446" y="1214107"/>
            <a:ext cx="1746857"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tabLst>
                <a:tab pos="2540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2540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2540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2540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2540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2540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2540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2540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254000" algn="l"/>
              </a:tabLst>
              <a:defRPr>
                <a:solidFill>
                  <a:schemeClr val="tx1"/>
                </a:solidFill>
                <a:latin typeface="Calibri" panose="020F0502020204030204" pitchFamily="34" charset="0"/>
                <a:ea typeface="宋体" panose="02010600030101010101" pitchFamily="2" charset="-122"/>
              </a:defRPr>
            </a:lvl9pPr>
          </a:lstStyle>
          <a:p>
            <a:pPr algn="ctr" eaLnBrk="1" hangingPunct="1">
              <a:lnSpc>
                <a:spcPts val="2449"/>
              </a:lnSpc>
            </a:pPr>
            <a:r>
              <a:rPr lang="en-US" altLang="zh-CN" sz="2540" b="1">
                <a:latin typeface="楷体" panose="02010609060101010101" pitchFamily="49" charset="-122"/>
                <a:ea typeface="楷体" panose="02010609060101010101" pitchFamily="49" charset="-122"/>
                <a:cs typeface="楷体_GB2312"/>
              </a:rPr>
              <a:t>真正终止（歧化终止）</a:t>
            </a:r>
          </a:p>
        </p:txBody>
      </p:sp>
      <p:sp>
        <p:nvSpPr>
          <p:cNvPr id="109579" name="TextBox 1"/>
          <p:cNvSpPr txBox="1">
            <a:spLocks noChangeArrowheads="1"/>
          </p:cNvSpPr>
          <p:nvPr/>
        </p:nvSpPr>
        <p:spPr bwMode="auto">
          <a:xfrm>
            <a:off x="5324100" y="1287554"/>
            <a:ext cx="1635063"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b="1">
                <a:latin typeface="楷体" panose="02010609060101010101" pitchFamily="49" charset="-122"/>
                <a:ea typeface="楷体" panose="02010609060101010101" pitchFamily="49" charset="-122"/>
                <a:cs typeface="楷体_GB2312"/>
              </a:rPr>
              <a:t>链转移终止</a:t>
            </a:r>
          </a:p>
        </p:txBody>
      </p:sp>
      <p:sp>
        <p:nvSpPr>
          <p:cNvPr id="56" name="TextBox 1"/>
          <p:cNvSpPr txBox="1"/>
          <p:nvPr/>
        </p:nvSpPr>
        <p:spPr>
          <a:xfrm>
            <a:off x="4045278" y="3974803"/>
            <a:ext cx="1266372" cy="400046"/>
          </a:xfrm>
          <a:prstGeom prst="rect">
            <a:avLst/>
          </a:prstGeom>
          <a:noFill/>
        </p:spPr>
        <p:txBody>
          <a:bodyPr wrap="none" lIns="0" tIns="0" rIns="0">
            <a:spAutoFit/>
          </a:bodyPr>
          <a:lstStyle/>
          <a:p>
            <a:pPr>
              <a:lnSpc>
                <a:spcPts val="2994"/>
              </a:lnSpc>
              <a:defRPr/>
            </a:pPr>
            <a:r>
              <a:rPr lang="en-US" altLang="zh-CN" sz="2207" dirty="0">
                <a:latin typeface="Symbol" pitchFamily="18" charset="0"/>
                <a:cs typeface="Symbol" pitchFamily="18" charset="0"/>
              </a:rPr>
              <a:t>+</a:t>
            </a:r>
            <a:r>
              <a:rPr lang="en-US" altLang="zh-CN" sz="2207" dirty="0">
                <a:latin typeface="Times New Roman" pitchFamily="18" charset="0"/>
                <a:cs typeface="Times New Roman" pitchFamily="18" charset="0"/>
              </a:rPr>
              <a:t> </a:t>
            </a:r>
            <a:r>
              <a:rPr lang="en-US" altLang="zh-CN" sz="2207" b="1" i="1" dirty="0">
                <a:latin typeface="Times New Roman" pitchFamily="18" charset="0"/>
                <a:cs typeface="Times New Roman" pitchFamily="18" charset="0"/>
              </a:rPr>
              <a:t>C</a:t>
            </a:r>
            <a:r>
              <a:rPr lang="en-US" altLang="zh-CN" sz="1287" dirty="0">
                <a:latin typeface="Times New Roman" pitchFamily="18" charset="0"/>
                <a:cs typeface="Times New Roman" pitchFamily="18" charset="0"/>
              </a:rPr>
              <a:t> </a:t>
            </a:r>
            <a:r>
              <a:rPr lang="en-US" altLang="zh-CN" sz="1287" b="1" i="1" dirty="0">
                <a:latin typeface="Times New Roman" pitchFamily="18" charset="0"/>
                <a:cs typeface="Times New Roman" pitchFamily="18" charset="0"/>
              </a:rPr>
              <a:t>M</a:t>
            </a:r>
            <a:r>
              <a:rPr lang="en-US" altLang="zh-CN" sz="2207" dirty="0">
                <a:latin typeface="Times New Roman" pitchFamily="18" charset="0"/>
                <a:cs typeface="Times New Roman" pitchFamily="18" charset="0"/>
              </a:rPr>
              <a:t>  </a:t>
            </a:r>
            <a:r>
              <a:rPr lang="en-US" altLang="zh-CN" sz="2207" dirty="0">
                <a:latin typeface="Symbol" pitchFamily="18" charset="0"/>
                <a:cs typeface="Symbol" pitchFamily="18" charset="0"/>
              </a:rPr>
              <a:t>+</a:t>
            </a:r>
            <a:r>
              <a:rPr lang="en-US" altLang="zh-CN" sz="2207" dirty="0">
                <a:latin typeface="Times New Roman" pitchFamily="18" charset="0"/>
                <a:cs typeface="Times New Roman" pitchFamily="18" charset="0"/>
              </a:rPr>
              <a:t> </a:t>
            </a:r>
            <a:r>
              <a:rPr lang="en-US" altLang="zh-CN" sz="2207" b="1" i="1" dirty="0">
                <a:latin typeface="Times New Roman" pitchFamily="18" charset="0"/>
                <a:cs typeface="Times New Roman" pitchFamily="18" charset="0"/>
              </a:rPr>
              <a:t>C</a:t>
            </a:r>
            <a:r>
              <a:rPr lang="en-US" altLang="zh-CN" sz="1287" dirty="0">
                <a:latin typeface="Times New Roman" pitchFamily="18" charset="0"/>
                <a:cs typeface="Times New Roman" pitchFamily="18" charset="0"/>
              </a:rPr>
              <a:t> </a:t>
            </a:r>
            <a:r>
              <a:rPr lang="en-US" altLang="zh-CN" sz="1287" b="1" i="1" dirty="0">
                <a:latin typeface="Times New Roman" pitchFamily="18" charset="0"/>
                <a:cs typeface="Times New Roman" pitchFamily="18" charset="0"/>
              </a:rPr>
              <a:t>I</a:t>
            </a:r>
          </a:p>
        </p:txBody>
      </p:sp>
      <p:sp>
        <p:nvSpPr>
          <p:cNvPr id="57" name="TextBox 1"/>
          <p:cNvSpPr txBox="1"/>
          <p:nvPr/>
        </p:nvSpPr>
        <p:spPr>
          <a:xfrm>
            <a:off x="2962313" y="3974806"/>
            <a:ext cx="155492" cy="379591"/>
          </a:xfrm>
          <a:prstGeom prst="rect">
            <a:avLst/>
          </a:prstGeom>
          <a:noFill/>
        </p:spPr>
        <p:txBody>
          <a:bodyPr wrap="none" lIns="0" tIns="0" rIns="0">
            <a:spAutoFit/>
          </a:bodyPr>
          <a:lstStyle/>
          <a:p>
            <a:pPr>
              <a:lnSpc>
                <a:spcPts val="2631"/>
              </a:lnSpc>
              <a:defRPr/>
            </a:pPr>
            <a:r>
              <a:rPr lang="en-US" altLang="zh-CN" sz="2207" dirty="0">
                <a:latin typeface="Symbol" pitchFamily="18" charset="0"/>
                <a:cs typeface="Symbol" pitchFamily="18" charset="0"/>
              </a:rPr>
              <a:t>=</a:t>
            </a:r>
          </a:p>
        </p:txBody>
      </p:sp>
      <p:sp>
        <p:nvSpPr>
          <p:cNvPr id="58" name="TextBox 1"/>
          <p:cNvSpPr txBox="1"/>
          <p:nvPr/>
        </p:nvSpPr>
        <p:spPr>
          <a:xfrm>
            <a:off x="3238818" y="3894159"/>
            <a:ext cx="676467" cy="718595"/>
          </a:xfrm>
          <a:prstGeom prst="rect">
            <a:avLst/>
          </a:prstGeom>
          <a:noFill/>
        </p:spPr>
        <p:txBody>
          <a:bodyPr wrap="none" lIns="0" tIns="0" rIns="0">
            <a:spAutoFit/>
          </a:bodyPr>
          <a:lstStyle/>
          <a:p>
            <a:pPr>
              <a:lnSpc>
                <a:spcPts val="1905"/>
              </a:lnSpc>
              <a:tabLst>
                <a:tab pos="276525" algn="l"/>
              </a:tabLst>
              <a:defRPr/>
            </a:pPr>
            <a:r>
              <a:rPr lang="en-US" altLang="zh-CN" sz="1633" dirty="0"/>
              <a:t>	</a:t>
            </a:r>
            <a:r>
              <a:rPr lang="en-US" altLang="zh-CN" sz="2207" b="1" dirty="0">
                <a:latin typeface="Times New Roman" pitchFamily="18" charset="0"/>
                <a:cs typeface="Times New Roman" pitchFamily="18" charset="0"/>
              </a:rPr>
              <a:t>1</a:t>
            </a:r>
          </a:p>
          <a:p>
            <a:pPr>
              <a:lnSpc>
                <a:spcPts val="3629"/>
              </a:lnSpc>
              <a:tabLst>
                <a:tab pos="276525" algn="l"/>
              </a:tabLst>
              <a:defRPr/>
            </a:pPr>
            <a:r>
              <a:rPr lang="en-US" altLang="zh-CN" sz="2989" dirty="0">
                <a:latin typeface="Symbol" pitchFamily="18" charset="0"/>
                <a:cs typeface="Symbol" pitchFamily="18" charset="0"/>
              </a:rPr>
              <a:t>(</a:t>
            </a:r>
            <a:r>
              <a:rPr lang="en-US" altLang="zh-CN" sz="2207" b="1" dirty="0">
                <a:latin typeface="Times New Roman" pitchFamily="18" charset="0"/>
                <a:cs typeface="Times New Roman" pitchFamily="18" charset="0"/>
              </a:rPr>
              <a:t>X</a:t>
            </a:r>
            <a:r>
              <a:rPr lang="en-US" altLang="zh-CN" sz="1287" dirty="0">
                <a:latin typeface="Times New Roman" pitchFamily="18" charset="0"/>
                <a:cs typeface="Times New Roman" pitchFamily="18" charset="0"/>
              </a:rPr>
              <a:t> </a:t>
            </a:r>
            <a:r>
              <a:rPr lang="en-US" altLang="zh-CN" sz="1287" b="1" dirty="0">
                <a:latin typeface="Times New Roman" pitchFamily="18" charset="0"/>
                <a:cs typeface="Times New Roman" pitchFamily="18" charset="0"/>
              </a:rPr>
              <a:t>n</a:t>
            </a:r>
            <a:r>
              <a:rPr lang="en-US" altLang="zh-CN" sz="2989" dirty="0">
                <a:latin typeface="Symbol" pitchFamily="18" charset="0"/>
                <a:cs typeface="Symbol" pitchFamily="18" charset="0"/>
              </a:rPr>
              <a:t>)</a:t>
            </a:r>
            <a:r>
              <a:rPr lang="en-US" altLang="zh-CN" sz="1287" b="1" dirty="0">
                <a:latin typeface="Times New Roman" pitchFamily="18" charset="0"/>
                <a:cs typeface="Times New Roman" pitchFamily="18" charset="0"/>
              </a:rPr>
              <a:t>0</a:t>
            </a:r>
          </a:p>
        </p:txBody>
      </p:sp>
      <p:sp>
        <p:nvSpPr>
          <p:cNvPr id="59" name="TextBox 1"/>
          <p:cNvSpPr txBox="1"/>
          <p:nvPr/>
        </p:nvSpPr>
        <p:spPr>
          <a:xfrm>
            <a:off x="2510119" y="3863915"/>
            <a:ext cx="338234" cy="738664"/>
          </a:xfrm>
          <a:prstGeom prst="rect">
            <a:avLst/>
          </a:prstGeom>
          <a:noFill/>
        </p:spPr>
        <p:txBody>
          <a:bodyPr wrap="none" lIns="0" tIns="0" rIns="0">
            <a:spAutoFit/>
          </a:bodyPr>
          <a:lstStyle/>
          <a:p>
            <a:pPr>
              <a:lnSpc>
                <a:spcPts val="1905"/>
              </a:lnSpc>
              <a:tabLst>
                <a:tab pos="103697" algn="l"/>
              </a:tabLst>
              <a:defRPr/>
            </a:pPr>
            <a:r>
              <a:rPr lang="en-US" altLang="zh-CN" sz="1633" dirty="0"/>
              <a:t>	</a:t>
            </a:r>
            <a:r>
              <a:rPr lang="en-US" altLang="zh-CN" sz="2207" b="1" dirty="0">
                <a:latin typeface="Times New Roman" pitchFamily="18" charset="0"/>
                <a:cs typeface="Times New Roman" pitchFamily="18" charset="0"/>
              </a:rPr>
              <a:t>1</a:t>
            </a:r>
          </a:p>
          <a:p>
            <a:pPr>
              <a:lnSpc>
                <a:spcPts val="907"/>
              </a:lnSpc>
              <a:defRPr/>
            </a:pPr>
            <a:endParaRPr lang="en-US" altLang="zh-CN" sz="1633" dirty="0"/>
          </a:p>
          <a:p>
            <a:pPr>
              <a:lnSpc>
                <a:spcPts val="2631"/>
              </a:lnSpc>
              <a:tabLst>
                <a:tab pos="103697" algn="l"/>
              </a:tabLst>
              <a:defRPr/>
            </a:pPr>
            <a:r>
              <a:rPr lang="en-US" altLang="zh-CN" sz="2207" b="1" dirty="0">
                <a:latin typeface="Times New Roman" pitchFamily="18" charset="0"/>
                <a:cs typeface="Times New Roman" pitchFamily="18" charset="0"/>
              </a:rPr>
              <a:t>X</a:t>
            </a:r>
            <a:r>
              <a:rPr lang="en-US" altLang="zh-CN" sz="1287" dirty="0">
                <a:latin typeface="Times New Roman" pitchFamily="18" charset="0"/>
                <a:cs typeface="Times New Roman" pitchFamily="18" charset="0"/>
              </a:rPr>
              <a:t> </a:t>
            </a:r>
            <a:r>
              <a:rPr lang="en-US" altLang="zh-CN" sz="1287" b="1" dirty="0">
                <a:latin typeface="Times New Roman" pitchFamily="18" charset="0"/>
                <a:cs typeface="Times New Roman" pitchFamily="18" charset="0"/>
              </a:rPr>
              <a:t>n</a:t>
            </a:r>
          </a:p>
        </p:txBody>
      </p:sp>
      <p:sp>
        <p:nvSpPr>
          <p:cNvPr id="60" name="TextBox 1"/>
          <p:cNvSpPr txBox="1"/>
          <p:nvPr/>
        </p:nvSpPr>
        <p:spPr>
          <a:xfrm>
            <a:off x="2534601" y="4892157"/>
            <a:ext cx="1162178" cy="548740"/>
          </a:xfrm>
          <a:prstGeom prst="rect">
            <a:avLst/>
          </a:prstGeom>
          <a:noFill/>
        </p:spPr>
        <p:txBody>
          <a:bodyPr wrap="none" lIns="0" tIns="0" rIns="0">
            <a:spAutoFit/>
          </a:bodyPr>
          <a:lstStyle/>
          <a:p>
            <a:pPr>
              <a:lnSpc>
                <a:spcPts val="4264"/>
              </a:lnSpc>
              <a:defRPr/>
            </a:pPr>
            <a:r>
              <a:rPr lang="en-US" altLang="zh-CN" sz="3225" dirty="0">
                <a:latin typeface="Symbol" pitchFamily="18" charset="0"/>
                <a:cs typeface="Symbol" pitchFamily="18" charset="0"/>
              </a:rPr>
              <a:t>(</a:t>
            </a:r>
            <a:r>
              <a:rPr lang="en-US" altLang="zh-CN" sz="2442" i="1" dirty="0">
                <a:latin typeface="Times New Roman" pitchFamily="18" charset="0"/>
                <a:cs typeface="Times New Roman" pitchFamily="18" charset="0"/>
              </a:rPr>
              <a:t>X</a:t>
            </a:r>
            <a:r>
              <a:rPr lang="en-US" altLang="zh-CN" sz="1424" dirty="0">
                <a:latin typeface="Times New Roman" pitchFamily="18" charset="0"/>
                <a:cs typeface="Times New Roman" pitchFamily="18" charset="0"/>
              </a:rPr>
              <a:t> </a:t>
            </a:r>
            <a:r>
              <a:rPr lang="en-US" altLang="zh-CN" sz="1424" i="1" dirty="0">
                <a:latin typeface="Times New Roman" pitchFamily="18" charset="0"/>
                <a:cs typeface="Times New Roman" pitchFamily="18" charset="0"/>
              </a:rPr>
              <a:t>n</a:t>
            </a:r>
            <a:r>
              <a:rPr lang="en-US" altLang="zh-CN" sz="3225" dirty="0">
                <a:latin typeface="Symbol" pitchFamily="18" charset="0"/>
                <a:cs typeface="Symbol" pitchFamily="18" charset="0"/>
              </a:rPr>
              <a:t>)</a:t>
            </a:r>
            <a:r>
              <a:rPr lang="en-US" altLang="zh-CN" sz="1424" dirty="0">
                <a:latin typeface="Times New Roman" pitchFamily="18" charset="0"/>
                <a:cs typeface="Times New Roman" pitchFamily="18" charset="0"/>
              </a:rPr>
              <a:t>0</a:t>
            </a:r>
            <a:r>
              <a:rPr lang="en-US" altLang="zh-CN" sz="2442" dirty="0">
                <a:latin typeface="Times New Roman" pitchFamily="18" charset="0"/>
                <a:cs typeface="Times New Roman" pitchFamily="18" charset="0"/>
              </a:rPr>
              <a:t> </a:t>
            </a:r>
            <a:r>
              <a:rPr lang="en-US" altLang="zh-CN" sz="2442" dirty="0">
                <a:latin typeface="Symbol" pitchFamily="18" charset="0"/>
                <a:cs typeface="Symbol" pitchFamily="18" charset="0"/>
              </a:rPr>
              <a:t>=</a:t>
            </a:r>
            <a:r>
              <a:rPr lang="en-US" altLang="zh-CN" sz="2442" dirty="0">
                <a:latin typeface="Times New Roman" pitchFamily="18" charset="0"/>
                <a:cs typeface="Times New Roman" pitchFamily="18" charset="0"/>
              </a:rPr>
              <a:t> </a:t>
            </a:r>
            <a:r>
              <a:rPr lang="en-US" altLang="zh-CN" sz="2442" i="1" dirty="0">
                <a:latin typeface="Times New Roman" pitchFamily="18" charset="0"/>
                <a:cs typeface="Times New Roman" pitchFamily="18" charset="0"/>
              </a:rPr>
              <a:t>v</a:t>
            </a:r>
          </a:p>
        </p:txBody>
      </p:sp>
      <p:sp>
        <p:nvSpPr>
          <p:cNvPr id="109585" name="TextBox 1"/>
          <p:cNvSpPr txBox="1">
            <a:spLocks noChangeArrowheads="1"/>
          </p:cNvSpPr>
          <p:nvPr/>
        </p:nvSpPr>
        <p:spPr bwMode="auto">
          <a:xfrm>
            <a:off x="8017114" y="2891839"/>
            <a:ext cx="2019039"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ts val="2449"/>
              </a:lnSpc>
            </a:pPr>
            <a:r>
              <a:rPr lang="en-US" altLang="zh-CN" sz="2540">
                <a:latin typeface="楷体" panose="02010609060101010101" pitchFamily="49" charset="-122"/>
                <a:ea typeface="楷体" panose="02010609060101010101" pitchFamily="49" charset="-122"/>
                <a:cs typeface="楷体_GB2312"/>
              </a:rPr>
              <a:t>以歧化终止为例，链转移反应对平均聚合度影响的定量关系式</a:t>
            </a:r>
          </a:p>
        </p:txBody>
      </p:sp>
      <p:sp>
        <p:nvSpPr>
          <p:cNvPr id="109586" name="TextBox 1"/>
          <p:cNvSpPr txBox="1">
            <a:spLocks noChangeArrowheads="1"/>
          </p:cNvSpPr>
          <p:nvPr/>
        </p:nvSpPr>
        <p:spPr bwMode="auto">
          <a:xfrm>
            <a:off x="3953113" y="5023208"/>
            <a:ext cx="5531964"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：无链转移反应的聚合度（歧化终止）</a:t>
            </a:r>
          </a:p>
        </p:txBody>
      </p:sp>
      <p:sp>
        <p:nvSpPr>
          <p:cNvPr id="12" name="Freeform 3"/>
          <p:cNvSpPr/>
          <p:nvPr/>
        </p:nvSpPr>
        <p:spPr>
          <a:xfrm>
            <a:off x="2446753" y="3012808"/>
            <a:ext cx="375870" cy="24482"/>
          </a:xfrm>
          <a:custGeom>
            <a:avLst/>
            <a:gdLst>
              <a:gd name="connsiteX0" fmla="*/ 6704 w 414977"/>
              <a:gd name="connsiteY0" fmla="*/ 6704 h 26816"/>
              <a:gd name="connsiteX1" fmla="*/ 408273 w 414977"/>
              <a:gd name="connsiteY1" fmla="*/ 6704 h 26816"/>
            </a:gdLst>
            <a:ahLst/>
            <a:cxnLst>
              <a:cxn ang="0">
                <a:pos x="connsiteX0" y="connsiteY0"/>
              </a:cxn>
              <a:cxn ang="1">
                <a:pos x="connsiteX1" y="connsiteY1"/>
              </a:cxn>
            </a:cxnLst>
            <a:rect l="l" t="t" r="r" b="b"/>
            <a:pathLst>
              <a:path w="414977" h="26816">
                <a:moveTo>
                  <a:pt x="6704" y="6704"/>
                </a:moveTo>
                <a:lnTo>
                  <a:pt x="408273"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2420831" y="2973928"/>
            <a:ext cx="427714" cy="24481"/>
          </a:xfrm>
          <a:custGeom>
            <a:avLst/>
            <a:gdLst>
              <a:gd name="connsiteX0" fmla="*/ 6704 w 472896"/>
              <a:gd name="connsiteY0" fmla="*/ 6704 h 26816"/>
              <a:gd name="connsiteX1" fmla="*/ 466192 w 472896"/>
              <a:gd name="connsiteY1" fmla="*/ 6704 h 26816"/>
            </a:gdLst>
            <a:ahLst/>
            <a:cxnLst>
              <a:cxn ang="0">
                <a:pos x="connsiteX0" y="connsiteY0"/>
              </a:cxn>
              <a:cxn ang="1">
                <a:pos x="connsiteX1" y="connsiteY1"/>
              </a:cxn>
            </a:cxnLst>
            <a:rect l="l" t="t" r="r" b="b"/>
            <a:pathLst>
              <a:path w="472896" h="26816">
                <a:moveTo>
                  <a:pt x="6704" y="6704"/>
                </a:moveTo>
                <a:lnTo>
                  <a:pt x="466192"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3171130" y="2973928"/>
            <a:ext cx="996558" cy="24481"/>
          </a:xfrm>
          <a:custGeom>
            <a:avLst/>
            <a:gdLst>
              <a:gd name="connsiteX0" fmla="*/ 6704 w 1098491"/>
              <a:gd name="connsiteY0" fmla="*/ 6704 h 26816"/>
              <a:gd name="connsiteX1" fmla="*/ 1091786 w 1098491"/>
              <a:gd name="connsiteY1" fmla="*/ 6704 h 26816"/>
            </a:gdLst>
            <a:ahLst/>
            <a:cxnLst>
              <a:cxn ang="0">
                <a:pos x="connsiteX0" y="connsiteY0"/>
              </a:cxn>
              <a:cxn ang="1">
                <a:pos x="connsiteX1" y="connsiteY1"/>
              </a:cxn>
            </a:cxnLst>
            <a:rect l="l" t="t" r="r" b="b"/>
            <a:pathLst>
              <a:path w="1098491" h="26816">
                <a:moveTo>
                  <a:pt x="6704" y="6704"/>
                </a:moveTo>
                <a:lnTo>
                  <a:pt x="1091786"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5576122" y="2973928"/>
            <a:ext cx="527082" cy="24481"/>
          </a:xfrm>
          <a:custGeom>
            <a:avLst/>
            <a:gdLst>
              <a:gd name="connsiteX0" fmla="*/ 6704 w 581096"/>
              <a:gd name="connsiteY0" fmla="*/ 6704 h 26816"/>
              <a:gd name="connsiteX1" fmla="*/ 574392 w 581096"/>
              <a:gd name="connsiteY1" fmla="*/ 6704 h 26816"/>
            </a:gdLst>
            <a:ahLst/>
            <a:cxnLst>
              <a:cxn ang="0">
                <a:pos x="connsiteX0" y="connsiteY0"/>
              </a:cxn>
              <a:cxn ang="1">
                <a:pos x="connsiteX1" y="connsiteY1"/>
              </a:cxn>
            </a:cxnLst>
            <a:rect l="l" t="t" r="r" b="b"/>
            <a:pathLst>
              <a:path w="581096" h="26816">
                <a:moveTo>
                  <a:pt x="6704" y="6704"/>
                </a:moveTo>
                <a:lnTo>
                  <a:pt x="574392"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7020555" y="2973928"/>
            <a:ext cx="527082" cy="24481"/>
          </a:xfrm>
          <a:custGeom>
            <a:avLst/>
            <a:gdLst>
              <a:gd name="connsiteX0" fmla="*/ 6704 w 581096"/>
              <a:gd name="connsiteY0" fmla="*/ 6704 h 26816"/>
              <a:gd name="connsiteX1" fmla="*/ 574392 w 581096"/>
              <a:gd name="connsiteY1" fmla="*/ 6704 h 26816"/>
            </a:gdLst>
            <a:ahLst/>
            <a:cxnLst>
              <a:cxn ang="0">
                <a:pos x="connsiteX0" y="connsiteY0"/>
              </a:cxn>
              <a:cxn ang="1">
                <a:pos x="connsiteX1" y="connsiteY1"/>
              </a:cxn>
            </a:cxnLst>
            <a:rect l="l" t="t" r="r" b="b"/>
            <a:pathLst>
              <a:path w="581096" h="26816">
                <a:moveTo>
                  <a:pt x="6704" y="6704"/>
                </a:moveTo>
                <a:lnTo>
                  <a:pt x="574392"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35" name="TextBox 1"/>
          <p:cNvSpPr txBox="1"/>
          <p:nvPr/>
        </p:nvSpPr>
        <p:spPr>
          <a:xfrm>
            <a:off x="3192734" y="2891838"/>
            <a:ext cx="841577" cy="489749"/>
          </a:xfrm>
          <a:prstGeom prst="rect">
            <a:avLst/>
          </a:prstGeom>
          <a:noFill/>
        </p:spPr>
        <p:txBody>
          <a:bodyPr wrap="none" lIns="0" tIns="0" rIns="0">
            <a:spAutoFit/>
          </a:bodyPr>
          <a:lstStyle/>
          <a:p>
            <a:pPr>
              <a:lnSpc>
                <a:spcPts val="3720"/>
              </a:lnSpc>
              <a:defRPr/>
            </a:pPr>
            <a:r>
              <a:rPr lang="en-US" altLang="zh-CN" sz="2112" b="1" i="1" dirty="0">
                <a:latin typeface="Times New Roman" pitchFamily="18" charset="0"/>
                <a:cs typeface="Times New Roman" pitchFamily="18" charset="0"/>
              </a:rPr>
              <a:t>k</a:t>
            </a:r>
            <a:r>
              <a:rPr lang="en-US" altLang="zh-CN" sz="1232" dirty="0">
                <a:latin typeface="Times New Roman" pitchFamily="18" charset="0"/>
                <a:cs typeface="Times New Roman" pitchFamily="18" charset="0"/>
              </a:rPr>
              <a:t> </a:t>
            </a:r>
            <a:r>
              <a:rPr lang="en-US" altLang="zh-CN" sz="1232" b="1" i="1" dirty="0">
                <a:latin typeface="Times New Roman" pitchFamily="18" charset="0"/>
                <a:cs typeface="Times New Roman" pitchFamily="18" charset="0"/>
              </a:rPr>
              <a:t>p</a:t>
            </a: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M</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p>
        </p:txBody>
      </p:sp>
      <p:sp>
        <p:nvSpPr>
          <p:cNvPr id="36" name="TextBox 1"/>
          <p:cNvSpPr txBox="1"/>
          <p:nvPr/>
        </p:nvSpPr>
        <p:spPr>
          <a:xfrm>
            <a:off x="5656768" y="2392121"/>
            <a:ext cx="1772921" cy="580031"/>
          </a:xfrm>
          <a:prstGeom prst="rect">
            <a:avLst/>
          </a:prstGeom>
          <a:noFill/>
        </p:spPr>
        <p:txBody>
          <a:bodyPr wrap="none" lIns="0" tIns="0" rIns="0">
            <a:spAutoFit/>
          </a:bodyPr>
          <a:lstStyle/>
          <a:p>
            <a:pPr>
              <a:lnSpc>
                <a:spcPts val="4717"/>
              </a:lnSpc>
              <a:defRPr/>
            </a:pP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I</a:t>
            </a:r>
            <a:r>
              <a:rPr lang="en-US" altLang="zh-CN" sz="2965" dirty="0">
                <a:latin typeface="Symbol" pitchFamily="18" charset="0"/>
                <a:cs typeface="Symbol" pitchFamily="18" charset="0"/>
              </a:rPr>
              <a:t>]</a:t>
            </a:r>
            <a:r>
              <a:rPr lang="en-US" altLang="zh-CN" sz="2112"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S</a:t>
            </a:r>
            <a:r>
              <a:rPr lang="en-US" altLang="zh-CN" sz="2965" dirty="0">
                <a:latin typeface="Symbol" pitchFamily="18" charset="0"/>
                <a:cs typeface="Symbol" pitchFamily="18" charset="0"/>
              </a:rPr>
              <a:t>]</a:t>
            </a:r>
          </a:p>
        </p:txBody>
      </p:sp>
      <p:sp>
        <p:nvSpPr>
          <p:cNvPr id="37" name="TextBox 1"/>
          <p:cNvSpPr txBox="1"/>
          <p:nvPr/>
        </p:nvSpPr>
        <p:spPr>
          <a:xfrm>
            <a:off x="5576120" y="2945123"/>
            <a:ext cx="2027799" cy="480131"/>
          </a:xfrm>
          <a:prstGeom prst="rect">
            <a:avLst/>
          </a:prstGeom>
          <a:noFill/>
        </p:spPr>
        <p:txBody>
          <a:bodyPr wrap="none" lIns="0" tIns="0" rIns="0">
            <a:spAutoFit/>
          </a:bodyPr>
          <a:lstStyle/>
          <a:p>
            <a:pPr>
              <a:lnSpc>
                <a:spcPts val="3629"/>
              </a:lnSpc>
              <a:defRPr/>
            </a:pP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M</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M</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p>
        </p:txBody>
      </p:sp>
      <p:sp>
        <p:nvSpPr>
          <p:cNvPr id="46" name="TextBox 1"/>
          <p:cNvSpPr txBox="1"/>
          <p:nvPr/>
        </p:nvSpPr>
        <p:spPr>
          <a:xfrm>
            <a:off x="6614441" y="3007047"/>
            <a:ext cx="336631" cy="215444"/>
          </a:xfrm>
          <a:prstGeom prst="rect">
            <a:avLst/>
          </a:prstGeom>
          <a:noFill/>
        </p:spPr>
        <p:txBody>
          <a:bodyPr wrap="none" lIns="0" tIns="0" rIns="0">
            <a:spAutoFit/>
          </a:bodyPr>
          <a:lstStyle/>
          <a:p>
            <a:pPr>
              <a:lnSpc>
                <a:spcPts val="1089"/>
              </a:lnSpc>
              <a:defRPr/>
            </a:pPr>
            <a:r>
              <a:rPr lang="en-US" altLang="zh-CN" sz="2112" b="1" i="1" dirty="0">
                <a:solidFill>
                  <a:prstClr val="black"/>
                </a:solidFill>
                <a:latin typeface="Times New Roman" pitchFamily="18" charset="0"/>
                <a:ea typeface="宋体"/>
                <a:cs typeface="Times New Roman" pitchFamily="18" charset="0"/>
              </a:rPr>
              <a:t>C </a:t>
            </a:r>
            <a:r>
              <a:rPr lang="en-US" altLang="zh-CN" sz="1232" b="1" i="1" dirty="0">
                <a:latin typeface="Times New Roman" pitchFamily="18" charset="0"/>
                <a:cs typeface="Times New Roman" pitchFamily="18" charset="0"/>
              </a:rPr>
              <a:t>S</a:t>
            </a:r>
          </a:p>
        </p:txBody>
      </p:sp>
      <p:sp>
        <p:nvSpPr>
          <p:cNvPr id="47" name="TextBox 1"/>
          <p:cNvSpPr txBox="1"/>
          <p:nvPr/>
        </p:nvSpPr>
        <p:spPr>
          <a:xfrm>
            <a:off x="4218092" y="2776629"/>
            <a:ext cx="1144544" cy="387542"/>
          </a:xfrm>
          <a:prstGeom prst="rect">
            <a:avLst/>
          </a:prstGeom>
          <a:noFill/>
        </p:spPr>
        <p:txBody>
          <a:bodyPr wrap="none" lIns="0" tIns="0" rIns="0">
            <a:spAutoFit/>
          </a:bodyPr>
          <a:lstStyle/>
          <a:p>
            <a:pPr>
              <a:lnSpc>
                <a:spcPts val="2903"/>
              </a:lnSpc>
              <a:defRPr/>
            </a:pPr>
            <a:r>
              <a:rPr lang="en-US" altLang="zh-CN" sz="2112" dirty="0">
                <a:latin typeface="Symbol" pitchFamily="18" charset="0"/>
                <a:cs typeface="Symbol" pitchFamily="18" charset="0"/>
              </a:rPr>
              <a:t>+</a:t>
            </a:r>
            <a:r>
              <a:rPr lang="en-US" altLang="zh-CN" sz="2112" dirty="0">
                <a:latin typeface="Times New Roman" pitchFamily="18" charset="0"/>
                <a:cs typeface="Times New Roman" pitchFamily="18" charset="0"/>
              </a:rPr>
              <a:t> </a:t>
            </a:r>
            <a:r>
              <a:rPr lang="en-US" altLang="zh-CN" sz="2112" b="1" i="1" dirty="0">
                <a:latin typeface="Times New Roman" pitchFamily="18" charset="0"/>
                <a:cs typeface="Times New Roman" pitchFamily="18" charset="0"/>
              </a:rPr>
              <a:t>C</a:t>
            </a:r>
            <a:r>
              <a:rPr lang="en-US" altLang="zh-CN" sz="1232" dirty="0">
                <a:latin typeface="Times New Roman" pitchFamily="18" charset="0"/>
                <a:cs typeface="Times New Roman" pitchFamily="18" charset="0"/>
              </a:rPr>
              <a:t> </a:t>
            </a:r>
            <a:r>
              <a:rPr lang="en-US" altLang="zh-CN" sz="1232" b="1" i="1" dirty="0">
                <a:latin typeface="Times New Roman" pitchFamily="18" charset="0"/>
                <a:cs typeface="Times New Roman" pitchFamily="18" charset="0"/>
              </a:rPr>
              <a:t>M</a:t>
            </a:r>
            <a:r>
              <a:rPr lang="en-US" altLang="zh-CN" sz="2112" dirty="0">
                <a:latin typeface="Times New Roman" pitchFamily="18" charset="0"/>
                <a:cs typeface="Times New Roman" pitchFamily="18" charset="0"/>
              </a:rPr>
              <a:t> </a:t>
            </a:r>
            <a:r>
              <a:rPr lang="en-US" altLang="zh-CN" sz="2112" dirty="0">
                <a:latin typeface="Symbol" pitchFamily="18" charset="0"/>
                <a:cs typeface="Symbol" pitchFamily="18" charset="0"/>
              </a:rPr>
              <a:t>+</a:t>
            </a:r>
            <a:r>
              <a:rPr lang="en-US" altLang="zh-CN" sz="2112" dirty="0">
                <a:latin typeface="Times New Roman" pitchFamily="18" charset="0"/>
                <a:cs typeface="Times New Roman" pitchFamily="18" charset="0"/>
              </a:rPr>
              <a:t> </a:t>
            </a:r>
            <a:r>
              <a:rPr lang="en-US" altLang="zh-CN" sz="2112" b="1" i="1" dirty="0">
                <a:latin typeface="Times New Roman" pitchFamily="18" charset="0"/>
                <a:cs typeface="Times New Roman" pitchFamily="18" charset="0"/>
              </a:rPr>
              <a:t>C</a:t>
            </a:r>
            <a:r>
              <a:rPr lang="en-US" altLang="zh-CN" sz="1232" dirty="0">
                <a:latin typeface="Times New Roman" pitchFamily="18" charset="0"/>
                <a:cs typeface="Times New Roman" pitchFamily="18" charset="0"/>
              </a:rPr>
              <a:t> </a:t>
            </a:r>
            <a:r>
              <a:rPr lang="en-US" altLang="zh-CN" sz="1232" b="1" i="1" dirty="0">
                <a:latin typeface="Times New Roman" pitchFamily="18" charset="0"/>
                <a:cs typeface="Times New Roman" pitchFamily="18" charset="0"/>
              </a:rPr>
              <a:t>I</a:t>
            </a:r>
          </a:p>
        </p:txBody>
      </p:sp>
      <p:sp>
        <p:nvSpPr>
          <p:cNvPr id="48" name="TextBox 1"/>
          <p:cNvSpPr txBox="1"/>
          <p:nvPr/>
        </p:nvSpPr>
        <p:spPr>
          <a:xfrm>
            <a:off x="2916230" y="2776630"/>
            <a:ext cx="149080" cy="366767"/>
          </a:xfrm>
          <a:prstGeom prst="rect">
            <a:avLst/>
          </a:prstGeom>
          <a:noFill/>
        </p:spPr>
        <p:txBody>
          <a:bodyPr wrap="none" lIns="0" tIns="0" rIns="0">
            <a:spAutoFit/>
          </a:bodyPr>
          <a:lstStyle/>
          <a:p>
            <a:pPr>
              <a:lnSpc>
                <a:spcPts val="2540"/>
              </a:lnSpc>
              <a:defRPr/>
            </a:pPr>
            <a:r>
              <a:rPr lang="en-US" altLang="zh-CN" sz="2112" dirty="0">
                <a:latin typeface="Symbol" pitchFamily="18" charset="0"/>
                <a:cs typeface="Symbol" pitchFamily="18" charset="0"/>
              </a:rPr>
              <a:t>=</a:t>
            </a:r>
          </a:p>
        </p:txBody>
      </p:sp>
      <p:sp>
        <p:nvSpPr>
          <p:cNvPr id="49" name="TextBox 1"/>
          <p:cNvSpPr txBox="1"/>
          <p:nvPr/>
        </p:nvSpPr>
        <p:spPr>
          <a:xfrm>
            <a:off x="3388588" y="3018570"/>
            <a:ext cx="838371" cy="212879"/>
          </a:xfrm>
          <a:prstGeom prst="rect">
            <a:avLst/>
          </a:prstGeom>
          <a:noFill/>
        </p:spPr>
        <p:txBody>
          <a:bodyPr wrap="none" lIns="0" tIns="0" rIns="0">
            <a:spAutoFit/>
          </a:bodyPr>
          <a:lstStyle/>
          <a:p>
            <a:pPr>
              <a:lnSpc>
                <a:spcPts val="1270"/>
              </a:lnSpc>
              <a:defRPr/>
            </a:pPr>
            <a:r>
              <a:rPr lang="en-US" altLang="zh-CN" sz="1232" b="1" dirty="0">
                <a:latin typeface="Times New Roman" pitchFamily="18" charset="0"/>
                <a:cs typeface="Times New Roman" pitchFamily="18" charset="0"/>
              </a:rPr>
              <a:t>2</a:t>
            </a:r>
            <a:r>
              <a:rPr lang="en-US" altLang="zh-CN" sz="1232" dirty="0">
                <a:latin typeface="Times New Roman" pitchFamily="18" charset="0"/>
                <a:cs typeface="Times New Roman" pitchFamily="18" charset="0"/>
              </a:rPr>
              <a:t>                 </a:t>
            </a:r>
            <a:r>
              <a:rPr lang="en-US" altLang="zh-CN" sz="1232" b="1" dirty="0">
                <a:latin typeface="Times New Roman" pitchFamily="18" charset="0"/>
                <a:cs typeface="Times New Roman" pitchFamily="18" charset="0"/>
              </a:rPr>
              <a:t>2</a:t>
            </a:r>
          </a:p>
        </p:txBody>
      </p:sp>
      <p:sp>
        <p:nvSpPr>
          <p:cNvPr id="50" name="TextBox 1"/>
          <p:cNvSpPr txBox="1"/>
          <p:nvPr/>
        </p:nvSpPr>
        <p:spPr>
          <a:xfrm>
            <a:off x="3273379" y="2661423"/>
            <a:ext cx="652423" cy="328295"/>
          </a:xfrm>
          <a:prstGeom prst="rect">
            <a:avLst/>
          </a:prstGeom>
          <a:noFill/>
        </p:spPr>
        <p:txBody>
          <a:bodyPr wrap="none" lIns="0" tIns="0" rIns="0">
            <a:spAutoFit/>
          </a:bodyPr>
          <a:lstStyle/>
          <a:p>
            <a:pPr>
              <a:lnSpc>
                <a:spcPts val="2177"/>
              </a:lnSpc>
              <a:defRPr/>
            </a:pPr>
            <a:r>
              <a:rPr lang="en-US" altLang="zh-CN" sz="2112" b="1" dirty="0">
                <a:latin typeface="Times New Roman" pitchFamily="18" charset="0"/>
                <a:cs typeface="Times New Roman" pitchFamily="18" charset="0"/>
              </a:rPr>
              <a:t>2</a:t>
            </a:r>
            <a:r>
              <a:rPr lang="en-US" altLang="zh-CN" sz="2112" b="1" i="1" dirty="0">
                <a:latin typeface="Times New Roman" pitchFamily="18" charset="0"/>
                <a:cs typeface="Times New Roman" pitchFamily="18" charset="0"/>
              </a:rPr>
              <a:t>k</a:t>
            </a:r>
            <a:r>
              <a:rPr lang="en-US" altLang="zh-CN" sz="1232" dirty="0">
                <a:latin typeface="Times New Roman" pitchFamily="18" charset="0"/>
                <a:cs typeface="Times New Roman" pitchFamily="18" charset="0"/>
              </a:rPr>
              <a:t> </a:t>
            </a:r>
            <a:r>
              <a:rPr lang="en-US" altLang="zh-CN" sz="1232" b="1" i="1" dirty="0">
                <a:latin typeface="Times New Roman" pitchFamily="18" charset="0"/>
                <a:cs typeface="Times New Roman" pitchFamily="18" charset="0"/>
              </a:rPr>
              <a:t>t</a:t>
            </a:r>
            <a:r>
              <a:rPr lang="en-US" altLang="zh-CN" sz="2112" b="1" i="1" dirty="0">
                <a:latin typeface="Times New Roman" pitchFamily="18" charset="0"/>
                <a:cs typeface="Times New Roman" pitchFamily="18" charset="0"/>
              </a:rPr>
              <a:t>R</a:t>
            </a:r>
            <a:r>
              <a:rPr lang="en-US" altLang="zh-CN" sz="1232" dirty="0">
                <a:latin typeface="Times New Roman" pitchFamily="18" charset="0"/>
                <a:cs typeface="Times New Roman" pitchFamily="18" charset="0"/>
              </a:rPr>
              <a:t> </a:t>
            </a:r>
            <a:r>
              <a:rPr lang="en-US" altLang="zh-CN" sz="1232" b="1" i="1" dirty="0">
                <a:latin typeface="Times New Roman" pitchFamily="18" charset="0"/>
                <a:cs typeface="Times New Roman" pitchFamily="18" charset="0"/>
              </a:rPr>
              <a:t>p</a:t>
            </a:r>
          </a:p>
        </p:txBody>
      </p:sp>
      <p:sp>
        <p:nvSpPr>
          <p:cNvPr id="51" name="TextBox 1"/>
          <p:cNvSpPr txBox="1"/>
          <p:nvPr/>
        </p:nvSpPr>
        <p:spPr>
          <a:xfrm>
            <a:off x="2443873" y="2684463"/>
            <a:ext cx="323807" cy="713016"/>
          </a:xfrm>
          <a:prstGeom prst="rect">
            <a:avLst/>
          </a:prstGeom>
          <a:noFill/>
        </p:spPr>
        <p:txBody>
          <a:bodyPr wrap="none" lIns="0" tIns="0" rIns="0">
            <a:spAutoFit/>
          </a:bodyPr>
          <a:lstStyle/>
          <a:p>
            <a:pPr>
              <a:lnSpc>
                <a:spcPts val="1814"/>
              </a:lnSpc>
              <a:tabLst>
                <a:tab pos="103697" algn="l"/>
              </a:tabLst>
              <a:defRPr/>
            </a:pPr>
            <a:r>
              <a:rPr lang="en-US" altLang="zh-CN" sz="1633" dirty="0"/>
              <a:t>	</a:t>
            </a:r>
            <a:r>
              <a:rPr lang="en-US" altLang="zh-CN" sz="2112" b="1" dirty="0">
                <a:latin typeface="Times New Roman" pitchFamily="18" charset="0"/>
                <a:cs typeface="Times New Roman" pitchFamily="18" charset="0"/>
              </a:rPr>
              <a:t>1</a:t>
            </a:r>
          </a:p>
          <a:p>
            <a:pPr>
              <a:lnSpc>
                <a:spcPts val="907"/>
              </a:lnSpc>
              <a:defRPr/>
            </a:pPr>
            <a:endParaRPr lang="en-US" altLang="zh-CN" sz="1633" dirty="0"/>
          </a:p>
          <a:p>
            <a:pPr>
              <a:lnSpc>
                <a:spcPts val="2540"/>
              </a:lnSpc>
              <a:tabLst>
                <a:tab pos="103697" algn="l"/>
              </a:tabLst>
              <a:defRPr/>
            </a:pPr>
            <a:r>
              <a:rPr lang="en-US" altLang="zh-CN" sz="2112" b="1" dirty="0">
                <a:latin typeface="Times New Roman" pitchFamily="18" charset="0"/>
                <a:cs typeface="Times New Roman" pitchFamily="18" charset="0"/>
              </a:rPr>
              <a:t>X</a:t>
            </a:r>
            <a:r>
              <a:rPr lang="en-US" altLang="zh-CN" sz="1232" dirty="0">
                <a:latin typeface="Times New Roman" pitchFamily="18" charset="0"/>
                <a:cs typeface="Times New Roman" pitchFamily="18" charset="0"/>
              </a:rPr>
              <a:t> </a:t>
            </a:r>
            <a:r>
              <a:rPr lang="en-US" altLang="zh-CN" sz="1232" b="1" dirty="0">
                <a:latin typeface="Times New Roman" pitchFamily="18" charset="0"/>
                <a:cs typeface="Times New Roman" pitchFamily="18" charset="0"/>
              </a:rPr>
              <a:t>n</a:t>
            </a:r>
          </a:p>
        </p:txBody>
      </p:sp>
      <p:sp>
        <p:nvSpPr>
          <p:cNvPr id="43" name="矩形 42"/>
          <p:cNvSpPr/>
          <p:nvPr/>
        </p:nvSpPr>
        <p:spPr>
          <a:xfrm>
            <a:off x="6312017" y="2802553"/>
            <a:ext cx="333746" cy="417358"/>
          </a:xfrm>
          <a:prstGeom prst="rect">
            <a:avLst/>
          </a:prstGeom>
        </p:spPr>
        <p:txBody>
          <a:bodyPr wrap="none">
            <a:spAutoFit/>
          </a:bodyPr>
          <a:lstStyle/>
          <a:p>
            <a:pPr>
              <a:defRPr/>
            </a:pPr>
            <a:r>
              <a:rPr lang="en-US" altLang="zh-CN" sz="2112" dirty="0">
                <a:solidFill>
                  <a:prstClr val="black"/>
                </a:solidFill>
                <a:latin typeface="Symbol" pitchFamily="18" charset="0"/>
                <a:ea typeface="宋体"/>
                <a:cs typeface="Symbol" pitchFamily="18" charset="0"/>
              </a:rPr>
              <a:t>+</a:t>
            </a:r>
            <a:endParaRPr lang="zh-CN" altLang="en-US" sz="1633" dirty="0"/>
          </a:p>
        </p:txBody>
      </p:sp>
      <p:sp>
        <p:nvSpPr>
          <p:cNvPr id="72" name="Freeform 3"/>
          <p:cNvSpPr/>
          <p:nvPr/>
        </p:nvSpPr>
        <p:spPr>
          <a:xfrm>
            <a:off x="5361544" y="4241227"/>
            <a:ext cx="527082" cy="24481"/>
          </a:xfrm>
          <a:custGeom>
            <a:avLst/>
            <a:gdLst>
              <a:gd name="connsiteX0" fmla="*/ 6704 w 581096"/>
              <a:gd name="connsiteY0" fmla="*/ 6704 h 26816"/>
              <a:gd name="connsiteX1" fmla="*/ 574392 w 581096"/>
              <a:gd name="connsiteY1" fmla="*/ 6704 h 26816"/>
            </a:gdLst>
            <a:ahLst/>
            <a:cxnLst>
              <a:cxn ang="0">
                <a:pos x="connsiteX0" y="connsiteY0"/>
              </a:cxn>
              <a:cxn ang="1">
                <a:pos x="connsiteX1" y="connsiteY1"/>
              </a:cxn>
            </a:cxnLst>
            <a:rect l="l" t="t" r="r" b="b"/>
            <a:pathLst>
              <a:path w="581096" h="26816">
                <a:moveTo>
                  <a:pt x="6704" y="6704"/>
                </a:moveTo>
                <a:lnTo>
                  <a:pt x="574392"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3" name="Freeform 3"/>
          <p:cNvSpPr/>
          <p:nvPr/>
        </p:nvSpPr>
        <p:spPr>
          <a:xfrm>
            <a:off x="6805978" y="4241227"/>
            <a:ext cx="527082" cy="24481"/>
          </a:xfrm>
          <a:custGeom>
            <a:avLst/>
            <a:gdLst>
              <a:gd name="connsiteX0" fmla="*/ 6704 w 581096"/>
              <a:gd name="connsiteY0" fmla="*/ 6704 h 26816"/>
              <a:gd name="connsiteX1" fmla="*/ 574392 w 581096"/>
              <a:gd name="connsiteY1" fmla="*/ 6704 h 26816"/>
            </a:gdLst>
            <a:ahLst/>
            <a:cxnLst>
              <a:cxn ang="0">
                <a:pos x="connsiteX0" y="connsiteY0"/>
              </a:cxn>
              <a:cxn ang="1">
                <a:pos x="connsiteX1" y="connsiteY1"/>
              </a:cxn>
            </a:cxnLst>
            <a:rect l="l" t="t" r="r" b="b"/>
            <a:pathLst>
              <a:path w="581096" h="26816">
                <a:moveTo>
                  <a:pt x="6704" y="6704"/>
                </a:moveTo>
                <a:lnTo>
                  <a:pt x="574392" y="6704"/>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74" name="TextBox 1"/>
          <p:cNvSpPr txBox="1"/>
          <p:nvPr/>
        </p:nvSpPr>
        <p:spPr>
          <a:xfrm>
            <a:off x="5442191" y="3659421"/>
            <a:ext cx="1772921" cy="580031"/>
          </a:xfrm>
          <a:prstGeom prst="rect">
            <a:avLst/>
          </a:prstGeom>
          <a:noFill/>
        </p:spPr>
        <p:txBody>
          <a:bodyPr wrap="none" lIns="0" tIns="0" rIns="0">
            <a:spAutoFit/>
          </a:bodyPr>
          <a:lstStyle/>
          <a:p>
            <a:pPr>
              <a:lnSpc>
                <a:spcPts val="4717"/>
              </a:lnSpc>
              <a:defRPr/>
            </a:pP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I</a:t>
            </a:r>
            <a:r>
              <a:rPr lang="en-US" altLang="zh-CN" sz="2965" dirty="0">
                <a:latin typeface="Symbol" pitchFamily="18" charset="0"/>
                <a:cs typeface="Symbol" pitchFamily="18" charset="0"/>
              </a:rPr>
              <a:t>]</a:t>
            </a:r>
            <a:r>
              <a:rPr lang="en-US" altLang="zh-CN" sz="2112"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S</a:t>
            </a:r>
            <a:r>
              <a:rPr lang="en-US" altLang="zh-CN" sz="2965" dirty="0">
                <a:latin typeface="Symbol" pitchFamily="18" charset="0"/>
                <a:cs typeface="Symbol" pitchFamily="18" charset="0"/>
              </a:rPr>
              <a:t>]</a:t>
            </a:r>
          </a:p>
        </p:txBody>
      </p:sp>
      <p:sp>
        <p:nvSpPr>
          <p:cNvPr id="75" name="TextBox 1"/>
          <p:cNvSpPr txBox="1"/>
          <p:nvPr/>
        </p:nvSpPr>
        <p:spPr>
          <a:xfrm>
            <a:off x="5361543" y="4212423"/>
            <a:ext cx="2027799" cy="480131"/>
          </a:xfrm>
          <a:prstGeom prst="rect">
            <a:avLst/>
          </a:prstGeom>
          <a:noFill/>
        </p:spPr>
        <p:txBody>
          <a:bodyPr wrap="none" lIns="0" tIns="0" rIns="0">
            <a:spAutoFit/>
          </a:bodyPr>
          <a:lstStyle/>
          <a:p>
            <a:pPr>
              <a:lnSpc>
                <a:spcPts val="3629"/>
              </a:lnSpc>
              <a:defRPr/>
            </a:pP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M</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r>
              <a:rPr lang="en-US" altLang="zh-CN" sz="2112" b="1" i="1" dirty="0">
                <a:latin typeface="Times New Roman" pitchFamily="18" charset="0"/>
                <a:cs typeface="Times New Roman" pitchFamily="18" charset="0"/>
              </a:rPr>
              <a:t>M</a:t>
            </a:r>
            <a:r>
              <a:rPr lang="en-US" altLang="zh-CN" sz="2965" dirty="0">
                <a:latin typeface="Times New Roman" pitchFamily="18" charset="0"/>
                <a:cs typeface="Times New Roman" pitchFamily="18" charset="0"/>
              </a:rPr>
              <a:t> </a:t>
            </a:r>
            <a:r>
              <a:rPr lang="en-US" altLang="zh-CN" sz="2965" dirty="0">
                <a:latin typeface="Symbol" pitchFamily="18" charset="0"/>
                <a:cs typeface="Symbol" pitchFamily="18" charset="0"/>
              </a:rPr>
              <a:t>]</a:t>
            </a:r>
          </a:p>
        </p:txBody>
      </p:sp>
      <p:sp>
        <p:nvSpPr>
          <p:cNvPr id="76" name="TextBox 1"/>
          <p:cNvSpPr txBox="1"/>
          <p:nvPr/>
        </p:nvSpPr>
        <p:spPr>
          <a:xfrm>
            <a:off x="6399865" y="4274347"/>
            <a:ext cx="336631" cy="215444"/>
          </a:xfrm>
          <a:prstGeom prst="rect">
            <a:avLst/>
          </a:prstGeom>
          <a:noFill/>
        </p:spPr>
        <p:txBody>
          <a:bodyPr wrap="none" lIns="0" tIns="0" rIns="0">
            <a:spAutoFit/>
          </a:bodyPr>
          <a:lstStyle/>
          <a:p>
            <a:pPr>
              <a:lnSpc>
                <a:spcPts val="1089"/>
              </a:lnSpc>
              <a:defRPr/>
            </a:pPr>
            <a:r>
              <a:rPr lang="en-US" altLang="zh-CN" sz="2112" b="1" i="1" dirty="0">
                <a:solidFill>
                  <a:prstClr val="black"/>
                </a:solidFill>
                <a:latin typeface="Times New Roman" pitchFamily="18" charset="0"/>
                <a:ea typeface="宋体"/>
                <a:cs typeface="Times New Roman" pitchFamily="18" charset="0"/>
              </a:rPr>
              <a:t>C </a:t>
            </a:r>
            <a:r>
              <a:rPr lang="en-US" altLang="zh-CN" sz="1232" b="1" i="1" dirty="0">
                <a:latin typeface="Times New Roman" pitchFamily="18" charset="0"/>
                <a:cs typeface="Times New Roman" pitchFamily="18" charset="0"/>
              </a:rPr>
              <a:t>S</a:t>
            </a:r>
          </a:p>
        </p:txBody>
      </p:sp>
      <p:sp>
        <p:nvSpPr>
          <p:cNvPr id="77" name="矩形 76"/>
          <p:cNvSpPr/>
          <p:nvPr/>
        </p:nvSpPr>
        <p:spPr>
          <a:xfrm>
            <a:off x="6097441" y="4069853"/>
            <a:ext cx="333746" cy="417358"/>
          </a:xfrm>
          <a:prstGeom prst="rect">
            <a:avLst/>
          </a:prstGeom>
        </p:spPr>
        <p:txBody>
          <a:bodyPr wrap="none">
            <a:spAutoFit/>
          </a:bodyPr>
          <a:lstStyle/>
          <a:p>
            <a:pPr>
              <a:defRPr/>
            </a:pPr>
            <a:r>
              <a:rPr lang="en-US" altLang="zh-CN" sz="2112" dirty="0">
                <a:solidFill>
                  <a:prstClr val="black"/>
                </a:solidFill>
                <a:latin typeface="Symbol" pitchFamily="18" charset="0"/>
                <a:ea typeface="宋体"/>
                <a:cs typeface="Symbol" pitchFamily="18" charset="0"/>
              </a:rPr>
              <a:t>+</a:t>
            </a:r>
            <a:endParaRPr lang="zh-CN" altLang="en-US" sz="1633" dirty="0"/>
          </a:p>
        </p:txBody>
      </p:sp>
      <p:cxnSp>
        <p:nvCxnSpPr>
          <p:cNvPr id="110656" name="直接箭头连接符 110655"/>
          <p:cNvCxnSpPr/>
          <p:nvPr/>
        </p:nvCxnSpPr>
        <p:spPr>
          <a:xfrm flipH="1">
            <a:off x="4789819" y="1565495"/>
            <a:ext cx="786302" cy="115065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0661" name="直接箭头连接符 110660"/>
          <p:cNvCxnSpPr/>
          <p:nvPr/>
        </p:nvCxnSpPr>
        <p:spPr>
          <a:xfrm>
            <a:off x="5888624" y="1643261"/>
            <a:ext cx="0" cy="875589"/>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10663" name="直接箭头连接符 110662"/>
          <p:cNvCxnSpPr/>
          <p:nvPr/>
        </p:nvCxnSpPr>
        <p:spPr>
          <a:xfrm>
            <a:off x="6369624" y="1643260"/>
            <a:ext cx="580366" cy="101816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84" name="TextBox 83"/>
          <p:cNvSpPr txBox="1">
            <a:spLocks noRot="1" noChangeAspect="1" noMove="1" noResize="1" noEditPoints="1" noAdjustHandles="1" noChangeArrowheads="1" noChangeShapeType="1" noTextEdit="1"/>
          </p:cNvSpPr>
          <p:nvPr/>
        </p:nvSpPr>
        <p:spPr>
          <a:xfrm>
            <a:off x="7174861" y="1243765"/>
            <a:ext cx="3639224" cy="798750"/>
          </a:xfrm>
          <a:prstGeom prst="rect">
            <a:avLst/>
          </a:prstGeom>
          <a:blipFill rotWithShape="1">
            <a:blip r:embed="rId2"/>
            <a:stretch>
              <a:fillRect/>
            </a:stretch>
          </a:blipFill>
          <a:ln w="28575">
            <a:solidFill>
              <a:srgbClr val="FF0000"/>
            </a:solidFill>
          </a:ln>
        </p:spPr>
        <p:txBody>
          <a:bodyPr/>
          <a:lstStyle/>
          <a:p>
            <a:r>
              <a:rPr lang="zh-CN" altLang="en-US" sz="1633">
                <a:noFill/>
              </a:rPr>
              <a:t> </a:t>
            </a:r>
          </a:p>
        </p:txBody>
      </p:sp>
      <p:sp>
        <p:nvSpPr>
          <p:cNvPr id="110664" name="TextBox 110663"/>
          <p:cNvSpPr txBox="1">
            <a:spLocks noRot="1" noChangeAspect="1" noMove="1" noResize="1" noEditPoints="1" noAdjustHandles="1" noChangeArrowheads="1" noChangeShapeType="1" noTextEdit="1"/>
          </p:cNvSpPr>
          <p:nvPr/>
        </p:nvSpPr>
        <p:spPr>
          <a:xfrm>
            <a:off x="3258646" y="5650375"/>
            <a:ext cx="4379691" cy="803520"/>
          </a:xfrm>
          <a:prstGeom prst="rect">
            <a:avLst/>
          </a:prstGeom>
          <a:blipFill rotWithShape="1">
            <a:blip r:embed="rId3"/>
            <a:stretch>
              <a:fillRect/>
            </a:stretch>
          </a:blipFill>
        </p:spPr>
        <p:txBody>
          <a:bodyPr/>
          <a:lstStyle/>
          <a:p>
            <a:r>
              <a:rPr lang="zh-CN" altLang="en-US" sz="1633">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heel(1)">
                                      <p:cBhvr>
                                        <p:cTn id="7" dur="2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911910" y="2612458"/>
            <a:ext cx="391711" cy="25922"/>
          </a:xfrm>
          <a:custGeom>
            <a:avLst/>
            <a:gdLst>
              <a:gd name="connsiteX0" fmla="*/ 7086 w 431749"/>
              <a:gd name="connsiteY0" fmla="*/ 7086 h 28346"/>
              <a:gd name="connsiteX1" fmla="*/ 424662 w 431749"/>
              <a:gd name="connsiteY1" fmla="*/ 7086 h 28346"/>
            </a:gdLst>
            <a:ahLst/>
            <a:cxnLst>
              <a:cxn ang="0">
                <a:pos x="connsiteX0" y="connsiteY0"/>
              </a:cxn>
              <a:cxn ang="1">
                <a:pos x="connsiteX1" y="connsiteY1"/>
              </a:cxn>
            </a:cxnLst>
            <a:rect l="l" t="t" r="r" b="b"/>
            <a:pathLst>
              <a:path w="431749" h="28346">
                <a:moveTo>
                  <a:pt x="7086" y="7086"/>
                </a:moveTo>
                <a:lnTo>
                  <a:pt x="424662" y="70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2885988" y="2567815"/>
            <a:ext cx="443555" cy="25922"/>
          </a:xfrm>
          <a:custGeom>
            <a:avLst/>
            <a:gdLst>
              <a:gd name="connsiteX0" fmla="*/ 7086 w 488137"/>
              <a:gd name="connsiteY0" fmla="*/ 7086 h 28346"/>
              <a:gd name="connsiteX1" fmla="*/ 481050 w 488137"/>
              <a:gd name="connsiteY1" fmla="*/ 7086 h 28346"/>
            </a:gdLst>
            <a:ahLst/>
            <a:cxnLst>
              <a:cxn ang="0">
                <a:pos x="connsiteX0" y="connsiteY0"/>
              </a:cxn>
              <a:cxn ang="1">
                <a:pos x="connsiteX1" y="connsiteY1"/>
              </a:cxn>
            </a:cxnLst>
            <a:rect l="l" t="t" r="r" b="b"/>
            <a:pathLst>
              <a:path w="488137" h="28346">
                <a:moveTo>
                  <a:pt x="7086" y="7086"/>
                </a:moveTo>
                <a:lnTo>
                  <a:pt x="481050" y="70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3643490" y="2567815"/>
            <a:ext cx="469477" cy="25922"/>
          </a:xfrm>
          <a:custGeom>
            <a:avLst/>
            <a:gdLst>
              <a:gd name="connsiteX0" fmla="*/ 7086 w 517093"/>
              <a:gd name="connsiteY0" fmla="*/ 7086 h 28346"/>
              <a:gd name="connsiteX1" fmla="*/ 510006 w 517093"/>
              <a:gd name="connsiteY1" fmla="*/ 7086 h 28346"/>
            </a:gdLst>
            <a:ahLst/>
            <a:cxnLst>
              <a:cxn ang="0">
                <a:pos x="connsiteX0" y="connsiteY0"/>
              </a:cxn>
              <a:cxn ang="1">
                <a:pos x="connsiteX1" y="connsiteY1"/>
              </a:cxn>
            </a:cxnLst>
            <a:rect l="l" t="t" r="r" b="b"/>
            <a:pathLst>
              <a:path w="517093" h="28346">
                <a:moveTo>
                  <a:pt x="7086" y="7086"/>
                </a:moveTo>
                <a:lnTo>
                  <a:pt x="510006" y="70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4268498" y="2567815"/>
            <a:ext cx="653811" cy="25922"/>
          </a:xfrm>
          <a:custGeom>
            <a:avLst/>
            <a:gdLst>
              <a:gd name="connsiteX0" fmla="*/ 7086 w 720547"/>
              <a:gd name="connsiteY0" fmla="*/ 7086 h 28346"/>
              <a:gd name="connsiteX1" fmla="*/ 713460 w 720547"/>
              <a:gd name="connsiteY1" fmla="*/ 7086 h 28346"/>
            </a:gdLst>
            <a:ahLst/>
            <a:cxnLst>
              <a:cxn ang="0">
                <a:pos x="connsiteX0" y="connsiteY0"/>
              </a:cxn>
              <a:cxn ang="1">
                <a:pos x="connsiteX1" y="connsiteY1"/>
              </a:cxn>
            </a:cxnLst>
            <a:rect l="l" t="t" r="r" b="b"/>
            <a:pathLst>
              <a:path w="720547" h="28346">
                <a:moveTo>
                  <a:pt x="7086" y="7086"/>
                </a:moveTo>
                <a:lnTo>
                  <a:pt x="713460" y="70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6510753" y="2583655"/>
            <a:ext cx="416193" cy="27363"/>
          </a:xfrm>
          <a:custGeom>
            <a:avLst/>
            <a:gdLst>
              <a:gd name="connsiteX0" fmla="*/ 7486 w 458444"/>
              <a:gd name="connsiteY0" fmla="*/ 7486 h 29946"/>
              <a:gd name="connsiteX1" fmla="*/ 450958 w 458444"/>
              <a:gd name="connsiteY1" fmla="*/ 7486 h 29946"/>
            </a:gdLst>
            <a:ahLst/>
            <a:cxnLst>
              <a:cxn ang="0">
                <a:pos x="connsiteX0" y="connsiteY0"/>
              </a:cxn>
              <a:cxn ang="1">
                <a:pos x="connsiteX1" y="connsiteY1"/>
              </a:cxn>
            </a:cxnLst>
            <a:rect l="l" t="t" r="r" b="b"/>
            <a:pathLst>
              <a:path w="458444" h="29946">
                <a:moveTo>
                  <a:pt x="7486" y="7486"/>
                </a:moveTo>
                <a:lnTo>
                  <a:pt x="450958" y="74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6484832" y="2537571"/>
            <a:ext cx="469477" cy="27363"/>
          </a:xfrm>
          <a:custGeom>
            <a:avLst/>
            <a:gdLst>
              <a:gd name="connsiteX0" fmla="*/ 7486 w 518642"/>
              <a:gd name="connsiteY0" fmla="*/ 7486 h 29946"/>
              <a:gd name="connsiteX1" fmla="*/ 511156 w 518642"/>
              <a:gd name="connsiteY1" fmla="*/ 7486 h 29946"/>
            </a:gdLst>
            <a:ahLst/>
            <a:cxnLst>
              <a:cxn ang="0">
                <a:pos x="connsiteX0" y="connsiteY0"/>
              </a:cxn>
              <a:cxn ang="1">
                <a:pos x="connsiteX1" y="connsiteY1"/>
              </a:cxn>
            </a:cxnLst>
            <a:rect l="l" t="t" r="r" b="b"/>
            <a:pathLst>
              <a:path w="518642" h="29946">
                <a:moveTo>
                  <a:pt x="7486" y="7486"/>
                </a:moveTo>
                <a:lnTo>
                  <a:pt x="511156" y="74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7315777" y="2583655"/>
            <a:ext cx="603407" cy="27363"/>
          </a:xfrm>
          <a:custGeom>
            <a:avLst/>
            <a:gdLst>
              <a:gd name="connsiteX0" fmla="*/ 7486 w 664959"/>
              <a:gd name="connsiteY0" fmla="*/ 7486 h 29946"/>
              <a:gd name="connsiteX1" fmla="*/ 657472 w 664959"/>
              <a:gd name="connsiteY1" fmla="*/ 7486 h 29946"/>
            </a:gdLst>
            <a:ahLst/>
            <a:cxnLst>
              <a:cxn ang="0">
                <a:pos x="connsiteX0" y="connsiteY0"/>
              </a:cxn>
              <a:cxn ang="1">
                <a:pos x="connsiteX1" y="connsiteY1"/>
              </a:cxn>
            </a:cxnLst>
            <a:rect l="l" t="t" r="r" b="b"/>
            <a:pathLst>
              <a:path w="664959" h="29946">
                <a:moveTo>
                  <a:pt x="7486" y="7486"/>
                </a:moveTo>
                <a:lnTo>
                  <a:pt x="657472" y="74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7288415" y="2537571"/>
            <a:ext cx="799263" cy="27363"/>
          </a:xfrm>
          <a:custGeom>
            <a:avLst/>
            <a:gdLst>
              <a:gd name="connsiteX0" fmla="*/ 7486 w 881380"/>
              <a:gd name="connsiteY0" fmla="*/ 7486 h 29946"/>
              <a:gd name="connsiteX1" fmla="*/ 873893 w 881380"/>
              <a:gd name="connsiteY1" fmla="*/ 7486 h 29946"/>
            </a:gdLst>
            <a:ahLst/>
            <a:cxnLst>
              <a:cxn ang="0">
                <a:pos x="connsiteX0" y="connsiteY0"/>
              </a:cxn>
              <a:cxn ang="1">
                <a:pos x="connsiteX1" y="connsiteY1"/>
              </a:cxn>
            </a:cxnLst>
            <a:rect l="l" t="t" r="r" b="b"/>
            <a:pathLst>
              <a:path w="881380" h="29946">
                <a:moveTo>
                  <a:pt x="7486" y="7486"/>
                </a:moveTo>
                <a:lnTo>
                  <a:pt x="873893" y="748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TextBox 1"/>
          <p:cNvSpPr txBox="1"/>
          <p:nvPr/>
        </p:nvSpPr>
        <p:spPr>
          <a:xfrm>
            <a:off x="3719813" y="2503009"/>
            <a:ext cx="1150956" cy="551689"/>
          </a:xfrm>
          <a:prstGeom prst="rect">
            <a:avLst/>
          </a:prstGeom>
          <a:noFill/>
          <a:ln>
            <a:noFill/>
          </a:ln>
        </p:spPr>
        <p:txBody>
          <a:bodyPr wrap="none" lIns="0" tIns="0" rIns="0">
            <a:spAutoFit/>
          </a:bodyPr>
          <a:lstStyle/>
          <a:p>
            <a:pPr>
              <a:lnSpc>
                <a:spcPts val="4173"/>
              </a:lnSpc>
              <a:defRPr/>
            </a:pPr>
            <a:r>
              <a:rPr lang="en-US" altLang="zh-CN" sz="2445" b="1" i="1" dirty="0">
                <a:latin typeface="Times New Roman" pitchFamily="18" charset="0"/>
                <a:cs typeface="Times New Roman" pitchFamily="18" charset="0"/>
              </a:rPr>
              <a:t>k</a:t>
            </a:r>
            <a:r>
              <a:rPr lang="en-US" altLang="zh-CN" sz="1426" b="1" i="1" dirty="0">
                <a:latin typeface="Times New Roman" pitchFamily="18" charset="0"/>
                <a:cs typeface="Times New Roman" pitchFamily="18" charset="0"/>
              </a:rPr>
              <a:t>p</a:t>
            </a:r>
            <a:r>
              <a:rPr lang="en-US" altLang="zh-CN" sz="3432" dirty="0">
                <a:latin typeface="Times New Roman" pitchFamily="18" charset="0"/>
                <a:cs typeface="Times New Roman" pitchFamily="18" charset="0"/>
              </a:rPr>
              <a:t>   </a:t>
            </a:r>
            <a:r>
              <a:rPr lang="en-US" altLang="zh-CN" sz="3432" dirty="0">
                <a:latin typeface="Symbol" pitchFamily="18" charset="0"/>
                <a:cs typeface="Symbol" pitchFamily="18" charset="0"/>
              </a:rPr>
              <a:t>[</a:t>
            </a:r>
            <a:r>
              <a:rPr lang="en-US" altLang="zh-CN" sz="2445" b="1" i="1" dirty="0">
                <a:latin typeface="Times New Roman" pitchFamily="18" charset="0"/>
                <a:cs typeface="Times New Roman" pitchFamily="18" charset="0"/>
              </a:rPr>
              <a:t>M</a:t>
            </a:r>
            <a:r>
              <a:rPr lang="en-US" altLang="zh-CN" sz="3432" dirty="0">
                <a:latin typeface="Symbol" pitchFamily="18" charset="0"/>
                <a:cs typeface="Symbol" pitchFamily="18" charset="0"/>
              </a:rPr>
              <a:t>]</a:t>
            </a:r>
          </a:p>
        </p:txBody>
      </p:sp>
      <p:sp>
        <p:nvSpPr>
          <p:cNvPr id="110603" name="TextBox 1"/>
          <p:cNvSpPr txBox="1">
            <a:spLocks noChangeArrowheads="1"/>
          </p:cNvSpPr>
          <p:nvPr/>
        </p:nvSpPr>
        <p:spPr bwMode="auto">
          <a:xfrm>
            <a:off x="2155851" y="733110"/>
            <a:ext cx="7447552" cy="1142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445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445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445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445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445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445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445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445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445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3.9.2</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向单体的转移（</a:t>
            </a:r>
            <a:r>
              <a:rPr lang="en-US" altLang="zh-CN" sz="2540" b="1">
                <a:latin typeface="Times New Roman" panose="02020603050405020304" pitchFamily="18" charset="0"/>
                <a:cs typeface="Times New Roman" panose="02020603050405020304" pitchFamily="18" charset="0"/>
              </a:rPr>
              <a:t>Transfer</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to</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Monomer</a:t>
            </a:r>
            <a:r>
              <a:rPr lang="en-US" altLang="zh-CN" sz="2540">
                <a:latin typeface="楷体_GB2312"/>
                <a:ea typeface="楷体_GB2312"/>
                <a:cs typeface="楷体_GB2312"/>
              </a:rPr>
              <a:t>）：</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3357"/>
              </a:lnSpc>
            </a:pPr>
            <a:r>
              <a:rPr lang="en-US" altLang="zh-CN" sz="1633"/>
              <a:t>	</a:t>
            </a:r>
            <a:r>
              <a:rPr lang="en-US" altLang="zh-CN" sz="2540">
                <a:latin typeface="楷体_GB2312"/>
                <a:ea typeface="楷体_GB2312"/>
                <a:cs typeface="楷体_GB2312"/>
              </a:rPr>
              <a:t>如：</a:t>
            </a:r>
            <a:r>
              <a:rPr lang="en-US" altLang="zh-CN" sz="2540" b="1">
                <a:latin typeface="Times New Roman" panose="02020603050405020304" pitchFamily="18" charset="0"/>
                <a:cs typeface="Times New Roman" panose="02020603050405020304" pitchFamily="18" charset="0"/>
              </a:rPr>
              <a:t>AIBN</a:t>
            </a:r>
            <a:r>
              <a:rPr lang="en-US" altLang="zh-CN" sz="2540">
                <a:latin typeface="楷体_GB2312"/>
                <a:ea typeface="楷体_GB2312"/>
                <a:cs typeface="楷体_GB2312"/>
              </a:rPr>
              <a:t>作引发剂进行本体聚合（无诱导分解）</a:t>
            </a:r>
          </a:p>
        </p:txBody>
      </p:sp>
      <p:sp>
        <p:nvSpPr>
          <p:cNvPr id="110604" name="TextBox 1"/>
          <p:cNvSpPr txBox="1">
            <a:spLocks noChangeArrowheads="1"/>
          </p:cNvSpPr>
          <p:nvPr/>
        </p:nvSpPr>
        <p:spPr bwMode="auto">
          <a:xfrm>
            <a:off x="2259538" y="3698303"/>
            <a:ext cx="8297143" cy="2679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00100" algn="l"/>
                <a:tab pos="8077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00100" algn="l"/>
                <a:tab pos="8077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00100" algn="l"/>
                <a:tab pos="8077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00100" algn="l"/>
                <a:tab pos="8077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00100" algn="l"/>
                <a:tab pos="8077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00100" algn="l"/>
                <a:tab pos="8077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00100" algn="l"/>
                <a:tab pos="8077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00100" algn="l"/>
                <a:tab pos="8077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00100" algn="l"/>
                <a:tab pos="8077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向单体链转移能力与单体结构、温度等因素有关。</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叔氢原子、氯原子等容易被自由基所夺取而发生链转移</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反应。</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996"/>
              </a:lnSpc>
            </a:pPr>
            <a:r>
              <a:rPr lang="en-US" altLang="zh-CN" sz="1633"/>
              <a:t>		</a:t>
            </a:r>
            <a:r>
              <a:rPr lang="en-US" altLang="zh-CN" sz="1089">
                <a:latin typeface="Times New Roman" panose="02020603050405020304" pitchFamily="18" charset="0"/>
                <a:cs typeface="Times New Roman" panose="02020603050405020304" pitchFamily="18" charset="0"/>
              </a:rPr>
              <a:t>95</a:t>
            </a:r>
          </a:p>
        </p:txBody>
      </p:sp>
      <p:sp>
        <p:nvSpPr>
          <p:cNvPr id="24" name="TextBox 1"/>
          <p:cNvSpPr txBox="1"/>
          <p:nvPr/>
        </p:nvSpPr>
        <p:spPr>
          <a:xfrm>
            <a:off x="4975594" y="2338836"/>
            <a:ext cx="541815" cy="445507"/>
          </a:xfrm>
          <a:prstGeom prst="rect">
            <a:avLst/>
          </a:prstGeom>
          <a:noFill/>
          <a:ln>
            <a:noFill/>
          </a:ln>
        </p:spPr>
        <p:txBody>
          <a:bodyPr wrap="none" lIns="0" tIns="0" rIns="0">
            <a:spAutoFit/>
          </a:bodyPr>
          <a:lstStyle/>
          <a:p>
            <a:pPr>
              <a:lnSpc>
                <a:spcPts val="3357"/>
              </a:lnSpc>
              <a:defRPr/>
            </a:pPr>
            <a:r>
              <a:rPr lang="en-US" altLang="zh-CN" sz="2445" dirty="0">
                <a:latin typeface="Symbol" pitchFamily="18" charset="0"/>
                <a:cs typeface="Symbol" pitchFamily="18" charset="0"/>
              </a:rPr>
              <a:t>+</a:t>
            </a:r>
            <a:r>
              <a:rPr lang="en-US" altLang="zh-CN" sz="2445" b="1" i="1" dirty="0">
                <a:latin typeface="Times New Roman" pitchFamily="18" charset="0"/>
                <a:cs typeface="Times New Roman" pitchFamily="18" charset="0"/>
              </a:rPr>
              <a:t>C</a:t>
            </a:r>
            <a:r>
              <a:rPr lang="en-US" altLang="zh-CN" sz="1426" b="1" i="1" dirty="0">
                <a:latin typeface="Times New Roman" pitchFamily="18" charset="0"/>
                <a:cs typeface="Times New Roman" pitchFamily="18" charset="0"/>
              </a:rPr>
              <a:t>M</a:t>
            </a:r>
          </a:p>
        </p:txBody>
      </p:sp>
      <p:sp>
        <p:nvSpPr>
          <p:cNvPr id="25" name="TextBox 1"/>
          <p:cNvSpPr txBox="1"/>
          <p:nvPr/>
        </p:nvSpPr>
        <p:spPr>
          <a:xfrm>
            <a:off x="3397227" y="2338837"/>
            <a:ext cx="171522" cy="418063"/>
          </a:xfrm>
          <a:prstGeom prst="rect">
            <a:avLst/>
          </a:prstGeom>
          <a:noFill/>
          <a:ln>
            <a:noFill/>
          </a:ln>
        </p:spPr>
        <p:txBody>
          <a:bodyPr wrap="none" lIns="0" tIns="0" rIns="0">
            <a:spAutoFit/>
          </a:bodyPr>
          <a:lstStyle/>
          <a:p>
            <a:pPr>
              <a:lnSpc>
                <a:spcPts val="2903"/>
              </a:lnSpc>
              <a:defRPr/>
            </a:pPr>
            <a:r>
              <a:rPr lang="en-US" altLang="zh-CN" sz="2445" dirty="0">
                <a:latin typeface="Symbol" pitchFamily="18" charset="0"/>
                <a:cs typeface="Symbol" pitchFamily="18" charset="0"/>
              </a:rPr>
              <a:t>=</a:t>
            </a:r>
          </a:p>
        </p:txBody>
      </p:sp>
      <p:sp>
        <p:nvSpPr>
          <p:cNvPr id="26" name="TextBox 1"/>
          <p:cNvSpPr txBox="1"/>
          <p:nvPr/>
        </p:nvSpPr>
        <p:spPr>
          <a:xfrm>
            <a:off x="3904149" y="2634058"/>
            <a:ext cx="1065997" cy="214098"/>
          </a:xfrm>
          <a:prstGeom prst="rect">
            <a:avLst/>
          </a:prstGeom>
          <a:noFill/>
          <a:ln>
            <a:noFill/>
          </a:ln>
        </p:spPr>
        <p:txBody>
          <a:bodyPr wrap="none" lIns="0" tIns="0" rIns="0">
            <a:spAutoFit/>
          </a:bodyPr>
          <a:lstStyle/>
          <a:p>
            <a:pPr>
              <a:lnSpc>
                <a:spcPts val="1270"/>
              </a:lnSpc>
              <a:defRPr/>
            </a:pPr>
            <a:r>
              <a:rPr lang="en-US" altLang="zh-CN" sz="1426" b="1" dirty="0">
                <a:latin typeface="Times New Roman" pitchFamily="18" charset="0"/>
                <a:cs typeface="Times New Roman" pitchFamily="18" charset="0"/>
              </a:rPr>
              <a:t>2</a:t>
            </a:r>
            <a:r>
              <a:rPr lang="en-US" altLang="zh-CN" sz="1426" dirty="0">
                <a:latin typeface="Times New Roman" pitchFamily="18" charset="0"/>
                <a:cs typeface="Times New Roman" pitchFamily="18" charset="0"/>
              </a:rPr>
              <a:t>                   </a:t>
            </a:r>
            <a:r>
              <a:rPr lang="en-US" altLang="zh-CN" sz="1426" b="1" dirty="0">
                <a:latin typeface="Times New Roman" pitchFamily="18" charset="0"/>
                <a:cs typeface="Times New Roman" pitchFamily="18" charset="0"/>
              </a:rPr>
              <a:t>2</a:t>
            </a:r>
          </a:p>
        </p:txBody>
      </p:sp>
      <p:sp>
        <p:nvSpPr>
          <p:cNvPr id="27" name="TextBox 1"/>
          <p:cNvSpPr txBox="1"/>
          <p:nvPr/>
        </p:nvSpPr>
        <p:spPr>
          <a:xfrm>
            <a:off x="3643488" y="2157383"/>
            <a:ext cx="1136530" cy="405239"/>
          </a:xfrm>
          <a:prstGeom prst="rect">
            <a:avLst/>
          </a:prstGeom>
          <a:noFill/>
          <a:ln>
            <a:noFill/>
          </a:ln>
        </p:spPr>
        <p:txBody>
          <a:bodyPr wrap="none" lIns="0" tIns="0" rIns="0">
            <a:spAutoFit/>
          </a:bodyPr>
          <a:lstStyle/>
          <a:p>
            <a:pPr>
              <a:lnSpc>
                <a:spcPts val="2812"/>
              </a:lnSpc>
              <a:defRPr/>
            </a:pPr>
            <a:r>
              <a:rPr lang="en-US" altLang="zh-CN" sz="2445" b="1" dirty="0">
                <a:latin typeface="Times New Roman" pitchFamily="18" charset="0"/>
                <a:cs typeface="Times New Roman" pitchFamily="18" charset="0"/>
              </a:rPr>
              <a:t>2</a:t>
            </a:r>
            <a:r>
              <a:rPr lang="en-US" altLang="zh-CN" sz="2445" b="1" i="1" dirty="0">
                <a:latin typeface="Times New Roman" pitchFamily="18" charset="0"/>
                <a:cs typeface="Times New Roman" pitchFamily="18" charset="0"/>
              </a:rPr>
              <a:t>k</a:t>
            </a:r>
            <a:r>
              <a:rPr lang="en-US" altLang="zh-CN" sz="1426" b="1" i="1" dirty="0">
                <a:latin typeface="Times New Roman" pitchFamily="18" charset="0"/>
                <a:cs typeface="Times New Roman" pitchFamily="18" charset="0"/>
              </a:rPr>
              <a:t>t</a:t>
            </a:r>
            <a:r>
              <a:rPr lang="en-US" altLang="zh-CN" sz="2445" dirty="0">
                <a:latin typeface="Times New Roman" pitchFamily="18" charset="0"/>
                <a:cs typeface="Times New Roman" pitchFamily="18" charset="0"/>
              </a:rPr>
              <a:t>      </a:t>
            </a:r>
            <a:r>
              <a:rPr lang="en-US" altLang="zh-CN" sz="2445" b="1" i="1" dirty="0">
                <a:latin typeface="Times New Roman" pitchFamily="18" charset="0"/>
                <a:cs typeface="Times New Roman" pitchFamily="18" charset="0"/>
              </a:rPr>
              <a:t>R</a:t>
            </a:r>
            <a:r>
              <a:rPr lang="en-US" altLang="zh-CN" sz="1426" b="1" i="1" dirty="0">
                <a:latin typeface="Times New Roman" pitchFamily="18" charset="0"/>
                <a:cs typeface="Times New Roman" pitchFamily="18" charset="0"/>
              </a:rPr>
              <a:t>p</a:t>
            </a:r>
          </a:p>
        </p:txBody>
      </p:sp>
      <p:sp>
        <p:nvSpPr>
          <p:cNvPr id="28" name="TextBox 1"/>
          <p:cNvSpPr txBox="1"/>
          <p:nvPr/>
        </p:nvSpPr>
        <p:spPr>
          <a:xfrm>
            <a:off x="2936392" y="2235147"/>
            <a:ext cx="309380" cy="815351"/>
          </a:xfrm>
          <a:prstGeom prst="rect">
            <a:avLst/>
          </a:prstGeom>
          <a:noFill/>
          <a:ln>
            <a:noFill/>
          </a:ln>
        </p:spPr>
        <p:txBody>
          <a:bodyPr wrap="none" lIns="0" tIns="0" rIns="0">
            <a:spAutoFit/>
          </a:bodyPr>
          <a:lstStyle/>
          <a:p>
            <a:pPr>
              <a:lnSpc>
                <a:spcPts val="2177"/>
              </a:lnSpc>
              <a:tabLst>
                <a:tab pos="92175" algn="l"/>
              </a:tabLst>
              <a:defRPr/>
            </a:pPr>
            <a:r>
              <a:rPr lang="en-US" altLang="zh-CN" sz="1633" dirty="0"/>
              <a:t>	</a:t>
            </a:r>
            <a:r>
              <a:rPr lang="en-US" altLang="zh-CN" sz="2445" b="1" dirty="0">
                <a:latin typeface="Times New Roman" pitchFamily="18" charset="0"/>
                <a:cs typeface="Times New Roman" pitchFamily="18" charset="0"/>
              </a:rPr>
              <a:t>1</a:t>
            </a:r>
          </a:p>
          <a:p>
            <a:pPr>
              <a:lnSpc>
                <a:spcPts val="907"/>
              </a:lnSpc>
              <a:defRPr/>
            </a:pPr>
            <a:endParaRPr lang="en-US" altLang="zh-CN" sz="1633" dirty="0"/>
          </a:p>
          <a:p>
            <a:pPr>
              <a:lnSpc>
                <a:spcPts val="3084"/>
              </a:lnSpc>
              <a:tabLst>
                <a:tab pos="92175" algn="l"/>
              </a:tabLst>
              <a:defRPr/>
            </a:pPr>
            <a:r>
              <a:rPr lang="en-US" altLang="zh-CN" sz="2445" b="1" i="1" dirty="0">
                <a:latin typeface="Times New Roman" pitchFamily="18" charset="0"/>
                <a:cs typeface="Times New Roman" pitchFamily="18" charset="0"/>
              </a:rPr>
              <a:t>X</a:t>
            </a:r>
            <a:r>
              <a:rPr lang="en-US" altLang="zh-CN" sz="1426" b="1" i="1" dirty="0">
                <a:latin typeface="Times New Roman" pitchFamily="18" charset="0"/>
                <a:cs typeface="Times New Roman" pitchFamily="18" charset="0"/>
              </a:rPr>
              <a:t>n</a:t>
            </a:r>
          </a:p>
        </p:txBody>
      </p:sp>
      <p:sp>
        <p:nvSpPr>
          <p:cNvPr id="29" name="TextBox 1"/>
          <p:cNvSpPr txBox="1"/>
          <p:nvPr/>
        </p:nvSpPr>
        <p:spPr>
          <a:xfrm>
            <a:off x="8143844" y="2292753"/>
            <a:ext cx="572273" cy="458780"/>
          </a:xfrm>
          <a:prstGeom prst="rect">
            <a:avLst/>
          </a:prstGeom>
          <a:noFill/>
          <a:ln>
            <a:noFill/>
          </a:ln>
        </p:spPr>
        <p:txBody>
          <a:bodyPr wrap="none" lIns="0" tIns="0" rIns="0">
            <a:spAutoFit/>
          </a:bodyPr>
          <a:lstStyle/>
          <a:p>
            <a:pPr>
              <a:lnSpc>
                <a:spcPts val="3539"/>
              </a:lnSpc>
              <a:defRPr/>
            </a:pPr>
            <a:r>
              <a:rPr lang="en-US" altLang="zh-CN" sz="2569" dirty="0">
                <a:latin typeface="Symbol" pitchFamily="18" charset="0"/>
                <a:cs typeface="Symbol" pitchFamily="18" charset="0"/>
              </a:rPr>
              <a:t>+</a:t>
            </a:r>
            <a:r>
              <a:rPr lang="en-US" altLang="zh-CN" sz="2569" b="1" i="1" dirty="0">
                <a:latin typeface="Times New Roman" pitchFamily="18" charset="0"/>
                <a:cs typeface="Times New Roman" pitchFamily="18" charset="0"/>
              </a:rPr>
              <a:t>C</a:t>
            </a:r>
            <a:r>
              <a:rPr lang="en-US" altLang="zh-CN" sz="1499" b="1" i="1" dirty="0">
                <a:latin typeface="Times New Roman" pitchFamily="18" charset="0"/>
                <a:cs typeface="Times New Roman" pitchFamily="18" charset="0"/>
              </a:rPr>
              <a:t>M</a:t>
            </a:r>
          </a:p>
        </p:txBody>
      </p:sp>
      <p:sp>
        <p:nvSpPr>
          <p:cNvPr id="30" name="TextBox 1"/>
          <p:cNvSpPr txBox="1"/>
          <p:nvPr/>
        </p:nvSpPr>
        <p:spPr>
          <a:xfrm>
            <a:off x="7026312" y="2292751"/>
            <a:ext cx="181140" cy="415242"/>
          </a:xfrm>
          <a:prstGeom prst="rect">
            <a:avLst/>
          </a:prstGeom>
          <a:noFill/>
          <a:ln>
            <a:noFill/>
          </a:ln>
        </p:spPr>
        <p:txBody>
          <a:bodyPr wrap="none" lIns="0" tIns="0" rIns="0">
            <a:spAutoFit/>
          </a:bodyPr>
          <a:lstStyle/>
          <a:p>
            <a:pPr>
              <a:lnSpc>
                <a:spcPts val="3084"/>
              </a:lnSpc>
              <a:defRPr/>
            </a:pPr>
            <a:r>
              <a:rPr lang="en-US" altLang="zh-CN" sz="2569" dirty="0">
                <a:latin typeface="Symbol" pitchFamily="18" charset="0"/>
                <a:cs typeface="Symbol" pitchFamily="18" charset="0"/>
              </a:rPr>
              <a:t>=</a:t>
            </a:r>
          </a:p>
        </p:txBody>
      </p:sp>
      <p:sp>
        <p:nvSpPr>
          <p:cNvPr id="31" name="TextBox 1"/>
          <p:cNvSpPr txBox="1"/>
          <p:nvPr/>
        </p:nvSpPr>
        <p:spPr>
          <a:xfrm>
            <a:off x="7302817" y="2189065"/>
            <a:ext cx="721351" cy="850746"/>
          </a:xfrm>
          <a:prstGeom prst="rect">
            <a:avLst/>
          </a:prstGeom>
          <a:noFill/>
          <a:ln>
            <a:noFill/>
          </a:ln>
        </p:spPr>
        <p:txBody>
          <a:bodyPr wrap="none" lIns="0" tIns="0" rIns="0">
            <a:spAutoFit/>
          </a:bodyPr>
          <a:lstStyle/>
          <a:p>
            <a:pPr>
              <a:lnSpc>
                <a:spcPts val="2268"/>
              </a:lnSpc>
              <a:tabLst>
                <a:tab pos="299568" algn="l"/>
              </a:tabLst>
              <a:defRPr/>
            </a:pPr>
            <a:r>
              <a:rPr lang="en-US" altLang="zh-CN" sz="1633" dirty="0"/>
              <a:t>	</a:t>
            </a:r>
            <a:r>
              <a:rPr lang="en-US" altLang="zh-CN" sz="2569" b="1" dirty="0">
                <a:latin typeface="Times New Roman" pitchFamily="18" charset="0"/>
                <a:cs typeface="Times New Roman" pitchFamily="18" charset="0"/>
              </a:rPr>
              <a:t>1</a:t>
            </a:r>
          </a:p>
          <a:p>
            <a:pPr>
              <a:lnSpc>
                <a:spcPts val="4264"/>
              </a:lnSpc>
              <a:tabLst>
                <a:tab pos="299568" algn="l"/>
              </a:tabLst>
              <a:defRPr/>
            </a:pPr>
            <a:r>
              <a:rPr lang="en-US" altLang="zh-CN" sz="3479" dirty="0">
                <a:latin typeface="Symbol" pitchFamily="18" charset="0"/>
                <a:cs typeface="Symbol" pitchFamily="18" charset="0"/>
              </a:rPr>
              <a:t>(</a:t>
            </a:r>
            <a:r>
              <a:rPr lang="en-US" altLang="zh-CN" sz="2569" b="1" i="1" dirty="0">
                <a:latin typeface="Times New Roman" pitchFamily="18" charset="0"/>
                <a:cs typeface="Times New Roman" pitchFamily="18" charset="0"/>
              </a:rPr>
              <a:t>X</a:t>
            </a:r>
            <a:r>
              <a:rPr lang="en-US" altLang="zh-CN" sz="1499" b="1" i="1" dirty="0">
                <a:latin typeface="Times New Roman" pitchFamily="18" charset="0"/>
                <a:cs typeface="Times New Roman" pitchFamily="18" charset="0"/>
              </a:rPr>
              <a:t>n</a:t>
            </a:r>
            <a:r>
              <a:rPr lang="en-US" altLang="zh-CN" sz="3479" dirty="0">
                <a:latin typeface="Symbol" pitchFamily="18" charset="0"/>
                <a:cs typeface="Symbol" pitchFamily="18" charset="0"/>
              </a:rPr>
              <a:t>)</a:t>
            </a:r>
            <a:r>
              <a:rPr lang="en-US" altLang="zh-CN" sz="1499" b="1" dirty="0">
                <a:latin typeface="Times New Roman" pitchFamily="18" charset="0"/>
                <a:cs typeface="Times New Roman" pitchFamily="18" charset="0"/>
              </a:rPr>
              <a:t>0</a:t>
            </a:r>
          </a:p>
        </p:txBody>
      </p:sp>
      <p:sp>
        <p:nvSpPr>
          <p:cNvPr id="32" name="TextBox 1"/>
          <p:cNvSpPr txBox="1"/>
          <p:nvPr/>
        </p:nvSpPr>
        <p:spPr>
          <a:xfrm>
            <a:off x="6530916" y="2189065"/>
            <a:ext cx="327013" cy="851130"/>
          </a:xfrm>
          <a:prstGeom prst="rect">
            <a:avLst/>
          </a:prstGeom>
          <a:noFill/>
          <a:ln>
            <a:noFill/>
          </a:ln>
        </p:spPr>
        <p:txBody>
          <a:bodyPr wrap="none" lIns="0" tIns="0" rIns="0">
            <a:spAutoFit/>
          </a:bodyPr>
          <a:lstStyle/>
          <a:p>
            <a:pPr>
              <a:lnSpc>
                <a:spcPts val="2268"/>
              </a:lnSpc>
              <a:tabLst>
                <a:tab pos="103697" algn="l"/>
              </a:tabLst>
              <a:defRPr/>
            </a:pPr>
            <a:r>
              <a:rPr lang="en-US" altLang="zh-CN" sz="1633" dirty="0"/>
              <a:t>	</a:t>
            </a:r>
            <a:r>
              <a:rPr lang="en-US" altLang="zh-CN" sz="2569" b="1" dirty="0">
                <a:latin typeface="Times New Roman" pitchFamily="18" charset="0"/>
                <a:cs typeface="Times New Roman" pitchFamily="18" charset="0"/>
              </a:rPr>
              <a:t>1</a:t>
            </a:r>
          </a:p>
          <a:p>
            <a:pPr>
              <a:lnSpc>
                <a:spcPts val="907"/>
              </a:lnSpc>
              <a:defRPr/>
            </a:pPr>
            <a:endParaRPr lang="en-US" altLang="zh-CN" sz="1633" dirty="0"/>
          </a:p>
          <a:p>
            <a:pPr>
              <a:lnSpc>
                <a:spcPts val="3266"/>
              </a:lnSpc>
              <a:tabLst>
                <a:tab pos="103697" algn="l"/>
              </a:tabLst>
              <a:defRPr/>
            </a:pPr>
            <a:r>
              <a:rPr lang="en-US" altLang="zh-CN" sz="2569" b="1" i="1" dirty="0">
                <a:latin typeface="Times New Roman" pitchFamily="18" charset="0"/>
                <a:cs typeface="Times New Roman" pitchFamily="18" charset="0"/>
              </a:rPr>
              <a:t>X</a:t>
            </a:r>
            <a:r>
              <a:rPr lang="en-US" altLang="zh-CN" sz="1499" b="1" i="1" dirty="0">
                <a:latin typeface="Times New Roman" pitchFamily="18" charset="0"/>
                <a:cs typeface="Times New Roman" pitchFamily="18" charset="0"/>
              </a:rPr>
              <a:t>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7409383" y="3166903"/>
            <a:ext cx="398912" cy="25922"/>
          </a:xfrm>
          <a:custGeom>
            <a:avLst/>
            <a:gdLst>
              <a:gd name="connsiteX0" fmla="*/ 7207 w 439623"/>
              <a:gd name="connsiteY0" fmla="*/ 7207 h 28828"/>
              <a:gd name="connsiteX1" fmla="*/ 432416 w 439623"/>
              <a:gd name="connsiteY1" fmla="*/ 7207 h 28828"/>
            </a:gdLst>
            <a:ahLst/>
            <a:cxnLst>
              <a:cxn ang="0">
                <a:pos x="connsiteX0" y="connsiteY0"/>
              </a:cxn>
              <a:cxn ang="1">
                <a:pos x="connsiteX1" y="connsiteY1"/>
              </a:cxn>
            </a:cxnLst>
            <a:rect l="l" t="t" r="r" b="b"/>
            <a:pathLst>
              <a:path w="439623" h="28828">
                <a:moveTo>
                  <a:pt x="7207" y="7207"/>
                </a:moveTo>
                <a:lnTo>
                  <a:pt x="432416" y="720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7383461" y="3120816"/>
            <a:ext cx="450756" cy="27362"/>
          </a:xfrm>
          <a:custGeom>
            <a:avLst/>
            <a:gdLst>
              <a:gd name="connsiteX0" fmla="*/ 7207 w 496747"/>
              <a:gd name="connsiteY0" fmla="*/ 7207 h 28828"/>
              <a:gd name="connsiteX1" fmla="*/ 489540 w 496747"/>
              <a:gd name="connsiteY1" fmla="*/ 7207 h 28828"/>
            </a:gdLst>
            <a:ahLst/>
            <a:cxnLst>
              <a:cxn ang="0">
                <a:pos x="connsiteX0" y="connsiteY0"/>
              </a:cxn>
              <a:cxn ang="1">
                <a:pos x="connsiteX1" y="connsiteY1"/>
              </a:cxn>
            </a:cxnLst>
            <a:rect l="l" t="t" r="r" b="b"/>
            <a:pathLst>
              <a:path w="496747" h="28828">
                <a:moveTo>
                  <a:pt x="7207" y="7207"/>
                </a:moveTo>
                <a:lnTo>
                  <a:pt x="489540" y="720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11620" name="TextBox 1"/>
          <p:cNvSpPr txBox="1">
            <a:spLocks noChangeArrowheads="1"/>
          </p:cNvSpPr>
          <p:nvPr/>
        </p:nvSpPr>
        <p:spPr bwMode="auto">
          <a:xfrm>
            <a:off x="2685812" y="2742066"/>
            <a:ext cx="4062009" cy="789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聚氯乙烯的平均聚合度主要取</a:t>
            </a:r>
          </a:p>
          <a:p>
            <a:pPr eaLnBrk="1" hangingPunct="1">
              <a:lnSpc>
                <a:spcPts val="907"/>
              </a:lnSpc>
            </a:pPr>
            <a:endParaRPr lang="en-US" altLang="zh-CN" sz="1633"/>
          </a:p>
          <a:p>
            <a:pPr eaLnBrk="1" hangingPunct="1">
              <a:lnSpc>
                <a:spcPts val="2631"/>
              </a:lnSpc>
            </a:pPr>
            <a:r>
              <a:rPr lang="en-US" altLang="zh-CN" sz="2268">
                <a:latin typeface="楷体_GB2312"/>
                <a:ea typeface="楷体_GB2312"/>
                <a:cs typeface="楷体_GB2312"/>
              </a:rPr>
              <a:t>决于向氯乙烯转移的速率常数。</a:t>
            </a:r>
          </a:p>
        </p:txBody>
      </p:sp>
      <p:sp>
        <p:nvSpPr>
          <p:cNvPr id="111621" name="TextBox 1"/>
          <p:cNvSpPr txBox="1">
            <a:spLocks noChangeArrowheads="1"/>
          </p:cNvSpPr>
          <p:nvPr/>
        </p:nvSpPr>
        <p:spPr bwMode="auto">
          <a:xfrm>
            <a:off x="2455395" y="3894159"/>
            <a:ext cx="8079135" cy="248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60400" algn="l"/>
                <a:tab pos="7861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 pos="7861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 pos="7861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 pos="7861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 pos="7861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 pos="7861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 pos="7861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 pos="7861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 pos="7861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268">
                <a:latin typeface="楷体_GB2312"/>
                <a:ea typeface="楷体_GB2312"/>
                <a:cs typeface="楷体_GB2312"/>
              </a:rPr>
              <a:t>链转移活化能比链增长活化能大</a:t>
            </a:r>
            <a:r>
              <a:rPr lang="en-US" altLang="zh-CN" sz="2268" b="1">
                <a:latin typeface="Times New Roman" panose="02020603050405020304" pitchFamily="18" charset="0"/>
                <a:cs typeface="Times New Roman" panose="02020603050405020304" pitchFamily="18" charset="0"/>
              </a:rPr>
              <a:t>17</a:t>
            </a:r>
            <a:r>
              <a:rPr lang="en-US" altLang="zh-CN" sz="2268">
                <a:latin typeface="楷体_GB2312"/>
                <a:ea typeface="楷体_GB2312"/>
                <a:cs typeface="楷体_GB2312"/>
              </a:rPr>
              <a:t>～</a:t>
            </a:r>
            <a:r>
              <a:rPr lang="en-US" altLang="zh-CN" sz="2268" b="1">
                <a:latin typeface="Times New Roman" panose="02020603050405020304" pitchFamily="18" charset="0"/>
                <a:cs typeface="Times New Roman" panose="02020603050405020304" pitchFamily="18" charset="0"/>
              </a:rPr>
              <a:t>63kJ/mol</a:t>
            </a:r>
            <a:r>
              <a:rPr lang="en-US" altLang="zh-CN" sz="2268">
                <a:latin typeface="楷体_GB2312"/>
                <a:ea typeface="楷体_GB2312"/>
                <a:cs typeface="楷体_GB2312"/>
              </a:rPr>
              <a:t>，</a:t>
            </a:r>
            <a:r>
              <a:rPr lang="en-US" altLang="zh-CN" sz="2268" b="1">
                <a:latin typeface="Times New Roman" panose="02020603050405020304" pitchFamily="18" charset="0"/>
                <a:cs typeface="Times New Roman" panose="02020603050405020304" pitchFamily="18" charset="0"/>
              </a:rPr>
              <a:t>T</a:t>
            </a:r>
          </a:p>
          <a:p>
            <a:pPr eaLnBrk="1" hangingPunct="1">
              <a:lnSpc>
                <a:spcPts val="907"/>
              </a:lnSpc>
            </a:pPr>
            <a:endParaRPr lang="en-US" altLang="zh-CN" sz="1633"/>
          </a:p>
          <a:p>
            <a:pPr eaLnBrk="1" hangingPunct="1">
              <a:lnSpc>
                <a:spcPts val="2631"/>
              </a:lnSpc>
            </a:pPr>
            <a:r>
              <a:rPr lang="en-US" altLang="zh-CN" sz="2268">
                <a:latin typeface="楷体_GB2312"/>
                <a:ea typeface="楷体_GB2312"/>
                <a:cs typeface="楷体_GB2312"/>
              </a:rPr>
              <a:t>升高，链转移速率常数比链增长速率常数增加快，</a:t>
            </a:r>
          </a:p>
          <a:p>
            <a:pPr eaLnBrk="1" hangingPunct="1">
              <a:lnSpc>
                <a:spcPts val="907"/>
              </a:lnSpc>
            </a:pPr>
            <a:endParaRPr lang="en-US" altLang="zh-CN" sz="1633"/>
          </a:p>
          <a:p>
            <a:pPr eaLnBrk="1" hangingPunct="1">
              <a:lnSpc>
                <a:spcPts val="907"/>
              </a:lnSpc>
            </a:pPr>
            <a:endParaRPr lang="en-US" altLang="zh-CN" sz="1633"/>
          </a:p>
          <a:p>
            <a:pPr eaLnBrk="1" hangingPunct="1">
              <a:lnSpc>
                <a:spcPts val="2994"/>
              </a:lnSpc>
            </a:pPr>
            <a:r>
              <a:rPr lang="en-US" altLang="zh-CN" sz="1633"/>
              <a:t>	</a:t>
            </a:r>
            <a:r>
              <a:rPr lang="en-US" altLang="zh-CN" sz="2268" b="1">
                <a:latin typeface="Times New Roman" panose="02020603050405020304" pitchFamily="18" charset="0"/>
                <a:cs typeface="Times New Roman" panose="02020603050405020304" pitchFamily="18" charset="0"/>
              </a:rPr>
              <a:t>C</a:t>
            </a:r>
            <a:r>
              <a:rPr lang="en-US" altLang="zh-CN" sz="1452" b="1" baseline="-25000">
                <a:latin typeface="Times New Roman" panose="02020603050405020304" pitchFamily="18" charset="0"/>
                <a:cs typeface="Times New Roman" panose="02020603050405020304" pitchFamily="18" charset="0"/>
              </a:rPr>
              <a:t>M</a:t>
            </a:r>
            <a:r>
              <a:rPr lang="en-US" altLang="zh-CN" sz="2268">
                <a:latin typeface="楷体_GB2312"/>
                <a:ea typeface="楷体_GB2312"/>
                <a:cs typeface="楷体_GB2312"/>
              </a:rPr>
              <a:t>也将随温度而增加，故分子量降低。</a:t>
            </a:r>
            <a:r>
              <a:rPr lang="en-US" altLang="zh-CN" sz="2268" b="1">
                <a:latin typeface="Times New Roman" panose="02020603050405020304" pitchFamily="18" charset="0"/>
                <a:cs typeface="Times New Roman" panose="02020603050405020304" pitchFamily="18" charset="0"/>
              </a:rPr>
              <a:t>PVC</a:t>
            </a:r>
            <a:r>
              <a:rPr lang="en-US" altLang="zh-CN" sz="2268">
                <a:latin typeface="楷体_GB2312"/>
                <a:ea typeface="楷体_GB2312"/>
                <a:cs typeface="楷体_GB2312"/>
              </a:rPr>
              <a:t>工业</a:t>
            </a:r>
          </a:p>
          <a:p>
            <a:pPr eaLnBrk="1" hangingPunct="1">
              <a:lnSpc>
                <a:spcPts val="3084"/>
              </a:lnSpc>
            </a:pPr>
            <a:r>
              <a:rPr lang="en-US" altLang="zh-CN" sz="2268">
                <a:latin typeface="楷体_GB2312"/>
                <a:ea typeface="楷体_GB2312"/>
                <a:cs typeface="楷体_GB2312"/>
              </a:rPr>
              <a:t>中，常用温度来控制聚合度。</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633"/>
              </a:lnSpc>
            </a:pPr>
            <a:r>
              <a:rPr lang="en-US" altLang="zh-CN" sz="1633"/>
              <a:t>		</a:t>
            </a:r>
            <a:r>
              <a:rPr lang="en-US" altLang="zh-CN" sz="1089">
                <a:latin typeface="Times New Roman" panose="02020603050405020304" pitchFamily="18" charset="0"/>
                <a:cs typeface="Times New Roman" panose="02020603050405020304" pitchFamily="18" charset="0"/>
              </a:rPr>
              <a:t>96</a:t>
            </a:r>
          </a:p>
        </p:txBody>
      </p:sp>
      <p:sp>
        <p:nvSpPr>
          <p:cNvPr id="16" name="TextBox 1"/>
          <p:cNvSpPr txBox="1"/>
          <p:nvPr/>
        </p:nvSpPr>
        <p:spPr>
          <a:xfrm>
            <a:off x="7904785" y="2880318"/>
            <a:ext cx="551433" cy="446404"/>
          </a:xfrm>
          <a:prstGeom prst="rect">
            <a:avLst/>
          </a:prstGeom>
          <a:noFill/>
        </p:spPr>
        <p:txBody>
          <a:bodyPr wrap="none" lIns="0" tIns="0" rIns="0">
            <a:spAutoFit/>
          </a:bodyPr>
          <a:lstStyle/>
          <a:p>
            <a:pPr>
              <a:lnSpc>
                <a:spcPts val="3357"/>
              </a:lnSpc>
              <a:defRPr/>
            </a:pPr>
            <a:r>
              <a:rPr lang="en-US" altLang="zh-CN" sz="2476" dirty="0">
                <a:latin typeface="Symbol" pitchFamily="18" charset="0"/>
                <a:cs typeface="Symbol" pitchFamily="18" charset="0"/>
                <a:sym typeface="Symbol"/>
              </a:rPr>
              <a:t></a:t>
            </a:r>
            <a:r>
              <a:rPr lang="en-US" altLang="zh-CN" sz="2476" b="1" i="1" dirty="0">
                <a:latin typeface="Times New Roman" pitchFamily="18" charset="0"/>
                <a:cs typeface="Times New Roman" pitchFamily="18" charset="0"/>
              </a:rPr>
              <a:t>C</a:t>
            </a:r>
            <a:r>
              <a:rPr lang="en-US" altLang="zh-CN" sz="1444" b="1" i="1" dirty="0">
                <a:latin typeface="Times New Roman" pitchFamily="18" charset="0"/>
                <a:cs typeface="Times New Roman" pitchFamily="18" charset="0"/>
              </a:rPr>
              <a:t>M</a:t>
            </a:r>
          </a:p>
        </p:txBody>
      </p:sp>
      <p:sp>
        <p:nvSpPr>
          <p:cNvPr id="17" name="TextBox 1"/>
          <p:cNvSpPr txBox="1"/>
          <p:nvPr/>
        </p:nvSpPr>
        <p:spPr>
          <a:xfrm>
            <a:off x="7432426" y="2788150"/>
            <a:ext cx="314189" cy="816249"/>
          </a:xfrm>
          <a:prstGeom prst="rect">
            <a:avLst/>
          </a:prstGeom>
          <a:noFill/>
        </p:spPr>
        <p:txBody>
          <a:bodyPr wrap="none" lIns="0" tIns="0" rIns="0">
            <a:spAutoFit/>
          </a:bodyPr>
          <a:lstStyle/>
          <a:p>
            <a:pPr>
              <a:lnSpc>
                <a:spcPts val="2177"/>
              </a:lnSpc>
              <a:tabLst>
                <a:tab pos="92175" algn="l"/>
              </a:tabLst>
              <a:defRPr/>
            </a:pPr>
            <a:r>
              <a:rPr lang="en-US" altLang="zh-CN" sz="1633" dirty="0"/>
              <a:t>	</a:t>
            </a:r>
            <a:r>
              <a:rPr lang="en-US" altLang="zh-CN" sz="2476" b="1" dirty="0">
                <a:latin typeface="Times New Roman" pitchFamily="18" charset="0"/>
                <a:cs typeface="Times New Roman" pitchFamily="18" charset="0"/>
              </a:rPr>
              <a:t>1</a:t>
            </a:r>
          </a:p>
          <a:p>
            <a:pPr>
              <a:lnSpc>
                <a:spcPts val="907"/>
              </a:lnSpc>
              <a:defRPr/>
            </a:pPr>
            <a:endParaRPr lang="en-US" altLang="zh-CN" sz="1633" dirty="0"/>
          </a:p>
          <a:p>
            <a:pPr>
              <a:lnSpc>
                <a:spcPts val="3084"/>
              </a:lnSpc>
              <a:tabLst>
                <a:tab pos="92175" algn="l"/>
              </a:tabLst>
              <a:defRPr/>
            </a:pPr>
            <a:r>
              <a:rPr lang="en-US" altLang="zh-CN" sz="2476" b="1" i="1" dirty="0">
                <a:latin typeface="Times New Roman" pitchFamily="18" charset="0"/>
                <a:cs typeface="Times New Roman" pitchFamily="18" charset="0"/>
              </a:rPr>
              <a:t>X</a:t>
            </a:r>
            <a:r>
              <a:rPr lang="en-US" altLang="zh-CN" sz="1444" b="1" i="1" dirty="0">
                <a:latin typeface="Times New Roman" pitchFamily="18" charset="0"/>
                <a:cs typeface="Times New Roman" pitchFamily="18" charset="0"/>
              </a:rPr>
              <a:t>n</a:t>
            </a:r>
          </a:p>
        </p:txBody>
      </p:sp>
      <p:sp>
        <p:nvSpPr>
          <p:cNvPr id="111624" name="TextBox 1"/>
          <p:cNvSpPr txBox="1">
            <a:spLocks noChangeArrowheads="1"/>
          </p:cNvSpPr>
          <p:nvPr/>
        </p:nvSpPr>
        <p:spPr bwMode="auto">
          <a:xfrm>
            <a:off x="2455394" y="1278911"/>
            <a:ext cx="6880089" cy="80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60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268" b="1">
                <a:latin typeface="Times New Roman" panose="02020603050405020304" pitchFamily="18" charset="0"/>
                <a:cs typeface="Times New Roman" panose="02020603050405020304" pitchFamily="18" charset="0"/>
              </a:rPr>
              <a:t>PVC</a:t>
            </a:r>
            <a:r>
              <a:rPr lang="en-US" altLang="zh-CN" sz="2268">
                <a:latin typeface="楷体_GB2312"/>
                <a:ea typeface="楷体_GB2312"/>
                <a:cs typeface="楷体_GB2312"/>
              </a:rPr>
              <a:t>向单体链转移的</a:t>
            </a:r>
            <a:r>
              <a:rPr lang="en-US" altLang="zh-CN" sz="2268" b="1">
                <a:latin typeface="Times New Roman" panose="02020603050405020304" pitchFamily="18" charset="0"/>
                <a:cs typeface="Times New Roman" panose="02020603050405020304" pitchFamily="18" charset="0"/>
              </a:rPr>
              <a:t>C</a:t>
            </a:r>
            <a:r>
              <a:rPr lang="en-US" altLang="zh-CN" sz="2268" b="1" baseline="-25000">
                <a:latin typeface="Times New Roman" panose="02020603050405020304" pitchFamily="18" charset="0"/>
                <a:cs typeface="Times New Roman" panose="02020603050405020304" pitchFamily="18" charset="0"/>
              </a:rPr>
              <a:t>M</a:t>
            </a:r>
            <a:r>
              <a:rPr lang="en-US" altLang="zh-CN" sz="2268">
                <a:latin typeface="楷体_GB2312"/>
                <a:ea typeface="楷体_GB2312"/>
                <a:cs typeface="楷体_GB2312"/>
              </a:rPr>
              <a:t>是单体中最高的一种，约</a:t>
            </a:r>
          </a:p>
          <a:p>
            <a:pPr eaLnBrk="1" hangingPunct="1">
              <a:lnSpc>
                <a:spcPts val="907"/>
              </a:lnSpc>
            </a:pPr>
            <a:endParaRPr lang="en-US" altLang="zh-CN" sz="1633"/>
          </a:p>
          <a:p>
            <a:pPr eaLnBrk="1" hangingPunct="1">
              <a:lnSpc>
                <a:spcPts val="2631"/>
              </a:lnSpc>
            </a:pPr>
            <a:r>
              <a:rPr lang="en-US" altLang="zh-CN" sz="2268" b="1">
                <a:latin typeface="Times New Roman" panose="02020603050405020304" pitchFamily="18" charset="0"/>
                <a:cs typeface="Times New Roman" panose="02020603050405020304" pitchFamily="18" charset="0"/>
              </a:rPr>
              <a:t>10</a:t>
            </a:r>
            <a:r>
              <a:rPr lang="en-US" altLang="zh-CN" sz="2359" b="1" baseline="30000">
                <a:latin typeface="Times New Roman" panose="02020603050405020304" pitchFamily="18" charset="0"/>
                <a:cs typeface="Times New Roman" panose="02020603050405020304" pitchFamily="18" charset="0"/>
              </a:rPr>
              <a:t>-3</a:t>
            </a:r>
            <a:r>
              <a:rPr lang="en-US" altLang="zh-CN" sz="2268">
                <a:latin typeface="楷体_GB2312"/>
                <a:ea typeface="楷体_GB2312"/>
                <a:cs typeface="楷体_GB2312"/>
              </a:rPr>
              <a:t>，其转移速率远远超出正常的终止速率</a:t>
            </a:r>
            <a:r>
              <a:rPr lang="en-US" altLang="zh-CN" sz="2268" b="1">
                <a:latin typeface="Times New Roman" panose="02020603050405020304" pitchFamily="18" charset="0"/>
                <a:cs typeface="Times New Roman" panose="02020603050405020304" pitchFamily="18" charset="0"/>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3653568" y="3004168"/>
            <a:ext cx="421954" cy="27363"/>
          </a:xfrm>
          <a:custGeom>
            <a:avLst/>
            <a:gdLst>
              <a:gd name="connsiteX0" fmla="*/ 7645 w 465632"/>
              <a:gd name="connsiteY0" fmla="*/ 7645 h 30581"/>
              <a:gd name="connsiteX1" fmla="*/ 457987 w 465632"/>
              <a:gd name="connsiteY1" fmla="*/ 7645 h 30581"/>
            </a:gdLst>
            <a:ahLst/>
            <a:cxnLst>
              <a:cxn ang="0">
                <a:pos x="connsiteX0" y="connsiteY0"/>
              </a:cxn>
              <a:cxn ang="1">
                <a:pos x="connsiteX1" y="connsiteY1"/>
              </a:cxn>
            </a:cxnLst>
            <a:rect l="l" t="t" r="r" b="b"/>
            <a:pathLst>
              <a:path w="465632" h="30581">
                <a:moveTo>
                  <a:pt x="7645" y="7645"/>
                </a:moveTo>
                <a:lnTo>
                  <a:pt x="457987" y="764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3626206" y="2955203"/>
            <a:ext cx="476677" cy="28802"/>
          </a:xfrm>
          <a:custGeom>
            <a:avLst/>
            <a:gdLst>
              <a:gd name="connsiteX0" fmla="*/ 7645 w 526592"/>
              <a:gd name="connsiteY0" fmla="*/ 7645 h 30581"/>
              <a:gd name="connsiteX1" fmla="*/ 518947 w 526592"/>
              <a:gd name="connsiteY1" fmla="*/ 7645 h 30581"/>
            </a:gdLst>
            <a:ahLst/>
            <a:cxnLst>
              <a:cxn ang="0">
                <a:pos x="connsiteX0" y="connsiteY0"/>
              </a:cxn>
              <a:cxn ang="1">
                <a:pos x="connsiteX1" y="connsiteY1"/>
              </a:cxn>
            </a:cxnLst>
            <a:rect l="l" t="t" r="r" b="b"/>
            <a:pathLst>
              <a:path w="526592" h="30581">
                <a:moveTo>
                  <a:pt x="7645" y="7645"/>
                </a:moveTo>
                <a:lnTo>
                  <a:pt x="518947" y="764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4442752" y="2955203"/>
            <a:ext cx="505480" cy="28802"/>
          </a:xfrm>
          <a:custGeom>
            <a:avLst/>
            <a:gdLst>
              <a:gd name="connsiteX0" fmla="*/ 7645 w 557834"/>
              <a:gd name="connsiteY0" fmla="*/ 7645 h 30581"/>
              <a:gd name="connsiteX1" fmla="*/ 550189 w 557834"/>
              <a:gd name="connsiteY1" fmla="*/ 7645 h 30581"/>
            </a:gdLst>
            <a:ahLst/>
            <a:cxnLst>
              <a:cxn ang="0">
                <a:pos x="connsiteX0" y="connsiteY0"/>
              </a:cxn>
              <a:cxn ang="1">
                <a:pos x="connsiteX1" y="connsiteY1"/>
              </a:cxn>
            </a:cxnLst>
            <a:rect l="l" t="t" r="r" b="b"/>
            <a:pathLst>
              <a:path w="557834" h="30581">
                <a:moveTo>
                  <a:pt x="7645" y="7645"/>
                </a:moveTo>
                <a:lnTo>
                  <a:pt x="550189" y="764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5116725" y="2955203"/>
            <a:ext cx="705656" cy="28802"/>
          </a:xfrm>
          <a:custGeom>
            <a:avLst/>
            <a:gdLst>
              <a:gd name="connsiteX0" fmla="*/ 7645 w 778052"/>
              <a:gd name="connsiteY0" fmla="*/ 7645 h 30581"/>
              <a:gd name="connsiteX1" fmla="*/ 770407 w 778052"/>
              <a:gd name="connsiteY1" fmla="*/ 7645 h 30581"/>
            </a:gdLst>
            <a:ahLst/>
            <a:cxnLst>
              <a:cxn ang="0">
                <a:pos x="connsiteX0" y="connsiteY0"/>
              </a:cxn>
              <a:cxn ang="1">
                <a:pos x="connsiteX1" y="connsiteY1"/>
              </a:cxn>
            </a:cxnLst>
            <a:rect l="l" t="t" r="r" b="b"/>
            <a:pathLst>
              <a:path w="778052" h="30581">
                <a:moveTo>
                  <a:pt x="7645" y="7645"/>
                </a:moveTo>
                <a:lnTo>
                  <a:pt x="770407" y="764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7132882" y="2916321"/>
            <a:ext cx="558764" cy="28802"/>
          </a:xfrm>
          <a:custGeom>
            <a:avLst/>
            <a:gdLst>
              <a:gd name="connsiteX0" fmla="*/ 7645 w 615734"/>
              <a:gd name="connsiteY0" fmla="*/ 7645 h 30581"/>
              <a:gd name="connsiteX1" fmla="*/ 608088 w 615734"/>
              <a:gd name="connsiteY1" fmla="*/ 7645 h 30581"/>
            </a:gdLst>
            <a:ahLst/>
            <a:cxnLst>
              <a:cxn ang="0">
                <a:pos x="connsiteX0" y="connsiteY0"/>
              </a:cxn>
              <a:cxn ang="1">
                <a:pos x="connsiteX1" y="connsiteY1"/>
              </a:cxn>
            </a:cxnLst>
            <a:rect l="l" t="t" r="r" b="b"/>
            <a:pathLst>
              <a:path w="615734" h="30581">
                <a:moveTo>
                  <a:pt x="7645" y="7645"/>
                </a:moveTo>
                <a:lnTo>
                  <a:pt x="608088" y="7645"/>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5050478" y="4150497"/>
            <a:ext cx="358589" cy="23042"/>
          </a:xfrm>
          <a:custGeom>
            <a:avLst/>
            <a:gdLst>
              <a:gd name="connsiteX0" fmla="*/ 6502 w 395528"/>
              <a:gd name="connsiteY0" fmla="*/ 6502 h 26009"/>
              <a:gd name="connsiteX1" fmla="*/ 389026 w 395528"/>
              <a:gd name="connsiteY1" fmla="*/ 6502 h 26009"/>
            </a:gdLst>
            <a:ahLst/>
            <a:cxnLst>
              <a:cxn ang="0">
                <a:pos x="connsiteX0" y="connsiteY0"/>
              </a:cxn>
              <a:cxn ang="1">
                <a:pos x="connsiteX1" y="connsiteY1"/>
              </a:cxn>
            </a:cxnLst>
            <a:rect l="l" t="t" r="r" b="b"/>
            <a:pathLst>
              <a:path w="395528" h="26009">
                <a:moveTo>
                  <a:pt x="6502" y="6502"/>
                </a:moveTo>
                <a:lnTo>
                  <a:pt x="389026" y="650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5027438" y="4108734"/>
            <a:ext cx="406112" cy="23042"/>
          </a:xfrm>
          <a:custGeom>
            <a:avLst/>
            <a:gdLst>
              <a:gd name="connsiteX0" fmla="*/ 6502 w 447344"/>
              <a:gd name="connsiteY0" fmla="*/ 6502 h 26009"/>
              <a:gd name="connsiteX1" fmla="*/ 440842 w 447344"/>
              <a:gd name="connsiteY1" fmla="*/ 6502 h 26009"/>
            </a:gdLst>
            <a:ahLst/>
            <a:cxnLst>
              <a:cxn ang="0">
                <a:pos x="connsiteX0" y="connsiteY0"/>
              </a:cxn>
              <a:cxn ang="1">
                <a:pos x="connsiteX1" y="connsiteY1"/>
              </a:cxn>
            </a:cxnLst>
            <a:rect l="l" t="t" r="r" b="b"/>
            <a:pathLst>
              <a:path w="447344" h="26009">
                <a:moveTo>
                  <a:pt x="6502" y="6502"/>
                </a:moveTo>
                <a:lnTo>
                  <a:pt x="440842" y="650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5687009" y="4108734"/>
            <a:ext cx="429154" cy="23042"/>
          </a:xfrm>
          <a:custGeom>
            <a:avLst/>
            <a:gdLst>
              <a:gd name="connsiteX0" fmla="*/ 6502 w 474014"/>
              <a:gd name="connsiteY0" fmla="*/ 6502 h 26009"/>
              <a:gd name="connsiteX1" fmla="*/ 467512 w 474014"/>
              <a:gd name="connsiteY1" fmla="*/ 6502 h 26009"/>
            </a:gdLst>
            <a:ahLst/>
            <a:cxnLst>
              <a:cxn ang="0">
                <a:pos x="connsiteX0" y="connsiteY0"/>
              </a:cxn>
              <a:cxn ang="1">
                <a:pos x="connsiteX1" y="connsiteY1"/>
              </a:cxn>
            </a:cxnLst>
            <a:rect l="l" t="t" r="r" b="b"/>
            <a:pathLst>
              <a:path w="474014" h="26009">
                <a:moveTo>
                  <a:pt x="6502" y="6502"/>
                </a:moveTo>
                <a:lnTo>
                  <a:pt x="467512" y="650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0" name="Freeform 3"/>
          <p:cNvSpPr/>
          <p:nvPr/>
        </p:nvSpPr>
        <p:spPr>
          <a:xfrm>
            <a:off x="6258735" y="4108734"/>
            <a:ext cx="600527" cy="23042"/>
          </a:xfrm>
          <a:custGeom>
            <a:avLst/>
            <a:gdLst>
              <a:gd name="connsiteX0" fmla="*/ 6502 w 661466"/>
              <a:gd name="connsiteY0" fmla="*/ 6502 h 26009"/>
              <a:gd name="connsiteX1" fmla="*/ 654964 w 661466"/>
              <a:gd name="connsiteY1" fmla="*/ 6502 h 26009"/>
            </a:gdLst>
            <a:ahLst/>
            <a:cxnLst>
              <a:cxn ang="0">
                <a:pos x="connsiteX0" y="connsiteY0"/>
              </a:cxn>
              <a:cxn ang="1">
                <a:pos x="connsiteX1" y="connsiteY1"/>
              </a:cxn>
            </a:cxnLst>
            <a:rect l="l" t="t" r="r" b="b"/>
            <a:pathLst>
              <a:path w="661466" h="26009">
                <a:moveTo>
                  <a:pt x="6502" y="6502"/>
                </a:moveTo>
                <a:lnTo>
                  <a:pt x="654964" y="650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Freeform 3"/>
          <p:cNvSpPr/>
          <p:nvPr/>
        </p:nvSpPr>
        <p:spPr>
          <a:xfrm>
            <a:off x="7962388" y="4051131"/>
            <a:ext cx="473798" cy="23042"/>
          </a:xfrm>
          <a:custGeom>
            <a:avLst/>
            <a:gdLst>
              <a:gd name="connsiteX0" fmla="*/ 6502 w 522782"/>
              <a:gd name="connsiteY0" fmla="*/ 6502 h 26009"/>
              <a:gd name="connsiteX1" fmla="*/ 516280 w 522782"/>
              <a:gd name="connsiteY1" fmla="*/ 6502 h 26009"/>
            </a:gdLst>
            <a:ahLst/>
            <a:cxnLst>
              <a:cxn ang="0">
                <a:pos x="connsiteX0" y="connsiteY0"/>
              </a:cxn>
              <a:cxn ang="1">
                <a:pos x="connsiteX1" y="connsiteY1"/>
              </a:cxn>
            </a:cxnLst>
            <a:rect l="l" t="t" r="r" b="b"/>
            <a:pathLst>
              <a:path w="522782" h="26009">
                <a:moveTo>
                  <a:pt x="6502" y="6502"/>
                </a:moveTo>
                <a:lnTo>
                  <a:pt x="516280" y="6502"/>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3" name="TextBox 1"/>
          <p:cNvSpPr txBox="1"/>
          <p:nvPr/>
        </p:nvSpPr>
        <p:spPr>
          <a:xfrm>
            <a:off x="4517638" y="2875999"/>
            <a:ext cx="1235916" cy="610424"/>
          </a:xfrm>
          <a:prstGeom prst="rect">
            <a:avLst/>
          </a:prstGeom>
          <a:noFill/>
        </p:spPr>
        <p:txBody>
          <a:bodyPr wrap="none" lIns="0" tIns="0" rIns="0">
            <a:spAutoFit/>
          </a:bodyPr>
          <a:lstStyle/>
          <a:p>
            <a:pPr>
              <a:lnSpc>
                <a:spcPts val="4445"/>
              </a:lnSpc>
              <a:defRPr/>
            </a:pPr>
            <a:r>
              <a:rPr lang="en-US" altLang="zh-CN" sz="2634" b="1" i="1" dirty="0">
                <a:latin typeface="Times New Roman" pitchFamily="18" charset="0"/>
                <a:cs typeface="Times New Roman" pitchFamily="18" charset="0"/>
              </a:rPr>
              <a:t>k</a:t>
            </a:r>
            <a:r>
              <a:rPr lang="en-US" altLang="zh-CN" sz="1536" b="1" i="1" dirty="0">
                <a:latin typeface="Times New Roman" pitchFamily="18" charset="0"/>
                <a:cs typeface="Times New Roman" pitchFamily="18" charset="0"/>
              </a:rPr>
              <a:t>p</a:t>
            </a:r>
            <a:r>
              <a:rPr lang="en-US" altLang="zh-CN" sz="3697" dirty="0">
                <a:latin typeface="Times New Roman" pitchFamily="18" charset="0"/>
                <a:cs typeface="Times New Roman" pitchFamily="18" charset="0"/>
              </a:rPr>
              <a:t>   </a:t>
            </a:r>
            <a:r>
              <a:rPr lang="en-US" altLang="zh-CN" sz="3697" dirty="0">
                <a:latin typeface="Symbol" pitchFamily="18" charset="0"/>
                <a:cs typeface="Symbol" pitchFamily="18" charset="0"/>
              </a:rPr>
              <a:t>[</a:t>
            </a:r>
            <a:r>
              <a:rPr lang="en-US" altLang="zh-CN" sz="2634" b="1" i="1" dirty="0">
                <a:latin typeface="Times New Roman" pitchFamily="18" charset="0"/>
                <a:cs typeface="Times New Roman" pitchFamily="18" charset="0"/>
              </a:rPr>
              <a:t>M</a:t>
            </a:r>
            <a:r>
              <a:rPr lang="en-US" altLang="zh-CN" sz="3697" dirty="0">
                <a:latin typeface="Symbol" pitchFamily="18" charset="0"/>
                <a:cs typeface="Symbol" pitchFamily="18" charset="0"/>
              </a:rPr>
              <a:t>]</a:t>
            </a:r>
          </a:p>
        </p:txBody>
      </p:sp>
      <p:sp>
        <p:nvSpPr>
          <p:cNvPr id="25" name="TextBox 1"/>
          <p:cNvSpPr txBox="1"/>
          <p:nvPr/>
        </p:nvSpPr>
        <p:spPr>
          <a:xfrm>
            <a:off x="5750374" y="4051131"/>
            <a:ext cx="1096454" cy="504690"/>
          </a:xfrm>
          <a:prstGeom prst="rect">
            <a:avLst/>
          </a:prstGeom>
          <a:noFill/>
        </p:spPr>
        <p:txBody>
          <a:bodyPr wrap="none" lIns="0" tIns="0" rIns="0">
            <a:spAutoFit/>
          </a:bodyPr>
          <a:lstStyle/>
          <a:p>
            <a:pPr>
              <a:lnSpc>
                <a:spcPts val="3811"/>
              </a:lnSpc>
              <a:defRPr/>
            </a:pPr>
            <a:r>
              <a:rPr lang="en-US" altLang="zh-CN" sz="2240" b="1" i="1" dirty="0">
                <a:latin typeface="Times New Roman" pitchFamily="18" charset="0"/>
                <a:cs typeface="Times New Roman" pitchFamily="18" charset="0"/>
              </a:rPr>
              <a:t>k</a:t>
            </a:r>
            <a:r>
              <a:rPr lang="en-US" altLang="zh-CN" sz="1306" dirty="0">
                <a:latin typeface="Times New Roman" pitchFamily="18" charset="0"/>
                <a:cs typeface="Times New Roman" pitchFamily="18" charset="0"/>
              </a:rPr>
              <a:t> </a:t>
            </a:r>
            <a:r>
              <a:rPr lang="en-US" altLang="zh-CN" sz="1306" b="1" i="1" dirty="0">
                <a:latin typeface="Times New Roman" pitchFamily="18" charset="0"/>
                <a:cs typeface="Times New Roman" pitchFamily="18" charset="0"/>
              </a:rPr>
              <a:t>p</a:t>
            </a:r>
            <a:r>
              <a:rPr lang="en-US" altLang="zh-CN" sz="3144" dirty="0">
                <a:latin typeface="Times New Roman" pitchFamily="18" charset="0"/>
                <a:cs typeface="Times New Roman" pitchFamily="18" charset="0"/>
              </a:rPr>
              <a:t>   </a:t>
            </a:r>
            <a:r>
              <a:rPr lang="en-US" altLang="zh-CN" sz="3144" dirty="0">
                <a:latin typeface="Symbol" pitchFamily="18" charset="0"/>
                <a:cs typeface="Symbol" pitchFamily="18" charset="0"/>
              </a:rPr>
              <a:t>[</a:t>
            </a:r>
            <a:r>
              <a:rPr lang="en-US" altLang="zh-CN" sz="2240" b="1" i="1" dirty="0">
                <a:latin typeface="Times New Roman" pitchFamily="18" charset="0"/>
                <a:cs typeface="Times New Roman" pitchFamily="18" charset="0"/>
              </a:rPr>
              <a:t>M</a:t>
            </a:r>
            <a:r>
              <a:rPr lang="en-US" altLang="zh-CN" sz="3144" dirty="0">
                <a:latin typeface="Symbol" pitchFamily="18" charset="0"/>
                <a:cs typeface="Symbol" pitchFamily="18" charset="0"/>
              </a:rPr>
              <a:t>]</a:t>
            </a:r>
          </a:p>
        </p:txBody>
      </p:sp>
      <p:sp>
        <p:nvSpPr>
          <p:cNvPr id="112654" name="TextBox 1"/>
          <p:cNvSpPr txBox="1">
            <a:spLocks noChangeArrowheads="1"/>
          </p:cNvSpPr>
          <p:nvPr/>
        </p:nvSpPr>
        <p:spPr bwMode="auto">
          <a:xfrm>
            <a:off x="2317144" y="733110"/>
            <a:ext cx="7340151" cy="1341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60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3.9.3</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向引发剂的转移（</a:t>
            </a:r>
            <a:r>
              <a:rPr lang="en-US" altLang="zh-CN" sz="2540" b="1">
                <a:latin typeface="Times New Roman" panose="02020603050405020304" pitchFamily="18" charset="0"/>
                <a:cs typeface="Times New Roman" panose="02020603050405020304" pitchFamily="18" charset="0"/>
              </a:rPr>
              <a:t>Transfer</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to</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Initiator</a:t>
            </a:r>
            <a:r>
              <a:rPr lang="en-US" altLang="zh-CN" sz="2540">
                <a:latin typeface="楷体_GB2312"/>
                <a:ea typeface="楷体_GB2312"/>
                <a:cs typeface="楷体_GB2312"/>
              </a:rPr>
              <a:t>）</a:t>
            </a:r>
          </a:p>
          <a:p>
            <a:pPr eaLnBrk="1" hangingPunct="1">
              <a:lnSpc>
                <a:spcPts val="907"/>
              </a:lnSpc>
            </a:pPr>
            <a:endParaRPr lang="en-US" altLang="zh-CN" sz="1633"/>
          </a:p>
          <a:p>
            <a:pPr eaLnBrk="1" hangingPunct="1">
              <a:lnSpc>
                <a:spcPts val="2994"/>
              </a:lnSpc>
            </a:pPr>
            <a:r>
              <a:rPr lang="en-US" altLang="zh-CN" sz="1633"/>
              <a:t>	</a:t>
            </a:r>
            <a:r>
              <a:rPr lang="en-US" altLang="zh-CN" sz="2268">
                <a:latin typeface="楷体_GB2312"/>
                <a:ea typeface="楷体_GB2312"/>
                <a:cs typeface="楷体_GB2312"/>
              </a:rPr>
              <a:t>自由基向引发剂转移，使引发效率降低，同时使聚合</a:t>
            </a:r>
          </a:p>
          <a:p>
            <a:pPr eaLnBrk="1" hangingPunct="1">
              <a:lnSpc>
                <a:spcPts val="907"/>
              </a:lnSpc>
            </a:pPr>
            <a:endParaRPr lang="en-US" altLang="zh-CN" sz="1633"/>
          </a:p>
          <a:p>
            <a:pPr eaLnBrk="1" hangingPunct="1">
              <a:lnSpc>
                <a:spcPts val="2631"/>
              </a:lnSpc>
            </a:pPr>
            <a:r>
              <a:rPr lang="en-US" altLang="zh-CN" sz="2268">
                <a:latin typeface="楷体_GB2312"/>
                <a:ea typeface="楷体_GB2312"/>
                <a:cs typeface="楷体_GB2312"/>
              </a:rPr>
              <a:t>度降低。如当单体进行本体聚合，且无溶剂存在时：</a:t>
            </a:r>
          </a:p>
        </p:txBody>
      </p:sp>
      <p:sp>
        <p:nvSpPr>
          <p:cNvPr id="112655" name="TextBox 1"/>
          <p:cNvSpPr txBox="1">
            <a:spLocks noChangeArrowheads="1"/>
          </p:cNvSpPr>
          <p:nvPr/>
        </p:nvSpPr>
        <p:spPr bwMode="auto">
          <a:xfrm>
            <a:off x="2478436" y="3986327"/>
            <a:ext cx="2031005"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将上式改写为：</a:t>
            </a:r>
          </a:p>
        </p:txBody>
      </p:sp>
      <p:sp>
        <p:nvSpPr>
          <p:cNvPr id="28" name="TextBox 1"/>
          <p:cNvSpPr txBox="1"/>
          <p:nvPr/>
        </p:nvSpPr>
        <p:spPr>
          <a:xfrm>
            <a:off x="7063758" y="2350357"/>
            <a:ext cx="613951" cy="1072088"/>
          </a:xfrm>
          <a:prstGeom prst="rect">
            <a:avLst/>
          </a:prstGeom>
          <a:noFill/>
        </p:spPr>
        <p:txBody>
          <a:bodyPr wrap="none" lIns="0" tIns="0" rIns="0">
            <a:spAutoFit/>
          </a:bodyPr>
          <a:lstStyle/>
          <a:p>
            <a:pPr>
              <a:lnSpc>
                <a:spcPts val="4445"/>
              </a:lnSpc>
              <a:tabLst>
                <a:tab pos="92175" algn="l"/>
              </a:tabLst>
              <a:defRPr/>
            </a:pPr>
            <a:r>
              <a:rPr lang="en-US" altLang="zh-CN" sz="1633" dirty="0"/>
              <a:t>	</a:t>
            </a:r>
            <a:r>
              <a:rPr lang="en-US" altLang="zh-CN" sz="3697" dirty="0">
                <a:latin typeface="Symbol" pitchFamily="18" charset="0"/>
                <a:cs typeface="Symbol" pitchFamily="18" charset="0"/>
              </a:rPr>
              <a:t>[</a:t>
            </a:r>
            <a:r>
              <a:rPr lang="en-US" altLang="zh-CN" sz="2634" b="1" i="1" dirty="0">
                <a:latin typeface="Times New Roman" pitchFamily="18" charset="0"/>
                <a:cs typeface="Times New Roman" pitchFamily="18" charset="0"/>
              </a:rPr>
              <a:t>I</a:t>
            </a:r>
            <a:r>
              <a:rPr lang="en-US" altLang="zh-CN" sz="3697" dirty="0">
                <a:latin typeface="Symbol" pitchFamily="18" charset="0"/>
                <a:cs typeface="Symbol" pitchFamily="18" charset="0"/>
              </a:rPr>
              <a:t>]</a:t>
            </a:r>
          </a:p>
          <a:p>
            <a:pPr>
              <a:lnSpc>
                <a:spcPts val="3629"/>
              </a:lnSpc>
              <a:tabLst>
                <a:tab pos="92175" algn="l"/>
              </a:tabLst>
              <a:defRPr/>
            </a:pPr>
            <a:r>
              <a:rPr lang="en-US" altLang="zh-CN" sz="3697" dirty="0">
                <a:latin typeface="Symbol" pitchFamily="18" charset="0"/>
                <a:cs typeface="Symbol" pitchFamily="18" charset="0"/>
              </a:rPr>
              <a:t>[</a:t>
            </a:r>
            <a:r>
              <a:rPr lang="en-US" altLang="zh-CN" sz="2634" b="1" i="1" dirty="0">
                <a:latin typeface="Times New Roman" pitchFamily="18" charset="0"/>
                <a:cs typeface="Times New Roman" pitchFamily="18" charset="0"/>
              </a:rPr>
              <a:t>M</a:t>
            </a:r>
            <a:r>
              <a:rPr lang="en-US" altLang="zh-CN" sz="3697" dirty="0">
                <a:latin typeface="Symbol" pitchFamily="18" charset="0"/>
                <a:cs typeface="Symbol" pitchFamily="18" charset="0"/>
              </a:rPr>
              <a:t>]</a:t>
            </a:r>
          </a:p>
        </p:txBody>
      </p:sp>
      <p:sp>
        <p:nvSpPr>
          <p:cNvPr id="29" name="TextBox 1"/>
          <p:cNvSpPr txBox="1"/>
          <p:nvPr/>
        </p:nvSpPr>
        <p:spPr>
          <a:xfrm>
            <a:off x="5877104" y="2707504"/>
            <a:ext cx="1160574" cy="470385"/>
          </a:xfrm>
          <a:prstGeom prst="rect">
            <a:avLst/>
          </a:prstGeom>
          <a:noFill/>
        </p:spPr>
        <p:txBody>
          <a:bodyPr wrap="none" lIns="0" tIns="0" rIns="0">
            <a:spAutoFit/>
          </a:bodyPr>
          <a:lstStyle/>
          <a:p>
            <a:pPr>
              <a:lnSpc>
                <a:spcPts val="3629"/>
              </a:lnSpc>
              <a:defRPr/>
            </a:pPr>
            <a:r>
              <a:rPr lang="en-US" altLang="zh-CN" sz="2634" dirty="0">
                <a:latin typeface="Symbol" pitchFamily="18" charset="0"/>
                <a:cs typeface="Symbol" pitchFamily="18" charset="0"/>
              </a:rPr>
              <a:t>+</a:t>
            </a:r>
            <a:r>
              <a:rPr lang="en-US" altLang="zh-CN" sz="2634" b="1" i="1" dirty="0">
                <a:latin typeface="Times New Roman" pitchFamily="18" charset="0"/>
                <a:cs typeface="Times New Roman" pitchFamily="18" charset="0"/>
              </a:rPr>
              <a:t>C</a:t>
            </a:r>
            <a:r>
              <a:rPr lang="en-US" altLang="zh-CN" sz="1536" b="1" i="1" dirty="0">
                <a:latin typeface="Times New Roman" pitchFamily="18" charset="0"/>
                <a:cs typeface="Times New Roman" pitchFamily="18" charset="0"/>
              </a:rPr>
              <a:t>M</a:t>
            </a:r>
            <a:r>
              <a:rPr lang="en-US" altLang="zh-CN" sz="2634" dirty="0">
                <a:latin typeface="Times New Roman" pitchFamily="18" charset="0"/>
                <a:cs typeface="Times New Roman" pitchFamily="18" charset="0"/>
              </a:rPr>
              <a:t> </a:t>
            </a:r>
            <a:r>
              <a:rPr lang="en-US" altLang="zh-CN" sz="2634" dirty="0">
                <a:latin typeface="Symbol" pitchFamily="18" charset="0"/>
                <a:cs typeface="Symbol" pitchFamily="18" charset="0"/>
              </a:rPr>
              <a:t>+</a:t>
            </a:r>
            <a:r>
              <a:rPr lang="en-US" altLang="zh-CN" sz="2634" b="1" i="1" dirty="0">
                <a:latin typeface="Times New Roman" pitchFamily="18" charset="0"/>
                <a:cs typeface="Times New Roman" pitchFamily="18" charset="0"/>
              </a:rPr>
              <a:t>C</a:t>
            </a:r>
            <a:r>
              <a:rPr lang="en-US" altLang="zh-CN" sz="1536" b="1" i="1" dirty="0">
                <a:latin typeface="Times New Roman" pitchFamily="18" charset="0"/>
                <a:cs typeface="Times New Roman" pitchFamily="18" charset="0"/>
              </a:rPr>
              <a:t>I</a:t>
            </a:r>
          </a:p>
        </p:txBody>
      </p:sp>
      <p:sp>
        <p:nvSpPr>
          <p:cNvPr id="30" name="TextBox 1"/>
          <p:cNvSpPr txBox="1"/>
          <p:nvPr/>
        </p:nvSpPr>
        <p:spPr>
          <a:xfrm>
            <a:off x="4183530" y="2707505"/>
            <a:ext cx="185948" cy="426655"/>
          </a:xfrm>
          <a:prstGeom prst="rect">
            <a:avLst/>
          </a:prstGeom>
          <a:noFill/>
        </p:spPr>
        <p:txBody>
          <a:bodyPr wrap="none" lIns="0" tIns="0" rIns="0">
            <a:spAutoFit/>
          </a:bodyPr>
          <a:lstStyle/>
          <a:p>
            <a:pPr>
              <a:lnSpc>
                <a:spcPts val="3175"/>
              </a:lnSpc>
              <a:defRPr/>
            </a:pPr>
            <a:r>
              <a:rPr lang="en-US" altLang="zh-CN" sz="2634" dirty="0">
                <a:latin typeface="Symbol" pitchFamily="18" charset="0"/>
                <a:cs typeface="Symbol" pitchFamily="18" charset="0"/>
              </a:rPr>
              <a:t>=</a:t>
            </a:r>
          </a:p>
        </p:txBody>
      </p:sp>
      <p:sp>
        <p:nvSpPr>
          <p:cNvPr id="31" name="TextBox 1"/>
          <p:cNvSpPr txBox="1"/>
          <p:nvPr/>
        </p:nvSpPr>
        <p:spPr>
          <a:xfrm>
            <a:off x="4725012" y="3018571"/>
            <a:ext cx="1139736" cy="226985"/>
          </a:xfrm>
          <a:prstGeom prst="rect">
            <a:avLst/>
          </a:prstGeom>
          <a:noFill/>
        </p:spPr>
        <p:txBody>
          <a:bodyPr wrap="none" lIns="0" tIns="0" rIns="0">
            <a:spAutoFit/>
          </a:bodyPr>
          <a:lstStyle/>
          <a:p>
            <a:pPr>
              <a:lnSpc>
                <a:spcPts val="1361"/>
              </a:lnSpc>
              <a:defRPr/>
            </a:pPr>
            <a:r>
              <a:rPr lang="en-US" altLang="zh-CN" sz="1536" b="1" dirty="0">
                <a:latin typeface="Times New Roman" pitchFamily="18" charset="0"/>
                <a:cs typeface="Times New Roman" pitchFamily="18" charset="0"/>
              </a:rPr>
              <a:t>2</a:t>
            </a:r>
            <a:r>
              <a:rPr lang="en-US" altLang="zh-CN" sz="1536" dirty="0">
                <a:latin typeface="Times New Roman" pitchFamily="18" charset="0"/>
                <a:cs typeface="Times New Roman" pitchFamily="18" charset="0"/>
              </a:rPr>
              <a:t>                   </a:t>
            </a:r>
            <a:r>
              <a:rPr lang="en-US" altLang="zh-CN" sz="1536" b="1" dirty="0">
                <a:latin typeface="Times New Roman" pitchFamily="18" charset="0"/>
                <a:cs typeface="Times New Roman" pitchFamily="18" charset="0"/>
              </a:rPr>
              <a:t>2</a:t>
            </a:r>
          </a:p>
        </p:txBody>
      </p:sp>
      <p:sp>
        <p:nvSpPr>
          <p:cNvPr id="32" name="TextBox 1"/>
          <p:cNvSpPr txBox="1"/>
          <p:nvPr/>
        </p:nvSpPr>
        <p:spPr>
          <a:xfrm>
            <a:off x="4471552" y="2576456"/>
            <a:ext cx="1224694" cy="443711"/>
          </a:xfrm>
          <a:prstGeom prst="rect">
            <a:avLst/>
          </a:prstGeom>
          <a:noFill/>
        </p:spPr>
        <p:txBody>
          <a:bodyPr wrap="none" lIns="0" tIns="0" rIns="0">
            <a:spAutoFit/>
          </a:bodyPr>
          <a:lstStyle/>
          <a:p>
            <a:pPr>
              <a:lnSpc>
                <a:spcPts val="3084"/>
              </a:lnSpc>
              <a:defRPr/>
            </a:pPr>
            <a:r>
              <a:rPr lang="en-US" altLang="zh-CN" sz="2634" b="1" dirty="0">
                <a:latin typeface="Times New Roman" pitchFamily="18" charset="0"/>
                <a:cs typeface="Times New Roman" pitchFamily="18" charset="0"/>
              </a:rPr>
              <a:t>2</a:t>
            </a:r>
            <a:r>
              <a:rPr lang="en-US" altLang="zh-CN" sz="2634" b="1" i="1" dirty="0">
                <a:latin typeface="Times New Roman" pitchFamily="18" charset="0"/>
                <a:cs typeface="Times New Roman" pitchFamily="18" charset="0"/>
              </a:rPr>
              <a:t>k</a:t>
            </a:r>
            <a:r>
              <a:rPr lang="en-US" altLang="zh-CN" sz="1536" b="1" i="1" dirty="0">
                <a:latin typeface="Times New Roman" pitchFamily="18" charset="0"/>
                <a:cs typeface="Times New Roman" pitchFamily="18" charset="0"/>
              </a:rPr>
              <a:t>t</a:t>
            </a:r>
            <a:r>
              <a:rPr lang="en-US" altLang="zh-CN" sz="2634" dirty="0">
                <a:latin typeface="Times New Roman" pitchFamily="18" charset="0"/>
                <a:cs typeface="Times New Roman" pitchFamily="18" charset="0"/>
              </a:rPr>
              <a:t>      </a:t>
            </a:r>
            <a:r>
              <a:rPr lang="en-US" altLang="zh-CN" sz="2634" b="1" i="1" dirty="0">
                <a:latin typeface="Times New Roman" pitchFamily="18" charset="0"/>
                <a:cs typeface="Times New Roman" pitchFamily="18" charset="0"/>
              </a:rPr>
              <a:t>R</a:t>
            </a:r>
            <a:r>
              <a:rPr lang="en-US" altLang="zh-CN" sz="1536" b="1" i="1" dirty="0">
                <a:latin typeface="Times New Roman" pitchFamily="18" charset="0"/>
                <a:cs typeface="Times New Roman" pitchFamily="18" charset="0"/>
              </a:rPr>
              <a:t>p</a:t>
            </a:r>
          </a:p>
        </p:txBody>
      </p:sp>
      <p:sp>
        <p:nvSpPr>
          <p:cNvPr id="33" name="TextBox 1"/>
          <p:cNvSpPr txBox="1"/>
          <p:nvPr/>
        </p:nvSpPr>
        <p:spPr>
          <a:xfrm>
            <a:off x="3688132" y="2599496"/>
            <a:ext cx="335028" cy="875561"/>
          </a:xfrm>
          <a:prstGeom prst="rect">
            <a:avLst/>
          </a:prstGeom>
          <a:noFill/>
        </p:spPr>
        <p:txBody>
          <a:bodyPr wrap="none" lIns="0" tIns="0" rIns="0">
            <a:spAutoFit/>
          </a:bodyPr>
          <a:lstStyle/>
          <a:p>
            <a:pPr>
              <a:lnSpc>
                <a:spcPts val="2359"/>
              </a:lnSpc>
              <a:tabLst>
                <a:tab pos="103697" algn="l"/>
              </a:tabLst>
              <a:defRPr/>
            </a:pPr>
            <a:r>
              <a:rPr lang="en-US" altLang="zh-CN" sz="1633" dirty="0"/>
              <a:t>	</a:t>
            </a:r>
            <a:r>
              <a:rPr lang="en-US" altLang="zh-CN" sz="2634" b="1" dirty="0">
                <a:latin typeface="Times New Roman" pitchFamily="18" charset="0"/>
                <a:cs typeface="Times New Roman" pitchFamily="18" charset="0"/>
              </a:rPr>
              <a:t>1</a:t>
            </a:r>
          </a:p>
          <a:p>
            <a:pPr>
              <a:lnSpc>
                <a:spcPts val="907"/>
              </a:lnSpc>
              <a:defRPr/>
            </a:pPr>
            <a:endParaRPr lang="en-US" altLang="zh-CN" sz="1633" dirty="0"/>
          </a:p>
          <a:p>
            <a:pPr>
              <a:lnSpc>
                <a:spcPts val="3357"/>
              </a:lnSpc>
              <a:tabLst>
                <a:tab pos="103697" algn="l"/>
              </a:tabLst>
              <a:defRPr/>
            </a:pPr>
            <a:r>
              <a:rPr lang="en-US" altLang="zh-CN" sz="2634" b="1" i="1" dirty="0">
                <a:latin typeface="Times New Roman" pitchFamily="18" charset="0"/>
                <a:cs typeface="Times New Roman" pitchFamily="18" charset="0"/>
              </a:rPr>
              <a:t>X</a:t>
            </a:r>
            <a:r>
              <a:rPr lang="en-US" altLang="zh-CN" sz="1536" b="1" i="1" dirty="0">
                <a:latin typeface="Times New Roman" pitchFamily="18" charset="0"/>
                <a:cs typeface="Times New Roman" pitchFamily="18" charset="0"/>
              </a:rPr>
              <a:t>n</a:t>
            </a:r>
          </a:p>
        </p:txBody>
      </p:sp>
      <p:sp>
        <p:nvSpPr>
          <p:cNvPr id="34" name="TextBox 1"/>
          <p:cNvSpPr txBox="1"/>
          <p:nvPr/>
        </p:nvSpPr>
        <p:spPr>
          <a:xfrm>
            <a:off x="7962389" y="3594614"/>
            <a:ext cx="524182" cy="931024"/>
          </a:xfrm>
          <a:prstGeom prst="rect">
            <a:avLst/>
          </a:prstGeom>
          <a:noFill/>
        </p:spPr>
        <p:txBody>
          <a:bodyPr wrap="none" lIns="0" tIns="0" rIns="0">
            <a:spAutoFit/>
          </a:bodyPr>
          <a:lstStyle/>
          <a:p>
            <a:pPr>
              <a:lnSpc>
                <a:spcPts val="3811"/>
              </a:lnSpc>
              <a:tabLst>
                <a:tab pos="80654" algn="l"/>
              </a:tabLst>
              <a:defRPr/>
            </a:pPr>
            <a:r>
              <a:rPr lang="en-US" altLang="zh-CN" sz="1633" dirty="0"/>
              <a:t>	</a:t>
            </a:r>
            <a:r>
              <a:rPr lang="en-US" altLang="zh-CN" sz="3144" dirty="0">
                <a:latin typeface="Symbol" pitchFamily="18" charset="0"/>
                <a:cs typeface="Symbol" pitchFamily="18" charset="0"/>
              </a:rPr>
              <a:t>[</a:t>
            </a:r>
            <a:r>
              <a:rPr lang="en-US" altLang="zh-CN" sz="2240" b="1" i="1" dirty="0">
                <a:latin typeface="Times New Roman" pitchFamily="18" charset="0"/>
                <a:cs typeface="Times New Roman" pitchFamily="18" charset="0"/>
              </a:rPr>
              <a:t>I</a:t>
            </a:r>
            <a:r>
              <a:rPr lang="en-US" altLang="zh-CN" sz="3144" dirty="0">
                <a:latin typeface="Symbol" pitchFamily="18" charset="0"/>
                <a:cs typeface="Symbol" pitchFamily="18" charset="0"/>
              </a:rPr>
              <a:t>]</a:t>
            </a:r>
          </a:p>
          <a:p>
            <a:pPr>
              <a:lnSpc>
                <a:spcPts val="3084"/>
              </a:lnSpc>
              <a:tabLst>
                <a:tab pos="80654" algn="l"/>
              </a:tabLst>
              <a:defRPr/>
            </a:pPr>
            <a:r>
              <a:rPr lang="en-US" altLang="zh-CN" sz="3144" dirty="0">
                <a:latin typeface="Symbol" pitchFamily="18" charset="0"/>
                <a:cs typeface="Symbol" pitchFamily="18" charset="0"/>
              </a:rPr>
              <a:t>[</a:t>
            </a:r>
            <a:r>
              <a:rPr lang="en-US" altLang="zh-CN" sz="2240" b="1" i="1" dirty="0">
                <a:latin typeface="Times New Roman" pitchFamily="18" charset="0"/>
                <a:cs typeface="Times New Roman" pitchFamily="18" charset="0"/>
              </a:rPr>
              <a:t>M</a:t>
            </a:r>
            <a:r>
              <a:rPr lang="en-US" altLang="zh-CN" sz="3144" dirty="0">
                <a:latin typeface="Symbol" pitchFamily="18" charset="0"/>
                <a:cs typeface="Symbol" pitchFamily="18" charset="0"/>
              </a:rPr>
              <a:t>]</a:t>
            </a:r>
          </a:p>
        </p:txBody>
      </p:sp>
      <p:sp>
        <p:nvSpPr>
          <p:cNvPr id="35" name="TextBox 1"/>
          <p:cNvSpPr txBox="1"/>
          <p:nvPr/>
        </p:nvSpPr>
        <p:spPr>
          <a:xfrm>
            <a:off x="6925506" y="3894157"/>
            <a:ext cx="985847" cy="410562"/>
          </a:xfrm>
          <a:prstGeom prst="rect">
            <a:avLst/>
          </a:prstGeom>
          <a:noFill/>
        </p:spPr>
        <p:txBody>
          <a:bodyPr wrap="none" lIns="0" tIns="0" rIns="0">
            <a:spAutoFit/>
          </a:bodyPr>
          <a:lstStyle/>
          <a:p>
            <a:pPr>
              <a:lnSpc>
                <a:spcPts val="3084"/>
              </a:lnSpc>
              <a:defRPr/>
            </a:pPr>
            <a:r>
              <a:rPr lang="en-US" altLang="zh-CN" sz="2240" dirty="0">
                <a:latin typeface="Symbol" pitchFamily="18" charset="0"/>
                <a:cs typeface="Symbol" pitchFamily="18" charset="0"/>
              </a:rPr>
              <a:t>=</a:t>
            </a:r>
            <a:r>
              <a:rPr lang="en-US" altLang="zh-CN" sz="2240" b="1" i="1" dirty="0">
                <a:latin typeface="Times New Roman" pitchFamily="18" charset="0"/>
                <a:cs typeface="Times New Roman" pitchFamily="18" charset="0"/>
              </a:rPr>
              <a:t>C</a:t>
            </a:r>
            <a:r>
              <a:rPr lang="en-US" altLang="zh-CN" sz="1306" b="1" i="1" dirty="0">
                <a:latin typeface="Times New Roman" pitchFamily="18" charset="0"/>
                <a:cs typeface="Times New Roman" pitchFamily="18" charset="0"/>
              </a:rPr>
              <a:t>M</a:t>
            </a:r>
            <a:r>
              <a:rPr lang="en-US" altLang="zh-CN" sz="2240" dirty="0">
                <a:latin typeface="Times New Roman" pitchFamily="18" charset="0"/>
                <a:cs typeface="Times New Roman" pitchFamily="18" charset="0"/>
              </a:rPr>
              <a:t> </a:t>
            </a:r>
            <a:r>
              <a:rPr lang="en-US" altLang="zh-CN" sz="2240" dirty="0">
                <a:latin typeface="Symbol" pitchFamily="18" charset="0"/>
                <a:cs typeface="Symbol" pitchFamily="18" charset="0"/>
              </a:rPr>
              <a:t>+</a:t>
            </a:r>
            <a:r>
              <a:rPr lang="en-US" altLang="zh-CN" sz="2240" b="1" i="1" dirty="0">
                <a:latin typeface="Times New Roman" pitchFamily="18" charset="0"/>
                <a:cs typeface="Times New Roman" pitchFamily="18" charset="0"/>
              </a:rPr>
              <a:t>C</a:t>
            </a:r>
            <a:r>
              <a:rPr lang="en-US" altLang="zh-CN" sz="1306" b="1" i="1" dirty="0">
                <a:latin typeface="Times New Roman" pitchFamily="18" charset="0"/>
                <a:cs typeface="Times New Roman" pitchFamily="18" charset="0"/>
              </a:rPr>
              <a:t>I</a:t>
            </a:r>
          </a:p>
        </p:txBody>
      </p:sp>
      <p:sp>
        <p:nvSpPr>
          <p:cNvPr id="36" name="TextBox 1"/>
          <p:cNvSpPr txBox="1"/>
          <p:nvPr/>
        </p:nvSpPr>
        <p:spPr>
          <a:xfrm>
            <a:off x="5473871" y="3961844"/>
            <a:ext cx="157094" cy="367665"/>
          </a:xfrm>
          <a:prstGeom prst="rect">
            <a:avLst/>
          </a:prstGeom>
          <a:noFill/>
        </p:spPr>
        <p:txBody>
          <a:bodyPr wrap="none" lIns="0" tIns="0" rIns="0">
            <a:spAutoFit/>
          </a:bodyPr>
          <a:lstStyle/>
          <a:p>
            <a:pPr>
              <a:lnSpc>
                <a:spcPts val="2722"/>
              </a:lnSpc>
              <a:defRPr/>
            </a:pPr>
            <a:r>
              <a:rPr lang="en-US" altLang="zh-CN" sz="2240" dirty="0">
                <a:latin typeface="Symbol" pitchFamily="18" charset="0"/>
                <a:cs typeface="Symbol" pitchFamily="18" charset="0"/>
              </a:rPr>
              <a:t>-</a:t>
            </a:r>
          </a:p>
        </p:txBody>
      </p:sp>
      <p:sp>
        <p:nvSpPr>
          <p:cNvPr id="37" name="TextBox 1"/>
          <p:cNvSpPr txBox="1"/>
          <p:nvPr/>
        </p:nvSpPr>
        <p:spPr>
          <a:xfrm>
            <a:off x="5923187" y="4159139"/>
            <a:ext cx="1041952" cy="200824"/>
          </a:xfrm>
          <a:prstGeom prst="rect">
            <a:avLst/>
          </a:prstGeom>
          <a:noFill/>
        </p:spPr>
        <p:txBody>
          <a:bodyPr wrap="none" lIns="0" tIns="0" rIns="0">
            <a:spAutoFit/>
          </a:bodyPr>
          <a:lstStyle/>
          <a:p>
            <a:pPr>
              <a:lnSpc>
                <a:spcPts val="1179"/>
              </a:lnSpc>
              <a:defRPr/>
            </a:pPr>
            <a:r>
              <a:rPr lang="en-US" altLang="zh-CN" sz="1306" b="1" dirty="0">
                <a:latin typeface="Times New Roman" pitchFamily="18" charset="0"/>
                <a:cs typeface="Times New Roman" pitchFamily="18" charset="0"/>
              </a:rPr>
              <a:t>2</a:t>
            </a:r>
            <a:r>
              <a:rPr lang="en-US" altLang="zh-CN" sz="1306" dirty="0">
                <a:latin typeface="Times New Roman" pitchFamily="18" charset="0"/>
                <a:cs typeface="Times New Roman" pitchFamily="18" charset="0"/>
              </a:rPr>
              <a:t>                     </a:t>
            </a:r>
            <a:r>
              <a:rPr lang="en-US" altLang="zh-CN" sz="1306" b="1" dirty="0">
                <a:latin typeface="Times New Roman" pitchFamily="18" charset="0"/>
                <a:cs typeface="Times New Roman" pitchFamily="18" charset="0"/>
              </a:rPr>
              <a:t>2</a:t>
            </a:r>
          </a:p>
        </p:txBody>
      </p:sp>
      <p:sp>
        <p:nvSpPr>
          <p:cNvPr id="38" name="TextBox 1"/>
          <p:cNvSpPr txBox="1"/>
          <p:nvPr/>
        </p:nvSpPr>
        <p:spPr>
          <a:xfrm>
            <a:off x="5704291" y="3741507"/>
            <a:ext cx="1043555" cy="379591"/>
          </a:xfrm>
          <a:prstGeom prst="rect">
            <a:avLst/>
          </a:prstGeom>
          <a:noFill/>
        </p:spPr>
        <p:txBody>
          <a:bodyPr wrap="none" lIns="0" tIns="0" rIns="0">
            <a:spAutoFit/>
          </a:bodyPr>
          <a:lstStyle/>
          <a:p>
            <a:pPr>
              <a:lnSpc>
                <a:spcPts val="2631"/>
              </a:lnSpc>
              <a:defRPr/>
            </a:pPr>
            <a:r>
              <a:rPr lang="en-US" altLang="zh-CN" sz="2240" b="1" dirty="0">
                <a:latin typeface="Times New Roman" pitchFamily="18" charset="0"/>
                <a:cs typeface="Times New Roman" pitchFamily="18" charset="0"/>
              </a:rPr>
              <a:t>2</a:t>
            </a:r>
            <a:r>
              <a:rPr lang="en-US" altLang="zh-CN" sz="2240" b="1" i="1" dirty="0">
                <a:latin typeface="Times New Roman" pitchFamily="18" charset="0"/>
                <a:cs typeface="Times New Roman" pitchFamily="18" charset="0"/>
              </a:rPr>
              <a:t>k</a:t>
            </a:r>
            <a:r>
              <a:rPr lang="en-US" altLang="zh-CN" sz="1306" b="1" i="1" dirty="0">
                <a:latin typeface="Times New Roman" pitchFamily="18" charset="0"/>
                <a:cs typeface="Times New Roman" pitchFamily="18" charset="0"/>
              </a:rPr>
              <a:t>t</a:t>
            </a:r>
            <a:r>
              <a:rPr lang="en-US" altLang="zh-CN" sz="2240" dirty="0">
                <a:latin typeface="Times New Roman" pitchFamily="18" charset="0"/>
                <a:cs typeface="Times New Roman" pitchFamily="18" charset="0"/>
              </a:rPr>
              <a:t>      </a:t>
            </a:r>
            <a:r>
              <a:rPr lang="en-US" altLang="zh-CN" sz="2240" b="1" i="1" dirty="0">
                <a:latin typeface="Times New Roman" pitchFamily="18" charset="0"/>
                <a:cs typeface="Times New Roman" pitchFamily="18" charset="0"/>
              </a:rPr>
              <a:t>R</a:t>
            </a:r>
            <a:r>
              <a:rPr lang="en-US" altLang="zh-CN" sz="1306" b="1" i="1" dirty="0">
                <a:latin typeface="Times New Roman" pitchFamily="18" charset="0"/>
                <a:cs typeface="Times New Roman" pitchFamily="18" charset="0"/>
              </a:rPr>
              <a:t>p</a:t>
            </a:r>
          </a:p>
        </p:txBody>
      </p:sp>
      <p:sp>
        <p:nvSpPr>
          <p:cNvPr id="39" name="TextBox 1"/>
          <p:cNvSpPr txBox="1"/>
          <p:nvPr/>
        </p:nvSpPr>
        <p:spPr>
          <a:xfrm>
            <a:off x="5050479" y="3840875"/>
            <a:ext cx="285335" cy="745076"/>
          </a:xfrm>
          <a:prstGeom prst="rect">
            <a:avLst/>
          </a:prstGeom>
          <a:noFill/>
        </p:spPr>
        <p:txBody>
          <a:bodyPr wrap="none" lIns="0" tIns="0" rIns="0">
            <a:spAutoFit/>
          </a:bodyPr>
          <a:lstStyle/>
          <a:p>
            <a:pPr>
              <a:lnSpc>
                <a:spcPts val="1996"/>
              </a:lnSpc>
              <a:tabLst>
                <a:tab pos="80654" algn="l"/>
              </a:tabLst>
              <a:defRPr/>
            </a:pPr>
            <a:r>
              <a:rPr lang="en-US" altLang="zh-CN" sz="1633" dirty="0"/>
              <a:t>	</a:t>
            </a:r>
            <a:r>
              <a:rPr lang="en-US" altLang="zh-CN" sz="2240" b="1" dirty="0">
                <a:latin typeface="Times New Roman" pitchFamily="18" charset="0"/>
                <a:cs typeface="Times New Roman" pitchFamily="18" charset="0"/>
              </a:rPr>
              <a:t>1</a:t>
            </a:r>
          </a:p>
          <a:p>
            <a:pPr>
              <a:lnSpc>
                <a:spcPts val="907"/>
              </a:lnSpc>
              <a:defRPr/>
            </a:pPr>
            <a:endParaRPr lang="en-US" altLang="zh-CN" sz="1633" dirty="0"/>
          </a:p>
          <a:p>
            <a:pPr>
              <a:lnSpc>
                <a:spcPts val="2722"/>
              </a:lnSpc>
              <a:tabLst>
                <a:tab pos="80654" algn="l"/>
              </a:tabLst>
              <a:defRPr/>
            </a:pPr>
            <a:r>
              <a:rPr lang="en-US" altLang="zh-CN" sz="2240" b="1" i="1" dirty="0">
                <a:latin typeface="Times New Roman" pitchFamily="18" charset="0"/>
                <a:cs typeface="Times New Roman" pitchFamily="18" charset="0"/>
              </a:rPr>
              <a:t>X</a:t>
            </a:r>
            <a:r>
              <a:rPr lang="en-US" altLang="zh-CN" sz="1306" b="1" i="1" dirty="0">
                <a:latin typeface="Times New Roman" pitchFamily="18" charset="0"/>
                <a:cs typeface="Times New Roman" pitchFamily="18" charset="0"/>
              </a:rPr>
              <a:t>n</a:t>
            </a:r>
          </a:p>
        </p:txBody>
      </p:sp>
      <p:sp>
        <p:nvSpPr>
          <p:cNvPr id="112668" name="TextBox 1"/>
          <p:cNvSpPr txBox="1">
            <a:spLocks noChangeArrowheads="1"/>
          </p:cNvSpPr>
          <p:nvPr/>
        </p:nvSpPr>
        <p:spPr bwMode="auto">
          <a:xfrm>
            <a:off x="2512997" y="4850393"/>
            <a:ext cx="6759864" cy="1115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60400" algn="l"/>
                <a:tab pos="7797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 pos="7797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 pos="7797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 pos="7797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 pos="7797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 pos="7797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 pos="7797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 pos="7797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 pos="7797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1633"/>
              <a:t>	</a:t>
            </a:r>
            <a:r>
              <a:rPr lang="en-US" altLang="zh-CN" sz="2268">
                <a:latin typeface="楷体_GB2312"/>
                <a:ea typeface="楷体_GB2312"/>
                <a:cs typeface="楷体_GB2312"/>
              </a:rPr>
              <a:t>进行不同引发剂浓度下的本体聚合反应，由上式</a:t>
            </a:r>
          </a:p>
          <a:p>
            <a:pPr eaLnBrk="1" hangingPunct="1">
              <a:lnSpc>
                <a:spcPts val="3447"/>
              </a:lnSpc>
            </a:pPr>
            <a:r>
              <a:rPr lang="en-US" altLang="zh-CN" sz="2268">
                <a:latin typeface="楷体_GB2312"/>
                <a:ea typeface="楷体_GB2312"/>
                <a:cs typeface="楷体_GB2312"/>
              </a:rPr>
              <a:t>的左边对</a:t>
            </a:r>
            <a:r>
              <a:rPr lang="en-US" altLang="zh-CN" sz="2268" b="1">
                <a:latin typeface="Times New Roman" panose="02020603050405020304" pitchFamily="18" charset="0"/>
                <a:cs typeface="Times New Roman" panose="02020603050405020304" pitchFamily="18" charset="0"/>
              </a:rPr>
              <a:t>[I]/[M]</a:t>
            </a:r>
            <a:r>
              <a:rPr lang="en-US" altLang="zh-CN" sz="2268">
                <a:latin typeface="楷体_GB2312"/>
                <a:ea typeface="楷体_GB2312"/>
                <a:cs typeface="楷体_GB2312"/>
              </a:rPr>
              <a:t>作图，即可由斜率和截距分别求出</a:t>
            </a:r>
            <a:r>
              <a:rPr lang="en-US" altLang="zh-CN" sz="2268" b="1">
                <a:latin typeface="Times New Roman" panose="02020603050405020304" pitchFamily="18" charset="0"/>
                <a:cs typeface="Times New Roman" panose="02020603050405020304" pitchFamily="18" charset="0"/>
              </a:rPr>
              <a:t>C</a:t>
            </a:r>
            <a:r>
              <a:rPr lang="en-US" altLang="zh-CN" sz="1452" b="1">
                <a:latin typeface="Times New Roman" panose="02020603050405020304" pitchFamily="18" charset="0"/>
                <a:cs typeface="Times New Roman" panose="02020603050405020304" pitchFamily="18" charset="0"/>
              </a:rPr>
              <a:t>I</a:t>
            </a:r>
          </a:p>
          <a:p>
            <a:pPr eaLnBrk="1" hangingPunct="1">
              <a:lnSpc>
                <a:spcPts val="2812"/>
              </a:lnSpc>
            </a:pPr>
            <a:r>
              <a:rPr lang="en-US" altLang="zh-CN" sz="2268">
                <a:latin typeface="楷体_GB2312"/>
                <a:ea typeface="楷体_GB2312"/>
                <a:cs typeface="楷体_GB2312"/>
              </a:rPr>
              <a:t>和</a:t>
            </a:r>
            <a:r>
              <a:rPr lang="en-US" altLang="zh-CN" sz="2268" b="1">
                <a:latin typeface="Times New Roman" panose="02020603050405020304" pitchFamily="18" charset="0"/>
                <a:cs typeface="Times New Roman" panose="02020603050405020304" pitchFamily="18" charset="0"/>
              </a:rPr>
              <a:t>C</a:t>
            </a:r>
            <a:r>
              <a:rPr lang="en-US" altLang="zh-CN" sz="1452" b="1">
                <a:latin typeface="Times New Roman" panose="02020603050405020304" pitchFamily="18" charset="0"/>
                <a:cs typeface="Times New Roman" panose="02020603050405020304" pitchFamily="18" charset="0"/>
              </a:rPr>
              <a:t>M</a:t>
            </a:r>
            <a:endParaRPr lang="en-US" altLang="zh-CN" sz="1089">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Box 1"/>
          <p:cNvSpPr txBox="1">
            <a:spLocks noChangeArrowheads="1"/>
          </p:cNvSpPr>
          <p:nvPr/>
        </p:nvSpPr>
        <p:spPr bwMode="auto">
          <a:xfrm>
            <a:off x="2582125" y="2142981"/>
            <a:ext cx="227786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设前三项之和为</a:t>
            </a:r>
          </a:p>
        </p:txBody>
      </p:sp>
      <p:sp>
        <p:nvSpPr>
          <p:cNvPr id="113667" name="TextBox 1"/>
          <p:cNvSpPr txBox="1">
            <a:spLocks noChangeArrowheads="1"/>
          </p:cNvSpPr>
          <p:nvPr/>
        </p:nvSpPr>
        <p:spPr bwMode="auto">
          <a:xfrm>
            <a:off x="2317144" y="622220"/>
            <a:ext cx="7641387" cy="1133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3.9.4</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向溶剂或链转移剂的转移（</a:t>
            </a:r>
            <a:r>
              <a:rPr lang="en-US" altLang="zh-CN" sz="2540" b="1">
                <a:latin typeface="Times New Roman" panose="02020603050405020304" pitchFamily="18" charset="0"/>
                <a:cs typeface="Times New Roman" panose="02020603050405020304" pitchFamily="18" charset="0"/>
              </a:rPr>
              <a:t>Transfer</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to</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Solvent</a:t>
            </a:r>
            <a:r>
              <a:rPr lang="en-US" altLang="zh-CN" sz="2540">
                <a:latin typeface="楷体_GB2312"/>
                <a:ea typeface="楷体_GB2312"/>
                <a:cs typeface="楷体_GB2312"/>
              </a:rPr>
              <a:t>）</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溶液聚合时须考虑</a:t>
            </a:r>
          </a:p>
        </p:txBody>
      </p:sp>
      <p:sp>
        <p:nvSpPr>
          <p:cNvPr id="113668" name="TextBox 1"/>
          <p:cNvSpPr txBox="1">
            <a:spLocks noChangeArrowheads="1"/>
          </p:cNvSpPr>
          <p:nvPr/>
        </p:nvSpPr>
        <p:spPr bwMode="auto">
          <a:xfrm>
            <a:off x="2351706" y="4643016"/>
            <a:ext cx="8194551" cy="1726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 pos="7975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 pos="7975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 pos="7975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 pos="7975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 pos="7975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 pos="7975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 pos="7975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 pos="7975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 pos="7975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进行不同溶剂浓度下的溶液聚合反应，由上式</a:t>
            </a:r>
          </a:p>
          <a:p>
            <a:pPr eaLnBrk="1" hangingPunct="1">
              <a:lnSpc>
                <a:spcPts val="907"/>
              </a:lnSpc>
            </a:pPr>
            <a:endParaRPr lang="en-US" altLang="zh-CN" sz="1633"/>
          </a:p>
          <a:p>
            <a:pPr eaLnBrk="1" hangingPunct="1">
              <a:lnSpc>
                <a:spcPts val="3629"/>
              </a:lnSpc>
            </a:pPr>
            <a:r>
              <a:rPr lang="en-US" altLang="zh-CN" sz="2540">
                <a:latin typeface="楷体_GB2312"/>
                <a:ea typeface="楷体_GB2312"/>
                <a:cs typeface="楷体_GB2312"/>
              </a:rPr>
              <a:t>的左边对</a:t>
            </a:r>
            <a:r>
              <a:rPr lang="en-US" altLang="zh-CN" sz="2540" b="1">
                <a:latin typeface="Times New Roman" panose="02020603050405020304" pitchFamily="18" charset="0"/>
                <a:cs typeface="Times New Roman" panose="02020603050405020304" pitchFamily="18" charset="0"/>
              </a:rPr>
              <a:t>[S]/[M]</a:t>
            </a:r>
            <a:r>
              <a:rPr lang="en-US" altLang="zh-CN" sz="2540">
                <a:latin typeface="楷体_GB2312"/>
                <a:ea typeface="楷体_GB2312"/>
                <a:cs typeface="楷体_GB2312"/>
              </a:rPr>
              <a:t>作图，即可由斜率求出</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S</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724"/>
              </a:lnSpc>
            </a:pPr>
            <a:r>
              <a:rPr lang="en-US" altLang="zh-CN" sz="1633"/>
              <a:t>		</a:t>
            </a:r>
            <a:r>
              <a:rPr lang="en-US" altLang="zh-CN" sz="1089">
                <a:latin typeface="Times New Roman" panose="02020603050405020304" pitchFamily="18" charset="0"/>
                <a:cs typeface="Times New Roman" panose="02020603050405020304" pitchFamily="18" charset="0"/>
              </a:rPr>
              <a:t>98</a:t>
            </a:r>
          </a:p>
        </p:txBody>
      </p:sp>
      <p:sp>
        <p:nvSpPr>
          <p:cNvPr id="113669" name="TextBox 1"/>
          <p:cNvSpPr txBox="1">
            <a:spLocks noChangeArrowheads="1"/>
          </p:cNvSpPr>
          <p:nvPr/>
        </p:nvSpPr>
        <p:spPr bwMode="auto">
          <a:xfrm>
            <a:off x="5335621" y="2142981"/>
            <a:ext cx="3904915"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：即无溶剂时的聚合度倒数</a:t>
            </a:r>
          </a:p>
        </p:txBody>
      </p:sp>
      <p:sp>
        <p:nvSpPr>
          <p:cNvPr id="113670" name="TextBox 1"/>
          <p:cNvSpPr txBox="1">
            <a:spLocks noChangeArrowheads="1"/>
          </p:cNvSpPr>
          <p:nvPr/>
        </p:nvSpPr>
        <p:spPr bwMode="auto">
          <a:xfrm>
            <a:off x="3492277" y="3387239"/>
            <a:ext cx="325410"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则</a:t>
            </a:r>
          </a:p>
        </p:txBody>
      </p:sp>
      <p:sp>
        <p:nvSpPr>
          <p:cNvPr id="2" name="TextBox 1"/>
          <p:cNvSpPr txBox="1">
            <a:spLocks noRot="1" noChangeAspect="1" noMove="1" noResize="1" noEditPoints="1" noAdjustHandles="1" noChangeArrowheads="1" noChangeShapeType="1" noTextEdit="1"/>
          </p:cNvSpPr>
          <p:nvPr/>
        </p:nvSpPr>
        <p:spPr>
          <a:xfrm>
            <a:off x="4753670" y="1979508"/>
            <a:ext cx="789327" cy="682649"/>
          </a:xfrm>
          <a:prstGeom prst="rect">
            <a:avLst/>
          </a:prstGeom>
          <a:blipFill rotWithShape="1">
            <a:blip r:embed="rId2"/>
            <a:stretch>
              <a:fillRect/>
            </a:stretch>
          </a:blipFill>
        </p:spPr>
        <p:txBody>
          <a:bodyPr/>
          <a:lstStyle/>
          <a:p>
            <a:r>
              <a:rPr lang="zh-CN" altLang="en-US" sz="1633">
                <a:noFill/>
              </a:rPr>
              <a:t> </a:t>
            </a:r>
          </a:p>
        </p:txBody>
      </p:sp>
      <p:sp>
        <p:nvSpPr>
          <p:cNvPr id="24" name="TextBox 23"/>
          <p:cNvSpPr txBox="1">
            <a:spLocks noRot="1" noChangeAspect="1" noMove="1" noResize="1" noEditPoints="1" noAdjustHandles="1" noChangeArrowheads="1" noChangeShapeType="1" noTextEdit="1"/>
          </p:cNvSpPr>
          <p:nvPr/>
        </p:nvSpPr>
        <p:spPr>
          <a:xfrm>
            <a:off x="4499648" y="3024430"/>
            <a:ext cx="3522598" cy="1081326"/>
          </a:xfrm>
          <a:prstGeom prst="rect">
            <a:avLst/>
          </a:prstGeom>
          <a:blipFill rotWithShape="1">
            <a:blip r:embed="rId3"/>
            <a:stretch>
              <a:fillRect/>
            </a:stretch>
          </a:blipFill>
        </p:spPr>
        <p:txBody>
          <a:bodyPr/>
          <a:lstStyle/>
          <a:p>
            <a:r>
              <a:rPr lang="zh-CN" altLang="en-US" sz="1633">
                <a:noFill/>
              </a:rPr>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Box 1"/>
          <p:cNvSpPr txBox="1">
            <a:spLocks noChangeArrowheads="1"/>
          </p:cNvSpPr>
          <p:nvPr/>
        </p:nvSpPr>
        <p:spPr bwMode="auto">
          <a:xfrm>
            <a:off x="9586835" y="6198340"/>
            <a:ext cx="14106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99</a:t>
            </a:r>
          </a:p>
        </p:txBody>
      </p:sp>
      <p:sp>
        <p:nvSpPr>
          <p:cNvPr id="114691" name="TextBox 1"/>
          <p:cNvSpPr txBox="1">
            <a:spLocks noChangeArrowheads="1"/>
          </p:cNvSpPr>
          <p:nvPr/>
        </p:nvSpPr>
        <p:spPr bwMode="auto">
          <a:xfrm>
            <a:off x="2950792" y="1578456"/>
            <a:ext cx="6751848" cy="43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dirty="0">
                <a:latin typeface="楷体_GB2312"/>
                <a:ea typeface="楷体_GB2312"/>
                <a:cs typeface="楷体_GB2312"/>
              </a:rPr>
              <a:t>常见单体的</a:t>
            </a:r>
            <a:r>
              <a:rPr lang="en-US" altLang="zh-CN" sz="2540" b="1" dirty="0">
                <a:latin typeface="Times New Roman" panose="02020603050405020304" pitchFamily="18" charset="0"/>
                <a:cs typeface="Times New Roman" panose="02020603050405020304" pitchFamily="18" charset="0"/>
              </a:rPr>
              <a:t>C</a:t>
            </a:r>
            <a:r>
              <a:rPr lang="en-US" altLang="zh-CN" sz="1724" b="1" dirty="0">
                <a:latin typeface="Times New Roman" panose="02020603050405020304" pitchFamily="18" charset="0"/>
                <a:cs typeface="Times New Roman" panose="02020603050405020304" pitchFamily="18" charset="0"/>
              </a:rPr>
              <a:t>M</a:t>
            </a:r>
            <a:r>
              <a:rPr lang="en-US" altLang="zh-CN" sz="2540" dirty="0">
                <a:latin typeface="楷体_GB2312"/>
                <a:ea typeface="楷体_GB2312"/>
                <a:cs typeface="楷体_GB2312"/>
              </a:rPr>
              <a:t>一般较小，多为</a:t>
            </a:r>
            <a:r>
              <a:rPr lang="en-US" altLang="zh-CN" sz="2540" b="1" dirty="0">
                <a:latin typeface="Times New Roman" panose="02020603050405020304" pitchFamily="18" charset="0"/>
                <a:cs typeface="Times New Roman" panose="02020603050405020304" pitchFamily="18" charset="0"/>
              </a:rPr>
              <a:t>10</a:t>
            </a:r>
            <a:r>
              <a:rPr lang="en-US" altLang="zh-CN" sz="1724" b="1" baseline="30000" dirty="0">
                <a:latin typeface="Times New Roman" panose="02020603050405020304" pitchFamily="18" charset="0"/>
                <a:cs typeface="Times New Roman" panose="02020603050405020304" pitchFamily="18" charset="0"/>
              </a:rPr>
              <a:t>-5</a:t>
            </a:r>
            <a:r>
              <a:rPr lang="en-US" altLang="zh-CN" sz="2540" dirty="0">
                <a:latin typeface="楷体_GB2312"/>
                <a:ea typeface="楷体_GB2312"/>
                <a:cs typeface="楷体_GB2312"/>
              </a:rPr>
              <a:t>数量级，故可</a:t>
            </a:r>
          </a:p>
        </p:txBody>
      </p:sp>
      <p:sp>
        <p:nvSpPr>
          <p:cNvPr id="114692" name="TextBox 1"/>
          <p:cNvSpPr txBox="1">
            <a:spLocks noChangeArrowheads="1"/>
          </p:cNvSpPr>
          <p:nvPr/>
        </p:nvSpPr>
        <p:spPr bwMode="auto">
          <a:xfrm>
            <a:off x="2386268" y="2189065"/>
            <a:ext cx="976229"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忽略。</a:t>
            </a:r>
          </a:p>
        </p:txBody>
      </p:sp>
      <p:sp>
        <p:nvSpPr>
          <p:cNvPr id="114693" name="TextBox 1"/>
          <p:cNvSpPr txBox="1">
            <a:spLocks noChangeArrowheads="1"/>
          </p:cNvSpPr>
          <p:nvPr/>
        </p:nvSpPr>
        <p:spPr bwMode="auto">
          <a:xfrm>
            <a:off x="3031440" y="2742068"/>
            <a:ext cx="6657272" cy="43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I</a:t>
            </a:r>
            <a:r>
              <a:rPr lang="en-US" altLang="zh-CN" sz="2540">
                <a:latin typeface="楷体_GB2312"/>
                <a:ea typeface="楷体_GB2312"/>
                <a:cs typeface="楷体_GB2312"/>
              </a:rPr>
              <a:t>虽然比</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M</a:t>
            </a:r>
            <a:r>
              <a:rPr lang="en-US" altLang="zh-CN" sz="2540">
                <a:latin typeface="楷体_GB2312"/>
                <a:ea typeface="楷体_GB2312"/>
                <a:cs typeface="楷体_GB2312"/>
              </a:rPr>
              <a:t>和</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S</a:t>
            </a:r>
            <a:r>
              <a:rPr lang="en-US" altLang="zh-CN" sz="2540">
                <a:latin typeface="楷体_GB2312"/>
                <a:ea typeface="楷体_GB2312"/>
                <a:cs typeface="楷体_GB2312"/>
              </a:rPr>
              <a:t>大，但由于引发剂浓度一般很</a:t>
            </a:r>
          </a:p>
        </p:txBody>
      </p:sp>
      <p:sp>
        <p:nvSpPr>
          <p:cNvPr id="114694" name="TextBox 1"/>
          <p:cNvSpPr txBox="1">
            <a:spLocks noChangeArrowheads="1"/>
          </p:cNvSpPr>
          <p:nvPr/>
        </p:nvSpPr>
        <p:spPr bwMode="auto">
          <a:xfrm>
            <a:off x="2386270" y="3352675"/>
            <a:ext cx="7484421" cy="931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小，所以向引发剂转移造成产物聚合度下降的影响不</a:t>
            </a:r>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大。</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Box 1"/>
          <p:cNvSpPr txBox="1">
            <a:spLocks noChangeArrowheads="1"/>
          </p:cNvSpPr>
          <p:nvPr/>
        </p:nvSpPr>
        <p:spPr bwMode="auto">
          <a:xfrm>
            <a:off x="9506189" y="6654856"/>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100</a:t>
            </a:r>
          </a:p>
        </p:txBody>
      </p:sp>
      <p:sp>
        <p:nvSpPr>
          <p:cNvPr id="115715" name="TextBox 1"/>
          <p:cNvSpPr txBox="1">
            <a:spLocks noChangeArrowheads="1"/>
          </p:cNvSpPr>
          <p:nvPr/>
        </p:nvSpPr>
        <p:spPr bwMode="auto">
          <a:xfrm>
            <a:off x="3250337" y="3774630"/>
            <a:ext cx="6093015"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常用的链转移剂：脂肪族硫醇（十二硫醇、正丁</a:t>
            </a:r>
          </a:p>
        </p:txBody>
      </p:sp>
      <p:sp>
        <p:nvSpPr>
          <p:cNvPr id="115716" name="TextBox 1"/>
          <p:cNvSpPr txBox="1">
            <a:spLocks noChangeArrowheads="1"/>
          </p:cNvSpPr>
          <p:nvPr/>
        </p:nvSpPr>
        <p:spPr bwMode="auto">
          <a:xfrm>
            <a:off x="2582124" y="4339155"/>
            <a:ext cx="116057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268">
                <a:latin typeface="楷体_GB2312"/>
                <a:ea typeface="楷体_GB2312"/>
                <a:cs typeface="楷体_GB2312"/>
              </a:rPr>
              <a:t>硫醇等）</a:t>
            </a:r>
          </a:p>
        </p:txBody>
      </p:sp>
      <p:sp>
        <p:nvSpPr>
          <p:cNvPr id="115717" name="TextBox 1"/>
          <p:cNvSpPr txBox="1">
            <a:spLocks noChangeArrowheads="1"/>
          </p:cNvSpPr>
          <p:nvPr/>
        </p:nvSpPr>
        <p:spPr bwMode="auto">
          <a:xfrm>
            <a:off x="2582126" y="1366759"/>
            <a:ext cx="6934591" cy="1572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1633"/>
              <a:t>	</a:t>
            </a:r>
            <a:r>
              <a:rPr lang="en-US" altLang="zh-CN" sz="2540">
                <a:latin typeface="楷体_GB2312"/>
                <a:ea typeface="楷体_GB2312"/>
                <a:cs typeface="楷体_GB2312"/>
              </a:rPr>
              <a:t>溶剂链转移常数</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S</a:t>
            </a:r>
            <a:r>
              <a:rPr lang="en-US" altLang="zh-CN" sz="2540">
                <a:latin typeface="楷体_GB2312"/>
                <a:ea typeface="楷体_GB2312"/>
                <a:cs typeface="楷体_GB2312"/>
              </a:rPr>
              <a:t>取决于溶剂的结构，如分</a:t>
            </a:r>
          </a:p>
          <a:p>
            <a:pPr eaLnBrk="1" hangingPunct="1">
              <a:lnSpc>
                <a:spcPts val="907"/>
              </a:lnSpc>
            </a:pPr>
            <a:endParaRPr lang="en-US" altLang="zh-CN" sz="1633"/>
          </a:p>
          <a:p>
            <a:pPr eaLnBrk="1" hangingPunct="1">
              <a:lnSpc>
                <a:spcPts val="3629"/>
              </a:lnSpc>
            </a:pPr>
            <a:r>
              <a:rPr lang="en-US" altLang="zh-CN" sz="2540">
                <a:latin typeface="楷体_GB2312"/>
                <a:ea typeface="楷体_GB2312"/>
                <a:cs typeface="楷体_GB2312"/>
              </a:rPr>
              <a:t>子中有活泼氢或卤原子时，</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S</a:t>
            </a:r>
            <a:r>
              <a:rPr lang="en-US" altLang="zh-CN" sz="2540">
                <a:latin typeface="楷体_GB2312"/>
                <a:ea typeface="楷体_GB2312"/>
                <a:cs typeface="楷体_GB2312"/>
              </a:rPr>
              <a:t>一般较大。特别是</a:t>
            </a:r>
          </a:p>
          <a:p>
            <a:pPr eaLnBrk="1" hangingPunct="1">
              <a:lnSpc>
                <a:spcPts val="907"/>
              </a:lnSpc>
            </a:pPr>
            <a:endParaRPr lang="en-US" altLang="zh-CN" sz="1633"/>
          </a:p>
          <a:p>
            <a:pPr eaLnBrk="1" hangingPunct="1">
              <a:lnSpc>
                <a:spcPts val="3629"/>
              </a:lnSpc>
            </a:pPr>
            <a:r>
              <a:rPr lang="en-US" altLang="zh-CN" sz="2540">
                <a:latin typeface="楷体_GB2312"/>
                <a:ea typeface="楷体_GB2312"/>
                <a:cs typeface="楷体_GB2312"/>
              </a:rPr>
              <a:t>脂肪族的硫醇</a:t>
            </a:r>
            <a:r>
              <a:rPr lang="en-US" altLang="zh-CN" sz="2540" b="1">
                <a:latin typeface="Times New Roman" panose="02020603050405020304" pitchFamily="18" charset="0"/>
                <a:cs typeface="Times New Roman" panose="02020603050405020304" pitchFamily="18" charset="0"/>
              </a:rPr>
              <a:t>C</a:t>
            </a:r>
            <a:r>
              <a:rPr lang="en-US" altLang="zh-CN" sz="1724" b="1">
                <a:latin typeface="Times New Roman" panose="02020603050405020304" pitchFamily="18" charset="0"/>
                <a:cs typeface="Times New Roman" panose="02020603050405020304" pitchFamily="18" charset="0"/>
              </a:rPr>
              <a:t>S</a:t>
            </a:r>
            <a:r>
              <a:rPr lang="en-US" altLang="zh-CN" sz="2540">
                <a:latin typeface="楷体_GB2312"/>
                <a:ea typeface="楷体_GB2312"/>
                <a:cs typeface="楷体_GB2312"/>
              </a:rPr>
              <a:t>较大，常用做分子量调节，称链</a:t>
            </a:r>
          </a:p>
        </p:txBody>
      </p:sp>
      <p:sp>
        <p:nvSpPr>
          <p:cNvPr id="115718" name="TextBox 1"/>
          <p:cNvSpPr txBox="1">
            <a:spLocks noChangeArrowheads="1"/>
          </p:cNvSpPr>
          <p:nvPr/>
        </p:nvSpPr>
        <p:spPr bwMode="auto">
          <a:xfrm>
            <a:off x="2582124" y="3117939"/>
            <a:ext cx="5007653"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转移剂（</a:t>
            </a:r>
            <a:r>
              <a:rPr lang="en-US" altLang="zh-CN" sz="2540" b="1">
                <a:latin typeface="Times New Roman" panose="02020603050405020304" pitchFamily="18" charset="0"/>
                <a:cs typeface="Times New Roman" panose="02020603050405020304" pitchFamily="18" charset="0"/>
              </a:rPr>
              <a:t>Chain</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Transfer</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Agent</a:t>
            </a:r>
            <a:r>
              <a:rPr lang="en-US" altLang="zh-CN" sz="2540">
                <a:latin typeface="楷体_GB2312"/>
                <a:ea typeface="楷体_GB2312"/>
                <a:cs typeface="楷体_GB2312"/>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101</a:t>
            </a:r>
          </a:p>
        </p:txBody>
      </p:sp>
      <p:sp>
        <p:nvSpPr>
          <p:cNvPr id="116739" name="TextBox 1"/>
          <p:cNvSpPr txBox="1">
            <a:spLocks noChangeArrowheads="1"/>
          </p:cNvSpPr>
          <p:nvPr/>
        </p:nvSpPr>
        <p:spPr bwMode="auto">
          <a:xfrm>
            <a:off x="3192733" y="4258506"/>
            <a:ext cx="4015266" cy="80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几率法（</a:t>
            </a:r>
            <a:r>
              <a:rPr lang="en-US" altLang="zh-CN" sz="2177" b="1">
                <a:latin typeface="Times New Roman" panose="02020603050405020304" pitchFamily="18" charset="0"/>
                <a:cs typeface="Times New Roman" panose="02020603050405020304" pitchFamily="18" charset="0"/>
              </a:rPr>
              <a:t>Probabilistic</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Methods</a:t>
            </a:r>
            <a:r>
              <a:rPr lang="en-US" altLang="zh-CN" sz="2177">
                <a:latin typeface="楷体_GB2312"/>
                <a:ea typeface="楷体_GB2312"/>
                <a:cs typeface="楷体_GB2312"/>
              </a:rPr>
              <a:t>）</a:t>
            </a:r>
          </a:p>
          <a:p>
            <a:pPr eaLnBrk="1" hangingPunct="1">
              <a:lnSpc>
                <a:spcPts val="907"/>
              </a:lnSpc>
            </a:pPr>
            <a:endParaRPr lang="en-US" altLang="zh-CN" sz="1633"/>
          </a:p>
          <a:p>
            <a:pPr eaLnBrk="1" hangingPunct="1">
              <a:lnSpc>
                <a:spcPts val="2994"/>
              </a:lnSpc>
            </a:pPr>
            <a:r>
              <a:rPr lang="en-US" altLang="zh-CN" sz="2177">
                <a:latin typeface="楷体_GB2312"/>
              </a:rPr>
              <a:t>动力学法（</a:t>
            </a:r>
            <a:r>
              <a:rPr lang="en-US" altLang="zh-CN" sz="2177" b="1">
                <a:latin typeface="Times New Roman" panose="02020603050405020304" pitchFamily="18" charset="0"/>
              </a:rPr>
              <a:t>Kinetic</a:t>
            </a:r>
            <a:r>
              <a:rPr lang="en-US" altLang="zh-CN" sz="2177">
                <a:latin typeface="Times New Roman" panose="02020603050405020304" pitchFamily="18" charset="0"/>
              </a:rPr>
              <a:t> </a:t>
            </a:r>
            <a:r>
              <a:rPr lang="en-US" altLang="zh-CN" sz="2177" b="1">
                <a:latin typeface="Times New Roman" panose="02020603050405020304" pitchFamily="18" charset="0"/>
              </a:rPr>
              <a:t>Methods</a:t>
            </a:r>
            <a:r>
              <a:rPr lang="en-US" altLang="zh-CN" sz="2177">
                <a:latin typeface="楷体_GB2312"/>
              </a:rPr>
              <a:t>）</a:t>
            </a:r>
          </a:p>
        </p:txBody>
      </p:sp>
      <p:sp>
        <p:nvSpPr>
          <p:cNvPr id="116740" name="TextBox 1"/>
          <p:cNvSpPr txBox="1">
            <a:spLocks noChangeArrowheads="1"/>
          </p:cNvSpPr>
          <p:nvPr/>
        </p:nvSpPr>
        <p:spPr bwMode="auto">
          <a:xfrm>
            <a:off x="2301302" y="576137"/>
            <a:ext cx="7882479"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3.10</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聚合度分布（</a:t>
            </a:r>
            <a:r>
              <a:rPr lang="en-US" altLang="zh-CN" sz="2540" b="1">
                <a:latin typeface="Times New Roman" panose="02020603050405020304" pitchFamily="18" charset="0"/>
                <a:cs typeface="Times New Roman" panose="02020603050405020304" pitchFamily="18" charset="0"/>
              </a:rPr>
              <a:t>Polymerization</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Degree</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Distribution</a:t>
            </a:r>
            <a:r>
              <a:rPr lang="en-US" altLang="zh-CN" sz="2540">
                <a:latin typeface="楷体_GB2312"/>
                <a:ea typeface="楷体_GB2312"/>
                <a:cs typeface="楷体_GB2312"/>
              </a:rPr>
              <a:t>）</a:t>
            </a:r>
          </a:p>
        </p:txBody>
      </p:sp>
      <p:sp>
        <p:nvSpPr>
          <p:cNvPr id="116741" name="TextBox 1"/>
          <p:cNvSpPr txBox="1">
            <a:spLocks noChangeArrowheads="1"/>
          </p:cNvSpPr>
          <p:nvPr/>
        </p:nvSpPr>
        <p:spPr bwMode="auto">
          <a:xfrm>
            <a:off x="2593646" y="1670624"/>
            <a:ext cx="227786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实验测定方法：</a:t>
            </a:r>
          </a:p>
        </p:txBody>
      </p:sp>
      <p:sp>
        <p:nvSpPr>
          <p:cNvPr id="116742" name="TextBox 1"/>
          <p:cNvSpPr txBox="1">
            <a:spLocks noChangeArrowheads="1"/>
          </p:cNvSpPr>
          <p:nvPr/>
        </p:nvSpPr>
        <p:spPr bwMode="auto">
          <a:xfrm>
            <a:off x="2386269" y="2281232"/>
            <a:ext cx="738477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凝胶渗透色谱法（</a:t>
            </a:r>
            <a:r>
              <a:rPr lang="en-US" altLang="zh-CN" sz="2177" b="1">
                <a:latin typeface="Times New Roman" panose="02020603050405020304" pitchFamily="18" charset="0"/>
                <a:cs typeface="Times New Roman" panose="02020603050405020304" pitchFamily="18" charset="0"/>
              </a:rPr>
              <a:t>Gel</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Permeation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Chromatography</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GPC</a:t>
            </a:r>
            <a:r>
              <a:rPr lang="en-US" altLang="zh-CN" sz="2177">
                <a:latin typeface="楷体_GB2312"/>
                <a:ea typeface="楷体_GB2312"/>
                <a:cs typeface="楷体_GB2312"/>
              </a:rPr>
              <a:t>）</a:t>
            </a:r>
          </a:p>
        </p:txBody>
      </p:sp>
      <p:sp>
        <p:nvSpPr>
          <p:cNvPr id="116743" name="TextBox 1"/>
          <p:cNvSpPr txBox="1">
            <a:spLocks noChangeArrowheads="1"/>
          </p:cNvSpPr>
          <p:nvPr/>
        </p:nvSpPr>
        <p:spPr bwMode="auto">
          <a:xfrm>
            <a:off x="2386270" y="2937924"/>
            <a:ext cx="5190267"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沉淀分级法（</a:t>
            </a:r>
            <a:r>
              <a:rPr lang="en-US" altLang="zh-CN" sz="2177" b="1">
                <a:latin typeface="Times New Roman" panose="02020603050405020304" pitchFamily="18" charset="0"/>
                <a:cs typeface="Times New Roman" panose="02020603050405020304" pitchFamily="18" charset="0"/>
              </a:rPr>
              <a:t>Precipitation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Fractionation</a:t>
            </a:r>
            <a:r>
              <a:rPr lang="en-US" altLang="zh-CN" sz="2177">
                <a:latin typeface="楷体_GB2312"/>
                <a:ea typeface="楷体_GB2312"/>
                <a:cs typeface="楷体_GB2312"/>
              </a:rPr>
              <a:t>）</a:t>
            </a:r>
          </a:p>
        </p:txBody>
      </p:sp>
      <p:sp>
        <p:nvSpPr>
          <p:cNvPr id="116744" name="TextBox 1"/>
          <p:cNvSpPr txBox="1">
            <a:spLocks noChangeArrowheads="1"/>
          </p:cNvSpPr>
          <p:nvPr/>
        </p:nvSpPr>
        <p:spPr bwMode="auto">
          <a:xfrm>
            <a:off x="2593645" y="3663741"/>
            <a:ext cx="1627048"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理论推导：</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4648688" y="2311473"/>
            <a:ext cx="367228" cy="21601"/>
          </a:xfrm>
          <a:custGeom>
            <a:avLst/>
            <a:gdLst>
              <a:gd name="connsiteX0" fmla="*/ 6350 w 405129"/>
              <a:gd name="connsiteY0" fmla="*/ 6350 h 23888"/>
              <a:gd name="connsiteX1" fmla="*/ 398779 w 405129"/>
              <a:gd name="connsiteY1" fmla="*/ 6350 h 23888"/>
            </a:gdLst>
            <a:ahLst/>
            <a:cxnLst>
              <a:cxn ang="0">
                <a:pos x="connsiteX0" y="connsiteY0"/>
              </a:cxn>
              <a:cxn ang="1">
                <a:pos x="connsiteX1" y="connsiteY1"/>
              </a:cxn>
            </a:cxnLst>
            <a:rect l="l" t="t" r="r" b="b"/>
            <a:pathLst>
              <a:path w="405129" h="23888">
                <a:moveTo>
                  <a:pt x="6350" y="6350"/>
                </a:moveTo>
                <a:lnTo>
                  <a:pt x="398779" y="635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4748056" y="3813513"/>
            <a:ext cx="355708" cy="21602"/>
          </a:xfrm>
          <a:custGeom>
            <a:avLst/>
            <a:gdLst>
              <a:gd name="connsiteX0" fmla="*/ 6350 w 391413"/>
              <a:gd name="connsiteY0" fmla="*/ 6350 h 23939"/>
              <a:gd name="connsiteX1" fmla="*/ 385064 w 391413"/>
              <a:gd name="connsiteY1" fmla="*/ 6350 h 23939"/>
            </a:gdLst>
            <a:ahLst/>
            <a:cxnLst>
              <a:cxn ang="0">
                <a:pos x="connsiteX0" y="connsiteY0"/>
              </a:cxn>
              <a:cxn ang="1">
                <a:pos x="connsiteX1" y="connsiteY1"/>
              </a:cxn>
            </a:cxnLst>
            <a:rect l="l" t="t" r="r" b="b"/>
            <a:pathLst>
              <a:path w="391413" h="23939">
                <a:moveTo>
                  <a:pt x="6350" y="6350"/>
                </a:moveTo>
                <a:lnTo>
                  <a:pt x="385064" y="6350"/>
                </a:lnTo>
              </a:path>
            </a:pathLst>
          </a:custGeom>
          <a:ln w="12700">
            <a:solidFill>
              <a:srgbClr val="FFFFFF">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17764" name="TextBox 1"/>
          <p:cNvSpPr txBox="1">
            <a:spLocks noChangeArrowheads="1"/>
          </p:cNvSpPr>
          <p:nvPr/>
        </p:nvSpPr>
        <p:spPr bwMode="auto">
          <a:xfrm>
            <a:off x="2996877" y="3675262"/>
            <a:ext cx="167353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重量分布函数</a:t>
            </a:r>
          </a:p>
        </p:txBody>
      </p:sp>
      <p:sp>
        <p:nvSpPr>
          <p:cNvPr id="117765" name="TextBox 1"/>
          <p:cNvSpPr txBox="1">
            <a:spLocks noChangeArrowheads="1"/>
          </p:cNvSpPr>
          <p:nvPr/>
        </p:nvSpPr>
        <p:spPr bwMode="auto">
          <a:xfrm>
            <a:off x="5151286" y="3675260"/>
            <a:ext cx="3858429" cy="372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177">
                <a:latin typeface="楷体_GB2312"/>
                <a:ea typeface="楷体_GB2312"/>
                <a:cs typeface="楷体_GB2312"/>
              </a:rPr>
              <a:t>：聚合度为</a:t>
            </a:r>
            <a:r>
              <a:rPr lang="en-US" altLang="zh-CN" sz="2177"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的聚合物重量</a:t>
            </a:r>
            <a:r>
              <a:rPr lang="en-US" altLang="zh-CN" sz="2177" b="1">
                <a:latin typeface="Times New Roman" panose="02020603050405020304" pitchFamily="18" charset="0"/>
                <a:cs typeface="Times New Roman" panose="02020603050405020304" pitchFamily="18" charset="0"/>
              </a:rPr>
              <a:t>W</a:t>
            </a:r>
            <a:r>
              <a:rPr lang="en-US" altLang="zh-CN" sz="1452"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占</a:t>
            </a:r>
          </a:p>
        </p:txBody>
      </p:sp>
      <p:sp>
        <p:nvSpPr>
          <p:cNvPr id="117766" name="TextBox 1"/>
          <p:cNvSpPr txBox="1">
            <a:spLocks noChangeArrowheads="1"/>
          </p:cNvSpPr>
          <p:nvPr/>
        </p:nvSpPr>
        <p:spPr bwMode="auto">
          <a:xfrm>
            <a:off x="2777979" y="4182181"/>
            <a:ext cx="7700826" cy="220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416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416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416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416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416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416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416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416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416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总聚合物量重量</a:t>
            </a:r>
            <a:r>
              <a:rPr lang="en-US" altLang="zh-CN" sz="2177" b="1">
                <a:latin typeface="Times New Roman" panose="02020603050405020304" pitchFamily="18" charset="0"/>
                <a:cs typeface="Times New Roman" panose="02020603050405020304" pitchFamily="18" charset="0"/>
              </a:rPr>
              <a:t>W</a:t>
            </a:r>
            <a:r>
              <a:rPr lang="en-US" altLang="zh-CN" sz="2177">
                <a:latin typeface="楷体_GB2312"/>
                <a:ea typeface="楷体_GB2312"/>
                <a:cs typeface="楷体_GB2312"/>
              </a:rPr>
              <a:t>的分率所表示的函数。</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996"/>
              </a:lnSpc>
            </a:pPr>
            <a:r>
              <a:rPr lang="en-US" altLang="zh-CN" sz="1633"/>
              <a:t>	</a:t>
            </a:r>
            <a:r>
              <a:rPr lang="en-US" altLang="zh-CN" sz="1089">
                <a:latin typeface="Times New Roman" panose="02020603050405020304" pitchFamily="18" charset="0"/>
              </a:rPr>
              <a:t>102</a:t>
            </a:r>
          </a:p>
        </p:txBody>
      </p:sp>
      <p:sp>
        <p:nvSpPr>
          <p:cNvPr id="117767" name="TextBox 1"/>
          <p:cNvSpPr txBox="1">
            <a:spLocks noChangeArrowheads="1"/>
          </p:cNvSpPr>
          <p:nvPr/>
        </p:nvSpPr>
        <p:spPr bwMode="auto">
          <a:xfrm>
            <a:off x="2374748" y="1221308"/>
            <a:ext cx="6580328"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68300" algn="l"/>
                <a:tab pos="609600" algn="l"/>
                <a:tab pos="25400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分子量分布的函数：</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359"/>
              </a:lnSpc>
            </a:pPr>
            <a:r>
              <a:rPr lang="en-US" altLang="zh-CN" sz="1633"/>
              <a:t>			</a:t>
            </a:r>
            <a:r>
              <a:rPr lang="en-US" altLang="zh-CN" sz="1905" b="1" i="1">
                <a:latin typeface="Times New Roman" panose="02020603050405020304" pitchFamily="18" charset="0"/>
                <a:cs typeface="Times New Roman" panose="02020603050405020304" pitchFamily="18" charset="0"/>
              </a:rPr>
              <a:t>N</a:t>
            </a:r>
            <a:r>
              <a:rPr lang="en-US" altLang="zh-CN" sz="1089">
                <a:latin typeface="Times New Roman" panose="02020603050405020304" pitchFamily="18" charset="0"/>
                <a:cs typeface="Times New Roman" panose="02020603050405020304" pitchFamily="18" charset="0"/>
              </a:rPr>
              <a:t> </a:t>
            </a:r>
            <a:r>
              <a:rPr lang="en-US" altLang="zh-CN" sz="1089" b="1" i="1">
                <a:latin typeface="Times New Roman" panose="02020603050405020304" pitchFamily="18" charset="0"/>
                <a:cs typeface="Times New Roman" panose="02020603050405020304" pitchFamily="18" charset="0"/>
              </a:rPr>
              <a:t>x</a:t>
            </a:r>
          </a:p>
          <a:p>
            <a:pPr eaLnBrk="1" hangingPunct="1">
              <a:lnSpc>
                <a:spcPts val="2359"/>
              </a:lnSpc>
            </a:pPr>
            <a:r>
              <a:rPr lang="en-US" altLang="zh-CN" sz="1633"/>
              <a:t>		</a:t>
            </a:r>
            <a:r>
              <a:rPr lang="en-US" altLang="zh-CN" sz="2177">
                <a:latin typeface="楷体_GB2312"/>
                <a:ea typeface="楷体_GB2312"/>
                <a:cs typeface="楷体_GB2312"/>
              </a:rPr>
              <a:t>数量分布函数</a:t>
            </a:r>
            <a:r>
              <a:rPr lang="en-US" altLang="zh-CN" sz="1905">
                <a:latin typeface="Times New Roman" panose="02020603050405020304" pitchFamily="18" charset="0"/>
                <a:cs typeface="Times New Roman" panose="02020603050405020304" pitchFamily="18" charset="0"/>
              </a:rPr>
              <a:t>  </a:t>
            </a:r>
            <a:r>
              <a:rPr lang="en-US" altLang="zh-CN" sz="1905" b="1" i="1">
                <a:latin typeface="Times New Roman" panose="02020603050405020304" pitchFamily="18" charset="0"/>
                <a:cs typeface="Times New Roman" panose="02020603050405020304" pitchFamily="18" charset="0"/>
              </a:rPr>
              <a:t>N</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：聚合度为</a:t>
            </a:r>
            <a:r>
              <a:rPr lang="en-US" altLang="zh-CN" sz="2177"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的聚合物数目</a:t>
            </a:r>
            <a:r>
              <a:rPr lang="en-US" altLang="zh-CN" sz="2177" b="1">
                <a:latin typeface="Times New Roman" panose="02020603050405020304" pitchFamily="18" charset="0"/>
                <a:cs typeface="Times New Roman" panose="02020603050405020304" pitchFamily="18" charset="0"/>
              </a:rPr>
              <a:t>N</a:t>
            </a:r>
            <a:r>
              <a:rPr lang="en-US" altLang="zh-CN" sz="1452"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在</a:t>
            </a:r>
          </a:p>
          <a:p>
            <a:pPr eaLnBrk="1" hangingPunct="1">
              <a:lnSpc>
                <a:spcPts val="2994"/>
              </a:lnSpc>
            </a:pPr>
            <a:r>
              <a:rPr lang="en-US" altLang="zh-CN" sz="1633"/>
              <a:t>	</a:t>
            </a:r>
            <a:r>
              <a:rPr lang="en-US" altLang="zh-CN" sz="2177">
                <a:latin typeface="楷体_GB2312"/>
                <a:ea typeface="楷体_GB2312"/>
                <a:cs typeface="楷体_GB2312"/>
              </a:rPr>
              <a:t>总的聚合物分子数</a:t>
            </a:r>
            <a:r>
              <a:rPr lang="en-US" altLang="zh-CN" sz="2177" b="1">
                <a:latin typeface="Times New Roman" panose="02020603050405020304" pitchFamily="18" charset="0"/>
                <a:cs typeface="Times New Roman" panose="02020603050405020304" pitchFamily="18" charset="0"/>
              </a:rPr>
              <a:t>N</a:t>
            </a:r>
            <a:r>
              <a:rPr lang="en-US" altLang="zh-CN" sz="2177">
                <a:latin typeface="楷体_GB2312"/>
                <a:ea typeface="楷体_GB2312"/>
                <a:cs typeface="楷体_GB2312"/>
              </a:rPr>
              <a:t>中所占的分率所表示的函数。</a:t>
            </a:r>
          </a:p>
        </p:txBody>
      </p:sp>
      <p:sp>
        <p:nvSpPr>
          <p:cNvPr id="18" name="TextBox 1"/>
          <p:cNvSpPr txBox="1"/>
          <p:nvPr/>
        </p:nvSpPr>
        <p:spPr>
          <a:xfrm>
            <a:off x="4748054" y="3548532"/>
            <a:ext cx="291747" cy="591444"/>
          </a:xfrm>
          <a:prstGeom prst="rect">
            <a:avLst/>
          </a:prstGeom>
          <a:noFill/>
        </p:spPr>
        <p:txBody>
          <a:bodyPr wrap="none" lIns="0" tIns="0" rIns="0">
            <a:spAutoFit/>
          </a:bodyPr>
          <a:lstStyle/>
          <a:p>
            <a:pPr>
              <a:lnSpc>
                <a:spcPts val="1996"/>
              </a:lnSpc>
              <a:tabLst>
                <a:tab pos="34565" algn="l"/>
              </a:tabLst>
              <a:defRPr/>
            </a:pPr>
            <a:r>
              <a:rPr lang="en-US" altLang="zh-CN" sz="1928" b="1" i="1" dirty="0">
                <a:latin typeface="Times New Roman" pitchFamily="18" charset="0"/>
                <a:cs typeface="Times New Roman" pitchFamily="18" charset="0"/>
              </a:rPr>
              <a:t>W</a:t>
            </a:r>
            <a:r>
              <a:rPr lang="en-US" altLang="zh-CN" sz="1124" b="1" i="1" dirty="0">
                <a:latin typeface="Times New Roman" pitchFamily="18" charset="0"/>
                <a:cs typeface="Times New Roman" pitchFamily="18" charset="0"/>
              </a:rPr>
              <a:t>x</a:t>
            </a:r>
          </a:p>
          <a:p>
            <a:pPr>
              <a:lnSpc>
                <a:spcPts val="2359"/>
              </a:lnSpc>
              <a:tabLst>
                <a:tab pos="34565" algn="l"/>
              </a:tabLst>
              <a:defRPr/>
            </a:pPr>
            <a:r>
              <a:rPr lang="en-US" altLang="zh-CN" sz="1633" dirty="0"/>
              <a:t>	</a:t>
            </a:r>
            <a:r>
              <a:rPr lang="en-US" altLang="zh-CN" sz="1928" b="1" i="1" dirty="0">
                <a:latin typeface="Times New Roman" pitchFamily="18" charset="0"/>
                <a:cs typeface="Times New Roman" pitchFamily="18" charset="0"/>
              </a:rPr>
              <a:t>W</a:t>
            </a:r>
          </a:p>
        </p:txBody>
      </p:sp>
      <p:cxnSp>
        <p:nvCxnSpPr>
          <p:cNvPr id="3" name="直接连接符 2"/>
          <p:cNvCxnSpPr/>
          <p:nvPr/>
        </p:nvCxnSpPr>
        <p:spPr>
          <a:xfrm>
            <a:off x="4748056" y="3774628"/>
            <a:ext cx="292343" cy="0"/>
          </a:xfrm>
          <a:prstGeom prst="line">
            <a:avLst/>
          </a:prstGeom>
        </p:spPr>
        <p:style>
          <a:lnRef idx="2">
            <a:schemeClr val="dk1"/>
          </a:lnRef>
          <a:fillRef idx="0">
            <a:schemeClr val="dk1"/>
          </a:fillRef>
          <a:effectRef idx="1">
            <a:schemeClr val="dk1"/>
          </a:effectRef>
          <a:fontRef idx="minor">
            <a:schemeClr val="tx1"/>
          </a:fontRef>
        </p:style>
      </p:cxnSp>
      <p:cxnSp>
        <p:nvCxnSpPr>
          <p:cNvPr id="14" name="直接连接符 13"/>
          <p:cNvCxnSpPr/>
          <p:nvPr/>
        </p:nvCxnSpPr>
        <p:spPr>
          <a:xfrm>
            <a:off x="4648686" y="2288431"/>
            <a:ext cx="292343"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6035517" y="3653661"/>
            <a:ext cx="1271621" cy="30242"/>
          </a:xfrm>
          <a:custGeom>
            <a:avLst/>
            <a:gdLst>
              <a:gd name="connsiteX0" fmla="*/ 8316 w 1400431"/>
              <a:gd name="connsiteY0" fmla="*/ 8316 h 33267"/>
              <a:gd name="connsiteX1" fmla="*/ 1392115 w 1400431"/>
              <a:gd name="connsiteY1" fmla="*/ 8316 h 33267"/>
            </a:gdLst>
            <a:ahLst/>
            <a:cxnLst>
              <a:cxn ang="0">
                <a:pos x="connsiteX0" y="connsiteY0"/>
              </a:cxn>
              <a:cxn ang="1">
                <a:pos x="connsiteX1" y="connsiteY1"/>
              </a:cxn>
            </a:cxnLst>
            <a:rect l="l" t="t" r="r" b="b"/>
            <a:pathLst>
              <a:path w="1400431" h="33267">
                <a:moveTo>
                  <a:pt x="8316" y="8316"/>
                </a:moveTo>
                <a:lnTo>
                  <a:pt x="1392115" y="831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6421467" y="4759667"/>
            <a:ext cx="1029682" cy="25922"/>
          </a:xfrm>
          <a:custGeom>
            <a:avLst/>
            <a:gdLst>
              <a:gd name="connsiteX0" fmla="*/ 7296 w 1135481"/>
              <a:gd name="connsiteY0" fmla="*/ 7296 h 29184"/>
              <a:gd name="connsiteX1" fmla="*/ 1128185 w 1135481"/>
              <a:gd name="connsiteY1" fmla="*/ 7296 h 29184"/>
            </a:gdLst>
            <a:ahLst/>
            <a:cxnLst>
              <a:cxn ang="0">
                <a:pos x="connsiteX0" y="connsiteY0"/>
              </a:cxn>
              <a:cxn ang="1">
                <a:pos x="connsiteX1" y="connsiteY1"/>
              </a:cxn>
            </a:cxnLst>
            <a:rect l="l" t="t" r="r" b="b"/>
            <a:pathLst>
              <a:path w="1135481" h="29184">
                <a:moveTo>
                  <a:pt x="7296" y="7296"/>
                </a:moveTo>
                <a:lnTo>
                  <a:pt x="1128185" y="7296"/>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18788"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103</a:t>
            </a:r>
          </a:p>
        </p:txBody>
      </p:sp>
      <p:sp>
        <p:nvSpPr>
          <p:cNvPr id="118789" name="TextBox 1"/>
          <p:cNvSpPr txBox="1">
            <a:spLocks noChangeArrowheads="1"/>
          </p:cNvSpPr>
          <p:nvPr/>
        </p:nvSpPr>
        <p:spPr bwMode="auto">
          <a:xfrm>
            <a:off x="2973836" y="3617657"/>
            <a:ext cx="155010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成键几率</a:t>
            </a:r>
            <a:r>
              <a:rPr lang="en-US" altLang="zh-CN" sz="2177" b="1">
                <a:latin typeface="Times New Roman" panose="02020603050405020304" pitchFamily="18" charset="0"/>
                <a:cs typeface="Times New Roman" panose="02020603050405020304" pitchFamily="18" charset="0"/>
              </a:rPr>
              <a:t>p</a:t>
            </a:r>
            <a:r>
              <a:rPr lang="en-US" altLang="zh-CN" sz="2177">
                <a:latin typeface="楷体_GB2312"/>
                <a:ea typeface="楷体_GB2312"/>
                <a:cs typeface="楷体_GB2312"/>
              </a:rPr>
              <a:t>：</a:t>
            </a:r>
          </a:p>
        </p:txBody>
      </p:sp>
      <p:sp>
        <p:nvSpPr>
          <p:cNvPr id="118790" name="TextBox 1"/>
          <p:cNvSpPr txBox="1">
            <a:spLocks noChangeArrowheads="1"/>
          </p:cNvSpPr>
          <p:nvPr/>
        </p:nvSpPr>
        <p:spPr bwMode="auto">
          <a:xfrm>
            <a:off x="2973834" y="4666060"/>
            <a:ext cx="2061462"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不成键几率</a:t>
            </a:r>
            <a:r>
              <a:rPr lang="en-US" altLang="zh-CN" sz="2177" b="1">
                <a:latin typeface="Times New Roman" panose="02020603050405020304" pitchFamily="18" charset="0"/>
                <a:cs typeface="Times New Roman" panose="02020603050405020304" pitchFamily="18" charset="0"/>
              </a:rPr>
              <a:t>1-p</a:t>
            </a:r>
            <a:r>
              <a:rPr lang="en-US" altLang="zh-CN" sz="2177">
                <a:latin typeface="楷体_GB2312"/>
                <a:ea typeface="楷体_GB2312"/>
                <a:cs typeface="楷体_GB2312"/>
              </a:rPr>
              <a:t>：</a:t>
            </a:r>
          </a:p>
        </p:txBody>
      </p:sp>
      <p:sp>
        <p:nvSpPr>
          <p:cNvPr id="118791" name="TextBox 1"/>
          <p:cNvSpPr txBox="1">
            <a:spLocks noChangeArrowheads="1"/>
          </p:cNvSpPr>
          <p:nvPr/>
        </p:nvSpPr>
        <p:spPr bwMode="auto">
          <a:xfrm>
            <a:off x="2340185" y="733109"/>
            <a:ext cx="7134967" cy="207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266700" algn="l"/>
                <a:tab pos="622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266700" algn="l"/>
                <a:tab pos="622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266700" algn="l"/>
                <a:tab pos="622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266700" algn="l"/>
                <a:tab pos="622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266700" algn="l"/>
                <a:tab pos="622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266700" algn="l"/>
                <a:tab pos="622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266700" algn="l"/>
                <a:tab pos="622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266700" algn="l"/>
                <a:tab pos="622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266700" algn="l"/>
                <a:tab pos="622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3.10.1</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歧化终止时聚合度分布</a:t>
            </a:r>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1633"/>
              <a:t>		</a:t>
            </a:r>
            <a:r>
              <a:rPr lang="en-US" altLang="zh-CN" sz="2177">
                <a:latin typeface="楷体_GB2312"/>
                <a:ea typeface="楷体_GB2312"/>
                <a:cs typeface="楷体_GB2312"/>
              </a:rPr>
              <a:t>链增长和链终止是一对竞争反应</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631"/>
              </a:lnSpc>
            </a:pPr>
            <a:r>
              <a:rPr lang="en-US" altLang="zh-CN" sz="1633"/>
              <a:t>	</a:t>
            </a:r>
            <a:r>
              <a:rPr lang="en-US" altLang="zh-CN" sz="2177">
                <a:latin typeface="楷体_GB2312"/>
                <a:ea typeface="楷体_GB2312"/>
                <a:cs typeface="楷体_GB2312"/>
              </a:rPr>
              <a:t>成键（</a:t>
            </a:r>
            <a:r>
              <a:rPr lang="en-US" altLang="zh-CN" sz="2177" b="1">
                <a:latin typeface="Times New Roman" panose="02020603050405020304" pitchFamily="18" charset="0"/>
                <a:cs typeface="Times New Roman" panose="02020603050405020304" pitchFamily="18" charset="0"/>
              </a:rPr>
              <a:t>Bonding</a:t>
            </a:r>
            <a:r>
              <a:rPr lang="en-US" altLang="zh-CN" sz="2177">
                <a:latin typeface="楷体_GB2312"/>
                <a:ea typeface="楷体_GB2312"/>
                <a:cs typeface="楷体_GB2312"/>
              </a:rPr>
              <a:t>）：增长反应（增长一步增加一个单元）</a:t>
            </a:r>
          </a:p>
          <a:p>
            <a:pPr eaLnBrk="1" hangingPunct="1">
              <a:lnSpc>
                <a:spcPts val="907"/>
              </a:lnSpc>
            </a:pPr>
            <a:endParaRPr lang="en-US" altLang="zh-CN" sz="1633"/>
          </a:p>
          <a:p>
            <a:pPr eaLnBrk="1" hangingPunct="1">
              <a:lnSpc>
                <a:spcPts val="2359"/>
              </a:lnSpc>
            </a:pPr>
            <a:r>
              <a:rPr lang="en-US" altLang="zh-CN" sz="1633"/>
              <a:t>	</a:t>
            </a:r>
            <a:r>
              <a:rPr lang="en-US" altLang="zh-CN" sz="2177">
                <a:latin typeface="楷体_GB2312"/>
                <a:ea typeface="楷体_GB2312"/>
                <a:cs typeface="楷体_GB2312"/>
              </a:rPr>
              <a:t>不成键：终止反应（只夺取或失去一个原子）</a:t>
            </a:r>
          </a:p>
        </p:txBody>
      </p:sp>
      <p:sp>
        <p:nvSpPr>
          <p:cNvPr id="18" name="TextBox 1"/>
          <p:cNvSpPr txBox="1"/>
          <p:nvPr/>
        </p:nvSpPr>
        <p:spPr>
          <a:xfrm>
            <a:off x="6084480" y="3260508"/>
            <a:ext cx="995465" cy="844334"/>
          </a:xfrm>
          <a:prstGeom prst="rect">
            <a:avLst/>
          </a:prstGeom>
          <a:noFill/>
        </p:spPr>
        <p:txBody>
          <a:bodyPr wrap="none" lIns="0" tIns="0" rIns="0">
            <a:spAutoFit/>
          </a:bodyPr>
          <a:lstStyle/>
          <a:p>
            <a:pPr>
              <a:lnSpc>
                <a:spcPts val="2722"/>
              </a:lnSpc>
              <a:tabLst>
                <a:tab pos="368700" algn="l"/>
              </a:tabLst>
              <a:defRPr/>
            </a:pPr>
            <a:r>
              <a:rPr lang="en-US" altLang="zh-CN" sz="1633" dirty="0"/>
              <a:t>	</a:t>
            </a:r>
            <a:r>
              <a:rPr lang="en-US" altLang="zh-CN" sz="2596" b="1" i="1" dirty="0">
                <a:latin typeface="Times New Roman" pitchFamily="18" charset="0"/>
                <a:cs typeface="Times New Roman" pitchFamily="18" charset="0"/>
              </a:rPr>
              <a:t>R</a:t>
            </a:r>
            <a:r>
              <a:rPr lang="en-US" altLang="zh-CN" sz="1514" dirty="0">
                <a:latin typeface="Times New Roman" pitchFamily="18" charset="0"/>
                <a:cs typeface="Times New Roman" pitchFamily="18" charset="0"/>
              </a:rPr>
              <a:t> </a:t>
            </a:r>
            <a:r>
              <a:rPr lang="en-US" altLang="zh-CN" sz="1514" b="1" i="1" dirty="0">
                <a:latin typeface="Times New Roman" pitchFamily="18" charset="0"/>
                <a:cs typeface="Times New Roman" pitchFamily="18" charset="0"/>
              </a:rPr>
              <a:t>p</a:t>
            </a:r>
          </a:p>
          <a:p>
            <a:pPr>
              <a:lnSpc>
                <a:spcPts val="3901"/>
              </a:lnSpc>
              <a:tabLst>
                <a:tab pos="368700" algn="l"/>
              </a:tabLst>
              <a:defRPr/>
            </a:pPr>
            <a:r>
              <a:rPr lang="en-US" altLang="zh-CN" sz="2596" b="1" i="1" dirty="0">
                <a:latin typeface="Times New Roman" pitchFamily="18" charset="0"/>
                <a:cs typeface="Times New Roman" pitchFamily="18" charset="0"/>
              </a:rPr>
              <a:t>R</a:t>
            </a:r>
            <a:r>
              <a:rPr lang="en-US" altLang="zh-CN" sz="1514" dirty="0">
                <a:latin typeface="Times New Roman" pitchFamily="18" charset="0"/>
                <a:cs typeface="Times New Roman" pitchFamily="18" charset="0"/>
              </a:rPr>
              <a:t> </a:t>
            </a:r>
            <a:r>
              <a:rPr lang="en-US" altLang="zh-CN" sz="1514" b="1" i="1" dirty="0">
                <a:latin typeface="Times New Roman" pitchFamily="18" charset="0"/>
                <a:cs typeface="Times New Roman" pitchFamily="18" charset="0"/>
              </a:rPr>
              <a:t>p</a:t>
            </a:r>
            <a:r>
              <a:rPr lang="en-US" altLang="zh-CN" sz="2596" dirty="0">
                <a:latin typeface="Times New Roman" pitchFamily="18" charset="0"/>
                <a:cs typeface="Times New Roman" pitchFamily="18" charset="0"/>
              </a:rPr>
              <a:t> </a:t>
            </a:r>
            <a:r>
              <a:rPr lang="en-US" altLang="zh-CN" sz="2596" dirty="0">
                <a:latin typeface="Symbol" pitchFamily="18" charset="0"/>
                <a:cs typeface="Symbol" pitchFamily="18" charset="0"/>
              </a:rPr>
              <a:t>+</a:t>
            </a:r>
            <a:r>
              <a:rPr lang="en-US" altLang="zh-CN" sz="2596" dirty="0">
                <a:latin typeface="Times New Roman" pitchFamily="18" charset="0"/>
                <a:cs typeface="Times New Roman" pitchFamily="18" charset="0"/>
              </a:rPr>
              <a:t> </a:t>
            </a:r>
            <a:r>
              <a:rPr lang="en-US" altLang="zh-CN" sz="2596" b="1" i="1" dirty="0">
                <a:latin typeface="Times New Roman" pitchFamily="18" charset="0"/>
                <a:cs typeface="Times New Roman" pitchFamily="18" charset="0"/>
              </a:rPr>
              <a:t>R</a:t>
            </a:r>
            <a:r>
              <a:rPr lang="en-US" altLang="zh-CN" sz="1514" b="1" i="1" dirty="0">
                <a:latin typeface="Times New Roman" pitchFamily="18" charset="0"/>
                <a:cs typeface="Times New Roman" pitchFamily="18" charset="0"/>
              </a:rPr>
              <a:t>t</a:t>
            </a:r>
          </a:p>
        </p:txBody>
      </p:sp>
      <p:sp>
        <p:nvSpPr>
          <p:cNvPr id="19" name="TextBox 1"/>
          <p:cNvSpPr txBox="1"/>
          <p:nvPr/>
        </p:nvSpPr>
        <p:spPr>
          <a:xfrm>
            <a:off x="5439309" y="3410280"/>
            <a:ext cx="432811" cy="430759"/>
          </a:xfrm>
          <a:prstGeom prst="rect">
            <a:avLst/>
          </a:prstGeom>
          <a:noFill/>
        </p:spPr>
        <p:txBody>
          <a:bodyPr wrap="none" lIns="0" tIns="0" rIns="0">
            <a:spAutoFit/>
          </a:bodyPr>
          <a:lstStyle/>
          <a:p>
            <a:pPr>
              <a:lnSpc>
                <a:spcPts val="3175"/>
              </a:lnSpc>
              <a:defRPr/>
            </a:pPr>
            <a:r>
              <a:rPr lang="en-US" altLang="zh-CN" sz="2596" b="1" i="1" dirty="0">
                <a:latin typeface="Times New Roman" pitchFamily="18" charset="0"/>
                <a:cs typeface="Times New Roman" pitchFamily="18" charset="0"/>
              </a:rPr>
              <a:t>p</a:t>
            </a:r>
            <a:r>
              <a:rPr lang="en-US" altLang="zh-CN" sz="2596" dirty="0">
                <a:latin typeface="Times New Roman" pitchFamily="18" charset="0"/>
                <a:cs typeface="Times New Roman" pitchFamily="18" charset="0"/>
              </a:rPr>
              <a:t> </a:t>
            </a:r>
            <a:r>
              <a:rPr lang="en-US" altLang="zh-CN" sz="2596" dirty="0">
                <a:latin typeface="Symbol" pitchFamily="18" charset="0"/>
                <a:cs typeface="Symbol" pitchFamily="18" charset="0"/>
              </a:rPr>
              <a:t>=</a:t>
            </a:r>
          </a:p>
        </p:txBody>
      </p:sp>
      <p:sp>
        <p:nvSpPr>
          <p:cNvPr id="20" name="TextBox 1"/>
          <p:cNvSpPr txBox="1"/>
          <p:nvPr/>
        </p:nvSpPr>
        <p:spPr>
          <a:xfrm>
            <a:off x="6453150" y="4424121"/>
            <a:ext cx="910506" cy="790409"/>
          </a:xfrm>
          <a:prstGeom prst="rect">
            <a:avLst/>
          </a:prstGeom>
          <a:noFill/>
        </p:spPr>
        <p:txBody>
          <a:bodyPr wrap="none" lIns="0" tIns="0" rIns="0">
            <a:spAutoFit/>
          </a:bodyPr>
          <a:lstStyle/>
          <a:p>
            <a:pPr>
              <a:lnSpc>
                <a:spcPts val="2631"/>
              </a:lnSpc>
              <a:tabLst>
                <a:tab pos="334134" algn="l"/>
              </a:tabLst>
              <a:defRPr/>
            </a:pPr>
            <a:r>
              <a:rPr lang="en-US" altLang="zh-CN" sz="1633" dirty="0"/>
              <a:t>	</a:t>
            </a:r>
            <a:r>
              <a:rPr lang="en-US" altLang="zh-CN" sz="2508" b="1" i="1" dirty="0">
                <a:latin typeface="Times New Roman" pitchFamily="18" charset="0"/>
                <a:cs typeface="Times New Roman" pitchFamily="18" charset="0"/>
              </a:rPr>
              <a:t>R</a:t>
            </a:r>
            <a:r>
              <a:rPr lang="en-US" altLang="zh-CN" sz="1462" b="1" i="1" dirty="0">
                <a:latin typeface="Times New Roman" pitchFamily="18" charset="0"/>
                <a:cs typeface="Times New Roman" pitchFamily="18" charset="0"/>
              </a:rPr>
              <a:t>t</a:t>
            </a:r>
          </a:p>
          <a:p>
            <a:pPr>
              <a:lnSpc>
                <a:spcPts val="3539"/>
              </a:lnSpc>
              <a:tabLst>
                <a:tab pos="334134" algn="l"/>
              </a:tabLst>
              <a:defRPr/>
            </a:pPr>
            <a:r>
              <a:rPr lang="en-US" altLang="zh-CN" sz="2508" b="1" i="1" dirty="0">
                <a:latin typeface="Times New Roman" pitchFamily="18" charset="0"/>
                <a:cs typeface="Times New Roman" pitchFamily="18" charset="0"/>
              </a:rPr>
              <a:t>R</a:t>
            </a:r>
            <a:r>
              <a:rPr lang="en-US" altLang="zh-CN" sz="1462" b="1" i="1" dirty="0">
                <a:latin typeface="Times New Roman" pitchFamily="18" charset="0"/>
                <a:cs typeface="Times New Roman" pitchFamily="18" charset="0"/>
              </a:rPr>
              <a:t>p</a:t>
            </a:r>
            <a:r>
              <a:rPr lang="en-US" altLang="zh-CN" sz="2508" dirty="0">
                <a:latin typeface="Times New Roman" pitchFamily="18" charset="0"/>
                <a:cs typeface="Times New Roman" pitchFamily="18" charset="0"/>
              </a:rPr>
              <a:t> </a:t>
            </a:r>
            <a:r>
              <a:rPr lang="en-US" altLang="zh-CN" sz="2508" dirty="0">
                <a:latin typeface="Symbol" pitchFamily="18" charset="0"/>
                <a:cs typeface="Symbol" pitchFamily="18" charset="0"/>
              </a:rPr>
              <a:t>+</a:t>
            </a:r>
            <a:r>
              <a:rPr lang="en-US" altLang="zh-CN" sz="2508" dirty="0">
                <a:latin typeface="Times New Roman" pitchFamily="18" charset="0"/>
                <a:cs typeface="Times New Roman" pitchFamily="18" charset="0"/>
              </a:rPr>
              <a:t> </a:t>
            </a:r>
            <a:r>
              <a:rPr lang="en-US" altLang="zh-CN" sz="2508" b="1" i="1" dirty="0">
                <a:latin typeface="Times New Roman" pitchFamily="18" charset="0"/>
                <a:cs typeface="Times New Roman" pitchFamily="18" charset="0"/>
              </a:rPr>
              <a:t>R</a:t>
            </a:r>
            <a:r>
              <a:rPr lang="en-US" altLang="zh-CN" sz="1462" b="1" i="1" dirty="0">
                <a:latin typeface="Times New Roman" pitchFamily="18" charset="0"/>
                <a:cs typeface="Times New Roman" pitchFamily="18" charset="0"/>
              </a:rPr>
              <a:t>t</a:t>
            </a:r>
          </a:p>
        </p:txBody>
      </p:sp>
      <p:sp>
        <p:nvSpPr>
          <p:cNvPr id="21" name="TextBox 1"/>
          <p:cNvSpPr txBox="1"/>
          <p:nvPr/>
        </p:nvSpPr>
        <p:spPr>
          <a:xfrm>
            <a:off x="5462350" y="4516288"/>
            <a:ext cx="833562" cy="430887"/>
          </a:xfrm>
          <a:prstGeom prst="rect">
            <a:avLst/>
          </a:prstGeom>
          <a:noFill/>
        </p:spPr>
        <p:txBody>
          <a:bodyPr wrap="none" lIns="0" tIns="0" rIns="0">
            <a:spAutoFit/>
          </a:bodyPr>
          <a:lstStyle/>
          <a:p>
            <a:pPr>
              <a:lnSpc>
                <a:spcPts val="2994"/>
              </a:lnSpc>
              <a:defRPr/>
            </a:pPr>
            <a:r>
              <a:rPr lang="en-US" altLang="zh-CN" sz="2508" b="1" dirty="0">
                <a:latin typeface="Times New Roman" pitchFamily="18" charset="0"/>
                <a:cs typeface="Times New Roman" pitchFamily="18" charset="0"/>
              </a:rPr>
              <a:t>1</a:t>
            </a:r>
            <a:r>
              <a:rPr lang="en-US" altLang="zh-CN" sz="2508" dirty="0">
                <a:latin typeface="Symbol" pitchFamily="18" charset="0"/>
                <a:cs typeface="Symbol" pitchFamily="18" charset="0"/>
              </a:rPr>
              <a:t>-</a:t>
            </a:r>
            <a:r>
              <a:rPr lang="en-US" altLang="zh-CN" sz="2508" dirty="0">
                <a:latin typeface="Times New Roman" pitchFamily="18" charset="0"/>
                <a:cs typeface="Times New Roman" pitchFamily="18" charset="0"/>
              </a:rPr>
              <a:t> </a:t>
            </a:r>
            <a:r>
              <a:rPr lang="en-US" altLang="zh-CN" sz="2508" b="1" i="1" dirty="0">
                <a:latin typeface="Times New Roman" pitchFamily="18" charset="0"/>
                <a:cs typeface="Times New Roman" pitchFamily="18" charset="0"/>
              </a:rPr>
              <a:t>p</a:t>
            </a:r>
            <a:r>
              <a:rPr lang="en-US" altLang="zh-CN" sz="2508" dirty="0">
                <a:latin typeface="Times New Roman" pitchFamily="18" charset="0"/>
                <a:cs typeface="Times New Roman" pitchFamily="18" charset="0"/>
              </a:rPr>
              <a:t> </a:t>
            </a:r>
            <a:r>
              <a:rPr lang="en-US" altLang="zh-CN" sz="2508" dirty="0">
                <a:latin typeface="Symbol" pitchFamily="18" charset="0"/>
                <a:cs typeface="Symbol" pitchFamily="18" charset="0"/>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4436992" y="4601256"/>
            <a:ext cx="573165" cy="31682"/>
          </a:xfrm>
          <a:custGeom>
            <a:avLst/>
            <a:gdLst>
              <a:gd name="connsiteX0" fmla="*/ 8763 w 631698"/>
              <a:gd name="connsiteY0" fmla="*/ 8763 h 35051"/>
              <a:gd name="connsiteX1" fmla="*/ 622935 w 631698"/>
              <a:gd name="connsiteY1" fmla="*/ 8763 h 35051"/>
            </a:gdLst>
            <a:ahLst/>
            <a:cxnLst>
              <a:cxn ang="0">
                <a:pos x="connsiteX0" y="connsiteY0"/>
              </a:cxn>
              <a:cxn ang="1">
                <a:pos x="connsiteX1" y="connsiteY1"/>
              </a:cxn>
            </a:cxnLst>
            <a:rect l="l" t="t" r="r" b="b"/>
            <a:pathLst>
              <a:path w="631698" h="35051">
                <a:moveTo>
                  <a:pt x="8763" y="8763"/>
                </a:moveTo>
                <a:lnTo>
                  <a:pt x="622935" y="876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19811" name="TextBox 1"/>
          <p:cNvSpPr txBox="1">
            <a:spLocks noChangeArrowheads="1"/>
          </p:cNvSpPr>
          <p:nvPr/>
        </p:nvSpPr>
        <p:spPr bwMode="auto">
          <a:xfrm>
            <a:off x="2471237" y="733109"/>
            <a:ext cx="4975721" cy="638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927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927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927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927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927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927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927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927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927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dirty="0" err="1">
                <a:latin typeface="楷体_GB2312"/>
                <a:ea typeface="楷体_GB2312"/>
                <a:cs typeface="楷体_GB2312"/>
              </a:rPr>
              <a:t>无链转移的歧化终止</a:t>
            </a:r>
            <a:r>
              <a:rPr lang="en-US" altLang="zh-CN" sz="2540" dirty="0">
                <a:latin typeface="楷体_GB2312"/>
                <a:ea typeface="楷体_GB2312"/>
                <a:cs typeface="楷体_GB2312"/>
              </a:rPr>
              <a:t>：</a:t>
            </a:r>
          </a:p>
          <a:p>
            <a:pPr eaLnBrk="1" hangingPunct="1">
              <a:lnSpc>
                <a:spcPts val="2449"/>
              </a:lnSpc>
            </a:pPr>
            <a:r>
              <a:rPr lang="en-US" altLang="zh-CN" sz="1633" dirty="0"/>
              <a:t>	</a:t>
            </a:r>
            <a:endParaRPr lang="en-US" altLang="zh-CN" sz="2177" dirty="0">
              <a:latin typeface="楷体_GB2312"/>
              <a:ea typeface="楷体_GB2312"/>
              <a:cs typeface="楷体_GB2312"/>
            </a:endParaRPr>
          </a:p>
        </p:txBody>
      </p:sp>
      <p:sp>
        <p:nvSpPr>
          <p:cNvPr id="119812" name="TextBox 1"/>
          <p:cNvSpPr txBox="1">
            <a:spLocks noChangeArrowheads="1"/>
          </p:cNvSpPr>
          <p:nvPr/>
        </p:nvSpPr>
        <p:spPr bwMode="auto">
          <a:xfrm>
            <a:off x="6876092" y="1325292"/>
            <a:ext cx="3068148" cy="905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dirty="0" err="1">
                <a:latin typeface="楷体_GB2312"/>
                <a:ea typeface="楷体_GB2312"/>
                <a:cs typeface="楷体_GB2312"/>
              </a:rPr>
              <a:t>动力学链长与聚合度相</a:t>
            </a:r>
            <a:endParaRPr lang="en-US" altLang="zh-CN" sz="2177" dirty="0">
              <a:latin typeface="楷体_GB2312"/>
              <a:ea typeface="楷体_GB2312"/>
              <a:cs typeface="楷体_GB2312"/>
            </a:endParaRPr>
          </a:p>
          <a:p>
            <a:pPr eaLnBrk="1" hangingPunct="1">
              <a:lnSpc>
                <a:spcPts val="2087"/>
              </a:lnSpc>
            </a:pPr>
            <a:r>
              <a:rPr lang="en-US" altLang="zh-CN" sz="2177" dirty="0" err="1">
                <a:latin typeface="楷体_GB2312"/>
                <a:ea typeface="楷体_GB2312"/>
                <a:cs typeface="楷体_GB2312"/>
              </a:rPr>
              <a:t>等，一条活性大分子链终</a:t>
            </a:r>
            <a:endParaRPr lang="en-US" altLang="zh-CN" sz="2177" dirty="0">
              <a:latin typeface="楷体_GB2312"/>
              <a:ea typeface="楷体_GB2312"/>
              <a:cs typeface="楷体_GB2312"/>
            </a:endParaRPr>
          </a:p>
          <a:p>
            <a:pPr eaLnBrk="1" hangingPunct="1">
              <a:lnSpc>
                <a:spcPts val="2540"/>
              </a:lnSpc>
            </a:pPr>
            <a:r>
              <a:rPr lang="en-US" altLang="zh-CN" sz="2177" dirty="0" err="1">
                <a:latin typeface="楷体_GB2312"/>
                <a:ea typeface="楷体_GB2312"/>
                <a:cs typeface="楷体_GB2312"/>
              </a:rPr>
              <a:t>止成为一条大分子</a:t>
            </a:r>
            <a:r>
              <a:rPr lang="en-US" altLang="zh-CN" sz="2177" dirty="0">
                <a:latin typeface="楷体_GB2312"/>
                <a:ea typeface="楷体_GB2312"/>
                <a:cs typeface="楷体_GB2312"/>
              </a:rPr>
              <a:t>。</a:t>
            </a:r>
          </a:p>
        </p:txBody>
      </p:sp>
      <p:sp>
        <p:nvSpPr>
          <p:cNvPr id="119813" name="TextBox 1"/>
          <p:cNvSpPr txBox="1">
            <a:spLocks noChangeArrowheads="1"/>
          </p:cNvSpPr>
          <p:nvPr/>
        </p:nvSpPr>
        <p:spPr bwMode="auto">
          <a:xfrm>
            <a:off x="2386268" y="2661420"/>
            <a:ext cx="5067093" cy="76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形成</a:t>
            </a:r>
            <a:r>
              <a:rPr lang="en-US" altLang="zh-CN" sz="2177"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聚体：增长（</a:t>
            </a:r>
            <a:r>
              <a:rPr lang="en-US" altLang="zh-CN" sz="2177" b="1">
                <a:latin typeface="Times New Roman" panose="02020603050405020304" pitchFamily="18" charset="0"/>
                <a:cs typeface="Times New Roman" panose="02020603050405020304" pitchFamily="18" charset="0"/>
              </a:rPr>
              <a:t>x-1</a:t>
            </a:r>
            <a:r>
              <a:rPr lang="en-US" altLang="zh-CN" sz="2177">
                <a:latin typeface="楷体_GB2312"/>
                <a:ea typeface="楷体_GB2312"/>
                <a:cs typeface="楷体_GB2312"/>
              </a:rPr>
              <a:t>）次、终止一次。</a:t>
            </a:r>
          </a:p>
          <a:p>
            <a:pPr eaLnBrk="1" hangingPunct="1">
              <a:lnSpc>
                <a:spcPts val="907"/>
              </a:lnSpc>
            </a:pPr>
            <a:endParaRPr lang="en-US" altLang="zh-CN" sz="1633"/>
          </a:p>
          <a:p>
            <a:pPr eaLnBrk="1" hangingPunct="1">
              <a:lnSpc>
                <a:spcPts val="2449"/>
              </a:lnSpc>
            </a:pPr>
            <a:r>
              <a:rPr lang="en-US" altLang="zh-CN" sz="2177">
                <a:latin typeface="楷体_GB2312"/>
              </a:rPr>
              <a:t>所以，形成</a:t>
            </a:r>
            <a:r>
              <a:rPr lang="en-US" altLang="zh-CN" sz="2177" b="1">
                <a:latin typeface="Times New Roman" panose="02020603050405020304" pitchFamily="18" charset="0"/>
              </a:rPr>
              <a:t>x-</a:t>
            </a:r>
            <a:r>
              <a:rPr lang="en-US" altLang="zh-CN" sz="2177">
                <a:latin typeface="楷体_GB2312"/>
              </a:rPr>
              <a:t>聚体的几率α：</a:t>
            </a:r>
          </a:p>
        </p:txBody>
      </p:sp>
      <p:sp>
        <p:nvSpPr>
          <p:cNvPr id="119814" name="TextBox 1"/>
          <p:cNvSpPr txBox="1">
            <a:spLocks noChangeArrowheads="1"/>
          </p:cNvSpPr>
          <p:nvPr/>
        </p:nvSpPr>
        <p:spPr bwMode="auto">
          <a:xfrm>
            <a:off x="2973836" y="3686783"/>
            <a:ext cx="520655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楷体_GB2312"/>
                <a:ea typeface="楷体_GB2312"/>
                <a:cs typeface="楷体_GB2312"/>
              </a:rPr>
              <a:t>形成</a:t>
            </a:r>
            <a:r>
              <a:rPr lang="en-US" altLang="zh-CN" sz="2177"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聚体的几率即为</a:t>
            </a:r>
            <a:r>
              <a:rPr lang="en-US" altLang="zh-CN" sz="2177" b="1">
                <a:latin typeface="Times New Roman" panose="02020603050405020304" pitchFamily="18" charset="0"/>
                <a:cs typeface="Times New Roman" panose="02020603050405020304" pitchFamily="18" charset="0"/>
              </a:rPr>
              <a:t>x-</a:t>
            </a:r>
            <a:r>
              <a:rPr lang="en-US" altLang="zh-CN" sz="2177">
                <a:latin typeface="楷体_GB2312"/>
                <a:ea typeface="楷体_GB2312"/>
                <a:cs typeface="楷体_GB2312"/>
              </a:rPr>
              <a:t>聚体的分子分率：</a:t>
            </a:r>
          </a:p>
        </p:txBody>
      </p:sp>
      <p:sp>
        <p:nvSpPr>
          <p:cNvPr id="119815" name="TextBox 1"/>
          <p:cNvSpPr txBox="1">
            <a:spLocks noChangeArrowheads="1"/>
          </p:cNvSpPr>
          <p:nvPr/>
        </p:nvSpPr>
        <p:spPr bwMode="auto">
          <a:xfrm>
            <a:off x="3296422" y="5334273"/>
            <a:ext cx="7123745"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845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845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845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845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845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845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845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845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845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dirty="0" err="1">
                <a:latin typeface="楷体_GB2312"/>
                <a:ea typeface="楷体_GB2312"/>
                <a:cs typeface="楷体_GB2312"/>
              </a:rPr>
              <a:t>无链转移的歧化终止数量分布函数</a:t>
            </a:r>
            <a:endParaRPr lang="en-US" altLang="zh-CN" sz="2540" dirty="0">
              <a:latin typeface="楷体_GB2312"/>
              <a:ea typeface="楷体_GB2312"/>
              <a:cs typeface="楷体_GB2312"/>
            </a:endParaRPr>
          </a:p>
          <a:p>
            <a:pPr eaLnBrk="1" hangingPunct="1">
              <a:lnSpc>
                <a:spcPts val="907"/>
              </a:lnSpc>
            </a:pPr>
            <a:endParaRPr lang="en-US" altLang="zh-CN" sz="1633" dirty="0"/>
          </a:p>
          <a:p>
            <a:pPr eaLnBrk="1" hangingPunct="1">
              <a:lnSpc>
                <a:spcPts val="907"/>
              </a:lnSpc>
            </a:pPr>
            <a:endParaRPr lang="en-US" altLang="zh-CN" sz="1633" dirty="0"/>
          </a:p>
          <a:p>
            <a:pPr eaLnBrk="1" hangingPunct="1">
              <a:lnSpc>
                <a:spcPts val="907"/>
              </a:lnSpc>
            </a:pPr>
            <a:endParaRPr lang="en-US" altLang="zh-CN" sz="1633" dirty="0"/>
          </a:p>
          <a:p>
            <a:pPr eaLnBrk="1" hangingPunct="1">
              <a:lnSpc>
                <a:spcPts val="907"/>
              </a:lnSpc>
            </a:pPr>
            <a:endParaRPr lang="en-US" altLang="zh-CN" sz="1633" dirty="0"/>
          </a:p>
          <a:p>
            <a:pPr eaLnBrk="1" hangingPunct="1">
              <a:lnSpc>
                <a:spcPts val="1814"/>
              </a:lnSpc>
            </a:pPr>
            <a:r>
              <a:rPr lang="en-US" altLang="zh-CN" sz="1633" dirty="0"/>
              <a:t>	</a:t>
            </a:r>
            <a:r>
              <a:rPr lang="en-US" altLang="zh-CN" sz="1089" dirty="0">
                <a:latin typeface="Times New Roman" panose="02020603050405020304" pitchFamily="18" charset="0"/>
                <a:cs typeface="Times New Roman" panose="02020603050405020304" pitchFamily="18" charset="0"/>
              </a:rPr>
              <a:t>104</a:t>
            </a:r>
          </a:p>
        </p:txBody>
      </p:sp>
      <p:sp>
        <p:nvSpPr>
          <p:cNvPr id="18" name="TextBox 1"/>
          <p:cNvSpPr txBox="1"/>
          <p:nvPr/>
        </p:nvSpPr>
        <p:spPr>
          <a:xfrm>
            <a:off x="2904711" y="1543894"/>
            <a:ext cx="3558667" cy="522259"/>
          </a:xfrm>
          <a:prstGeom prst="rect">
            <a:avLst/>
          </a:prstGeom>
          <a:noFill/>
        </p:spPr>
        <p:txBody>
          <a:bodyPr wrap="none" lIns="0" tIns="0" rIns="0">
            <a:spAutoFit/>
          </a:bodyPr>
          <a:lstStyle/>
          <a:p>
            <a:pPr>
              <a:lnSpc>
                <a:spcPts val="3901"/>
              </a:lnSpc>
              <a:defRPr/>
            </a:pPr>
            <a:r>
              <a:rPr lang="en-US" altLang="zh-CN" sz="2624" b="1" i="1" dirty="0">
                <a:latin typeface="Times New Roman" pitchFamily="18" charset="0"/>
                <a:cs typeface="Times New Roman" pitchFamily="18" charset="0"/>
              </a:rPr>
              <a:t>RM</a:t>
            </a:r>
            <a:r>
              <a:rPr lang="en-US" altLang="zh-CN" sz="2624" dirty="0">
                <a:latin typeface="Times New Roman" pitchFamily="18" charset="0"/>
                <a:cs typeface="Times New Roman" pitchFamily="18" charset="0"/>
              </a:rPr>
              <a:t> </a:t>
            </a:r>
            <a:r>
              <a:rPr lang="en-US" altLang="zh-CN" sz="2624" dirty="0">
                <a:latin typeface="Symbol" pitchFamily="18" charset="0"/>
                <a:cs typeface="Symbol" pitchFamily="18" charset="0"/>
              </a:rPr>
              <a:t>-</a:t>
            </a:r>
            <a:r>
              <a:rPr lang="en-US" altLang="zh-CN" sz="2624" dirty="0">
                <a:latin typeface="Times New Roman" pitchFamily="18" charset="0"/>
                <a:cs typeface="Times New Roman" pitchFamily="18" charset="0"/>
              </a:rPr>
              <a:t> </a:t>
            </a:r>
            <a:r>
              <a:rPr lang="en-US" altLang="zh-CN" sz="2624" b="1" i="1" dirty="0">
                <a:latin typeface="Times New Roman" pitchFamily="18" charset="0"/>
                <a:cs typeface="Times New Roman" pitchFamily="18" charset="0"/>
              </a:rPr>
              <a:t>M</a:t>
            </a:r>
            <a:r>
              <a:rPr lang="en-US" altLang="zh-CN" sz="2624" dirty="0">
                <a:latin typeface="Times New Roman" pitchFamily="18" charset="0"/>
                <a:cs typeface="Times New Roman" pitchFamily="18" charset="0"/>
              </a:rPr>
              <a:t> </a:t>
            </a:r>
            <a:r>
              <a:rPr lang="en-US" altLang="zh-CN" sz="2624" dirty="0">
                <a:latin typeface="Symbol" pitchFamily="18" charset="0"/>
                <a:cs typeface="Symbol" pitchFamily="18" charset="0"/>
              </a:rPr>
              <a:t>-</a:t>
            </a:r>
            <a:r>
              <a:rPr lang="en-US" altLang="zh-CN" sz="2624" dirty="0">
                <a:latin typeface="Times New Roman" pitchFamily="18" charset="0"/>
                <a:cs typeface="Times New Roman" pitchFamily="18" charset="0"/>
              </a:rPr>
              <a:t> </a:t>
            </a:r>
            <a:r>
              <a:rPr lang="en-US" altLang="zh-CN" sz="2624" b="1" i="1" dirty="0">
                <a:latin typeface="Times New Roman" pitchFamily="18" charset="0"/>
                <a:cs typeface="Times New Roman" pitchFamily="18" charset="0"/>
              </a:rPr>
              <a:t>M</a:t>
            </a:r>
            <a:r>
              <a:rPr lang="en-US" altLang="zh-CN" sz="2623" dirty="0">
                <a:latin typeface="MT Extra" pitchFamily="18" charset="0"/>
                <a:cs typeface="MT Extra" pitchFamily="18" charset="0"/>
              </a:rPr>
              <a:t>LL</a:t>
            </a:r>
            <a:r>
              <a:rPr lang="en-US" altLang="zh-CN" sz="2624" b="1" i="1" dirty="0">
                <a:latin typeface="Times New Roman" pitchFamily="18" charset="0"/>
                <a:cs typeface="Times New Roman" pitchFamily="18" charset="0"/>
              </a:rPr>
              <a:t>M</a:t>
            </a:r>
            <a:r>
              <a:rPr lang="en-US" altLang="zh-CN" sz="1530" dirty="0">
                <a:latin typeface="Times New Roman" pitchFamily="18" charset="0"/>
                <a:cs typeface="Times New Roman" pitchFamily="18" charset="0"/>
              </a:rPr>
              <a:t> </a:t>
            </a:r>
            <a:r>
              <a:rPr lang="en-US" altLang="zh-CN" sz="1530" b="1" i="1" dirty="0">
                <a:latin typeface="Times New Roman" pitchFamily="18" charset="0"/>
                <a:cs typeface="Times New Roman" pitchFamily="18" charset="0"/>
              </a:rPr>
              <a:t>x</a:t>
            </a:r>
            <a:r>
              <a:rPr lang="en-US" altLang="zh-CN" sz="2624" dirty="0">
                <a:latin typeface="Times New Roman" pitchFamily="18" charset="0"/>
                <a:cs typeface="Times New Roman" pitchFamily="18" charset="0"/>
              </a:rPr>
              <a:t> </a:t>
            </a:r>
            <a:r>
              <a:rPr lang="en-US" altLang="zh-CN" sz="2624" dirty="0">
                <a:latin typeface="Symbol" pitchFamily="18" charset="0"/>
                <a:cs typeface="Symbol" pitchFamily="18" charset="0"/>
              </a:rPr>
              <a:t>-</a:t>
            </a:r>
            <a:r>
              <a:rPr lang="en-US" altLang="zh-CN" sz="2624" dirty="0">
                <a:latin typeface="Times New Roman" pitchFamily="18" charset="0"/>
                <a:cs typeface="Times New Roman" pitchFamily="18" charset="0"/>
              </a:rPr>
              <a:t> </a:t>
            </a:r>
            <a:r>
              <a:rPr lang="en-US" altLang="zh-CN" sz="2624" b="1" i="1" dirty="0">
                <a:latin typeface="Times New Roman" pitchFamily="18" charset="0"/>
                <a:cs typeface="Times New Roman" pitchFamily="18" charset="0"/>
              </a:rPr>
              <a:t>H</a:t>
            </a:r>
          </a:p>
        </p:txBody>
      </p:sp>
      <p:sp>
        <p:nvSpPr>
          <p:cNvPr id="22" name="TextBox 1"/>
          <p:cNvSpPr txBox="1"/>
          <p:nvPr/>
        </p:nvSpPr>
        <p:spPr>
          <a:xfrm>
            <a:off x="4483074" y="4193703"/>
            <a:ext cx="447238" cy="931858"/>
          </a:xfrm>
          <a:prstGeom prst="rect">
            <a:avLst/>
          </a:prstGeom>
          <a:noFill/>
        </p:spPr>
        <p:txBody>
          <a:bodyPr wrap="none" lIns="0" tIns="0" rIns="0">
            <a:spAutoFit/>
          </a:bodyPr>
          <a:lstStyle/>
          <a:p>
            <a:pPr>
              <a:lnSpc>
                <a:spcPts val="3175"/>
              </a:lnSpc>
              <a:tabLst>
                <a:tab pos="92175" algn="l"/>
              </a:tabLst>
              <a:defRPr/>
            </a:pPr>
            <a:r>
              <a:rPr lang="en-US" altLang="zh-CN" sz="3015" b="1" i="1" dirty="0">
                <a:latin typeface="Times New Roman" pitchFamily="18" charset="0"/>
                <a:cs typeface="Times New Roman" pitchFamily="18" charset="0"/>
              </a:rPr>
              <a:t>N</a:t>
            </a:r>
            <a:r>
              <a:rPr lang="en-US" altLang="zh-CN" sz="1758" dirty="0">
                <a:latin typeface="Times New Roman" pitchFamily="18" charset="0"/>
                <a:cs typeface="Times New Roman" pitchFamily="18" charset="0"/>
              </a:rPr>
              <a:t> </a:t>
            </a:r>
            <a:r>
              <a:rPr lang="en-US" altLang="zh-CN" sz="1758" b="1" i="1" dirty="0">
                <a:latin typeface="Times New Roman" pitchFamily="18" charset="0"/>
                <a:cs typeface="Times New Roman" pitchFamily="18" charset="0"/>
              </a:rPr>
              <a:t>x</a:t>
            </a:r>
          </a:p>
          <a:p>
            <a:pPr>
              <a:lnSpc>
                <a:spcPts val="907"/>
              </a:lnSpc>
              <a:defRPr/>
            </a:pPr>
            <a:endParaRPr lang="en-US" altLang="zh-CN" sz="1633" dirty="0"/>
          </a:p>
          <a:p>
            <a:pPr>
              <a:lnSpc>
                <a:spcPts val="2812"/>
              </a:lnSpc>
              <a:tabLst>
                <a:tab pos="92175" algn="l"/>
              </a:tabLst>
              <a:defRPr/>
            </a:pPr>
            <a:r>
              <a:rPr lang="en-US" altLang="zh-CN" sz="1633" dirty="0"/>
              <a:t>	</a:t>
            </a:r>
            <a:r>
              <a:rPr lang="en-US" altLang="zh-CN" sz="3015" b="1" i="1" dirty="0">
                <a:latin typeface="Times New Roman" pitchFamily="18" charset="0"/>
                <a:cs typeface="Times New Roman" pitchFamily="18" charset="0"/>
              </a:rPr>
              <a:t>N</a:t>
            </a:r>
          </a:p>
        </p:txBody>
      </p:sp>
      <p:sp>
        <p:nvSpPr>
          <p:cNvPr id="23" name="TextBox 1"/>
          <p:cNvSpPr txBox="1"/>
          <p:nvPr/>
        </p:nvSpPr>
        <p:spPr>
          <a:xfrm>
            <a:off x="6072958" y="4308910"/>
            <a:ext cx="952184" cy="507831"/>
          </a:xfrm>
          <a:prstGeom prst="rect">
            <a:avLst/>
          </a:prstGeom>
          <a:noFill/>
        </p:spPr>
        <p:txBody>
          <a:bodyPr wrap="none" lIns="0" tIns="0" rIns="0">
            <a:spAutoFit/>
          </a:bodyPr>
          <a:lstStyle/>
          <a:p>
            <a:pPr>
              <a:lnSpc>
                <a:spcPts val="3629"/>
              </a:lnSpc>
              <a:defRPr/>
            </a:pPr>
            <a:r>
              <a:rPr lang="en-US" altLang="zh-CN" sz="3015" b="1" dirty="0">
                <a:latin typeface="Times New Roman" pitchFamily="18" charset="0"/>
                <a:cs typeface="Times New Roman" pitchFamily="18" charset="0"/>
              </a:rPr>
              <a:t>(1</a:t>
            </a:r>
            <a:r>
              <a:rPr lang="en-US" altLang="zh-CN" sz="3015" dirty="0">
                <a:latin typeface="Symbol" pitchFamily="18" charset="0"/>
                <a:cs typeface="Symbol" pitchFamily="18" charset="0"/>
              </a:rPr>
              <a:t>-</a:t>
            </a:r>
            <a:r>
              <a:rPr lang="en-US" altLang="zh-CN" sz="3015" dirty="0">
                <a:latin typeface="Times New Roman" pitchFamily="18" charset="0"/>
                <a:cs typeface="Times New Roman" pitchFamily="18" charset="0"/>
              </a:rPr>
              <a:t> </a:t>
            </a:r>
            <a:r>
              <a:rPr lang="en-US" altLang="zh-CN" sz="3015" b="1" i="1" dirty="0">
                <a:latin typeface="Times New Roman" pitchFamily="18" charset="0"/>
                <a:cs typeface="Times New Roman" pitchFamily="18" charset="0"/>
              </a:rPr>
              <a:t>p</a:t>
            </a:r>
            <a:r>
              <a:rPr lang="en-US" altLang="zh-CN" sz="3015" b="1" dirty="0">
                <a:latin typeface="Times New Roman" pitchFamily="18" charset="0"/>
                <a:cs typeface="Times New Roman" pitchFamily="18" charset="0"/>
              </a:rPr>
              <a:t>)</a:t>
            </a:r>
          </a:p>
        </p:txBody>
      </p:sp>
      <p:sp>
        <p:nvSpPr>
          <p:cNvPr id="24" name="TextBox 1"/>
          <p:cNvSpPr txBox="1"/>
          <p:nvPr/>
        </p:nvSpPr>
        <p:spPr>
          <a:xfrm>
            <a:off x="5093682" y="4308910"/>
            <a:ext cx="501740" cy="507831"/>
          </a:xfrm>
          <a:prstGeom prst="rect">
            <a:avLst/>
          </a:prstGeom>
          <a:noFill/>
        </p:spPr>
        <p:txBody>
          <a:bodyPr wrap="none" lIns="0" tIns="0" rIns="0">
            <a:spAutoFit/>
          </a:bodyPr>
          <a:lstStyle/>
          <a:p>
            <a:pPr>
              <a:lnSpc>
                <a:spcPts val="3629"/>
              </a:lnSpc>
              <a:defRPr/>
            </a:pPr>
            <a:r>
              <a:rPr lang="en-US" altLang="zh-CN" sz="3015" dirty="0">
                <a:latin typeface="Symbol" pitchFamily="18" charset="0"/>
                <a:cs typeface="Symbol" pitchFamily="18" charset="0"/>
              </a:rPr>
              <a:t>=</a:t>
            </a:r>
            <a:r>
              <a:rPr lang="en-US" altLang="zh-CN" sz="3015" dirty="0">
                <a:latin typeface="Times New Roman" pitchFamily="18" charset="0"/>
                <a:cs typeface="Times New Roman" pitchFamily="18" charset="0"/>
              </a:rPr>
              <a:t> </a:t>
            </a:r>
            <a:r>
              <a:rPr lang="en-US" altLang="zh-CN" sz="3015" b="1" i="1" dirty="0">
                <a:latin typeface="Times New Roman" pitchFamily="18" charset="0"/>
                <a:cs typeface="Times New Roman" pitchFamily="18" charset="0"/>
              </a:rPr>
              <a:t>p</a:t>
            </a:r>
          </a:p>
        </p:txBody>
      </p:sp>
      <p:sp>
        <p:nvSpPr>
          <p:cNvPr id="25" name="TextBox 1"/>
          <p:cNvSpPr txBox="1"/>
          <p:nvPr/>
        </p:nvSpPr>
        <p:spPr>
          <a:xfrm>
            <a:off x="5681248" y="4297391"/>
            <a:ext cx="386324" cy="315471"/>
          </a:xfrm>
          <a:prstGeom prst="rect">
            <a:avLst/>
          </a:prstGeom>
          <a:noFill/>
        </p:spPr>
        <p:txBody>
          <a:bodyPr wrap="none" lIns="0" tIns="0" rIns="0">
            <a:spAutoFit/>
          </a:bodyPr>
          <a:lstStyle/>
          <a:p>
            <a:pPr>
              <a:lnSpc>
                <a:spcPts val="2087"/>
              </a:lnSpc>
              <a:defRPr/>
            </a:pPr>
            <a:r>
              <a:rPr lang="en-US" altLang="zh-CN" sz="1758" b="1" i="1" dirty="0">
                <a:latin typeface="Times New Roman" pitchFamily="18" charset="0"/>
                <a:cs typeface="Times New Roman" pitchFamily="18" charset="0"/>
              </a:rPr>
              <a:t>X</a:t>
            </a:r>
            <a:r>
              <a:rPr lang="en-US" altLang="zh-CN" sz="1758" dirty="0">
                <a:latin typeface="Symbol" pitchFamily="18" charset="0"/>
                <a:cs typeface="Symbol" pitchFamily="18" charset="0"/>
              </a:rPr>
              <a:t>-</a:t>
            </a:r>
            <a:r>
              <a:rPr lang="en-US" altLang="zh-CN" sz="1758" b="1" dirty="0">
                <a:latin typeface="Times New Roman" pitchFamily="18" charset="0"/>
                <a:cs typeface="Times New Roman" pitchFamily="18" charset="0"/>
              </a:rPr>
              <a:t>1</a:t>
            </a:r>
          </a:p>
        </p:txBody>
      </p:sp>
      <p:graphicFrame>
        <p:nvGraphicFramePr>
          <p:cNvPr id="2" name="对象 1"/>
          <p:cNvGraphicFramePr>
            <a:graphicFrameLocks noChangeAspect="1"/>
          </p:cNvGraphicFramePr>
          <p:nvPr>
            <p:extLst/>
          </p:nvPr>
        </p:nvGraphicFramePr>
        <p:xfrm>
          <a:off x="7131574" y="2901531"/>
          <a:ext cx="2815739" cy="575946"/>
        </p:xfrm>
        <a:graphic>
          <a:graphicData uri="http://schemas.openxmlformats.org/presentationml/2006/ole">
            <mc:AlternateContent xmlns:mc="http://schemas.openxmlformats.org/markup-compatibility/2006">
              <mc:Choice xmlns:v="urn:schemas-microsoft-com:vml" Requires="v">
                <p:oleObj spid="_x0000_s12293" name="公式" r:id="rId3" imgW="1117440" imgH="228600" progId="Equation.3">
                  <p:embed/>
                </p:oleObj>
              </mc:Choice>
              <mc:Fallback>
                <p:oleObj name="公式" r:id="rId3" imgW="1117440" imgH="228600" progId="Equation.3">
                  <p:embed/>
                  <p:pic>
                    <p:nvPicPr>
                      <p:cNvPr id="2" name="对象 1"/>
                      <p:cNvPicPr/>
                      <p:nvPr/>
                    </p:nvPicPr>
                    <p:blipFill>
                      <a:blip r:embed="rId4"/>
                      <a:stretch>
                        <a:fillRect/>
                      </a:stretch>
                    </p:blipFill>
                    <p:spPr>
                      <a:xfrm>
                        <a:off x="7131574" y="2901531"/>
                        <a:ext cx="2815739" cy="575946"/>
                      </a:xfrm>
                      <a:prstGeom prst="rect">
                        <a:avLst/>
                      </a:prstGeom>
                    </p:spPr>
                  </p:pic>
                </p:oleObj>
              </mc:Fallback>
            </mc:AlternateContent>
          </a:graphicData>
        </a:graphic>
      </p:graphicFrame>
      <p:sp>
        <p:nvSpPr>
          <p:cNvPr id="3" name="文本框 2"/>
          <p:cNvSpPr txBox="1"/>
          <p:nvPr/>
        </p:nvSpPr>
        <p:spPr>
          <a:xfrm>
            <a:off x="3201486" y="5947760"/>
            <a:ext cx="3276859" cy="594906"/>
          </a:xfrm>
          <a:prstGeom prst="rect">
            <a:avLst/>
          </a:prstGeom>
          <a:noFill/>
        </p:spPr>
        <p:txBody>
          <a:bodyPr wrap="none" rtlCol="0">
            <a:spAutoFit/>
          </a:bodyPr>
          <a:lstStyle/>
          <a:p>
            <a:r>
              <a:rPr lang="en-US" altLang="zh-CN" sz="1633" dirty="0" err="1"/>
              <a:t>N</a:t>
            </a:r>
            <a:r>
              <a:rPr lang="en-US" altLang="zh-CN" sz="1633" baseline="-25000" dirty="0" err="1"/>
              <a:t>x</a:t>
            </a:r>
            <a:r>
              <a:rPr lang="zh-CN" altLang="en-US" sz="1633" dirty="0"/>
              <a:t>：</a:t>
            </a:r>
            <a:r>
              <a:rPr lang="en-US" altLang="zh-CN" sz="1633" dirty="0"/>
              <a:t>X-</a:t>
            </a:r>
            <a:r>
              <a:rPr lang="zh-CN" altLang="en-US" sz="1633" dirty="0"/>
              <a:t>聚体的大分子数目；</a:t>
            </a:r>
            <a:endParaRPr lang="en-US" altLang="zh-CN" sz="1633" dirty="0"/>
          </a:p>
          <a:p>
            <a:r>
              <a:rPr lang="en-US" altLang="zh-CN" sz="1633" dirty="0"/>
              <a:t>N</a:t>
            </a:r>
            <a:r>
              <a:rPr lang="zh-CN" altLang="en-US" sz="1633" dirty="0"/>
              <a:t>：大分子（或链自由基）总数。</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662770" y="3051693"/>
            <a:ext cx="518441" cy="30242"/>
          </a:xfrm>
          <a:custGeom>
            <a:avLst/>
            <a:gdLst>
              <a:gd name="connsiteX0" fmla="*/ 8274 w 572808"/>
              <a:gd name="connsiteY0" fmla="*/ 8273 h 33096"/>
              <a:gd name="connsiteX1" fmla="*/ 564534 w 572808"/>
              <a:gd name="connsiteY1" fmla="*/ 8273 h 33096"/>
            </a:gdLst>
            <a:ahLst/>
            <a:cxnLst>
              <a:cxn ang="0">
                <a:pos x="connsiteX0" y="connsiteY0"/>
              </a:cxn>
              <a:cxn ang="1">
                <a:pos x="connsiteX1" y="connsiteY1"/>
              </a:cxn>
            </a:cxnLst>
            <a:rect l="l" t="t" r="r" b="b"/>
            <a:pathLst>
              <a:path w="572808" h="33096">
                <a:moveTo>
                  <a:pt x="8274" y="8273"/>
                </a:moveTo>
                <a:lnTo>
                  <a:pt x="564534" y="827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3549879" y="3051693"/>
            <a:ext cx="950475" cy="30242"/>
          </a:xfrm>
          <a:custGeom>
            <a:avLst/>
            <a:gdLst>
              <a:gd name="connsiteX0" fmla="*/ 8274 w 1048296"/>
              <a:gd name="connsiteY0" fmla="*/ 8273 h 33096"/>
              <a:gd name="connsiteX1" fmla="*/ 1040022 w 1048296"/>
              <a:gd name="connsiteY1" fmla="*/ 8273 h 33096"/>
            </a:gdLst>
            <a:ahLst/>
            <a:cxnLst>
              <a:cxn ang="0">
                <a:pos x="connsiteX0" y="connsiteY0"/>
              </a:cxn>
              <a:cxn ang="1">
                <a:pos x="connsiteX1" y="connsiteY1"/>
              </a:cxn>
            </a:cxnLst>
            <a:rect l="l" t="t" r="r" b="b"/>
            <a:pathLst>
              <a:path w="1048296" h="33096">
                <a:moveTo>
                  <a:pt x="8274" y="8273"/>
                </a:moveTo>
                <a:lnTo>
                  <a:pt x="1040022" y="827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4869026" y="3051693"/>
            <a:ext cx="1490518" cy="30242"/>
          </a:xfrm>
          <a:custGeom>
            <a:avLst/>
            <a:gdLst>
              <a:gd name="connsiteX0" fmla="*/ 8273 w 1643418"/>
              <a:gd name="connsiteY0" fmla="*/ 8273 h 33096"/>
              <a:gd name="connsiteX1" fmla="*/ 1635143 w 1643418"/>
              <a:gd name="connsiteY1" fmla="*/ 8273 h 33096"/>
            </a:gdLst>
            <a:ahLst/>
            <a:cxnLst>
              <a:cxn ang="0">
                <a:pos x="connsiteX0" y="connsiteY0"/>
              </a:cxn>
              <a:cxn ang="1">
                <a:pos x="connsiteX1" y="connsiteY1"/>
              </a:cxn>
            </a:cxnLst>
            <a:rect l="l" t="t" r="r" b="b"/>
            <a:pathLst>
              <a:path w="1643418" h="33096">
                <a:moveTo>
                  <a:pt x="8273" y="8273"/>
                </a:moveTo>
                <a:lnTo>
                  <a:pt x="1635143" y="827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6726769" y="3051693"/>
            <a:ext cx="1234178" cy="30242"/>
          </a:xfrm>
          <a:custGeom>
            <a:avLst/>
            <a:gdLst>
              <a:gd name="connsiteX0" fmla="*/ 8273 w 1359192"/>
              <a:gd name="connsiteY0" fmla="*/ 8273 h 33096"/>
              <a:gd name="connsiteX1" fmla="*/ 1350918 w 1359192"/>
              <a:gd name="connsiteY1" fmla="*/ 8273 h 33096"/>
            </a:gdLst>
            <a:ahLst/>
            <a:cxnLst>
              <a:cxn ang="0">
                <a:pos x="connsiteX0" y="connsiteY0"/>
              </a:cxn>
              <a:cxn ang="1">
                <a:pos x="connsiteX1" y="connsiteY1"/>
              </a:cxn>
            </a:cxnLst>
            <a:rect l="l" t="t" r="r" b="b"/>
            <a:pathLst>
              <a:path w="1359192" h="33096">
                <a:moveTo>
                  <a:pt x="8273" y="8273"/>
                </a:moveTo>
                <a:lnTo>
                  <a:pt x="1350918" y="827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8328176" y="3051693"/>
            <a:ext cx="744539" cy="30242"/>
          </a:xfrm>
          <a:custGeom>
            <a:avLst/>
            <a:gdLst>
              <a:gd name="connsiteX0" fmla="*/ 8273 w 821220"/>
              <a:gd name="connsiteY0" fmla="*/ 8273 h 33096"/>
              <a:gd name="connsiteX1" fmla="*/ 812945 w 821220"/>
              <a:gd name="connsiteY1" fmla="*/ 8273 h 33096"/>
            </a:gdLst>
            <a:ahLst/>
            <a:cxnLst>
              <a:cxn ang="0">
                <a:pos x="connsiteX0" y="connsiteY0"/>
              </a:cxn>
              <a:cxn ang="1">
                <a:pos x="connsiteX1" y="connsiteY1"/>
              </a:cxn>
            </a:cxnLst>
            <a:rect l="l" t="t" r="r" b="b"/>
            <a:pathLst>
              <a:path w="821220" h="33096">
                <a:moveTo>
                  <a:pt x="8273" y="8273"/>
                </a:moveTo>
                <a:lnTo>
                  <a:pt x="812945" y="8273"/>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 name="TextBox 1"/>
          <p:cNvSpPr txBox="1"/>
          <p:nvPr/>
        </p:nvSpPr>
        <p:spPr>
          <a:xfrm>
            <a:off x="4586761" y="2776630"/>
            <a:ext cx="200376" cy="482183"/>
          </a:xfrm>
          <a:prstGeom prst="rect">
            <a:avLst/>
          </a:prstGeom>
          <a:noFill/>
        </p:spPr>
        <p:txBody>
          <a:bodyPr wrap="none" lIns="0" tIns="0" rIns="0">
            <a:spAutoFit/>
          </a:bodyPr>
          <a:lstStyle/>
          <a:p>
            <a:pPr>
              <a:lnSpc>
                <a:spcPts val="3447"/>
              </a:lnSpc>
              <a:defRPr/>
            </a:pPr>
            <a:r>
              <a:rPr lang="en-US" altLang="zh-CN" sz="2842" dirty="0">
                <a:latin typeface="Symbol" pitchFamily="18" charset="0"/>
                <a:cs typeface="Symbol" pitchFamily="18" charset="0"/>
              </a:rPr>
              <a:t>=</a:t>
            </a:r>
          </a:p>
        </p:txBody>
      </p:sp>
      <p:sp>
        <p:nvSpPr>
          <p:cNvPr id="120840" name="TextBox 1"/>
          <p:cNvSpPr txBox="1">
            <a:spLocks noChangeArrowheads="1"/>
          </p:cNvSpPr>
          <p:nvPr/>
        </p:nvSpPr>
        <p:spPr bwMode="auto">
          <a:xfrm>
            <a:off x="2582125" y="3951764"/>
            <a:ext cx="7918834" cy="242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88900" algn="l"/>
                <a:tab pos="800100" algn="l"/>
                <a:tab pos="76327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b="1">
                <a:latin typeface="Times New Roman" panose="02020603050405020304" pitchFamily="18" charset="0"/>
                <a:cs typeface="Times New Roman" panose="02020603050405020304" pitchFamily="18" charset="0"/>
              </a:rPr>
              <a:t>M</a:t>
            </a:r>
            <a:r>
              <a:rPr lang="en-US" altLang="zh-CN" sz="1724" b="1">
                <a:latin typeface="Times New Roman" panose="02020603050405020304" pitchFamily="18" charset="0"/>
                <a:cs typeface="Times New Roman" panose="02020603050405020304" pitchFamily="18" charset="0"/>
              </a:rPr>
              <a:t>0</a:t>
            </a:r>
            <a:r>
              <a:rPr lang="en-US" altLang="zh-CN" sz="2540">
                <a:latin typeface="楷体_GB2312"/>
                <a:ea typeface="楷体_GB2312"/>
                <a:cs typeface="楷体_GB2312"/>
              </a:rPr>
              <a:t>：重复单元</a:t>
            </a:r>
            <a:r>
              <a:rPr lang="en-US" altLang="zh-CN" sz="2540" b="1">
                <a:latin typeface="Times New Roman" panose="02020603050405020304" pitchFamily="18" charset="0"/>
                <a:cs typeface="Times New Roman" panose="02020603050405020304" pitchFamily="18" charset="0"/>
              </a:rPr>
              <a:t>“</a:t>
            </a:r>
            <a:r>
              <a:rPr lang="en-US" altLang="zh-CN" sz="2540">
                <a:latin typeface="楷体_GB2312"/>
                <a:ea typeface="楷体_GB2312"/>
                <a:cs typeface="楷体_GB2312"/>
              </a:rPr>
              <a:t>分子量</a:t>
            </a:r>
            <a:r>
              <a:rPr lang="en-US" altLang="zh-CN" sz="2540" b="1">
                <a:latin typeface="Times New Roman" panose="02020603050405020304" pitchFamily="18" charset="0"/>
                <a:cs typeface="Times New Roman" panose="02020603050405020304" pitchFamily="18" charset="0"/>
              </a:rPr>
              <a:t>”;</a:t>
            </a:r>
          </a:p>
          <a:p>
            <a:pPr eaLnBrk="1" hangingPunct="1">
              <a:lnSpc>
                <a:spcPts val="2994"/>
              </a:lnSpc>
            </a:pPr>
            <a:r>
              <a:rPr lang="en-US" altLang="zh-CN" sz="2540" b="1">
                <a:latin typeface="Times New Roman" panose="02020603050405020304" pitchFamily="18" charset="0"/>
                <a:cs typeface="Times New Roman" panose="02020603050405020304" pitchFamily="18" charset="0"/>
              </a:rPr>
              <a:t>N</a:t>
            </a:r>
            <a:r>
              <a:rPr lang="en-US" altLang="zh-CN" sz="1724" b="1">
                <a:latin typeface="Times New Roman" panose="02020603050405020304" pitchFamily="18" charset="0"/>
                <a:cs typeface="Times New Roman" panose="02020603050405020304" pitchFamily="18" charset="0"/>
              </a:rPr>
              <a:t>x</a:t>
            </a: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x</a:t>
            </a:r>
            <a:r>
              <a:rPr lang="en-US" altLang="zh-CN" sz="2540">
                <a:latin typeface="楷体_GB2312"/>
                <a:ea typeface="楷体_GB2312"/>
                <a:cs typeface="楷体_GB2312"/>
              </a:rPr>
              <a:t>聚体的大分子数；</a:t>
            </a:r>
          </a:p>
          <a:p>
            <a:pPr eaLnBrk="1" hangingPunct="1">
              <a:lnSpc>
                <a:spcPts val="2540"/>
              </a:lnSpc>
            </a:pPr>
            <a:r>
              <a:rPr lang="en-US" altLang="zh-CN" sz="1633"/>
              <a:t>	</a:t>
            </a:r>
            <a:r>
              <a:rPr lang="en-US" altLang="zh-CN" sz="2540" b="1">
                <a:latin typeface="Times New Roman" panose="02020603050405020304" pitchFamily="18" charset="0"/>
                <a:cs typeface="Times New Roman" panose="02020603050405020304" pitchFamily="18" charset="0"/>
              </a:rPr>
              <a:t>n</a:t>
            </a:r>
            <a:r>
              <a:rPr lang="en-US" altLang="zh-CN" sz="2540">
                <a:latin typeface="楷体_GB2312"/>
                <a:ea typeface="楷体_GB2312"/>
                <a:cs typeface="楷体_GB2312"/>
              </a:rPr>
              <a:t>：</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形成</a:t>
            </a:r>
            <a:r>
              <a:rPr lang="en-US" altLang="zh-CN" sz="2540" b="1">
                <a:latin typeface="Times New Roman" panose="02020603050405020304" pitchFamily="18" charset="0"/>
                <a:cs typeface="Times New Roman" panose="02020603050405020304" pitchFamily="18" charset="0"/>
              </a:rPr>
              <a:t>N</a:t>
            </a:r>
            <a:r>
              <a:rPr lang="en-US" altLang="zh-CN" sz="2540">
                <a:latin typeface="楷体_GB2312"/>
                <a:ea typeface="楷体_GB2312"/>
                <a:cs typeface="楷体_GB2312"/>
              </a:rPr>
              <a:t>个大分子所需的单体单元总数，即</a:t>
            </a:r>
          </a:p>
          <a:p>
            <a:pPr eaLnBrk="1" hangingPunct="1">
              <a:lnSpc>
                <a:spcPts val="2812"/>
              </a:lnSpc>
            </a:pPr>
            <a:r>
              <a:rPr lang="en-US" altLang="zh-CN" sz="1633"/>
              <a:t>		</a:t>
            </a:r>
            <a:r>
              <a:rPr lang="en-US" altLang="zh-CN" sz="2540">
                <a:latin typeface="楷体_GB2312"/>
                <a:ea typeface="楷体_GB2312"/>
                <a:cs typeface="楷体_GB2312"/>
              </a:rPr>
              <a:t>为参加反应的单体分子总数。</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633"/>
              </a:lnSpc>
            </a:pPr>
            <a:r>
              <a:rPr lang="en-US" altLang="zh-CN" sz="1633"/>
              <a:t>			</a:t>
            </a:r>
            <a:r>
              <a:rPr lang="en-US" altLang="zh-CN" sz="1089">
                <a:latin typeface="Times New Roman" panose="02020603050405020304" pitchFamily="18" charset="0"/>
                <a:cs typeface="Times New Roman" panose="02020603050405020304" pitchFamily="18" charset="0"/>
              </a:rPr>
              <a:t>105</a:t>
            </a:r>
          </a:p>
        </p:txBody>
      </p:sp>
      <p:sp>
        <p:nvSpPr>
          <p:cNvPr id="120841" name="TextBox 1"/>
          <p:cNvSpPr txBox="1">
            <a:spLocks noChangeArrowheads="1"/>
          </p:cNvSpPr>
          <p:nvPr/>
        </p:nvSpPr>
        <p:spPr bwMode="auto">
          <a:xfrm>
            <a:off x="2259540" y="1175225"/>
            <a:ext cx="7543732" cy="1099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101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01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01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01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01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1633"/>
              <a:t>	</a:t>
            </a:r>
            <a:r>
              <a:rPr lang="en-US" altLang="zh-CN" sz="2812">
                <a:latin typeface="楷体_GB2312"/>
                <a:ea typeface="楷体_GB2312"/>
                <a:cs typeface="楷体_GB2312"/>
              </a:rPr>
              <a:t>重量分布函数</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903"/>
              </a:lnSpc>
            </a:pPr>
            <a:r>
              <a:rPr lang="en-US" altLang="zh-CN" sz="2268">
                <a:latin typeface="楷体_GB2312"/>
                <a:ea typeface="楷体_GB2312"/>
                <a:cs typeface="楷体_GB2312"/>
              </a:rPr>
              <a:t>分子数目难以计数，数量分布函数常转换成重量分布函数。</a:t>
            </a:r>
          </a:p>
        </p:txBody>
      </p:sp>
      <p:sp>
        <p:nvSpPr>
          <p:cNvPr id="20" name="TextBox 1"/>
          <p:cNvSpPr txBox="1"/>
          <p:nvPr/>
        </p:nvSpPr>
        <p:spPr>
          <a:xfrm>
            <a:off x="8377141" y="2672941"/>
            <a:ext cx="604333" cy="881780"/>
          </a:xfrm>
          <a:prstGeom prst="rect">
            <a:avLst/>
          </a:prstGeom>
          <a:noFill/>
        </p:spPr>
        <p:txBody>
          <a:bodyPr wrap="none" lIns="0" tIns="0" rIns="0">
            <a:spAutoFit/>
          </a:bodyPr>
          <a:lstStyle/>
          <a:p>
            <a:pPr>
              <a:lnSpc>
                <a:spcPts val="2994"/>
              </a:lnSpc>
              <a:tabLst>
                <a:tab pos="218916" algn="l"/>
              </a:tabLst>
              <a:defRPr/>
            </a:pPr>
            <a:r>
              <a:rPr lang="en-US" altLang="zh-CN" sz="2842" b="1" i="1" dirty="0">
                <a:latin typeface="Times New Roman" pitchFamily="18" charset="0"/>
                <a:cs typeface="Times New Roman" pitchFamily="18" charset="0"/>
              </a:rPr>
              <a:t>N</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r>
              <a:rPr lang="en-US" altLang="zh-CN" sz="2842" b="1" i="1" dirty="0">
                <a:latin typeface="Times New Roman" pitchFamily="18" charset="0"/>
                <a:cs typeface="Times New Roman" pitchFamily="18" charset="0"/>
              </a:rPr>
              <a:t>x</a:t>
            </a:r>
          </a:p>
          <a:p>
            <a:pPr>
              <a:lnSpc>
                <a:spcPts val="907"/>
              </a:lnSpc>
              <a:defRPr/>
            </a:pPr>
            <a:endParaRPr lang="en-US" altLang="zh-CN" sz="1633" dirty="0"/>
          </a:p>
          <a:p>
            <a:pPr>
              <a:lnSpc>
                <a:spcPts val="2631"/>
              </a:lnSpc>
              <a:tabLst>
                <a:tab pos="218916" algn="l"/>
              </a:tabLst>
              <a:defRPr/>
            </a:pPr>
            <a:r>
              <a:rPr lang="en-US" altLang="zh-CN" sz="1633" dirty="0"/>
              <a:t>	</a:t>
            </a:r>
            <a:r>
              <a:rPr lang="en-US" altLang="zh-CN" sz="2842" b="1" i="1" dirty="0">
                <a:latin typeface="Times New Roman" pitchFamily="18" charset="0"/>
                <a:cs typeface="Times New Roman" pitchFamily="18" charset="0"/>
              </a:rPr>
              <a:t>n</a:t>
            </a:r>
          </a:p>
        </p:txBody>
      </p:sp>
      <p:sp>
        <p:nvSpPr>
          <p:cNvPr id="21" name="TextBox 1"/>
          <p:cNvSpPr txBox="1"/>
          <p:nvPr/>
        </p:nvSpPr>
        <p:spPr>
          <a:xfrm>
            <a:off x="2651251" y="2672941"/>
            <a:ext cx="429605" cy="881780"/>
          </a:xfrm>
          <a:prstGeom prst="rect">
            <a:avLst/>
          </a:prstGeom>
          <a:noFill/>
        </p:spPr>
        <p:txBody>
          <a:bodyPr wrap="none" lIns="0" tIns="0" rIns="0">
            <a:spAutoFit/>
          </a:bodyPr>
          <a:lstStyle/>
          <a:p>
            <a:pPr>
              <a:lnSpc>
                <a:spcPts val="2994"/>
              </a:lnSpc>
              <a:tabLst>
                <a:tab pos="57609" algn="l"/>
              </a:tabLst>
              <a:defRPr/>
            </a:pPr>
            <a:r>
              <a:rPr lang="en-US" altLang="zh-CN" sz="2842" b="1" i="1" dirty="0">
                <a:latin typeface="Times New Roman" pitchFamily="18" charset="0"/>
                <a:cs typeface="Times New Roman" pitchFamily="18" charset="0"/>
              </a:rPr>
              <a:t>W</a:t>
            </a:r>
            <a:r>
              <a:rPr lang="en-US" altLang="zh-CN" sz="1657" b="1" i="1" dirty="0">
                <a:latin typeface="Times New Roman" pitchFamily="18" charset="0"/>
                <a:cs typeface="Times New Roman" pitchFamily="18" charset="0"/>
              </a:rPr>
              <a:t>x</a:t>
            </a:r>
          </a:p>
          <a:p>
            <a:pPr>
              <a:lnSpc>
                <a:spcPts val="907"/>
              </a:lnSpc>
              <a:defRPr/>
            </a:pPr>
            <a:endParaRPr lang="en-US" altLang="zh-CN" sz="1633" dirty="0"/>
          </a:p>
          <a:p>
            <a:pPr>
              <a:lnSpc>
                <a:spcPts val="2631"/>
              </a:lnSpc>
              <a:tabLst>
                <a:tab pos="57609" algn="l"/>
              </a:tabLst>
              <a:defRPr/>
            </a:pPr>
            <a:r>
              <a:rPr lang="en-US" altLang="zh-CN" sz="1633" dirty="0"/>
              <a:t>	</a:t>
            </a:r>
            <a:r>
              <a:rPr lang="en-US" altLang="zh-CN" sz="2842" b="1" i="1" dirty="0">
                <a:latin typeface="Times New Roman" pitchFamily="18" charset="0"/>
                <a:cs typeface="Times New Roman" pitchFamily="18" charset="0"/>
              </a:rPr>
              <a:t>W</a:t>
            </a:r>
          </a:p>
        </p:txBody>
      </p:sp>
      <p:sp>
        <p:nvSpPr>
          <p:cNvPr id="22" name="TextBox 1"/>
          <p:cNvSpPr txBox="1"/>
          <p:nvPr/>
        </p:nvSpPr>
        <p:spPr>
          <a:xfrm>
            <a:off x="8043033" y="2776630"/>
            <a:ext cx="200376" cy="482183"/>
          </a:xfrm>
          <a:prstGeom prst="rect">
            <a:avLst/>
          </a:prstGeom>
          <a:noFill/>
        </p:spPr>
        <p:txBody>
          <a:bodyPr wrap="none" lIns="0" tIns="0" rIns="0">
            <a:spAutoFit/>
          </a:bodyPr>
          <a:lstStyle/>
          <a:p>
            <a:pPr>
              <a:lnSpc>
                <a:spcPts val="3447"/>
              </a:lnSpc>
              <a:defRPr/>
            </a:pPr>
            <a:r>
              <a:rPr lang="en-US" altLang="zh-CN" sz="2842" dirty="0">
                <a:latin typeface="Symbol" pitchFamily="18" charset="0"/>
                <a:cs typeface="Symbol" pitchFamily="18" charset="0"/>
              </a:rPr>
              <a:t>=</a:t>
            </a:r>
          </a:p>
        </p:txBody>
      </p:sp>
      <p:sp>
        <p:nvSpPr>
          <p:cNvPr id="23" name="TextBox 1"/>
          <p:cNvSpPr txBox="1"/>
          <p:nvPr/>
        </p:nvSpPr>
        <p:spPr>
          <a:xfrm>
            <a:off x="6441627" y="2776630"/>
            <a:ext cx="200376" cy="482183"/>
          </a:xfrm>
          <a:prstGeom prst="rect">
            <a:avLst/>
          </a:prstGeom>
          <a:noFill/>
        </p:spPr>
        <p:txBody>
          <a:bodyPr wrap="none" lIns="0" tIns="0" rIns="0">
            <a:spAutoFit/>
          </a:bodyPr>
          <a:lstStyle/>
          <a:p>
            <a:pPr>
              <a:lnSpc>
                <a:spcPts val="3447"/>
              </a:lnSpc>
              <a:defRPr/>
            </a:pPr>
            <a:r>
              <a:rPr lang="en-US" altLang="zh-CN" sz="2842" dirty="0">
                <a:latin typeface="Symbol" pitchFamily="18" charset="0"/>
                <a:cs typeface="Symbol" pitchFamily="18" charset="0"/>
              </a:rPr>
              <a:t>=</a:t>
            </a:r>
          </a:p>
        </p:txBody>
      </p:sp>
      <p:sp>
        <p:nvSpPr>
          <p:cNvPr id="24" name="TextBox 1"/>
          <p:cNvSpPr txBox="1"/>
          <p:nvPr/>
        </p:nvSpPr>
        <p:spPr>
          <a:xfrm>
            <a:off x="3261857" y="2776630"/>
            <a:ext cx="200376" cy="482183"/>
          </a:xfrm>
          <a:prstGeom prst="rect">
            <a:avLst/>
          </a:prstGeom>
          <a:noFill/>
        </p:spPr>
        <p:txBody>
          <a:bodyPr wrap="none" lIns="0" tIns="0" rIns="0">
            <a:spAutoFit/>
          </a:bodyPr>
          <a:lstStyle/>
          <a:p>
            <a:pPr>
              <a:lnSpc>
                <a:spcPts val="3447"/>
              </a:lnSpc>
              <a:defRPr/>
            </a:pPr>
            <a:r>
              <a:rPr lang="en-US" altLang="zh-CN" sz="2842" dirty="0">
                <a:latin typeface="Symbol" pitchFamily="18" charset="0"/>
                <a:cs typeface="Symbol" pitchFamily="18" charset="0"/>
              </a:rPr>
              <a:t>=</a:t>
            </a:r>
          </a:p>
        </p:txBody>
      </p:sp>
      <p:sp>
        <p:nvSpPr>
          <p:cNvPr id="25" name="TextBox 1"/>
          <p:cNvSpPr txBox="1"/>
          <p:nvPr/>
        </p:nvSpPr>
        <p:spPr>
          <a:xfrm>
            <a:off x="3679491" y="2672941"/>
            <a:ext cx="2675412" cy="1007968"/>
          </a:xfrm>
          <a:prstGeom prst="rect">
            <a:avLst/>
          </a:prstGeom>
          <a:noFill/>
        </p:spPr>
        <p:txBody>
          <a:bodyPr wrap="none" lIns="0" tIns="0" rIns="0">
            <a:spAutoFit/>
          </a:bodyPr>
          <a:lstStyle/>
          <a:p>
            <a:pPr>
              <a:lnSpc>
                <a:spcPts val="2994"/>
              </a:lnSpc>
              <a:tabLst>
                <a:tab pos="184349" algn="l"/>
              </a:tabLst>
              <a:defRPr/>
            </a:pPr>
            <a:r>
              <a:rPr lang="en-US" altLang="zh-CN" sz="1633" dirty="0"/>
              <a:t>	</a:t>
            </a:r>
            <a:r>
              <a:rPr lang="en-US" altLang="zh-CN" sz="2842" b="1" i="1" dirty="0">
                <a:latin typeface="Times New Roman" pitchFamily="18" charset="0"/>
                <a:cs typeface="Times New Roman" pitchFamily="18" charset="0"/>
              </a:rPr>
              <a:t>W</a:t>
            </a:r>
            <a:r>
              <a:rPr lang="en-US" altLang="zh-CN" sz="1657" b="1" i="1" dirty="0">
                <a:latin typeface="Times New Roman" pitchFamily="18" charset="0"/>
                <a:cs typeface="Times New Roman" pitchFamily="18" charset="0"/>
              </a:rPr>
              <a:t>x</a:t>
            </a:r>
            <a:r>
              <a:rPr lang="en-US" altLang="zh-CN" sz="2842" dirty="0">
                <a:latin typeface="Times New Roman" pitchFamily="18" charset="0"/>
                <a:cs typeface="Times New Roman" pitchFamily="18" charset="0"/>
              </a:rPr>
              <a:t>            </a:t>
            </a:r>
            <a:r>
              <a:rPr lang="en-US" altLang="zh-CN" sz="2842" b="1" i="1" dirty="0">
                <a:latin typeface="Times New Roman" pitchFamily="18" charset="0"/>
                <a:cs typeface="Times New Roman" pitchFamily="18" charset="0"/>
              </a:rPr>
              <a:t>N</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r>
              <a:rPr lang="en-US" altLang="zh-CN" sz="2842" b="1" i="1" dirty="0">
                <a:latin typeface="Times New Roman" pitchFamily="18" charset="0"/>
                <a:cs typeface="Times New Roman" pitchFamily="18" charset="0"/>
              </a:rPr>
              <a:t>M</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p>
          <a:p>
            <a:pPr>
              <a:lnSpc>
                <a:spcPts val="4536"/>
              </a:lnSpc>
              <a:tabLst>
                <a:tab pos="184349" algn="l"/>
              </a:tabLst>
              <a:defRPr/>
            </a:pPr>
            <a:r>
              <a:rPr lang="en-US" altLang="zh-CN" sz="4355" dirty="0">
                <a:latin typeface="楷体_GB2312"/>
                <a:ea typeface="楷体_GB2312"/>
                <a:cs typeface="楷体_GB2312"/>
                <a:sym typeface="Symbol"/>
              </a:rPr>
              <a:t></a:t>
            </a:r>
            <a:r>
              <a:rPr lang="en-US" altLang="zh-CN" sz="2842" b="1" i="1" dirty="0" err="1">
                <a:latin typeface="Times New Roman" pitchFamily="18" charset="0"/>
                <a:cs typeface="Times New Roman" pitchFamily="18" charset="0"/>
              </a:rPr>
              <a:t>W</a:t>
            </a:r>
            <a:r>
              <a:rPr lang="en-US" altLang="zh-CN" sz="1657" b="1" i="1" dirty="0" err="1">
                <a:latin typeface="Times New Roman" pitchFamily="18" charset="0"/>
                <a:cs typeface="Times New Roman" pitchFamily="18" charset="0"/>
              </a:rPr>
              <a:t>x</a:t>
            </a:r>
            <a:r>
              <a:rPr lang="en-US" altLang="zh-CN" sz="4263" dirty="0">
                <a:latin typeface="Times New Roman" pitchFamily="18" charset="0"/>
                <a:cs typeface="Times New Roman" pitchFamily="18" charset="0"/>
              </a:rPr>
              <a:t>     </a:t>
            </a:r>
            <a:r>
              <a:rPr lang="en-US" altLang="zh-CN" sz="4355" dirty="0">
                <a:latin typeface="楷体_GB2312"/>
                <a:ea typeface="楷体_GB2312"/>
                <a:cs typeface="楷体_GB2312"/>
                <a:sym typeface="Symbol"/>
              </a:rPr>
              <a:t></a:t>
            </a:r>
            <a:r>
              <a:rPr lang="en-US" altLang="zh-CN" sz="2842" b="1" i="1" dirty="0">
                <a:latin typeface="Times New Roman" pitchFamily="18" charset="0"/>
                <a:cs typeface="Times New Roman" pitchFamily="18" charset="0"/>
              </a:rPr>
              <a:t>N</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r>
              <a:rPr lang="en-US" altLang="zh-CN" sz="2842" b="1" i="1" dirty="0">
                <a:latin typeface="Times New Roman" pitchFamily="18" charset="0"/>
                <a:cs typeface="Times New Roman" pitchFamily="18" charset="0"/>
              </a:rPr>
              <a:t>M</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p>
        </p:txBody>
      </p:sp>
      <p:sp>
        <p:nvSpPr>
          <p:cNvPr id="26" name="TextBox 1"/>
          <p:cNvSpPr txBox="1"/>
          <p:nvPr/>
        </p:nvSpPr>
        <p:spPr>
          <a:xfrm>
            <a:off x="6775735" y="2672942"/>
            <a:ext cx="1033937" cy="943848"/>
          </a:xfrm>
          <a:prstGeom prst="rect">
            <a:avLst/>
          </a:prstGeom>
          <a:noFill/>
        </p:spPr>
        <p:txBody>
          <a:bodyPr wrap="none" lIns="0" tIns="0" rIns="0">
            <a:spAutoFit/>
          </a:bodyPr>
          <a:lstStyle/>
          <a:p>
            <a:pPr>
              <a:lnSpc>
                <a:spcPts val="2994"/>
              </a:lnSpc>
              <a:tabLst>
                <a:tab pos="218916" algn="l"/>
              </a:tabLst>
              <a:defRPr/>
            </a:pPr>
            <a:r>
              <a:rPr lang="en-US" altLang="zh-CN" sz="2842" b="1" i="1" dirty="0">
                <a:latin typeface="Times New Roman" pitchFamily="18" charset="0"/>
                <a:cs typeface="Times New Roman" pitchFamily="18" charset="0"/>
              </a:rPr>
              <a:t>N</a:t>
            </a:r>
            <a:r>
              <a:rPr lang="en-US" altLang="zh-CN" sz="1657" dirty="0">
                <a:latin typeface="Times New Roman" pitchFamily="18" charset="0"/>
                <a:cs typeface="Times New Roman" pitchFamily="18" charset="0"/>
              </a:rPr>
              <a:t> </a:t>
            </a:r>
            <a:r>
              <a:rPr lang="en-US" altLang="zh-CN" sz="1657" b="1" i="1" dirty="0">
                <a:latin typeface="Times New Roman" pitchFamily="18" charset="0"/>
                <a:cs typeface="Times New Roman" pitchFamily="18" charset="0"/>
              </a:rPr>
              <a:t>x</a:t>
            </a:r>
            <a:r>
              <a:rPr lang="en-US" altLang="zh-CN" sz="2842" b="1" i="1" dirty="0">
                <a:latin typeface="Times New Roman" pitchFamily="18" charset="0"/>
                <a:cs typeface="Times New Roman" pitchFamily="18" charset="0"/>
              </a:rPr>
              <a:t>M</a:t>
            </a:r>
            <a:r>
              <a:rPr lang="en-US" altLang="zh-CN" sz="1657" b="1" dirty="0">
                <a:latin typeface="Times New Roman" pitchFamily="18" charset="0"/>
                <a:cs typeface="Times New Roman" pitchFamily="18" charset="0"/>
              </a:rPr>
              <a:t>0</a:t>
            </a:r>
            <a:r>
              <a:rPr lang="en-US" altLang="zh-CN" sz="2842" b="1" i="1" dirty="0">
                <a:latin typeface="Times New Roman" pitchFamily="18" charset="0"/>
                <a:cs typeface="Times New Roman" pitchFamily="18" charset="0"/>
              </a:rPr>
              <a:t>x</a:t>
            </a:r>
          </a:p>
          <a:p>
            <a:pPr>
              <a:lnSpc>
                <a:spcPts val="907"/>
              </a:lnSpc>
              <a:defRPr/>
            </a:pPr>
            <a:endParaRPr lang="en-US" altLang="zh-CN" sz="1633" dirty="0"/>
          </a:p>
          <a:p>
            <a:pPr>
              <a:lnSpc>
                <a:spcPts val="3084"/>
              </a:lnSpc>
              <a:tabLst>
                <a:tab pos="218916" algn="l"/>
              </a:tabLst>
              <a:defRPr/>
            </a:pPr>
            <a:r>
              <a:rPr lang="en-US" altLang="zh-CN" sz="1633" dirty="0"/>
              <a:t>	</a:t>
            </a:r>
            <a:r>
              <a:rPr lang="en-US" altLang="zh-CN" sz="2842" b="1" i="1" dirty="0">
                <a:latin typeface="Times New Roman" pitchFamily="18" charset="0"/>
                <a:cs typeface="Times New Roman" pitchFamily="18" charset="0"/>
              </a:rPr>
              <a:t>nM</a:t>
            </a:r>
            <a:r>
              <a:rPr lang="en-US" altLang="zh-CN" sz="1657" b="1" dirty="0">
                <a:latin typeface="Times New Roman" pitchFamily="18" charset="0"/>
                <a:cs typeface="Times New Roman" pitchFamily="18" charset="0"/>
              </a:rPr>
              <a:t>0</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4209453" y="3139540"/>
            <a:ext cx="646611" cy="27363"/>
          </a:xfrm>
          <a:custGeom>
            <a:avLst/>
            <a:gdLst>
              <a:gd name="connsiteX0" fmla="*/ 7327 w 713418"/>
              <a:gd name="connsiteY0" fmla="*/ 7327 h 29308"/>
              <a:gd name="connsiteX1" fmla="*/ 706091 w 713418"/>
              <a:gd name="connsiteY1" fmla="*/ 7327 h 29308"/>
            </a:gdLst>
            <a:ahLst/>
            <a:cxnLst>
              <a:cxn ang="0">
                <a:pos x="connsiteX0" y="connsiteY0"/>
              </a:cxn>
              <a:cxn ang="1">
                <a:pos x="connsiteX1" y="connsiteY1"/>
              </a:cxn>
            </a:cxnLst>
            <a:rect l="l" t="t" r="r" b="b"/>
            <a:pathLst>
              <a:path w="713418" h="29308">
                <a:moveTo>
                  <a:pt x="7327" y="7327"/>
                </a:moveTo>
                <a:lnTo>
                  <a:pt x="706091" y="732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6149284" y="3191382"/>
            <a:ext cx="545803" cy="28802"/>
          </a:xfrm>
          <a:custGeom>
            <a:avLst/>
            <a:gdLst>
              <a:gd name="connsiteX0" fmla="*/ 7837 w 600895"/>
              <a:gd name="connsiteY0" fmla="*/ 7837 h 31350"/>
              <a:gd name="connsiteX1" fmla="*/ 593057 w 600895"/>
              <a:gd name="connsiteY1" fmla="*/ 7837 h 31350"/>
            </a:gdLst>
            <a:ahLst/>
            <a:cxnLst>
              <a:cxn ang="0">
                <a:pos x="connsiteX0" y="connsiteY0"/>
              </a:cxn>
              <a:cxn ang="1">
                <a:pos x="connsiteX1" y="connsiteY1"/>
              </a:cxn>
            </a:cxnLst>
            <a:rect l="l" t="t" r="r" b="b"/>
            <a:pathLst>
              <a:path w="600895" h="31350">
                <a:moveTo>
                  <a:pt x="7837" y="7837"/>
                </a:moveTo>
                <a:lnTo>
                  <a:pt x="593057" y="783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3077522" y="4304592"/>
            <a:ext cx="514121" cy="30242"/>
          </a:xfrm>
          <a:custGeom>
            <a:avLst/>
            <a:gdLst>
              <a:gd name="connsiteX0" fmla="*/ 8327 w 566823"/>
              <a:gd name="connsiteY0" fmla="*/ 8327 h 33311"/>
              <a:gd name="connsiteX1" fmla="*/ 558496 w 566823"/>
              <a:gd name="connsiteY1" fmla="*/ 8327 h 33311"/>
            </a:gdLst>
            <a:ahLst/>
            <a:cxnLst>
              <a:cxn ang="0">
                <a:pos x="connsiteX0" y="connsiteY0"/>
              </a:cxn>
              <a:cxn ang="1">
                <a:pos x="connsiteX1" y="connsiteY1"/>
              </a:cxn>
            </a:cxnLst>
            <a:rect l="l" t="t" r="r" b="b"/>
            <a:pathLst>
              <a:path w="566823" h="33311">
                <a:moveTo>
                  <a:pt x="8327" y="8327"/>
                </a:moveTo>
                <a:lnTo>
                  <a:pt x="558496" y="832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5" name="Freeform 3"/>
          <p:cNvSpPr/>
          <p:nvPr/>
        </p:nvSpPr>
        <p:spPr>
          <a:xfrm>
            <a:off x="3955994" y="4304592"/>
            <a:ext cx="735898" cy="30242"/>
          </a:xfrm>
          <a:custGeom>
            <a:avLst/>
            <a:gdLst>
              <a:gd name="connsiteX0" fmla="*/ 8327 w 812185"/>
              <a:gd name="connsiteY0" fmla="*/ 8327 h 33311"/>
              <a:gd name="connsiteX1" fmla="*/ 803857 w 812185"/>
              <a:gd name="connsiteY1" fmla="*/ 8327 h 33311"/>
            </a:gdLst>
            <a:ahLst/>
            <a:cxnLst>
              <a:cxn ang="0">
                <a:pos x="connsiteX0" y="connsiteY0"/>
              </a:cxn>
              <a:cxn ang="1">
                <a:pos x="connsiteX1" y="connsiteY1"/>
              </a:cxn>
            </a:cxnLst>
            <a:rect l="l" t="t" r="r" b="b"/>
            <a:pathLst>
              <a:path w="812185" h="33311">
                <a:moveTo>
                  <a:pt x="8327" y="8327"/>
                </a:moveTo>
                <a:lnTo>
                  <a:pt x="803857" y="832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6" name="Freeform 3"/>
          <p:cNvSpPr/>
          <p:nvPr/>
        </p:nvSpPr>
        <p:spPr>
          <a:xfrm>
            <a:off x="5054800" y="4304592"/>
            <a:ext cx="1679172" cy="30242"/>
          </a:xfrm>
          <a:custGeom>
            <a:avLst/>
            <a:gdLst>
              <a:gd name="connsiteX0" fmla="*/ 8327 w 1850034"/>
              <a:gd name="connsiteY0" fmla="*/ 8327 h 33311"/>
              <a:gd name="connsiteX1" fmla="*/ 1841706 w 1850034"/>
              <a:gd name="connsiteY1" fmla="*/ 8327 h 33311"/>
            </a:gdLst>
            <a:ahLst/>
            <a:cxnLst>
              <a:cxn ang="0">
                <a:pos x="connsiteX0" y="connsiteY0"/>
              </a:cxn>
              <a:cxn ang="1">
                <a:pos x="connsiteX1" y="connsiteY1"/>
              </a:cxn>
            </a:cxnLst>
            <a:rect l="l" t="t" r="r" b="b"/>
            <a:pathLst>
              <a:path w="1850034" h="33311">
                <a:moveTo>
                  <a:pt x="8327" y="8327"/>
                </a:moveTo>
                <a:lnTo>
                  <a:pt x="1841706" y="832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7096881" y="4304592"/>
            <a:ext cx="537162" cy="30242"/>
          </a:xfrm>
          <a:custGeom>
            <a:avLst/>
            <a:gdLst>
              <a:gd name="connsiteX0" fmla="*/ 8327 w 591965"/>
              <a:gd name="connsiteY0" fmla="*/ 8327 h 33311"/>
              <a:gd name="connsiteX1" fmla="*/ 583637 w 591965"/>
              <a:gd name="connsiteY1" fmla="*/ 8327 h 33311"/>
            </a:gdLst>
            <a:ahLst/>
            <a:cxnLst>
              <a:cxn ang="0">
                <a:pos x="connsiteX0" y="connsiteY0"/>
              </a:cxn>
              <a:cxn ang="1">
                <a:pos x="connsiteX1" y="connsiteY1"/>
              </a:cxn>
            </a:cxnLst>
            <a:rect l="l" t="t" r="r" b="b"/>
            <a:pathLst>
              <a:path w="591965" h="33311">
                <a:moveTo>
                  <a:pt x="8327" y="8327"/>
                </a:moveTo>
                <a:lnTo>
                  <a:pt x="583637" y="8327"/>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2392028" y="5471083"/>
            <a:ext cx="433475" cy="24481"/>
          </a:xfrm>
          <a:custGeom>
            <a:avLst/>
            <a:gdLst>
              <a:gd name="connsiteX0" fmla="*/ 6921 w 477901"/>
              <a:gd name="connsiteY0" fmla="*/ 6921 h 27686"/>
              <a:gd name="connsiteX1" fmla="*/ 470979 w 477901"/>
              <a:gd name="connsiteY1" fmla="*/ 6921 h 27686"/>
            </a:gdLst>
            <a:ahLst/>
            <a:cxnLst>
              <a:cxn ang="0">
                <a:pos x="connsiteX0" y="connsiteY0"/>
              </a:cxn>
              <a:cxn ang="1">
                <a:pos x="connsiteX1" y="connsiteY1"/>
              </a:cxn>
            </a:cxnLst>
            <a:rect l="l" t="t" r="r" b="b"/>
            <a:pathLst>
              <a:path w="477901" h="27686">
                <a:moveTo>
                  <a:pt x="6921" y="6921"/>
                </a:moveTo>
                <a:lnTo>
                  <a:pt x="470979" y="6921"/>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4723572" y="944807"/>
            <a:ext cx="718616" cy="66245"/>
          </a:xfrm>
          <a:custGeom>
            <a:avLst/>
            <a:gdLst>
              <a:gd name="connsiteX0" fmla="*/ 593597 w 791717"/>
              <a:gd name="connsiteY0" fmla="*/ 0 h 73152"/>
              <a:gd name="connsiteX1" fmla="*/ 593597 w 791717"/>
              <a:gd name="connsiteY1" fmla="*/ 18288 h 73152"/>
              <a:gd name="connsiteX2" fmla="*/ 0 w 791717"/>
              <a:gd name="connsiteY2" fmla="*/ 18288 h 73152"/>
              <a:gd name="connsiteX3" fmla="*/ 0 w 791717"/>
              <a:gd name="connsiteY3" fmla="*/ 54863 h 73152"/>
              <a:gd name="connsiteX4" fmla="*/ 593597 w 791717"/>
              <a:gd name="connsiteY4" fmla="*/ 54863 h 73152"/>
              <a:gd name="connsiteX5" fmla="*/ 593597 w 791717"/>
              <a:gd name="connsiteY5" fmla="*/ 73152 h 73152"/>
              <a:gd name="connsiteX6" fmla="*/ 791717 w 791717"/>
              <a:gd name="connsiteY6" fmla="*/ 36575 h 73152"/>
              <a:gd name="connsiteX7" fmla="*/ 593597 w 791717"/>
              <a:gd name="connsiteY7" fmla="*/ 0 h 73152"/>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791717" h="73152">
                <a:moveTo>
                  <a:pt x="593597" y="0"/>
                </a:moveTo>
                <a:lnTo>
                  <a:pt x="593597" y="18288"/>
                </a:lnTo>
                <a:lnTo>
                  <a:pt x="0" y="18288"/>
                </a:lnTo>
                <a:lnTo>
                  <a:pt x="0" y="54863"/>
                </a:lnTo>
                <a:lnTo>
                  <a:pt x="593597" y="54863"/>
                </a:lnTo>
                <a:lnTo>
                  <a:pt x="593597" y="73152"/>
                </a:lnTo>
                <a:lnTo>
                  <a:pt x="791717" y="36575"/>
                </a:lnTo>
                <a:lnTo>
                  <a:pt x="593597" y="0"/>
                </a:lnTo>
              </a:path>
            </a:pathLst>
          </a:custGeom>
          <a:solidFill>
            <a:srgbClr val="3399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0" name="Freeform 3"/>
          <p:cNvSpPr/>
          <p:nvPr/>
        </p:nvSpPr>
        <p:spPr>
          <a:xfrm>
            <a:off x="4717812" y="939047"/>
            <a:ext cx="730137" cy="77766"/>
          </a:xfrm>
          <a:custGeom>
            <a:avLst/>
            <a:gdLst>
              <a:gd name="connsiteX0" fmla="*/ 599947 w 804417"/>
              <a:gd name="connsiteY0" fmla="*/ 6350 h 85852"/>
              <a:gd name="connsiteX1" fmla="*/ 599947 w 804417"/>
              <a:gd name="connsiteY1" fmla="*/ 24638 h 85852"/>
              <a:gd name="connsiteX2" fmla="*/ 6350 w 804417"/>
              <a:gd name="connsiteY2" fmla="*/ 24638 h 85852"/>
              <a:gd name="connsiteX3" fmla="*/ 6350 w 804417"/>
              <a:gd name="connsiteY3" fmla="*/ 61213 h 85852"/>
              <a:gd name="connsiteX4" fmla="*/ 599947 w 804417"/>
              <a:gd name="connsiteY4" fmla="*/ 61213 h 85852"/>
              <a:gd name="connsiteX5" fmla="*/ 599947 w 804417"/>
              <a:gd name="connsiteY5" fmla="*/ 79502 h 85852"/>
              <a:gd name="connsiteX6" fmla="*/ 798067 w 804417"/>
              <a:gd name="connsiteY6" fmla="*/ 42925 h 85852"/>
              <a:gd name="connsiteX7" fmla="*/ 599947 w 804417"/>
              <a:gd name="connsiteY7" fmla="*/ 6350 h 85852"/>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804417" h="85852">
                <a:moveTo>
                  <a:pt x="599947" y="6350"/>
                </a:moveTo>
                <a:lnTo>
                  <a:pt x="599947" y="24638"/>
                </a:lnTo>
                <a:lnTo>
                  <a:pt x="6350" y="24638"/>
                </a:lnTo>
                <a:lnTo>
                  <a:pt x="6350" y="61213"/>
                </a:lnTo>
                <a:lnTo>
                  <a:pt x="599947" y="61213"/>
                </a:lnTo>
                <a:lnTo>
                  <a:pt x="599947" y="79502"/>
                </a:lnTo>
                <a:lnTo>
                  <a:pt x="798067" y="42925"/>
                </a:lnTo>
                <a:lnTo>
                  <a:pt x="599947" y="6350"/>
                </a:lnTo>
              </a:path>
            </a:pathLst>
          </a:custGeom>
          <a:solidFill>
            <a:srgbClr val="000000">
              <a:alpha val="0"/>
            </a:srgbClr>
          </a:solidFill>
          <a:ln w="12700">
            <a:solidFill>
              <a:srgbClr val="FFFFFF">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1" name="Freeform 3"/>
          <p:cNvSpPr/>
          <p:nvPr/>
        </p:nvSpPr>
        <p:spPr>
          <a:xfrm>
            <a:off x="4920867" y="5452362"/>
            <a:ext cx="783422" cy="131051"/>
          </a:xfrm>
          <a:custGeom>
            <a:avLst/>
            <a:gdLst>
              <a:gd name="connsiteX0" fmla="*/ 647700 w 863346"/>
              <a:gd name="connsiteY0" fmla="*/ 0 h 144780"/>
              <a:gd name="connsiteX1" fmla="*/ 647700 w 863346"/>
              <a:gd name="connsiteY1" fmla="*/ 36576 h 144780"/>
              <a:gd name="connsiteX2" fmla="*/ 0 w 863346"/>
              <a:gd name="connsiteY2" fmla="*/ 36576 h 144780"/>
              <a:gd name="connsiteX3" fmla="*/ 0 w 863346"/>
              <a:gd name="connsiteY3" fmla="*/ 108203 h 144780"/>
              <a:gd name="connsiteX4" fmla="*/ 647700 w 863346"/>
              <a:gd name="connsiteY4" fmla="*/ 108203 h 144780"/>
              <a:gd name="connsiteX5" fmla="*/ 647700 w 863346"/>
              <a:gd name="connsiteY5" fmla="*/ 144779 h 144780"/>
              <a:gd name="connsiteX6" fmla="*/ 863346 w 863346"/>
              <a:gd name="connsiteY6" fmla="*/ 72390 h 144780"/>
              <a:gd name="connsiteX7" fmla="*/ 647700 w 863346"/>
              <a:gd name="connsiteY7" fmla="*/ 0 h 1447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863346" h="144780">
                <a:moveTo>
                  <a:pt x="647700" y="0"/>
                </a:moveTo>
                <a:lnTo>
                  <a:pt x="647700" y="36576"/>
                </a:lnTo>
                <a:lnTo>
                  <a:pt x="0" y="36576"/>
                </a:lnTo>
                <a:lnTo>
                  <a:pt x="0" y="108203"/>
                </a:lnTo>
                <a:lnTo>
                  <a:pt x="647700" y="108203"/>
                </a:lnTo>
                <a:lnTo>
                  <a:pt x="647700" y="144779"/>
                </a:lnTo>
                <a:lnTo>
                  <a:pt x="863346" y="72390"/>
                </a:lnTo>
                <a:lnTo>
                  <a:pt x="647700" y="0"/>
                </a:lnTo>
              </a:path>
            </a:pathLst>
          </a:custGeom>
          <a:solidFill>
            <a:srgbClr val="3399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2" name="Freeform 3"/>
          <p:cNvSpPr/>
          <p:nvPr/>
        </p:nvSpPr>
        <p:spPr>
          <a:xfrm>
            <a:off x="4915107" y="5446601"/>
            <a:ext cx="794943" cy="142572"/>
          </a:xfrm>
          <a:custGeom>
            <a:avLst/>
            <a:gdLst>
              <a:gd name="connsiteX0" fmla="*/ 654050 w 876046"/>
              <a:gd name="connsiteY0" fmla="*/ 6350 h 157480"/>
              <a:gd name="connsiteX1" fmla="*/ 654050 w 876046"/>
              <a:gd name="connsiteY1" fmla="*/ 42926 h 157480"/>
              <a:gd name="connsiteX2" fmla="*/ 6350 w 876046"/>
              <a:gd name="connsiteY2" fmla="*/ 42926 h 157480"/>
              <a:gd name="connsiteX3" fmla="*/ 6350 w 876046"/>
              <a:gd name="connsiteY3" fmla="*/ 114553 h 157480"/>
              <a:gd name="connsiteX4" fmla="*/ 654050 w 876046"/>
              <a:gd name="connsiteY4" fmla="*/ 114553 h 157480"/>
              <a:gd name="connsiteX5" fmla="*/ 654050 w 876046"/>
              <a:gd name="connsiteY5" fmla="*/ 151129 h 157480"/>
              <a:gd name="connsiteX6" fmla="*/ 869696 w 876046"/>
              <a:gd name="connsiteY6" fmla="*/ 78740 h 157480"/>
              <a:gd name="connsiteX7" fmla="*/ 654050 w 876046"/>
              <a:gd name="connsiteY7" fmla="*/ 6350 h 157480"/>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Lst>
            <a:rect l="l" t="t" r="r" b="b"/>
            <a:pathLst>
              <a:path w="876046" h="157480">
                <a:moveTo>
                  <a:pt x="654050" y="6350"/>
                </a:moveTo>
                <a:lnTo>
                  <a:pt x="654050" y="42926"/>
                </a:lnTo>
                <a:lnTo>
                  <a:pt x="6350" y="42926"/>
                </a:lnTo>
                <a:lnTo>
                  <a:pt x="6350" y="114553"/>
                </a:lnTo>
                <a:lnTo>
                  <a:pt x="654050" y="114553"/>
                </a:lnTo>
                <a:lnTo>
                  <a:pt x="654050" y="151129"/>
                </a:lnTo>
                <a:lnTo>
                  <a:pt x="869696" y="78740"/>
                </a:lnTo>
                <a:lnTo>
                  <a:pt x="654050" y="6350"/>
                </a:lnTo>
              </a:path>
            </a:pathLst>
          </a:custGeom>
          <a:solidFill>
            <a:srgbClr val="000000">
              <a:alpha val="0"/>
            </a:srgbClr>
          </a:solidFill>
          <a:ln w="12700">
            <a:solidFill>
              <a:srgbClr val="FFFFFF">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2" name="TextBox 1"/>
          <p:cNvSpPr txBox="1"/>
          <p:nvPr/>
        </p:nvSpPr>
        <p:spPr>
          <a:xfrm>
            <a:off x="3722695" y="2891840"/>
            <a:ext cx="365485" cy="443711"/>
          </a:xfrm>
          <a:prstGeom prst="rect">
            <a:avLst/>
          </a:prstGeom>
          <a:noFill/>
        </p:spPr>
        <p:txBody>
          <a:bodyPr wrap="none" lIns="0" tIns="0" rIns="0">
            <a:spAutoFit/>
          </a:bodyPr>
          <a:lstStyle/>
          <a:p>
            <a:pPr>
              <a:lnSpc>
                <a:spcPts val="3084"/>
              </a:lnSpc>
              <a:defRPr/>
            </a:pPr>
            <a:r>
              <a:rPr lang="en-US" altLang="zh-CN" sz="2585" b="1" i="1" dirty="0">
                <a:latin typeface="Times New Roman" pitchFamily="18" charset="0"/>
                <a:cs typeface="Times New Roman" pitchFamily="18" charset="0"/>
              </a:rPr>
              <a:t>n</a:t>
            </a:r>
            <a:r>
              <a:rPr lang="en-US" altLang="zh-CN" sz="2585" dirty="0">
                <a:latin typeface="Symbol" pitchFamily="18" charset="0"/>
                <a:cs typeface="Symbol" pitchFamily="18" charset="0"/>
              </a:rPr>
              <a:t>=</a:t>
            </a:r>
          </a:p>
        </p:txBody>
      </p:sp>
      <p:sp>
        <p:nvSpPr>
          <p:cNvPr id="24" name="TextBox 1"/>
          <p:cNvSpPr txBox="1"/>
          <p:nvPr/>
        </p:nvSpPr>
        <p:spPr>
          <a:xfrm>
            <a:off x="4206574" y="2788151"/>
            <a:ext cx="594715" cy="763863"/>
          </a:xfrm>
          <a:prstGeom prst="rect">
            <a:avLst/>
          </a:prstGeom>
          <a:noFill/>
        </p:spPr>
        <p:txBody>
          <a:bodyPr wrap="none" lIns="0" tIns="0" rIns="0">
            <a:spAutoFit/>
          </a:bodyPr>
          <a:lstStyle/>
          <a:p>
            <a:pPr>
              <a:lnSpc>
                <a:spcPts val="2268"/>
              </a:lnSpc>
              <a:tabLst>
                <a:tab pos="207393" algn="l"/>
              </a:tabLst>
              <a:defRPr/>
            </a:pPr>
            <a:r>
              <a:rPr lang="en-US" altLang="zh-CN" sz="1633" dirty="0"/>
              <a:t>	</a:t>
            </a:r>
            <a:r>
              <a:rPr lang="en-US" altLang="zh-CN" sz="2585" b="1" i="1" dirty="0">
                <a:latin typeface="Times New Roman" pitchFamily="18" charset="0"/>
                <a:cs typeface="Times New Roman" pitchFamily="18" charset="0"/>
              </a:rPr>
              <a:t>N</a:t>
            </a:r>
          </a:p>
          <a:p>
            <a:pPr>
              <a:lnSpc>
                <a:spcPts val="3629"/>
              </a:lnSpc>
              <a:tabLst>
                <a:tab pos="207393" algn="l"/>
              </a:tabLst>
              <a:defRPr/>
            </a:pPr>
            <a:r>
              <a:rPr lang="en-US" altLang="zh-CN" sz="2585" b="1" dirty="0">
                <a:latin typeface="Times New Roman" pitchFamily="18" charset="0"/>
                <a:cs typeface="Times New Roman" pitchFamily="18" charset="0"/>
              </a:rPr>
              <a:t>1</a:t>
            </a:r>
            <a:r>
              <a:rPr lang="en-US" altLang="zh-CN" sz="2585" dirty="0">
                <a:latin typeface="Symbol" pitchFamily="18" charset="0"/>
                <a:cs typeface="Symbol" pitchFamily="18" charset="0"/>
              </a:rPr>
              <a:t>-</a:t>
            </a:r>
            <a:r>
              <a:rPr lang="en-US" altLang="zh-CN" sz="2585" dirty="0">
                <a:latin typeface="Times New Roman" pitchFamily="18" charset="0"/>
                <a:cs typeface="Times New Roman" pitchFamily="18" charset="0"/>
              </a:rPr>
              <a:t> </a:t>
            </a:r>
            <a:r>
              <a:rPr lang="en-US" altLang="zh-CN" sz="2585" b="1" i="1" dirty="0">
                <a:latin typeface="Times New Roman" pitchFamily="18" charset="0"/>
                <a:cs typeface="Times New Roman" pitchFamily="18" charset="0"/>
              </a:rPr>
              <a:t>p</a:t>
            </a:r>
          </a:p>
        </p:txBody>
      </p:sp>
      <p:sp>
        <p:nvSpPr>
          <p:cNvPr id="25" name="TextBox 1"/>
          <p:cNvSpPr txBox="1"/>
          <p:nvPr/>
        </p:nvSpPr>
        <p:spPr>
          <a:xfrm>
            <a:off x="6199688" y="2857276"/>
            <a:ext cx="419987" cy="753220"/>
          </a:xfrm>
          <a:prstGeom prst="rect">
            <a:avLst/>
          </a:prstGeom>
          <a:noFill/>
        </p:spPr>
        <p:txBody>
          <a:bodyPr wrap="none" lIns="0" tIns="0" rIns="0">
            <a:spAutoFit/>
          </a:bodyPr>
          <a:lstStyle/>
          <a:p>
            <a:pPr>
              <a:lnSpc>
                <a:spcPts val="2631"/>
              </a:lnSpc>
              <a:tabLst>
                <a:tab pos="80654" algn="l"/>
              </a:tabLst>
              <a:defRPr/>
            </a:pPr>
            <a:r>
              <a:rPr lang="en-US" altLang="zh-CN" sz="2511" b="1" i="1" dirty="0">
                <a:latin typeface="Times New Roman" pitchFamily="18" charset="0"/>
                <a:cs typeface="Times New Roman" pitchFamily="18" charset="0"/>
              </a:rPr>
              <a:t>N</a:t>
            </a:r>
            <a:r>
              <a:rPr lang="en-US" altLang="zh-CN" sz="1464" dirty="0">
                <a:latin typeface="Times New Roman" pitchFamily="18" charset="0"/>
                <a:cs typeface="Times New Roman" pitchFamily="18" charset="0"/>
              </a:rPr>
              <a:t>  </a:t>
            </a:r>
            <a:r>
              <a:rPr lang="en-US" altLang="zh-CN" sz="1464" b="1" i="1" dirty="0">
                <a:latin typeface="Times New Roman" pitchFamily="18" charset="0"/>
                <a:cs typeface="Times New Roman" pitchFamily="18" charset="0"/>
              </a:rPr>
              <a:t>x</a:t>
            </a:r>
          </a:p>
          <a:p>
            <a:pPr>
              <a:lnSpc>
                <a:spcPts val="3084"/>
              </a:lnSpc>
              <a:tabLst>
                <a:tab pos="80654" algn="l"/>
              </a:tabLst>
              <a:defRPr/>
            </a:pPr>
            <a:r>
              <a:rPr lang="en-US" altLang="zh-CN" sz="1633" dirty="0"/>
              <a:t>	</a:t>
            </a:r>
            <a:r>
              <a:rPr lang="en-US" altLang="zh-CN" sz="2511" b="1" i="1" dirty="0">
                <a:latin typeface="Times New Roman" pitchFamily="18" charset="0"/>
                <a:cs typeface="Times New Roman" pitchFamily="18" charset="0"/>
              </a:rPr>
              <a:t>N</a:t>
            </a:r>
          </a:p>
        </p:txBody>
      </p:sp>
      <p:sp>
        <p:nvSpPr>
          <p:cNvPr id="26" name="TextBox 1"/>
          <p:cNvSpPr txBox="1"/>
          <p:nvPr/>
        </p:nvSpPr>
        <p:spPr>
          <a:xfrm>
            <a:off x="6775735" y="2937923"/>
            <a:ext cx="1787349" cy="418576"/>
          </a:xfrm>
          <a:prstGeom prst="rect">
            <a:avLst/>
          </a:prstGeom>
          <a:noFill/>
        </p:spPr>
        <p:txBody>
          <a:bodyPr wrap="none" lIns="0" tIns="0" rIns="0">
            <a:spAutoFit/>
          </a:bodyPr>
          <a:lstStyle/>
          <a:p>
            <a:pPr>
              <a:lnSpc>
                <a:spcPts val="3084"/>
              </a:lnSpc>
              <a:defRPr/>
            </a:pPr>
            <a:r>
              <a:rPr lang="en-US" altLang="zh-CN" sz="2511" dirty="0">
                <a:latin typeface="Symbol" pitchFamily="18" charset="0"/>
                <a:cs typeface="Symbol" pitchFamily="18" charset="0"/>
              </a:rPr>
              <a:t>=</a:t>
            </a:r>
            <a:r>
              <a:rPr lang="en-US" altLang="zh-CN" sz="2511" dirty="0">
                <a:latin typeface="Times New Roman" pitchFamily="18" charset="0"/>
                <a:cs typeface="Times New Roman" pitchFamily="18" charset="0"/>
              </a:rPr>
              <a:t>  </a:t>
            </a:r>
            <a:r>
              <a:rPr lang="en-US" altLang="zh-CN" sz="2511" b="1" i="1" dirty="0">
                <a:latin typeface="Times New Roman" pitchFamily="18" charset="0"/>
                <a:cs typeface="Times New Roman" pitchFamily="18" charset="0"/>
              </a:rPr>
              <a:t>p</a:t>
            </a:r>
            <a:r>
              <a:rPr lang="en-US" altLang="zh-CN" sz="1464" dirty="0">
                <a:latin typeface="Times New Roman" pitchFamily="18" charset="0"/>
                <a:cs typeface="Times New Roman" pitchFamily="18" charset="0"/>
              </a:rPr>
              <a:t> </a:t>
            </a:r>
            <a:r>
              <a:rPr lang="en-US" altLang="zh-CN" sz="1464" b="1" i="1" dirty="0">
                <a:latin typeface="Times New Roman" pitchFamily="18" charset="0"/>
                <a:cs typeface="Times New Roman" pitchFamily="18" charset="0"/>
              </a:rPr>
              <a:t>x</a:t>
            </a:r>
            <a:r>
              <a:rPr lang="en-US" altLang="zh-CN" sz="1464" dirty="0">
                <a:latin typeface="Symbol" pitchFamily="18" charset="0"/>
                <a:cs typeface="Symbol" pitchFamily="18" charset="0"/>
              </a:rPr>
              <a:t>-</a:t>
            </a:r>
            <a:r>
              <a:rPr lang="en-US" altLang="zh-CN" sz="1464" b="1" dirty="0">
                <a:latin typeface="Times New Roman" pitchFamily="18" charset="0"/>
                <a:cs typeface="Times New Roman" pitchFamily="18" charset="0"/>
              </a:rPr>
              <a:t>1</a:t>
            </a:r>
            <a:r>
              <a:rPr lang="en-US" altLang="zh-CN" sz="2511" b="1" dirty="0">
                <a:latin typeface="Times New Roman" pitchFamily="18" charset="0"/>
                <a:cs typeface="Times New Roman" pitchFamily="18" charset="0"/>
              </a:rPr>
              <a:t>(1</a:t>
            </a:r>
            <a:r>
              <a:rPr lang="en-US" altLang="zh-CN" sz="2511" dirty="0">
                <a:latin typeface="Times New Roman" pitchFamily="18" charset="0"/>
                <a:cs typeface="Times New Roman" pitchFamily="18" charset="0"/>
              </a:rPr>
              <a:t> </a:t>
            </a:r>
            <a:r>
              <a:rPr lang="en-US" altLang="zh-CN" sz="2511" dirty="0">
                <a:latin typeface="Symbol" pitchFamily="18" charset="0"/>
                <a:cs typeface="Symbol" pitchFamily="18" charset="0"/>
              </a:rPr>
              <a:t>-</a:t>
            </a:r>
            <a:r>
              <a:rPr lang="en-US" altLang="zh-CN" sz="2511" dirty="0">
                <a:latin typeface="Times New Roman" pitchFamily="18" charset="0"/>
                <a:cs typeface="Times New Roman" pitchFamily="18" charset="0"/>
              </a:rPr>
              <a:t>  </a:t>
            </a:r>
            <a:r>
              <a:rPr lang="en-US" altLang="zh-CN" sz="2511" b="1" i="1" dirty="0">
                <a:latin typeface="Times New Roman" pitchFamily="18" charset="0"/>
                <a:cs typeface="Times New Roman" pitchFamily="18" charset="0"/>
              </a:rPr>
              <a:t>p</a:t>
            </a:r>
            <a:r>
              <a:rPr lang="en-US" altLang="zh-CN" sz="2511" b="1" dirty="0">
                <a:latin typeface="Times New Roman" pitchFamily="18" charset="0"/>
                <a:cs typeface="Times New Roman" pitchFamily="18" charset="0"/>
              </a:rPr>
              <a:t>)</a:t>
            </a:r>
          </a:p>
        </p:txBody>
      </p:sp>
      <p:sp>
        <p:nvSpPr>
          <p:cNvPr id="27" name="TextBox 1"/>
          <p:cNvSpPr txBox="1"/>
          <p:nvPr/>
        </p:nvSpPr>
        <p:spPr>
          <a:xfrm>
            <a:off x="7144404" y="3917201"/>
            <a:ext cx="378309" cy="906210"/>
          </a:xfrm>
          <a:prstGeom prst="rect">
            <a:avLst/>
          </a:prstGeom>
          <a:noFill/>
        </p:spPr>
        <p:txBody>
          <a:bodyPr wrap="none" lIns="0" tIns="0" rIns="0">
            <a:spAutoFit/>
          </a:bodyPr>
          <a:lstStyle/>
          <a:p>
            <a:pPr>
              <a:lnSpc>
                <a:spcPts val="3084"/>
              </a:lnSpc>
              <a:tabLst>
                <a:tab pos="80654" algn="l"/>
              </a:tabLst>
              <a:defRPr/>
            </a:pPr>
            <a:r>
              <a:rPr lang="en-US" altLang="zh-CN" sz="2909" b="1" i="1" dirty="0">
                <a:latin typeface="Times New Roman" pitchFamily="18" charset="0"/>
                <a:cs typeface="Times New Roman" pitchFamily="18" charset="0"/>
              </a:rPr>
              <a:t>N</a:t>
            </a:r>
            <a:r>
              <a:rPr lang="en-US" altLang="zh-CN" sz="1697" b="1" i="1" dirty="0">
                <a:latin typeface="Times New Roman" pitchFamily="18" charset="0"/>
                <a:cs typeface="Times New Roman" pitchFamily="18" charset="0"/>
              </a:rPr>
              <a:t>x</a:t>
            </a:r>
          </a:p>
          <a:p>
            <a:pPr>
              <a:lnSpc>
                <a:spcPts val="907"/>
              </a:lnSpc>
              <a:defRPr/>
            </a:pPr>
            <a:endParaRPr lang="en-US" altLang="zh-CN" sz="1633" dirty="0"/>
          </a:p>
          <a:p>
            <a:pPr>
              <a:lnSpc>
                <a:spcPts val="2722"/>
              </a:lnSpc>
              <a:tabLst>
                <a:tab pos="80654" algn="l"/>
              </a:tabLst>
              <a:defRPr/>
            </a:pPr>
            <a:r>
              <a:rPr lang="en-US" altLang="zh-CN" sz="1633" dirty="0"/>
              <a:t>	</a:t>
            </a:r>
            <a:r>
              <a:rPr lang="en-US" altLang="zh-CN" sz="2909" b="1" i="1" dirty="0">
                <a:latin typeface="Times New Roman" pitchFamily="18" charset="0"/>
                <a:cs typeface="Times New Roman" pitchFamily="18" charset="0"/>
              </a:rPr>
              <a:t>N</a:t>
            </a:r>
          </a:p>
        </p:txBody>
      </p:sp>
      <p:sp>
        <p:nvSpPr>
          <p:cNvPr id="28" name="TextBox 1"/>
          <p:cNvSpPr txBox="1"/>
          <p:nvPr/>
        </p:nvSpPr>
        <p:spPr>
          <a:xfrm>
            <a:off x="3999197" y="3917201"/>
            <a:ext cx="564257" cy="906210"/>
          </a:xfrm>
          <a:prstGeom prst="rect">
            <a:avLst/>
          </a:prstGeom>
          <a:noFill/>
        </p:spPr>
        <p:txBody>
          <a:bodyPr wrap="none" lIns="0" tIns="0" rIns="0">
            <a:spAutoFit/>
          </a:bodyPr>
          <a:lstStyle/>
          <a:p>
            <a:pPr>
              <a:lnSpc>
                <a:spcPts val="3084"/>
              </a:lnSpc>
              <a:tabLst>
                <a:tab pos="218916" algn="l"/>
              </a:tabLst>
              <a:defRPr/>
            </a:pPr>
            <a:r>
              <a:rPr lang="en-US" altLang="zh-CN" sz="2909" b="1" i="1" dirty="0">
                <a:latin typeface="Times New Roman" pitchFamily="18" charset="0"/>
                <a:cs typeface="Times New Roman" pitchFamily="18" charset="0"/>
              </a:rPr>
              <a:t>N</a:t>
            </a:r>
            <a:r>
              <a:rPr lang="en-US" altLang="zh-CN" sz="1697" b="1" i="1" dirty="0">
                <a:latin typeface="Times New Roman" pitchFamily="18" charset="0"/>
                <a:cs typeface="Times New Roman" pitchFamily="18" charset="0"/>
              </a:rPr>
              <a:t>x</a:t>
            </a:r>
            <a:r>
              <a:rPr lang="en-US" altLang="zh-CN" sz="2909" b="1" i="1" dirty="0">
                <a:latin typeface="Times New Roman" pitchFamily="18" charset="0"/>
                <a:cs typeface="Times New Roman" pitchFamily="18" charset="0"/>
              </a:rPr>
              <a:t>x</a:t>
            </a:r>
          </a:p>
          <a:p>
            <a:pPr>
              <a:lnSpc>
                <a:spcPts val="907"/>
              </a:lnSpc>
              <a:defRPr/>
            </a:pPr>
            <a:endParaRPr lang="en-US" altLang="zh-CN" sz="1633" dirty="0"/>
          </a:p>
          <a:p>
            <a:pPr>
              <a:lnSpc>
                <a:spcPts val="2722"/>
              </a:lnSpc>
              <a:tabLst>
                <a:tab pos="218916" algn="l"/>
              </a:tabLst>
              <a:defRPr/>
            </a:pPr>
            <a:r>
              <a:rPr lang="en-US" altLang="zh-CN" sz="1633" dirty="0"/>
              <a:t>	</a:t>
            </a:r>
            <a:r>
              <a:rPr lang="en-US" altLang="zh-CN" sz="2909" b="1" i="1" dirty="0">
                <a:latin typeface="Times New Roman" pitchFamily="18" charset="0"/>
                <a:cs typeface="Times New Roman" pitchFamily="18" charset="0"/>
              </a:rPr>
              <a:t>n</a:t>
            </a:r>
          </a:p>
        </p:txBody>
      </p:sp>
      <p:sp>
        <p:nvSpPr>
          <p:cNvPr id="29" name="TextBox 1"/>
          <p:cNvSpPr txBox="1"/>
          <p:nvPr/>
        </p:nvSpPr>
        <p:spPr>
          <a:xfrm>
            <a:off x="3066001" y="3917201"/>
            <a:ext cx="440826" cy="906210"/>
          </a:xfrm>
          <a:prstGeom prst="rect">
            <a:avLst/>
          </a:prstGeom>
          <a:noFill/>
        </p:spPr>
        <p:txBody>
          <a:bodyPr wrap="none" lIns="0" tIns="0" rIns="0">
            <a:spAutoFit/>
          </a:bodyPr>
          <a:lstStyle/>
          <a:p>
            <a:pPr>
              <a:lnSpc>
                <a:spcPts val="3084"/>
              </a:lnSpc>
              <a:tabLst>
                <a:tab pos="57609" algn="l"/>
              </a:tabLst>
              <a:defRPr/>
            </a:pPr>
            <a:r>
              <a:rPr lang="en-US" altLang="zh-CN" sz="2909" b="1" i="1" dirty="0">
                <a:latin typeface="Times New Roman" pitchFamily="18" charset="0"/>
                <a:cs typeface="Times New Roman" pitchFamily="18" charset="0"/>
              </a:rPr>
              <a:t>W</a:t>
            </a:r>
            <a:r>
              <a:rPr lang="en-US" altLang="zh-CN" sz="1697" b="1" i="1" dirty="0">
                <a:latin typeface="Times New Roman" pitchFamily="18" charset="0"/>
                <a:cs typeface="Times New Roman" pitchFamily="18" charset="0"/>
              </a:rPr>
              <a:t>x</a:t>
            </a:r>
          </a:p>
          <a:p>
            <a:pPr>
              <a:lnSpc>
                <a:spcPts val="907"/>
              </a:lnSpc>
              <a:defRPr/>
            </a:pPr>
            <a:endParaRPr lang="en-US" altLang="zh-CN" sz="1633" dirty="0"/>
          </a:p>
          <a:p>
            <a:pPr>
              <a:lnSpc>
                <a:spcPts val="2722"/>
              </a:lnSpc>
              <a:tabLst>
                <a:tab pos="57609" algn="l"/>
              </a:tabLst>
              <a:defRPr/>
            </a:pPr>
            <a:r>
              <a:rPr lang="en-US" altLang="zh-CN" sz="1633" dirty="0"/>
              <a:t>	</a:t>
            </a:r>
            <a:r>
              <a:rPr lang="en-US" altLang="zh-CN" sz="2909" b="1" i="1" dirty="0">
                <a:latin typeface="Times New Roman" pitchFamily="18" charset="0"/>
                <a:cs typeface="Times New Roman" pitchFamily="18" charset="0"/>
              </a:rPr>
              <a:t>W</a:t>
            </a:r>
          </a:p>
        </p:txBody>
      </p:sp>
      <p:sp>
        <p:nvSpPr>
          <p:cNvPr id="30" name="TextBox 1"/>
          <p:cNvSpPr txBox="1"/>
          <p:nvPr/>
        </p:nvSpPr>
        <p:spPr>
          <a:xfrm>
            <a:off x="7708927" y="4032410"/>
            <a:ext cx="1102866" cy="468846"/>
          </a:xfrm>
          <a:prstGeom prst="rect">
            <a:avLst/>
          </a:prstGeom>
          <a:noFill/>
        </p:spPr>
        <p:txBody>
          <a:bodyPr wrap="none" lIns="0" tIns="0" rIns="0">
            <a:spAutoFit/>
          </a:bodyPr>
          <a:lstStyle/>
          <a:p>
            <a:pPr>
              <a:lnSpc>
                <a:spcPts val="3539"/>
              </a:lnSpc>
              <a:defRPr/>
            </a:pPr>
            <a:r>
              <a:rPr lang="en-US" altLang="zh-CN" sz="2909" b="1" i="1" dirty="0">
                <a:latin typeface="Times New Roman" pitchFamily="18" charset="0"/>
                <a:cs typeface="Times New Roman" pitchFamily="18" charset="0"/>
              </a:rPr>
              <a:t>x</a:t>
            </a:r>
            <a:r>
              <a:rPr lang="en-US" altLang="zh-CN" sz="2909" b="1" dirty="0">
                <a:latin typeface="Times New Roman" pitchFamily="18" charset="0"/>
                <a:cs typeface="Times New Roman" pitchFamily="18" charset="0"/>
              </a:rPr>
              <a:t>(1</a:t>
            </a:r>
            <a:r>
              <a:rPr lang="en-US" altLang="zh-CN" sz="2909" dirty="0">
                <a:latin typeface="Symbol" pitchFamily="18" charset="0"/>
                <a:cs typeface="Symbol" pitchFamily="18" charset="0"/>
              </a:rPr>
              <a:t>-</a:t>
            </a:r>
            <a:r>
              <a:rPr lang="en-US" altLang="zh-CN" sz="2909" dirty="0">
                <a:latin typeface="Times New Roman" pitchFamily="18" charset="0"/>
                <a:cs typeface="Times New Roman" pitchFamily="18" charset="0"/>
              </a:rPr>
              <a:t> </a:t>
            </a:r>
            <a:r>
              <a:rPr lang="en-US" altLang="zh-CN" sz="2909" b="1" i="1" dirty="0">
                <a:latin typeface="Times New Roman" pitchFamily="18" charset="0"/>
                <a:cs typeface="Times New Roman" pitchFamily="18" charset="0"/>
              </a:rPr>
              <a:t>p</a:t>
            </a:r>
            <a:r>
              <a:rPr lang="en-US" altLang="zh-CN" sz="2909" b="1" dirty="0">
                <a:latin typeface="Times New Roman" pitchFamily="18" charset="0"/>
                <a:cs typeface="Times New Roman" pitchFamily="18" charset="0"/>
              </a:rPr>
              <a:t>)</a:t>
            </a:r>
          </a:p>
        </p:txBody>
      </p:sp>
      <p:sp>
        <p:nvSpPr>
          <p:cNvPr id="31" name="TextBox 1"/>
          <p:cNvSpPr txBox="1"/>
          <p:nvPr/>
        </p:nvSpPr>
        <p:spPr>
          <a:xfrm>
            <a:off x="6810296" y="4032409"/>
            <a:ext cx="205184" cy="463075"/>
          </a:xfrm>
          <a:prstGeom prst="rect">
            <a:avLst/>
          </a:prstGeom>
          <a:noFill/>
        </p:spPr>
        <p:txBody>
          <a:bodyPr wrap="none" lIns="0" tIns="0" rIns="0">
            <a:spAutoFit/>
          </a:bodyPr>
          <a:lstStyle/>
          <a:p>
            <a:pPr>
              <a:lnSpc>
                <a:spcPts val="3539"/>
              </a:lnSpc>
              <a:defRPr/>
            </a:pPr>
            <a:r>
              <a:rPr lang="en-US" altLang="zh-CN" sz="2909" dirty="0">
                <a:latin typeface="Symbol" pitchFamily="18" charset="0"/>
                <a:cs typeface="Symbol" pitchFamily="18" charset="0"/>
              </a:rPr>
              <a:t>=</a:t>
            </a:r>
          </a:p>
        </p:txBody>
      </p:sp>
      <p:sp>
        <p:nvSpPr>
          <p:cNvPr id="32" name="TextBox 1"/>
          <p:cNvSpPr txBox="1"/>
          <p:nvPr/>
        </p:nvSpPr>
        <p:spPr>
          <a:xfrm>
            <a:off x="5105202" y="3790471"/>
            <a:ext cx="1481175" cy="1021626"/>
          </a:xfrm>
          <a:prstGeom prst="rect">
            <a:avLst/>
          </a:prstGeom>
          <a:noFill/>
        </p:spPr>
        <p:txBody>
          <a:bodyPr wrap="none" lIns="0" tIns="0" rIns="0">
            <a:spAutoFit/>
          </a:bodyPr>
          <a:lstStyle/>
          <a:p>
            <a:pPr>
              <a:lnSpc>
                <a:spcPts val="3992"/>
              </a:lnSpc>
              <a:tabLst>
                <a:tab pos="645223" algn="l"/>
              </a:tabLst>
              <a:defRPr/>
            </a:pPr>
            <a:r>
              <a:rPr lang="en-US" altLang="zh-CN" sz="2909" b="1" i="1" dirty="0" err="1">
                <a:latin typeface="Times New Roman" pitchFamily="18" charset="0"/>
                <a:cs typeface="Times New Roman" pitchFamily="18" charset="0"/>
              </a:rPr>
              <a:t>N</a:t>
            </a:r>
            <a:r>
              <a:rPr lang="en-US" altLang="zh-CN" sz="1697" b="1" i="1" dirty="0" err="1">
                <a:latin typeface="Times New Roman" pitchFamily="18" charset="0"/>
                <a:cs typeface="Times New Roman" pitchFamily="18" charset="0"/>
              </a:rPr>
              <a:t>x</a:t>
            </a:r>
            <a:r>
              <a:rPr lang="en-US" altLang="zh-CN" sz="2909" b="1" i="1" dirty="0" err="1">
                <a:latin typeface="Times New Roman" pitchFamily="18" charset="0"/>
                <a:cs typeface="Times New Roman" pitchFamily="18" charset="0"/>
              </a:rPr>
              <a:t>x</a:t>
            </a:r>
            <a:r>
              <a:rPr lang="en-US" altLang="zh-CN" sz="2909" b="1" dirty="0">
                <a:latin typeface="Times New Roman" pitchFamily="18" charset="0"/>
                <a:cs typeface="Times New Roman" pitchFamily="18" charset="0"/>
              </a:rPr>
              <a:t>(1</a:t>
            </a:r>
            <a:r>
              <a:rPr lang="en-US" altLang="zh-CN" sz="2909" dirty="0">
                <a:latin typeface="Symbol" pitchFamily="18" charset="0"/>
                <a:cs typeface="Symbol" pitchFamily="18" charset="0"/>
              </a:rPr>
              <a:t>-</a:t>
            </a:r>
            <a:r>
              <a:rPr lang="en-US" altLang="zh-CN" sz="2909" dirty="0">
                <a:latin typeface="Times New Roman" pitchFamily="18" charset="0"/>
                <a:cs typeface="Times New Roman" pitchFamily="18" charset="0"/>
              </a:rPr>
              <a:t> </a:t>
            </a:r>
            <a:r>
              <a:rPr lang="en-US" altLang="zh-CN" sz="2909" b="1" i="1" dirty="0">
                <a:latin typeface="Times New Roman" pitchFamily="18" charset="0"/>
                <a:cs typeface="Times New Roman" pitchFamily="18" charset="0"/>
              </a:rPr>
              <a:t>p</a:t>
            </a:r>
            <a:r>
              <a:rPr lang="en-US" altLang="zh-CN" sz="2909" b="1" dirty="0">
                <a:latin typeface="Times New Roman" pitchFamily="18" charset="0"/>
                <a:cs typeface="Times New Roman" pitchFamily="18" charset="0"/>
              </a:rPr>
              <a:t>)</a:t>
            </a:r>
          </a:p>
          <a:p>
            <a:pPr>
              <a:lnSpc>
                <a:spcPts val="907"/>
              </a:lnSpc>
              <a:defRPr/>
            </a:pPr>
            <a:endParaRPr lang="en-US" altLang="zh-CN" sz="1633" dirty="0"/>
          </a:p>
          <a:p>
            <a:pPr>
              <a:lnSpc>
                <a:spcPts val="2722"/>
              </a:lnSpc>
              <a:tabLst>
                <a:tab pos="645223" algn="l"/>
              </a:tabLst>
              <a:defRPr/>
            </a:pPr>
            <a:r>
              <a:rPr lang="en-US" altLang="zh-CN" sz="1633" dirty="0"/>
              <a:t>	</a:t>
            </a:r>
            <a:r>
              <a:rPr lang="en-US" altLang="zh-CN" sz="2909" b="1" i="1" dirty="0">
                <a:latin typeface="Times New Roman" pitchFamily="18" charset="0"/>
                <a:cs typeface="Times New Roman" pitchFamily="18" charset="0"/>
              </a:rPr>
              <a:t>N</a:t>
            </a:r>
          </a:p>
        </p:txBody>
      </p:sp>
      <p:sp>
        <p:nvSpPr>
          <p:cNvPr id="33" name="TextBox 1"/>
          <p:cNvSpPr txBox="1"/>
          <p:nvPr/>
        </p:nvSpPr>
        <p:spPr>
          <a:xfrm>
            <a:off x="4771096" y="4032409"/>
            <a:ext cx="205184" cy="463075"/>
          </a:xfrm>
          <a:prstGeom prst="rect">
            <a:avLst/>
          </a:prstGeom>
          <a:noFill/>
        </p:spPr>
        <p:txBody>
          <a:bodyPr wrap="none" lIns="0" tIns="0" rIns="0">
            <a:spAutoFit/>
          </a:bodyPr>
          <a:lstStyle/>
          <a:p>
            <a:pPr>
              <a:lnSpc>
                <a:spcPts val="3539"/>
              </a:lnSpc>
              <a:defRPr/>
            </a:pPr>
            <a:r>
              <a:rPr lang="en-US" altLang="zh-CN" sz="2909" dirty="0">
                <a:latin typeface="Symbol" pitchFamily="18" charset="0"/>
                <a:cs typeface="Symbol" pitchFamily="18" charset="0"/>
              </a:rPr>
              <a:t>=</a:t>
            </a:r>
          </a:p>
        </p:txBody>
      </p:sp>
      <p:sp>
        <p:nvSpPr>
          <p:cNvPr id="34" name="TextBox 1"/>
          <p:cNvSpPr txBox="1"/>
          <p:nvPr/>
        </p:nvSpPr>
        <p:spPr>
          <a:xfrm>
            <a:off x="3676610" y="4032409"/>
            <a:ext cx="205184" cy="463075"/>
          </a:xfrm>
          <a:prstGeom prst="rect">
            <a:avLst/>
          </a:prstGeom>
          <a:noFill/>
        </p:spPr>
        <p:txBody>
          <a:bodyPr wrap="none" lIns="0" tIns="0" rIns="0">
            <a:spAutoFit/>
          </a:bodyPr>
          <a:lstStyle/>
          <a:p>
            <a:pPr>
              <a:lnSpc>
                <a:spcPts val="3539"/>
              </a:lnSpc>
              <a:defRPr/>
            </a:pPr>
            <a:r>
              <a:rPr lang="en-US" altLang="zh-CN" sz="2909" dirty="0">
                <a:latin typeface="Symbol" pitchFamily="18" charset="0"/>
                <a:cs typeface="Symbol" pitchFamily="18" charset="0"/>
              </a:rPr>
              <a:t>=</a:t>
            </a:r>
          </a:p>
        </p:txBody>
      </p:sp>
      <p:sp>
        <p:nvSpPr>
          <p:cNvPr id="35" name="TextBox 1"/>
          <p:cNvSpPr txBox="1"/>
          <p:nvPr/>
        </p:nvSpPr>
        <p:spPr>
          <a:xfrm>
            <a:off x="2386269" y="5149937"/>
            <a:ext cx="362279" cy="714363"/>
          </a:xfrm>
          <a:prstGeom prst="rect">
            <a:avLst/>
          </a:prstGeom>
          <a:noFill/>
        </p:spPr>
        <p:txBody>
          <a:bodyPr wrap="none" lIns="0" tIns="0" rIns="0">
            <a:spAutoFit/>
          </a:bodyPr>
          <a:lstStyle/>
          <a:p>
            <a:pPr>
              <a:lnSpc>
                <a:spcPts val="2449"/>
              </a:lnSpc>
              <a:tabLst>
                <a:tab pos="46087" algn="l"/>
              </a:tabLst>
              <a:defRPr/>
            </a:pPr>
            <a:r>
              <a:rPr lang="en-US" altLang="zh-CN" sz="2391" b="1" i="1" dirty="0">
                <a:latin typeface="Times New Roman" pitchFamily="18" charset="0"/>
                <a:cs typeface="Times New Roman" pitchFamily="18" charset="0"/>
              </a:rPr>
              <a:t>W</a:t>
            </a:r>
            <a:r>
              <a:rPr lang="en-US" altLang="zh-CN" sz="1394" b="1" i="1" dirty="0">
                <a:latin typeface="Times New Roman" pitchFamily="18" charset="0"/>
                <a:cs typeface="Times New Roman" pitchFamily="18" charset="0"/>
              </a:rPr>
              <a:t>x</a:t>
            </a:r>
          </a:p>
          <a:p>
            <a:pPr>
              <a:lnSpc>
                <a:spcPts val="2994"/>
              </a:lnSpc>
              <a:tabLst>
                <a:tab pos="46087" algn="l"/>
              </a:tabLst>
              <a:defRPr/>
            </a:pPr>
            <a:r>
              <a:rPr lang="en-US" altLang="zh-CN" sz="1633" dirty="0"/>
              <a:t>	</a:t>
            </a:r>
            <a:r>
              <a:rPr lang="en-US" altLang="zh-CN" sz="2391" b="1" i="1" dirty="0">
                <a:latin typeface="Times New Roman" pitchFamily="18" charset="0"/>
                <a:cs typeface="Times New Roman" pitchFamily="18" charset="0"/>
              </a:rPr>
              <a:t>W</a:t>
            </a:r>
          </a:p>
        </p:txBody>
      </p:sp>
      <p:sp>
        <p:nvSpPr>
          <p:cNvPr id="36" name="TextBox 1"/>
          <p:cNvSpPr txBox="1"/>
          <p:nvPr/>
        </p:nvSpPr>
        <p:spPr>
          <a:xfrm>
            <a:off x="2893189" y="5230583"/>
            <a:ext cx="1678345" cy="405432"/>
          </a:xfrm>
          <a:prstGeom prst="rect">
            <a:avLst/>
          </a:prstGeom>
          <a:noFill/>
        </p:spPr>
        <p:txBody>
          <a:bodyPr wrap="none" lIns="0" tIns="0" rIns="0">
            <a:spAutoFit/>
          </a:bodyPr>
          <a:lstStyle/>
          <a:p>
            <a:pPr>
              <a:lnSpc>
                <a:spcPts val="2994"/>
              </a:lnSpc>
              <a:defRPr/>
            </a:pPr>
            <a:r>
              <a:rPr lang="en-US" altLang="zh-CN" sz="2391" dirty="0">
                <a:latin typeface="Symbol" pitchFamily="18" charset="0"/>
                <a:cs typeface="Symbol" pitchFamily="18" charset="0"/>
              </a:rPr>
              <a:t>=</a:t>
            </a:r>
            <a:r>
              <a:rPr lang="en-US" altLang="zh-CN" sz="2391" dirty="0">
                <a:latin typeface="Times New Roman" pitchFamily="18" charset="0"/>
                <a:cs typeface="Times New Roman" pitchFamily="18" charset="0"/>
              </a:rPr>
              <a:t> </a:t>
            </a:r>
            <a:r>
              <a:rPr lang="en-US" altLang="zh-CN" sz="2391" b="1" i="1" dirty="0">
                <a:latin typeface="Times New Roman" pitchFamily="18" charset="0"/>
                <a:cs typeface="Times New Roman" pitchFamily="18" charset="0"/>
              </a:rPr>
              <a:t>xp</a:t>
            </a:r>
            <a:r>
              <a:rPr lang="en-US" altLang="zh-CN" sz="1394" b="1" i="1" dirty="0">
                <a:latin typeface="Times New Roman" pitchFamily="18" charset="0"/>
                <a:cs typeface="Times New Roman" pitchFamily="18" charset="0"/>
              </a:rPr>
              <a:t>x</a:t>
            </a:r>
            <a:r>
              <a:rPr lang="en-US" altLang="zh-CN" sz="1394" dirty="0">
                <a:latin typeface="Symbol" pitchFamily="18" charset="0"/>
                <a:cs typeface="Symbol" pitchFamily="18" charset="0"/>
              </a:rPr>
              <a:t>-</a:t>
            </a:r>
            <a:r>
              <a:rPr lang="en-US" altLang="zh-CN" sz="1394" b="1" dirty="0">
                <a:latin typeface="Times New Roman" pitchFamily="18" charset="0"/>
                <a:cs typeface="Times New Roman" pitchFamily="18" charset="0"/>
              </a:rPr>
              <a:t>1</a:t>
            </a:r>
            <a:r>
              <a:rPr lang="en-US" altLang="zh-CN" sz="2391" b="1" dirty="0">
                <a:latin typeface="Times New Roman" pitchFamily="18" charset="0"/>
                <a:cs typeface="Times New Roman" pitchFamily="18" charset="0"/>
              </a:rPr>
              <a:t>(1</a:t>
            </a:r>
            <a:r>
              <a:rPr lang="en-US" altLang="zh-CN" sz="2391" dirty="0">
                <a:latin typeface="Symbol" pitchFamily="18" charset="0"/>
                <a:cs typeface="Symbol" pitchFamily="18" charset="0"/>
              </a:rPr>
              <a:t>-</a:t>
            </a:r>
            <a:r>
              <a:rPr lang="en-US" altLang="zh-CN" sz="2391" dirty="0">
                <a:latin typeface="Times New Roman" pitchFamily="18" charset="0"/>
                <a:cs typeface="Times New Roman" pitchFamily="18" charset="0"/>
              </a:rPr>
              <a:t> </a:t>
            </a:r>
            <a:r>
              <a:rPr lang="en-US" altLang="zh-CN" sz="2391" b="1" i="1" dirty="0">
                <a:latin typeface="Times New Roman" pitchFamily="18" charset="0"/>
                <a:cs typeface="Times New Roman" pitchFamily="18" charset="0"/>
              </a:rPr>
              <a:t>p</a:t>
            </a:r>
            <a:r>
              <a:rPr lang="en-US" altLang="zh-CN" sz="2391" b="1" dirty="0">
                <a:latin typeface="Times New Roman" pitchFamily="18" charset="0"/>
                <a:cs typeface="Times New Roman" pitchFamily="18" charset="0"/>
              </a:rPr>
              <a:t>)</a:t>
            </a:r>
            <a:r>
              <a:rPr lang="en-US" altLang="zh-CN" sz="1394" b="1" dirty="0">
                <a:latin typeface="Times New Roman" pitchFamily="18" charset="0"/>
                <a:cs typeface="Times New Roman" pitchFamily="18" charset="0"/>
              </a:rPr>
              <a:t>2</a:t>
            </a:r>
          </a:p>
        </p:txBody>
      </p:sp>
      <p:sp>
        <p:nvSpPr>
          <p:cNvPr id="121883" name="TextBox 1"/>
          <p:cNvSpPr txBox="1">
            <a:spLocks noChangeArrowheads="1"/>
          </p:cNvSpPr>
          <p:nvPr/>
        </p:nvSpPr>
        <p:spPr bwMode="auto">
          <a:xfrm>
            <a:off x="2386268" y="782075"/>
            <a:ext cx="2080698"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终止几率：</a:t>
            </a:r>
            <a:r>
              <a:rPr lang="en-US" altLang="zh-CN" sz="2540" b="1">
                <a:latin typeface="Times New Roman" panose="02020603050405020304" pitchFamily="18" charset="0"/>
                <a:cs typeface="Times New Roman" panose="02020603050405020304" pitchFamily="18" charset="0"/>
              </a:rPr>
              <a:t>1-p</a:t>
            </a:r>
          </a:p>
        </p:txBody>
      </p:sp>
      <p:sp>
        <p:nvSpPr>
          <p:cNvPr id="121884" name="TextBox 1"/>
          <p:cNvSpPr txBox="1">
            <a:spLocks noChangeArrowheads="1"/>
          </p:cNvSpPr>
          <p:nvPr/>
        </p:nvSpPr>
        <p:spPr bwMode="auto">
          <a:xfrm>
            <a:off x="5761896" y="806556"/>
            <a:ext cx="2479846"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终止次数：</a:t>
            </a:r>
            <a:r>
              <a:rPr lang="en-US" altLang="zh-CN" sz="2540" b="1">
                <a:latin typeface="Times New Roman" panose="02020603050405020304" pitchFamily="18" charset="0"/>
                <a:cs typeface="Times New Roman" panose="02020603050405020304" pitchFamily="18" charset="0"/>
              </a:rPr>
              <a:t>n(1-p)</a:t>
            </a:r>
          </a:p>
        </p:txBody>
      </p:sp>
      <p:sp>
        <p:nvSpPr>
          <p:cNvPr id="121885" name="TextBox 1"/>
          <p:cNvSpPr txBox="1">
            <a:spLocks noChangeArrowheads="1"/>
          </p:cNvSpPr>
          <p:nvPr/>
        </p:nvSpPr>
        <p:spPr bwMode="auto">
          <a:xfrm>
            <a:off x="2190414" y="1324997"/>
            <a:ext cx="8010206" cy="1225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 pos="3886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 pos="3886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 pos="3886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 pos="3886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 pos="3886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 pos="3886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 pos="3886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 pos="3886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 pos="3886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1633"/>
              <a:t>		</a:t>
            </a:r>
            <a:r>
              <a:rPr lang="en-US" altLang="zh-CN" sz="2540" b="1">
                <a:latin typeface="Times New Roman" panose="02020603050405020304" pitchFamily="18" charset="0"/>
                <a:cs typeface="Times New Roman" panose="02020603050405020304" pitchFamily="18" charset="0"/>
              </a:rPr>
              <a:t>n</a:t>
            </a:r>
            <a:r>
              <a:rPr lang="en-US" altLang="zh-CN" sz="2540">
                <a:latin typeface="楷体_GB2312"/>
                <a:ea typeface="楷体_GB2312"/>
                <a:cs typeface="楷体_GB2312"/>
              </a:rPr>
              <a:t>：参加反应的单体分子总数</a:t>
            </a:r>
          </a:p>
          <a:p>
            <a:pPr eaLnBrk="1" hangingPunct="1">
              <a:lnSpc>
                <a:spcPts val="907"/>
              </a:lnSpc>
            </a:pPr>
            <a:endParaRPr lang="en-US" altLang="zh-CN" sz="1633"/>
          </a:p>
          <a:p>
            <a:pPr eaLnBrk="1" hangingPunct="1">
              <a:lnSpc>
                <a:spcPts val="2631"/>
              </a:lnSpc>
            </a:pPr>
            <a:r>
              <a:rPr lang="en-US" altLang="zh-CN" sz="1633"/>
              <a:t>	</a:t>
            </a:r>
            <a:r>
              <a:rPr lang="en-US" altLang="zh-CN" sz="2540">
                <a:latin typeface="楷体_GB2312"/>
                <a:ea typeface="楷体_GB2312"/>
                <a:cs typeface="楷体_GB2312"/>
              </a:rPr>
              <a:t>因为终止一次形成一个大分子，所以，生成的大</a:t>
            </a:r>
          </a:p>
          <a:p>
            <a:pPr eaLnBrk="1" hangingPunct="1">
              <a:lnSpc>
                <a:spcPts val="2994"/>
              </a:lnSpc>
            </a:pPr>
            <a:r>
              <a:rPr lang="en-US" altLang="zh-CN" sz="2540">
                <a:latin typeface="楷体_GB2312"/>
                <a:ea typeface="楷体_GB2312"/>
                <a:cs typeface="楷体_GB2312"/>
              </a:rPr>
              <a:t>分子数：N＝n(1-p)</a:t>
            </a:r>
          </a:p>
        </p:txBody>
      </p:sp>
      <p:sp>
        <p:nvSpPr>
          <p:cNvPr id="121886" name="TextBox 1"/>
          <p:cNvSpPr txBox="1">
            <a:spLocks noChangeArrowheads="1"/>
          </p:cNvSpPr>
          <p:nvPr/>
        </p:nvSpPr>
        <p:spPr bwMode="auto">
          <a:xfrm>
            <a:off x="5784937" y="5345793"/>
            <a:ext cx="4353756" cy="103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1021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1021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1021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1021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1021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1021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1021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1021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1021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无转移歧化终止重量分布函数</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724"/>
              </a:lnSpc>
            </a:pPr>
            <a:r>
              <a:rPr lang="en-US" altLang="zh-CN" sz="1633"/>
              <a:t>	</a:t>
            </a:r>
            <a:r>
              <a:rPr lang="en-US" altLang="zh-CN" sz="1089">
                <a:latin typeface="Times New Roman" panose="02020603050405020304" pitchFamily="18" charset="0"/>
                <a:cs typeface="Times New Roman" panose="02020603050405020304" pitchFamily="18" charset="0"/>
              </a:rPr>
              <a:t>106</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6"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107</a:t>
            </a:r>
          </a:p>
        </p:txBody>
      </p:sp>
      <p:sp>
        <p:nvSpPr>
          <p:cNvPr id="122897" name="TextBox 1"/>
          <p:cNvSpPr txBox="1">
            <a:spLocks noChangeArrowheads="1"/>
          </p:cNvSpPr>
          <p:nvPr/>
        </p:nvSpPr>
        <p:spPr bwMode="auto">
          <a:xfrm>
            <a:off x="2274780" y="1254305"/>
            <a:ext cx="4889159" cy="4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084"/>
              </a:lnSpc>
            </a:pPr>
            <a:r>
              <a:rPr lang="en-US" altLang="zh-CN" sz="2812" dirty="0" err="1">
                <a:latin typeface="楷体_GB2312"/>
                <a:ea typeface="楷体_GB2312"/>
                <a:cs typeface="楷体_GB2312"/>
              </a:rPr>
              <a:t>歧化终止时聚合度与</a:t>
            </a:r>
            <a:r>
              <a:rPr lang="en-US" altLang="zh-CN" sz="2812" b="1" dirty="0" err="1">
                <a:latin typeface="Times New Roman" panose="02020603050405020304" pitchFamily="18" charset="0"/>
                <a:cs typeface="Times New Roman" panose="02020603050405020304" pitchFamily="18" charset="0"/>
              </a:rPr>
              <a:t>p</a:t>
            </a:r>
            <a:r>
              <a:rPr lang="en-US" altLang="zh-CN" sz="2812" dirty="0" err="1">
                <a:latin typeface="楷体_GB2312"/>
                <a:ea typeface="楷体_GB2312"/>
                <a:cs typeface="楷体_GB2312"/>
              </a:rPr>
              <a:t>的关系</a:t>
            </a:r>
            <a:r>
              <a:rPr lang="zh-CN" altLang="en-US" sz="2812" dirty="0">
                <a:latin typeface="楷体_GB2312"/>
                <a:ea typeface="楷体_GB2312"/>
                <a:cs typeface="楷体_GB2312"/>
              </a:rPr>
              <a:t>：</a:t>
            </a:r>
            <a:endParaRPr lang="en-US" altLang="zh-CN" sz="2812" dirty="0">
              <a:latin typeface="楷体_GB2312"/>
              <a:ea typeface="楷体_GB2312"/>
              <a:cs typeface="楷体_GB2312"/>
            </a:endParaRPr>
          </a:p>
        </p:txBody>
      </p:sp>
      <p:sp>
        <p:nvSpPr>
          <p:cNvPr id="122909" name="TextBox 1"/>
          <p:cNvSpPr txBox="1">
            <a:spLocks noChangeArrowheads="1"/>
          </p:cNvSpPr>
          <p:nvPr/>
        </p:nvSpPr>
        <p:spPr bwMode="auto">
          <a:xfrm>
            <a:off x="5404745" y="5088011"/>
            <a:ext cx="5134357" cy="969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dirty="0">
                <a:latin typeface="楷体_GB2312"/>
                <a:ea typeface="楷体_GB2312"/>
                <a:cs typeface="楷体_GB2312"/>
              </a:rPr>
              <a:t>歧化终止时，聚合物的分布指数理论值约为</a:t>
            </a:r>
            <a:r>
              <a:rPr lang="en-US" altLang="zh-CN" sz="2540" b="1" dirty="0">
                <a:latin typeface="Times New Roman" panose="02020603050405020304" pitchFamily="18" charset="0"/>
                <a:cs typeface="Times New Roman" panose="02020603050405020304" pitchFamily="18" charset="0"/>
              </a:rPr>
              <a:t>2</a:t>
            </a:r>
            <a:r>
              <a:rPr lang="en-US" altLang="zh-CN" sz="2540" dirty="0">
                <a:latin typeface="楷体_GB2312"/>
                <a:ea typeface="楷体_GB2312"/>
                <a:cs typeface="楷体_GB2312"/>
              </a:rPr>
              <a:t>；成键几率</a:t>
            </a:r>
            <a:r>
              <a:rPr lang="en-US" altLang="zh-CN" sz="2540" b="1" dirty="0">
                <a:latin typeface="Times New Roman" panose="02020603050405020304" pitchFamily="18" charset="0"/>
                <a:cs typeface="Times New Roman" panose="02020603050405020304" pitchFamily="18" charset="0"/>
              </a:rPr>
              <a:t>p</a:t>
            </a:r>
            <a:r>
              <a:rPr lang="en-US" altLang="zh-CN" sz="2540" dirty="0">
                <a:latin typeface="楷体_GB2312"/>
                <a:ea typeface="楷体_GB2312"/>
                <a:cs typeface="楷体_GB2312"/>
              </a:rPr>
              <a:t>越大，则分布指数越接近于</a:t>
            </a:r>
            <a:r>
              <a:rPr lang="en-US" altLang="zh-CN" sz="2540" b="1" dirty="0">
                <a:latin typeface="Times New Roman" panose="02020603050405020304" pitchFamily="18" charset="0"/>
                <a:cs typeface="Times New Roman" panose="02020603050405020304" pitchFamily="18" charset="0"/>
              </a:rPr>
              <a:t>2</a:t>
            </a:r>
            <a:r>
              <a:rPr lang="en-US" altLang="zh-CN" sz="2540" dirty="0">
                <a:latin typeface="Times New Roman" panose="02020603050405020304" pitchFamily="18" charset="0"/>
                <a:cs typeface="Times New Roman" panose="02020603050405020304" pitchFamily="18" charset="0"/>
              </a:rPr>
              <a:t> </a:t>
            </a:r>
            <a:r>
              <a:rPr lang="en-US" altLang="zh-CN" sz="2540" dirty="0">
                <a:latin typeface="楷体_GB2312"/>
                <a:ea typeface="楷体_GB2312"/>
                <a:cs typeface="楷体_GB2312"/>
              </a:rPr>
              <a:t>。</a:t>
            </a:r>
          </a:p>
        </p:txBody>
      </p:sp>
      <p:sp>
        <p:nvSpPr>
          <p:cNvPr id="2" name="文本框 1"/>
          <p:cNvSpPr txBox="1"/>
          <p:nvPr/>
        </p:nvSpPr>
        <p:spPr>
          <a:xfrm>
            <a:off x="7478511" y="1342303"/>
            <a:ext cx="3026791" cy="343620"/>
          </a:xfrm>
          <a:prstGeom prst="rect">
            <a:avLst/>
          </a:prstGeom>
          <a:noFill/>
        </p:spPr>
        <p:txBody>
          <a:bodyPr wrap="none" rtlCol="0">
            <a:spAutoFit/>
          </a:bodyPr>
          <a:lstStyle/>
          <a:p>
            <a:r>
              <a:rPr lang="zh-CN" altLang="en-US" sz="1633" dirty="0"/>
              <a:t>总的大分子数目：</a:t>
            </a:r>
            <a:r>
              <a:rPr lang="en-US" altLang="zh-CN" sz="1633" dirty="0"/>
              <a:t>N=n</a:t>
            </a:r>
            <a:r>
              <a:rPr lang="zh-CN" altLang="en-US" sz="1633" dirty="0"/>
              <a:t>（</a:t>
            </a:r>
            <a:r>
              <a:rPr lang="en-US" altLang="zh-CN" sz="1633" dirty="0"/>
              <a:t>1-p</a:t>
            </a:r>
            <a:r>
              <a:rPr lang="zh-CN" altLang="en-US" sz="1633" dirty="0"/>
              <a:t>）</a:t>
            </a:r>
          </a:p>
        </p:txBody>
      </p:sp>
      <p:sp>
        <p:nvSpPr>
          <p:cNvPr id="3" name="文本框 2"/>
          <p:cNvSpPr txBox="1"/>
          <p:nvPr/>
        </p:nvSpPr>
        <p:spPr>
          <a:xfrm>
            <a:off x="1948474" y="1848601"/>
            <a:ext cx="3964547" cy="343620"/>
          </a:xfrm>
          <a:prstGeom prst="rect">
            <a:avLst/>
          </a:prstGeom>
          <a:noFill/>
        </p:spPr>
        <p:txBody>
          <a:bodyPr wrap="none" rtlCol="0">
            <a:spAutoFit/>
          </a:bodyPr>
          <a:lstStyle/>
          <a:p>
            <a:r>
              <a:rPr lang="zh-CN" altLang="en-US" sz="1633" dirty="0"/>
              <a:t>数均聚合度：每个大分子的结构单元数：</a:t>
            </a:r>
          </a:p>
        </p:txBody>
      </p:sp>
      <p:graphicFrame>
        <p:nvGraphicFramePr>
          <p:cNvPr id="4" name="对象 3"/>
          <p:cNvGraphicFramePr>
            <a:graphicFrameLocks noChangeAspect="1"/>
          </p:cNvGraphicFramePr>
          <p:nvPr>
            <p:extLst/>
          </p:nvPr>
        </p:nvGraphicFramePr>
        <p:xfrm>
          <a:off x="5885224" y="1986014"/>
          <a:ext cx="1936081" cy="672533"/>
        </p:xfrm>
        <a:graphic>
          <a:graphicData uri="http://schemas.openxmlformats.org/presentationml/2006/ole">
            <mc:AlternateContent xmlns:mc="http://schemas.openxmlformats.org/markup-compatibility/2006">
              <mc:Choice xmlns:v="urn:schemas-microsoft-com:vml" Requires="v">
                <p:oleObj spid="_x0000_s13332" name="公式" r:id="rId3" imgW="1206360" imgH="419040" progId="Equation.3">
                  <p:embed/>
                </p:oleObj>
              </mc:Choice>
              <mc:Fallback>
                <p:oleObj name="公式" r:id="rId3" imgW="1206360" imgH="419040" progId="Equation.3">
                  <p:embed/>
                  <p:pic>
                    <p:nvPicPr>
                      <p:cNvPr id="4" name="对象 3"/>
                      <p:cNvPicPr/>
                      <p:nvPr/>
                    </p:nvPicPr>
                    <p:blipFill>
                      <a:blip r:embed="rId4"/>
                      <a:stretch>
                        <a:fillRect/>
                      </a:stretch>
                    </p:blipFill>
                    <p:spPr>
                      <a:xfrm>
                        <a:off x="5885224" y="1986014"/>
                        <a:ext cx="1936081" cy="672533"/>
                      </a:xfrm>
                      <a:prstGeom prst="rect">
                        <a:avLst/>
                      </a:prstGeom>
                    </p:spPr>
                  </p:pic>
                </p:oleObj>
              </mc:Fallback>
            </mc:AlternateContent>
          </a:graphicData>
        </a:graphic>
      </p:graphicFrame>
      <p:sp>
        <p:nvSpPr>
          <p:cNvPr id="5" name="文本框 4"/>
          <p:cNvSpPr txBox="1"/>
          <p:nvPr/>
        </p:nvSpPr>
        <p:spPr>
          <a:xfrm>
            <a:off x="1948474" y="2737745"/>
            <a:ext cx="1024639" cy="343620"/>
          </a:xfrm>
          <a:prstGeom prst="rect">
            <a:avLst/>
          </a:prstGeom>
          <a:noFill/>
        </p:spPr>
        <p:txBody>
          <a:bodyPr wrap="none" rtlCol="0">
            <a:spAutoFit/>
          </a:bodyPr>
          <a:lstStyle/>
          <a:p>
            <a:r>
              <a:rPr lang="zh-CN" altLang="en-US" sz="1633" dirty="0"/>
              <a:t>根据定义</a:t>
            </a:r>
          </a:p>
        </p:txBody>
      </p:sp>
      <p:graphicFrame>
        <p:nvGraphicFramePr>
          <p:cNvPr id="6" name="对象 5"/>
          <p:cNvGraphicFramePr>
            <a:graphicFrameLocks noChangeAspect="1"/>
          </p:cNvGraphicFramePr>
          <p:nvPr>
            <p:extLst/>
          </p:nvPr>
        </p:nvGraphicFramePr>
        <p:xfrm>
          <a:off x="3123606" y="2867805"/>
          <a:ext cx="4774596" cy="664817"/>
        </p:xfrm>
        <a:graphic>
          <a:graphicData uri="http://schemas.openxmlformats.org/presentationml/2006/ole">
            <mc:AlternateContent xmlns:mc="http://schemas.openxmlformats.org/markup-compatibility/2006">
              <mc:Choice xmlns:v="urn:schemas-microsoft-com:vml" Requires="v">
                <p:oleObj spid="_x0000_s13333" name="公式" r:id="rId5" imgW="3009600" imgH="419040" progId="Equation.3">
                  <p:embed/>
                </p:oleObj>
              </mc:Choice>
              <mc:Fallback>
                <p:oleObj name="公式" r:id="rId5" imgW="3009600" imgH="419040" progId="Equation.3">
                  <p:embed/>
                  <p:pic>
                    <p:nvPicPr>
                      <p:cNvPr id="6" name="对象 5"/>
                      <p:cNvPicPr/>
                      <p:nvPr/>
                    </p:nvPicPr>
                    <p:blipFill>
                      <a:blip r:embed="rId6"/>
                      <a:stretch>
                        <a:fillRect/>
                      </a:stretch>
                    </p:blipFill>
                    <p:spPr>
                      <a:xfrm>
                        <a:off x="3123606" y="2867805"/>
                        <a:ext cx="4774596" cy="664817"/>
                      </a:xfrm>
                      <a:prstGeom prst="rect">
                        <a:avLst/>
                      </a:prstGeom>
                    </p:spPr>
                  </p:pic>
                </p:oleObj>
              </mc:Fallback>
            </mc:AlternateContent>
          </a:graphicData>
        </a:graphic>
      </p:graphicFrame>
      <p:graphicFrame>
        <p:nvGraphicFramePr>
          <p:cNvPr id="40" name="对象 39"/>
          <p:cNvGraphicFramePr>
            <a:graphicFrameLocks noChangeAspect="1"/>
          </p:cNvGraphicFramePr>
          <p:nvPr>
            <p:extLst/>
          </p:nvPr>
        </p:nvGraphicFramePr>
        <p:xfrm>
          <a:off x="8228811" y="2877437"/>
          <a:ext cx="1955674" cy="652372"/>
        </p:xfrm>
        <a:graphic>
          <a:graphicData uri="http://schemas.openxmlformats.org/presentationml/2006/ole">
            <mc:AlternateContent xmlns:mc="http://schemas.openxmlformats.org/markup-compatibility/2006">
              <mc:Choice xmlns:v="urn:schemas-microsoft-com:vml" Requires="v">
                <p:oleObj spid="_x0000_s13334" name="公式" r:id="rId7" imgW="1218960" imgH="406080" progId="Equation.3">
                  <p:embed/>
                </p:oleObj>
              </mc:Choice>
              <mc:Fallback>
                <p:oleObj name="公式" r:id="rId7" imgW="1218960" imgH="406080" progId="Equation.3">
                  <p:embed/>
                  <p:pic>
                    <p:nvPicPr>
                      <p:cNvPr id="40" name="对象 39"/>
                      <p:cNvPicPr/>
                      <p:nvPr/>
                    </p:nvPicPr>
                    <p:blipFill>
                      <a:blip r:embed="rId8"/>
                      <a:stretch>
                        <a:fillRect/>
                      </a:stretch>
                    </p:blipFill>
                    <p:spPr>
                      <a:xfrm>
                        <a:off x="8228811" y="2877437"/>
                        <a:ext cx="1955674" cy="652372"/>
                      </a:xfrm>
                      <a:prstGeom prst="rect">
                        <a:avLst/>
                      </a:prstGeom>
                    </p:spPr>
                  </p:pic>
                </p:oleObj>
              </mc:Fallback>
            </mc:AlternateContent>
          </a:graphicData>
        </a:graphic>
      </p:graphicFrame>
      <p:graphicFrame>
        <p:nvGraphicFramePr>
          <p:cNvPr id="41" name="对象 40"/>
          <p:cNvGraphicFramePr>
            <a:graphicFrameLocks noChangeAspect="1"/>
          </p:cNvGraphicFramePr>
          <p:nvPr>
            <p:extLst/>
          </p:nvPr>
        </p:nvGraphicFramePr>
        <p:xfrm>
          <a:off x="3123608" y="3628213"/>
          <a:ext cx="5884303" cy="663893"/>
        </p:xfrm>
        <a:graphic>
          <a:graphicData uri="http://schemas.openxmlformats.org/presentationml/2006/ole">
            <mc:AlternateContent xmlns:mc="http://schemas.openxmlformats.org/markup-compatibility/2006">
              <mc:Choice xmlns:v="urn:schemas-microsoft-com:vml" Requires="v">
                <p:oleObj spid="_x0000_s13335" name="公式" r:id="rId9" imgW="3708360" imgH="419040" progId="Equation.3">
                  <p:embed/>
                </p:oleObj>
              </mc:Choice>
              <mc:Fallback>
                <p:oleObj name="公式" r:id="rId9" imgW="3708360" imgH="419040" progId="Equation.3">
                  <p:embed/>
                  <p:pic>
                    <p:nvPicPr>
                      <p:cNvPr id="41" name="对象 40"/>
                      <p:cNvPicPr/>
                      <p:nvPr/>
                    </p:nvPicPr>
                    <p:blipFill>
                      <a:blip r:embed="rId10"/>
                      <a:stretch>
                        <a:fillRect/>
                      </a:stretch>
                    </p:blipFill>
                    <p:spPr>
                      <a:xfrm>
                        <a:off x="3123608" y="3628213"/>
                        <a:ext cx="5884303" cy="663893"/>
                      </a:xfrm>
                      <a:prstGeom prst="rect">
                        <a:avLst/>
                      </a:prstGeom>
                    </p:spPr>
                  </p:pic>
                </p:oleObj>
              </mc:Fallback>
            </mc:AlternateContent>
          </a:graphicData>
        </a:graphic>
      </p:graphicFrame>
      <p:graphicFrame>
        <p:nvGraphicFramePr>
          <p:cNvPr id="42" name="对象 41"/>
          <p:cNvGraphicFramePr>
            <a:graphicFrameLocks noChangeAspect="1"/>
          </p:cNvGraphicFramePr>
          <p:nvPr>
            <p:extLst/>
          </p:nvPr>
        </p:nvGraphicFramePr>
        <p:xfrm>
          <a:off x="8109281" y="4245545"/>
          <a:ext cx="2076644" cy="652372"/>
        </p:xfrm>
        <a:graphic>
          <a:graphicData uri="http://schemas.openxmlformats.org/presentationml/2006/ole">
            <mc:AlternateContent xmlns:mc="http://schemas.openxmlformats.org/markup-compatibility/2006">
              <mc:Choice xmlns:v="urn:schemas-microsoft-com:vml" Requires="v">
                <p:oleObj spid="_x0000_s13336" name="公式" r:id="rId11" imgW="1295280" imgH="406080" progId="Equation.3">
                  <p:embed/>
                </p:oleObj>
              </mc:Choice>
              <mc:Fallback>
                <p:oleObj name="公式" r:id="rId11" imgW="1295280" imgH="406080" progId="Equation.3">
                  <p:embed/>
                  <p:pic>
                    <p:nvPicPr>
                      <p:cNvPr id="42" name="对象 41"/>
                      <p:cNvPicPr/>
                      <p:nvPr/>
                    </p:nvPicPr>
                    <p:blipFill>
                      <a:blip r:embed="rId12"/>
                      <a:stretch>
                        <a:fillRect/>
                      </a:stretch>
                    </p:blipFill>
                    <p:spPr>
                      <a:xfrm>
                        <a:off x="8109281" y="4245545"/>
                        <a:ext cx="2076644" cy="652372"/>
                      </a:xfrm>
                      <a:prstGeom prst="rect">
                        <a:avLst/>
                      </a:prstGeom>
                    </p:spPr>
                  </p:pic>
                </p:oleObj>
              </mc:Fallback>
            </mc:AlternateContent>
          </a:graphicData>
        </a:graphic>
      </p:graphicFrame>
      <p:graphicFrame>
        <p:nvGraphicFramePr>
          <p:cNvPr id="43" name="对象 42"/>
          <p:cNvGraphicFramePr>
            <a:graphicFrameLocks noChangeAspect="1"/>
          </p:cNvGraphicFramePr>
          <p:nvPr>
            <p:extLst/>
          </p:nvPr>
        </p:nvGraphicFramePr>
        <p:xfrm>
          <a:off x="1948474" y="4908417"/>
          <a:ext cx="3313758" cy="586854"/>
        </p:xfrm>
        <a:graphic>
          <a:graphicData uri="http://schemas.openxmlformats.org/presentationml/2006/ole">
            <mc:AlternateContent xmlns:mc="http://schemas.openxmlformats.org/markup-compatibility/2006">
              <mc:Choice xmlns:v="urn:schemas-microsoft-com:vml" Requires="v">
                <p:oleObj spid="_x0000_s13337" name="公式" r:id="rId13" imgW="1434960" imgH="253800" progId="Equation.3">
                  <p:embed/>
                </p:oleObj>
              </mc:Choice>
              <mc:Fallback>
                <p:oleObj name="公式" r:id="rId13" imgW="1434960" imgH="253800" progId="Equation.3">
                  <p:embed/>
                  <p:pic>
                    <p:nvPicPr>
                      <p:cNvPr id="43" name="对象 42"/>
                      <p:cNvPicPr/>
                      <p:nvPr/>
                    </p:nvPicPr>
                    <p:blipFill>
                      <a:blip r:embed="rId14"/>
                      <a:stretch>
                        <a:fillRect/>
                      </a:stretch>
                    </p:blipFill>
                    <p:spPr>
                      <a:xfrm>
                        <a:off x="1948474" y="4908417"/>
                        <a:ext cx="3313758" cy="586854"/>
                      </a:xfrm>
                      <a:prstGeom prst="rect">
                        <a:avLst/>
                      </a:prstGeom>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1"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108</a:t>
            </a:r>
          </a:p>
        </p:txBody>
      </p:sp>
      <p:sp>
        <p:nvSpPr>
          <p:cNvPr id="123912" name="TextBox 1"/>
          <p:cNvSpPr txBox="1">
            <a:spLocks noChangeArrowheads="1"/>
          </p:cNvSpPr>
          <p:nvPr/>
        </p:nvSpPr>
        <p:spPr bwMode="auto">
          <a:xfrm>
            <a:off x="2314264" y="733110"/>
            <a:ext cx="6580328" cy="109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937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937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937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937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937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3.10.2</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偶合终止时的聚合度分布</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812"/>
              </a:lnSpc>
            </a:pPr>
            <a:r>
              <a:rPr lang="en-US" altLang="zh-CN" sz="1633"/>
              <a:t>	</a:t>
            </a:r>
            <a:r>
              <a:rPr lang="en-US" altLang="zh-CN" sz="2540">
                <a:latin typeface="楷体_GB2312"/>
                <a:ea typeface="楷体_GB2312"/>
                <a:cs typeface="楷体_GB2312"/>
              </a:rPr>
              <a:t>偶合终止：两条活性链结合形成一条大分子</a:t>
            </a:r>
          </a:p>
        </p:txBody>
      </p:sp>
      <p:sp>
        <p:nvSpPr>
          <p:cNvPr id="2" name="文本框 1"/>
          <p:cNvSpPr txBox="1"/>
          <p:nvPr/>
        </p:nvSpPr>
        <p:spPr>
          <a:xfrm>
            <a:off x="1810224" y="2115618"/>
            <a:ext cx="2820003" cy="441339"/>
          </a:xfrm>
          <a:prstGeom prst="rect">
            <a:avLst/>
          </a:prstGeom>
          <a:noFill/>
        </p:spPr>
        <p:txBody>
          <a:bodyPr wrap="none" rtlCol="0">
            <a:spAutoFit/>
          </a:bodyPr>
          <a:lstStyle/>
          <a:p>
            <a:r>
              <a:rPr lang="en-US" altLang="zh-CN" sz="2268" dirty="0"/>
              <a:t>X-</a:t>
            </a:r>
            <a:r>
              <a:rPr lang="zh-CN" altLang="en-US" sz="2268" dirty="0"/>
              <a:t>聚体的偶合方式：</a:t>
            </a:r>
          </a:p>
        </p:txBody>
      </p:sp>
      <p:sp>
        <p:nvSpPr>
          <p:cNvPr id="3" name="文本框 2"/>
          <p:cNvSpPr txBox="1"/>
          <p:nvPr/>
        </p:nvSpPr>
        <p:spPr>
          <a:xfrm>
            <a:off x="3246984" y="2593319"/>
            <a:ext cx="5723042" cy="441339"/>
          </a:xfrm>
          <a:prstGeom prst="rect">
            <a:avLst/>
          </a:prstGeom>
          <a:noFill/>
        </p:spPr>
        <p:txBody>
          <a:bodyPr wrap="none" rtlCol="0">
            <a:spAutoFit/>
          </a:bodyPr>
          <a:lstStyle/>
          <a:p>
            <a:r>
              <a:rPr lang="en-US" altLang="zh-CN" sz="2268" dirty="0"/>
              <a:t>1+(x-1), 2+(x-2), …… x/2+(x-x/2), </a:t>
            </a:r>
            <a:r>
              <a:rPr lang="zh-CN" altLang="en-US" sz="2268" dirty="0"/>
              <a:t>共</a:t>
            </a:r>
            <a:r>
              <a:rPr lang="en-US" altLang="zh-CN" sz="2268" dirty="0"/>
              <a:t>X/2</a:t>
            </a:r>
            <a:r>
              <a:rPr lang="zh-CN" altLang="en-US" sz="2268" dirty="0"/>
              <a:t>种。</a:t>
            </a:r>
          </a:p>
        </p:txBody>
      </p:sp>
      <p:sp>
        <p:nvSpPr>
          <p:cNvPr id="28" name="文本框 27"/>
          <p:cNvSpPr txBox="1"/>
          <p:nvPr/>
        </p:nvSpPr>
        <p:spPr>
          <a:xfrm>
            <a:off x="1810224" y="3340182"/>
            <a:ext cx="2215671" cy="441339"/>
          </a:xfrm>
          <a:prstGeom prst="rect">
            <a:avLst/>
          </a:prstGeom>
          <a:noFill/>
        </p:spPr>
        <p:txBody>
          <a:bodyPr wrap="none" rtlCol="0">
            <a:spAutoFit/>
          </a:bodyPr>
          <a:lstStyle/>
          <a:p>
            <a:r>
              <a:rPr lang="zh-CN" altLang="en-US" sz="2268" dirty="0"/>
              <a:t>两类偶合方式：</a:t>
            </a:r>
          </a:p>
        </p:txBody>
      </p:sp>
      <p:sp>
        <p:nvSpPr>
          <p:cNvPr id="30" name="文本框 29"/>
          <p:cNvSpPr txBox="1"/>
          <p:nvPr/>
        </p:nvSpPr>
        <p:spPr>
          <a:xfrm>
            <a:off x="2639728" y="3819883"/>
            <a:ext cx="7540847" cy="1086259"/>
          </a:xfrm>
          <a:prstGeom prst="rect">
            <a:avLst/>
          </a:prstGeom>
          <a:noFill/>
        </p:spPr>
        <p:txBody>
          <a:bodyPr wrap="none" rtlCol="0">
            <a:spAutoFit/>
          </a:bodyPr>
          <a:lstStyle/>
          <a:p>
            <a:pPr marL="311090" indent="-311090">
              <a:lnSpc>
                <a:spcPct val="150000"/>
              </a:lnSpc>
              <a:buFont typeface="Arial" panose="020B0604020202020204" pitchFamily="34" charset="0"/>
              <a:buChar char="•"/>
            </a:pPr>
            <a:r>
              <a:rPr lang="zh-CN" altLang="en-US" sz="2268" dirty="0"/>
              <a:t>不等长链的偶合：</a:t>
            </a:r>
            <a:r>
              <a:rPr lang="en-US" altLang="zh-CN" sz="2268" dirty="0"/>
              <a:t>y</a:t>
            </a:r>
            <a:r>
              <a:rPr lang="zh-CN" altLang="en-US" sz="2268" dirty="0"/>
              <a:t>聚体与</a:t>
            </a:r>
            <a:r>
              <a:rPr lang="en-US" altLang="zh-CN" sz="2268" dirty="0"/>
              <a:t>x-y</a:t>
            </a:r>
            <a:r>
              <a:rPr lang="zh-CN" altLang="en-US" sz="2268" dirty="0"/>
              <a:t>聚体的偶合（</a:t>
            </a:r>
            <a:r>
              <a:rPr lang="en-US" altLang="zh-CN" sz="2268" dirty="0"/>
              <a:t>x/2-1</a:t>
            </a:r>
            <a:r>
              <a:rPr lang="zh-CN" altLang="en-US" sz="2268" dirty="0"/>
              <a:t>种）；</a:t>
            </a:r>
            <a:endParaRPr lang="en-US" altLang="zh-CN" sz="2268" dirty="0"/>
          </a:p>
          <a:p>
            <a:pPr marL="311090" indent="-311090">
              <a:lnSpc>
                <a:spcPct val="150000"/>
              </a:lnSpc>
              <a:buFont typeface="Arial" panose="020B0604020202020204" pitchFamily="34" charset="0"/>
              <a:buChar char="•"/>
            </a:pPr>
            <a:r>
              <a:rPr lang="zh-CN" altLang="en-US" sz="2268" dirty="0"/>
              <a:t>等长链的偶合：</a:t>
            </a:r>
            <a:r>
              <a:rPr lang="en-US" altLang="zh-CN" sz="2268" dirty="0"/>
              <a:t>x/2</a:t>
            </a:r>
            <a:r>
              <a:rPr lang="zh-CN" altLang="en-US" sz="2268" dirty="0"/>
              <a:t>聚体与</a:t>
            </a:r>
            <a:r>
              <a:rPr lang="en-US" altLang="zh-CN" sz="2268" dirty="0"/>
              <a:t>x/2</a:t>
            </a:r>
            <a:r>
              <a:rPr lang="zh-CN" altLang="en-US" sz="2268" dirty="0"/>
              <a:t>聚体（</a:t>
            </a:r>
            <a:r>
              <a:rPr lang="en-US" altLang="zh-CN" sz="2268" dirty="0"/>
              <a:t>1</a:t>
            </a:r>
            <a:r>
              <a:rPr lang="zh-CN" altLang="en-US" sz="2268" dirty="0"/>
              <a:t>种）</a:t>
            </a:r>
          </a:p>
        </p:txBody>
      </p:sp>
      <p:sp>
        <p:nvSpPr>
          <p:cNvPr id="31" name="文本框 30"/>
          <p:cNvSpPr txBox="1"/>
          <p:nvPr/>
        </p:nvSpPr>
        <p:spPr>
          <a:xfrm>
            <a:off x="2155851" y="5325868"/>
            <a:ext cx="8018551" cy="8184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359" dirty="0"/>
              <a:t>如</a:t>
            </a:r>
            <a:r>
              <a:rPr lang="en-US" altLang="zh-CN" sz="2359" dirty="0"/>
              <a:t>50-</a:t>
            </a:r>
            <a:r>
              <a:rPr lang="zh-CN" altLang="en-US" sz="2359" dirty="0"/>
              <a:t>聚体：</a:t>
            </a:r>
            <a:r>
              <a:rPr lang="en-US" altLang="zh-CN" sz="2359" dirty="0"/>
              <a:t>24</a:t>
            </a:r>
            <a:r>
              <a:rPr lang="zh-CN" altLang="en-US" sz="2359" dirty="0"/>
              <a:t>种不等长链的偶合（如</a:t>
            </a:r>
            <a:r>
              <a:rPr lang="en-US" altLang="zh-CN" sz="2359" dirty="0"/>
              <a:t>26+24</a:t>
            </a:r>
            <a:r>
              <a:rPr lang="zh-CN" altLang="en-US" sz="2359" dirty="0"/>
              <a:t>），加上</a:t>
            </a:r>
            <a:r>
              <a:rPr lang="en-US" altLang="zh-CN" sz="2359" dirty="0"/>
              <a:t>1</a:t>
            </a:r>
            <a:r>
              <a:rPr lang="zh-CN" altLang="en-US" sz="2359" dirty="0"/>
              <a:t>种等长链的偶合（</a:t>
            </a:r>
            <a:r>
              <a:rPr lang="en-US" altLang="zh-CN" sz="2359" dirty="0"/>
              <a:t>25+25</a:t>
            </a:r>
            <a:r>
              <a:rPr lang="zh-CN" altLang="en-US" sz="2359" dirty="0"/>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1"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108</a:t>
            </a:r>
          </a:p>
        </p:txBody>
      </p:sp>
      <p:sp>
        <p:nvSpPr>
          <p:cNvPr id="123912" name="TextBox 1"/>
          <p:cNvSpPr txBox="1">
            <a:spLocks noChangeArrowheads="1"/>
          </p:cNvSpPr>
          <p:nvPr/>
        </p:nvSpPr>
        <p:spPr bwMode="auto">
          <a:xfrm>
            <a:off x="1816228" y="1160353"/>
            <a:ext cx="1061364" cy="1064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3937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937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937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937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937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zh-CN" altLang="en-US" sz="2177" dirty="0">
                <a:latin typeface="楷体_GB2312"/>
                <a:ea typeface="楷体_GB2312"/>
                <a:cs typeface="楷体_GB2312"/>
              </a:rPr>
              <a:t>非等长链的成键几率：</a:t>
            </a:r>
            <a:endParaRPr lang="en-US" altLang="zh-CN" sz="2177" dirty="0">
              <a:latin typeface="楷体_GB2312"/>
              <a:ea typeface="楷体_GB2312"/>
              <a:cs typeface="楷体_GB2312"/>
            </a:endParaRPr>
          </a:p>
        </p:txBody>
      </p:sp>
      <p:graphicFrame>
        <p:nvGraphicFramePr>
          <p:cNvPr id="2" name="对象 1"/>
          <p:cNvGraphicFramePr>
            <a:graphicFrameLocks noChangeAspect="1"/>
          </p:cNvGraphicFramePr>
          <p:nvPr>
            <p:extLst/>
          </p:nvPr>
        </p:nvGraphicFramePr>
        <p:xfrm>
          <a:off x="2946472" y="1384041"/>
          <a:ext cx="6913920" cy="459397"/>
        </p:xfrm>
        <a:graphic>
          <a:graphicData uri="http://schemas.openxmlformats.org/presentationml/2006/ole">
            <mc:AlternateContent xmlns:mc="http://schemas.openxmlformats.org/markup-compatibility/2006">
              <mc:Choice xmlns:v="urn:schemas-microsoft-com:vml" Requires="v">
                <p:oleObj spid="_x0000_s14347" name="公式" r:id="rId3" imgW="3822480" imgH="253800" progId="Equation.3">
                  <p:embed/>
                </p:oleObj>
              </mc:Choice>
              <mc:Fallback>
                <p:oleObj name="公式" r:id="rId3" imgW="3822480" imgH="253800" progId="Equation.3">
                  <p:embed/>
                  <p:pic>
                    <p:nvPicPr>
                      <p:cNvPr id="2" name="对象 1"/>
                      <p:cNvPicPr/>
                      <p:nvPr/>
                    </p:nvPicPr>
                    <p:blipFill>
                      <a:blip r:embed="rId4"/>
                      <a:stretch>
                        <a:fillRect/>
                      </a:stretch>
                    </p:blipFill>
                    <p:spPr>
                      <a:xfrm>
                        <a:off x="2946472" y="1384041"/>
                        <a:ext cx="6913920" cy="459397"/>
                      </a:xfrm>
                      <a:prstGeom prst="rect">
                        <a:avLst/>
                      </a:prstGeom>
                    </p:spPr>
                  </p:pic>
                </p:oleObj>
              </mc:Fallback>
            </mc:AlternateContent>
          </a:graphicData>
        </a:graphic>
      </p:graphicFrame>
      <p:sp>
        <p:nvSpPr>
          <p:cNvPr id="3" name="文本框 2"/>
          <p:cNvSpPr txBox="1"/>
          <p:nvPr/>
        </p:nvSpPr>
        <p:spPr>
          <a:xfrm>
            <a:off x="4292980" y="712682"/>
            <a:ext cx="1768433" cy="343620"/>
          </a:xfrm>
          <a:prstGeom prst="rect">
            <a:avLst/>
          </a:prstGeom>
          <a:noFill/>
        </p:spPr>
        <p:txBody>
          <a:bodyPr wrap="none" rtlCol="0">
            <a:spAutoFit/>
          </a:bodyPr>
          <a:lstStyle/>
          <a:p>
            <a:r>
              <a:rPr lang="en-US" altLang="zh-CN" sz="1633" dirty="0"/>
              <a:t>Y</a:t>
            </a:r>
            <a:r>
              <a:rPr lang="zh-CN" altLang="en-US" sz="1633" dirty="0"/>
              <a:t>聚体的成键几率</a:t>
            </a:r>
          </a:p>
        </p:txBody>
      </p:sp>
      <p:sp>
        <p:nvSpPr>
          <p:cNvPr id="28" name="文本框 27"/>
          <p:cNvSpPr txBox="1"/>
          <p:nvPr/>
        </p:nvSpPr>
        <p:spPr>
          <a:xfrm>
            <a:off x="6044866" y="693252"/>
            <a:ext cx="1992853" cy="343620"/>
          </a:xfrm>
          <a:prstGeom prst="rect">
            <a:avLst/>
          </a:prstGeom>
          <a:noFill/>
        </p:spPr>
        <p:txBody>
          <a:bodyPr wrap="none" rtlCol="0">
            <a:spAutoFit/>
          </a:bodyPr>
          <a:lstStyle/>
          <a:p>
            <a:r>
              <a:rPr lang="en-US" altLang="zh-CN" sz="1633" dirty="0"/>
              <a:t>X-Y</a:t>
            </a:r>
            <a:r>
              <a:rPr lang="zh-CN" altLang="en-US" sz="1633" dirty="0"/>
              <a:t>聚体的成键几率</a:t>
            </a:r>
          </a:p>
        </p:txBody>
      </p:sp>
      <p:sp>
        <p:nvSpPr>
          <p:cNvPr id="4" name="圆角矩形 3"/>
          <p:cNvSpPr/>
          <p:nvPr/>
        </p:nvSpPr>
        <p:spPr>
          <a:xfrm>
            <a:off x="4292978" y="543014"/>
            <a:ext cx="1751887" cy="134531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33"/>
          </a:p>
        </p:txBody>
      </p:sp>
      <p:sp>
        <p:nvSpPr>
          <p:cNvPr id="30" name="圆角矩形 29"/>
          <p:cNvSpPr/>
          <p:nvPr/>
        </p:nvSpPr>
        <p:spPr>
          <a:xfrm>
            <a:off x="6085557" y="583023"/>
            <a:ext cx="1751887" cy="134531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33"/>
          </a:p>
        </p:txBody>
      </p:sp>
      <p:graphicFrame>
        <p:nvGraphicFramePr>
          <p:cNvPr id="5" name="对象 4"/>
          <p:cNvGraphicFramePr>
            <a:graphicFrameLocks noChangeAspect="1"/>
          </p:cNvGraphicFramePr>
          <p:nvPr>
            <p:extLst/>
          </p:nvPr>
        </p:nvGraphicFramePr>
        <p:xfrm>
          <a:off x="9344896" y="1936004"/>
          <a:ext cx="1143732" cy="243746"/>
        </p:xfrm>
        <a:graphic>
          <a:graphicData uri="http://schemas.openxmlformats.org/presentationml/2006/ole">
            <mc:AlternateContent xmlns:mc="http://schemas.openxmlformats.org/markup-compatibility/2006">
              <mc:Choice xmlns:v="urn:schemas-microsoft-com:vml" Requires="v">
                <p:oleObj spid="_x0000_s14348" name="公式" r:id="rId5" imgW="774360" imgH="164880" progId="Equation.3">
                  <p:embed/>
                </p:oleObj>
              </mc:Choice>
              <mc:Fallback>
                <p:oleObj name="公式" r:id="rId5" imgW="774360" imgH="164880" progId="Equation.3">
                  <p:embed/>
                  <p:pic>
                    <p:nvPicPr>
                      <p:cNvPr id="5" name="对象 4"/>
                      <p:cNvPicPr/>
                      <p:nvPr/>
                    </p:nvPicPr>
                    <p:blipFill>
                      <a:blip r:embed="rId6"/>
                      <a:stretch>
                        <a:fillRect/>
                      </a:stretch>
                    </p:blipFill>
                    <p:spPr>
                      <a:xfrm>
                        <a:off x="9344896" y="1936004"/>
                        <a:ext cx="1143732" cy="243746"/>
                      </a:xfrm>
                      <a:prstGeom prst="rect">
                        <a:avLst/>
                      </a:prstGeom>
                    </p:spPr>
                  </p:pic>
                </p:oleObj>
              </mc:Fallback>
            </mc:AlternateContent>
          </a:graphicData>
        </a:graphic>
      </p:graphicFrame>
      <p:sp>
        <p:nvSpPr>
          <p:cNvPr id="6" name="文本框 5"/>
          <p:cNvSpPr txBox="1"/>
          <p:nvPr/>
        </p:nvSpPr>
        <p:spPr>
          <a:xfrm>
            <a:off x="2767535" y="2585557"/>
            <a:ext cx="6636043" cy="594906"/>
          </a:xfrm>
          <a:prstGeom prst="rect">
            <a:avLst/>
          </a:prstGeom>
          <a:noFill/>
        </p:spPr>
        <p:txBody>
          <a:bodyPr wrap="square" rtlCol="0">
            <a:spAutoFit/>
          </a:bodyPr>
          <a:lstStyle/>
          <a:p>
            <a:r>
              <a:rPr lang="zh-CN" altLang="en-US" sz="1633" dirty="0"/>
              <a:t>自由基偶合成定长的大分子有两种方式，如当聚合度为</a:t>
            </a:r>
            <a:r>
              <a:rPr lang="en-US" altLang="zh-CN" sz="1633" dirty="0"/>
              <a:t>1000</a:t>
            </a:r>
            <a:r>
              <a:rPr lang="zh-CN" altLang="en-US" sz="1633" dirty="0"/>
              <a:t>，则分别为</a:t>
            </a:r>
            <a:r>
              <a:rPr lang="en-US" altLang="zh-CN" sz="1633" dirty="0"/>
              <a:t>1+999</a:t>
            </a:r>
            <a:r>
              <a:rPr lang="zh-CN" altLang="en-US" sz="1633" dirty="0"/>
              <a:t>，和</a:t>
            </a:r>
            <a:r>
              <a:rPr lang="en-US" altLang="zh-CN" sz="1633" dirty="0"/>
              <a:t>999+1</a:t>
            </a:r>
            <a:r>
              <a:rPr lang="zh-CN" altLang="en-US" sz="1633" dirty="0"/>
              <a:t>两种，几率增加一倍，所以乘以</a:t>
            </a:r>
            <a:r>
              <a:rPr lang="en-US" altLang="zh-CN" sz="1633" dirty="0"/>
              <a:t>2</a:t>
            </a:r>
            <a:endParaRPr lang="zh-CN" altLang="en-US" sz="1633" dirty="0"/>
          </a:p>
        </p:txBody>
      </p:sp>
      <p:cxnSp>
        <p:nvCxnSpPr>
          <p:cNvPr id="8" name="直接箭头连接符 7"/>
          <p:cNvCxnSpPr>
            <a:stCxn id="6" idx="0"/>
          </p:cNvCxnSpPr>
          <p:nvPr/>
        </p:nvCxnSpPr>
        <p:spPr>
          <a:xfrm flipV="1">
            <a:off x="6085557" y="1763329"/>
            <a:ext cx="2153332" cy="822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1"/>
          <p:cNvSpPr txBox="1">
            <a:spLocks noChangeArrowheads="1"/>
          </p:cNvSpPr>
          <p:nvPr/>
        </p:nvSpPr>
        <p:spPr bwMode="auto">
          <a:xfrm>
            <a:off x="1698956" y="3912879"/>
            <a:ext cx="1061364" cy="1064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3937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937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937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937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937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zh-CN" altLang="en-US" sz="2177" dirty="0">
                <a:latin typeface="楷体_GB2312"/>
                <a:ea typeface="楷体_GB2312"/>
                <a:cs typeface="楷体_GB2312"/>
              </a:rPr>
              <a:t>等长链的成键几率：</a:t>
            </a:r>
            <a:endParaRPr lang="en-US" altLang="zh-CN" sz="2177" dirty="0">
              <a:latin typeface="楷体_GB2312"/>
              <a:ea typeface="楷体_GB2312"/>
              <a:cs typeface="楷体_GB2312"/>
            </a:endParaRPr>
          </a:p>
        </p:txBody>
      </p:sp>
      <p:graphicFrame>
        <p:nvGraphicFramePr>
          <p:cNvPr id="32" name="对象 31"/>
          <p:cNvGraphicFramePr>
            <a:graphicFrameLocks noChangeAspect="1"/>
          </p:cNvGraphicFramePr>
          <p:nvPr>
            <p:extLst/>
          </p:nvPr>
        </p:nvGraphicFramePr>
        <p:xfrm>
          <a:off x="2819745" y="4136098"/>
          <a:ext cx="7029193" cy="459397"/>
        </p:xfrm>
        <a:graphic>
          <a:graphicData uri="http://schemas.openxmlformats.org/presentationml/2006/ole">
            <mc:AlternateContent xmlns:mc="http://schemas.openxmlformats.org/markup-compatibility/2006">
              <mc:Choice xmlns:v="urn:schemas-microsoft-com:vml" Requires="v">
                <p:oleObj spid="_x0000_s14349" name="公式" r:id="rId7" imgW="3886200" imgH="253800" progId="Equation.3">
                  <p:embed/>
                </p:oleObj>
              </mc:Choice>
              <mc:Fallback>
                <p:oleObj name="公式" r:id="rId7" imgW="3886200" imgH="253800" progId="Equation.3">
                  <p:embed/>
                  <p:pic>
                    <p:nvPicPr>
                      <p:cNvPr id="32" name="对象 31"/>
                      <p:cNvPicPr/>
                      <p:nvPr/>
                    </p:nvPicPr>
                    <p:blipFill>
                      <a:blip r:embed="rId8"/>
                      <a:stretch>
                        <a:fillRect/>
                      </a:stretch>
                    </p:blipFill>
                    <p:spPr>
                      <a:xfrm>
                        <a:off x="2819745" y="4136098"/>
                        <a:ext cx="7029193" cy="459397"/>
                      </a:xfrm>
                      <a:prstGeom prst="rect">
                        <a:avLst/>
                      </a:prstGeom>
                    </p:spPr>
                  </p:pic>
                </p:oleObj>
              </mc:Fallback>
            </mc:AlternateContent>
          </a:graphicData>
        </a:graphic>
      </p:graphicFrame>
      <p:sp>
        <p:nvSpPr>
          <p:cNvPr id="33" name="文本框 32"/>
          <p:cNvSpPr txBox="1"/>
          <p:nvPr/>
        </p:nvSpPr>
        <p:spPr>
          <a:xfrm>
            <a:off x="4292980" y="3577835"/>
            <a:ext cx="1936749" cy="343620"/>
          </a:xfrm>
          <a:prstGeom prst="rect">
            <a:avLst/>
          </a:prstGeom>
          <a:noFill/>
        </p:spPr>
        <p:txBody>
          <a:bodyPr wrap="none" rtlCol="0">
            <a:spAutoFit/>
          </a:bodyPr>
          <a:lstStyle/>
          <a:p>
            <a:r>
              <a:rPr lang="en-US" altLang="zh-CN" sz="1633" dirty="0"/>
              <a:t>x/2</a:t>
            </a:r>
            <a:r>
              <a:rPr lang="zh-CN" altLang="en-US" sz="1633" dirty="0"/>
              <a:t>聚体的成键几率</a:t>
            </a:r>
          </a:p>
        </p:txBody>
      </p:sp>
    </p:spTree>
    <p:extLst>
      <p:ext uri="{BB962C8B-B14F-4D97-AF65-F5344CB8AC3E}">
        <p14:creationId xmlns:p14="http://schemas.microsoft.com/office/powerpoint/2010/main" val="39953246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1"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108</a:t>
            </a:r>
          </a:p>
        </p:txBody>
      </p:sp>
      <p:sp>
        <p:nvSpPr>
          <p:cNvPr id="123912" name="TextBox 1"/>
          <p:cNvSpPr txBox="1">
            <a:spLocks noChangeArrowheads="1"/>
          </p:cNvSpPr>
          <p:nvPr/>
        </p:nvSpPr>
        <p:spPr bwMode="auto">
          <a:xfrm>
            <a:off x="1816228" y="1160353"/>
            <a:ext cx="3795894" cy="372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a:spAutoFit/>
          </a:bodyPr>
          <a:lstStyle>
            <a:lvl1pPr eaLnBrk="0" hangingPunct="0">
              <a:tabLst>
                <a:tab pos="3937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937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937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937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937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937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zh-CN" altLang="en-US" sz="2177" dirty="0">
                <a:latin typeface="楷体_GB2312"/>
                <a:ea typeface="楷体_GB2312"/>
                <a:cs typeface="楷体_GB2312"/>
              </a:rPr>
              <a:t>形成</a:t>
            </a:r>
            <a:r>
              <a:rPr lang="en-US" altLang="zh-CN" sz="2177" dirty="0">
                <a:latin typeface="楷体_GB2312"/>
                <a:ea typeface="楷体_GB2312"/>
                <a:cs typeface="楷体_GB2312"/>
              </a:rPr>
              <a:t>x</a:t>
            </a:r>
            <a:r>
              <a:rPr lang="zh-CN" altLang="en-US" sz="2177" dirty="0">
                <a:latin typeface="楷体_GB2312"/>
                <a:ea typeface="楷体_GB2312"/>
                <a:cs typeface="楷体_GB2312"/>
              </a:rPr>
              <a:t>聚体的成键几率为：</a:t>
            </a:r>
            <a:endParaRPr lang="en-US" altLang="zh-CN" sz="2177" dirty="0">
              <a:latin typeface="楷体_GB2312"/>
              <a:ea typeface="楷体_GB2312"/>
              <a:cs typeface="楷体_GB2312"/>
            </a:endParaRPr>
          </a:p>
        </p:txBody>
      </p:sp>
      <p:graphicFrame>
        <p:nvGraphicFramePr>
          <p:cNvPr id="2" name="对象 1"/>
          <p:cNvGraphicFramePr>
            <a:graphicFrameLocks noChangeAspect="1"/>
          </p:cNvGraphicFramePr>
          <p:nvPr>
            <p:extLst/>
          </p:nvPr>
        </p:nvGraphicFramePr>
        <p:xfrm>
          <a:off x="3192734" y="3014250"/>
          <a:ext cx="6038752" cy="1585564"/>
        </p:xfrm>
        <a:graphic>
          <a:graphicData uri="http://schemas.openxmlformats.org/presentationml/2006/ole">
            <mc:AlternateContent xmlns:mc="http://schemas.openxmlformats.org/markup-compatibility/2006">
              <mc:Choice xmlns:v="urn:schemas-microsoft-com:vml" Requires="v">
                <p:oleObj spid="_x0000_s15365" name="公式" r:id="rId3" imgW="2755800" imgH="723600" progId="Equation.3">
                  <p:embed/>
                </p:oleObj>
              </mc:Choice>
              <mc:Fallback>
                <p:oleObj name="公式" r:id="rId3" imgW="2755800" imgH="723600" progId="Equation.3">
                  <p:embed/>
                  <p:pic>
                    <p:nvPicPr>
                      <p:cNvPr id="2" name="对象 1"/>
                      <p:cNvPicPr/>
                      <p:nvPr/>
                    </p:nvPicPr>
                    <p:blipFill>
                      <a:blip r:embed="rId4"/>
                      <a:stretch>
                        <a:fillRect/>
                      </a:stretch>
                    </p:blipFill>
                    <p:spPr>
                      <a:xfrm>
                        <a:off x="3192734" y="3014250"/>
                        <a:ext cx="6038752" cy="1585564"/>
                      </a:xfrm>
                      <a:prstGeom prst="rect">
                        <a:avLst/>
                      </a:prstGeom>
                    </p:spPr>
                  </p:pic>
                </p:oleObj>
              </mc:Fallback>
            </mc:AlternateContent>
          </a:graphicData>
        </a:graphic>
      </p:graphicFrame>
      <p:sp>
        <p:nvSpPr>
          <p:cNvPr id="3" name="文本框 2"/>
          <p:cNvSpPr txBox="1"/>
          <p:nvPr/>
        </p:nvSpPr>
        <p:spPr>
          <a:xfrm>
            <a:off x="4644368" y="2184744"/>
            <a:ext cx="1457394" cy="594906"/>
          </a:xfrm>
          <a:prstGeom prst="rect">
            <a:avLst/>
          </a:prstGeom>
          <a:noFill/>
        </p:spPr>
        <p:txBody>
          <a:bodyPr wrap="square" rtlCol="0">
            <a:spAutoFit/>
          </a:bodyPr>
          <a:lstStyle/>
          <a:p>
            <a:r>
              <a:rPr lang="zh-CN" altLang="en-US" sz="1633" dirty="0"/>
              <a:t>非等长链偶合的成键几率</a:t>
            </a:r>
          </a:p>
        </p:txBody>
      </p:sp>
      <p:sp>
        <p:nvSpPr>
          <p:cNvPr id="28" name="文本框 27"/>
          <p:cNvSpPr txBox="1"/>
          <p:nvPr/>
        </p:nvSpPr>
        <p:spPr>
          <a:xfrm>
            <a:off x="6925506" y="2151497"/>
            <a:ext cx="1226267" cy="594906"/>
          </a:xfrm>
          <a:prstGeom prst="rect">
            <a:avLst/>
          </a:prstGeom>
          <a:noFill/>
        </p:spPr>
        <p:txBody>
          <a:bodyPr wrap="square" rtlCol="0">
            <a:spAutoFit/>
          </a:bodyPr>
          <a:lstStyle/>
          <a:p>
            <a:r>
              <a:rPr lang="zh-CN" altLang="en-US" sz="1633" dirty="0"/>
              <a:t>等长链偶合的成键几率</a:t>
            </a:r>
          </a:p>
        </p:txBody>
      </p:sp>
    </p:spTree>
    <p:extLst>
      <p:ext uri="{BB962C8B-B14F-4D97-AF65-F5344CB8AC3E}">
        <p14:creationId xmlns:p14="http://schemas.microsoft.com/office/powerpoint/2010/main" val="3792130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2711736" y="1998968"/>
            <a:ext cx="181454" cy="23042"/>
          </a:xfrm>
          <a:custGeom>
            <a:avLst/>
            <a:gdLst>
              <a:gd name="connsiteX0" fmla="*/ 6350 w 200152"/>
              <a:gd name="connsiteY0" fmla="*/ 6350 h 24295"/>
              <a:gd name="connsiteX1" fmla="*/ 193801 w 200152"/>
              <a:gd name="connsiteY1" fmla="*/ 6350 h 24295"/>
            </a:gdLst>
            <a:ahLst/>
            <a:cxnLst>
              <a:cxn ang="0">
                <a:pos x="connsiteX0" y="connsiteY0"/>
              </a:cxn>
              <a:cxn ang="1">
                <a:pos x="connsiteX1" y="connsiteY1"/>
              </a:cxn>
            </a:cxnLst>
            <a:rect l="l" t="t" r="r" b="b"/>
            <a:pathLst>
              <a:path w="200152" h="24295">
                <a:moveTo>
                  <a:pt x="6350" y="6350"/>
                </a:moveTo>
                <a:lnTo>
                  <a:pt x="193801"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3" name="Freeform 3"/>
          <p:cNvSpPr/>
          <p:nvPr/>
        </p:nvSpPr>
        <p:spPr>
          <a:xfrm>
            <a:off x="3554200" y="2148742"/>
            <a:ext cx="401791" cy="21602"/>
          </a:xfrm>
          <a:custGeom>
            <a:avLst/>
            <a:gdLst>
              <a:gd name="connsiteX0" fmla="*/ 6350 w 443230"/>
              <a:gd name="connsiteY0" fmla="*/ 6350 h 24295"/>
              <a:gd name="connsiteX1" fmla="*/ 436879 w 443230"/>
              <a:gd name="connsiteY1" fmla="*/ 6350 h 24295"/>
            </a:gdLst>
            <a:ahLst/>
            <a:cxnLst>
              <a:cxn ang="0">
                <a:pos x="connsiteX0" y="connsiteY0"/>
              </a:cxn>
              <a:cxn ang="1">
                <a:pos x="connsiteX1" y="connsiteY1"/>
              </a:cxn>
            </a:cxnLst>
            <a:rect l="l" t="t" r="r" b="b"/>
            <a:pathLst>
              <a:path w="443230" h="24295">
                <a:moveTo>
                  <a:pt x="6350" y="6350"/>
                </a:moveTo>
                <a:lnTo>
                  <a:pt x="436879" y="6350"/>
                </a:lnTo>
              </a:path>
            </a:pathLst>
          </a:cu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4" name="Freeform 3"/>
          <p:cNvSpPr/>
          <p:nvPr/>
        </p:nvSpPr>
        <p:spPr>
          <a:xfrm>
            <a:off x="7459788" y="2148742"/>
            <a:ext cx="1000878" cy="21602"/>
          </a:xfrm>
          <a:custGeom>
            <a:avLst/>
            <a:gdLst>
              <a:gd name="connsiteX0" fmla="*/ 6350 w 1102360"/>
              <a:gd name="connsiteY0" fmla="*/ 6350 h 24295"/>
              <a:gd name="connsiteX1" fmla="*/ 1096009 w 1102360"/>
              <a:gd name="connsiteY1" fmla="*/ 6350 h 24295"/>
            </a:gdLst>
            <a:ahLst/>
            <a:cxnLst>
              <a:cxn ang="0">
                <a:pos x="connsiteX0" y="connsiteY0"/>
              </a:cxn>
              <a:cxn ang="1">
                <a:pos x="connsiteX1" y="connsiteY1"/>
              </a:cxn>
            </a:cxnLst>
            <a:rect l="l" t="t" r="r" b="b"/>
            <a:pathLst>
              <a:path w="1102360" h="24295">
                <a:moveTo>
                  <a:pt x="6350" y="6350"/>
                </a:moveTo>
                <a:lnTo>
                  <a:pt x="1096009" y="6350"/>
                </a:lnTo>
              </a:path>
            </a:pathLst>
          </a:custGeom>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1633"/>
          </a:p>
        </p:txBody>
      </p:sp>
      <p:sp>
        <p:nvSpPr>
          <p:cNvPr id="15" name="Freeform 3"/>
          <p:cNvSpPr/>
          <p:nvPr/>
        </p:nvSpPr>
        <p:spPr>
          <a:xfrm>
            <a:off x="8721327" y="2148742"/>
            <a:ext cx="528521" cy="21602"/>
          </a:xfrm>
          <a:custGeom>
            <a:avLst/>
            <a:gdLst>
              <a:gd name="connsiteX0" fmla="*/ 6350 w 581901"/>
              <a:gd name="connsiteY0" fmla="*/ 6350 h 24295"/>
              <a:gd name="connsiteX1" fmla="*/ 575550 w 581901"/>
              <a:gd name="connsiteY1" fmla="*/ 6350 h 24295"/>
            </a:gdLst>
            <a:ahLst/>
            <a:cxnLst>
              <a:cxn ang="0">
                <a:pos x="connsiteX0" y="connsiteY0"/>
              </a:cxn>
              <a:cxn ang="1">
                <a:pos x="connsiteX1" y="connsiteY1"/>
              </a:cxn>
            </a:cxnLst>
            <a:rect l="l" t="t" r="r" b="b"/>
            <a:pathLst>
              <a:path w="581901" h="24295">
                <a:moveTo>
                  <a:pt x="6350" y="6350"/>
                </a:moveTo>
                <a:lnTo>
                  <a:pt x="575550" y="6350"/>
                </a:lnTo>
              </a:path>
            </a:pathLst>
          </a:custGeom>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1633"/>
          </a:p>
        </p:txBody>
      </p:sp>
      <p:sp>
        <p:nvSpPr>
          <p:cNvPr id="16" name="Freeform 3"/>
          <p:cNvSpPr/>
          <p:nvPr/>
        </p:nvSpPr>
        <p:spPr>
          <a:xfrm>
            <a:off x="3005517" y="3747268"/>
            <a:ext cx="420513" cy="25922"/>
          </a:xfrm>
          <a:custGeom>
            <a:avLst/>
            <a:gdLst>
              <a:gd name="connsiteX0" fmla="*/ 7048 w 463677"/>
              <a:gd name="connsiteY0" fmla="*/ 7048 h 28194"/>
              <a:gd name="connsiteX1" fmla="*/ 456628 w 463677"/>
              <a:gd name="connsiteY1" fmla="*/ 7048 h 28194"/>
            </a:gdLst>
            <a:ahLst/>
            <a:cxnLst>
              <a:cxn ang="0">
                <a:pos x="connsiteX0" y="connsiteY0"/>
              </a:cxn>
              <a:cxn ang="1">
                <a:pos x="connsiteX1" y="connsiteY1"/>
              </a:cxn>
            </a:cxnLst>
            <a:rect l="l" t="t" r="r" b="b"/>
            <a:pathLst>
              <a:path w="463677" h="28194">
                <a:moveTo>
                  <a:pt x="7048" y="7048"/>
                </a:moveTo>
                <a:lnTo>
                  <a:pt x="456628" y="7048"/>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7" name="Freeform 3"/>
          <p:cNvSpPr/>
          <p:nvPr/>
        </p:nvSpPr>
        <p:spPr>
          <a:xfrm>
            <a:off x="4107204" y="3961845"/>
            <a:ext cx="443555" cy="25922"/>
          </a:xfrm>
          <a:custGeom>
            <a:avLst/>
            <a:gdLst>
              <a:gd name="connsiteX0" fmla="*/ 7048 w 488823"/>
              <a:gd name="connsiteY0" fmla="*/ 7048 h 28194"/>
              <a:gd name="connsiteX1" fmla="*/ 481774 w 488823"/>
              <a:gd name="connsiteY1" fmla="*/ 7048 h 28194"/>
            </a:gdLst>
            <a:ahLst/>
            <a:cxnLst>
              <a:cxn ang="0">
                <a:pos x="connsiteX0" y="connsiteY0"/>
              </a:cxn>
              <a:cxn ang="1">
                <a:pos x="connsiteX1" y="connsiteY1"/>
              </a:cxn>
            </a:cxnLst>
            <a:rect l="l" t="t" r="r" b="b"/>
            <a:pathLst>
              <a:path w="488823" h="28194">
                <a:moveTo>
                  <a:pt x="7048" y="7048"/>
                </a:moveTo>
                <a:lnTo>
                  <a:pt x="481774" y="7048"/>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8" name="Freeform 3"/>
          <p:cNvSpPr/>
          <p:nvPr/>
        </p:nvSpPr>
        <p:spPr>
          <a:xfrm>
            <a:off x="5206011" y="3961845"/>
            <a:ext cx="198736" cy="25922"/>
          </a:xfrm>
          <a:custGeom>
            <a:avLst/>
            <a:gdLst>
              <a:gd name="connsiteX0" fmla="*/ 7048 w 219075"/>
              <a:gd name="connsiteY0" fmla="*/ 7048 h 28194"/>
              <a:gd name="connsiteX1" fmla="*/ 212026 w 219075"/>
              <a:gd name="connsiteY1" fmla="*/ 7048 h 28194"/>
            </a:gdLst>
            <a:ahLst/>
            <a:cxnLst>
              <a:cxn ang="0">
                <a:pos x="connsiteX0" y="connsiteY0"/>
              </a:cxn>
              <a:cxn ang="1">
                <a:pos x="connsiteX1" y="connsiteY1"/>
              </a:cxn>
            </a:cxnLst>
            <a:rect l="l" t="t" r="r" b="b"/>
            <a:pathLst>
              <a:path w="219075" h="28194">
                <a:moveTo>
                  <a:pt x="7048" y="7048"/>
                </a:moveTo>
                <a:lnTo>
                  <a:pt x="212026" y="7048"/>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19" name="Freeform 3"/>
          <p:cNvSpPr/>
          <p:nvPr/>
        </p:nvSpPr>
        <p:spPr>
          <a:xfrm>
            <a:off x="7950866" y="3961845"/>
            <a:ext cx="640851" cy="25922"/>
          </a:xfrm>
          <a:custGeom>
            <a:avLst/>
            <a:gdLst>
              <a:gd name="connsiteX0" fmla="*/ 7048 w 705218"/>
              <a:gd name="connsiteY0" fmla="*/ 7048 h 28194"/>
              <a:gd name="connsiteX1" fmla="*/ 698169 w 705218"/>
              <a:gd name="connsiteY1" fmla="*/ 7048 h 28194"/>
            </a:gdLst>
            <a:ahLst/>
            <a:cxnLst>
              <a:cxn ang="0">
                <a:pos x="connsiteX0" y="connsiteY0"/>
              </a:cxn>
              <a:cxn ang="1">
                <a:pos x="connsiteX1" y="connsiteY1"/>
              </a:cxn>
            </a:cxnLst>
            <a:rect l="l" t="t" r="r" b="b"/>
            <a:pathLst>
              <a:path w="705218" h="28194">
                <a:moveTo>
                  <a:pt x="7048" y="7048"/>
                </a:moveTo>
                <a:lnTo>
                  <a:pt x="698169" y="7048"/>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0" name="Freeform 3"/>
          <p:cNvSpPr/>
          <p:nvPr/>
        </p:nvSpPr>
        <p:spPr>
          <a:xfrm>
            <a:off x="4841663" y="4739506"/>
            <a:ext cx="492519" cy="30242"/>
          </a:xfrm>
          <a:custGeom>
            <a:avLst/>
            <a:gdLst>
              <a:gd name="connsiteX0" fmla="*/ 8242 w 542264"/>
              <a:gd name="connsiteY0" fmla="*/ 8242 h 32969"/>
              <a:gd name="connsiteX1" fmla="*/ 534022 w 542264"/>
              <a:gd name="connsiteY1" fmla="*/ 8242 h 32969"/>
            </a:gdLst>
            <a:ahLst/>
            <a:cxnLst>
              <a:cxn ang="0">
                <a:pos x="connsiteX0" y="connsiteY0"/>
              </a:cxn>
              <a:cxn ang="1">
                <a:pos x="connsiteX1" y="connsiteY1"/>
              </a:cxn>
            </a:cxnLst>
            <a:rect l="l" t="t" r="r" b="b"/>
            <a:pathLst>
              <a:path w="542264" h="32969">
                <a:moveTo>
                  <a:pt x="8242" y="8242"/>
                </a:moveTo>
                <a:lnTo>
                  <a:pt x="534022" y="8242"/>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1" name="Freeform 3"/>
          <p:cNvSpPr/>
          <p:nvPr/>
        </p:nvSpPr>
        <p:spPr>
          <a:xfrm>
            <a:off x="5531478" y="4739506"/>
            <a:ext cx="457956" cy="30242"/>
          </a:xfrm>
          <a:custGeom>
            <a:avLst/>
            <a:gdLst>
              <a:gd name="connsiteX0" fmla="*/ 8242 w 503402"/>
              <a:gd name="connsiteY0" fmla="*/ 8242 h 32969"/>
              <a:gd name="connsiteX1" fmla="*/ 495160 w 503402"/>
              <a:gd name="connsiteY1" fmla="*/ 8242 h 32969"/>
            </a:gdLst>
            <a:ahLst/>
            <a:cxnLst>
              <a:cxn ang="0">
                <a:pos x="connsiteX0" y="connsiteY0"/>
              </a:cxn>
              <a:cxn ang="1">
                <a:pos x="connsiteX1" y="connsiteY1"/>
              </a:cxn>
            </a:cxnLst>
            <a:rect l="l" t="t" r="r" b="b"/>
            <a:pathLst>
              <a:path w="503402" h="32969">
                <a:moveTo>
                  <a:pt x="8242" y="8242"/>
                </a:moveTo>
                <a:lnTo>
                  <a:pt x="495160" y="8242"/>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2" name="Freeform 3"/>
          <p:cNvSpPr/>
          <p:nvPr/>
        </p:nvSpPr>
        <p:spPr>
          <a:xfrm>
            <a:off x="5355782" y="4732303"/>
            <a:ext cx="155532" cy="456516"/>
          </a:xfrm>
          <a:custGeom>
            <a:avLst/>
            <a:gdLst>
              <a:gd name="connsiteX0" fmla="*/ 163690 w 171932"/>
              <a:gd name="connsiteY0" fmla="*/ 8242 h 502640"/>
              <a:gd name="connsiteX1" fmla="*/ 8242 w 171932"/>
              <a:gd name="connsiteY1" fmla="*/ 494398 h 502640"/>
            </a:gdLst>
            <a:ahLst/>
            <a:cxnLst>
              <a:cxn ang="0">
                <a:pos x="connsiteX0" y="connsiteY0"/>
              </a:cxn>
              <a:cxn ang="1">
                <a:pos x="connsiteX1" y="connsiteY1"/>
              </a:cxn>
            </a:cxnLst>
            <a:rect l="l" t="t" r="r" b="b"/>
            <a:pathLst>
              <a:path w="171932" h="502640">
                <a:moveTo>
                  <a:pt x="163690" y="8242"/>
                </a:moveTo>
                <a:lnTo>
                  <a:pt x="8242" y="494398"/>
                </a:lnTo>
              </a:path>
            </a:pathLst>
          </a:custGeom>
          <a:ln w="12700">
            <a:solidFill>
              <a:srgbClr val="FFFF00">
                <a:alpha val="100000"/>
              </a:srgbClr>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633"/>
          </a:p>
        </p:txBody>
      </p:sp>
      <p:sp>
        <p:nvSpPr>
          <p:cNvPr id="2" name="TextBox 1"/>
          <p:cNvSpPr txBox="1"/>
          <p:nvPr/>
        </p:nvSpPr>
        <p:spPr>
          <a:xfrm>
            <a:off x="3987674" y="1889519"/>
            <a:ext cx="1123706" cy="474874"/>
          </a:xfrm>
          <a:prstGeom prst="rect">
            <a:avLst/>
          </a:prstGeom>
          <a:noFill/>
        </p:spPr>
        <p:txBody>
          <a:bodyPr wrap="none" lIns="0" tIns="0" rIns="0">
            <a:spAutoFit/>
          </a:bodyPr>
          <a:lstStyle/>
          <a:p>
            <a:pPr>
              <a:lnSpc>
                <a:spcPts val="3629"/>
              </a:lnSpc>
              <a:defRPr/>
            </a:pPr>
            <a:r>
              <a:rPr lang="en-US" altLang="zh-CN" sz="1990" b="1" i="1" dirty="0">
                <a:latin typeface="Times New Roman" pitchFamily="18" charset="0"/>
                <a:cs typeface="Times New Roman" pitchFamily="18" charset="0"/>
              </a:rPr>
              <a:t>x</a:t>
            </a:r>
            <a:r>
              <a:rPr lang="en-US" altLang="zh-CN" sz="1990" dirty="0">
                <a:latin typeface="Times New Roman" pitchFamily="18" charset="0"/>
                <a:cs typeface="Times New Roman" pitchFamily="18" charset="0"/>
              </a:rPr>
              <a:t> </a:t>
            </a:r>
            <a:r>
              <a:rPr lang="en-US" altLang="zh-CN" sz="1990" dirty="0">
                <a:latin typeface="Symbol" pitchFamily="18" charset="0"/>
                <a:cs typeface="Symbol" pitchFamily="18" charset="0"/>
              </a:rPr>
              <a:t>=</a:t>
            </a:r>
            <a:r>
              <a:rPr lang="en-US" altLang="zh-CN" sz="2987" dirty="0">
                <a:latin typeface="Symbol" pitchFamily="18" charset="0"/>
                <a:cs typeface="Symbol" pitchFamily="18" charset="0"/>
                <a:sym typeface="Symbol"/>
              </a:rPr>
              <a:t> </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x </a:t>
            </a:r>
            <a:r>
              <a:rPr lang="en-US" altLang="zh-CN" sz="1990" b="1" i="1" baseline="30000" dirty="0">
                <a:latin typeface="Times New Roman" pitchFamily="18" charset="0"/>
                <a:cs typeface="Times New Roman" pitchFamily="18" charset="0"/>
              </a:rPr>
              <a:t>2</a:t>
            </a:r>
            <a:r>
              <a:rPr lang="en-US" altLang="zh-CN" sz="1990" b="1" i="1" dirty="0">
                <a:latin typeface="Times New Roman" pitchFamily="18" charset="0"/>
                <a:cs typeface="Times New Roman" pitchFamily="18" charset="0"/>
              </a:rPr>
              <a:t>p</a:t>
            </a:r>
          </a:p>
        </p:txBody>
      </p:sp>
      <p:sp>
        <p:nvSpPr>
          <p:cNvPr id="24" name="TextBox 1"/>
          <p:cNvSpPr txBox="1"/>
          <p:nvPr/>
        </p:nvSpPr>
        <p:spPr>
          <a:xfrm>
            <a:off x="5485392" y="1958647"/>
            <a:ext cx="1938031" cy="335861"/>
          </a:xfrm>
          <a:prstGeom prst="rect">
            <a:avLst/>
          </a:prstGeom>
          <a:noFill/>
        </p:spPr>
        <p:txBody>
          <a:bodyPr wrap="none" lIns="0" tIns="0" rIns="0">
            <a:spAutoFit/>
          </a:bodyPr>
          <a:lstStyle/>
          <a:p>
            <a:pPr>
              <a:lnSpc>
                <a:spcPts val="2359"/>
              </a:lnSpc>
              <a:defRPr/>
            </a:pPr>
            <a:r>
              <a:rPr lang="en-US" altLang="zh-CN" sz="1990" b="1" i="1" dirty="0">
                <a:latin typeface="Times New Roman" pitchFamily="18" charset="0"/>
                <a:cs typeface="Times New Roman" pitchFamily="18" charset="0"/>
              </a:rPr>
              <a:t>(</a:t>
            </a:r>
            <a:r>
              <a:rPr lang="en-US" altLang="zh-CN" sz="1990" b="1" dirty="0">
                <a:latin typeface="Times New Roman" pitchFamily="18" charset="0"/>
                <a:cs typeface="Times New Roman" pitchFamily="18" charset="0"/>
              </a:rPr>
              <a:t>1</a:t>
            </a:r>
            <a:r>
              <a:rPr lang="en-US" altLang="zh-CN" sz="1990" dirty="0">
                <a:latin typeface="Symbol" pitchFamily="18" charset="0"/>
                <a:cs typeface="Symbol" pitchFamily="18" charset="0"/>
              </a:rPr>
              <a:t>-</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p)</a:t>
            </a:r>
            <a:r>
              <a:rPr lang="en-US" altLang="zh-CN" sz="1990" dirty="0">
                <a:latin typeface="Times New Roman" pitchFamily="18" charset="0"/>
                <a:cs typeface="Times New Roman" pitchFamily="18" charset="0"/>
              </a:rPr>
              <a:t>   </a:t>
            </a:r>
            <a:r>
              <a:rPr lang="en-US" altLang="zh-CN" sz="1990" dirty="0">
                <a:latin typeface="Symbol" pitchFamily="18" charset="0"/>
                <a:cs typeface="Symbol" pitchFamily="18" charset="0"/>
              </a:rPr>
              <a:t>=</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a:t>
            </a:r>
            <a:r>
              <a:rPr lang="en-US" altLang="zh-CN" sz="1990" b="1" dirty="0">
                <a:latin typeface="Times New Roman" pitchFamily="18" charset="0"/>
                <a:cs typeface="Times New Roman" pitchFamily="18" charset="0"/>
              </a:rPr>
              <a:t>1</a:t>
            </a:r>
            <a:r>
              <a:rPr lang="en-US" altLang="zh-CN" sz="1990" dirty="0">
                <a:latin typeface="Symbol" pitchFamily="18" charset="0"/>
                <a:cs typeface="Symbol" pitchFamily="18" charset="0"/>
              </a:rPr>
              <a:t>-</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p)</a:t>
            </a:r>
            <a:r>
              <a:rPr lang="en-US" altLang="zh-CN" sz="1990" dirty="0">
                <a:latin typeface="Times New Roman" pitchFamily="18" charset="0"/>
                <a:cs typeface="Times New Roman" pitchFamily="18" charset="0"/>
              </a:rPr>
              <a:t>  </a:t>
            </a:r>
            <a:r>
              <a:rPr lang="en-US" altLang="zh-CN" sz="1990" dirty="0">
                <a:latin typeface="Symbol" pitchFamily="18" charset="0"/>
                <a:cs typeface="Symbol" pitchFamily="18" charset="0"/>
              </a:rPr>
              <a:t>⋅</a:t>
            </a:r>
          </a:p>
        </p:txBody>
      </p:sp>
      <p:sp>
        <p:nvSpPr>
          <p:cNvPr id="25" name="TextBox 1"/>
          <p:cNvSpPr txBox="1"/>
          <p:nvPr/>
        </p:nvSpPr>
        <p:spPr>
          <a:xfrm>
            <a:off x="4586763" y="3652219"/>
            <a:ext cx="2689839" cy="576761"/>
          </a:xfrm>
          <a:prstGeom prst="rect">
            <a:avLst/>
          </a:prstGeom>
          <a:noFill/>
        </p:spPr>
        <p:txBody>
          <a:bodyPr wrap="none" lIns="0" tIns="0" rIns="0">
            <a:spAutoFit/>
          </a:bodyPr>
          <a:lstStyle/>
          <a:p>
            <a:pPr>
              <a:lnSpc>
                <a:spcPts val="4355"/>
              </a:lnSpc>
              <a:defRPr/>
            </a:pPr>
            <a:r>
              <a:rPr lang="en-US" altLang="zh-CN" sz="2420" dirty="0">
                <a:latin typeface="Symbol" pitchFamily="18" charset="0"/>
                <a:cs typeface="Symbol" pitchFamily="18" charset="0"/>
              </a:rPr>
              <a:t>⋅</a:t>
            </a:r>
            <a:r>
              <a:rPr lang="en-US" altLang="zh-CN" sz="2420" dirty="0">
                <a:latin typeface="Times New Roman" pitchFamily="18" charset="0"/>
                <a:cs typeface="Times New Roman" pitchFamily="18" charset="0"/>
              </a:rPr>
              <a:t> </a:t>
            </a:r>
            <a:r>
              <a:rPr lang="en-US" altLang="zh-CN" sz="2420" b="1" i="1" dirty="0">
                <a:latin typeface="Times New Roman" pitchFamily="18" charset="0"/>
                <a:cs typeface="Times New Roman" pitchFamily="18" charset="0"/>
              </a:rPr>
              <a:t>x</a:t>
            </a:r>
            <a:r>
              <a:rPr lang="en-US" altLang="zh-CN" sz="2420" dirty="0">
                <a:latin typeface="Times New Roman" pitchFamily="18" charset="0"/>
                <a:cs typeface="Times New Roman" pitchFamily="18" charset="0"/>
              </a:rPr>
              <a:t> </a:t>
            </a:r>
            <a:r>
              <a:rPr lang="en-US" altLang="zh-CN" sz="2420" dirty="0">
                <a:latin typeface="Symbol" pitchFamily="18" charset="0"/>
                <a:cs typeface="Symbol" pitchFamily="18" charset="0"/>
              </a:rPr>
              <a:t>=</a:t>
            </a:r>
            <a:r>
              <a:rPr lang="en-US" altLang="zh-CN" sz="2420" dirty="0">
                <a:latin typeface="Times New Roman" pitchFamily="18" charset="0"/>
                <a:cs typeface="Times New Roman" pitchFamily="18" charset="0"/>
              </a:rPr>
              <a:t>    </a:t>
            </a:r>
            <a:r>
              <a:rPr lang="en-US" altLang="zh-CN" sz="2420" b="1" dirty="0">
                <a:latin typeface="Times New Roman" pitchFamily="18" charset="0"/>
                <a:cs typeface="Times New Roman" pitchFamily="18" charset="0"/>
              </a:rPr>
              <a:t>(1</a:t>
            </a:r>
            <a:r>
              <a:rPr lang="en-US" altLang="zh-CN" sz="2420" dirty="0">
                <a:latin typeface="Symbol" pitchFamily="18" charset="0"/>
                <a:cs typeface="Symbol" pitchFamily="18" charset="0"/>
              </a:rPr>
              <a:t>−</a:t>
            </a:r>
            <a:r>
              <a:rPr lang="en-US" altLang="zh-CN" sz="2420" dirty="0">
                <a:latin typeface="Times New Roman" pitchFamily="18" charset="0"/>
                <a:cs typeface="Times New Roman" pitchFamily="18" charset="0"/>
              </a:rPr>
              <a:t> </a:t>
            </a:r>
            <a:r>
              <a:rPr lang="en-US" altLang="zh-CN" sz="2420" b="1" i="1" dirty="0">
                <a:latin typeface="Times New Roman" pitchFamily="18" charset="0"/>
                <a:cs typeface="Times New Roman" pitchFamily="18" charset="0"/>
              </a:rPr>
              <a:t>p</a:t>
            </a:r>
            <a:r>
              <a:rPr lang="en-US" altLang="zh-CN" sz="2420" b="1" dirty="0">
                <a:latin typeface="Times New Roman" pitchFamily="18" charset="0"/>
                <a:cs typeface="Times New Roman" pitchFamily="18" charset="0"/>
              </a:rPr>
              <a:t>)</a:t>
            </a:r>
            <a:r>
              <a:rPr lang="en-US" altLang="zh-CN" sz="3631" dirty="0">
                <a:latin typeface="Times New Roman" pitchFamily="18" charset="0"/>
                <a:cs typeface="Times New Roman" pitchFamily="18" charset="0"/>
              </a:rPr>
              <a:t> </a:t>
            </a:r>
            <a:r>
              <a:rPr lang="en-US" altLang="zh-CN" sz="3631" dirty="0">
                <a:latin typeface="Symbol" pitchFamily="18" charset="0"/>
                <a:cs typeface="Symbol" pitchFamily="18" charset="0"/>
              </a:rPr>
              <a:t>∑</a:t>
            </a:r>
            <a:r>
              <a:rPr lang="en-US" altLang="zh-CN" sz="2420" dirty="0">
                <a:latin typeface="Times New Roman" pitchFamily="18" charset="0"/>
                <a:cs typeface="Times New Roman" pitchFamily="18" charset="0"/>
              </a:rPr>
              <a:t> </a:t>
            </a:r>
            <a:r>
              <a:rPr lang="en-US" altLang="zh-CN" sz="2420" b="1" i="1" dirty="0">
                <a:latin typeface="Times New Roman" pitchFamily="18" charset="0"/>
                <a:cs typeface="Times New Roman" pitchFamily="18" charset="0"/>
              </a:rPr>
              <a:t>x</a:t>
            </a:r>
            <a:r>
              <a:rPr lang="en-US" altLang="zh-CN" sz="2420" dirty="0">
                <a:latin typeface="Times New Roman" pitchFamily="18" charset="0"/>
                <a:cs typeface="Times New Roman" pitchFamily="18" charset="0"/>
              </a:rPr>
              <a:t>  </a:t>
            </a:r>
            <a:r>
              <a:rPr lang="en-US" altLang="zh-CN" sz="2420" b="1" i="1" dirty="0">
                <a:latin typeface="Times New Roman" pitchFamily="18" charset="0"/>
                <a:cs typeface="Times New Roman" pitchFamily="18" charset="0"/>
              </a:rPr>
              <a:t>p</a:t>
            </a:r>
          </a:p>
        </p:txBody>
      </p:sp>
      <p:sp>
        <p:nvSpPr>
          <p:cNvPr id="124944" name="TextBox 1"/>
          <p:cNvSpPr txBox="1">
            <a:spLocks noChangeArrowheads="1"/>
          </p:cNvSpPr>
          <p:nvPr/>
        </p:nvSpPr>
        <p:spPr bwMode="auto">
          <a:xfrm>
            <a:off x="2386270" y="2868798"/>
            <a:ext cx="5531964"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可见，平均聚合度为歧化终止的两倍。</a:t>
            </a:r>
          </a:p>
        </p:txBody>
      </p:sp>
      <p:sp>
        <p:nvSpPr>
          <p:cNvPr id="124945" name="TextBox 1"/>
          <p:cNvSpPr txBox="1">
            <a:spLocks noChangeArrowheads="1"/>
          </p:cNvSpPr>
          <p:nvPr/>
        </p:nvSpPr>
        <p:spPr bwMode="auto">
          <a:xfrm>
            <a:off x="2570604" y="841119"/>
            <a:ext cx="2928687"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偶合终止时的聚合度</a:t>
            </a:r>
          </a:p>
        </p:txBody>
      </p:sp>
      <p:sp>
        <p:nvSpPr>
          <p:cNvPr id="28" name="TextBox 1"/>
          <p:cNvSpPr txBox="1"/>
          <p:nvPr/>
        </p:nvSpPr>
        <p:spPr>
          <a:xfrm>
            <a:off x="3584444" y="1877999"/>
            <a:ext cx="294953" cy="606128"/>
          </a:xfrm>
          <a:prstGeom prst="rect">
            <a:avLst/>
          </a:prstGeom>
          <a:noFill/>
        </p:spPr>
        <p:txBody>
          <a:bodyPr wrap="none" lIns="0" tIns="0" rIns="0">
            <a:spAutoFit/>
          </a:bodyPr>
          <a:lstStyle/>
          <a:p>
            <a:pPr>
              <a:lnSpc>
                <a:spcPts val="2087"/>
              </a:lnSpc>
              <a:tabLst>
                <a:tab pos="69131" algn="l"/>
              </a:tabLst>
              <a:defRPr/>
            </a:pPr>
            <a:r>
              <a:rPr lang="en-US" altLang="zh-CN" sz="1990" b="1" i="1" dirty="0">
                <a:latin typeface="Times New Roman" pitchFamily="18" charset="0"/>
                <a:cs typeface="Times New Roman" pitchFamily="18" charset="0"/>
              </a:rPr>
              <a:t>N</a:t>
            </a:r>
            <a:r>
              <a:rPr lang="en-US" altLang="zh-CN" sz="1161" dirty="0">
                <a:latin typeface="Times New Roman" pitchFamily="18" charset="0"/>
                <a:cs typeface="Times New Roman" pitchFamily="18" charset="0"/>
              </a:rPr>
              <a:t> </a:t>
            </a:r>
            <a:r>
              <a:rPr lang="en-US" altLang="zh-CN" sz="1161" b="1" i="1" dirty="0">
                <a:latin typeface="Times New Roman" pitchFamily="18" charset="0"/>
                <a:cs typeface="Times New Roman" pitchFamily="18" charset="0"/>
              </a:rPr>
              <a:t>x</a:t>
            </a:r>
          </a:p>
          <a:p>
            <a:pPr>
              <a:lnSpc>
                <a:spcPts val="2449"/>
              </a:lnSpc>
              <a:tabLst>
                <a:tab pos="69131" algn="l"/>
              </a:tabLst>
              <a:defRPr/>
            </a:pPr>
            <a:r>
              <a:rPr lang="en-US" altLang="zh-CN" sz="1633" dirty="0"/>
              <a:t>	</a:t>
            </a:r>
            <a:r>
              <a:rPr lang="en-US" altLang="zh-CN" sz="1990" b="1" i="1" dirty="0">
                <a:latin typeface="Times New Roman" pitchFamily="18" charset="0"/>
                <a:cs typeface="Times New Roman" pitchFamily="18" charset="0"/>
              </a:rPr>
              <a:t>N</a:t>
            </a:r>
          </a:p>
        </p:txBody>
      </p:sp>
      <p:sp>
        <p:nvSpPr>
          <p:cNvPr id="29" name="TextBox 1"/>
          <p:cNvSpPr txBox="1"/>
          <p:nvPr/>
        </p:nvSpPr>
        <p:spPr>
          <a:xfrm>
            <a:off x="8515391" y="1958647"/>
            <a:ext cx="139462" cy="331950"/>
          </a:xfrm>
          <a:prstGeom prst="rect">
            <a:avLst/>
          </a:prstGeom>
          <a:noFill/>
        </p:spPr>
        <p:txBody>
          <a:bodyPr wrap="none" lIns="0" tIns="0" rIns="0">
            <a:spAutoFit/>
          </a:bodyPr>
          <a:lstStyle/>
          <a:p>
            <a:pPr>
              <a:lnSpc>
                <a:spcPts val="2359"/>
              </a:lnSpc>
              <a:defRPr/>
            </a:pPr>
            <a:r>
              <a:rPr lang="en-US" altLang="zh-CN" sz="1990" dirty="0">
                <a:latin typeface="Symbol" pitchFamily="18" charset="0"/>
                <a:cs typeface="Symbol" pitchFamily="18" charset="0"/>
              </a:rPr>
              <a:t>=</a:t>
            </a:r>
          </a:p>
        </p:txBody>
      </p:sp>
      <p:sp>
        <p:nvSpPr>
          <p:cNvPr id="30" name="TextBox 1"/>
          <p:cNvSpPr txBox="1"/>
          <p:nvPr/>
        </p:nvSpPr>
        <p:spPr>
          <a:xfrm>
            <a:off x="2713176" y="1889519"/>
            <a:ext cx="682879" cy="474874"/>
          </a:xfrm>
          <a:prstGeom prst="rect">
            <a:avLst/>
          </a:prstGeom>
          <a:noFill/>
        </p:spPr>
        <p:txBody>
          <a:bodyPr wrap="none" lIns="0" tIns="0" rIns="0">
            <a:spAutoFit/>
          </a:bodyPr>
          <a:lstStyle/>
          <a:p>
            <a:pPr>
              <a:lnSpc>
                <a:spcPts val="3629"/>
              </a:lnSpc>
              <a:defRPr/>
            </a:pPr>
            <a:r>
              <a:rPr lang="en-US" altLang="zh-CN" sz="1990" b="1" i="1" dirty="0" err="1">
                <a:latin typeface="Times New Roman" pitchFamily="18" charset="0"/>
                <a:cs typeface="Times New Roman" pitchFamily="18" charset="0"/>
              </a:rPr>
              <a:t>X</a:t>
            </a:r>
            <a:r>
              <a:rPr lang="en-US" altLang="zh-CN" sz="1161" b="1" i="1" dirty="0" err="1">
                <a:latin typeface="Times New Roman" pitchFamily="18" charset="0"/>
                <a:cs typeface="Times New Roman" pitchFamily="18" charset="0"/>
              </a:rPr>
              <a:t>n</a:t>
            </a:r>
            <a:r>
              <a:rPr lang="en-US" altLang="zh-CN" sz="1990" dirty="0">
                <a:latin typeface="Times New Roman" pitchFamily="18" charset="0"/>
                <a:cs typeface="Times New Roman" pitchFamily="18" charset="0"/>
              </a:rPr>
              <a:t> </a:t>
            </a:r>
            <a:r>
              <a:rPr lang="en-US" altLang="zh-CN" sz="1990" dirty="0">
                <a:latin typeface="Symbol" pitchFamily="18" charset="0"/>
                <a:cs typeface="Symbol" pitchFamily="18" charset="0"/>
              </a:rPr>
              <a:t>=</a:t>
            </a:r>
            <a:r>
              <a:rPr lang="en-US" altLang="zh-CN" sz="2987" dirty="0">
                <a:latin typeface="Symbol" pitchFamily="18" charset="0"/>
                <a:cs typeface="Symbol" pitchFamily="18" charset="0"/>
                <a:sym typeface="Symbol"/>
              </a:rPr>
              <a:t></a:t>
            </a:r>
            <a:endParaRPr lang="en-US" altLang="zh-CN" sz="2987" dirty="0">
              <a:latin typeface="Symbol" pitchFamily="18" charset="0"/>
              <a:cs typeface="Symbol" pitchFamily="18" charset="0"/>
            </a:endParaRPr>
          </a:p>
        </p:txBody>
      </p:sp>
      <p:sp>
        <p:nvSpPr>
          <p:cNvPr id="31" name="TextBox 1"/>
          <p:cNvSpPr txBox="1"/>
          <p:nvPr/>
        </p:nvSpPr>
        <p:spPr>
          <a:xfrm>
            <a:off x="8722769" y="1878000"/>
            <a:ext cx="395942" cy="592342"/>
          </a:xfrm>
          <a:prstGeom prst="rect">
            <a:avLst/>
          </a:prstGeom>
          <a:noFill/>
        </p:spPr>
        <p:txBody>
          <a:bodyPr wrap="none" lIns="0" tIns="0" rIns="0">
            <a:spAutoFit/>
          </a:bodyPr>
          <a:lstStyle/>
          <a:p>
            <a:pPr>
              <a:lnSpc>
                <a:spcPts val="1724"/>
              </a:lnSpc>
              <a:tabLst>
                <a:tab pos="195872" algn="l"/>
              </a:tabLst>
              <a:defRPr/>
            </a:pPr>
            <a:r>
              <a:rPr lang="en-US" altLang="zh-CN" sz="1633" dirty="0"/>
              <a:t>	</a:t>
            </a:r>
            <a:r>
              <a:rPr lang="en-US" altLang="zh-CN" sz="1990" b="1" dirty="0">
                <a:latin typeface="Times New Roman" pitchFamily="18" charset="0"/>
                <a:cs typeface="Times New Roman" pitchFamily="18" charset="0"/>
              </a:rPr>
              <a:t>2</a:t>
            </a:r>
          </a:p>
          <a:p>
            <a:pPr>
              <a:lnSpc>
                <a:spcPts val="2812"/>
              </a:lnSpc>
              <a:tabLst>
                <a:tab pos="195872" algn="l"/>
              </a:tabLst>
              <a:defRPr/>
            </a:pPr>
            <a:r>
              <a:rPr lang="en-US" altLang="zh-CN" sz="1990" b="1" dirty="0">
                <a:latin typeface="Times New Roman" pitchFamily="18" charset="0"/>
                <a:cs typeface="Times New Roman" pitchFamily="18" charset="0"/>
              </a:rPr>
              <a:t>1</a:t>
            </a:r>
            <a:r>
              <a:rPr lang="en-US" altLang="zh-CN" sz="1990" dirty="0">
                <a:latin typeface="Symbol" pitchFamily="18" charset="0"/>
                <a:cs typeface="Symbol" pitchFamily="18" charset="0"/>
              </a:rPr>
              <a:t>-</a:t>
            </a:r>
            <a:r>
              <a:rPr lang="en-US" altLang="zh-CN" sz="1990" b="1" i="1" dirty="0">
                <a:latin typeface="Times New Roman" pitchFamily="18" charset="0"/>
                <a:cs typeface="Times New Roman" pitchFamily="18" charset="0"/>
              </a:rPr>
              <a:t>p</a:t>
            </a:r>
          </a:p>
        </p:txBody>
      </p:sp>
      <p:sp>
        <p:nvSpPr>
          <p:cNvPr id="32" name="TextBox 1"/>
          <p:cNvSpPr txBox="1"/>
          <p:nvPr/>
        </p:nvSpPr>
        <p:spPr>
          <a:xfrm>
            <a:off x="7513072" y="1797353"/>
            <a:ext cx="758221" cy="672492"/>
          </a:xfrm>
          <a:prstGeom prst="rect">
            <a:avLst/>
          </a:prstGeom>
          <a:noFill/>
        </p:spPr>
        <p:txBody>
          <a:bodyPr wrap="none" lIns="0" tIns="0" rIns="0">
            <a:spAutoFit/>
          </a:bodyPr>
          <a:lstStyle/>
          <a:p>
            <a:pPr>
              <a:lnSpc>
                <a:spcPts val="2359"/>
              </a:lnSpc>
              <a:tabLst>
                <a:tab pos="184349" algn="l"/>
              </a:tabLst>
              <a:defRPr/>
            </a:pPr>
            <a:r>
              <a:rPr lang="en-US" altLang="zh-CN" sz="1633" dirty="0"/>
              <a:t>	</a:t>
            </a:r>
            <a:r>
              <a:rPr lang="en-US" altLang="zh-CN" sz="1990" b="1" dirty="0">
                <a:latin typeface="Times New Roman" pitchFamily="18" charset="0"/>
                <a:cs typeface="Times New Roman" pitchFamily="18" charset="0"/>
              </a:rPr>
              <a:t>1</a:t>
            </a:r>
            <a:r>
              <a:rPr lang="en-US" altLang="zh-CN" sz="1990" dirty="0">
                <a:latin typeface="Symbol" pitchFamily="18" charset="0"/>
                <a:cs typeface="Symbol" pitchFamily="18" charset="0"/>
              </a:rPr>
              <a:t>+</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p</a:t>
            </a:r>
          </a:p>
          <a:p>
            <a:pPr>
              <a:lnSpc>
                <a:spcPts val="2722"/>
              </a:lnSpc>
              <a:tabLst>
                <a:tab pos="184349" algn="l"/>
              </a:tabLst>
              <a:defRPr/>
            </a:pPr>
            <a:r>
              <a:rPr lang="en-US" altLang="zh-CN" sz="1990" b="1" i="1" dirty="0">
                <a:latin typeface="Times New Roman" pitchFamily="18" charset="0"/>
                <a:cs typeface="Times New Roman" pitchFamily="18" charset="0"/>
              </a:rPr>
              <a:t>p(</a:t>
            </a:r>
            <a:r>
              <a:rPr lang="en-US" altLang="zh-CN" sz="1990" b="1" dirty="0">
                <a:latin typeface="Times New Roman" pitchFamily="18" charset="0"/>
                <a:cs typeface="Times New Roman" pitchFamily="18" charset="0"/>
              </a:rPr>
              <a:t>1</a:t>
            </a:r>
            <a:r>
              <a:rPr lang="en-US" altLang="zh-CN" sz="1990" dirty="0">
                <a:latin typeface="Symbol" pitchFamily="18" charset="0"/>
                <a:cs typeface="Symbol" pitchFamily="18" charset="0"/>
              </a:rPr>
              <a:t>-</a:t>
            </a:r>
            <a:r>
              <a:rPr lang="en-US" altLang="zh-CN" sz="1990" dirty="0">
                <a:latin typeface="Times New Roman" pitchFamily="18" charset="0"/>
                <a:cs typeface="Times New Roman" pitchFamily="18" charset="0"/>
              </a:rPr>
              <a:t> </a:t>
            </a:r>
            <a:r>
              <a:rPr lang="en-US" altLang="zh-CN" sz="1990" b="1" i="1" dirty="0">
                <a:latin typeface="Times New Roman" pitchFamily="18" charset="0"/>
                <a:cs typeface="Times New Roman" pitchFamily="18" charset="0"/>
              </a:rPr>
              <a:t>p)</a:t>
            </a:r>
          </a:p>
        </p:txBody>
      </p:sp>
      <p:sp>
        <p:nvSpPr>
          <p:cNvPr id="33" name="TextBox 1"/>
          <p:cNvSpPr txBox="1"/>
          <p:nvPr/>
        </p:nvSpPr>
        <p:spPr>
          <a:xfrm>
            <a:off x="8342577" y="2200585"/>
            <a:ext cx="73738" cy="177228"/>
          </a:xfrm>
          <a:prstGeom prst="rect">
            <a:avLst/>
          </a:prstGeom>
          <a:noFill/>
        </p:spPr>
        <p:txBody>
          <a:bodyPr wrap="none" lIns="0" tIns="0" rIns="0">
            <a:spAutoFit/>
          </a:bodyPr>
          <a:lstStyle/>
          <a:p>
            <a:pPr>
              <a:lnSpc>
                <a:spcPts val="998"/>
              </a:lnSpc>
              <a:defRPr/>
            </a:pPr>
            <a:r>
              <a:rPr lang="en-US" altLang="zh-CN" sz="1161" b="1" dirty="0">
                <a:latin typeface="Times New Roman" pitchFamily="18" charset="0"/>
                <a:cs typeface="Times New Roman" pitchFamily="18" charset="0"/>
              </a:rPr>
              <a:t>2</a:t>
            </a:r>
          </a:p>
        </p:txBody>
      </p:sp>
      <p:sp>
        <p:nvSpPr>
          <p:cNvPr id="34" name="TextBox 1"/>
          <p:cNvSpPr txBox="1"/>
          <p:nvPr/>
        </p:nvSpPr>
        <p:spPr>
          <a:xfrm>
            <a:off x="6188169" y="1993209"/>
            <a:ext cx="1327286" cy="177228"/>
          </a:xfrm>
          <a:prstGeom prst="rect">
            <a:avLst/>
          </a:prstGeom>
          <a:noFill/>
        </p:spPr>
        <p:txBody>
          <a:bodyPr wrap="none" lIns="0" tIns="0" rIns="0">
            <a:spAutoFit/>
          </a:bodyPr>
          <a:lstStyle/>
          <a:p>
            <a:pPr>
              <a:lnSpc>
                <a:spcPts val="998"/>
              </a:lnSpc>
              <a:defRPr/>
            </a:pPr>
            <a:r>
              <a:rPr lang="en-US" altLang="zh-CN" sz="1161" b="1" dirty="0">
                <a:latin typeface="Times New Roman" pitchFamily="18" charset="0"/>
                <a:cs typeface="Times New Roman" pitchFamily="18" charset="0"/>
              </a:rPr>
              <a:t>2</a:t>
            </a:r>
            <a:r>
              <a:rPr lang="en-US" altLang="zh-CN" sz="1161" dirty="0">
                <a:latin typeface="Times New Roman" pitchFamily="18" charset="0"/>
                <a:cs typeface="Times New Roman" pitchFamily="18" charset="0"/>
              </a:rPr>
              <a:t>                                </a:t>
            </a:r>
            <a:r>
              <a:rPr lang="en-US" altLang="zh-CN" sz="1161" b="1" dirty="0">
                <a:latin typeface="Times New Roman" pitchFamily="18" charset="0"/>
                <a:cs typeface="Times New Roman" pitchFamily="18" charset="0"/>
              </a:rPr>
              <a:t>2</a:t>
            </a:r>
          </a:p>
        </p:txBody>
      </p:sp>
      <p:sp>
        <p:nvSpPr>
          <p:cNvPr id="35" name="TextBox 1"/>
          <p:cNvSpPr txBox="1"/>
          <p:nvPr/>
        </p:nvSpPr>
        <p:spPr>
          <a:xfrm>
            <a:off x="5231932" y="1947126"/>
            <a:ext cx="222818" cy="215700"/>
          </a:xfrm>
          <a:prstGeom prst="rect">
            <a:avLst/>
          </a:prstGeom>
          <a:noFill/>
        </p:spPr>
        <p:txBody>
          <a:bodyPr wrap="none" lIns="0" tIns="0" rIns="0">
            <a:spAutoFit/>
          </a:bodyPr>
          <a:lstStyle/>
          <a:p>
            <a:pPr>
              <a:lnSpc>
                <a:spcPts val="1361"/>
              </a:lnSpc>
              <a:defRPr/>
            </a:pPr>
            <a:r>
              <a:rPr lang="en-US" altLang="zh-CN" sz="1161" b="1" i="1" dirty="0">
                <a:latin typeface="Times New Roman" pitchFamily="18" charset="0"/>
                <a:cs typeface="Times New Roman" pitchFamily="18" charset="0"/>
              </a:rPr>
              <a:t>X-</a:t>
            </a:r>
            <a:r>
              <a:rPr lang="en-US" altLang="zh-CN" sz="1161" b="1" dirty="0">
                <a:latin typeface="Times New Roman" pitchFamily="18" charset="0"/>
                <a:cs typeface="Times New Roman" pitchFamily="18" charset="0"/>
              </a:rPr>
              <a:t>2</a:t>
            </a:r>
          </a:p>
        </p:txBody>
      </p:sp>
      <p:sp>
        <p:nvSpPr>
          <p:cNvPr id="36" name="TextBox 1"/>
          <p:cNvSpPr txBox="1"/>
          <p:nvPr/>
        </p:nvSpPr>
        <p:spPr>
          <a:xfrm>
            <a:off x="4955430" y="1993209"/>
            <a:ext cx="73738" cy="177228"/>
          </a:xfrm>
          <a:prstGeom prst="rect">
            <a:avLst/>
          </a:prstGeom>
          <a:noFill/>
        </p:spPr>
        <p:txBody>
          <a:bodyPr wrap="none" lIns="0" tIns="0" rIns="0">
            <a:spAutoFit/>
          </a:bodyPr>
          <a:lstStyle/>
          <a:p>
            <a:pPr>
              <a:lnSpc>
                <a:spcPts val="998"/>
              </a:lnSpc>
              <a:defRPr/>
            </a:pPr>
            <a:r>
              <a:rPr lang="en-US" altLang="zh-CN" sz="1161" b="1" dirty="0">
                <a:latin typeface="Times New Roman" pitchFamily="18" charset="0"/>
                <a:cs typeface="Times New Roman" pitchFamily="18" charset="0"/>
              </a:rPr>
              <a:t>2</a:t>
            </a:r>
          </a:p>
        </p:txBody>
      </p:sp>
      <p:sp>
        <p:nvSpPr>
          <p:cNvPr id="37" name="TextBox 1"/>
          <p:cNvSpPr txBox="1"/>
          <p:nvPr/>
        </p:nvSpPr>
        <p:spPr>
          <a:xfrm>
            <a:off x="4102884" y="3640697"/>
            <a:ext cx="365485" cy="728084"/>
          </a:xfrm>
          <a:prstGeom prst="rect">
            <a:avLst/>
          </a:prstGeom>
          <a:noFill/>
        </p:spPr>
        <p:txBody>
          <a:bodyPr wrap="none" lIns="0" tIns="0" rIns="0">
            <a:spAutoFit/>
          </a:bodyPr>
          <a:lstStyle/>
          <a:p>
            <a:pPr>
              <a:lnSpc>
                <a:spcPts val="2540"/>
              </a:lnSpc>
              <a:tabLst>
                <a:tab pos="46087" algn="l"/>
              </a:tabLst>
              <a:defRPr/>
            </a:pPr>
            <a:r>
              <a:rPr lang="en-US" altLang="zh-CN" sz="2420" b="1" i="1" dirty="0">
                <a:latin typeface="Times New Roman" pitchFamily="18" charset="0"/>
                <a:cs typeface="Times New Roman" pitchFamily="18" charset="0"/>
              </a:rPr>
              <a:t>W</a:t>
            </a:r>
            <a:r>
              <a:rPr lang="en-US" altLang="zh-CN" sz="1412" b="1" i="1" dirty="0">
                <a:latin typeface="Times New Roman" pitchFamily="18" charset="0"/>
                <a:cs typeface="Times New Roman" pitchFamily="18" charset="0"/>
              </a:rPr>
              <a:t>x</a:t>
            </a:r>
          </a:p>
          <a:p>
            <a:pPr>
              <a:lnSpc>
                <a:spcPts val="2994"/>
              </a:lnSpc>
              <a:tabLst>
                <a:tab pos="46087" algn="l"/>
              </a:tabLst>
              <a:defRPr/>
            </a:pPr>
            <a:r>
              <a:rPr lang="en-US" altLang="zh-CN" sz="1633" dirty="0"/>
              <a:t>	</a:t>
            </a:r>
            <a:r>
              <a:rPr lang="en-US" altLang="zh-CN" sz="2420" b="1" i="1" dirty="0">
                <a:latin typeface="Times New Roman" pitchFamily="18" charset="0"/>
                <a:cs typeface="Times New Roman" pitchFamily="18" charset="0"/>
              </a:rPr>
              <a:t>W</a:t>
            </a:r>
          </a:p>
        </p:txBody>
      </p:sp>
      <p:sp>
        <p:nvSpPr>
          <p:cNvPr id="38" name="TextBox 1"/>
          <p:cNvSpPr txBox="1"/>
          <p:nvPr/>
        </p:nvSpPr>
        <p:spPr>
          <a:xfrm>
            <a:off x="7697407" y="3732867"/>
            <a:ext cx="185948" cy="418063"/>
          </a:xfrm>
          <a:prstGeom prst="rect">
            <a:avLst/>
          </a:prstGeom>
          <a:noFill/>
        </p:spPr>
        <p:txBody>
          <a:bodyPr wrap="none" lIns="0" tIns="0" rIns="0">
            <a:spAutoFit/>
          </a:bodyPr>
          <a:lstStyle/>
          <a:p>
            <a:pPr>
              <a:lnSpc>
                <a:spcPts val="2903"/>
              </a:lnSpc>
              <a:defRPr/>
            </a:pPr>
            <a:r>
              <a:rPr lang="en-US" altLang="zh-CN" sz="2420" dirty="0">
                <a:latin typeface="Symbol" pitchFamily="18" charset="0"/>
                <a:cs typeface="Symbol" pitchFamily="18" charset="0"/>
              </a:rPr>
              <a:t>≅</a:t>
            </a:r>
          </a:p>
        </p:txBody>
      </p:sp>
      <p:sp>
        <p:nvSpPr>
          <p:cNvPr id="39" name="TextBox 1"/>
          <p:cNvSpPr txBox="1"/>
          <p:nvPr/>
        </p:nvSpPr>
        <p:spPr>
          <a:xfrm>
            <a:off x="3031439" y="3652218"/>
            <a:ext cx="852798" cy="569580"/>
          </a:xfrm>
          <a:prstGeom prst="rect">
            <a:avLst/>
          </a:prstGeom>
          <a:noFill/>
        </p:spPr>
        <p:txBody>
          <a:bodyPr wrap="none" lIns="0" tIns="0" rIns="0">
            <a:spAutoFit/>
          </a:bodyPr>
          <a:lstStyle/>
          <a:p>
            <a:pPr>
              <a:lnSpc>
                <a:spcPts val="4355"/>
              </a:lnSpc>
              <a:defRPr/>
            </a:pPr>
            <a:r>
              <a:rPr lang="en-US" altLang="zh-CN" sz="2420" b="1" i="1" dirty="0">
                <a:latin typeface="Times New Roman" pitchFamily="18" charset="0"/>
                <a:cs typeface="Times New Roman" pitchFamily="18" charset="0"/>
              </a:rPr>
              <a:t>X</a:t>
            </a:r>
            <a:r>
              <a:rPr lang="en-US" altLang="zh-CN" sz="1412" b="1" i="1" dirty="0">
                <a:latin typeface="Times New Roman" pitchFamily="18" charset="0"/>
                <a:cs typeface="Times New Roman" pitchFamily="18" charset="0"/>
              </a:rPr>
              <a:t>w</a:t>
            </a:r>
            <a:r>
              <a:rPr lang="en-US" altLang="zh-CN" sz="2420" dirty="0">
                <a:latin typeface="Times New Roman" pitchFamily="18" charset="0"/>
                <a:cs typeface="Times New Roman" pitchFamily="18" charset="0"/>
              </a:rPr>
              <a:t> </a:t>
            </a:r>
            <a:r>
              <a:rPr lang="en-US" altLang="zh-CN" sz="2420" dirty="0">
                <a:latin typeface="Symbol" pitchFamily="18" charset="0"/>
                <a:cs typeface="Symbol" pitchFamily="18" charset="0"/>
              </a:rPr>
              <a:t>=</a:t>
            </a:r>
            <a:r>
              <a:rPr lang="en-US" altLang="zh-CN" sz="3631" dirty="0">
                <a:latin typeface="Symbol" pitchFamily="18" charset="0"/>
                <a:cs typeface="Symbol" pitchFamily="18" charset="0"/>
              </a:rPr>
              <a:t>∑</a:t>
            </a:r>
          </a:p>
        </p:txBody>
      </p:sp>
      <p:sp>
        <p:nvSpPr>
          <p:cNvPr id="40" name="TextBox 1"/>
          <p:cNvSpPr txBox="1"/>
          <p:nvPr/>
        </p:nvSpPr>
        <p:spPr>
          <a:xfrm>
            <a:off x="7950868" y="3640699"/>
            <a:ext cx="573875" cy="726930"/>
          </a:xfrm>
          <a:prstGeom prst="rect">
            <a:avLst/>
          </a:prstGeom>
          <a:noFill/>
        </p:spPr>
        <p:txBody>
          <a:bodyPr wrap="none" lIns="0" tIns="0" rIns="0">
            <a:spAutoFit/>
          </a:bodyPr>
          <a:lstStyle/>
          <a:p>
            <a:pPr>
              <a:lnSpc>
                <a:spcPts val="2177"/>
              </a:lnSpc>
              <a:tabLst>
                <a:tab pos="241959" algn="l"/>
              </a:tabLst>
              <a:defRPr/>
            </a:pPr>
            <a:r>
              <a:rPr lang="en-US" altLang="zh-CN" sz="1633" dirty="0"/>
              <a:t>	</a:t>
            </a:r>
            <a:r>
              <a:rPr lang="en-US" altLang="zh-CN" sz="2420" b="1" dirty="0">
                <a:latin typeface="Times New Roman" pitchFamily="18" charset="0"/>
                <a:cs typeface="Times New Roman" pitchFamily="18" charset="0"/>
              </a:rPr>
              <a:t>3</a:t>
            </a:r>
          </a:p>
          <a:p>
            <a:pPr>
              <a:lnSpc>
                <a:spcPts val="3357"/>
              </a:lnSpc>
              <a:tabLst>
                <a:tab pos="241959" algn="l"/>
              </a:tabLst>
              <a:defRPr/>
            </a:pPr>
            <a:r>
              <a:rPr lang="en-US" altLang="zh-CN" sz="2420" b="1" dirty="0">
                <a:latin typeface="Times New Roman" pitchFamily="18" charset="0"/>
                <a:cs typeface="Times New Roman" pitchFamily="18" charset="0"/>
              </a:rPr>
              <a:t>1</a:t>
            </a:r>
            <a:r>
              <a:rPr lang="en-US" altLang="zh-CN" sz="2420" dirty="0">
                <a:latin typeface="Symbol" pitchFamily="18" charset="0"/>
                <a:cs typeface="Symbol" pitchFamily="18" charset="0"/>
              </a:rPr>
              <a:t>−</a:t>
            </a:r>
            <a:r>
              <a:rPr lang="en-US" altLang="zh-CN" sz="2420" dirty="0">
                <a:latin typeface="Times New Roman" pitchFamily="18" charset="0"/>
                <a:cs typeface="Times New Roman" pitchFamily="18" charset="0"/>
              </a:rPr>
              <a:t> </a:t>
            </a:r>
            <a:r>
              <a:rPr lang="en-US" altLang="zh-CN" sz="2420" b="1" i="1" dirty="0">
                <a:latin typeface="Times New Roman" pitchFamily="18" charset="0"/>
                <a:cs typeface="Times New Roman" pitchFamily="18" charset="0"/>
              </a:rPr>
              <a:t>p</a:t>
            </a:r>
          </a:p>
        </p:txBody>
      </p:sp>
      <p:sp>
        <p:nvSpPr>
          <p:cNvPr id="41" name="TextBox 1"/>
          <p:cNvSpPr txBox="1"/>
          <p:nvPr/>
        </p:nvSpPr>
        <p:spPr>
          <a:xfrm>
            <a:off x="7294175" y="3721345"/>
            <a:ext cx="288541" cy="251479"/>
          </a:xfrm>
          <a:prstGeom prst="rect">
            <a:avLst/>
          </a:prstGeom>
          <a:noFill/>
        </p:spPr>
        <p:txBody>
          <a:bodyPr wrap="none" lIns="0" tIns="0" rIns="0">
            <a:spAutoFit/>
          </a:bodyPr>
          <a:lstStyle/>
          <a:p>
            <a:pPr>
              <a:lnSpc>
                <a:spcPts val="1724"/>
              </a:lnSpc>
              <a:defRPr/>
            </a:pPr>
            <a:r>
              <a:rPr lang="en-US" altLang="zh-CN" sz="1412" b="1" i="1" dirty="0">
                <a:latin typeface="Times New Roman" pitchFamily="18" charset="0"/>
                <a:cs typeface="Times New Roman" pitchFamily="18" charset="0"/>
              </a:rPr>
              <a:t>x</a:t>
            </a:r>
            <a:r>
              <a:rPr lang="en-US" altLang="zh-CN" sz="1412" dirty="0">
                <a:latin typeface="Symbol" pitchFamily="18" charset="0"/>
                <a:cs typeface="Symbol" pitchFamily="18" charset="0"/>
              </a:rPr>
              <a:t>−</a:t>
            </a:r>
            <a:r>
              <a:rPr lang="en-US" altLang="zh-CN" sz="1412" b="1" dirty="0">
                <a:latin typeface="Times New Roman" pitchFamily="18" charset="0"/>
                <a:cs typeface="Times New Roman" pitchFamily="18" charset="0"/>
              </a:rPr>
              <a:t>2</a:t>
            </a:r>
          </a:p>
        </p:txBody>
      </p:sp>
      <p:sp>
        <p:nvSpPr>
          <p:cNvPr id="42" name="TextBox 1"/>
          <p:cNvSpPr txBox="1"/>
          <p:nvPr/>
        </p:nvSpPr>
        <p:spPr>
          <a:xfrm>
            <a:off x="5220412" y="3640697"/>
            <a:ext cx="2175275" cy="764312"/>
          </a:xfrm>
          <a:prstGeom prst="rect">
            <a:avLst/>
          </a:prstGeom>
          <a:noFill/>
        </p:spPr>
        <p:txBody>
          <a:bodyPr wrap="none" lIns="0" tIns="0" rIns="0">
            <a:spAutoFit/>
          </a:bodyPr>
          <a:lstStyle/>
          <a:p>
            <a:pPr>
              <a:lnSpc>
                <a:spcPts val="2359"/>
              </a:lnSpc>
              <a:defRPr/>
            </a:pPr>
            <a:r>
              <a:rPr lang="en-US" altLang="zh-CN" sz="2420" b="1" dirty="0">
                <a:latin typeface="Times New Roman" pitchFamily="18" charset="0"/>
                <a:cs typeface="Times New Roman" pitchFamily="18" charset="0"/>
              </a:rPr>
              <a:t>1</a:t>
            </a:r>
            <a:r>
              <a:rPr lang="en-US" altLang="zh-CN" sz="1412" dirty="0">
                <a:latin typeface="Times New Roman" pitchFamily="18" charset="0"/>
                <a:cs typeface="Times New Roman" pitchFamily="18" charset="0"/>
              </a:rPr>
              <a:t>                        </a:t>
            </a:r>
            <a:r>
              <a:rPr lang="en-US" altLang="zh-CN" sz="1412" b="1" dirty="0">
                <a:latin typeface="Times New Roman" pitchFamily="18" charset="0"/>
                <a:cs typeface="Times New Roman" pitchFamily="18" charset="0"/>
              </a:rPr>
              <a:t>3</a:t>
            </a:r>
            <a:r>
              <a:rPr lang="en-US" altLang="zh-CN" sz="1412" dirty="0">
                <a:latin typeface="Times New Roman" pitchFamily="18" charset="0"/>
                <a:cs typeface="Times New Roman" pitchFamily="18" charset="0"/>
              </a:rPr>
              <a:t>                 </a:t>
            </a:r>
            <a:r>
              <a:rPr lang="en-US" altLang="zh-CN" sz="1412" b="1" dirty="0">
                <a:latin typeface="Times New Roman" pitchFamily="18" charset="0"/>
                <a:cs typeface="Times New Roman" pitchFamily="18" charset="0"/>
              </a:rPr>
              <a:t>3</a:t>
            </a:r>
          </a:p>
          <a:p>
            <a:pPr>
              <a:lnSpc>
                <a:spcPts val="907"/>
              </a:lnSpc>
              <a:defRPr/>
            </a:pPr>
            <a:endParaRPr lang="en-US" altLang="zh-CN" sz="1633" dirty="0"/>
          </a:p>
          <a:p>
            <a:pPr>
              <a:lnSpc>
                <a:spcPts val="2268"/>
              </a:lnSpc>
              <a:defRPr/>
            </a:pPr>
            <a:r>
              <a:rPr lang="en-US" altLang="zh-CN" sz="2420" b="1" dirty="0">
                <a:latin typeface="Times New Roman" pitchFamily="18" charset="0"/>
                <a:cs typeface="Times New Roman" pitchFamily="18" charset="0"/>
              </a:rPr>
              <a:t>2</a:t>
            </a:r>
          </a:p>
        </p:txBody>
      </p:sp>
      <p:sp>
        <p:nvSpPr>
          <p:cNvPr id="43" name="TextBox 1"/>
          <p:cNvSpPr txBox="1"/>
          <p:nvPr/>
        </p:nvSpPr>
        <p:spPr>
          <a:xfrm>
            <a:off x="4863263" y="4723662"/>
            <a:ext cx="4900059" cy="1679434"/>
          </a:xfrm>
          <a:prstGeom prst="rect">
            <a:avLst/>
          </a:prstGeom>
          <a:noFill/>
        </p:spPr>
        <p:txBody>
          <a:bodyPr wrap="none" lIns="0" tIns="0" rIns="0">
            <a:spAutoFit/>
          </a:bodyPr>
          <a:lstStyle/>
          <a:p>
            <a:pPr>
              <a:lnSpc>
                <a:spcPts val="3901"/>
              </a:lnSpc>
              <a:tabLst>
                <a:tab pos="4643306" algn="l"/>
              </a:tabLst>
              <a:defRPr/>
            </a:pPr>
            <a:r>
              <a:rPr lang="en-US" altLang="zh-CN" sz="2831" b="1" i="1" dirty="0">
                <a:latin typeface="Times New Roman" pitchFamily="18" charset="0"/>
                <a:cs typeface="Times New Roman" pitchFamily="18" charset="0"/>
              </a:rPr>
              <a:t>X</a:t>
            </a:r>
            <a:r>
              <a:rPr lang="en-US" altLang="zh-CN" sz="1651" b="1" i="1" dirty="0">
                <a:latin typeface="Times New Roman" pitchFamily="18" charset="0"/>
                <a:cs typeface="Times New Roman" pitchFamily="18" charset="0"/>
              </a:rPr>
              <a:t>w</a:t>
            </a:r>
            <a:r>
              <a:rPr lang="en-US" altLang="zh-CN" sz="2831" dirty="0">
                <a:latin typeface="Times New Roman" pitchFamily="18" charset="0"/>
                <a:cs typeface="Times New Roman" pitchFamily="18" charset="0"/>
              </a:rPr>
              <a:t>   </a:t>
            </a:r>
            <a:r>
              <a:rPr lang="en-US" altLang="zh-CN" sz="2831" b="1" i="1" dirty="0">
                <a:latin typeface="Times New Roman" pitchFamily="18" charset="0"/>
                <a:cs typeface="Times New Roman" pitchFamily="18" charset="0"/>
              </a:rPr>
              <a:t>X</a:t>
            </a:r>
            <a:r>
              <a:rPr lang="en-US" altLang="zh-CN" sz="1651" b="1" i="1" dirty="0">
                <a:latin typeface="Times New Roman" pitchFamily="18" charset="0"/>
                <a:cs typeface="Times New Roman" pitchFamily="18" charset="0"/>
              </a:rPr>
              <a:t>n</a:t>
            </a:r>
            <a:r>
              <a:rPr lang="en-US" altLang="zh-CN" sz="2831" dirty="0">
                <a:latin typeface="Times New Roman" pitchFamily="18" charset="0"/>
                <a:cs typeface="Times New Roman" pitchFamily="18" charset="0"/>
              </a:rPr>
              <a:t> </a:t>
            </a:r>
            <a:r>
              <a:rPr lang="en-US" altLang="zh-CN" sz="2831" dirty="0">
                <a:latin typeface="Symbol" pitchFamily="18" charset="0"/>
                <a:cs typeface="Symbol" pitchFamily="18" charset="0"/>
              </a:rPr>
              <a:t>≈</a:t>
            </a:r>
            <a:r>
              <a:rPr lang="en-US" altLang="zh-CN" sz="2831" b="1" dirty="0">
                <a:latin typeface="Times New Roman" pitchFamily="18" charset="0"/>
                <a:cs typeface="Times New Roman" pitchFamily="18" charset="0"/>
              </a:rPr>
              <a:t>1.5</a:t>
            </a:r>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907"/>
              </a:lnSpc>
              <a:defRPr/>
            </a:pPr>
            <a:endParaRPr lang="en-US" altLang="zh-CN" sz="1633" dirty="0"/>
          </a:p>
          <a:p>
            <a:pPr>
              <a:lnSpc>
                <a:spcPts val="1633"/>
              </a:lnSpc>
              <a:tabLst>
                <a:tab pos="4643306" algn="l"/>
              </a:tabLst>
              <a:defRPr/>
            </a:pPr>
            <a:r>
              <a:rPr lang="en-US" altLang="zh-CN" sz="1633" dirty="0"/>
              <a:t>	</a:t>
            </a:r>
            <a:r>
              <a:rPr lang="en-US" altLang="zh-CN" sz="1089" dirty="0">
                <a:latin typeface="Times New Roman" pitchFamily="18" charset="0"/>
                <a:cs typeface="Times New Roman" pitchFamily="18" charset="0"/>
              </a:rPr>
              <a:t>109</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110</a:t>
            </a:r>
          </a:p>
        </p:txBody>
      </p:sp>
      <p:sp>
        <p:nvSpPr>
          <p:cNvPr id="125955" name="TextBox 1"/>
          <p:cNvSpPr txBox="1">
            <a:spLocks noChangeArrowheads="1"/>
          </p:cNvSpPr>
          <p:nvPr/>
        </p:nvSpPr>
        <p:spPr bwMode="auto">
          <a:xfrm>
            <a:off x="3768778" y="656783"/>
            <a:ext cx="4328108" cy="40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812">
                <a:latin typeface="楷体_GB2312"/>
                <a:ea typeface="楷体_GB2312"/>
                <a:cs typeface="楷体_GB2312"/>
              </a:rPr>
              <a:t>歧化终止和偶合终止的比较</a:t>
            </a:r>
          </a:p>
        </p:txBody>
      </p:sp>
      <p:pic>
        <p:nvPicPr>
          <p:cNvPr id="1259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7240" y="1424364"/>
            <a:ext cx="7180405" cy="4363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3"/>
          <p:cNvSpPr/>
          <p:nvPr/>
        </p:nvSpPr>
        <p:spPr>
          <a:xfrm>
            <a:off x="7173207" y="5884396"/>
            <a:ext cx="223218" cy="106568"/>
          </a:xfrm>
          <a:custGeom>
            <a:avLst/>
            <a:gdLst>
              <a:gd name="connsiteX0" fmla="*/ 181368 w 246126"/>
              <a:gd name="connsiteY0" fmla="*/ 0 h 117348"/>
              <a:gd name="connsiteX1" fmla="*/ 0 w 246126"/>
              <a:gd name="connsiteY1" fmla="*/ 0 h 117348"/>
              <a:gd name="connsiteX2" fmla="*/ 9918 w 246126"/>
              <a:gd name="connsiteY2" fmla="*/ 10667 h 117348"/>
              <a:gd name="connsiteX3" fmla="*/ 9918 w 246126"/>
              <a:gd name="connsiteY3" fmla="*/ 32003 h 117348"/>
              <a:gd name="connsiteX4" fmla="*/ 0 w 246126"/>
              <a:gd name="connsiteY4" fmla="*/ 42672 h 117348"/>
              <a:gd name="connsiteX5" fmla="*/ 124218 w 246126"/>
              <a:gd name="connsiteY5" fmla="*/ 106679 h 117348"/>
              <a:gd name="connsiteX6" fmla="*/ 152400 w 246126"/>
              <a:gd name="connsiteY6" fmla="*/ 74675 h 117348"/>
              <a:gd name="connsiteX7" fmla="*/ 246126 w 246126"/>
              <a:gd name="connsiteY7" fmla="*/ 117348 h 117348"/>
              <a:gd name="connsiteX8" fmla="*/ 200418 w 246126"/>
              <a:gd name="connsiteY8" fmla="*/ 42672 h 117348"/>
              <a:gd name="connsiteX9" fmla="*/ 236994 w 246126"/>
              <a:gd name="connsiteY9" fmla="*/ 0 h 117348"/>
              <a:gd name="connsiteX10" fmla="*/ 181368 w 246126"/>
              <a:gd name="connsiteY10" fmla="*/ 0 h 117348"/>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Lst>
            <a:rect l="l" t="t" r="r" b="b"/>
            <a:pathLst>
              <a:path w="246126" h="117348">
                <a:moveTo>
                  <a:pt x="181368" y="0"/>
                </a:moveTo>
                <a:lnTo>
                  <a:pt x="0" y="0"/>
                </a:lnTo>
                <a:lnTo>
                  <a:pt x="9918" y="10667"/>
                </a:lnTo>
                <a:lnTo>
                  <a:pt x="9918" y="32003"/>
                </a:lnTo>
                <a:lnTo>
                  <a:pt x="0" y="42672"/>
                </a:lnTo>
                <a:lnTo>
                  <a:pt x="124218" y="106679"/>
                </a:lnTo>
                <a:lnTo>
                  <a:pt x="152400" y="74675"/>
                </a:lnTo>
                <a:lnTo>
                  <a:pt x="246126" y="117348"/>
                </a:lnTo>
                <a:lnTo>
                  <a:pt x="200418" y="42672"/>
                </a:lnTo>
                <a:lnTo>
                  <a:pt x="236994" y="0"/>
                </a:lnTo>
                <a:lnTo>
                  <a:pt x="181368" y="0"/>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6" name="Freeform 3"/>
          <p:cNvSpPr/>
          <p:nvPr/>
        </p:nvSpPr>
        <p:spPr>
          <a:xfrm>
            <a:off x="5528597" y="5874316"/>
            <a:ext cx="60485" cy="116649"/>
          </a:xfrm>
          <a:custGeom>
            <a:avLst/>
            <a:gdLst>
              <a:gd name="connsiteX0" fmla="*/ 9905 w 67055"/>
              <a:gd name="connsiteY0" fmla="*/ 64007 h 128015"/>
              <a:gd name="connsiteX1" fmla="*/ 0 w 67055"/>
              <a:gd name="connsiteY1" fmla="*/ 32004 h 128015"/>
              <a:gd name="connsiteX2" fmla="*/ 19050 w 67055"/>
              <a:gd name="connsiteY2" fmla="*/ 10667 h 128015"/>
              <a:gd name="connsiteX3" fmla="*/ 0 w 67055"/>
              <a:gd name="connsiteY3" fmla="*/ 10667 h 128015"/>
              <a:gd name="connsiteX4" fmla="*/ 57150 w 67055"/>
              <a:gd name="connsiteY4" fmla="*/ 10667 h 128015"/>
              <a:gd name="connsiteX5" fmla="*/ 67055 w 67055"/>
              <a:gd name="connsiteY5" fmla="*/ 0 h 128015"/>
              <a:gd name="connsiteX6" fmla="*/ 48005 w 67055"/>
              <a:gd name="connsiteY6" fmla="*/ 32004 h 128015"/>
              <a:gd name="connsiteX7" fmla="*/ 67055 w 67055"/>
              <a:gd name="connsiteY7" fmla="*/ 85343 h 128015"/>
              <a:gd name="connsiteX8" fmla="*/ 19050 w 67055"/>
              <a:gd name="connsiteY8" fmla="*/ 128016 h 128015"/>
              <a:gd name="connsiteX9" fmla="*/ 9905 w 67055"/>
              <a:gd name="connsiteY9" fmla="*/ 64007 h 128015"/>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Lst>
            <a:rect l="l" t="t" r="r" b="b"/>
            <a:pathLst>
              <a:path w="67055" h="128015">
                <a:moveTo>
                  <a:pt x="9905" y="64007"/>
                </a:moveTo>
                <a:lnTo>
                  <a:pt x="0" y="32004"/>
                </a:lnTo>
                <a:lnTo>
                  <a:pt x="19050" y="10667"/>
                </a:lnTo>
                <a:lnTo>
                  <a:pt x="0" y="10667"/>
                </a:lnTo>
                <a:lnTo>
                  <a:pt x="57150" y="10667"/>
                </a:lnTo>
                <a:lnTo>
                  <a:pt x="67055" y="0"/>
                </a:lnTo>
                <a:lnTo>
                  <a:pt x="48005" y="32004"/>
                </a:lnTo>
                <a:lnTo>
                  <a:pt x="67055" y="85343"/>
                </a:lnTo>
                <a:lnTo>
                  <a:pt x="19050" y="128016"/>
                </a:lnTo>
                <a:lnTo>
                  <a:pt x="9905" y="64007"/>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8" name="Freeform 3"/>
          <p:cNvSpPr/>
          <p:nvPr/>
        </p:nvSpPr>
        <p:spPr>
          <a:xfrm>
            <a:off x="4583883" y="5822472"/>
            <a:ext cx="102249" cy="87846"/>
          </a:xfrm>
          <a:custGeom>
            <a:avLst/>
            <a:gdLst>
              <a:gd name="connsiteX0" fmla="*/ 0 w 112776"/>
              <a:gd name="connsiteY0" fmla="*/ 28955 h 96773"/>
              <a:gd name="connsiteX1" fmla="*/ 9905 w 112776"/>
              <a:gd name="connsiteY1" fmla="*/ 28955 h 96773"/>
              <a:gd name="connsiteX2" fmla="*/ 19050 w 112776"/>
              <a:gd name="connsiteY2" fmla="*/ 19050 h 96773"/>
              <a:gd name="connsiteX3" fmla="*/ 9905 w 112776"/>
              <a:gd name="connsiteY3" fmla="*/ 9144 h 96773"/>
              <a:gd name="connsiteX4" fmla="*/ 0 w 112776"/>
              <a:gd name="connsiteY4" fmla="*/ 0 h 96773"/>
              <a:gd name="connsiteX5" fmla="*/ 46482 w 112776"/>
              <a:gd name="connsiteY5" fmla="*/ 28955 h 96773"/>
              <a:gd name="connsiteX6" fmla="*/ 84582 w 112776"/>
              <a:gd name="connsiteY6" fmla="*/ 28955 h 96773"/>
              <a:gd name="connsiteX7" fmla="*/ 93726 w 112776"/>
              <a:gd name="connsiteY7" fmla="*/ 48005 h 96773"/>
              <a:gd name="connsiteX8" fmla="*/ 103632 w 112776"/>
              <a:gd name="connsiteY8" fmla="*/ 67817 h 96773"/>
              <a:gd name="connsiteX9" fmla="*/ 112776 w 112776"/>
              <a:gd name="connsiteY9" fmla="*/ 86867 h 96773"/>
              <a:gd name="connsiteX10" fmla="*/ 112776 w 112776"/>
              <a:gd name="connsiteY10" fmla="*/ 96773 h 96773"/>
              <a:gd name="connsiteX11" fmla="*/ 93726 w 112776"/>
              <a:gd name="connsiteY11" fmla="*/ 86867 h 96773"/>
              <a:gd name="connsiteX12" fmla="*/ 74676 w 112776"/>
              <a:gd name="connsiteY12" fmla="*/ 67817 h 96773"/>
              <a:gd name="connsiteX13" fmla="*/ 36576 w 112776"/>
              <a:gd name="connsiteY13" fmla="*/ 48005 h 96773"/>
              <a:gd name="connsiteX14" fmla="*/ 36576 w 112776"/>
              <a:gd name="connsiteY14" fmla="*/ 57911 h 96773"/>
              <a:gd name="connsiteX15" fmla="*/ 28955 w 112776"/>
              <a:gd name="connsiteY15" fmla="*/ 67817 h 96773"/>
              <a:gd name="connsiteX16" fmla="*/ 19050 w 112776"/>
              <a:gd name="connsiteY16" fmla="*/ 76961 h 96773"/>
              <a:gd name="connsiteX17" fmla="*/ 9905 w 112776"/>
              <a:gd name="connsiteY17" fmla="*/ 76961 h 96773"/>
              <a:gd name="connsiteX18" fmla="*/ 9905 w 112776"/>
              <a:gd name="connsiteY18" fmla="*/ 57911 h 96773"/>
              <a:gd name="connsiteX19" fmla="*/ 0 w 112776"/>
              <a:gd name="connsiteY19" fmla="*/ 28955 h 967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Lst>
            <a:rect l="l" t="t" r="r" b="b"/>
            <a:pathLst>
              <a:path w="112776" h="96773">
                <a:moveTo>
                  <a:pt x="0" y="28955"/>
                </a:moveTo>
                <a:lnTo>
                  <a:pt x="9905" y="28955"/>
                </a:lnTo>
                <a:lnTo>
                  <a:pt x="19050" y="19050"/>
                </a:lnTo>
                <a:lnTo>
                  <a:pt x="9905" y="9144"/>
                </a:lnTo>
                <a:lnTo>
                  <a:pt x="0" y="0"/>
                </a:lnTo>
                <a:lnTo>
                  <a:pt x="46482" y="28955"/>
                </a:lnTo>
                <a:lnTo>
                  <a:pt x="84582" y="28955"/>
                </a:lnTo>
                <a:lnTo>
                  <a:pt x="93726" y="48005"/>
                </a:lnTo>
                <a:lnTo>
                  <a:pt x="103632" y="67817"/>
                </a:lnTo>
                <a:lnTo>
                  <a:pt x="112776" y="86867"/>
                </a:lnTo>
                <a:lnTo>
                  <a:pt x="112776" y="96773"/>
                </a:lnTo>
                <a:lnTo>
                  <a:pt x="93726" y="86867"/>
                </a:lnTo>
                <a:lnTo>
                  <a:pt x="74676" y="67817"/>
                </a:lnTo>
                <a:lnTo>
                  <a:pt x="36576" y="48005"/>
                </a:lnTo>
                <a:lnTo>
                  <a:pt x="36576" y="57911"/>
                </a:lnTo>
                <a:lnTo>
                  <a:pt x="28955" y="67817"/>
                </a:lnTo>
                <a:lnTo>
                  <a:pt x="19050" y="76961"/>
                </a:lnTo>
                <a:lnTo>
                  <a:pt x="9905" y="76961"/>
                </a:lnTo>
                <a:lnTo>
                  <a:pt x="9905" y="57911"/>
                </a:lnTo>
                <a:lnTo>
                  <a:pt x="0" y="28955"/>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0" name="Freeform 3"/>
          <p:cNvSpPr/>
          <p:nvPr/>
        </p:nvSpPr>
        <p:spPr>
          <a:xfrm>
            <a:off x="2965195" y="5867113"/>
            <a:ext cx="84967" cy="87847"/>
          </a:xfrm>
          <a:custGeom>
            <a:avLst/>
            <a:gdLst>
              <a:gd name="connsiteX0" fmla="*/ 93726 w 93726"/>
              <a:gd name="connsiteY0" fmla="*/ 9905 h 96773"/>
              <a:gd name="connsiteX1" fmla="*/ 64770 w 93726"/>
              <a:gd name="connsiteY1" fmla="*/ 48767 h 96773"/>
              <a:gd name="connsiteX2" fmla="*/ 64770 w 93726"/>
              <a:gd name="connsiteY2" fmla="*/ 57912 h 96773"/>
              <a:gd name="connsiteX3" fmla="*/ 74676 w 93726"/>
              <a:gd name="connsiteY3" fmla="*/ 67817 h 96773"/>
              <a:gd name="connsiteX4" fmla="*/ 83820 w 93726"/>
              <a:gd name="connsiteY4" fmla="*/ 87629 h 96773"/>
              <a:gd name="connsiteX5" fmla="*/ 83820 w 93726"/>
              <a:gd name="connsiteY5" fmla="*/ 96774 h 96773"/>
              <a:gd name="connsiteX6" fmla="*/ 74676 w 93726"/>
              <a:gd name="connsiteY6" fmla="*/ 87629 h 96773"/>
              <a:gd name="connsiteX7" fmla="*/ 55626 w 93726"/>
              <a:gd name="connsiteY7" fmla="*/ 77724 h 96773"/>
              <a:gd name="connsiteX8" fmla="*/ 36576 w 93726"/>
              <a:gd name="connsiteY8" fmla="*/ 57912 h 96773"/>
              <a:gd name="connsiteX9" fmla="*/ 26670 w 93726"/>
              <a:gd name="connsiteY9" fmla="*/ 48767 h 96773"/>
              <a:gd name="connsiteX10" fmla="*/ 0 w 93726"/>
              <a:gd name="connsiteY10" fmla="*/ 0 h 96773"/>
              <a:gd name="connsiteX11" fmla="*/ 93726 w 93726"/>
              <a:gd name="connsiteY11" fmla="*/ 9905 h 967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Lst>
            <a:rect l="l" t="t" r="r" b="b"/>
            <a:pathLst>
              <a:path w="93726" h="96773">
                <a:moveTo>
                  <a:pt x="93726" y="9905"/>
                </a:moveTo>
                <a:lnTo>
                  <a:pt x="64770" y="48767"/>
                </a:lnTo>
                <a:lnTo>
                  <a:pt x="64770" y="57912"/>
                </a:lnTo>
                <a:lnTo>
                  <a:pt x="74676" y="67817"/>
                </a:lnTo>
                <a:lnTo>
                  <a:pt x="83820" y="87629"/>
                </a:lnTo>
                <a:lnTo>
                  <a:pt x="83820" y="96774"/>
                </a:lnTo>
                <a:lnTo>
                  <a:pt x="74676" y="87629"/>
                </a:lnTo>
                <a:lnTo>
                  <a:pt x="55626" y="77724"/>
                </a:lnTo>
                <a:lnTo>
                  <a:pt x="36576" y="57912"/>
                </a:lnTo>
                <a:lnTo>
                  <a:pt x="26670" y="48767"/>
                </a:lnTo>
                <a:lnTo>
                  <a:pt x="0" y="0"/>
                </a:lnTo>
                <a:lnTo>
                  <a:pt x="93726" y="9905"/>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26982"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111</a:t>
            </a:r>
          </a:p>
        </p:txBody>
      </p:sp>
      <p:sp>
        <p:nvSpPr>
          <p:cNvPr id="126983" name="TextBox 1"/>
          <p:cNvSpPr txBox="1">
            <a:spLocks noChangeArrowheads="1"/>
          </p:cNvSpPr>
          <p:nvPr/>
        </p:nvSpPr>
        <p:spPr bwMode="auto">
          <a:xfrm>
            <a:off x="2512999" y="1993209"/>
            <a:ext cx="7159011" cy="139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阻聚剂（</a:t>
            </a:r>
            <a:r>
              <a:rPr lang="en-US" altLang="zh-CN" sz="2540" b="1">
                <a:latin typeface="Times New Roman" panose="02020603050405020304" pitchFamily="18" charset="0"/>
                <a:cs typeface="Times New Roman" panose="02020603050405020304" pitchFamily="18" charset="0"/>
              </a:rPr>
              <a:t>Inhibitor</a:t>
            </a:r>
            <a:r>
              <a:rPr lang="en-US" altLang="zh-CN" sz="2540">
                <a:latin typeface="楷体_GB2312"/>
                <a:ea typeface="楷体_GB2312"/>
                <a:cs typeface="楷体_GB2312"/>
              </a:rPr>
              <a:t>）：能与链自由基反应生成非自</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由基或不能引发单体聚合的低活性自由基而使聚合</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反应完全停止的化合物。</a:t>
            </a:r>
          </a:p>
        </p:txBody>
      </p:sp>
      <p:sp>
        <p:nvSpPr>
          <p:cNvPr id="126984" name="TextBox 1"/>
          <p:cNvSpPr txBox="1">
            <a:spLocks noChangeArrowheads="1"/>
          </p:cNvSpPr>
          <p:nvPr/>
        </p:nvSpPr>
        <p:spPr bwMode="auto">
          <a:xfrm>
            <a:off x="2224975" y="694227"/>
            <a:ext cx="536493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3.11</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阻聚作用（</a:t>
            </a:r>
            <a:r>
              <a:rPr lang="en-US" altLang="zh-CN" sz="2540" b="1">
                <a:latin typeface="Times New Roman" panose="02020603050405020304" pitchFamily="18" charset="0"/>
                <a:cs typeface="Times New Roman" panose="02020603050405020304" pitchFamily="18" charset="0"/>
              </a:rPr>
              <a:t>Inhibition</a:t>
            </a:r>
            <a:r>
              <a:rPr lang="en-US" altLang="zh-CN" sz="2540">
                <a:latin typeface="楷体_GB2312"/>
                <a:ea typeface="楷体_GB2312"/>
                <a:cs typeface="楷体_GB2312"/>
              </a:rPr>
              <a:t>）和阻聚剂</a:t>
            </a:r>
          </a:p>
        </p:txBody>
      </p:sp>
      <p:sp>
        <p:nvSpPr>
          <p:cNvPr id="126985" name="TextBox 1"/>
          <p:cNvSpPr txBox="1">
            <a:spLocks noChangeArrowheads="1"/>
          </p:cNvSpPr>
          <p:nvPr/>
        </p:nvSpPr>
        <p:spPr bwMode="auto">
          <a:xfrm>
            <a:off x="2582125" y="3640697"/>
            <a:ext cx="6684522" cy="879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缓聚剂（</a:t>
            </a:r>
            <a:r>
              <a:rPr lang="en-US" altLang="zh-CN" sz="2540" b="1">
                <a:latin typeface="Times New Roman" panose="02020603050405020304" pitchFamily="18" charset="0"/>
                <a:cs typeface="Times New Roman" panose="02020603050405020304" pitchFamily="18" charset="0"/>
              </a:rPr>
              <a:t>Retarding</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Agents</a:t>
            </a:r>
            <a:r>
              <a:rPr lang="en-US" altLang="zh-CN" sz="2540">
                <a:latin typeface="楷体_GB2312"/>
                <a:ea typeface="楷体_GB2312"/>
                <a:cs typeface="楷体_GB2312"/>
              </a:rPr>
              <a:t>）：能使聚合反应速</a:t>
            </a:r>
          </a:p>
          <a:p>
            <a:pPr eaLnBrk="1" hangingPunct="1">
              <a:lnSpc>
                <a:spcPts val="907"/>
              </a:lnSpc>
            </a:pPr>
            <a:endParaRPr lang="en-US" altLang="zh-CN" sz="1633"/>
          </a:p>
          <a:p>
            <a:pPr eaLnBrk="1" hangingPunct="1">
              <a:lnSpc>
                <a:spcPts val="2903"/>
              </a:lnSpc>
            </a:pPr>
            <a:r>
              <a:rPr lang="en-US" altLang="zh-CN" sz="2540">
                <a:latin typeface="楷体_GB2312"/>
                <a:ea typeface="楷体_GB2312"/>
                <a:cs typeface="楷体_GB2312"/>
              </a:rPr>
              <a:t>率减慢的化合物</a:t>
            </a:r>
          </a:p>
        </p:txBody>
      </p:sp>
      <p:sp>
        <p:nvSpPr>
          <p:cNvPr id="126986" name="TextBox 1"/>
          <p:cNvSpPr txBox="1">
            <a:spLocks noChangeArrowheads="1"/>
          </p:cNvSpPr>
          <p:nvPr/>
        </p:nvSpPr>
        <p:spPr bwMode="auto">
          <a:xfrm>
            <a:off x="2582124" y="4954080"/>
            <a:ext cx="6101029" cy="29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905"/>
              </a:lnSpc>
            </a:pPr>
            <a:r>
              <a:rPr lang="en-US" altLang="zh-CN" sz="2177" b="1">
                <a:latin typeface="Times New Roman" panose="02020603050405020304" pitchFamily="18" charset="0"/>
                <a:cs typeface="Times New Roman" panose="02020603050405020304" pitchFamily="18" charset="0"/>
              </a:rPr>
              <a:t>Inhibitors</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stop</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every</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radical,</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and</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polymerization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is</a:t>
            </a:r>
          </a:p>
        </p:txBody>
      </p:sp>
      <p:sp>
        <p:nvSpPr>
          <p:cNvPr id="126987" name="TextBox 1"/>
          <p:cNvSpPr txBox="1">
            <a:spLocks noChangeArrowheads="1"/>
          </p:cNvSpPr>
          <p:nvPr/>
        </p:nvSpPr>
        <p:spPr bwMode="auto">
          <a:xfrm>
            <a:off x="2582125" y="5368833"/>
            <a:ext cx="6810647" cy="700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905"/>
              </a:lnSpc>
            </a:pPr>
            <a:r>
              <a:rPr lang="en-US" altLang="zh-CN" sz="2177" b="1">
                <a:latin typeface="Times New Roman" panose="02020603050405020304" pitchFamily="18" charset="0"/>
                <a:cs typeface="Times New Roman" panose="02020603050405020304" pitchFamily="18" charset="0"/>
              </a:rPr>
              <a:t>completely</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halted</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until</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they</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are</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consumed.</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Retarders</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are</a:t>
            </a:r>
          </a:p>
          <a:p>
            <a:pPr eaLnBrk="1" hangingPunct="1">
              <a:lnSpc>
                <a:spcPts val="907"/>
              </a:lnSpc>
            </a:pPr>
            <a:endParaRPr lang="en-US" altLang="zh-CN" sz="1633">
              <a:cs typeface="Times New Roman" panose="02020603050405020304" pitchFamily="18" charset="0"/>
            </a:endParaRPr>
          </a:p>
          <a:p>
            <a:pPr eaLnBrk="1" hangingPunct="1">
              <a:lnSpc>
                <a:spcPts val="2268"/>
              </a:lnSpc>
            </a:pPr>
            <a:r>
              <a:rPr lang="en-US" altLang="zh-CN" sz="2177" b="1">
                <a:latin typeface="Times New Roman" panose="02020603050405020304" pitchFamily="18" charset="0"/>
                <a:cs typeface="Times New Roman" panose="02020603050405020304" pitchFamily="18" charset="0"/>
              </a:rPr>
              <a:t>less</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efﬁcient</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and</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stop</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only</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portion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of</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the</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radicals.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112</a:t>
            </a:r>
          </a:p>
        </p:txBody>
      </p:sp>
      <p:sp>
        <p:nvSpPr>
          <p:cNvPr id="128003" name="TextBox 1"/>
          <p:cNvSpPr txBox="1">
            <a:spLocks noChangeArrowheads="1"/>
          </p:cNvSpPr>
          <p:nvPr/>
        </p:nvSpPr>
        <p:spPr bwMode="auto">
          <a:xfrm>
            <a:off x="2651249" y="1889519"/>
            <a:ext cx="6833602"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7112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7112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7112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7112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7112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7112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当体系中存在阻聚剂时，在聚合反应开始</a:t>
            </a:r>
          </a:p>
          <a:p>
            <a:pPr eaLnBrk="1" hangingPunct="1">
              <a:lnSpc>
                <a:spcPts val="907"/>
              </a:lnSpc>
            </a:pPr>
            <a:endParaRPr lang="en-US" altLang="zh-CN" sz="1633"/>
          </a:p>
          <a:p>
            <a:pPr eaLnBrk="1" hangingPunct="1">
              <a:lnSpc>
                <a:spcPts val="3266"/>
              </a:lnSpc>
            </a:pPr>
            <a:r>
              <a:rPr lang="en-US" altLang="zh-CN" sz="2540">
                <a:latin typeface="楷体_GB2312"/>
                <a:ea typeface="楷体_GB2312"/>
                <a:cs typeface="楷体_GB2312"/>
              </a:rPr>
              <a:t>（引发剂开始分解）以后，并不能马上引发单体</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聚合，必须在体系中的阻聚剂全部消耗完后，聚</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合反应才会正常进行。即从引发剂开始分解到单</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体开始转化存在一个时间间隔，称诱导期</a:t>
            </a:r>
          </a:p>
          <a:p>
            <a:pPr eaLnBrk="1" hangingPunct="1">
              <a:lnSpc>
                <a:spcPts val="907"/>
              </a:lnSpc>
            </a:pPr>
            <a:endParaRPr lang="en-US" altLang="zh-CN" sz="1633"/>
          </a:p>
          <a:p>
            <a:pPr eaLnBrk="1" hangingPunct="1">
              <a:lnSpc>
                <a:spcPts val="2994"/>
              </a:lnSpc>
            </a:pP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Induction</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Period</a:t>
            </a:r>
            <a:r>
              <a:rPr lang="en-US" altLang="zh-CN" sz="2540">
                <a:latin typeface="楷体_GB2312"/>
                <a:ea typeface="楷体_GB2312"/>
                <a:cs typeface="楷体_GB2312"/>
              </a:rPr>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113</a:t>
            </a:r>
          </a:p>
        </p:txBody>
      </p:sp>
      <p:sp>
        <p:nvSpPr>
          <p:cNvPr id="129027" name="TextBox 1"/>
          <p:cNvSpPr txBox="1">
            <a:spLocks noChangeArrowheads="1"/>
          </p:cNvSpPr>
          <p:nvPr/>
        </p:nvSpPr>
        <p:spPr bwMode="auto">
          <a:xfrm>
            <a:off x="2582124" y="2062333"/>
            <a:ext cx="7159011" cy="789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阻聚剂会导致聚合反应存在诱导期，但在诱导期过</a:t>
            </a:r>
          </a:p>
          <a:p>
            <a:pPr eaLnBrk="1" hangingPunct="1">
              <a:lnSpc>
                <a:spcPts val="907"/>
              </a:lnSpc>
            </a:pPr>
            <a:endParaRPr lang="en-US" altLang="zh-CN" sz="1633"/>
          </a:p>
          <a:p>
            <a:pPr eaLnBrk="1" hangingPunct="1">
              <a:lnSpc>
                <a:spcPts val="2540"/>
              </a:lnSpc>
            </a:pPr>
            <a:r>
              <a:rPr lang="en-US" altLang="zh-CN" sz="2540">
                <a:latin typeface="楷体_GB2312"/>
                <a:ea typeface="楷体_GB2312"/>
                <a:cs typeface="楷体_GB2312"/>
              </a:rPr>
              <a:t>后，不会改变聚合速率。</a:t>
            </a:r>
          </a:p>
        </p:txBody>
      </p:sp>
      <p:sp>
        <p:nvSpPr>
          <p:cNvPr id="129028" name="TextBox 1"/>
          <p:cNvSpPr txBox="1">
            <a:spLocks noChangeArrowheads="1"/>
          </p:cNvSpPr>
          <p:nvPr/>
        </p:nvSpPr>
        <p:spPr bwMode="auto">
          <a:xfrm>
            <a:off x="2593645" y="3352677"/>
            <a:ext cx="7159011"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缓聚剂并不会使聚合反应完全停止，不会导致诱导</a:t>
            </a:r>
          </a:p>
        </p:txBody>
      </p:sp>
      <p:sp>
        <p:nvSpPr>
          <p:cNvPr id="129029" name="TextBox 1"/>
          <p:cNvSpPr txBox="1">
            <a:spLocks noChangeArrowheads="1"/>
          </p:cNvSpPr>
          <p:nvPr/>
        </p:nvSpPr>
        <p:spPr bwMode="auto">
          <a:xfrm>
            <a:off x="2513000" y="3813513"/>
            <a:ext cx="4230325"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期，只会减慢聚合反应速率。</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3"/>
          <p:cNvSpPr/>
          <p:nvPr/>
        </p:nvSpPr>
        <p:spPr>
          <a:xfrm>
            <a:off x="6613001" y="3030089"/>
            <a:ext cx="3364105" cy="2523079"/>
          </a:xfrm>
          <a:custGeom>
            <a:avLst/>
            <a:gdLst>
              <a:gd name="connsiteX0" fmla="*/ 6350 w 3708399"/>
              <a:gd name="connsiteY0" fmla="*/ 6350 h 2781808"/>
              <a:gd name="connsiteX1" fmla="*/ 6350 w 3708399"/>
              <a:gd name="connsiteY1" fmla="*/ 2775458 h 2781808"/>
              <a:gd name="connsiteX2" fmla="*/ 3702049 w 3708399"/>
              <a:gd name="connsiteY2" fmla="*/ 2775458 h 2781808"/>
              <a:gd name="connsiteX3" fmla="*/ 3702049 w 3708399"/>
              <a:gd name="connsiteY3" fmla="*/ 6350 h 2781808"/>
              <a:gd name="connsiteX4" fmla="*/ 6350 w 3708399"/>
              <a:gd name="connsiteY4" fmla="*/ 6350 h 278180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3708399" h="2781808">
                <a:moveTo>
                  <a:pt x="6350" y="6350"/>
                </a:moveTo>
                <a:lnTo>
                  <a:pt x="6350" y="2775458"/>
                </a:lnTo>
                <a:lnTo>
                  <a:pt x="3702049" y="2775458"/>
                </a:lnTo>
                <a:lnTo>
                  <a:pt x="3702049" y="6350"/>
                </a:lnTo>
                <a:lnTo>
                  <a:pt x="6350" y="6350"/>
                </a:lnTo>
              </a:path>
            </a:pathLst>
          </a:custGeom>
          <a:solidFill>
            <a:srgbClr val="000000">
              <a:alpha val="0"/>
            </a:srgbClr>
          </a:solidFill>
          <a:ln w="12700">
            <a:solidFill>
              <a:srgbClr val="FFCC00">
                <a:alpha val="100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30051"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114</a:t>
            </a:r>
          </a:p>
        </p:txBody>
      </p:sp>
      <p:sp>
        <p:nvSpPr>
          <p:cNvPr id="130052" name="TextBox 1"/>
          <p:cNvSpPr txBox="1">
            <a:spLocks noChangeArrowheads="1"/>
          </p:cNvSpPr>
          <p:nvPr/>
        </p:nvSpPr>
        <p:spPr bwMode="auto">
          <a:xfrm>
            <a:off x="2847106" y="1002410"/>
            <a:ext cx="6469720" cy="163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604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604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604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604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604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604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1633"/>
              <a:t>	</a:t>
            </a:r>
            <a:r>
              <a:rPr lang="en-US" altLang="zh-CN" sz="2268">
                <a:latin typeface="楷体_GB2312"/>
                <a:ea typeface="楷体_GB2312"/>
                <a:cs typeface="楷体_GB2312"/>
              </a:rPr>
              <a:t>有些化合物兼有阻聚作用与缓聚作用，即在一</a:t>
            </a:r>
          </a:p>
          <a:p>
            <a:pPr eaLnBrk="1" hangingPunct="1">
              <a:lnSpc>
                <a:spcPts val="907"/>
              </a:lnSpc>
            </a:pPr>
            <a:endParaRPr lang="en-US" altLang="zh-CN" sz="1633"/>
          </a:p>
          <a:p>
            <a:pPr eaLnBrk="1" hangingPunct="1">
              <a:lnSpc>
                <a:spcPts val="2631"/>
              </a:lnSpc>
            </a:pPr>
            <a:r>
              <a:rPr lang="en-US" altLang="zh-CN" sz="2268">
                <a:latin typeface="楷体_GB2312"/>
                <a:ea typeface="楷体_GB2312"/>
                <a:cs typeface="楷体_GB2312"/>
              </a:rPr>
              <a:t>定的反应阶段充当阻聚剂，产生诱导期，反应一段</a:t>
            </a:r>
          </a:p>
          <a:p>
            <a:pPr eaLnBrk="1" hangingPunct="1">
              <a:lnSpc>
                <a:spcPts val="907"/>
              </a:lnSpc>
            </a:pPr>
            <a:endParaRPr lang="en-US" altLang="zh-CN" sz="1633"/>
          </a:p>
          <a:p>
            <a:pPr eaLnBrk="1" hangingPunct="1">
              <a:lnSpc>
                <a:spcPts val="2449"/>
              </a:lnSpc>
            </a:pPr>
            <a:r>
              <a:rPr lang="en-US" altLang="zh-CN" sz="2268">
                <a:latin typeface="楷体_GB2312"/>
                <a:ea typeface="楷体_GB2312"/>
                <a:cs typeface="楷体_GB2312"/>
              </a:rPr>
              <a:t>时间后其阻聚作用消失，转而成为缓聚剂，使聚合</a:t>
            </a:r>
          </a:p>
          <a:p>
            <a:pPr eaLnBrk="1" hangingPunct="1">
              <a:lnSpc>
                <a:spcPts val="907"/>
              </a:lnSpc>
            </a:pPr>
            <a:endParaRPr lang="en-US" altLang="zh-CN" sz="1633"/>
          </a:p>
          <a:p>
            <a:pPr eaLnBrk="1" hangingPunct="1">
              <a:lnSpc>
                <a:spcPts val="2449"/>
              </a:lnSpc>
            </a:pPr>
            <a:r>
              <a:rPr lang="en-US" altLang="zh-CN" sz="2268">
                <a:latin typeface="楷体_GB2312"/>
                <a:ea typeface="楷体_GB2312"/>
                <a:cs typeface="楷体_GB2312"/>
              </a:rPr>
              <a:t>反应速率减慢。</a:t>
            </a:r>
          </a:p>
        </p:txBody>
      </p:sp>
      <p:sp>
        <p:nvSpPr>
          <p:cNvPr id="130053" name="TextBox 1"/>
          <p:cNvSpPr txBox="1">
            <a:spLocks noChangeArrowheads="1"/>
          </p:cNvSpPr>
          <p:nvPr/>
        </p:nvSpPr>
        <p:spPr bwMode="auto">
          <a:xfrm>
            <a:off x="6695089" y="3191383"/>
            <a:ext cx="2848537" cy="1341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a</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无阻聚剂与缓聚剂</a:t>
            </a:r>
          </a:p>
          <a:p>
            <a:pPr eaLnBrk="1" hangingPunct="1">
              <a:lnSpc>
                <a:spcPts val="907"/>
              </a:lnSpc>
            </a:pPr>
            <a:endParaRPr lang="en-US" altLang="zh-CN" sz="1633"/>
          </a:p>
          <a:p>
            <a:pPr eaLnBrk="1" hangingPunct="1">
              <a:lnSpc>
                <a:spcPts val="2812"/>
              </a:lnSpc>
            </a:pPr>
            <a:r>
              <a:rPr lang="en-US" altLang="zh-CN" sz="2540" b="1">
                <a:latin typeface="Times New Roman" panose="02020603050405020304" pitchFamily="18" charset="0"/>
                <a:cs typeface="Times New Roman" panose="02020603050405020304" pitchFamily="18" charset="0"/>
              </a:rPr>
              <a:t>b</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加阻聚剂</a:t>
            </a:r>
          </a:p>
          <a:p>
            <a:pPr eaLnBrk="1" hangingPunct="1">
              <a:lnSpc>
                <a:spcPts val="907"/>
              </a:lnSpc>
            </a:pPr>
            <a:endParaRPr lang="en-US" altLang="zh-CN" sz="1633"/>
          </a:p>
          <a:p>
            <a:pPr eaLnBrk="1" hangingPunct="1">
              <a:lnSpc>
                <a:spcPts val="2812"/>
              </a:lnSpc>
            </a:pPr>
            <a:r>
              <a:rPr lang="en-US" altLang="zh-CN" sz="2540" b="1">
                <a:latin typeface="Times New Roman" panose="02020603050405020304" pitchFamily="18" charset="0"/>
                <a:cs typeface="Times New Roman" panose="02020603050405020304" pitchFamily="18" charset="0"/>
              </a:rPr>
              <a:t>c</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加缓聚剂</a:t>
            </a:r>
          </a:p>
        </p:txBody>
      </p:sp>
      <p:sp>
        <p:nvSpPr>
          <p:cNvPr id="130054" name="TextBox 1"/>
          <p:cNvSpPr txBox="1">
            <a:spLocks noChangeArrowheads="1"/>
          </p:cNvSpPr>
          <p:nvPr/>
        </p:nvSpPr>
        <p:spPr bwMode="auto">
          <a:xfrm>
            <a:off x="6695087" y="4643018"/>
            <a:ext cx="3191579"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b="1">
                <a:latin typeface="Times New Roman" panose="02020603050405020304" pitchFamily="18" charset="0"/>
                <a:cs typeface="Times New Roman" panose="02020603050405020304" pitchFamily="18" charset="0"/>
              </a:rPr>
              <a:t>d</a:t>
            </a:r>
            <a:r>
              <a:rPr lang="en-US" altLang="zh-CN" sz="2540">
                <a:latin typeface="Times New Roman" panose="02020603050405020304" pitchFamily="18" charset="0"/>
                <a:cs typeface="Times New Roman" panose="02020603050405020304" pitchFamily="18" charset="0"/>
              </a:rPr>
              <a:t> </a:t>
            </a:r>
            <a:r>
              <a:rPr lang="en-US" altLang="zh-CN" sz="2540">
                <a:latin typeface="楷体_GB2312"/>
                <a:ea typeface="楷体_GB2312"/>
                <a:cs typeface="楷体_GB2312"/>
              </a:rPr>
              <a:t>兼有阻聚与缓聚作用</a:t>
            </a:r>
          </a:p>
        </p:txBody>
      </p:sp>
      <p:sp>
        <p:nvSpPr>
          <p:cNvPr id="130055" name="TextBox 1"/>
          <p:cNvSpPr txBox="1">
            <a:spLocks noChangeArrowheads="1"/>
          </p:cNvSpPr>
          <p:nvPr/>
        </p:nvSpPr>
        <p:spPr bwMode="auto">
          <a:xfrm>
            <a:off x="6695087" y="5126896"/>
            <a:ext cx="1126912" cy="43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2540" b="1" i="1">
                <a:latin typeface="Times New Roman" panose="02020603050405020304" pitchFamily="18" charset="0"/>
                <a:cs typeface="Times New Roman" panose="02020603050405020304" pitchFamily="18" charset="0"/>
              </a:rPr>
              <a:t>t</a:t>
            </a:r>
            <a:r>
              <a:rPr lang="en-US" altLang="zh-CN" sz="1724" b="1">
                <a:latin typeface="Times New Roman" panose="02020603050405020304" pitchFamily="18" charset="0"/>
                <a:cs typeface="Times New Roman" panose="02020603050405020304" pitchFamily="18" charset="0"/>
              </a:rPr>
              <a:t>i</a:t>
            </a:r>
            <a:r>
              <a:rPr lang="en-US" altLang="zh-CN" sz="2540">
                <a:latin typeface="楷体_GB2312"/>
                <a:ea typeface="楷体_GB2312"/>
                <a:cs typeface="楷体_GB2312"/>
              </a:rPr>
              <a:t>诱导期</a:t>
            </a:r>
          </a:p>
        </p:txBody>
      </p:sp>
      <p:pic>
        <p:nvPicPr>
          <p:cNvPr id="13005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102" y="2857278"/>
            <a:ext cx="4173449" cy="339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115</a:t>
            </a:r>
          </a:p>
        </p:txBody>
      </p:sp>
      <p:sp>
        <p:nvSpPr>
          <p:cNvPr id="131075" name="TextBox 1"/>
          <p:cNvSpPr txBox="1">
            <a:spLocks noChangeArrowheads="1"/>
          </p:cNvSpPr>
          <p:nvPr/>
        </p:nvSpPr>
        <p:spPr bwMode="auto">
          <a:xfrm>
            <a:off x="2252339" y="646703"/>
            <a:ext cx="4230325"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a:latin typeface="楷体_GB2312"/>
                <a:ea typeface="楷体_GB2312"/>
                <a:cs typeface="楷体_GB2312"/>
              </a:rPr>
              <a:t>阻聚剂大体分如下三种类型：</a:t>
            </a:r>
          </a:p>
        </p:txBody>
      </p:sp>
      <p:sp>
        <p:nvSpPr>
          <p:cNvPr id="131076" name="TextBox 1"/>
          <p:cNvSpPr txBox="1">
            <a:spLocks noChangeArrowheads="1"/>
          </p:cNvSpPr>
          <p:nvPr/>
        </p:nvSpPr>
        <p:spPr bwMode="auto">
          <a:xfrm>
            <a:off x="2282580" y="1728229"/>
            <a:ext cx="214000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b="1">
                <a:latin typeface="Times New Roman" panose="02020603050405020304" pitchFamily="18" charset="0"/>
                <a:cs typeface="Times New Roman" panose="02020603050405020304" pitchFamily="18" charset="0"/>
              </a:rPr>
              <a:t>(1)</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分子型阻聚剂</a:t>
            </a:r>
          </a:p>
        </p:txBody>
      </p:sp>
      <p:sp>
        <p:nvSpPr>
          <p:cNvPr id="131077" name="TextBox 1"/>
          <p:cNvSpPr txBox="1">
            <a:spLocks noChangeArrowheads="1"/>
          </p:cNvSpPr>
          <p:nvPr/>
        </p:nvSpPr>
        <p:spPr bwMode="auto">
          <a:xfrm>
            <a:off x="2282582" y="2361879"/>
            <a:ext cx="7646324" cy="13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228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228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228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228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228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1633"/>
              <a:t>	</a:t>
            </a:r>
            <a:r>
              <a:rPr lang="en-US" altLang="zh-CN" sz="2177">
                <a:latin typeface="楷体_GB2312"/>
                <a:ea typeface="楷体_GB2312"/>
                <a:cs typeface="楷体_GB2312"/>
              </a:rPr>
              <a:t>苯醌</a:t>
            </a:r>
            <a:r>
              <a:rPr lang="en-US" altLang="zh-CN" sz="2177" b="1">
                <a:latin typeface="Times New Roman" panose="02020603050405020304" pitchFamily="18" charset="0"/>
                <a:cs typeface="Times New Roman" panose="02020603050405020304" pitchFamily="18" charset="0"/>
              </a:rPr>
              <a:t>(</a:t>
            </a:r>
            <a:r>
              <a:rPr lang="en-US" altLang="zh-CN" sz="2177">
                <a:latin typeface="楷体_GB2312"/>
                <a:ea typeface="楷体_GB2312"/>
                <a:cs typeface="楷体_GB2312"/>
              </a:rPr>
              <a:t>对二苯醌</a:t>
            </a:r>
            <a:r>
              <a:rPr lang="en-US" altLang="zh-CN" sz="2177" b="1">
                <a:latin typeface="Times New Roman" panose="02020603050405020304" pitchFamily="18" charset="0"/>
                <a:cs typeface="Times New Roman" panose="02020603050405020304" pitchFamily="18" charset="0"/>
              </a:rPr>
              <a:t>)</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、硝基化合物</a:t>
            </a:r>
            <a:r>
              <a:rPr lang="en-US" altLang="zh-CN" sz="2177" b="1">
                <a:latin typeface="Times New Roman" panose="02020603050405020304" pitchFamily="18" charset="0"/>
                <a:cs typeface="Times New Roman" panose="02020603050405020304" pitchFamily="18" charset="0"/>
              </a:rPr>
              <a:t>(</a:t>
            </a:r>
            <a:r>
              <a:rPr lang="en-US" altLang="zh-CN" sz="2177">
                <a:latin typeface="楷体_GB2312"/>
                <a:ea typeface="楷体_GB2312"/>
                <a:cs typeface="楷体_GB2312"/>
              </a:rPr>
              <a:t>硝基苯</a:t>
            </a:r>
            <a:r>
              <a:rPr lang="en-US" altLang="zh-CN" sz="2177" b="1">
                <a:latin typeface="Times New Roman" panose="02020603050405020304" pitchFamily="18" charset="0"/>
                <a:cs typeface="Times New Roman" panose="02020603050405020304" pitchFamily="18" charset="0"/>
              </a:rPr>
              <a:t>)</a:t>
            </a:r>
            <a:r>
              <a:rPr lang="en-US" altLang="zh-CN" sz="2177">
                <a:latin typeface="楷体_GB2312"/>
                <a:ea typeface="楷体_GB2312"/>
                <a:cs typeface="楷体_GB2312"/>
              </a:rPr>
              <a:t>、芳胺等属于这一类常</a:t>
            </a:r>
          </a:p>
          <a:p>
            <a:pPr eaLnBrk="1" hangingPunct="1">
              <a:lnSpc>
                <a:spcPts val="907"/>
              </a:lnSpc>
            </a:pPr>
            <a:endParaRPr lang="en-US" altLang="zh-CN" sz="1633"/>
          </a:p>
          <a:p>
            <a:pPr eaLnBrk="1" hangingPunct="1">
              <a:lnSpc>
                <a:spcPts val="2994"/>
              </a:lnSpc>
            </a:pPr>
            <a:r>
              <a:rPr lang="en-US" altLang="zh-CN" sz="2177">
                <a:latin typeface="楷体_GB2312"/>
              </a:rPr>
              <a:t>用阻聚剂。目前尚无普适的阻聚机理，最常用的苯醌的阻聚机</a:t>
            </a:r>
          </a:p>
          <a:p>
            <a:pPr eaLnBrk="1" hangingPunct="1">
              <a:lnSpc>
                <a:spcPts val="907"/>
              </a:lnSpc>
            </a:pPr>
            <a:endParaRPr lang="en-US" altLang="zh-CN" sz="1633"/>
          </a:p>
          <a:p>
            <a:pPr eaLnBrk="1" hangingPunct="1">
              <a:lnSpc>
                <a:spcPts val="2994"/>
              </a:lnSpc>
            </a:pPr>
            <a:r>
              <a:rPr lang="en-US" altLang="zh-CN" sz="2177">
                <a:latin typeface="楷体_GB2312"/>
              </a:rPr>
              <a:t>理就相当复杂，阻聚机理之一：</a:t>
            </a:r>
          </a:p>
        </p:txBody>
      </p:sp>
      <p:sp>
        <p:nvSpPr>
          <p:cNvPr id="131078" name="TextBox 1"/>
          <p:cNvSpPr txBox="1">
            <a:spLocks noChangeArrowheads="1"/>
          </p:cNvSpPr>
          <p:nvPr/>
        </p:nvSpPr>
        <p:spPr bwMode="auto">
          <a:xfrm>
            <a:off x="3400108" y="4815832"/>
            <a:ext cx="502060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苯环的强共振作用而稳定，引发活性低。</a:t>
            </a:r>
          </a:p>
        </p:txBody>
      </p:sp>
      <p:sp>
        <p:nvSpPr>
          <p:cNvPr id="131079" name="TextBox 1"/>
          <p:cNvSpPr txBox="1">
            <a:spLocks noChangeArrowheads="1"/>
          </p:cNvSpPr>
          <p:nvPr/>
        </p:nvSpPr>
        <p:spPr bwMode="auto">
          <a:xfrm>
            <a:off x="8918622" y="4205224"/>
            <a:ext cx="836768"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链终止</a:t>
            </a:r>
          </a:p>
        </p:txBody>
      </p:sp>
      <p:pic>
        <p:nvPicPr>
          <p:cNvPr id="13108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852" y="3747266"/>
            <a:ext cx="8044473" cy="9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116</a:t>
            </a:r>
          </a:p>
        </p:txBody>
      </p:sp>
      <p:sp>
        <p:nvSpPr>
          <p:cNvPr id="132099" name="TextBox 1"/>
          <p:cNvSpPr txBox="1">
            <a:spLocks noChangeArrowheads="1"/>
          </p:cNvSpPr>
          <p:nvPr/>
        </p:nvSpPr>
        <p:spPr bwMode="auto">
          <a:xfrm>
            <a:off x="2029121" y="691345"/>
            <a:ext cx="8388515" cy="353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139700" algn="l"/>
                <a:tab pos="673100" algn="l"/>
                <a:tab pos="3771900" algn="l"/>
                <a:tab pos="51943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2</a:t>
            </a:r>
            <a:r>
              <a:rPr lang="en-US" altLang="zh-CN" sz="2540">
                <a:latin typeface="楷体_GB2312"/>
                <a:ea typeface="楷体_GB2312"/>
                <a:cs typeface="楷体_GB2312"/>
              </a:rPr>
              <a:t>）稳定自由基阻聚剂</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3084"/>
              </a:lnSpc>
            </a:pPr>
            <a:r>
              <a:rPr lang="en-US" altLang="zh-CN" sz="1633"/>
              <a:t>			</a:t>
            </a:r>
            <a:r>
              <a:rPr lang="en-US" altLang="zh-CN" sz="2540" b="1">
                <a:latin typeface="Times New Roman" panose="02020603050405020304" pitchFamily="18" charset="0"/>
                <a:cs typeface="Times New Roman" panose="02020603050405020304" pitchFamily="18" charset="0"/>
              </a:rPr>
              <a:t>DPPH:</a:t>
            </a:r>
            <a:r>
              <a:rPr lang="en-US" altLang="zh-CN" sz="2540">
                <a:latin typeface="Times New Roman" panose="02020603050405020304" pitchFamily="18" charset="0"/>
                <a:cs typeface="Times New Roman" panose="02020603050405020304" pitchFamily="18" charset="0"/>
              </a:rPr>
              <a:t> </a:t>
            </a:r>
            <a:r>
              <a:rPr lang="en-US" altLang="zh-CN" sz="2540" b="1">
                <a:latin typeface="Times New Roman" panose="02020603050405020304" pitchFamily="18" charset="0"/>
                <a:cs typeface="Times New Roman" panose="02020603050405020304" pitchFamily="18" charset="0"/>
              </a:rPr>
              <a:t>1,1-</a:t>
            </a:r>
            <a:r>
              <a:rPr lang="en-US" altLang="zh-CN" sz="2540">
                <a:latin typeface="楷体_GB2312"/>
                <a:ea typeface="楷体_GB2312"/>
                <a:cs typeface="楷体_GB2312"/>
              </a:rPr>
              <a:t>二苯基</a:t>
            </a:r>
            <a:r>
              <a:rPr lang="en-US" altLang="zh-CN" sz="2540" b="1">
                <a:latin typeface="Times New Roman" panose="02020603050405020304" pitchFamily="18" charset="0"/>
                <a:cs typeface="Times New Roman" panose="02020603050405020304" pitchFamily="18" charset="0"/>
              </a:rPr>
              <a:t>-2-</a:t>
            </a:r>
            <a:r>
              <a:rPr lang="en-US" altLang="zh-CN" sz="2540">
                <a:latin typeface="楷体_GB2312"/>
                <a:ea typeface="楷体_GB2312"/>
                <a:cs typeface="楷体_GB2312"/>
              </a:rPr>
              <a:t>三硝基苯肼</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1633"/>
              <a:t>		</a:t>
            </a:r>
            <a:r>
              <a:rPr lang="en-US" altLang="zh-CN" sz="2177">
                <a:latin typeface="楷体_GB2312"/>
                <a:ea typeface="楷体_GB2312"/>
                <a:cs typeface="楷体_GB2312"/>
              </a:rPr>
              <a:t>以上氮或氧自由基化合物非常稳定，不具有引发活性，但与</a:t>
            </a:r>
          </a:p>
          <a:p>
            <a:pPr eaLnBrk="1" hangingPunct="1">
              <a:lnSpc>
                <a:spcPts val="907"/>
              </a:lnSpc>
            </a:pPr>
            <a:endParaRPr lang="en-US" altLang="zh-CN" sz="1633"/>
          </a:p>
          <a:p>
            <a:pPr eaLnBrk="1" hangingPunct="1">
              <a:lnSpc>
                <a:spcPts val="2722"/>
              </a:lnSpc>
            </a:pPr>
            <a:r>
              <a:rPr lang="en-US" altLang="zh-CN" sz="1633"/>
              <a:t>	</a:t>
            </a:r>
            <a:r>
              <a:rPr lang="en-US" altLang="zh-CN" sz="2177">
                <a:latin typeface="楷体_GB2312"/>
                <a:ea typeface="楷体_GB2312"/>
                <a:cs typeface="楷体_GB2312"/>
              </a:rPr>
              <a:t>自由基具有极高的反应活性使其失活而阻止聚合，故有自由基捕</a:t>
            </a:r>
          </a:p>
          <a:p>
            <a:pPr eaLnBrk="1" hangingPunct="1">
              <a:lnSpc>
                <a:spcPts val="907"/>
              </a:lnSpc>
            </a:pPr>
            <a:endParaRPr lang="en-US" altLang="zh-CN" sz="1633"/>
          </a:p>
          <a:p>
            <a:pPr eaLnBrk="1" hangingPunct="1">
              <a:lnSpc>
                <a:spcPts val="2540"/>
              </a:lnSpc>
            </a:pPr>
            <a:r>
              <a:rPr lang="en-US" altLang="zh-CN" sz="1633"/>
              <a:t>	</a:t>
            </a:r>
            <a:r>
              <a:rPr lang="en-US" altLang="zh-CN" sz="2177">
                <a:latin typeface="楷体_GB2312"/>
                <a:ea typeface="楷体_GB2312"/>
                <a:cs typeface="楷体_GB2312"/>
              </a:rPr>
              <a:t>捉剂之称。</a:t>
            </a:r>
            <a:r>
              <a:rPr lang="en-US" altLang="zh-CN" sz="2177" b="1">
                <a:latin typeface="Times New Roman" panose="02020603050405020304" pitchFamily="18" charset="0"/>
                <a:cs typeface="Times New Roman" panose="02020603050405020304" pitchFamily="18" charset="0"/>
              </a:rPr>
              <a:t>DPPH</a:t>
            </a:r>
            <a:r>
              <a:rPr lang="en-US" altLang="zh-CN" sz="2177">
                <a:latin typeface="楷体_GB2312"/>
                <a:ea typeface="楷体_GB2312"/>
                <a:cs typeface="楷体_GB2312"/>
              </a:rPr>
              <a:t>与自由基的反应式如下：</a:t>
            </a:r>
            <a:r>
              <a:rPr lang="en-US" altLang="zh-CN" sz="1633"/>
              <a:t>				</a:t>
            </a:r>
            <a:endParaRPr lang="en-US" altLang="zh-CN" sz="1361" b="1">
              <a:latin typeface="Times New Roman" panose="02020603050405020304" pitchFamily="18" charset="0"/>
              <a:cs typeface="Times New Roman" panose="02020603050405020304" pitchFamily="18" charset="0"/>
            </a:endParaRPr>
          </a:p>
        </p:txBody>
      </p:sp>
      <p:pic>
        <p:nvPicPr>
          <p:cNvPr id="13210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0537" y="1147864"/>
            <a:ext cx="2237936" cy="1719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2101"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0537" y="4396759"/>
            <a:ext cx="6333619" cy="1667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117</a:t>
            </a:r>
          </a:p>
        </p:txBody>
      </p:sp>
      <p:sp>
        <p:nvSpPr>
          <p:cNvPr id="133123" name="TextBox 1"/>
          <p:cNvSpPr txBox="1">
            <a:spLocks noChangeArrowheads="1"/>
          </p:cNvSpPr>
          <p:nvPr/>
        </p:nvSpPr>
        <p:spPr bwMode="auto">
          <a:xfrm>
            <a:off x="2190414" y="760473"/>
            <a:ext cx="2766783"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722"/>
              </a:lnSpc>
            </a:pPr>
            <a:r>
              <a:rPr lang="en-US" altLang="zh-CN" sz="2540">
                <a:latin typeface="楷体_GB2312"/>
                <a:ea typeface="楷体_GB2312"/>
                <a:cs typeface="楷体_GB2312"/>
              </a:rPr>
              <a:t>（</a:t>
            </a:r>
            <a:r>
              <a:rPr lang="en-US" altLang="zh-CN" sz="2540" b="1">
                <a:latin typeface="Times New Roman" panose="02020603050405020304" pitchFamily="18" charset="0"/>
                <a:cs typeface="Times New Roman" panose="02020603050405020304" pitchFamily="18" charset="0"/>
              </a:rPr>
              <a:t>3</a:t>
            </a:r>
            <a:r>
              <a:rPr lang="en-US" altLang="zh-CN" sz="2540">
                <a:latin typeface="楷体_GB2312"/>
                <a:ea typeface="楷体_GB2312"/>
                <a:cs typeface="楷体_GB2312"/>
              </a:rPr>
              <a:t>）金属盐氧化剂</a:t>
            </a:r>
          </a:p>
        </p:txBody>
      </p:sp>
      <p:sp>
        <p:nvSpPr>
          <p:cNvPr id="133124" name="TextBox 1"/>
          <p:cNvSpPr txBox="1">
            <a:spLocks noChangeArrowheads="1"/>
          </p:cNvSpPr>
          <p:nvPr/>
        </p:nvSpPr>
        <p:spPr bwMode="auto">
          <a:xfrm>
            <a:off x="2466915" y="1440205"/>
            <a:ext cx="7344959" cy="38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177" b="1">
                <a:latin typeface="Times New Roman" panose="02020603050405020304" pitchFamily="18" charset="0"/>
                <a:cs typeface="Times New Roman" panose="02020603050405020304" pitchFamily="18" charset="0"/>
              </a:rPr>
              <a:t>FeCl</a:t>
            </a:r>
            <a:r>
              <a:rPr lang="en-US" altLang="zh-CN" sz="1452" b="1">
                <a:latin typeface="Times New Roman" panose="02020603050405020304" pitchFamily="18" charset="0"/>
                <a:cs typeface="Times New Roman" panose="02020603050405020304" pitchFamily="18" charset="0"/>
              </a:rPr>
              <a:t>3</a:t>
            </a:r>
            <a:r>
              <a:rPr lang="en-US" altLang="zh-CN" sz="2177">
                <a:latin typeface="楷体_GB2312"/>
                <a:ea typeface="楷体_GB2312"/>
                <a:cs typeface="楷体_GB2312"/>
              </a:rPr>
              <a:t>、</a:t>
            </a:r>
            <a:r>
              <a:rPr lang="en-US" altLang="zh-CN" sz="2177" b="1">
                <a:latin typeface="Times New Roman" panose="02020603050405020304" pitchFamily="18" charset="0"/>
                <a:cs typeface="Times New Roman" panose="02020603050405020304" pitchFamily="18" charset="0"/>
              </a:rPr>
              <a:t>CuCl</a:t>
            </a:r>
            <a:r>
              <a:rPr lang="en-US" altLang="zh-CN" sz="1452" b="1">
                <a:latin typeface="Times New Roman" panose="02020603050405020304" pitchFamily="18" charset="0"/>
                <a:cs typeface="Times New Roman" panose="02020603050405020304" pitchFamily="18" charset="0"/>
              </a:rPr>
              <a:t>2</a:t>
            </a:r>
            <a:r>
              <a:rPr lang="en-US" altLang="zh-CN" sz="2177">
                <a:latin typeface="楷体_GB2312"/>
                <a:ea typeface="楷体_GB2312"/>
                <a:cs typeface="楷体_GB2312"/>
              </a:rPr>
              <a:t>等金属盐氧化剂是强阻聚剂，它们是通过氧化</a:t>
            </a:r>
            <a:r>
              <a:rPr lang="en-US" altLang="zh-CN" sz="2177" b="1">
                <a:latin typeface="Times New Roman" panose="02020603050405020304" pitchFamily="18" charset="0"/>
                <a:cs typeface="Times New Roman" panose="02020603050405020304" pitchFamily="18" charset="0"/>
              </a:rPr>
              <a:t>-</a:t>
            </a:r>
          </a:p>
        </p:txBody>
      </p:sp>
      <p:sp>
        <p:nvSpPr>
          <p:cNvPr id="133125" name="TextBox 1"/>
          <p:cNvSpPr txBox="1">
            <a:spLocks noChangeArrowheads="1"/>
          </p:cNvSpPr>
          <p:nvPr/>
        </p:nvSpPr>
        <p:spPr bwMode="auto">
          <a:xfrm>
            <a:off x="2190412" y="1935603"/>
            <a:ext cx="4849084" cy="381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812"/>
              </a:lnSpc>
            </a:pPr>
            <a:r>
              <a:rPr lang="en-US" altLang="zh-CN" sz="2177">
                <a:latin typeface="楷体_GB2312"/>
                <a:ea typeface="楷体_GB2312"/>
                <a:cs typeface="楷体_GB2312"/>
              </a:rPr>
              <a:t>还原反应来终止自由基的，例如</a:t>
            </a:r>
            <a:r>
              <a:rPr lang="en-US" altLang="zh-CN" sz="2177" b="1">
                <a:latin typeface="Times New Roman" panose="02020603050405020304" pitchFamily="18" charset="0"/>
                <a:cs typeface="Times New Roman" panose="02020603050405020304" pitchFamily="18" charset="0"/>
              </a:rPr>
              <a:t>FeCl</a:t>
            </a:r>
            <a:r>
              <a:rPr lang="en-US" altLang="zh-CN" sz="1452" b="1">
                <a:latin typeface="Times New Roman" panose="02020603050405020304" pitchFamily="18" charset="0"/>
                <a:cs typeface="Times New Roman" panose="02020603050405020304" pitchFamily="18" charset="0"/>
              </a:rPr>
              <a:t>3</a:t>
            </a:r>
            <a:r>
              <a:rPr lang="en-US" altLang="zh-CN" sz="2177">
                <a:latin typeface="楷体_GB2312"/>
                <a:ea typeface="楷体_GB2312"/>
                <a:cs typeface="楷体_GB2312"/>
              </a:rPr>
              <a:t>：</a:t>
            </a:r>
          </a:p>
        </p:txBody>
      </p:sp>
      <p:pic>
        <p:nvPicPr>
          <p:cNvPr id="133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219" y="2668623"/>
            <a:ext cx="7681565" cy="2756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Box 1"/>
          <p:cNvSpPr txBox="1">
            <a:spLocks noChangeArrowheads="1"/>
          </p:cNvSpPr>
          <p:nvPr/>
        </p:nvSpPr>
        <p:spPr bwMode="auto">
          <a:xfrm>
            <a:off x="2121287" y="576137"/>
            <a:ext cx="7838684" cy="1495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04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04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04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04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04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u="sng">
                <a:latin typeface="楷体_GB2312"/>
                <a:ea typeface="楷体_GB2312"/>
                <a:cs typeface="楷体_GB2312"/>
              </a:rPr>
              <a:t>烯丙基单体的自阻聚作用</a:t>
            </a:r>
          </a:p>
          <a:p>
            <a:pPr eaLnBrk="1" hangingPunct="1">
              <a:lnSpc>
                <a:spcPts val="907"/>
              </a:lnSpc>
            </a:pPr>
            <a:endParaRPr lang="en-US" altLang="zh-CN" sz="1633"/>
          </a:p>
          <a:p>
            <a:pPr eaLnBrk="1" hangingPunct="1">
              <a:lnSpc>
                <a:spcPts val="907"/>
              </a:lnSpc>
            </a:pPr>
            <a:endParaRPr lang="en-US" altLang="zh-CN" sz="1633"/>
          </a:p>
          <a:p>
            <a:pPr eaLnBrk="1" hangingPunct="1">
              <a:lnSpc>
                <a:spcPts val="2994"/>
              </a:lnSpc>
            </a:pPr>
            <a:r>
              <a:rPr lang="en-US" altLang="zh-CN" sz="1633"/>
              <a:t>	</a:t>
            </a:r>
            <a:r>
              <a:rPr lang="en-US" altLang="zh-CN" sz="2177">
                <a:latin typeface="楷体_GB2312"/>
                <a:ea typeface="楷体_GB2312"/>
                <a:cs typeface="楷体_GB2312"/>
              </a:rPr>
              <a:t>烯丙基单体在进行聚合反应时，不但聚合速率慢，而且往往只</a:t>
            </a:r>
          </a:p>
          <a:p>
            <a:pPr eaLnBrk="1" hangingPunct="1">
              <a:lnSpc>
                <a:spcPts val="907"/>
              </a:lnSpc>
            </a:pPr>
            <a:endParaRPr lang="en-US" altLang="zh-CN" sz="1633"/>
          </a:p>
          <a:p>
            <a:pPr eaLnBrk="1" hangingPunct="1">
              <a:lnSpc>
                <a:spcPts val="907"/>
              </a:lnSpc>
            </a:pPr>
            <a:endParaRPr lang="en-US" altLang="zh-CN" sz="1633"/>
          </a:p>
          <a:p>
            <a:pPr eaLnBrk="1" hangingPunct="1">
              <a:lnSpc>
                <a:spcPts val="2268"/>
              </a:lnSpc>
            </a:pPr>
            <a:r>
              <a:rPr lang="en-US" altLang="zh-CN" sz="2177">
                <a:latin typeface="楷体_GB2312"/>
                <a:ea typeface="楷体_GB2312"/>
                <a:cs typeface="楷体_GB2312"/>
              </a:rPr>
              <a:t>能得到低聚体。其原因是自由基与烯丙基单体反应时，存在增长</a:t>
            </a:r>
          </a:p>
        </p:txBody>
      </p:sp>
      <p:sp>
        <p:nvSpPr>
          <p:cNvPr id="134147" name="TextBox 1"/>
          <p:cNvSpPr txBox="1">
            <a:spLocks noChangeArrowheads="1"/>
          </p:cNvSpPr>
          <p:nvPr/>
        </p:nvSpPr>
        <p:spPr bwMode="auto">
          <a:xfrm>
            <a:off x="2121288" y="2258191"/>
            <a:ext cx="278922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和转移两个竞争反应：</a:t>
            </a:r>
          </a:p>
        </p:txBody>
      </p:sp>
      <p:sp>
        <p:nvSpPr>
          <p:cNvPr id="134148" name="TextBox 1"/>
          <p:cNvSpPr txBox="1">
            <a:spLocks noChangeArrowheads="1"/>
          </p:cNvSpPr>
          <p:nvPr/>
        </p:nvSpPr>
        <p:spPr bwMode="auto">
          <a:xfrm>
            <a:off x="2190415" y="4811510"/>
            <a:ext cx="8354851" cy="162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4102100" algn="l"/>
                <a:tab pos="5689600" algn="l"/>
                <a:tab pos="80645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1633"/>
              <a:t>	</a:t>
            </a:r>
          </a:p>
          <a:p>
            <a:pPr eaLnBrk="1" hangingPunct="1">
              <a:lnSpc>
                <a:spcPts val="907"/>
              </a:lnSpc>
            </a:pPr>
            <a:endParaRPr lang="en-US" altLang="zh-CN" sz="1633"/>
          </a:p>
          <a:p>
            <a:pPr eaLnBrk="1" hangingPunct="1">
              <a:lnSpc>
                <a:spcPts val="907"/>
              </a:lnSpc>
            </a:pPr>
            <a:endParaRPr lang="en-US" altLang="zh-CN" sz="1633"/>
          </a:p>
          <a:p>
            <a:pPr eaLnBrk="1" hangingPunct="1">
              <a:lnSpc>
                <a:spcPts val="3084"/>
              </a:lnSpc>
            </a:pPr>
            <a:r>
              <a:rPr lang="en-US" altLang="zh-CN" sz="2177" b="1" i="1">
                <a:latin typeface="Times New Roman" panose="02020603050405020304" pitchFamily="18" charset="0"/>
                <a:cs typeface="Times New Roman" panose="02020603050405020304" pitchFamily="18" charset="0"/>
              </a:rPr>
              <a:t>k</a:t>
            </a:r>
            <a:r>
              <a:rPr lang="en-US" altLang="zh-CN" sz="1452" b="1">
                <a:latin typeface="Times New Roman" panose="02020603050405020304" pitchFamily="18" charset="0"/>
                <a:cs typeface="Times New Roman" panose="02020603050405020304" pitchFamily="18" charset="0"/>
              </a:rPr>
              <a:t>tr</a:t>
            </a:r>
            <a:r>
              <a:rPr lang="en-US" altLang="zh-CN" sz="2177" b="1">
                <a:latin typeface="Times New Roman" panose="02020603050405020304" pitchFamily="18" charset="0"/>
                <a:cs typeface="Times New Roman" panose="02020603050405020304" pitchFamily="18" charset="0"/>
              </a:rPr>
              <a:t>&gt;&gt;</a:t>
            </a:r>
            <a:r>
              <a:rPr lang="en-US" altLang="zh-CN" sz="2177">
                <a:latin typeface="Times New Roman" panose="02020603050405020304" pitchFamily="18" charset="0"/>
                <a:cs typeface="Times New Roman" panose="02020603050405020304" pitchFamily="18" charset="0"/>
              </a:rPr>
              <a:t> </a:t>
            </a:r>
            <a:r>
              <a:rPr lang="en-US" altLang="zh-CN" sz="2177" b="1" i="1">
                <a:latin typeface="Times New Roman" panose="02020603050405020304" pitchFamily="18" charset="0"/>
                <a:cs typeface="Times New Roman" panose="02020603050405020304" pitchFamily="18" charset="0"/>
              </a:rPr>
              <a:t>k</a:t>
            </a:r>
            <a:r>
              <a:rPr lang="en-US" altLang="zh-CN" sz="1452" b="1">
                <a:latin typeface="Times New Roman" panose="02020603050405020304" pitchFamily="18" charset="0"/>
                <a:cs typeface="Times New Roman" panose="02020603050405020304" pitchFamily="18" charset="0"/>
              </a:rPr>
              <a:t>p</a:t>
            </a:r>
            <a:r>
              <a:rPr lang="en-US" altLang="zh-CN" sz="1452">
                <a:latin typeface="楷体_GB2312"/>
                <a:ea typeface="楷体_GB2312"/>
                <a:cs typeface="楷体_GB2312"/>
              </a:rPr>
              <a:t>，</a:t>
            </a:r>
            <a:r>
              <a:rPr lang="en-US" altLang="zh-CN" sz="2177">
                <a:latin typeface="楷体_GB2312"/>
                <a:ea typeface="楷体_GB2312"/>
                <a:cs typeface="楷体_GB2312"/>
              </a:rPr>
              <a:t>极易发生链转移反应，烯丙基单体只能得到低聚物。</a:t>
            </a:r>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907"/>
              </a:lnSpc>
            </a:pPr>
            <a:endParaRPr lang="en-US" altLang="zh-CN" sz="1633"/>
          </a:p>
          <a:p>
            <a:pPr eaLnBrk="1" hangingPunct="1">
              <a:lnSpc>
                <a:spcPts val="1361"/>
              </a:lnSpc>
            </a:pPr>
            <a:r>
              <a:rPr lang="en-US" altLang="zh-CN" sz="1633"/>
              <a:t>			</a:t>
            </a:r>
            <a:r>
              <a:rPr lang="en-US" altLang="zh-CN" sz="1089">
                <a:latin typeface="Times New Roman" panose="02020603050405020304" pitchFamily="18" charset="0"/>
                <a:cs typeface="Times New Roman" panose="02020603050405020304" pitchFamily="18" charset="0"/>
              </a:rPr>
              <a:t>118</a:t>
            </a:r>
          </a:p>
        </p:txBody>
      </p:sp>
      <p:pic>
        <p:nvPicPr>
          <p:cNvPr id="134149"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478" y="2554852"/>
            <a:ext cx="6679246" cy="2661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119</a:t>
            </a:r>
          </a:p>
        </p:txBody>
      </p:sp>
      <p:sp>
        <p:nvSpPr>
          <p:cNvPr id="135171" name="TextBox 1"/>
          <p:cNvSpPr txBox="1">
            <a:spLocks noChangeArrowheads="1"/>
          </p:cNvSpPr>
          <p:nvPr/>
        </p:nvSpPr>
        <p:spPr bwMode="auto">
          <a:xfrm>
            <a:off x="2029121" y="1774311"/>
            <a:ext cx="8135240" cy="2630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04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04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04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04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04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1633"/>
              <a:t>	</a:t>
            </a:r>
            <a:r>
              <a:rPr lang="en-US" altLang="zh-CN" sz="2540">
                <a:latin typeface="楷体_GB2312"/>
                <a:ea typeface="楷体_GB2312"/>
                <a:cs typeface="楷体_GB2312"/>
              </a:rPr>
              <a:t>烯丙基自由基很稳定，不具有再引发活性，只能与链自</a:t>
            </a:r>
          </a:p>
          <a:p>
            <a:pPr eaLnBrk="1" hangingPunct="1">
              <a:lnSpc>
                <a:spcPts val="907"/>
              </a:lnSpc>
            </a:pPr>
            <a:endParaRPr lang="en-US" altLang="zh-CN" sz="1633"/>
          </a:p>
          <a:p>
            <a:pPr eaLnBrk="1" hangingPunct="1">
              <a:lnSpc>
                <a:spcPts val="907"/>
              </a:lnSpc>
            </a:pPr>
            <a:endParaRPr lang="en-US" altLang="zh-CN" sz="1633"/>
          </a:p>
          <a:p>
            <a:pPr eaLnBrk="1" hangingPunct="1">
              <a:lnSpc>
                <a:spcPts val="2903"/>
              </a:lnSpc>
            </a:pPr>
            <a:r>
              <a:rPr lang="en-US" altLang="zh-CN" sz="2540">
                <a:latin typeface="楷体_GB2312"/>
                <a:ea typeface="楷体_GB2312"/>
                <a:cs typeface="楷体_GB2312"/>
              </a:rPr>
              <a:t>由基或本身发生双基终止。这样，上述反应从形式上看是</a:t>
            </a:r>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一链转移反应，但其效果相当于一加阻聚剂的终止反应，</a:t>
            </a:r>
          </a:p>
          <a:p>
            <a:pPr eaLnBrk="1" hangingPunct="1">
              <a:lnSpc>
                <a:spcPts val="907"/>
              </a:lnSpc>
            </a:pPr>
            <a:endParaRPr lang="en-US" altLang="zh-CN" sz="1633"/>
          </a:p>
          <a:p>
            <a:pPr eaLnBrk="1" hangingPunct="1">
              <a:lnSpc>
                <a:spcPts val="907"/>
              </a:lnSpc>
            </a:pPr>
            <a:endParaRPr lang="en-US" altLang="zh-CN" sz="1633"/>
          </a:p>
          <a:p>
            <a:pPr eaLnBrk="1" hangingPunct="1">
              <a:lnSpc>
                <a:spcPts val="2722"/>
              </a:lnSpc>
            </a:pPr>
            <a:r>
              <a:rPr lang="en-US" altLang="zh-CN" sz="2540">
                <a:latin typeface="楷体_GB2312"/>
                <a:ea typeface="楷体_GB2312"/>
                <a:cs typeface="楷体_GB2312"/>
              </a:rPr>
              <a:t>而阻聚剂是单体本身，因此被称为烯丙基单体的自阻聚作</a:t>
            </a:r>
          </a:p>
          <a:p>
            <a:pPr eaLnBrk="1" hangingPunct="1">
              <a:lnSpc>
                <a:spcPts val="907"/>
              </a:lnSpc>
            </a:pPr>
            <a:endParaRPr lang="en-US" altLang="zh-CN" sz="1633"/>
          </a:p>
          <a:p>
            <a:pPr eaLnBrk="1" hangingPunct="1">
              <a:lnSpc>
                <a:spcPts val="3357"/>
              </a:lnSpc>
            </a:pPr>
            <a:r>
              <a:rPr lang="en-US" altLang="zh-CN" sz="2540">
                <a:latin typeface="楷体_GB2312"/>
                <a:ea typeface="楷体_GB2312"/>
                <a:cs typeface="楷体_GB2312"/>
              </a:rPr>
              <a:t>用。</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120</a:t>
            </a:r>
          </a:p>
        </p:txBody>
      </p:sp>
      <p:sp>
        <p:nvSpPr>
          <p:cNvPr id="136195" name="TextBox 1"/>
          <p:cNvSpPr txBox="1">
            <a:spLocks noChangeArrowheads="1"/>
          </p:cNvSpPr>
          <p:nvPr/>
        </p:nvSpPr>
        <p:spPr bwMode="auto">
          <a:xfrm>
            <a:off x="2409311" y="1013933"/>
            <a:ext cx="7530908"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如果双键上有吸电子取代键，如甲基丙烯酸甲酯、丙烯腈等：</a:t>
            </a:r>
          </a:p>
        </p:txBody>
      </p:sp>
      <p:sp>
        <p:nvSpPr>
          <p:cNvPr id="136196" name="TextBox 1"/>
          <p:cNvSpPr txBox="1">
            <a:spLocks noChangeArrowheads="1"/>
          </p:cNvSpPr>
          <p:nvPr/>
        </p:nvSpPr>
        <p:spPr bwMode="auto">
          <a:xfrm>
            <a:off x="2063683" y="4090012"/>
            <a:ext cx="8146461" cy="175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609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609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609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609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609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609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1633"/>
              <a:t>	</a:t>
            </a:r>
            <a:r>
              <a:rPr lang="en-US" altLang="zh-CN" sz="2177">
                <a:latin typeface="楷体_GB2312"/>
                <a:ea typeface="楷体_GB2312"/>
                <a:cs typeface="楷体_GB2312"/>
              </a:rPr>
              <a:t>由于生成的链自由基有酯基和氰基的吸电子作用而稳定化，降</a:t>
            </a:r>
          </a:p>
          <a:p>
            <a:pPr eaLnBrk="1" hangingPunct="1">
              <a:lnSpc>
                <a:spcPts val="907"/>
              </a:lnSpc>
            </a:pPr>
            <a:endParaRPr lang="en-US" altLang="zh-CN" sz="1633"/>
          </a:p>
          <a:p>
            <a:pPr eaLnBrk="1" hangingPunct="1">
              <a:lnSpc>
                <a:spcPts val="907"/>
              </a:lnSpc>
            </a:pPr>
            <a:endParaRPr lang="en-US" altLang="zh-CN" sz="1633"/>
          </a:p>
          <a:p>
            <a:pPr eaLnBrk="1" hangingPunct="1">
              <a:lnSpc>
                <a:spcPts val="2177"/>
              </a:lnSpc>
            </a:pPr>
            <a:r>
              <a:rPr lang="en-US" altLang="zh-CN" sz="2177">
                <a:latin typeface="楷体_GB2312"/>
              </a:rPr>
              <a:t>低了链转移活性，其次由于取代基的吸电子作用，使单体双键上的</a:t>
            </a:r>
          </a:p>
          <a:p>
            <a:pPr eaLnBrk="1" hangingPunct="1">
              <a:lnSpc>
                <a:spcPts val="907"/>
              </a:lnSpc>
            </a:pPr>
            <a:endParaRPr lang="en-US" altLang="zh-CN" sz="1633"/>
          </a:p>
          <a:p>
            <a:pPr eaLnBrk="1" hangingPunct="1">
              <a:lnSpc>
                <a:spcPts val="2812"/>
              </a:lnSpc>
            </a:pPr>
            <a:r>
              <a:rPr lang="en-US" altLang="zh-CN" sz="2177">
                <a:latin typeface="楷体_GB2312"/>
              </a:rPr>
              <a:t>电子云密度降低，更易接受链自由基的进攻进行链增长反应。两方</a:t>
            </a:r>
          </a:p>
          <a:p>
            <a:pPr eaLnBrk="1" hangingPunct="1">
              <a:lnSpc>
                <a:spcPts val="907"/>
              </a:lnSpc>
            </a:pPr>
            <a:endParaRPr lang="en-US" altLang="zh-CN" sz="1633"/>
          </a:p>
          <a:p>
            <a:pPr eaLnBrk="1" hangingPunct="1">
              <a:lnSpc>
                <a:spcPts val="2812"/>
              </a:lnSpc>
            </a:pPr>
            <a:r>
              <a:rPr lang="en-US" altLang="zh-CN" sz="2177">
                <a:latin typeface="楷体_GB2312"/>
              </a:rPr>
              <a:t>面因素致使这些单体容易得到高分子量的聚合产物。</a:t>
            </a:r>
          </a:p>
        </p:txBody>
      </p:sp>
      <p:pic>
        <p:nvPicPr>
          <p:cNvPr id="1361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5870" y="1314917"/>
            <a:ext cx="5383144" cy="2842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121</a:t>
            </a:r>
          </a:p>
        </p:txBody>
      </p:sp>
      <p:sp>
        <p:nvSpPr>
          <p:cNvPr id="137219" name="TextBox 1"/>
          <p:cNvSpPr txBox="1">
            <a:spLocks noChangeArrowheads="1"/>
          </p:cNvSpPr>
          <p:nvPr/>
        </p:nvSpPr>
        <p:spPr bwMode="auto">
          <a:xfrm>
            <a:off x="2155851" y="1106100"/>
            <a:ext cx="2928687" cy="354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449"/>
              </a:lnSpc>
            </a:pPr>
            <a:r>
              <a:rPr lang="en-US" altLang="zh-CN" sz="2540" u="sng">
                <a:latin typeface="楷体_GB2312"/>
                <a:ea typeface="楷体_GB2312"/>
                <a:cs typeface="楷体_GB2312"/>
              </a:rPr>
              <a:t>氧的阻聚和引发作用</a:t>
            </a:r>
          </a:p>
        </p:txBody>
      </p:sp>
      <p:sp>
        <p:nvSpPr>
          <p:cNvPr id="137220" name="TextBox 1"/>
          <p:cNvSpPr txBox="1">
            <a:spLocks noChangeArrowheads="1"/>
          </p:cNvSpPr>
          <p:nvPr/>
        </p:nvSpPr>
        <p:spPr bwMode="auto">
          <a:xfrm>
            <a:off x="2155850" y="1705187"/>
            <a:ext cx="8059899" cy="118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2286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2286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2286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2286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2286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1633"/>
              <a:t>	</a:t>
            </a:r>
            <a:r>
              <a:rPr lang="en-US" altLang="zh-CN" sz="2177">
                <a:latin typeface="楷体_GB2312"/>
                <a:ea typeface="楷体_GB2312"/>
                <a:cs typeface="楷体_GB2312"/>
              </a:rPr>
              <a:t>氧对自由基聚合反应呈现两重性，在相对较低温度（如</a:t>
            </a:r>
            <a:r>
              <a:rPr lang="en-US" altLang="zh-CN" sz="2177" b="1">
                <a:latin typeface="Times New Roman" panose="02020603050405020304" pitchFamily="18" charset="0"/>
                <a:cs typeface="Times New Roman" panose="02020603050405020304" pitchFamily="18" charset="0"/>
              </a:rPr>
              <a:t>&lt;100</a:t>
            </a:r>
            <a:r>
              <a:rPr lang="en-US" altLang="zh-CN" sz="2177">
                <a:latin typeface="楷体_GB2312"/>
                <a:ea typeface="楷体_GB2312"/>
                <a:cs typeface="楷体_GB2312"/>
              </a:rPr>
              <a:t>℃）</a:t>
            </a:r>
          </a:p>
          <a:p>
            <a:pPr eaLnBrk="1" hangingPunct="1">
              <a:lnSpc>
                <a:spcPts val="907"/>
              </a:lnSpc>
            </a:pPr>
            <a:endParaRPr lang="en-US" altLang="zh-CN" sz="1633"/>
          </a:p>
          <a:p>
            <a:pPr eaLnBrk="1" hangingPunct="1">
              <a:lnSpc>
                <a:spcPts val="2449"/>
              </a:lnSpc>
            </a:pPr>
            <a:r>
              <a:rPr lang="en-US" altLang="zh-CN" sz="2177">
                <a:latin typeface="楷体_GB2312"/>
              </a:rPr>
              <a:t>下聚合时，氧极易与链自由基加成生成无引发活性的过氧化物，</a:t>
            </a:r>
          </a:p>
          <a:p>
            <a:pPr eaLnBrk="1" hangingPunct="1">
              <a:lnSpc>
                <a:spcPts val="907"/>
              </a:lnSpc>
            </a:pPr>
            <a:endParaRPr lang="en-US" altLang="zh-CN" sz="1633"/>
          </a:p>
          <a:p>
            <a:pPr eaLnBrk="1" hangingPunct="1">
              <a:lnSpc>
                <a:spcPts val="2449"/>
              </a:lnSpc>
            </a:pPr>
            <a:r>
              <a:rPr lang="en-US" altLang="zh-CN" sz="2177">
                <a:latin typeface="楷体_GB2312"/>
              </a:rPr>
              <a:t>起阻聚作用：</a:t>
            </a:r>
          </a:p>
        </p:txBody>
      </p:sp>
      <p:sp>
        <p:nvSpPr>
          <p:cNvPr id="137221" name="TextBox 1"/>
          <p:cNvSpPr txBox="1">
            <a:spLocks noChangeArrowheads="1"/>
          </p:cNvSpPr>
          <p:nvPr/>
        </p:nvSpPr>
        <p:spPr bwMode="auto">
          <a:xfrm>
            <a:off x="2121287" y="4251306"/>
            <a:ext cx="7809830" cy="1610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048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048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048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048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048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048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1633"/>
              <a:t>	</a:t>
            </a:r>
            <a:r>
              <a:rPr lang="en-US" altLang="zh-CN" sz="2177">
                <a:latin typeface="楷体_GB2312"/>
                <a:ea typeface="楷体_GB2312"/>
                <a:cs typeface="楷体_GB2312"/>
              </a:rPr>
              <a:t>由于以上阻聚作用，聚合前往往需要先除氧，并在惰性气氛</a:t>
            </a:r>
          </a:p>
          <a:p>
            <a:pPr eaLnBrk="1" hangingPunct="1">
              <a:lnSpc>
                <a:spcPts val="907"/>
              </a:lnSpc>
            </a:pPr>
            <a:endParaRPr lang="en-US" altLang="zh-CN" sz="1633"/>
          </a:p>
          <a:p>
            <a:pPr eaLnBrk="1" hangingPunct="1">
              <a:lnSpc>
                <a:spcPts val="2631"/>
              </a:lnSpc>
            </a:pPr>
            <a:r>
              <a:rPr lang="en-US" altLang="zh-CN" sz="2177">
                <a:latin typeface="楷体_GB2312"/>
              </a:rPr>
              <a:t>（如氮气）下进行反应。但在高温时，生成的过氧化物却能分解</a:t>
            </a:r>
          </a:p>
          <a:p>
            <a:pPr eaLnBrk="1" hangingPunct="1">
              <a:lnSpc>
                <a:spcPts val="907"/>
              </a:lnSpc>
            </a:pPr>
            <a:endParaRPr lang="en-US" altLang="zh-CN" sz="1633"/>
          </a:p>
          <a:p>
            <a:pPr eaLnBrk="1" hangingPunct="1">
              <a:lnSpc>
                <a:spcPts val="2449"/>
              </a:lnSpc>
            </a:pPr>
            <a:r>
              <a:rPr lang="en-US" altLang="zh-CN" sz="2177">
                <a:latin typeface="楷体_GB2312"/>
              </a:rPr>
              <a:t>产生活泼的自由基起引发作用，表现出引发剂的作用。工业上便</a:t>
            </a:r>
          </a:p>
          <a:p>
            <a:pPr eaLnBrk="1" hangingPunct="1">
              <a:lnSpc>
                <a:spcPts val="907"/>
              </a:lnSpc>
            </a:pPr>
            <a:endParaRPr lang="en-US" altLang="zh-CN" sz="1633"/>
          </a:p>
          <a:p>
            <a:pPr eaLnBrk="1" hangingPunct="1">
              <a:lnSpc>
                <a:spcPts val="2449"/>
              </a:lnSpc>
            </a:pPr>
            <a:r>
              <a:rPr lang="en-US" altLang="zh-CN" sz="2177">
                <a:latin typeface="楷体_GB2312"/>
              </a:rPr>
              <a:t>是利用氧的这一特性，在高温聚合时用它作引发剂。</a:t>
            </a:r>
          </a:p>
        </p:txBody>
      </p:sp>
      <p:sp>
        <p:nvSpPr>
          <p:cNvPr id="137222" name="TextBox 1"/>
          <p:cNvSpPr txBox="1">
            <a:spLocks noChangeArrowheads="1"/>
          </p:cNvSpPr>
          <p:nvPr/>
        </p:nvSpPr>
        <p:spPr bwMode="auto">
          <a:xfrm>
            <a:off x="6303378" y="3318112"/>
            <a:ext cx="278923" cy="63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高</a:t>
            </a:r>
          </a:p>
          <a:p>
            <a:pPr eaLnBrk="1" hangingPunct="1">
              <a:lnSpc>
                <a:spcPts val="2540"/>
              </a:lnSpc>
            </a:pPr>
            <a:r>
              <a:rPr lang="en-US" altLang="zh-CN" sz="2177">
                <a:latin typeface="楷体_GB2312"/>
                <a:ea typeface="楷体_GB2312"/>
                <a:cs typeface="楷体_GB2312"/>
              </a:rPr>
              <a:t>温</a:t>
            </a:r>
          </a:p>
        </p:txBody>
      </p:sp>
      <p:pic>
        <p:nvPicPr>
          <p:cNvPr id="13722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729" y="2933603"/>
            <a:ext cx="6627402" cy="1183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3"/>
          <p:cNvSpPr/>
          <p:nvPr/>
        </p:nvSpPr>
        <p:spPr>
          <a:xfrm>
            <a:off x="4583883" y="5822472"/>
            <a:ext cx="102249" cy="87846"/>
          </a:xfrm>
          <a:custGeom>
            <a:avLst/>
            <a:gdLst>
              <a:gd name="connsiteX0" fmla="*/ 0 w 112776"/>
              <a:gd name="connsiteY0" fmla="*/ 28955 h 96773"/>
              <a:gd name="connsiteX1" fmla="*/ 9905 w 112776"/>
              <a:gd name="connsiteY1" fmla="*/ 28955 h 96773"/>
              <a:gd name="connsiteX2" fmla="*/ 19050 w 112776"/>
              <a:gd name="connsiteY2" fmla="*/ 19050 h 96773"/>
              <a:gd name="connsiteX3" fmla="*/ 9905 w 112776"/>
              <a:gd name="connsiteY3" fmla="*/ 9144 h 96773"/>
              <a:gd name="connsiteX4" fmla="*/ 0 w 112776"/>
              <a:gd name="connsiteY4" fmla="*/ 0 h 96773"/>
              <a:gd name="connsiteX5" fmla="*/ 46482 w 112776"/>
              <a:gd name="connsiteY5" fmla="*/ 28955 h 96773"/>
              <a:gd name="connsiteX6" fmla="*/ 84582 w 112776"/>
              <a:gd name="connsiteY6" fmla="*/ 28955 h 96773"/>
              <a:gd name="connsiteX7" fmla="*/ 93726 w 112776"/>
              <a:gd name="connsiteY7" fmla="*/ 48005 h 96773"/>
              <a:gd name="connsiteX8" fmla="*/ 103632 w 112776"/>
              <a:gd name="connsiteY8" fmla="*/ 67817 h 96773"/>
              <a:gd name="connsiteX9" fmla="*/ 112776 w 112776"/>
              <a:gd name="connsiteY9" fmla="*/ 86867 h 96773"/>
              <a:gd name="connsiteX10" fmla="*/ 112776 w 112776"/>
              <a:gd name="connsiteY10" fmla="*/ 96773 h 96773"/>
              <a:gd name="connsiteX11" fmla="*/ 93726 w 112776"/>
              <a:gd name="connsiteY11" fmla="*/ 86867 h 96773"/>
              <a:gd name="connsiteX12" fmla="*/ 74676 w 112776"/>
              <a:gd name="connsiteY12" fmla="*/ 67817 h 96773"/>
              <a:gd name="connsiteX13" fmla="*/ 36576 w 112776"/>
              <a:gd name="connsiteY13" fmla="*/ 48005 h 96773"/>
              <a:gd name="connsiteX14" fmla="*/ 36576 w 112776"/>
              <a:gd name="connsiteY14" fmla="*/ 57911 h 96773"/>
              <a:gd name="connsiteX15" fmla="*/ 28955 w 112776"/>
              <a:gd name="connsiteY15" fmla="*/ 67817 h 96773"/>
              <a:gd name="connsiteX16" fmla="*/ 19050 w 112776"/>
              <a:gd name="connsiteY16" fmla="*/ 76961 h 96773"/>
              <a:gd name="connsiteX17" fmla="*/ 9905 w 112776"/>
              <a:gd name="connsiteY17" fmla="*/ 76961 h 96773"/>
              <a:gd name="connsiteX18" fmla="*/ 9905 w 112776"/>
              <a:gd name="connsiteY18" fmla="*/ 57911 h 96773"/>
              <a:gd name="connsiteX19" fmla="*/ 0 w 112776"/>
              <a:gd name="connsiteY19" fmla="*/ 28955 h 967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 ang="17">
                <a:pos x="connsiteX17" y="connsiteY17"/>
              </a:cxn>
              <a:cxn ang="18">
                <a:pos x="connsiteX18" y="connsiteY18"/>
              </a:cxn>
              <a:cxn ang="19">
                <a:pos x="connsiteX19" y="connsiteY19"/>
              </a:cxn>
            </a:cxnLst>
            <a:rect l="l" t="t" r="r" b="b"/>
            <a:pathLst>
              <a:path w="112776" h="96773">
                <a:moveTo>
                  <a:pt x="0" y="28955"/>
                </a:moveTo>
                <a:lnTo>
                  <a:pt x="9905" y="28955"/>
                </a:lnTo>
                <a:lnTo>
                  <a:pt x="19050" y="19050"/>
                </a:lnTo>
                <a:lnTo>
                  <a:pt x="9905" y="9144"/>
                </a:lnTo>
                <a:lnTo>
                  <a:pt x="0" y="0"/>
                </a:lnTo>
                <a:lnTo>
                  <a:pt x="46482" y="28955"/>
                </a:lnTo>
                <a:lnTo>
                  <a:pt x="84582" y="28955"/>
                </a:lnTo>
                <a:lnTo>
                  <a:pt x="93726" y="48005"/>
                </a:lnTo>
                <a:lnTo>
                  <a:pt x="103632" y="67817"/>
                </a:lnTo>
                <a:lnTo>
                  <a:pt x="112776" y="86867"/>
                </a:lnTo>
                <a:lnTo>
                  <a:pt x="112776" y="96773"/>
                </a:lnTo>
                <a:lnTo>
                  <a:pt x="93726" y="86867"/>
                </a:lnTo>
                <a:lnTo>
                  <a:pt x="74676" y="67817"/>
                </a:lnTo>
                <a:lnTo>
                  <a:pt x="36576" y="48005"/>
                </a:lnTo>
                <a:lnTo>
                  <a:pt x="36576" y="57911"/>
                </a:lnTo>
                <a:lnTo>
                  <a:pt x="28955" y="67817"/>
                </a:lnTo>
                <a:lnTo>
                  <a:pt x="19050" y="76961"/>
                </a:lnTo>
                <a:lnTo>
                  <a:pt x="9905" y="76961"/>
                </a:lnTo>
                <a:lnTo>
                  <a:pt x="9905" y="57911"/>
                </a:lnTo>
                <a:lnTo>
                  <a:pt x="0" y="28955"/>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9" name="Freeform 3"/>
          <p:cNvSpPr/>
          <p:nvPr/>
        </p:nvSpPr>
        <p:spPr>
          <a:xfrm>
            <a:off x="3179773" y="5849831"/>
            <a:ext cx="231858" cy="236179"/>
          </a:xfrm>
          <a:custGeom>
            <a:avLst/>
            <a:gdLst>
              <a:gd name="connsiteX0" fmla="*/ 48005 w 256032"/>
              <a:gd name="connsiteY0" fmla="*/ 0 h 260604"/>
              <a:gd name="connsiteX1" fmla="*/ 76200 w 256032"/>
              <a:gd name="connsiteY1" fmla="*/ 9905 h 260604"/>
              <a:gd name="connsiteX2" fmla="*/ 114300 w 256032"/>
              <a:gd name="connsiteY2" fmla="*/ 9905 h 260604"/>
              <a:gd name="connsiteX3" fmla="*/ 181355 w 256032"/>
              <a:gd name="connsiteY3" fmla="*/ 19050 h 260604"/>
              <a:gd name="connsiteX4" fmla="*/ 152400 w 256032"/>
              <a:gd name="connsiteY4" fmla="*/ 86867 h 260604"/>
              <a:gd name="connsiteX5" fmla="*/ 152400 w 256032"/>
              <a:gd name="connsiteY5" fmla="*/ 96774 h 260604"/>
              <a:gd name="connsiteX6" fmla="*/ 162305 w 256032"/>
              <a:gd name="connsiteY6" fmla="*/ 115824 h 260604"/>
              <a:gd name="connsiteX7" fmla="*/ 171450 w 256032"/>
              <a:gd name="connsiteY7" fmla="*/ 134874 h 260604"/>
              <a:gd name="connsiteX8" fmla="*/ 190500 w 256032"/>
              <a:gd name="connsiteY8" fmla="*/ 154686 h 260604"/>
              <a:gd name="connsiteX9" fmla="*/ 227076 w 256032"/>
              <a:gd name="connsiteY9" fmla="*/ 183641 h 260604"/>
              <a:gd name="connsiteX10" fmla="*/ 246126 w 256032"/>
              <a:gd name="connsiteY10" fmla="*/ 221741 h 260604"/>
              <a:gd name="connsiteX11" fmla="*/ 256032 w 256032"/>
              <a:gd name="connsiteY11" fmla="*/ 250698 h 260604"/>
              <a:gd name="connsiteX12" fmla="*/ 256032 w 256032"/>
              <a:gd name="connsiteY12" fmla="*/ 260603 h 260604"/>
              <a:gd name="connsiteX13" fmla="*/ 152400 w 256032"/>
              <a:gd name="connsiteY13" fmla="*/ 163829 h 260604"/>
              <a:gd name="connsiteX14" fmla="*/ 48005 w 256032"/>
              <a:gd name="connsiteY14" fmla="*/ 86867 h 260604"/>
              <a:gd name="connsiteX15" fmla="*/ 0 w 256032"/>
              <a:gd name="connsiteY15" fmla="*/ 0 h 260604"/>
              <a:gd name="connsiteX16" fmla="*/ 48005 w 256032"/>
              <a:gd name="connsiteY16" fmla="*/ 0 h 260604"/>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 ang="12">
                <a:pos x="connsiteX12" y="connsiteY12"/>
              </a:cxn>
              <a:cxn ang="13">
                <a:pos x="connsiteX13" y="connsiteY13"/>
              </a:cxn>
              <a:cxn ang="14">
                <a:pos x="connsiteX14" y="connsiteY14"/>
              </a:cxn>
              <a:cxn ang="15">
                <a:pos x="connsiteX15" y="connsiteY15"/>
              </a:cxn>
              <a:cxn ang="16">
                <a:pos x="connsiteX16" y="connsiteY16"/>
              </a:cxn>
            </a:cxnLst>
            <a:rect l="l" t="t" r="r" b="b"/>
            <a:pathLst>
              <a:path w="256032" h="260604">
                <a:moveTo>
                  <a:pt x="48005" y="0"/>
                </a:moveTo>
                <a:lnTo>
                  <a:pt x="76200" y="9905"/>
                </a:lnTo>
                <a:lnTo>
                  <a:pt x="114300" y="9905"/>
                </a:lnTo>
                <a:lnTo>
                  <a:pt x="181355" y="19050"/>
                </a:lnTo>
                <a:lnTo>
                  <a:pt x="152400" y="86867"/>
                </a:lnTo>
                <a:lnTo>
                  <a:pt x="152400" y="96774"/>
                </a:lnTo>
                <a:lnTo>
                  <a:pt x="162305" y="115824"/>
                </a:lnTo>
                <a:lnTo>
                  <a:pt x="171450" y="134874"/>
                </a:lnTo>
                <a:lnTo>
                  <a:pt x="190500" y="154686"/>
                </a:lnTo>
                <a:lnTo>
                  <a:pt x="227076" y="183641"/>
                </a:lnTo>
                <a:lnTo>
                  <a:pt x="246126" y="221741"/>
                </a:lnTo>
                <a:lnTo>
                  <a:pt x="256032" y="250698"/>
                </a:lnTo>
                <a:lnTo>
                  <a:pt x="256032" y="260603"/>
                </a:lnTo>
                <a:lnTo>
                  <a:pt x="152400" y="163829"/>
                </a:lnTo>
                <a:lnTo>
                  <a:pt x="48005" y="86867"/>
                </a:lnTo>
                <a:lnTo>
                  <a:pt x="0" y="0"/>
                </a:lnTo>
                <a:lnTo>
                  <a:pt x="48005" y="0"/>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0" name="Freeform 3"/>
          <p:cNvSpPr/>
          <p:nvPr/>
        </p:nvSpPr>
        <p:spPr>
          <a:xfrm>
            <a:off x="2965195" y="5867113"/>
            <a:ext cx="84967" cy="87847"/>
          </a:xfrm>
          <a:custGeom>
            <a:avLst/>
            <a:gdLst>
              <a:gd name="connsiteX0" fmla="*/ 93726 w 93726"/>
              <a:gd name="connsiteY0" fmla="*/ 9905 h 96773"/>
              <a:gd name="connsiteX1" fmla="*/ 64770 w 93726"/>
              <a:gd name="connsiteY1" fmla="*/ 48767 h 96773"/>
              <a:gd name="connsiteX2" fmla="*/ 64770 w 93726"/>
              <a:gd name="connsiteY2" fmla="*/ 57912 h 96773"/>
              <a:gd name="connsiteX3" fmla="*/ 74676 w 93726"/>
              <a:gd name="connsiteY3" fmla="*/ 67817 h 96773"/>
              <a:gd name="connsiteX4" fmla="*/ 83820 w 93726"/>
              <a:gd name="connsiteY4" fmla="*/ 87629 h 96773"/>
              <a:gd name="connsiteX5" fmla="*/ 83820 w 93726"/>
              <a:gd name="connsiteY5" fmla="*/ 96774 h 96773"/>
              <a:gd name="connsiteX6" fmla="*/ 74676 w 93726"/>
              <a:gd name="connsiteY6" fmla="*/ 87629 h 96773"/>
              <a:gd name="connsiteX7" fmla="*/ 55626 w 93726"/>
              <a:gd name="connsiteY7" fmla="*/ 77724 h 96773"/>
              <a:gd name="connsiteX8" fmla="*/ 36576 w 93726"/>
              <a:gd name="connsiteY8" fmla="*/ 57912 h 96773"/>
              <a:gd name="connsiteX9" fmla="*/ 26670 w 93726"/>
              <a:gd name="connsiteY9" fmla="*/ 48767 h 96773"/>
              <a:gd name="connsiteX10" fmla="*/ 0 w 93726"/>
              <a:gd name="connsiteY10" fmla="*/ 0 h 96773"/>
              <a:gd name="connsiteX11" fmla="*/ 93726 w 93726"/>
              <a:gd name="connsiteY11" fmla="*/ 9905 h 9677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 ang="7">
                <a:pos x="connsiteX7" y="connsiteY7"/>
              </a:cxn>
              <a:cxn ang="8">
                <a:pos x="connsiteX8" y="connsiteY8"/>
              </a:cxn>
              <a:cxn ang="9">
                <a:pos x="connsiteX9" y="connsiteY9"/>
              </a:cxn>
              <a:cxn ang="10">
                <a:pos x="connsiteX10" y="connsiteY10"/>
              </a:cxn>
              <a:cxn ang="11">
                <a:pos x="connsiteX11" y="connsiteY11"/>
              </a:cxn>
            </a:cxnLst>
            <a:rect l="l" t="t" r="r" b="b"/>
            <a:pathLst>
              <a:path w="93726" h="96773">
                <a:moveTo>
                  <a:pt x="93726" y="9905"/>
                </a:moveTo>
                <a:lnTo>
                  <a:pt x="64770" y="48767"/>
                </a:lnTo>
                <a:lnTo>
                  <a:pt x="64770" y="57912"/>
                </a:lnTo>
                <a:lnTo>
                  <a:pt x="74676" y="67817"/>
                </a:lnTo>
                <a:lnTo>
                  <a:pt x="83820" y="87629"/>
                </a:lnTo>
                <a:lnTo>
                  <a:pt x="83820" y="96774"/>
                </a:lnTo>
                <a:lnTo>
                  <a:pt x="74676" y="87629"/>
                </a:lnTo>
                <a:lnTo>
                  <a:pt x="55626" y="77724"/>
                </a:lnTo>
                <a:lnTo>
                  <a:pt x="36576" y="57912"/>
                </a:lnTo>
                <a:lnTo>
                  <a:pt x="26670" y="48767"/>
                </a:lnTo>
                <a:lnTo>
                  <a:pt x="0" y="0"/>
                </a:lnTo>
                <a:lnTo>
                  <a:pt x="93726" y="9905"/>
                </a:lnTo>
              </a:path>
            </a:pathLst>
          </a:custGeom>
          <a:solidFill>
            <a:srgbClr val="463416">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33">
              <a:solidFill>
                <a:schemeClr val="tx1"/>
              </a:solidFill>
            </a:endParaRPr>
          </a:p>
        </p:txBody>
      </p:sp>
      <p:sp>
        <p:nvSpPr>
          <p:cNvPr id="138245" name="TextBox 1"/>
          <p:cNvSpPr txBox="1">
            <a:spLocks noChangeArrowheads="1"/>
          </p:cNvSpPr>
          <p:nvPr/>
        </p:nvSpPr>
        <p:spPr bwMode="auto">
          <a:xfrm>
            <a:off x="9506189" y="6198340"/>
            <a:ext cx="2115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179"/>
              </a:lnSpc>
            </a:pPr>
            <a:r>
              <a:rPr lang="en-US" altLang="zh-CN" sz="1089">
                <a:latin typeface="Times New Roman" panose="02020603050405020304" pitchFamily="18" charset="0"/>
                <a:cs typeface="Times New Roman" panose="02020603050405020304" pitchFamily="18" charset="0"/>
              </a:rPr>
              <a:t>122</a:t>
            </a:r>
          </a:p>
        </p:txBody>
      </p:sp>
      <p:sp>
        <p:nvSpPr>
          <p:cNvPr id="138246" name="TextBox 1"/>
          <p:cNvSpPr txBox="1">
            <a:spLocks noChangeArrowheads="1"/>
          </p:cNvSpPr>
          <p:nvPr/>
        </p:nvSpPr>
        <p:spPr bwMode="auto">
          <a:xfrm>
            <a:off x="2570603" y="483970"/>
            <a:ext cx="6067367"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b="1">
                <a:latin typeface="Times New Roman" panose="02020603050405020304" pitchFamily="18" charset="0"/>
                <a:cs typeface="Times New Roman" panose="02020603050405020304" pitchFamily="18" charset="0"/>
              </a:rPr>
              <a:t>3.12</a:t>
            </a:r>
            <a:r>
              <a:rPr lang="en-US" altLang="zh-CN" sz="2177">
                <a:latin typeface="Times New Roman" panose="02020603050405020304" pitchFamily="18" charset="0"/>
                <a:cs typeface="Times New Roman" panose="02020603050405020304" pitchFamily="18" charset="0"/>
              </a:rPr>
              <a:t>自由基寿命和链增长、链终止速率常数的测定</a:t>
            </a:r>
          </a:p>
        </p:txBody>
      </p:sp>
      <p:sp>
        <p:nvSpPr>
          <p:cNvPr id="138247" name="TextBox 1"/>
          <p:cNvSpPr txBox="1">
            <a:spLocks noChangeArrowheads="1"/>
          </p:cNvSpPr>
          <p:nvPr/>
        </p:nvSpPr>
        <p:spPr bwMode="auto">
          <a:xfrm>
            <a:off x="2570604" y="1209788"/>
            <a:ext cx="6951711"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b="1">
                <a:latin typeface="Times New Roman" panose="02020603050405020304" pitchFamily="18" charset="0"/>
                <a:cs typeface="Times New Roman" panose="02020603050405020304" pitchFamily="18" charset="0"/>
              </a:rPr>
              <a:t>Determination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of</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Free</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Radical</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and</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Chain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Growth</a:t>
            </a:r>
            <a:r>
              <a:rPr lang="en-US" altLang="zh-CN" sz="2177">
                <a:latin typeface="Times New Roman" panose="02020603050405020304" pitchFamily="18" charset="0"/>
                <a:cs typeface="Times New Roman" panose="02020603050405020304" pitchFamily="18" charset="0"/>
              </a:rPr>
              <a:t>、</a:t>
            </a:r>
            <a:r>
              <a:rPr lang="en-US" altLang="zh-CN" sz="2177" b="1">
                <a:latin typeface="Times New Roman" panose="02020603050405020304" pitchFamily="18" charset="0"/>
                <a:cs typeface="Times New Roman" panose="02020603050405020304" pitchFamily="18" charset="0"/>
              </a:rPr>
              <a:t>Chain</a:t>
            </a:r>
          </a:p>
        </p:txBody>
      </p:sp>
      <p:sp>
        <p:nvSpPr>
          <p:cNvPr id="138248" name="TextBox 1"/>
          <p:cNvSpPr txBox="1">
            <a:spLocks noChangeArrowheads="1"/>
          </p:cNvSpPr>
          <p:nvPr/>
        </p:nvSpPr>
        <p:spPr bwMode="auto">
          <a:xfrm>
            <a:off x="2570603" y="1820394"/>
            <a:ext cx="3441648" cy="29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1905"/>
              </a:lnSpc>
            </a:pPr>
            <a:r>
              <a:rPr lang="en-US" altLang="zh-CN" sz="2177" b="1">
                <a:latin typeface="Times New Roman" panose="02020603050405020304" pitchFamily="18" charset="0"/>
                <a:cs typeface="Times New Roman" panose="02020603050405020304" pitchFamily="18" charset="0"/>
              </a:rPr>
              <a:t>Termination</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Rate</a:t>
            </a:r>
            <a:r>
              <a:rPr lang="en-US" altLang="zh-CN" sz="2177">
                <a:latin typeface="Times New Roman" panose="02020603050405020304" pitchFamily="18" charset="0"/>
                <a:cs typeface="Times New Roman" panose="02020603050405020304" pitchFamily="18" charset="0"/>
              </a:rPr>
              <a:t> </a:t>
            </a:r>
            <a:r>
              <a:rPr lang="en-US" altLang="zh-CN" sz="2177" b="1">
                <a:latin typeface="Times New Roman" panose="02020603050405020304" pitchFamily="18" charset="0"/>
                <a:cs typeface="Times New Roman" panose="02020603050405020304" pitchFamily="18" charset="0"/>
              </a:rPr>
              <a:t>Constants</a:t>
            </a:r>
          </a:p>
        </p:txBody>
      </p:sp>
      <p:sp>
        <p:nvSpPr>
          <p:cNvPr id="138249" name="TextBox 1"/>
          <p:cNvSpPr txBox="1">
            <a:spLocks noChangeArrowheads="1"/>
          </p:cNvSpPr>
          <p:nvPr/>
        </p:nvSpPr>
        <p:spPr bwMode="auto">
          <a:xfrm>
            <a:off x="2904709" y="2258189"/>
            <a:ext cx="3997889" cy="111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1.</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非稳定阶段自由基寿命的测定</a:t>
            </a:r>
          </a:p>
          <a:p>
            <a:pPr eaLnBrk="1" hangingPunct="1">
              <a:lnSpc>
                <a:spcPts val="907"/>
              </a:lnSpc>
            </a:pPr>
            <a:endParaRPr lang="en-US" altLang="zh-CN" sz="1633"/>
          </a:p>
          <a:p>
            <a:pPr eaLnBrk="1" hangingPunct="1">
              <a:lnSpc>
                <a:spcPts val="2177"/>
              </a:lnSpc>
            </a:pPr>
            <a:r>
              <a:rPr lang="en-US" altLang="zh-CN" sz="2177">
                <a:latin typeface="楷体_GB2312"/>
              </a:rPr>
              <a:t>（1）前效应</a:t>
            </a:r>
          </a:p>
          <a:p>
            <a:pPr eaLnBrk="1" hangingPunct="1">
              <a:lnSpc>
                <a:spcPts val="907"/>
              </a:lnSpc>
            </a:pPr>
            <a:endParaRPr lang="en-US" altLang="zh-CN" sz="1633"/>
          </a:p>
          <a:p>
            <a:pPr eaLnBrk="1" hangingPunct="1">
              <a:lnSpc>
                <a:spcPts val="2177"/>
              </a:lnSpc>
            </a:pPr>
            <a:r>
              <a:rPr lang="en-US" altLang="zh-CN" sz="2177">
                <a:latin typeface="楷体_GB2312"/>
              </a:rPr>
              <a:t>（2）后效应</a:t>
            </a:r>
          </a:p>
        </p:txBody>
      </p:sp>
      <p:sp>
        <p:nvSpPr>
          <p:cNvPr id="138250" name="TextBox 1"/>
          <p:cNvSpPr txBox="1">
            <a:spLocks noChangeArrowheads="1"/>
          </p:cNvSpPr>
          <p:nvPr/>
        </p:nvSpPr>
        <p:spPr bwMode="auto">
          <a:xfrm>
            <a:off x="2904709" y="3456365"/>
            <a:ext cx="3997889" cy="111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2.</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假稳态阶段自由基寿命的测定</a:t>
            </a:r>
          </a:p>
          <a:p>
            <a:pPr eaLnBrk="1" hangingPunct="1">
              <a:lnSpc>
                <a:spcPts val="907"/>
              </a:lnSpc>
            </a:pPr>
            <a:endParaRPr lang="en-US" altLang="zh-CN" sz="1633"/>
          </a:p>
          <a:p>
            <a:pPr eaLnBrk="1" hangingPunct="1">
              <a:lnSpc>
                <a:spcPts val="2177"/>
              </a:lnSpc>
            </a:pPr>
            <a:r>
              <a:rPr lang="en-US" altLang="zh-CN" sz="2177">
                <a:latin typeface="楷体_GB2312"/>
              </a:rPr>
              <a:t>（1）关闸慢速旋转</a:t>
            </a:r>
          </a:p>
          <a:p>
            <a:pPr eaLnBrk="1" hangingPunct="1">
              <a:lnSpc>
                <a:spcPts val="907"/>
              </a:lnSpc>
            </a:pPr>
            <a:endParaRPr lang="en-US" altLang="zh-CN" sz="1633"/>
          </a:p>
          <a:p>
            <a:pPr eaLnBrk="1" hangingPunct="1">
              <a:lnSpc>
                <a:spcPts val="2177"/>
              </a:lnSpc>
            </a:pPr>
            <a:r>
              <a:rPr lang="en-US" altLang="zh-CN" sz="2177">
                <a:latin typeface="楷体_GB2312"/>
              </a:rPr>
              <a:t>（2）关闸快速旋转</a:t>
            </a:r>
          </a:p>
        </p:txBody>
      </p:sp>
      <p:sp>
        <p:nvSpPr>
          <p:cNvPr id="138251" name="TextBox 1"/>
          <p:cNvSpPr txBox="1">
            <a:spLocks noChangeArrowheads="1"/>
          </p:cNvSpPr>
          <p:nvPr/>
        </p:nvSpPr>
        <p:spPr bwMode="auto">
          <a:xfrm>
            <a:off x="2904709" y="4643016"/>
            <a:ext cx="5392502" cy="71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3.</a:t>
            </a:r>
            <a:r>
              <a:rPr lang="en-US" altLang="zh-CN" sz="2177">
                <a:latin typeface="Times New Roman" panose="02020603050405020304" pitchFamily="18" charset="0"/>
                <a:cs typeface="Times New Roman" panose="02020603050405020304" pitchFamily="18" charset="0"/>
              </a:rPr>
              <a:t>  </a:t>
            </a:r>
            <a:r>
              <a:rPr lang="en-US" altLang="zh-CN" sz="2177">
                <a:latin typeface="楷体_GB2312"/>
                <a:ea typeface="楷体_GB2312"/>
                <a:cs typeface="楷体_GB2312"/>
              </a:rPr>
              <a:t>链增长和链终止速率常数测定方法的发展</a:t>
            </a:r>
          </a:p>
          <a:p>
            <a:pPr eaLnBrk="1" hangingPunct="1">
              <a:lnSpc>
                <a:spcPts val="907"/>
              </a:lnSpc>
            </a:pPr>
            <a:endParaRPr lang="en-US" altLang="zh-CN" sz="1633"/>
          </a:p>
          <a:p>
            <a:pPr eaLnBrk="1" hangingPunct="1">
              <a:lnSpc>
                <a:spcPts val="2177"/>
              </a:lnSpc>
            </a:pPr>
            <a:r>
              <a:rPr lang="en-US" altLang="zh-CN" sz="2177">
                <a:latin typeface="楷体_GB2312"/>
              </a:rPr>
              <a:t>（1）ESR法</a:t>
            </a:r>
          </a:p>
        </p:txBody>
      </p:sp>
      <p:sp>
        <p:nvSpPr>
          <p:cNvPr id="138252" name="TextBox 1"/>
          <p:cNvSpPr txBox="1">
            <a:spLocks noChangeArrowheads="1"/>
          </p:cNvSpPr>
          <p:nvPr/>
        </p:nvSpPr>
        <p:spPr bwMode="auto">
          <a:xfrm>
            <a:off x="2904709" y="5437959"/>
            <a:ext cx="2394886" cy="71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楷体_GB2312"/>
                <a:ea typeface="楷体_GB2312"/>
                <a:cs typeface="楷体_GB2312"/>
              </a:rPr>
              <a:t>（2）乳液胶粒数法</a:t>
            </a:r>
          </a:p>
          <a:p>
            <a:pPr eaLnBrk="1" hangingPunct="1">
              <a:lnSpc>
                <a:spcPts val="907"/>
              </a:lnSpc>
            </a:pPr>
            <a:endParaRPr lang="en-US" altLang="zh-CN" sz="1633">
              <a:ea typeface="楷体_GB2312"/>
              <a:cs typeface="楷体_GB2312"/>
            </a:endParaRPr>
          </a:p>
          <a:p>
            <a:pPr eaLnBrk="1" hangingPunct="1">
              <a:lnSpc>
                <a:spcPts val="2177"/>
              </a:lnSpc>
            </a:pPr>
            <a:r>
              <a:rPr lang="en-US" altLang="zh-CN" sz="2177">
                <a:latin typeface="楷体_GB2312"/>
                <a:ea typeface="楷体_GB2312"/>
                <a:cs typeface="楷体_GB2312"/>
              </a:rPr>
              <a:t>（3）脉冲激光法</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
          <p:cNvSpPr>
            <a:spLocks noChangeArrowheads="1"/>
          </p:cNvSpPr>
          <p:nvPr/>
        </p:nvSpPr>
        <p:spPr bwMode="auto">
          <a:xfrm>
            <a:off x="2224977" y="1424413"/>
            <a:ext cx="7949207" cy="2989425"/>
          </a:xfrm>
          <a:prstGeom prst="rect">
            <a:avLst/>
          </a:prstGeom>
          <a:noFill/>
          <a:ln w="9525">
            <a:noFill/>
            <a:miter lim="800000"/>
            <a:headEnd/>
            <a:tailEnd/>
          </a:ln>
        </p:spPr>
        <p:txBody>
          <a:bodyPr lIns="80154" tIns="40077" rIns="80154" bIns="40077" anchor="ctr">
            <a:spAutoFit/>
          </a:bodyPr>
          <a:lstStyle/>
          <a:p>
            <a:pPr eaLnBrk="0" hangingPunct="0"/>
            <a:r>
              <a:rPr lang="zh-CN" altLang="en-US" sz="2100" dirty="0">
                <a:latin typeface="Times New Roman" pitchFamily="18" charset="0"/>
                <a:cs typeface="Times New Roman" pitchFamily="18" charset="0"/>
              </a:rPr>
              <a:t>苯乙烯在</a:t>
            </a:r>
            <a:r>
              <a:rPr lang="en-US" altLang="zh-CN" sz="2100" dirty="0">
                <a:latin typeface="Times New Roman" pitchFamily="18" charset="0"/>
                <a:cs typeface="Times New Roman" pitchFamily="18" charset="0"/>
              </a:rPr>
              <a:t>60℃</a:t>
            </a:r>
            <a:r>
              <a:rPr lang="zh-CN" altLang="en-US" sz="2100" dirty="0">
                <a:latin typeface="Times New Roman" pitchFamily="18" charset="0"/>
                <a:cs typeface="Times New Roman" pitchFamily="18" charset="0"/>
              </a:rPr>
              <a:t>以过氧化二特丁基锂为引发剂，苯为溶剂进行聚合。当苯乙烯的浓度为</a:t>
            </a:r>
            <a:r>
              <a:rPr lang="en-US" altLang="zh-CN" sz="2100" dirty="0">
                <a:latin typeface="Times New Roman" pitchFamily="18" charset="0"/>
                <a:cs typeface="Times New Roman" pitchFamily="18" charset="0"/>
              </a:rPr>
              <a:t>1mol/L</a:t>
            </a:r>
            <a:r>
              <a:rPr lang="zh-CN" altLang="en-US" sz="2100" dirty="0">
                <a:latin typeface="Times New Roman" pitchFamily="18" charset="0"/>
                <a:cs typeface="Times New Roman" pitchFamily="18" charset="0"/>
              </a:rPr>
              <a:t>，引发剂浓度为</a:t>
            </a:r>
            <a:r>
              <a:rPr lang="en-US" altLang="zh-CN" sz="2100" dirty="0">
                <a:latin typeface="Times New Roman" pitchFamily="18" charset="0"/>
                <a:cs typeface="Times New Roman" pitchFamily="18" charset="0"/>
              </a:rPr>
              <a:t>0.01mol/L</a:t>
            </a:r>
            <a:r>
              <a:rPr lang="zh-CN" altLang="en-US" sz="2100" dirty="0">
                <a:latin typeface="Times New Roman" pitchFamily="18" charset="0"/>
                <a:cs typeface="Times New Roman" pitchFamily="18" charset="0"/>
              </a:rPr>
              <a:t>时，引发和聚合的速率分别为</a:t>
            </a:r>
            <a:r>
              <a:rPr lang="en-US" altLang="zh-CN" sz="2100" dirty="0">
                <a:latin typeface="Times New Roman" pitchFamily="18" charset="0"/>
                <a:cs typeface="Times New Roman" pitchFamily="18" charset="0"/>
              </a:rPr>
              <a:t>4×10</a:t>
            </a:r>
            <a:r>
              <a:rPr lang="en-US" altLang="zh-CN" sz="2100" baseline="30000" dirty="0">
                <a:latin typeface="Times New Roman" pitchFamily="18" charset="0"/>
                <a:cs typeface="Times New Roman" pitchFamily="18" charset="0"/>
              </a:rPr>
              <a:t>-11</a:t>
            </a:r>
            <a:r>
              <a:rPr lang="zh-CN" altLang="en-US" sz="2100" dirty="0">
                <a:latin typeface="Times New Roman" pitchFamily="18" charset="0"/>
                <a:cs typeface="Times New Roman" pitchFamily="18" charset="0"/>
              </a:rPr>
              <a:t>和</a:t>
            </a:r>
            <a:r>
              <a:rPr lang="en-US" altLang="zh-CN" sz="2100" dirty="0">
                <a:latin typeface="Times New Roman" pitchFamily="18" charset="0"/>
                <a:cs typeface="Times New Roman" pitchFamily="18" charset="0"/>
              </a:rPr>
              <a:t>1.5×10</a:t>
            </a:r>
            <a:r>
              <a:rPr lang="en-US" altLang="zh-CN" sz="2100" baseline="30000" dirty="0">
                <a:latin typeface="Times New Roman" pitchFamily="18" charset="0"/>
                <a:cs typeface="Times New Roman" pitchFamily="18" charset="0"/>
              </a:rPr>
              <a:t>-7</a:t>
            </a:r>
            <a:r>
              <a:rPr lang="en-US" altLang="zh-CN" sz="2100" dirty="0">
                <a:latin typeface="Times New Roman" pitchFamily="18" charset="0"/>
                <a:cs typeface="Times New Roman" pitchFamily="18" charset="0"/>
              </a:rPr>
              <a:t>mol/(L</a:t>
            </a:r>
            <a:r>
              <a:rPr lang="en-US" altLang="zh-CN" sz="2100" dirty="0">
                <a:cs typeface="Times New Roman" pitchFamily="18" charset="0"/>
              </a:rPr>
              <a:t>·</a:t>
            </a:r>
            <a:r>
              <a:rPr lang="en-US" altLang="zh-CN" sz="2100" dirty="0">
                <a:latin typeface="Times New Roman" pitchFamily="18" charset="0"/>
                <a:cs typeface="Times New Roman" pitchFamily="18" charset="0"/>
              </a:rPr>
              <a:t>s)</a:t>
            </a:r>
            <a:r>
              <a:rPr lang="zh-CN" altLang="en-US" sz="2100" dirty="0">
                <a:latin typeface="Times New Roman" pitchFamily="18" charset="0"/>
                <a:cs typeface="Times New Roman" pitchFamily="18" charset="0"/>
              </a:rPr>
              <a:t>。试根据计算判断在低转化率下，在上述聚合反应中链终止的主要方式，以及每一个由过氧化物引发的链自由基平均转移几次后失去活性。已知在该温度下</a:t>
            </a:r>
            <a:r>
              <a:rPr lang="en-US" altLang="zh-CN" sz="2100" dirty="0">
                <a:latin typeface="Times New Roman" pitchFamily="18" charset="0"/>
                <a:cs typeface="Times New Roman" pitchFamily="18" charset="0"/>
              </a:rPr>
              <a:t>C</a:t>
            </a:r>
            <a:r>
              <a:rPr lang="en-US" altLang="zh-CN" sz="2100" baseline="-25000" dirty="0">
                <a:latin typeface="Times New Roman" pitchFamily="18" charset="0"/>
                <a:cs typeface="Times New Roman" pitchFamily="18" charset="0"/>
              </a:rPr>
              <a:t>M</a:t>
            </a:r>
            <a:r>
              <a:rPr lang="en-US" altLang="zh-CN" sz="2100" dirty="0">
                <a:latin typeface="Times New Roman" pitchFamily="18" charset="0"/>
                <a:cs typeface="Times New Roman" pitchFamily="18" charset="0"/>
              </a:rPr>
              <a:t>=8.0×10</a:t>
            </a:r>
            <a:r>
              <a:rPr lang="en-US" altLang="zh-CN" sz="2100" baseline="30000" dirty="0">
                <a:latin typeface="Times New Roman" pitchFamily="18" charset="0"/>
                <a:cs typeface="Times New Roman" pitchFamily="18" charset="0"/>
              </a:rPr>
              <a:t>-5</a:t>
            </a:r>
            <a:r>
              <a:rPr lang="zh-CN" altLang="en-US" sz="2100" dirty="0">
                <a:latin typeface="Times New Roman" pitchFamily="18" charset="0"/>
                <a:cs typeface="Times New Roman" pitchFamily="18" charset="0"/>
              </a:rPr>
              <a:t>，</a:t>
            </a:r>
            <a:r>
              <a:rPr lang="en-US" altLang="zh-CN" sz="2100" dirty="0">
                <a:latin typeface="Times New Roman" pitchFamily="18" charset="0"/>
                <a:cs typeface="Times New Roman" pitchFamily="18" charset="0"/>
              </a:rPr>
              <a:t>C</a:t>
            </a:r>
            <a:r>
              <a:rPr lang="en-US" altLang="zh-CN" sz="2100" baseline="-25000" dirty="0">
                <a:latin typeface="Times New Roman" pitchFamily="18" charset="0"/>
                <a:cs typeface="Times New Roman" pitchFamily="18" charset="0"/>
              </a:rPr>
              <a:t>I</a:t>
            </a:r>
            <a:r>
              <a:rPr lang="zh-CN" altLang="en-US" sz="2100" dirty="0">
                <a:latin typeface="Times New Roman" pitchFamily="18" charset="0"/>
                <a:cs typeface="Times New Roman" pitchFamily="18" charset="0"/>
              </a:rPr>
              <a:t>＝</a:t>
            </a:r>
            <a:r>
              <a:rPr lang="en-US" altLang="zh-CN" sz="2100" dirty="0">
                <a:latin typeface="Times New Roman" pitchFamily="18" charset="0"/>
                <a:cs typeface="Times New Roman" pitchFamily="18" charset="0"/>
              </a:rPr>
              <a:t>3.2×10</a:t>
            </a:r>
            <a:r>
              <a:rPr lang="en-US" altLang="zh-CN" sz="2100" baseline="30000" dirty="0">
                <a:latin typeface="Times New Roman" pitchFamily="18" charset="0"/>
                <a:cs typeface="Times New Roman" pitchFamily="18" charset="0"/>
              </a:rPr>
              <a:t>-4</a:t>
            </a:r>
            <a:r>
              <a:rPr lang="zh-CN" altLang="en-US" sz="2100" dirty="0">
                <a:latin typeface="Times New Roman" pitchFamily="18" charset="0"/>
                <a:cs typeface="Times New Roman" pitchFamily="18" charset="0"/>
              </a:rPr>
              <a:t>，</a:t>
            </a:r>
            <a:r>
              <a:rPr lang="en-US" altLang="zh-CN" sz="2100" dirty="0">
                <a:latin typeface="Times New Roman" pitchFamily="18" charset="0"/>
                <a:cs typeface="Times New Roman" pitchFamily="18" charset="0"/>
              </a:rPr>
              <a:t>C</a:t>
            </a:r>
            <a:r>
              <a:rPr lang="en-US" altLang="zh-CN" sz="2100" baseline="-25000" dirty="0">
                <a:latin typeface="Times New Roman" pitchFamily="18" charset="0"/>
                <a:cs typeface="Times New Roman" pitchFamily="18" charset="0"/>
              </a:rPr>
              <a:t>S</a:t>
            </a:r>
            <a:r>
              <a:rPr lang="zh-CN" altLang="en-US" sz="2100" dirty="0">
                <a:latin typeface="Times New Roman" pitchFamily="18" charset="0"/>
                <a:cs typeface="Times New Roman" pitchFamily="18" charset="0"/>
              </a:rPr>
              <a:t>＝</a:t>
            </a:r>
            <a:r>
              <a:rPr lang="en-US" altLang="zh-CN" sz="2100" dirty="0">
                <a:latin typeface="Times New Roman" pitchFamily="18" charset="0"/>
                <a:cs typeface="Times New Roman" pitchFamily="18" charset="0"/>
              </a:rPr>
              <a:t>2.3×10</a:t>
            </a:r>
            <a:r>
              <a:rPr lang="en-US" altLang="zh-CN" sz="2100" baseline="30000" dirty="0">
                <a:latin typeface="Times New Roman" pitchFamily="18" charset="0"/>
                <a:cs typeface="Times New Roman" pitchFamily="18" charset="0"/>
              </a:rPr>
              <a:t>-6</a:t>
            </a:r>
            <a:r>
              <a:rPr lang="zh-CN" altLang="en-US" sz="2100" dirty="0">
                <a:latin typeface="Times New Roman" pitchFamily="18" charset="0"/>
                <a:cs typeface="Times New Roman" pitchFamily="18" charset="0"/>
              </a:rPr>
              <a:t>，</a:t>
            </a:r>
            <a:r>
              <a:rPr lang="en-US" altLang="zh-CN" sz="2100" dirty="0">
                <a:latin typeface="Times New Roman" pitchFamily="18" charset="0"/>
                <a:cs typeface="Times New Roman" pitchFamily="18" charset="0"/>
              </a:rPr>
              <a:t>60℃</a:t>
            </a:r>
            <a:r>
              <a:rPr lang="zh-CN" altLang="en-US" sz="2100" dirty="0">
                <a:latin typeface="Times New Roman" pitchFamily="18" charset="0"/>
                <a:cs typeface="Times New Roman" pitchFamily="18" charset="0"/>
              </a:rPr>
              <a:t>苯乙烯（分子量</a:t>
            </a:r>
            <a:r>
              <a:rPr lang="en-US" altLang="zh-CN" sz="2100" dirty="0">
                <a:latin typeface="Times New Roman" pitchFamily="18" charset="0"/>
                <a:cs typeface="Times New Roman" pitchFamily="18" charset="0"/>
              </a:rPr>
              <a:t>104</a:t>
            </a:r>
            <a:r>
              <a:rPr lang="zh-CN" altLang="en-US" sz="2100" dirty="0">
                <a:latin typeface="Times New Roman" pitchFamily="18" charset="0"/>
                <a:cs typeface="Times New Roman" pitchFamily="18" charset="0"/>
              </a:rPr>
              <a:t>）的密度为</a:t>
            </a:r>
            <a:r>
              <a:rPr lang="en-US" altLang="zh-CN" sz="2100" dirty="0">
                <a:latin typeface="Times New Roman" pitchFamily="18" charset="0"/>
                <a:cs typeface="Times New Roman" pitchFamily="18" charset="0"/>
              </a:rPr>
              <a:t>0.887g/ml</a:t>
            </a:r>
            <a:r>
              <a:rPr lang="zh-CN" altLang="en-US" sz="2100" dirty="0">
                <a:latin typeface="Times New Roman" pitchFamily="18" charset="0"/>
                <a:cs typeface="Times New Roman" pitchFamily="18" charset="0"/>
              </a:rPr>
              <a:t>，苯（分子量</a:t>
            </a:r>
            <a:r>
              <a:rPr lang="en-US" altLang="zh-CN" sz="2100" dirty="0">
                <a:latin typeface="Times New Roman" pitchFamily="18" charset="0"/>
                <a:cs typeface="Times New Roman" pitchFamily="18" charset="0"/>
              </a:rPr>
              <a:t>78</a:t>
            </a:r>
            <a:r>
              <a:rPr lang="zh-CN" altLang="en-US" sz="2100" dirty="0">
                <a:latin typeface="Times New Roman" pitchFamily="18" charset="0"/>
                <a:cs typeface="Times New Roman" pitchFamily="18" charset="0"/>
              </a:rPr>
              <a:t>）的密度为</a:t>
            </a:r>
            <a:r>
              <a:rPr lang="en-US" altLang="zh-CN" sz="2100" dirty="0">
                <a:latin typeface="Times New Roman" pitchFamily="18" charset="0"/>
                <a:cs typeface="Times New Roman" pitchFamily="18" charset="0"/>
              </a:rPr>
              <a:t>0.839g/ml</a:t>
            </a:r>
            <a:r>
              <a:rPr lang="zh-CN" altLang="en-US" sz="2100" dirty="0">
                <a:latin typeface="Times New Roman" pitchFamily="18" charset="0"/>
                <a:cs typeface="Times New Roman" pitchFamily="18" charset="0"/>
              </a:rPr>
              <a:t>，设苯乙烯体系为理想溶液。苯乙烯在</a:t>
            </a:r>
            <a:r>
              <a:rPr lang="en-US" altLang="zh-CN" sz="2100" dirty="0">
                <a:latin typeface="Times New Roman" pitchFamily="18" charset="0"/>
                <a:cs typeface="Times New Roman" pitchFamily="18" charset="0"/>
              </a:rPr>
              <a:t>60℃</a:t>
            </a:r>
            <a:r>
              <a:rPr lang="zh-CN" altLang="en-US" sz="2100" dirty="0">
                <a:latin typeface="Times New Roman" pitchFamily="18" charset="0"/>
                <a:cs typeface="Times New Roman" pitchFamily="18" charset="0"/>
              </a:rPr>
              <a:t>时，动力学链终止完全是偶合终止</a:t>
            </a:r>
            <a:r>
              <a:rPr lang="zh-CN" altLang="en-US" sz="2100" dirty="0"/>
              <a:t> </a:t>
            </a:r>
          </a:p>
        </p:txBody>
      </p:sp>
    </p:spTree>
    <p:extLst>
      <p:ext uri="{BB962C8B-B14F-4D97-AF65-F5344CB8AC3E}">
        <p14:creationId xmlns:p14="http://schemas.microsoft.com/office/powerpoint/2010/main" val="3064995628"/>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7938" name="Object 2"/>
          <p:cNvGraphicFramePr>
            <a:graphicFrameLocks noChangeAspect="1"/>
          </p:cNvGraphicFramePr>
          <p:nvPr/>
        </p:nvGraphicFramePr>
        <p:xfrm>
          <a:off x="3229072" y="663982"/>
          <a:ext cx="4285460" cy="1106007"/>
        </p:xfrm>
        <a:graphic>
          <a:graphicData uri="http://schemas.openxmlformats.org/presentationml/2006/ole">
            <mc:AlternateContent xmlns:mc="http://schemas.openxmlformats.org/markup-compatibility/2006">
              <mc:Choice xmlns:v="urn:schemas-microsoft-com:vml" Requires="v">
                <p:oleObj spid="_x0000_s16401" name="公式" r:id="rId3" imgW="2540000" imgH="622300" progId="Equation.3">
                  <p:embed/>
                </p:oleObj>
              </mc:Choice>
              <mc:Fallback>
                <p:oleObj name="公式" r:id="rId3" imgW="2540000" imgH="622300" progId="Equation.3">
                  <p:embed/>
                  <p:pic>
                    <p:nvPicPr>
                      <p:cNvPr id="1679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9072" y="663982"/>
                        <a:ext cx="4285460" cy="11060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937" name="Object 1"/>
          <p:cNvGraphicFramePr>
            <a:graphicFrameLocks noChangeAspect="1"/>
          </p:cNvGraphicFramePr>
          <p:nvPr/>
        </p:nvGraphicFramePr>
        <p:xfrm>
          <a:off x="3489703" y="1839118"/>
          <a:ext cx="2945658" cy="842466"/>
        </p:xfrm>
        <a:graphic>
          <a:graphicData uri="http://schemas.openxmlformats.org/presentationml/2006/ole">
            <mc:AlternateContent xmlns:mc="http://schemas.openxmlformats.org/markup-compatibility/2006">
              <mc:Choice xmlns:v="urn:schemas-microsoft-com:vml" Requires="v">
                <p:oleObj spid="_x0000_s16402" name="公式" r:id="rId5" imgW="1752600" imgH="457200" progId="Equation.3">
                  <p:embed/>
                </p:oleObj>
              </mc:Choice>
              <mc:Fallback>
                <p:oleObj name="公式" r:id="rId5" imgW="1752600" imgH="457200" progId="Equation.3">
                  <p:embed/>
                  <p:pic>
                    <p:nvPicPr>
                      <p:cNvPr id="167937"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9703" y="1839118"/>
                        <a:ext cx="2945658" cy="8424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3" name="Rectangle 3"/>
          <p:cNvSpPr>
            <a:spLocks noChangeArrowheads="1"/>
          </p:cNvSpPr>
          <p:nvPr/>
        </p:nvSpPr>
        <p:spPr bwMode="auto">
          <a:xfrm>
            <a:off x="1991082" y="164852"/>
            <a:ext cx="4384183" cy="583510"/>
          </a:xfrm>
          <a:prstGeom prst="rect">
            <a:avLst/>
          </a:prstGeom>
          <a:noFill/>
          <a:ln w="9525">
            <a:noFill/>
            <a:miter lim="800000"/>
            <a:headEnd/>
            <a:tailEnd/>
          </a:ln>
        </p:spPr>
        <p:txBody>
          <a:bodyPr wrap="none" lIns="80154" tIns="40077" rIns="80154" bIns="40077" anchor="ctr">
            <a:spAutoFit/>
          </a:bodyPr>
          <a:lstStyle/>
          <a:p>
            <a:pPr eaLnBrk="0" hangingPunct="0"/>
            <a:r>
              <a:rPr lang="zh-CN" altLang="en-US" sz="1633" dirty="0">
                <a:latin typeface="Times New Roman" pitchFamily="18" charset="0"/>
                <a:cs typeface="Times New Roman" pitchFamily="18" charset="0"/>
              </a:rPr>
              <a:t>解：在</a:t>
            </a:r>
            <a:r>
              <a:rPr lang="en-US" altLang="zh-CN" sz="1633" dirty="0">
                <a:latin typeface="Times New Roman" pitchFamily="18" charset="0"/>
                <a:cs typeface="Times New Roman" pitchFamily="18" charset="0"/>
              </a:rPr>
              <a:t>1L</a:t>
            </a:r>
            <a:r>
              <a:rPr lang="zh-CN" altLang="en-US" sz="1633" dirty="0">
                <a:latin typeface="Times New Roman" pitchFamily="18" charset="0"/>
                <a:cs typeface="Times New Roman" pitchFamily="18" charset="0"/>
              </a:rPr>
              <a:t>苯乙烯、苯混合体系中，苯溶剂浓度</a:t>
            </a:r>
            <a:endParaRPr lang="zh-CN" altLang="en-US" sz="1633" dirty="0"/>
          </a:p>
          <a:p>
            <a:pPr eaLnBrk="0" hangingPunct="0"/>
            <a:endParaRPr lang="zh-CN" altLang="en-US" sz="1633" dirty="0"/>
          </a:p>
        </p:txBody>
      </p:sp>
      <p:sp>
        <p:nvSpPr>
          <p:cNvPr id="34824" name="Rectangle 4"/>
          <p:cNvSpPr>
            <a:spLocks noChangeArrowheads="1"/>
          </p:cNvSpPr>
          <p:nvPr/>
        </p:nvSpPr>
        <p:spPr bwMode="auto">
          <a:xfrm>
            <a:off x="1524120" y="1000470"/>
            <a:ext cx="161938" cy="332224"/>
          </a:xfrm>
          <a:prstGeom prst="rect">
            <a:avLst/>
          </a:prstGeom>
          <a:noFill/>
          <a:ln w="9525">
            <a:noFill/>
            <a:miter lim="800000"/>
            <a:headEnd/>
            <a:tailEnd/>
          </a:ln>
        </p:spPr>
        <p:txBody>
          <a:bodyPr wrap="none" lIns="80154" tIns="40077" rIns="80154" bIns="40077" anchor="ctr">
            <a:spAutoFit/>
          </a:bodyPr>
          <a:lstStyle/>
          <a:p>
            <a:endParaRPr lang="zh-CN" altLang="en-US" sz="1633"/>
          </a:p>
        </p:txBody>
      </p:sp>
      <p:sp>
        <p:nvSpPr>
          <p:cNvPr id="167941" name="Rectangle 5"/>
          <p:cNvSpPr>
            <a:spLocks noChangeArrowheads="1"/>
          </p:cNvSpPr>
          <p:nvPr/>
        </p:nvSpPr>
        <p:spPr bwMode="auto">
          <a:xfrm>
            <a:off x="1665296" y="2881322"/>
            <a:ext cx="5621701" cy="404102"/>
          </a:xfrm>
          <a:prstGeom prst="rect">
            <a:avLst/>
          </a:prstGeom>
          <a:noFill/>
          <a:ln w="9525">
            <a:noFill/>
            <a:miter lim="800000"/>
            <a:headEnd/>
            <a:tailEnd/>
          </a:ln>
        </p:spPr>
        <p:txBody>
          <a:bodyPr wrap="none" lIns="80154" tIns="40077" rIns="80154" bIns="40077" anchor="ctr">
            <a:spAutoFit/>
          </a:bodyPr>
          <a:lstStyle/>
          <a:p>
            <a:pPr eaLnBrk="0" hangingPunct="0"/>
            <a:r>
              <a:rPr lang="zh-CN" altLang="en-US" sz="2100" dirty="0">
                <a:latin typeface="Times New Roman" pitchFamily="18" charset="0"/>
                <a:cs typeface="Times New Roman" pitchFamily="18" charset="0"/>
              </a:rPr>
              <a:t>苯乙烯在</a:t>
            </a:r>
            <a:r>
              <a:rPr lang="en-US" altLang="zh-CN" sz="2100" dirty="0">
                <a:latin typeface="Times New Roman" pitchFamily="18" charset="0"/>
                <a:cs typeface="Times New Roman" pitchFamily="18" charset="0"/>
              </a:rPr>
              <a:t>60℃</a:t>
            </a:r>
            <a:r>
              <a:rPr lang="zh-CN" altLang="en-US" sz="2100" dirty="0">
                <a:latin typeface="Times New Roman" pitchFamily="18" charset="0"/>
                <a:cs typeface="Times New Roman" pitchFamily="18" charset="0"/>
              </a:rPr>
              <a:t>时</a:t>
            </a:r>
            <a:r>
              <a:rPr lang="en-US" altLang="zh-CN" sz="2100" dirty="0">
                <a:latin typeface="Times New Roman" pitchFamily="18" charset="0"/>
                <a:cs typeface="Times New Roman" pitchFamily="18" charset="0"/>
              </a:rPr>
              <a:t>,</a:t>
            </a:r>
            <a:r>
              <a:rPr lang="zh-CN" altLang="en-US" sz="2100" dirty="0">
                <a:latin typeface="Times New Roman" pitchFamily="18" charset="0"/>
                <a:cs typeface="Times New Roman" pitchFamily="18" charset="0"/>
              </a:rPr>
              <a:t>动力学链终止完全是偶合终止</a:t>
            </a:r>
            <a:endParaRPr lang="zh-CN" altLang="en-US" sz="2100" dirty="0"/>
          </a:p>
        </p:txBody>
      </p:sp>
      <p:graphicFrame>
        <p:nvGraphicFramePr>
          <p:cNvPr id="167944" name="Object 8"/>
          <p:cNvGraphicFramePr>
            <a:graphicFrameLocks noChangeAspect="1"/>
          </p:cNvGraphicFramePr>
          <p:nvPr/>
        </p:nvGraphicFramePr>
        <p:xfrm>
          <a:off x="3294231" y="3429003"/>
          <a:ext cx="3055613" cy="444995"/>
        </p:xfrm>
        <a:graphic>
          <a:graphicData uri="http://schemas.openxmlformats.org/presentationml/2006/ole">
            <mc:AlternateContent xmlns:mc="http://schemas.openxmlformats.org/markup-compatibility/2006">
              <mc:Choice xmlns:v="urn:schemas-microsoft-com:vml" Requires="v">
                <p:oleObj spid="_x0000_s16403" name="公式" r:id="rId7" imgW="1866600" imgH="253800" progId="Equation.3">
                  <p:embed/>
                </p:oleObj>
              </mc:Choice>
              <mc:Fallback>
                <p:oleObj name="公式" r:id="rId7" imgW="1866600" imgH="253800" progId="Equation.3">
                  <p:embed/>
                  <p:pic>
                    <p:nvPicPr>
                      <p:cNvPr id="167944"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4231" y="3429003"/>
                        <a:ext cx="3055613" cy="4449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943" name="Object 7"/>
          <p:cNvGraphicFramePr>
            <a:graphicFrameLocks noChangeAspect="1"/>
          </p:cNvGraphicFramePr>
          <p:nvPr/>
        </p:nvGraphicFramePr>
        <p:xfrm>
          <a:off x="3294233" y="3912879"/>
          <a:ext cx="4650612" cy="1935512"/>
        </p:xfrm>
        <a:graphic>
          <a:graphicData uri="http://schemas.openxmlformats.org/presentationml/2006/ole">
            <mc:AlternateContent xmlns:mc="http://schemas.openxmlformats.org/markup-compatibility/2006">
              <mc:Choice xmlns:v="urn:schemas-microsoft-com:vml" Requires="v">
                <p:oleObj spid="_x0000_s16404" name="公式" r:id="rId9" imgW="3301920" imgH="1295280" progId="Equation.3">
                  <p:embed/>
                </p:oleObj>
              </mc:Choice>
              <mc:Fallback>
                <p:oleObj name="公式" r:id="rId9" imgW="3301920" imgH="1295280" progId="Equation.3">
                  <p:embed/>
                  <p:pic>
                    <p:nvPicPr>
                      <p:cNvPr id="16794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94233" y="3912879"/>
                        <a:ext cx="4650612" cy="1935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7942" name="Object 6"/>
          <p:cNvGraphicFramePr>
            <a:graphicFrameLocks noChangeAspect="1"/>
          </p:cNvGraphicFramePr>
          <p:nvPr/>
        </p:nvGraphicFramePr>
        <p:xfrm>
          <a:off x="3163917" y="5986643"/>
          <a:ext cx="1202697" cy="414754"/>
        </p:xfrm>
        <a:graphic>
          <a:graphicData uri="http://schemas.openxmlformats.org/presentationml/2006/ole">
            <mc:AlternateContent xmlns:mc="http://schemas.openxmlformats.org/markup-compatibility/2006">
              <mc:Choice xmlns:v="urn:schemas-microsoft-com:vml" Requires="v">
                <p:oleObj spid="_x0000_s16405" name="公式" r:id="rId11" imgW="787400" imgH="254000" progId="Equation.3">
                  <p:embed/>
                </p:oleObj>
              </mc:Choice>
              <mc:Fallback>
                <p:oleObj name="公式" r:id="rId11" imgW="787400" imgH="254000" progId="Equation.3">
                  <p:embed/>
                  <p:pic>
                    <p:nvPicPr>
                      <p:cNvPr id="16794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3917" y="5986643"/>
                        <a:ext cx="1202697" cy="4147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26" name="Rectangle 9"/>
          <p:cNvSpPr>
            <a:spLocks noChangeArrowheads="1"/>
          </p:cNvSpPr>
          <p:nvPr/>
        </p:nvSpPr>
        <p:spPr bwMode="auto">
          <a:xfrm>
            <a:off x="1524120" y="41355"/>
            <a:ext cx="161938" cy="332224"/>
          </a:xfrm>
          <a:prstGeom prst="rect">
            <a:avLst/>
          </a:prstGeom>
          <a:noFill/>
          <a:ln w="9525">
            <a:noFill/>
            <a:miter lim="800000"/>
            <a:headEnd/>
            <a:tailEnd/>
          </a:ln>
        </p:spPr>
        <p:txBody>
          <a:bodyPr wrap="none" lIns="80154" tIns="40077" rIns="80154" bIns="40077" anchor="ctr">
            <a:spAutoFit/>
          </a:bodyPr>
          <a:lstStyle/>
          <a:p>
            <a:endParaRPr lang="zh-CN" altLang="en-US" sz="1633"/>
          </a:p>
        </p:txBody>
      </p:sp>
      <p:sp>
        <p:nvSpPr>
          <p:cNvPr id="34827" name="Rectangle 10"/>
          <p:cNvSpPr>
            <a:spLocks noChangeArrowheads="1"/>
          </p:cNvSpPr>
          <p:nvPr/>
        </p:nvSpPr>
        <p:spPr bwMode="auto">
          <a:xfrm>
            <a:off x="1524120" y="680766"/>
            <a:ext cx="161938" cy="332224"/>
          </a:xfrm>
          <a:prstGeom prst="rect">
            <a:avLst/>
          </a:prstGeom>
          <a:noFill/>
          <a:ln w="9525">
            <a:noFill/>
            <a:miter lim="800000"/>
            <a:headEnd/>
            <a:tailEnd/>
          </a:ln>
        </p:spPr>
        <p:txBody>
          <a:bodyPr wrap="none" lIns="80154" tIns="40077" rIns="80154" bIns="40077" anchor="ctr">
            <a:spAutoFit/>
          </a:bodyPr>
          <a:lstStyle/>
          <a:p>
            <a:endParaRPr lang="zh-CN" altLang="en-US" sz="1633"/>
          </a:p>
        </p:txBody>
      </p:sp>
      <p:sp>
        <p:nvSpPr>
          <p:cNvPr id="34828" name="Rectangle 11"/>
          <p:cNvSpPr>
            <a:spLocks noChangeArrowheads="1"/>
          </p:cNvSpPr>
          <p:nvPr/>
        </p:nvSpPr>
        <p:spPr bwMode="auto">
          <a:xfrm>
            <a:off x="1524120" y="2028711"/>
            <a:ext cx="161938" cy="332224"/>
          </a:xfrm>
          <a:prstGeom prst="rect">
            <a:avLst/>
          </a:prstGeom>
          <a:noFill/>
          <a:ln w="9525">
            <a:noFill/>
            <a:miter lim="800000"/>
            <a:headEnd/>
            <a:tailEnd/>
          </a:ln>
        </p:spPr>
        <p:txBody>
          <a:bodyPr wrap="none" lIns="80154" tIns="40077" rIns="80154" bIns="40077" anchor="ctr">
            <a:spAutoFit/>
          </a:bodyPr>
          <a:lstStyle/>
          <a:p>
            <a:pPr eaLnBrk="0" hangingPunct="0"/>
            <a:endParaRPr lang="zh-CN" altLang="zh-CN" sz="1633"/>
          </a:p>
        </p:txBody>
      </p:sp>
    </p:spTree>
    <p:extLst>
      <p:ext uri="{BB962C8B-B14F-4D97-AF65-F5344CB8AC3E}">
        <p14:creationId xmlns:p14="http://schemas.microsoft.com/office/powerpoint/2010/main" val="34542376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7938"/>
                                        </p:tgtEl>
                                        <p:attrNameLst>
                                          <p:attrName>style.visibility</p:attrName>
                                        </p:attrNameLst>
                                      </p:cBhvr>
                                      <p:to>
                                        <p:strVal val="visible"/>
                                      </p:to>
                                    </p:set>
                                    <p:animEffect transition="in" filter="blinds(horizontal)">
                                      <p:cBhvr>
                                        <p:cTn id="7" dur="500"/>
                                        <p:tgtEl>
                                          <p:spTgt spid="1679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7937"/>
                                        </p:tgtEl>
                                        <p:attrNameLst>
                                          <p:attrName>style.visibility</p:attrName>
                                        </p:attrNameLst>
                                      </p:cBhvr>
                                      <p:to>
                                        <p:strVal val="visible"/>
                                      </p:to>
                                    </p:set>
                                    <p:animEffect transition="in" filter="blinds(horizontal)">
                                      <p:cBhvr>
                                        <p:cTn id="12" dur="500"/>
                                        <p:tgtEl>
                                          <p:spTgt spid="16793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7941"/>
                                        </p:tgtEl>
                                        <p:attrNameLst>
                                          <p:attrName>style.visibility</p:attrName>
                                        </p:attrNameLst>
                                      </p:cBhvr>
                                      <p:to>
                                        <p:strVal val="visible"/>
                                      </p:to>
                                    </p:set>
                                    <p:animEffect transition="in" filter="blinds(horizontal)">
                                      <p:cBhvr>
                                        <p:cTn id="17" dur="500"/>
                                        <p:tgtEl>
                                          <p:spTgt spid="1679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7944"/>
                                        </p:tgtEl>
                                        <p:attrNameLst>
                                          <p:attrName>style.visibility</p:attrName>
                                        </p:attrNameLst>
                                      </p:cBhvr>
                                      <p:to>
                                        <p:strVal val="visible"/>
                                      </p:to>
                                    </p:set>
                                    <p:animEffect transition="in" filter="blinds(horizontal)">
                                      <p:cBhvr>
                                        <p:cTn id="22" dur="500"/>
                                        <p:tgtEl>
                                          <p:spTgt spid="16794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7943"/>
                                        </p:tgtEl>
                                        <p:attrNameLst>
                                          <p:attrName>style.visibility</p:attrName>
                                        </p:attrNameLst>
                                      </p:cBhvr>
                                      <p:to>
                                        <p:strVal val="visible"/>
                                      </p:to>
                                    </p:set>
                                    <p:animEffect transition="in" filter="blinds(horizontal)">
                                      <p:cBhvr>
                                        <p:cTn id="27" dur="500"/>
                                        <p:tgtEl>
                                          <p:spTgt spid="16794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7942"/>
                                        </p:tgtEl>
                                        <p:attrNameLst>
                                          <p:attrName>style.visibility</p:attrName>
                                        </p:attrNameLst>
                                      </p:cBhvr>
                                      <p:to>
                                        <p:strVal val="visible"/>
                                      </p:to>
                                    </p:set>
                                    <p:animEffect transition="in" filter="blinds(horizontal)">
                                      <p:cBhvr>
                                        <p:cTn id="32" dur="500"/>
                                        <p:tgtEl>
                                          <p:spTgt spid="167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ChangeArrowheads="1"/>
          </p:cNvSpPr>
          <p:nvPr/>
        </p:nvSpPr>
        <p:spPr bwMode="auto">
          <a:xfrm>
            <a:off x="2251713" y="250539"/>
            <a:ext cx="3379101" cy="583510"/>
          </a:xfrm>
          <a:prstGeom prst="rect">
            <a:avLst/>
          </a:prstGeom>
          <a:noFill/>
          <a:ln w="9525">
            <a:noFill/>
            <a:miter lim="800000"/>
            <a:headEnd/>
            <a:tailEnd/>
          </a:ln>
        </p:spPr>
        <p:txBody>
          <a:bodyPr wrap="none" lIns="80154" tIns="40077" rIns="80154" bIns="40077" anchor="ctr">
            <a:spAutoFit/>
          </a:bodyPr>
          <a:lstStyle/>
          <a:p>
            <a:pPr indent="66799" eaLnBrk="0" hangingPunct="0"/>
            <a:r>
              <a:rPr lang="zh-CN" altLang="en-US" sz="1633" dirty="0">
                <a:latin typeface="Times New Roman" pitchFamily="18" charset="0"/>
                <a:cs typeface="Times New Roman" pitchFamily="18" charset="0"/>
              </a:rPr>
              <a:t>动力学链偶合终止生成的大分子占</a:t>
            </a:r>
            <a:endParaRPr lang="zh-CN" altLang="en-US" sz="1633" dirty="0"/>
          </a:p>
          <a:p>
            <a:pPr indent="66799" eaLnBrk="0" hangingPunct="0"/>
            <a:endParaRPr lang="zh-CN" altLang="en-US" sz="1633" dirty="0"/>
          </a:p>
        </p:txBody>
      </p:sp>
      <p:graphicFrame>
        <p:nvGraphicFramePr>
          <p:cNvPr id="168961" name="Object 1"/>
          <p:cNvGraphicFramePr>
            <a:graphicFrameLocks noChangeAspect="1"/>
          </p:cNvGraphicFramePr>
          <p:nvPr/>
        </p:nvGraphicFramePr>
        <p:xfrm>
          <a:off x="3685175" y="802236"/>
          <a:ext cx="1628937" cy="571725"/>
        </p:xfrm>
        <a:graphic>
          <a:graphicData uri="http://schemas.openxmlformats.org/presentationml/2006/ole">
            <mc:AlternateContent xmlns:mc="http://schemas.openxmlformats.org/markup-compatibility/2006">
              <mc:Choice xmlns:v="urn:schemas-microsoft-com:vml" Requires="v">
                <p:oleObj spid="_x0000_s17419" name="公式" r:id="rId3" imgW="1193800" imgH="393700" progId="Equation.3">
                  <p:embed/>
                </p:oleObj>
              </mc:Choice>
              <mc:Fallback>
                <p:oleObj name="公式" r:id="rId3" imgW="1193800" imgH="393700" progId="Equation.3">
                  <p:embed/>
                  <p:pic>
                    <p:nvPicPr>
                      <p:cNvPr id="1689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5175" y="802236"/>
                        <a:ext cx="1628937" cy="57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46" name="Rectangle 3"/>
          <p:cNvSpPr>
            <a:spLocks noChangeArrowheads="1"/>
          </p:cNvSpPr>
          <p:nvPr/>
        </p:nvSpPr>
        <p:spPr bwMode="auto">
          <a:xfrm>
            <a:off x="1524120" y="594359"/>
            <a:ext cx="161938" cy="332224"/>
          </a:xfrm>
          <a:prstGeom prst="rect">
            <a:avLst/>
          </a:prstGeom>
          <a:noFill/>
          <a:ln w="9525">
            <a:noFill/>
            <a:miter lim="800000"/>
            <a:headEnd/>
            <a:tailEnd/>
          </a:ln>
        </p:spPr>
        <p:txBody>
          <a:bodyPr wrap="none" lIns="80154" tIns="40077" rIns="80154" bIns="40077" anchor="ctr">
            <a:spAutoFit/>
          </a:bodyPr>
          <a:lstStyle/>
          <a:p>
            <a:pPr eaLnBrk="0" hangingPunct="0"/>
            <a:endParaRPr lang="zh-CN" altLang="zh-CN" sz="1633"/>
          </a:p>
        </p:txBody>
      </p:sp>
      <p:sp>
        <p:nvSpPr>
          <p:cNvPr id="168965" name="Rectangle 5"/>
          <p:cNvSpPr>
            <a:spLocks noChangeArrowheads="1"/>
          </p:cNvSpPr>
          <p:nvPr/>
        </p:nvSpPr>
        <p:spPr bwMode="auto">
          <a:xfrm>
            <a:off x="2251712" y="1564276"/>
            <a:ext cx="2471801" cy="332224"/>
          </a:xfrm>
          <a:prstGeom prst="rect">
            <a:avLst/>
          </a:prstGeom>
          <a:noFill/>
          <a:ln w="9525">
            <a:noFill/>
            <a:miter lim="800000"/>
            <a:headEnd/>
            <a:tailEnd/>
          </a:ln>
        </p:spPr>
        <p:txBody>
          <a:bodyPr wrap="none" lIns="80154" tIns="40077" rIns="80154" bIns="40077" anchor="ctr">
            <a:spAutoFit/>
          </a:bodyPr>
          <a:lstStyle/>
          <a:p>
            <a:pPr eaLnBrk="0" hangingPunct="0"/>
            <a:r>
              <a:rPr lang="zh-CN" altLang="en-US" sz="1633">
                <a:latin typeface="Times New Roman" pitchFamily="18" charset="0"/>
                <a:cs typeface="Times New Roman" pitchFamily="18" charset="0"/>
              </a:rPr>
              <a:t>转移终止生成的大分子占</a:t>
            </a:r>
            <a:endParaRPr lang="zh-CN" altLang="en-US" sz="1633"/>
          </a:p>
        </p:txBody>
      </p:sp>
      <p:graphicFrame>
        <p:nvGraphicFramePr>
          <p:cNvPr id="168964" name="Object 4"/>
          <p:cNvGraphicFramePr>
            <a:graphicFrameLocks noChangeAspect="1"/>
          </p:cNvGraphicFramePr>
          <p:nvPr/>
        </p:nvGraphicFramePr>
        <p:xfrm>
          <a:off x="2903288" y="1977366"/>
          <a:ext cx="3388187" cy="522761"/>
        </p:xfrm>
        <a:graphic>
          <a:graphicData uri="http://schemas.openxmlformats.org/presentationml/2006/ole">
            <mc:AlternateContent xmlns:mc="http://schemas.openxmlformats.org/markup-compatibility/2006">
              <mc:Choice xmlns:v="urn:schemas-microsoft-com:vml" Requires="v">
                <p:oleObj spid="_x0000_s17420" name="公式" r:id="rId5" imgW="2705100" imgH="393700" progId="Equation.3">
                  <p:embed/>
                </p:oleObj>
              </mc:Choice>
              <mc:Fallback>
                <p:oleObj name="公式" r:id="rId5" imgW="2705100" imgH="393700" progId="Equation.3">
                  <p:embed/>
                  <p:pic>
                    <p:nvPicPr>
                      <p:cNvPr id="16896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3288" y="1977366"/>
                        <a:ext cx="3388187" cy="522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8967" name="Rectangle 7"/>
          <p:cNvSpPr>
            <a:spLocks noChangeArrowheads="1"/>
          </p:cNvSpPr>
          <p:nvPr/>
        </p:nvSpPr>
        <p:spPr bwMode="auto">
          <a:xfrm>
            <a:off x="2316872" y="2726105"/>
            <a:ext cx="7688577" cy="1086084"/>
          </a:xfrm>
          <a:prstGeom prst="rect">
            <a:avLst/>
          </a:prstGeom>
          <a:noFill/>
          <a:ln w="9525">
            <a:noFill/>
            <a:miter lim="800000"/>
            <a:headEnd/>
            <a:tailEnd/>
          </a:ln>
        </p:spPr>
        <p:txBody>
          <a:bodyPr lIns="80154" tIns="40077" rIns="80154" bIns="40077" anchor="ctr">
            <a:spAutoFit/>
          </a:bodyPr>
          <a:lstStyle/>
          <a:p>
            <a:pPr eaLnBrk="0" hangingPunct="0"/>
            <a:r>
              <a:rPr lang="zh-CN" altLang="en-US" sz="1633" dirty="0">
                <a:latin typeface="Times New Roman" pitchFamily="18" charset="0"/>
                <a:cs typeface="Times New Roman" pitchFamily="18" charset="0"/>
              </a:rPr>
              <a:t>在生成的</a:t>
            </a:r>
            <a:r>
              <a:rPr lang="en-US" altLang="zh-CN" sz="1633" dirty="0">
                <a:latin typeface="Times New Roman" pitchFamily="18" charset="0"/>
                <a:cs typeface="Times New Roman" pitchFamily="18" charset="0"/>
              </a:rPr>
              <a:t>100</a:t>
            </a:r>
            <a:r>
              <a:rPr lang="zh-CN" altLang="en-US" sz="1633" dirty="0">
                <a:latin typeface="Times New Roman" pitchFamily="18" charset="0"/>
                <a:cs typeface="Times New Roman" pitchFamily="18" charset="0"/>
              </a:rPr>
              <a:t>个大分子中，有</a:t>
            </a:r>
            <a:r>
              <a:rPr lang="en-US" altLang="zh-CN" sz="1633" dirty="0">
                <a:latin typeface="Times New Roman" pitchFamily="18" charset="0"/>
                <a:cs typeface="Times New Roman" pitchFamily="18" charset="0"/>
              </a:rPr>
              <a:t>55.9</a:t>
            </a:r>
            <a:r>
              <a:rPr lang="zh-CN" altLang="en-US" sz="1633" dirty="0">
                <a:latin typeface="Times New Roman" pitchFamily="18" charset="0"/>
                <a:cs typeface="Times New Roman" pitchFamily="18" charset="0"/>
              </a:rPr>
              <a:t>个来自于自由基的双基偶合终止，有</a:t>
            </a:r>
            <a:r>
              <a:rPr lang="en-US" altLang="zh-CN" sz="1633" dirty="0">
                <a:latin typeface="Times New Roman" pitchFamily="18" charset="0"/>
                <a:cs typeface="Times New Roman" pitchFamily="18" charset="0"/>
              </a:rPr>
              <a:t>44.1</a:t>
            </a:r>
            <a:r>
              <a:rPr lang="zh-CN" altLang="en-US" sz="1633" dirty="0">
                <a:latin typeface="Times New Roman" pitchFamily="18" charset="0"/>
                <a:cs typeface="Times New Roman" pitchFamily="18" charset="0"/>
              </a:rPr>
              <a:t>个来自于自由基的链转移终止。其中，偶合终止是由</a:t>
            </a:r>
            <a:r>
              <a:rPr lang="en-US" altLang="zh-CN" sz="1633" dirty="0">
                <a:latin typeface="Times New Roman" pitchFamily="18" charset="0"/>
                <a:cs typeface="Times New Roman" pitchFamily="18" charset="0"/>
              </a:rPr>
              <a:t>2×55.9</a:t>
            </a:r>
            <a:r>
              <a:rPr lang="zh-CN" altLang="en-US" sz="1633" dirty="0">
                <a:latin typeface="Times New Roman" pitchFamily="18" charset="0"/>
                <a:cs typeface="Times New Roman" pitchFamily="18" charset="0"/>
              </a:rPr>
              <a:t>个自由基偶合而生成的，链转移终止是由</a:t>
            </a:r>
            <a:r>
              <a:rPr lang="en-US" altLang="zh-CN" sz="1633" dirty="0">
                <a:latin typeface="Times New Roman" pitchFamily="18" charset="0"/>
                <a:cs typeface="Times New Roman" pitchFamily="18" charset="0"/>
              </a:rPr>
              <a:t>44.1</a:t>
            </a:r>
            <a:r>
              <a:rPr lang="zh-CN" altLang="en-US" sz="1633" dirty="0">
                <a:latin typeface="Times New Roman" pitchFamily="18" charset="0"/>
                <a:cs typeface="Times New Roman" pitchFamily="18" charset="0"/>
              </a:rPr>
              <a:t>个自由基向单体或溶剂或引发剂转移而形成的。这样，平均一个自由基链发生偶合终止，就有</a:t>
            </a:r>
            <a:endParaRPr lang="zh-CN" altLang="en-US" sz="1633" dirty="0"/>
          </a:p>
        </p:txBody>
      </p:sp>
      <p:graphicFrame>
        <p:nvGraphicFramePr>
          <p:cNvPr id="168966" name="Object 6"/>
          <p:cNvGraphicFramePr>
            <a:graphicFrameLocks noChangeAspect="1"/>
          </p:cNvGraphicFramePr>
          <p:nvPr/>
        </p:nvGraphicFramePr>
        <p:xfrm>
          <a:off x="3294231" y="3982003"/>
          <a:ext cx="1756536" cy="760380"/>
        </p:xfrm>
        <a:graphic>
          <a:graphicData uri="http://schemas.openxmlformats.org/presentationml/2006/ole">
            <mc:AlternateContent xmlns:mc="http://schemas.openxmlformats.org/markup-compatibility/2006">
              <mc:Choice xmlns:v="urn:schemas-microsoft-com:vml" Requires="v">
                <p:oleObj spid="_x0000_s17421" name="公式" r:id="rId7" imgW="965200" imgH="393700" progId="Equation.3">
                  <p:embed/>
                </p:oleObj>
              </mc:Choice>
              <mc:Fallback>
                <p:oleObj name="公式" r:id="rId7" imgW="965200" imgH="393700" progId="Equation.3">
                  <p:embed/>
                  <p:pic>
                    <p:nvPicPr>
                      <p:cNvPr id="168966"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4231" y="3982003"/>
                        <a:ext cx="1756536" cy="760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8968" name="Rectangle 8"/>
          <p:cNvSpPr>
            <a:spLocks noChangeArrowheads="1"/>
          </p:cNvSpPr>
          <p:nvPr/>
        </p:nvSpPr>
        <p:spPr bwMode="auto">
          <a:xfrm>
            <a:off x="2382029" y="4980592"/>
            <a:ext cx="7623420" cy="583510"/>
          </a:xfrm>
          <a:prstGeom prst="rect">
            <a:avLst/>
          </a:prstGeom>
          <a:noFill/>
          <a:ln w="9525">
            <a:noFill/>
            <a:miter lim="800000"/>
            <a:headEnd/>
            <a:tailEnd/>
          </a:ln>
        </p:spPr>
        <p:txBody>
          <a:bodyPr lIns="80154" tIns="40077" rIns="80154" bIns="40077" anchor="ctr">
            <a:spAutoFit/>
          </a:bodyPr>
          <a:lstStyle/>
          <a:p>
            <a:pPr eaLnBrk="0" hangingPunct="0"/>
            <a:r>
              <a:rPr lang="zh-CN" altLang="en-US" sz="1633" dirty="0">
                <a:latin typeface="Times New Roman" pitchFamily="18" charset="0"/>
                <a:cs typeface="Times New Roman" pitchFamily="18" charset="0"/>
              </a:rPr>
              <a:t>个链自由基发生链转移终止，也就是说，平均来讲，一个自由基链在进行动力学终止失去活性前转移了</a:t>
            </a:r>
            <a:r>
              <a:rPr lang="en-US" altLang="zh-CN" sz="1633" dirty="0">
                <a:latin typeface="Times New Roman" pitchFamily="18" charset="0"/>
                <a:cs typeface="Times New Roman" pitchFamily="18" charset="0"/>
              </a:rPr>
              <a:t>0.39</a:t>
            </a:r>
            <a:r>
              <a:rPr lang="zh-CN" altLang="en-US" sz="1633" dirty="0">
                <a:latin typeface="Times New Roman" pitchFamily="18" charset="0"/>
                <a:cs typeface="Times New Roman" pitchFamily="18" charset="0"/>
              </a:rPr>
              <a:t>次。</a:t>
            </a:r>
            <a:r>
              <a:rPr lang="zh-CN" altLang="en-US" sz="1633" dirty="0"/>
              <a:t> </a:t>
            </a:r>
          </a:p>
        </p:txBody>
      </p:sp>
    </p:spTree>
    <p:extLst>
      <p:ext uri="{BB962C8B-B14F-4D97-AF65-F5344CB8AC3E}">
        <p14:creationId xmlns:p14="http://schemas.microsoft.com/office/powerpoint/2010/main" val="14645551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8961"/>
                                        </p:tgtEl>
                                        <p:attrNameLst>
                                          <p:attrName>style.visibility</p:attrName>
                                        </p:attrNameLst>
                                      </p:cBhvr>
                                      <p:to>
                                        <p:strVal val="visible"/>
                                      </p:to>
                                    </p:set>
                                    <p:animEffect transition="in" filter="blinds(horizontal)">
                                      <p:cBhvr>
                                        <p:cTn id="7" dur="500"/>
                                        <p:tgtEl>
                                          <p:spTgt spid="1689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8965"/>
                                        </p:tgtEl>
                                        <p:attrNameLst>
                                          <p:attrName>style.visibility</p:attrName>
                                        </p:attrNameLst>
                                      </p:cBhvr>
                                      <p:to>
                                        <p:strVal val="visible"/>
                                      </p:to>
                                    </p:set>
                                    <p:animEffect transition="in" filter="blinds(horizontal)">
                                      <p:cBhvr>
                                        <p:cTn id="12" dur="500"/>
                                        <p:tgtEl>
                                          <p:spTgt spid="16896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8964"/>
                                        </p:tgtEl>
                                        <p:attrNameLst>
                                          <p:attrName>style.visibility</p:attrName>
                                        </p:attrNameLst>
                                      </p:cBhvr>
                                      <p:to>
                                        <p:strVal val="visible"/>
                                      </p:to>
                                    </p:set>
                                    <p:animEffect transition="in" filter="blinds(horizontal)">
                                      <p:cBhvr>
                                        <p:cTn id="17" dur="500"/>
                                        <p:tgtEl>
                                          <p:spTgt spid="16896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8967"/>
                                        </p:tgtEl>
                                        <p:attrNameLst>
                                          <p:attrName>style.visibility</p:attrName>
                                        </p:attrNameLst>
                                      </p:cBhvr>
                                      <p:to>
                                        <p:strVal val="visible"/>
                                      </p:to>
                                    </p:set>
                                    <p:animEffect transition="in" filter="blinds(horizontal)">
                                      <p:cBhvr>
                                        <p:cTn id="22" dur="500"/>
                                        <p:tgtEl>
                                          <p:spTgt spid="16896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8966"/>
                                        </p:tgtEl>
                                        <p:attrNameLst>
                                          <p:attrName>style.visibility</p:attrName>
                                        </p:attrNameLst>
                                      </p:cBhvr>
                                      <p:to>
                                        <p:strVal val="visible"/>
                                      </p:to>
                                    </p:set>
                                    <p:animEffect transition="in" filter="blinds(horizontal)">
                                      <p:cBhvr>
                                        <p:cTn id="27" dur="500"/>
                                        <p:tgtEl>
                                          <p:spTgt spid="16896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8968"/>
                                        </p:tgtEl>
                                        <p:attrNameLst>
                                          <p:attrName>style.visibility</p:attrName>
                                        </p:attrNameLst>
                                      </p:cBhvr>
                                      <p:to>
                                        <p:strVal val="visible"/>
                                      </p:to>
                                    </p:set>
                                    <p:animEffect transition="in" filter="blinds(horizontal)">
                                      <p:cBhvr>
                                        <p:cTn id="32" dur="500"/>
                                        <p:tgtEl>
                                          <p:spTgt spid="168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5" grpId="0"/>
      <p:bldP spid="168967" grpId="0"/>
      <p:bldP spid="16896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Box 1"/>
          <p:cNvSpPr txBox="1">
            <a:spLocks noChangeArrowheads="1"/>
          </p:cNvSpPr>
          <p:nvPr/>
        </p:nvSpPr>
        <p:spPr bwMode="auto">
          <a:xfrm>
            <a:off x="5254975" y="483970"/>
            <a:ext cx="1679947" cy="456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3175"/>
              </a:lnSpc>
            </a:pPr>
            <a:r>
              <a:rPr lang="en-US" altLang="zh-CN" sz="3266" b="1">
                <a:latin typeface="楷体" panose="02010609060101010101" pitchFamily="49" charset="-122"/>
                <a:ea typeface="楷体" panose="02010609060101010101" pitchFamily="49" charset="-122"/>
                <a:cs typeface="楷体_GB2312"/>
              </a:rPr>
              <a:t>本章小结</a:t>
            </a:r>
          </a:p>
        </p:txBody>
      </p:sp>
      <p:sp>
        <p:nvSpPr>
          <p:cNvPr id="139267" name="TextBox 1"/>
          <p:cNvSpPr txBox="1">
            <a:spLocks noChangeArrowheads="1"/>
          </p:cNvSpPr>
          <p:nvPr/>
        </p:nvSpPr>
        <p:spPr bwMode="auto">
          <a:xfrm>
            <a:off x="2443873" y="1264512"/>
            <a:ext cx="7120539"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单体聚合能力：热力学(△</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E</a:t>
            </a:r>
            <a:r>
              <a:rPr lang="en-US" altLang="zh-CN" sz="2177">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S</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T</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P</a:t>
            </a:r>
            <a:r>
              <a:rPr lang="en-US" altLang="zh-CN" sz="2177">
                <a:latin typeface="Times New Roman" panose="02020603050405020304" pitchFamily="18" charset="0"/>
                <a:ea typeface="楷体" panose="02010609060101010101" pitchFamily="49" charset="-122"/>
                <a:cs typeface="Times New Roman" panose="02020603050405020304" pitchFamily="18" charset="0"/>
              </a:rPr>
              <a:t>)；动力学（空</a:t>
            </a:r>
          </a:p>
        </p:txBody>
      </p:sp>
      <p:sp>
        <p:nvSpPr>
          <p:cNvPr id="139268" name="TextBox 1"/>
          <p:cNvSpPr txBox="1">
            <a:spLocks noChangeArrowheads="1"/>
          </p:cNvSpPr>
          <p:nvPr/>
        </p:nvSpPr>
        <p:spPr bwMode="auto">
          <a:xfrm>
            <a:off x="2754937" y="1598619"/>
            <a:ext cx="4927631"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间效应-聚合能力，电子效应-聚合类型）</a:t>
            </a:r>
          </a:p>
        </p:txBody>
      </p:sp>
      <p:sp>
        <p:nvSpPr>
          <p:cNvPr id="139269" name="TextBox 1"/>
          <p:cNvSpPr txBox="1">
            <a:spLocks noChangeArrowheads="1"/>
          </p:cNvSpPr>
          <p:nvPr/>
        </p:nvSpPr>
        <p:spPr bwMode="auto">
          <a:xfrm>
            <a:off x="2443873" y="1978807"/>
            <a:ext cx="7282443" cy="131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42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42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42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42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42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自由基基元反应每步反应特征，自由基聚合反应特征</a:t>
            </a:r>
          </a:p>
          <a:p>
            <a:pPr eaLnBrk="1" hangingPunct="1">
              <a:lnSpc>
                <a:spcPts val="2994"/>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常用引发剂的种类和符号，引发剂分解反应式，表征方法</a:t>
            </a:r>
          </a:p>
          <a:p>
            <a:pPr eaLnBrk="1" hangingPunct="1">
              <a:lnSpc>
                <a:spcPts val="2449"/>
              </a:lnSpc>
            </a:pPr>
            <a:r>
              <a:rPr lang="en-US" altLang="zh-CN" sz="1633">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a:latin typeface="Times New Roman" panose="02020603050405020304" pitchFamily="18" charset="0"/>
                <a:ea typeface="楷体" panose="02010609060101010101" pitchFamily="49" charset="-122"/>
                <a:cs typeface="Times New Roman" panose="02020603050405020304" pitchFamily="18" charset="0"/>
              </a:rPr>
              <a:t>(四个参数)，引发剂效率，诱导效应，笼蔽效应，引发剂</a:t>
            </a:r>
          </a:p>
          <a:p>
            <a:pPr eaLnBrk="1" hangingPunct="1">
              <a:lnSpc>
                <a:spcPts val="2449"/>
              </a:lnSpc>
            </a:pPr>
            <a:r>
              <a:rPr lang="en-US" altLang="zh-CN" sz="1633">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a:latin typeface="Times New Roman" panose="02020603050405020304" pitchFamily="18" charset="0"/>
                <a:ea typeface="楷体" panose="02010609060101010101" pitchFamily="49" charset="-122"/>
                <a:cs typeface="Times New Roman" panose="02020603050405020304" pitchFamily="18" charset="0"/>
              </a:rPr>
              <a:t>选择原则</a:t>
            </a:r>
          </a:p>
        </p:txBody>
      </p:sp>
      <p:sp>
        <p:nvSpPr>
          <p:cNvPr id="139270" name="TextBox 1"/>
          <p:cNvSpPr txBox="1">
            <a:spLocks noChangeArrowheads="1"/>
          </p:cNvSpPr>
          <p:nvPr/>
        </p:nvSpPr>
        <p:spPr bwMode="auto">
          <a:xfrm>
            <a:off x="2443874" y="3372838"/>
            <a:ext cx="7319311" cy="123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tabLst>
                <a:tab pos="342900" algn="l"/>
              </a:tabLst>
              <a:defRPr>
                <a:solidFill>
                  <a:schemeClr val="tx1"/>
                </a:solidFill>
                <a:latin typeface="Calibri" panose="020F0502020204030204" pitchFamily="34" charset="0"/>
                <a:ea typeface="宋体" panose="02010600030101010101" pitchFamily="2" charset="-122"/>
              </a:defRPr>
            </a:lvl1pPr>
            <a:lvl2pPr marL="742950" indent="-285750" eaLnBrk="0" hangingPunct="0">
              <a:tabLst>
                <a:tab pos="342900" algn="l"/>
              </a:tabLst>
              <a:defRPr>
                <a:solidFill>
                  <a:schemeClr val="tx1"/>
                </a:solidFill>
                <a:latin typeface="Calibri" panose="020F0502020204030204" pitchFamily="34" charset="0"/>
                <a:ea typeface="宋体" panose="02010600030101010101" pitchFamily="2" charset="-122"/>
              </a:defRPr>
            </a:lvl2pPr>
            <a:lvl3pPr marL="1143000" indent="-228600" eaLnBrk="0" hangingPunct="0">
              <a:tabLst>
                <a:tab pos="342900" algn="l"/>
              </a:tabLst>
              <a:defRPr>
                <a:solidFill>
                  <a:schemeClr val="tx1"/>
                </a:solidFill>
                <a:latin typeface="Calibri" panose="020F0502020204030204" pitchFamily="34" charset="0"/>
                <a:ea typeface="宋体" panose="02010600030101010101" pitchFamily="2" charset="-122"/>
              </a:defRPr>
            </a:lvl3pPr>
            <a:lvl4pPr marL="1600200" indent="-228600" eaLnBrk="0" hangingPunct="0">
              <a:tabLst>
                <a:tab pos="342900" algn="l"/>
              </a:tabLst>
              <a:defRPr>
                <a:solidFill>
                  <a:schemeClr val="tx1"/>
                </a:solidFill>
                <a:latin typeface="Calibri" panose="020F0502020204030204" pitchFamily="34" charset="0"/>
                <a:ea typeface="宋体" panose="02010600030101010101" pitchFamily="2" charset="-122"/>
              </a:defRPr>
            </a:lvl4pPr>
            <a:lvl5pPr marL="2057400" indent="-228600" eaLnBrk="0" hangingPunct="0">
              <a:tabLst>
                <a:tab pos="342900" algn="l"/>
              </a:tabLst>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tabLst>
                <a:tab pos="342900" algn="l"/>
              </a:tabLs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聚合动力学：聚合初期：三个假设，四个条件，反应级数</a:t>
            </a:r>
          </a:p>
          <a:p>
            <a:pPr eaLnBrk="1" hangingPunct="1">
              <a:lnSpc>
                <a:spcPts val="2449"/>
              </a:lnSpc>
            </a:pPr>
            <a:r>
              <a:rPr lang="en-US" altLang="zh-CN" sz="1633">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a:latin typeface="Times New Roman" panose="02020603050405020304" pitchFamily="18" charset="0"/>
                <a:ea typeface="楷体" panose="02010609060101010101" pitchFamily="49" charset="-122"/>
                <a:cs typeface="Times New Roman" panose="02020603050405020304" pitchFamily="18" charset="0"/>
              </a:rPr>
              <a:t>的变化，影响速率的四因素(</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M</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I</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T</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P</a:t>
            </a:r>
            <a:r>
              <a:rPr lang="en-US" altLang="zh-CN" sz="2177">
                <a:latin typeface="Times New Roman" panose="02020603050405020304" pitchFamily="18" charset="0"/>
                <a:ea typeface="楷体" panose="02010609060101010101" pitchFamily="49" charset="-122"/>
                <a:cs typeface="Times New Roman" panose="02020603050405020304" pitchFamily="18" charset="0"/>
              </a:rPr>
              <a:t>)；聚合中后期</a:t>
            </a:r>
          </a:p>
          <a:p>
            <a:pPr eaLnBrk="1" hangingPunct="1">
              <a:lnSpc>
                <a:spcPts val="2449"/>
              </a:lnSpc>
            </a:pPr>
            <a:r>
              <a:rPr lang="en-US" altLang="zh-CN" sz="1633">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a:latin typeface="Times New Roman" panose="02020603050405020304" pitchFamily="18" charset="0"/>
                <a:ea typeface="楷体" panose="02010609060101010101" pitchFamily="49" charset="-122"/>
                <a:cs typeface="Times New Roman" panose="02020603050405020304" pitchFamily="18" charset="0"/>
              </a:rPr>
              <a:t>的反应速率的研究：自动加速现象，凝胶效应，沉淀效应</a:t>
            </a:r>
          </a:p>
          <a:p>
            <a:pPr eaLnBrk="1" hangingPunct="1">
              <a:lnSpc>
                <a:spcPts val="2449"/>
              </a:lnSpc>
            </a:pPr>
            <a:r>
              <a:rPr lang="en-US" altLang="zh-CN" sz="1633">
                <a:latin typeface="Times New Roman" panose="02020603050405020304" pitchFamily="18" charset="0"/>
                <a:ea typeface="楷体" panose="02010609060101010101" pitchFamily="49" charset="-122"/>
                <a:cs typeface="Times New Roman" panose="02020603050405020304" pitchFamily="18" charset="0"/>
              </a:rPr>
              <a:t>	</a:t>
            </a:r>
            <a:r>
              <a:rPr lang="en-US" altLang="zh-CN" sz="2177">
                <a:latin typeface="Times New Roman" panose="02020603050405020304" pitchFamily="18" charset="0"/>
                <a:ea typeface="楷体" panose="02010609060101010101" pitchFamily="49" charset="-122"/>
                <a:cs typeface="Times New Roman" panose="02020603050405020304" pitchFamily="18" charset="0"/>
              </a:rPr>
              <a:t>；聚合反应类型</a:t>
            </a:r>
          </a:p>
        </p:txBody>
      </p:sp>
      <p:sp>
        <p:nvSpPr>
          <p:cNvPr id="139271" name="TextBox 1"/>
          <p:cNvSpPr txBox="1">
            <a:spLocks noChangeArrowheads="1"/>
          </p:cNvSpPr>
          <p:nvPr/>
        </p:nvSpPr>
        <p:spPr bwMode="auto">
          <a:xfrm>
            <a:off x="2443872" y="4697743"/>
            <a:ext cx="7003520"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相对分子质量：动力学链长，聚合度及影响其的四因素</a:t>
            </a:r>
          </a:p>
        </p:txBody>
      </p:sp>
      <p:sp>
        <p:nvSpPr>
          <p:cNvPr id="139272" name="TextBox 1"/>
          <p:cNvSpPr txBox="1">
            <a:spLocks noChangeArrowheads="1"/>
          </p:cNvSpPr>
          <p:nvPr/>
        </p:nvSpPr>
        <p:spPr bwMode="auto">
          <a:xfrm>
            <a:off x="2754937" y="4997286"/>
            <a:ext cx="2029402"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268"/>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M</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I</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T</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r>
              <a:rPr lang="en-US" altLang="zh-CN" sz="2177" b="1">
                <a:latin typeface="Times New Roman" panose="02020603050405020304" pitchFamily="18" charset="0"/>
                <a:ea typeface="楷体" panose="02010609060101010101" pitchFamily="49" charset="-122"/>
                <a:cs typeface="Times New Roman" panose="02020603050405020304" pitchFamily="18" charset="0"/>
              </a:rPr>
              <a:t>P</a:t>
            </a:r>
            <a:r>
              <a:rPr lang="en-US" altLang="zh-CN" sz="2177">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39273" name="TextBox 1"/>
          <p:cNvSpPr txBox="1">
            <a:spLocks noChangeArrowheads="1"/>
          </p:cNvSpPr>
          <p:nvPr/>
        </p:nvSpPr>
        <p:spPr bwMode="auto">
          <a:xfrm>
            <a:off x="2443873" y="5400518"/>
            <a:ext cx="6445675"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ts val="2087"/>
              </a:lnSpc>
            </a:pPr>
            <a:r>
              <a:rPr lang="en-US" altLang="zh-CN" sz="2177">
                <a:latin typeface="Times New Roman" panose="02020603050405020304" pitchFamily="18" charset="0"/>
                <a:ea typeface="楷体" panose="02010609060101010101" pitchFamily="49" charset="-122"/>
                <a:cs typeface="Times New Roman" panose="02020603050405020304" pitchFamily="18" charset="0"/>
              </a:rPr>
              <a:t>•   链转移：类型，聚合度，动力学分析，阻聚与缓聚</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课后练习</a:t>
            </a:r>
          </a:p>
        </p:txBody>
      </p:sp>
      <p:sp>
        <p:nvSpPr>
          <p:cNvPr id="3" name="内容占位符 2"/>
          <p:cNvSpPr>
            <a:spLocks noGrp="1"/>
          </p:cNvSpPr>
          <p:nvPr>
            <p:ph idx="1"/>
          </p:nvPr>
        </p:nvSpPr>
        <p:spPr/>
        <p:txBody>
          <a:bodyPr/>
          <a:lstStyle/>
          <a:p>
            <a:r>
              <a:rPr lang="en-US" altLang="zh-CN" dirty="0"/>
              <a:t>P115,</a:t>
            </a:r>
            <a:r>
              <a:rPr lang="zh-CN" altLang="en-US" dirty="0"/>
              <a:t>思考题</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7</a:t>
            </a:r>
            <a:r>
              <a:rPr lang="zh-CN" altLang="en-US" dirty="0"/>
              <a:t>、</a:t>
            </a:r>
            <a:r>
              <a:rPr lang="en-US" altLang="zh-CN" dirty="0"/>
              <a:t>17</a:t>
            </a:r>
            <a:endParaRPr lang="zh-CN" altLang="en-US" dirty="0"/>
          </a:p>
          <a:p>
            <a:r>
              <a:rPr lang="en-US" altLang="zh-CN" dirty="0"/>
              <a:t>P116</a:t>
            </a:r>
            <a:r>
              <a:rPr lang="zh-CN" altLang="en-US" dirty="0"/>
              <a:t>，计算题</a:t>
            </a:r>
            <a:r>
              <a:rPr lang="en-US" altLang="zh-CN" dirty="0"/>
              <a:t>1</a:t>
            </a:r>
            <a:r>
              <a:rPr lang="zh-CN" altLang="en-US" dirty="0"/>
              <a:t>、</a:t>
            </a:r>
            <a:r>
              <a:rPr lang="en-US" altLang="zh-CN" dirty="0"/>
              <a:t>7</a:t>
            </a:r>
            <a:r>
              <a:rPr lang="zh-CN" altLang="en-US" dirty="0"/>
              <a:t>；</a:t>
            </a:r>
            <a:endParaRPr lang="en-US" altLang="zh-CN" dirty="0"/>
          </a:p>
        </p:txBody>
      </p:sp>
    </p:spTree>
    <p:extLst>
      <p:ext uri="{BB962C8B-B14F-4D97-AF65-F5344CB8AC3E}">
        <p14:creationId xmlns:p14="http://schemas.microsoft.com/office/powerpoint/2010/main" val="20170277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5746</Words>
  <Application>Microsoft Office PowerPoint</Application>
  <PresentationFormat>宽屏</PresentationFormat>
  <Paragraphs>1322</Paragraphs>
  <Slides>102</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102</vt:i4>
      </vt:variant>
    </vt:vector>
  </HeadingPairs>
  <TitlesOfParts>
    <vt:vector size="118" baseType="lpstr">
      <vt:lpstr>Adobe 楷体 Std R</vt:lpstr>
      <vt:lpstr>等线</vt:lpstr>
      <vt:lpstr>等线 Light</vt:lpstr>
      <vt:lpstr>黑体</vt:lpstr>
      <vt:lpstr>楷体</vt:lpstr>
      <vt:lpstr>楷体_GB2312</vt:lpstr>
      <vt:lpstr>宋体</vt:lpstr>
      <vt:lpstr>Arial</vt:lpstr>
      <vt:lpstr>Calibri</vt:lpstr>
      <vt:lpstr>MT Extra</vt:lpstr>
      <vt:lpstr>Symbol</vt:lpstr>
      <vt:lpstr>Times New Roman</vt:lpstr>
      <vt:lpstr>Wingdings</vt:lpstr>
      <vt:lpstr>Office 主题​​</vt:lpstr>
      <vt:lpstr>CS ChemDraw Drawing</vt:lpstr>
      <vt:lpstr>公式</vt:lpstr>
      <vt:lpstr>第三章 自由基聚合 Free Radical Polymerization</vt:lpstr>
      <vt:lpstr>自由基聚合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链引发 Initiation and Start</vt:lpstr>
      <vt:lpstr>链增长 Propagation</vt:lpstr>
      <vt:lpstr>链终止 Termination</vt:lpstr>
      <vt:lpstr>(1) 等活性理论</vt:lpstr>
      <vt:lpstr>(2) 稳态处理(the steady-state assumption)</vt:lpstr>
      <vt:lpstr>(3) 聚合总速率等于链增长速率</vt:lpstr>
      <vt:lpstr>自由基聚合微观动力学</vt:lpstr>
      <vt:lpstr>自由基聚合微观动力学</vt:lpstr>
      <vt:lpstr>自由基聚合基元反应速率常数 Rate Constants of Free Radical Polymerization</vt:lpstr>
      <vt:lpstr>温度对聚合速率的影响 Effect of Temperature on the Rate Constants</vt:lpstr>
      <vt:lpstr>Summary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自由基聚合 Free Radical Polymerization</dc:title>
  <dc:creator>朱健</dc:creator>
  <cp:lastModifiedBy>朱健</cp:lastModifiedBy>
  <cp:revision>3</cp:revision>
  <dcterms:created xsi:type="dcterms:W3CDTF">2024-10-15T01:07:39Z</dcterms:created>
  <dcterms:modified xsi:type="dcterms:W3CDTF">2024-10-15T01:17:00Z</dcterms:modified>
</cp:coreProperties>
</file>