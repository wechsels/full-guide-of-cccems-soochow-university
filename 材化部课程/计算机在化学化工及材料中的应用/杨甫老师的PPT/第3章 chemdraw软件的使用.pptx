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256" r:id="rId2"/>
    <p:sldId id="277" r:id="rId3"/>
    <p:sldId id="257" r:id="rId4"/>
    <p:sldId id="278" r:id="rId5"/>
    <p:sldId id="279" r:id="rId6"/>
    <p:sldId id="280" r:id="rId7"/>
    <p:sldId id="296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95" r:id="rId16"/>
    <p:sldId id="28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7" autoAdjust="0"/>
    <p:restoredTop sz="92238" autoAdjust="0"/>
  </p:normalViewPr>
  <p:slideViewPr>
    <p:cSldViewPr snapToGrid="0">
      <p:cViewPr>
        <p:scale>
          <a:sx n="100" d="100"/>
          <a:sy n="100" d="100"/>
        </p:scale>
        <p:origin x="4290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CCD9D-F7C5-4A50-9303-0DA75654C79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20A97-7007-48DD-9538-D649A318F2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61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20A97-7007-48DD-9538-D649A318F2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23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20A97-7007-48DD-9538-D649A318F2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07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20A97-7007-48DD-9538-D649A318F2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095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20A97-7007-48DD-9538-D649A318F2F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570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20A97-7007-48DD-9538-D649A318F2F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615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69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D5673-EBDA-49C8-8BF5-B50CCEF1D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D50D47-A735-4707-97C1-D18FC62E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D187A9-ADBB-4411-8D2B-FB7B024C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E141A9-DCEE-48BE-BDC2-8DC34ACF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10">
            <a:extLst>
              <a:ext uri="{FF2B5EF4-FFF2-40B4-BE49-F238E27FC236}">
                <a16:creationId xmlns:a16="http://schemas.microsoft.com/office/drawing/2014/main" id="{81661AAE-8FE7-4F46-BABA-1B27230DBF1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0" y="687624"/>
            <a:ext cx="91440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cxnSp>
    </p:spTree>
    <p:extLst>
      <p:ext uri="{BB962C8B-B14F-4D97-AF65-F5344CB8AC3E}">
        <p14:creationId xmlns:p14="http://schemas.microsoft.com/office/powerpoint/2010/main" val="292108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08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97C6A-A1A1-4EC2-B52C-41207CDD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025" y="-311149"/>
            <a:ext cx="7886700" cy="1325563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E234F4-193E-4294-964F-1E4C8959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ECC887-6905-46E1-9161-AEFB1FBD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5E32B1-BC74-40FD-BE5D-B0467EE4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10">
            <a:extLst>
              <a:ext uri="{FF2B5EF4-FFF2-40B4-BE49-F238E27FC236}">
                <a16:creationId xmlns:a16="http://schemas.microsoft.com/office/drawing/2014/main" id="{F82C04F0-0C26-4955-9B1A-39D228B5AED3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0" y="659049"/>
            <a:ext cx="91440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cxnSp>
    </p:spTree>
    <p:extLst>
      <p:ext uri="{BB962C8B-B14F-4D97-AF65-F5344CB8AC3E}">
        <p14:creationId xmlns:p14="http://schemas.microsoft.com/office/powerpoint/2010/main" val="208313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4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97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88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17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9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5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316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139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0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5B95C-7AAF-4442-8801-EFAA093DBA64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DDD87-1EB3-43F0-830D-B9D3E2A7E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38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20" r:id="rId2"/>
    <p:sldLayoutId id="2147483710" r:id="rId3"/>
    <p:sldLayoutId id="2147483721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hyperlink" Target="https://upimg.baike.so.com/doc/5458006-5696394.html" TargetMode="External"/><Relationship Id="rId5" Type="http://schemas.openxmlformats.org/officeDocument/2006/relationships/hyperlink" Target="https://upimg.baike.so.com/doc/6720788-6934839.html" TargetMode="External"/><Relationship Id="rId4" Type="http://schemas.openxmlformats.org/officeDocument/2006/relationships/hyperlink" Target="https://upimg.baike.so.com/doc/5708960-5921681.html" TargetMode="External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5.png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93EFFFE-4EE5-421C-A57C-EA473E2467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56015"/>
            <a:ext cx="1115516" cy="1131285"/>
          </a:xfrm>
          <a:prstGeom prst="rect">
            <a:avLst/>
          </a:prstGeom>
        </p:spPr>
      </p:pic>
      <p:sp>
        <p:nvSpPr>
          <p:cNvPr id="11" name="Text Box 10">
            <a:extLst>
              <a:ext uri="{FF2B5EF4-FFF2-40B4-BE49-F238E27FC236}">
                <a16:creationId xmlns:a16="http://schemas.microsoft.com/office/drawing/2014/main" id="{FF3986E3-D91D-478D-AC66-48A9D2803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36967"/>
            <a:ext cx="9144000" cy="65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kumimoji="1" lang="zh-CN" altLang="en-US" sz="3200" b="1" dirty="0">
                <a:latin typeface="+mn-ea"/>
                <a:cs typeface="+mn-ea"/>
              </a:rPr>
              <a:t> </a:t>
            </a:r>
            <a:r>
              <a:rPr kumimoji="1" lang="zh-CN" altLang="en-US" sz="2000" b="1" dirty="0">
                <a:latin typeface="+mn-ea"/>
                <a:cs typeface="+mn-ea"/>
              </a:rPr>
              <a:t>材料与化学化工学部</a:t>
            </a:r>
          </a:p>
        </p:txBody>
      </p:sp>
      <p:sp>
        <p:nvSpPr>
          <p:cNvPr id="6" name="矩形 13">
            <a:extLst>
              <a:ext uri="{FF2B5EF4-FFF2-40B4-BE49-F238E27FC236}">
                <a16:creationId xmlns:a16="http://schemas.microsoft.com/office/drawing/2014/main" id="{27F6F406-6407-4684-ADA4-B8E198B71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03" y="1669380"/>
            <a:ext cx="8112794" cy="9069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4000" b="1" dirty="0" err="1">
                <a:solidFill>
                  <a:srgbClr val="0000FF"/>
                </a:solidFill>
                <a:latin typeface="+mn-ea"/>
                <a:cs typeface="+mn-ea"/>
              </a:rPr>
              <a:t>Chemdraw</a:t>
            </a:r>
            <a:r>
              <a:rPr kumimoji="1" lang="en-US" altLang="zh-CN" sz="4000" b="1" dirty="0">
                <a:solidFill>
                  <a:srgbClr val="0000FF"/>
                </a:solidFill>
                <a:latin typeface="+mn-ea"/>
                <a:cs typeface="+mn-ea"/>
              </a:rPr>
              <a:t> </a:t>
            </a:r>
            <a:r>
              <a:rPr kumimoji="1" lang="zh-CN" altLang="en-US" sz="4000" b="1" dirty="0">
                <a:solidFill>
                  <a:srgbClr val="0000FF"/>
                </a:solidFill>
                <a:latin typeface="+mn-ea"/>
                <a:cs typeface="+mn-ea"/>
              </a:rPr>
              <a:t>软件的使用</a:t>
            </a:r>
          </a:p>
        </p:txBody>
      </p:sp>
      <p:sp>
        <p:nvSpPr>
          <p:cNvPr id="13" name="副标题 4">
            <a:extLst>
              <a:ext uri="{FF2B5EF4-FFF2-40B4-BE49-F238E27FC236}">
                <a16:creationId xmlns:a16="http://schemas.microsoft.com/office/drawing/2014/main" id="{4AD17E88-A594-41C3-B95D-5C04DB87A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59735"/>
            <a:ext cx="6858000" cy="823658"/>
          </a:xfrm>
        </p:spPr>
        <p:txBody>
          <a:bodyPr>
            <a:normAutofit/>
          </a:bodyPr>
          <a:lstStyle/>
          <a:p>
            <a:r>
              <a:rPr kumimoji="1" lang="zh-CN" altLang="en-US" sz="3600" b="1" dirty="0">
                <a:solidFill>
                  <a:schemeClr val="accent5">
                    <a:lumMod val="50000"/>
                  </a:schemeClr>
                </a:solidFill>
                <a:latin typeface="+mn-ea"/>
                <a:cs typeface="+mn-ea"/>
              </a:rPr>
              <a:t>杨 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D5C63A-0729-4FDC-9473-C7AC61A61DC1}"/>
              </a:ext>
            </a:extLst>
          </p:cNvPr>
          <p:cNvSpPr/>
          <p:nvPr/>
        </p:nvSpPr>
        <p:spPr>
          <a:xfrm>
            <a:off x="3571127" y="5188620"/>
            <a:ext cx="2255746" cy="1138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spcBef>
                <a:spcPct val="200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prstClr val="black"/>
                </a:solidFill>
                <a:latin typeface="STKaiti" panose="02010600040101010101" pitchFamily="2" charset="-122"/>
                <a:cs typeface="+mn-ea"/>
              </a:rPr>
              <a:t>fuyang@suda.edu.cn</a:t>
            </a:r>
          </a:p>
          <a:p>
            <a:pPr lvl="0" algn="ctr" fontAlgn="auto">
              <a:spcBef>
                <a:spcPct val="200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prstClr val="black"/>
                </a:solidFill>
                <a:latin typeface="STKaiti" panose="02010600040101010101" pitchFamily="2" charset="-122"/>
                <a:cs typeface="+mn-ea"/>
              </a:rPr>
              <a:t>18051879103</a:t>
            </a:r>
          </a:p>
          <a:p>
            <a:pPr lvl="0" algn="ctr" fontAlgn="auto">
              <a:spcBef>
                <a:spcPct val="200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prstClr val="black"/>
                </a:solidFill>
                <a:latin typeface="STKaiti" panose="02010600040101010101" pitchFamily="2" charset="-122"/>
                <a:cs typeface="+mn-ea"/>
              </a:rPr>
              <a:t>701-1315-3</a:t>
            </a:r>
            <a:endParaRPr lang="zh-CN" altLang="en-US" sz="2000" b="1" dirty="0">
              <a:solidFill>
                <a:prstClr val="black"/>
              </a:solidFill>
              <a:latin typeface="STKaiti" panose="02010600040101010101" pitchFamily="2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6426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EC228FE-4E7C-49A6-A69B-A4ACEE5F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733425"/>
            <a:ext cx="7210425" cy="594397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07EDA7B-6D7C-42A7-A5B1-B579B5EED41B}"/>
              </a:ext>
            </a:extLst>
          </p:cNvPr>
          <p:cNvSpPr/>
          <p:nvPr/>
        </p:nvSpPr>
        <p:spPr>
          <a:xfrm>
            <a:off x="838200" y="952500"/>
            <a:ext cx="6467475" cy="257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CA6ABE-9D27-4E05-AEB4-CF82D79F7088}"/>
              </a:ext>
            </a:extLst>
          </p:cNvPr>
          <p:cNvSpPr/>
          <p:nvPr/>
        </p:nvSpPr>
        <p:spPr>
          <a:xfrm>
            <a:off x="2905125" y="1514475"/>
            <a:ext cx="5076825" cy="257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9C9658-3DE5-4546-BA97-8262751EBD5E}"/>
              </a:ext>
            </a:extLst>
          </p:cNvPr>
          <p:cNvSpPr/>
          <p:nvPr/>
        </p:nvSpPr>
        <p:spPr>
          <a:xfrm>
            <a:off x="771525" y="1524000"/>
            <a:ext cx="600075" cy="4848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AC6FA5-E44B-44C1-8F0C-20F40EB09DA8}"/>
              </a:ext>
            </a:extLst>
          </p:cNvPr>
          <p:cNvSpPr/>
          <p:nvPr/>
        </p:nvSpPr>
        <p:spPr>
          <a:xfrm rot="5400000">
            <a:off x="4576762" y="4095750"/>
            <a:ext cx="295275" cy="4848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D37C11-B95E-45B2-B000-41737223E38A}"/>
              </a:ext>
            </a:extLst>
          </p:cNvPr>
          <p:cNvSpPr txBox="1"/>
          <p:nvPr/>
        </p:nvSpPr>
        <p:spPr>
          <a:xfrm>
            <a:off x="6867093" y="10403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菜单栏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D04208-6E05-4954-8074-EA4D2FA2B1AB}"/>
              </a:ext>
            </a:extLst>
          </p:cNvPr>
          <p:cNvSpPr txBox="1"/>
          <p:nvPr/>
        </p:nvSpPr>
        <p:spPr>
          <a:xfrm>
            <a:off x="6867092" y="164306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工具栏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AA31B64-C235-4FDB-BEAF-C2D735700901}"/>
              </a:ext>
            </a:extLst>
          </p:cNvPr>
          <p:cNvSpPr txBox="1"/>
          <p:nvPr/>
        </p:nvSpPr>
        <p:spPr>
          <a:xfrm>
            <a:off x="1423124" y="32443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图形工具栏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2975CF8-C428-40C9-BF72-FB0E7AD9ACE5}"/>
              </a:ext>
            </a:extLst>
          </p:cNvPr>
          <p:cNvSpPr txBox="1"/>
          <p:nvPr/>
        </p:nvSpPr>
        <p:spPr>
          <a:xfrm>
            <a:off x="3902586" y="6023708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状态</a:t>
            </a:r>
            <a:r>
              <a:rPr lang="en-US" altLang="zh-CN" b="1" dirty="0"/>
              <a:t>/</a:t>
            </a:r>
            <a:r>
              <a:rPr lang="zh-CN" altLang="en-US" b="1" dirty="0"/>
              <a:t>信息栏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5C95DB-5BC7-4FE6-B8FF-4EE270457676}"/>
              </a:ext>
            </a:extLst>
          </p:cNvPr>
          <p:cNvSpPr txBox="1"/>
          <p:nvPr/>
        </p:nvSpPr>
        <p:spPr>
          <a:xfrm>
            <a:off x="3939569" y="353034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编辑区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1278EF-6D1E-424F-947E-90FCE4AC7F58}"/>
              </a:ext>
            </a:extLst>
          </p:cNvPr>
          <p:cNvSpPr/>
          <p:nvPr/>
        </p:nvSpPr>
        <p:spPr>
          <a:xfrm>
            <a:off x="3453745" y="93264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主界面介绍</a:t>
            </a:r>
            <a:endParaRPr lang="zh-CN" altLang="en-US" sz="3200" b="1" i="0" dirty="0">
              <a:solidFill>
                <a:srgbClr val="222222"/>
              </a:solidFill>
              <a:effectLst/>
              <a:latin typeface="-apple-system-font"/>
            </a:endParaRPr>
          </a:p>
        </p:txBody>
      </p:sp>
    </p:spTree>
    <p:extLst>
      <p:ext uri="{BB962C8B-B14F-4D97-AF65-F5344CB8AC3E}">
        <p14:creationId xmlns:p14="http://schemas.microsoft.com/office/powerpoint/2010/main" val="219125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91ECD74-DEBA-4103-8CD4-6C1B51F85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318" y="790574"/>
            <a:ext cx="4992135" cy="595835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61445DD-C75A-4364-AD7C-1EA0A3E4F6FC}"/>
              </a:ext>
            </a:extLst>
          </p:cNvPr>
          <p:cNvSpPr/>
          <p:nvPr/>
        </p:nvSpPr>
        <p:spPr>
          <a:xfrm>
            <a:off x="2996890" y="93264"/>
            <a:ext cx="31502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 图形工具栏介绍</a:t>
            </a:r>
            <a:endParaRPr lang="zh-CN" altLang="en-US" sz="3200" b="1" i="0" dirty="0">
              <a:solidFill>
                <a:srgbClr val="222222"/>
              </a:solidFill>
              <a:effectLst/>
              <a:latin typeface="-apple-system-font"/>
            </a:endParaRPr>
          </a:p>
        </p:txBody>
      </p:sp>
    </p:spTree>
    <p:extLst>
      <p:ext uri="{BB962C8B-B14F-4D97-AF65-F5344CB8AC3E}">
        <p14:creationId xmlns:p14="http://schemas.microsoft.com/office/powerpoint/2010/main" val="230463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744D25F-926E-4481-B508-53DE76E978F2}"/>
              </a:ext>
            </a:extLst>
          </p:cNvPr>
          <p:cNvSpPr/>
          <p:nvPr/>
        </p:nvSpPr>
        <p:spPr>
          <a:xfrm>
            <a:off x="3248561" y="93264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子工具栏介绍</a:t>
            </a:r>
            <a:endParaRPr lang="zh-CN" altLang="en-US" sz="3200" b="1" i="0" dirty="0">
              <a:solidFill>
                <a:srgbClr val="222222"/>
              </a:solidFill>
              <a:effectLst/>
              <a:latin typeface="-apple-system-fon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998794-9F98-4DE6-A80F-E846D4E58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015" y="814098"/>
            <a:ext cx="6671078" cy="55486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4BAD747-B46C-4D40-8036-7FD869C689E7}"/>
              </a:ext>
            </a:extLst>
          </p:cNvPr>
          <p:cNvSpPr/>
          <p:nvPr/>
        </p:nvSpPr>
        <p:spPr>
          <a:xfrm>
            <a:off x="1009649" y="6211669"/>
            <a:ext cx="7362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在上图中标蓝的工具图标中，其右下角均含有小黑色三角符号，使用鼠标左键长按图标时，相应的子工具图标就显示出来</a:t>
            </a:r>
          </a:p>
        </p:txBody>
      </p:sp>
    </p:spTree>
    <p:extLst>
      <p:ext uri="{BB962C8B-B14F-4D97-AF65-F5344CB8AC3E}">
        <p14:creationId xmlns:p14="http://schemas.microsoft.com/office/powerpoint/2010/main" val="266762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6974228-EDFD-450A-9E6D-DFA38C419725}"/>
              </a:ext>
            </a:extLst>
          </p:cNvPr>
          <p:cNvGrpSpPr/>
          <p:nvPr/>
        </p:nvGrpSpPr>
        <p:grpSpPr>
          <a:xfrm>
            <a:off x="1362076" y="838200"/>
            <a:ext cx="5991224" cy="5728659"/>
            <a:chOff x="457201" y="4219575"/>
            <a:chExt cx="4781550" cy="4571999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9FB43B02-C8D7-436D-893B-2E1CCFC4AC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9903" r="86186" b="29002"/>
            <a:stretch/>
          </p:blipFill>
          <p:spPr>
            <a:xfrm>
              <a:off x="457201" y="4219575"/>
              <a:ext cx="4781550" cy="4571999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381DB6D-575B-48C3-87CE-16DB30AD158B}"/>
                </a:ext>
              </a:extLst>
            </p:cNvPr>
            <p:cNvSpPr/>
            <p:nvPr/>
          </p:nvSpPr>
          <p:spPr>
            <a:xfrm>
              <a:off x="714375" y="4219575"/>
              <a:ext cx="238125" cy="1714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FCBD1F5E-FBD8-478E-85E2-566C65E5DDC1}"/>
              </a:ext>
            </a:extLst>
          </p:cNvPr>
          <p:cNvSpPr/>
          <p:nvPr/>
        </p:nvSpPr>
        <p:spPr>
          <a:xfrm>
            <a:off x="3811215" y="110166"/>
            <a:ext cx="15215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22222"/>
                </a:solidFill>
                <a:latin typeface="system-ui"/>
              </a:rPr>
              <a:t>  </a:t>
            </a:r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模板库</a:t>
            </a:r>
          </a:p>
        </p:txBody>
      </p:sp>
    </p:spTree>
    <p:extLst>
      <p:ext uri="{BB962C8B-B14F-4D97-AF65-F5344CB8AC3E}">
        <p14:creationId xmlns:p14="http://schemas.microsoft.com/office/powerpoint/2010/main" val="170528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F7D6C7-2486-434C-BA8A-C4BC32B09A2F}"/>
              </a:ext>
            </a:extLst>
          </p:cNvPr>
          <p:cNvSpPr/>
          <p:nvPr/>
        </p:nvSpPr>
        <p:spPr>
          <a:xfrm>
            <a:off x="3632479" y="91559"/>
            <a:ext cx="18790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22222"/>
                </a:solidFill>
                <a:latin typeface="system-ui"/>
              </a:rPr>
              <a:t> </a:t>
            </a:r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基本操作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9DFDBC-4ADD-46C8-A01C-EE79C2301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5" y="852260"/>
            <a:ext cx="5291520" cy="25767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AC555EC-B9C8-4168-BD7E-D8970FCB1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5889"/>
            <a:ext cx="4867954" cy="353426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0B3CD2-8DC5-4BBF-8741-5B43F7E88A8B}"/>
              </a:ext>
            </a:extLst>
          </p:cNvPr>
          <p:cNvSpPr/>
          <p:nvPr/>
        </p:nvSpPr>
        <p:spPr>
          <a:xfrm>
            <a:off x="4572000" y="4528412"/>
            <a:ext cx="457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切换文件窗口</a:t>
            </a:r>
            <a:r>
              <a:rPr lang="zh-CN" altLang="en-US" dirty="0"/>
              <a:t>：每次打开一个文件，都会添加一个文件窗口。同时打开多个文件时，仅显示最后打开的文件。可以缩小文件窗口进行切换或按</a:t>
            </a:r>
            <a:r>
              <a:rPr lang="en-US" altLang="zh-CN" dirty="0" err="1"/>
              <a:t>ctrl+Tab</a:t>
            </a:r>
            <a:r>
              <a:rPr lang="zh-CN" altLang="en-US" dirty="0"/>
              <a:t>键变换窗口。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718213-CC48-4B19-A4B1-3CCF7B6D10CA}"/>
              </a:ext>
            </a:extLst>
          </p:cNvPr>
          <p:cNvSpPr/>
          <p:nvPr/>
        </p:nvSpPr>
        <p:spPr>
          <a:xfrm>
            <a:off x="4572000" y="225647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打开文件</a:t>
            </a:r>
            <a:r>
              <a:rPr lang="zh-CN" altLang="en-US" dirty="0"/>
              <a:t>：菜单栏中的</a:t>
            </a:r>
            <a:r>
              <a:rPr lang="en-US" altLang="zh-CN" dirty="0"/>
              <a:t>【</a:t>
            </a:r>
            <a:r>
              <a:rPr lang="zh-CN" altLang="en-US" dirty="0"/>
              <a:t>文件</a:t>
            </a:r>
            <a:r>
              <a:rPr lang="en-US" altLang="zh-CN" dirty="0"/>
              <a:t>】——【</a:t>
            </a:r>
            <a:r>
              <a:rPr lang="zh-CN" altLang="en-US" dirty="0"/>
              <a:t>打开</a:t>
            </a:r>
            <a:r>
              <a:rPr lang="en-US" altLang="zh-CN" dirty="0"/>
              <a:t>】</a:t>
            </a:r>
            <a:r>
              <a:rPr lang="zh-CN" altLang="en-US" dirty="0"/>
              <a:t>可打开相应的文件。</a:t>
            </a:r>
            <a:r>
              <a:rPr lang="en-US" altLang="zh-CN" dirty="0"/>
              <a:t>Chem Draw</a:t>
            </a:r>
            <a:r>
              <a:rPr lang="zh-CN" altLang="en-US" dirty="0"/>
              <a:t>可读的文件类型如下图所示：</a:t>
            </a:r>
          </a:p>
        </p:txBody>
      </p:sp>
    </p:spTree>
    <p:extLst>
      <p:ext uri="{BB962C8B-B14F-4D97-AF65-F5344CB8AC3E}">
        <p14:creationId xmlns:p14="http://schemas.microsoft.com/office/powerpoint/2010/main" val="191569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DCA69D-98B1-4F7C-AF2D-984CE9544F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270" t="38781" r="18271" b="30879"/>
          <a:stretch/>
        </p:blipFill>
        <p:spPr>
          <a:xfrm>
            <a:off x="1029651" y="1811177"/>
            <a:ext cx="7447905" cy="441313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6F895BA-1A86-4C8B-BBA7-D774EF076C6D}"/>
              </a:ext>
            </a:extLst>
          </p:cNvPr>
          <p:cNvSpPr/>
          <p:nvPr/>
        </p:nvSpPr>
        <p:spPr>
          <a:xfrm>
            <a:off x="3632479" y="91559"/>
            <a:ext cx="18790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22222"/>
                </a:solidFill>
                <a:latin typeface="system-ui"/>
              </a:rPr>
              <a:t> </a:t>
            </a:r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基本操作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DB0B58-6E2A-4BBF-89E6-0CA4EDC43773}"/>
              </a:ext>
            </a:extLst>
          </p:cNvPr>
          <p:cNvSpPr/>
          <p:nvPr/>
        </p:nvSpPr>
        <p:spPr>
          <a:xfrm>
            <a:off x="312420" y="113845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文件保存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57D15A7-F842-443C-A77B-32CE269F1E21}"/>
              </a:ext>
            </a:extLst>
          </p:cNvPr>
          <p:cNvSpPr/>
          <p:nvPr/>
        </p:nvSpPr>
        <p:spPr>
          <a:xfrm>
            <a:off x="3108960" y="4678680"/>
            <a:ext cx="1546860" cy="137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23F020A-B614-4670-8794-8F3265A45838}"/>
              </a:ext>
            </a:extLst>
          </p:cNvPr>
          <p:cNvSpPr/>
          <p:nvPr/>
        </p:nvSpPr>
        <p:spPr>
          <a:xfrm>
            <a:off x="3108960" y="5173980"/>
            <a:ext cx="1546860" cy="137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394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B4B297-650E-46AA-9D1E-3128B2B9A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6" y="752426"/>
            <a:ext cx="5868219" cy="70494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A4A4377-33F8-4807-901D-3D5C57342DAC}"/>
              </a:ext>
            </a:extLst>
          </p:cNvPr>
          <p:cNvCxnSpPr/>
          <p:nvPr/>
        </p:nvCxnSpPr>
        <p:spPr>
          <a:xfrm>
            <a:off x="470416" y="1457374"/>
            <a:ext cx="0" cy="5429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1426DB9-6CBF-4F2E-B4D4-530D49D78C2E}"/>
              </a:ext>
            </a:extLst>
          </p:cNvPr>
          <p:cNvCxnSpPr/>
          <p:nvPr/>
        </p:nvCxnSpPr>
        <p:spPr>
          <a:xfrm>
            <a:off x="1013341" y="1457374"/>
            <a:ext cx="0" cy="5429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B6FA47E-58B1-4FB1-920F-3E101FD79AAB}"/>
              </a:ext>
            </a:extLst>
          </p:cNvPr>
          <p:cNvCxnSpPr/>
          <p:nvPr/>
        </p:nvCxnSpPr>
        <p:spPr>
          <a:xfrm>
            <a:off x="156091" y="1457374"/>
            <a:ext cx="0" cy="5429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5D73241-EE8E-4FAA-ACC8-D346485E029C}"/>
              </a:ext>
            </a:extLst>
          </p:cNvPr>
          <p:cNvSpPr txBox="1"/>
          <p:nvPr/>
        </p:nvSpPr>
        <p:spPr>
          <a:xfrm rot="5400000">
            <a:off x="-506966" y="2476500"/>
            <a:ext cx="138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建立新文件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28564A-978E-4E2B-B961-1B6FEDD24818}"/>
              </a:ext>
            </a:extLst>
          </p:cNvPr>
          <p:cNvSpPr txBox="1"/>
          <p:nvPr/>
        </p:nvSpPr>
        <p:spPr>
          <a:xfrm rot="5400000">
            <a:off x="-61912" y="23388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打开文件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3127A3-B1AD-4560-AB57-7B2A7A0FE41B}"/>
              </a:ext>
            </a:extLst>
          </p:cNvPr>
          <p:cNvSpPr txBox="1"/>
          <p:nvPr/>
        </p:nvSpPr>
        <p:spPr>
          <a:xfrm rot="5400000">
            <a:off x="459343" y="23388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保持文件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397688F-A750-4857-8CF2-2F7E2B6AA0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26" t="15536" r="63646" b="38260"/>
          <a:stretch/>
        </p:blipFill>
        <p:spPr>
          <a:xfrm>
            <a:off x="1647830" y="1552575"/>
            <a:ext cx="5611289" cy="46482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279E713-5FF0-46F8-A47D-3B5193E554BE}"/>
              </a:ext>
            </a:extLst>
          </p:cNvPr>
          <p:cNvSpPr/>
          <p:nvPr/>
        </p:nvSpPr>
        <p:spPr>
          <a:xfrm>
            <a:off x="1884881" y="4457700"/>
            <a:ext cx="2927862" cy="171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1D0F6F-9A6F-43C5-B956-438611568167}"/>
              </a:ext>
            </a:extLst>
          </p:cNvPr>
          <p:cNvSpPr/>
          <p:nvPr/>
        </p:nvSpPr>
        <p:spPr>
          <a:xfrm>
            <a:off x="1884881" y="4943525"/>
            <a:ext cx="2927862" cy="171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E1F421-2F35-410E-AE7B-5FC98433F3C5}"/>
              </a:ext>
            </a:extLst>
          </p:cNvPr>
          <p:cNvSpPr/>
          <p:nvPr/>
        </p:nvSpPr>
        <p:spPr>
          <a:xfrm>
            <a:off x="1884881" y="3247976"/>
            <a:ext cx="2927862" cy="171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CA308A-6292-46B3-AB0E-C1DED85F4721}"/>
              </a:ext>
            </a:extLst>
          </p:cNvPr>
          <p:cNvSpPr/>
          <p:nvPr/>
        </p:nvSpPr>
        <p:spPr>
          <a:xfrm>
            <a:off x="1884881" y="2057253"/>
            <a:ext cx="2927862" cy="171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32D0AC-41DA-458B-8302-1CA1F795C751}"/>
              </a:ext>
            </a:extLst>
          </p:cNvPr>
          <p:cNvSpPr/>
          <p:nvPr/>
        </p:nvSpPr>
        <p:spPr>
          <a:xfrm>
            <a:off x="1884881" y="1883809"/>
            <a:ext cx="2927862" cy="171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C169B4-F017-4195-A176-C65C19EECE32}"/>
              </a:ext>
            </a:extLst>
          </p:cNvPr>
          <p:cNvSpPr/>
          <p:nvPr/>
        </p:nvSpPr>
        <p:spPr>
          <a:xfrm>
            <a:off x="3632479" y="91559"/>
            <a:ext cx="18790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22222"/>
                </a:solidFill>
                <a:latin typeface="system-ui"/>
              </a:rPr>
              <a:t> </a:t>
            </a:r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基本操作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C6F810-8E5B-48FA-AF08-2ECC73BD2907}"/>
              </a:ext>
            </a:extLst>
          </p:cNvPr>
          <p:cNvSpPr/>
          <p:nvPr/>
        </p:nvSpPr>
        <p:spPr>
          <a:xfrm>
            <a:off x="2502694" y="6375702"/>
            <a:ext cx="3193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222222"/>
                </a:solidFill>
                <a:latin typeface="system-ui"/>
              </a:rPr>
              <a:t>文件的打开、存储、格式设置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</p:spTree>
    <p:extLst>
      <p:ext uri="{BB962C8B-B14F-4D97-AF65-F5344CB8AC3E}">
        <p14:creationId xmlns:p14="http://schemas.microsoft.com/office/powerpoint/2010/main" val="260868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E0F6C3D-03B8-43FD-B86F-EF987B0C2DE3}"/>
              </a:ext>
            </a:extLst>
          </p:cNvPr>
          <p:cNvSpPr/>
          <p:nvPr/>
        </p:nvSpPr>
        <p:spPr>
          <a:xfrm>
            <a:off x="3632479" y="9155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作图示范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598FD5BD-29F8-4D1D-855A-69DED78273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1" t="25487" r="22297" b="42083"/>
          <a:stretch/>
        </p:blipFill>
        <p:spPr bwMode="auto">
          <a:xfrm>
            <a:off x="2286000" y="5130225"/>
            <a:ext cx="5258472" cy="131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4C3A0E-6F6E-4F9D-845D-6425D400C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0776" y="851475"/>
            <a:ext cx="5685350" cy="397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9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FCE8A4-4694-4761-91B7-8B1037BCF6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96"/>
          <a:stretch/>
        </p:blipFill>
        <p:spPr>
          <a:xfrm>
            <a:off x="642414" y="733004"/>
            <a:ext cx="7497221" cy="333417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E7AEFFD-3259-4449-8750-F4854A83C968}"/>
              </a:ext>
            </a:extLst>
          </p:cNvPr>
          <p:cNvSpPr/>
          <p:nvPr/>
        </p:nvSpPr>
        <p:spPr>
          <a:xfrm>
            <a:off x="2346604" y="85304"/>
            <a:ext cx="50152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通过</a:t>
            </a:r>
            <a:r>
              <a:rPr lang="en-US" altLang="zh-CN" sz="3200" b="1" dirty="0">
                <a:solidFill>
                  <a:srgbClr val="222222"/>
                </a:solidFill>
                <a:latin typeface="system-ui"/>
              </a:rPr>
              <a:t>CAS</a:t>
            </a:r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号码添加分子结构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271D4E8-FCFC-4786-8732-CE764DE8A5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399698"/>
              </p:ext>
            </p:extLst>
          </p:nvPr>
        </p:nvGraphicFramePr>
        <p:xfrm>
          <a:off x="5670550" y="4366606"/>
          <a:ext cx="197485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CS ChemDraw Drawing" r:id="rId4" imgW="1974549" imgH="1293521" progId="ChemDraw.Document.6.0">
                  <p:embed/>
                </p:oleObj>
              </mc:Choice>
              <mc:Fallback>
                <p:oleObj name="CS ChemDraw Drawing" r:id="rId4" imgW="1974549" imgH="1293521" progId="ChemDraw.Document.6.0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5EA82BF-9008-467E-8950-366A115CC6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70550" y="4366606"/>
                        <a:ext cx="1974850" cy="1293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DFB043A-4573-41F9-80A5-BDE3BDE5C93C}"/>
              </a:ext>
            </a:extLst>
          </p:cNvPr>
          <p:cNvSpPr/>
          <p:nvPr/>
        </p:nvSpPr>
        <p:spPr>
          <a:xfrm>
            <a:off x="673230" y="4802677"/>
            <a:ext cx="2533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葡萄糖  </a:t>
            </a:r>
            <a:r>
              <a:rPr lang="en-US" altLang="zh-CN" dirty="0"/>
              <a:t>CAS</a:t>
            </a:r>
            <a:r>
              <a:rPr lang="zh-CN" altLang="en-US" dirty="0"/>
              <a:t>号：</a:t>
            </a:r>
            <a:r>
              <a:rPr lang="en-US" altLang="zh-CN" dirty="0"/>
              <a:t>50-99-7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7A595A-37A2-41D2-999E-2DEEB2B79519}"/>
              </a:ext>
            </a:extLst>
          </p:cNvPr>
          <p:cNvSpPr/>
          <p:nvPr/>
        </p:nvSpPr>
        <p:spPr>
          <a:xfrm>
            <a:off x="642414" y="5959850"/>
            <a:ext cx="2585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甘氨酸 </a:t>
            </a:r>
            <a:r>
              <a:rPr lang="en-US" altLang="zh-CN" dirty="0"/>
              <a:t>CAS</a:t>
            </a:r>
            <a:r>
              <a:rPr lang="zh-CN" altLang="en-US" dirty="0"/>
              <a:t>号： </a:t>
            </a:r>
            <a:r>
              <a:rPr lang="en-US" altLang="zh-CN" dirty="0"/>
              <a:t>56-40-6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799B26A-C8AA-4EC3-9B67-F4699A933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454619"/>
              </p:ext>
            </p:extLst>
          </p:nvPr>
        </p:nvGraphicFramePr>
        <p:xfrm>
          <a:off x="5976143" y="5887341"/>
          <a:ext cx="13636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CS ChemDraw Drawing" r:id="rId6" imgW="1363792" imgH="723565" progId="ChemDraw.Document.6.0">
                  <p:embed/>
                </p:oleObj>
              </mc:Choice>
              <mc:Fallback>
                <p:oleObj name="CS ChemDraw Drawing" r:id="rId6" imgW="1363792" imgH="723565" progId="ChemDraw.Document.6.0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B83EDAE-8979-4BFD-BBE5-F86F6A63A1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76143" y="5887341"/>
                        <a:ext cx="1363663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93AA2EB-1E3A-4AFD-868C-E08CB1101562}"/>
              </a:ext>
            </a:extLst>
          </p:cNvPr>
          <p:cNvSpPr/>
          <p:nvPr/>
        </p:nvSpPr>
        <p:spPr>
          <a:xfrm>
            <a:off x="104775" y="406717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22222"/>
                </a:solidFill>
                <a:latin typeface="system-ui"/>
              </a:rPr>
              <a:t>例：</a:t>
            </a:r>
            <a:endParaRPr lang="zh-CN" altLang="en-US" sz="2400" b="1" dirty="0">
              <a:solidFill>
                <a:srgbClr val="021EAA"/>
              </a:solidFill>
              <a:latin typeface="-apple-system-font"/>
            </a:endParaRPr>
          </a:p>
        </p:txBody>
      </p:sp>
    </p:spTree>
    <p:extLst>
      <p:ext uri="{BB962C8B-B14F-4D97-AF65-F5344CB8AC3E}">
        <p14:creationId xmlns:p14="http://schemas.microsoft.com/office/powerpoint/2010/main" val="2622150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1F9E450-A736-4F29-8E4B-A9CD586924BE}"/>
              </a:ext>
            </a:extLst>
          </p:cNvPr>
          <p:cNvSpPr/>
          <p:nvPr/>
        </p:nvSpPr>
        <p:spPr>
          <a:xfrm>
            <a:off x="2346604" y="85304"/>
            <a:ext cx="36754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通过</a:t>
            </a:r>
            <a:r>
              <a:rPr lang="en-US" altLang="zh-CN" sz="3200" b="1" dirty="0">
                <a:solidFill>
                  <a:srgbClr val="222222"/>
                </a:solidFill>
                <a:latin typeface="system-ui"/>
              </a:rPr>
              <a:t>IUPAC</a:t>
            </a:r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名称绘图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DA6546-DC67-458A-A572-7A637CDF9A91}"/>
              </a:ext>
            </a:extLst>
          </p:cNvPr>
          <p:cNvSpPr/>
          <p:nvPr/>
        </p:nvSpPr>
        <p:spPr>
          <a:xfrm>
            <a:off x="0" y="883414"/>
            <a:ext cx="866775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国际纯粹与应用化学联合会</a:t>
            </a:r>
            <a:r>
              <a:rPr lang="en-US" altLang="zh-CN" dirty="0"/>
              <a:t>(International Union of Pure and Applied Chemistry</a:t>
            </a:r>
            <a:r>
              <a:rPr lang="zh-CN" altLang="en-US" dirty="0"/>
              <a:t>，以下简称为“</a:t>
            </a:r>
            <a:r>
              <a:rPr lang="en-US" altLang="zh-CN" b="1" dirty="0"/>
              <a:t>IUPAC</a:t>
            </a:r>
            <a:r>
              <a:rPr lang="en-US" altLang="zh-CN" dirty="0"/>
              <a:t>”)</a:t>
            </a:r>
            <a:r>
              <a:rPr lang="zh-CN" altLang="en-US" dirty="0"/>
              <a:t>是一个国际性的非政府和非营利性科学组织，于</a:t>
            </a:r>
            <a:r>
              <a:rPr lang="en-US" altLang="zh-CN" dirty="0"/>
              <a:t>1919</a:t>
            </a:r>
            <a:r>
              <a:rPr lang="zh-CN" altLang="en-US" dirty="0"/>
              <a:t>年创建于法国巴黎。作为国际科学理事会</a:t>
            </a:r>
            <a:r>
              <a:rPr lang="en-US" altLang="zh-CN" dirty="0"/>
              <a:t>(ISC)</a:t>
            </a:r>
            <a:r>
              <a:rPr lang="zh-CN" altLang="en-US" dirty="0"/>
              <a:t>的成员组织，</a:t>
            </a:r>
            <a:r>
              <a:rPr lang="en-US" altLang="zh-CN" dirty="0"/>
              <a:t>IUPAC</a:t>
            </a:r>
            <a:r>
              <a:rPr lang="zh-CN" altLang="en-US" dirty="0"/>
              <a:t>是全球最大、最具权威性的化学组织，致力于制定化学命名、术语（包括元素周期表中新元素的命名）、标准化测量方法和许多其他重要评估数据等，为促进全球化学界开展相关合作提供必要的条件支撑。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中文的</a:t>
            </a:r>
            <a:r>
              <a:rPr lang="zh-CN" alt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系统命名法</a:t>
            </a:r>
            <a:r>
              <a:rPr lang="zh-CN" altLang="en-US" dirty="0"/>
              <a:t>是</a:t>
            </a:r>
            <a:r>
              <a:rPr lang="zh-CN" alt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中国化学会</a:t>
            </a:r>
            <a:r>
              <a:rPr lang="zh-CN" altLang="en-US" dirty="0"/>
              <a:t>在英文</a:t>
            </a:r>
            <a:r>
              <a:rPr lang="en-US" altLang="zh-CN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IUPAC</a:t>
            </a:r>
            <a:r>
              <a:rPr lang="zh-CN" alt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命名法</a:t>
            </a:r>
            <a:r>
              <a:rPr lang="zh-CN" altLang="en-US" dirty="0"/>
              <a:t>的基础上，再结合汉字的特点制定的。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B77BDB-19AD-4AD6-BD04-31BC38370CC6}"/>
              </a:ext>
            </a:extLst>
          </p:cNvPr>
          <p:cNvSpPr txBox="1"/>
          <p:nvPr/>
        </p:nvSpPr>
        <p:spPr>
          <a:xfrm>
            <a:off x="244678" y="5460578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插入</a:t>
            </a:r>
            <a:r>
              <a:rPr lang="zh-CN" altLang="en-US" b="1" dirty="0"/>
              <a:t>俗名</a:t>
            </a:r>
            <a:r>
              <a:rPr lang="zh-CN" altLang="en-US" dirty="0"/>
              <a:t>或者</a:t>
            </a:r>
            <a:r>
              <a:rPr lang="zh-CN" altLang="en-US" b="1" dirty="0"/>
              <a:t>商品名</a:t>
            </a:r>
            <a:r>
              <a:rPr lang="zh-CN" altLang="en-US" dirty="0"/>
              <a:t>也可以输入结构式：</a:t>
            </a:r>
            <a:endParaRPr lang="en-US" altLang="zh-CN" dirty="0"/>
          </a:p>
          <a:p>
            <a:r>
              <a:rPr lang="en-US" altLang="zh-CN" dirty="0"/>
              <a:t>                 </a:t>
            </a:r>
          </a:p>
          <a:p>
            <a:r>
              <a:rPr lang="en-US" altLang="zh-CN" dirty="0"/>
              <a:t>                     18-Crown-6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D7232E-E1B5-4736-882B-7082F1ABBD30}"/>
              </a:ext>
            </a:extLst>
          </p:cNvPr>
          <p:cNvSpPr/>
          <p:nvPr/>
        </p:nvSpPr>
        <p:spPr>
          <a:xfrm>
            <a:off x="321018" y="4844281"/>
            <a:ext cx="3916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1,4,7,10,13,16-hexaoxacyclooctadecane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4114E6-7E6D-4EEB-A94C-F81406D4B5BB}"/>
              </a:ext>
            </a:extLst>
          </p:cNvPr>
          <p:cNvSpPr/>
          <p:nvPr/>
        </p:nvSpPr>
        <p:spPr>
          <a:xfrm>
            <a:off x="1555334" y="4453503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18-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冠醚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-6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A9BB104-7A51-4709-BDBF-3C676944BB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985581"/>
              </p:ext>
            </p:extLst>
          </p:nvPr>
        </p:nvGraphicFramePr>
        <p:xfrm>
          <a:off x="6381919" y="4822835"/>
          <a:ext cx="2035175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CS ChemDraw Drawing" r:id="rId7" imgW="2035624" imgH="1962523" progId="ChemDraw.Document.6.0">
                  <p:embed/>
                </p:oleObj>
              </mc:Choice>
              <mc:Fallback>
                <p:oleObj name="CS ChemDraw Drawing" r:id="rId7" imgW="2035624" imgH="196252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81919" y="4822835"/>
                        <a:ext cx="2035175" cy="196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AC619DEA-AB32-47E1-B33B-02F82820ED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274" y="2977239"/>
            <a:ext cx="3896269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88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4899BE-2479-408A-BDB0-DFFF9E3911E5}"/>
              </a:ext>
            </a:extLst>
          </p:cNvPr>
          <p:cNvSpPr/>
          <p:nvPr/>
        </p:nvSpPr>
        <p:spPr>
          <a:xfrm>
            <a:off x="3482320" y="9482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延伸应用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1F0520-C211-49B8-95E9-0C6618EB5474}"/>
              </a:ext>
            </a:extLst>
          </p:cNvPr>
          <p:cNvSpPr/>
          <p:nvPr/>
        </p:nvSpPr>
        <p:spPr>
          <a:xfrm>
            <a:off x="805795" y="1222635"/>
            <a:ext cx="78390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核磁图谱、质谱预测分析以及</a:t>
            </a:r>
            <a:r>
              <a:rPr lang="en-US" altLang="zh-CN" sz="3200" b="1" dirty="0">
                <a:solidFill>
                  <a:srgbClr val="021EAA"/>
                </a:solidFill>
                <a:latin typeface="-apple-system-font"/>
              </a:rPr>
              <a:t>3D</a:t>
            </a:r>
            <a:r>
              <a:rPr lang="zh-CN" altLang="en-US" sz="3200" b="1" dirty="0">
                <a:solidFill>
                  <a:srgbClr val="021EAA"/>
                </a:solidFill>
                <a:latin typeface="-apple-system-font"/>
              </a:rPr>
              <a:t>结构预览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115F7BB-8FFF-4637-8F0B-A59D484B5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05304"/>
              </p:ext>
            </p:extLst>
          </p:nvPr>
        </p:nvGraphicFramePr>
        <p:xfrm>
          <a:off x="1062024" y="3744644"/>
          <a:ext cx="11779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CS ChemDraw Drawing" r:id="rId3" imgW="1177442" imgH="298532" progId="ChemDraw.Document.6.0">
                  <p:embed/>
                </p:oleObj>
              </mc:Choice>
              <mc:Fallback>
                <p:oleObj name="CS ChemDraw Drawing" r:id="rId3" imgW="1177442" imgH="29853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024" y="3744644"/>
                        <a:ext cx="1177925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AD8C574-D14D-4FBA-B24F-F84949A057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517145"/>
              </p:ext>
            </p:extLst>
          </p:nvPr>
        </p:nvGraphicFramePr>
        <p:xfrm>
          <a:off x="3661638" y="3429000"/>
          <a:ext cx="7080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CS ChemDraw Drawing" r:id="rId5" imgW="708270" imgH="678038" progId="ChemDraw.Document.6.0">
                  <p:embed/>
                </p:oleObj>
              </mc:Choice>
              <mc:Fallback>
                <p:oleObj name="CS ChemDraw Drawing" r:id="rId5" imgW="708270" imgH="67803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1638" y="3429000"/>
                        <a:ext cx="708025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2152B6D-508B-454A-BBC0-C663E407B54E}"/>
              </a:ext>
            </a:extLst>
          </p:cNvPr>
          <p:cNvSpPr/>
          <p:nvPr/>
        </p:nvSpPr>
        <p:spPr>
          <a:xfrm>
            <a:off x="1296973" y="4185969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21EAA"/>
                </a:solidFill>
                <a:latin typeface="-apple-system-font"/>
              </a:rPr>
              <a:t>正丙醇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067A1-2B9D-4FC8-911B-B9C3AD8CFB7C}"/>
              </a:ext>
            </a:extLst>
          </p:cNvPr>
          <p:cNvSpPr/>
          <p:nvPr/>
        </p:nvSpPr>
        <p:spPr>
          <a:xfrm>
            <a:off x="3548995" y="431091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21EAA"/>
                </a:solidFill>
                <a:latin typeface="-apple-system-font"/>
              </a:rPr>
              <a:t>异丙醇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2A4282-A7C8-40C4-87D1-E53E1F1DB524}"/>
              </a:ext>
            </a:extLst>
          </p:cNvPr>
          <p:cNvSpPr txBox="1"/>
          <p:nvPr/>
        </p:nvSpPr>
        <p:spPr>
          <a:xfrm>
            <a:off x="3550597" y="2314361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C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H</a:t>
            </a:r>
            <a:r>
              <a:rPr lang="en-US" altLang="zh-CN" sz="2400" b="1" baseline="-25000" dirty="0"/>
              <a:t>8</a:t>
            </a:r>
            <a:r>
              <a:rPr lang="en-US" altLang="zh-CN" sz="2400" b="1" dirty="0"/>
              <a:t>O</a:t>
            </a:r>
            <a:endParaRPr lang="zh-CN" altLang="en-US" sz="2400" b="1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B879D56-B4EB-4389-BA77-95697B9C1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436059"/>
              </p:ext>
            </p:extLst>
          </p:nvPr>
        </p:nvGraphicFramePr>
        <p:xfrm>
          <a:off x="5924791" y="3808413"/>
          <a:ext cx="103981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CS ChemDraw Drawing" r:id="rId7" imgW="1039328" imgH="298184" progId="ChemDraw.Document.6.0">
                  <p:embed/>
                </p:oleObj>
              </mc:Choice>
              <mc:Fallback>
                <p:oleObj name="CS ChemDraw Drawing" r:id="rId7" imgW="1039328" imgH="29818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24791" y="3808413"/>
                        <a:ext cx="1039813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EF6ABF68-3F0A-4236-89BC-7C894B07DC5F}"/>
              </a:ext>
            </a:extLst>
          </p:cNvPr>
          <p:cNvSpPr/>
          <p:nvPr/>
        </p:nvSpPr>
        <p:spPr>
          <a:xfrm>
            <a:off x="6101084" y="4261129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21EAA"/>
                </a:solidFill>
                <a:latin typeface="-apple-system-font"/>
              </a:rPr>
              <a:t>甲乙醚</a:t>
            </a:r>
          </a:p>
        </p:txBody>
      </p:sp>
    </p:spTree>
    <p:extLst>
      <p:ext uri="{BB962C8B-B14F-4D97-AF65-F5344CB8AC3E}">
        <p14:creationId xmlns:p14="http://schemas.microsoft.com/office/powerpoint/2010/main" val="2269732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2326E0-7AFB-4AEA-8BB0-16DD5DBB41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76" t="11538" r="31705" b="26923"/>
          <a:stretch/>
        </p:blipFill>
        <p:spPr>
          <a:xfrm>
            <a:off x="779456" y="1198882"/>
            <a:ext cx="2987352" cy="50244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8778E5-2FCA-44A5-99DC-5282C1CA8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883" y="913950"/>
            <a:ext cx="4177042" cy="570440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04098A0-FD87-4C26-AB7F-1F5E7DFE60FB}"/>
              </a:ext>
            </a:extLst>
          </p:cNvPr>
          <p:cNvSpPr/>
          <p:nvPr/>
        </p:nvSpPr>
        <p:spPr>
          <a:xfrm>
            <a:off x="3482320" y="9482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延伸应用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</p:spTree>
    <p:extLst>
      <p:ext uri="{BB962C8B-B14F-4D97-AF65-F5344CB8AC3E}">
        <p14:creationId xmlns:p14="http://schemas.microsoft.com/office/powerpoint/2010/main" val="2136186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48472D-4AB2-4503-84CA-1A72AE523A1C}"/>
              </a:ext>
            </a:extLst>
          </p:cNvPr>
          <p:cNvSpPr/>
          <p:nvPr/>
        </p:nvSpPr>
        <p:spPr>
          <a:xfrm>
            <a:off x="-75443" y="691862"/>
            <a:ext cx="3290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222222"/>
                </a:solidFill>
                <a:latin typeface="system-ui"/>
              </a:rPr>
              <a:t>Reaxys</a:t>
            </a:r>
            <a:r>
              <a:rPr lang="en-US" altLang="zh-CN" sz="2400" b="1" dirty="0">
                <a:solidFill>
                  <a:srgbClr val="222222"/>
                </a:solidFill>
                <a:latin typeface="system-ui"/>
              </a:rPr>
              <a:t> </a:t>
            </a:r>
            <a:r>
              <a:rPr lang="zh-CN" altLang="en-US" sz="2400" b="1" dirty="0">
                <a:solidFill>
                  <a:srgbClr val="222222"/>
                </a:solidFill>
                <a:latin typeface="system-ui"/>
              </a:rPr>
              <a:t>反应数据库搜索</a:t>
            </a:r>
            <a:endParaRPr lang="zh-CN" altLang="en-US" sz="2400" b="1" dirty="0">
              <a:solidFill>
                <a:srgbClr val="021EAA"/>
              </a:solidFill>
              <a:latin typeface="-apple-system-font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1AFB76-E046-4B0E-A743-92B6C0C12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409686"/>
              </p:ext>
            </p:extLst>
          </p:nvPr>
        </p:nvGraphicFramePr>
        <p:xfrm>
          <a:off x="1941512" y="1544781"/>
          <a:ext cx="49276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CS ChemDraw Drawing" r:id="rId3" imgW="4928043" imgH="869877" progId="ChemDraw.Document.6.0">
                  <p:embed/>
                </p:oleObj>
              </mc:Choice>
              <mc:Fallback>
                <p:oleObj name="CS ChemDraw Drawing" r:id="rId3" imgW="4928043" imgH="86987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1512" y="1544781"/>
                        <a:ext cx="4927600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0A131DBA-4033-41F6-A166-27CEE1AE4F7A}"/>
              </a:ext>
            </a:extLst>
          </p:cNvPr>
          <p:cNvGrpSpPr/>
          <p:nvPr/>
        </p:nvGrpSpPr>
        <p:grpSpPr>
          <a:xfrm>
            <a:off x="314325" y="2682875"/>
            <a:ext cx="8181975" cy="3992975"/>
            <a:chOff x="352425" y="1987550"/>
            <a:chExt cx="8181975" cy="399297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FB194A7-4CAC-44A6-86AD-9C5AF6F72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425" y="1987550"/>
              <a:ext cx="8181975" cy="399297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E2DCC38-56BA-49DC-99A8-A8979C027B05}"/>
                </a:ext>
              </a:extLst>
            </p:cNvPr>
            <p:cNvSpPr/>
            <p:nvPr/>
          </p:nvSpPr>
          <p:spPr>
            <a:xfrm>
              <a:off x="609600" y="2566988"/>
              <a:ext cx="147638" cy="1835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5341A015-3FE8-45E8-86BE-EF0478F19D8D}"/>
              </a:ext>
            </a:extLst>
          </p:cNvPr>
          <p:cNvSpPr/>
          <p:nvPr/>
        </p:nvSpPr>
        <p:spPr>
          <a:xfrm>
            <a:off x="3482320" y="9482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延伸应用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10B784-55B0-4172-913B-127F634C3557}"/>
              </a:ext>
            </a:extLst>
          </p:cNvPr>
          <p:cNvSpPr/>
          <p:nvPr/>
        </p:nvSpPr>
        <p:spPr>
          <a:xfrm>
            <a:off x="172168" y="1052339"/>
            <a:ext cx="2682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i="1" dirty="0">
                <a:solidFill>
                  <a:srgbClr val="FF0000"/>
                </a:solidFill>
              </a:rPr>
              <a:t>https://www.reaxys.com/</a:t>
            </a:r>
          </a:p>
        </p:txBody>
      </p:sp>
    </p:spTree>
    <p:extLst>
      <p:ext uri="{BB962C8B-B14F-4D97-AF65-F5344CB8AC3E}">
        <p14:creationId xmlns:p14="http://schemas.microsoft.com/office/powerpoint/2010/main" val="2079393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48472D-4AB2-4503-84CA-1A72AE523A1C}"/>
              </a:ext>
            </a:extLst>
          </p:cNvPr>
          <p:cNvSpPr/>
          <p:nvPr/>
        </p:nvSpPr>
        <p:spPr>
          <a:xfrm>
            <a:off x="123825" y="753417"/>
            <a:ext cx="3597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222222"/>
                </a:solidFill>
                <a:latin typeface="system-ui"/>
              </a:rPr>
              <a:t>Reaxys</a:t>
            </a:r>
            <a:r>
              <a:rPr lang="en-US" altLang="zh-CN" sz="2400" b="1" dirty="0">
                <a:solidFill>
                  <a:srgbClr val="222222"/>
                </a:solidFill>
                <a:latin typeface="system-ui"/>
              </a:rPr>
              <a:t> </a:t>
            </a:r>
            <a:r>
              <a:rPr lang="zh-CN" altLang="en-US" sz="2400" b="1" dirty="0">
                <a:solidFill>
                  <a:srgbClr val="222222"/>
                </a:solidFill>
                <a:latin typeface="system-ui"/>
              </a:rPr>
              <a:t>反应数据库搜索：</a:t>
            </a:r>
            <a:endParaRPr lang="zh-CN" altLang="en-US" sz="2400" b="1" dirty="0">
              <a:solidFill>
                <a:srgbClr val="021EAA"/>
              </a:solidFill>
              <a:latin typeface="-apple-system-font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1AFB76-E046-4B0E-A743-92B6C0C12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070453"/>
              </p:ext>
            </p:extLst>
          </p:nvPr>
        </p:nvGraphicFramePr>
        <p:xfrm>
          <a:off x="2212975" y="1487532"/>
          <a:ext cx="49276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CS ChemDraw Drawing" r:id="rId3" imgW="4928043" imgH="869877" progId="ChemDraw.Document.6.0">
                  <p:embed/>
                </p:oleObj>
              </mc:Choice>
              <mc:Fallback>
                <p:oleObj name="CS ChemDraw Drawing" r:id="rId3" imgW="4928043" imgH="869877" progId="ChemDraw.Document.6.0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31AFB76-E046-4B0E-A743-92B6C0C12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12975" y="1487532"/>
                        <a:ext cx="4927600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363E22DC-8DA1-4D98-AE2A-98818AF4BD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" y="2671987"/>
            <a:ext cx="8896350" cy="34747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8609D99-D147-4048-9819-A655E9AD59C0}"/>
              </a:ext>
            </a:extLst>
          </p:cNvPr>
          <p:cNvSpPr txBox="1"/>
          <p:nvPr/>
        </p:nvSpPr>
        <p:spPr>
          <a:xfrm>
            <a:off x="200025" y="219075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检索结果：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99E94C-77DA-4D4E-9E1E-5B36C312D034}"/>
              </a:ext>
            </a:extLst>
          </p:cNvPr>
          <p:cNvSpPr/>
          <p:nvPr/>
        </p:nvSpPr>
        <p:spPr>
          <a:xfrm>
            <a:off x="3482320" y="9482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延伸应用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</p:spTree>
    <p:extLst>
      <p:ext uri="{BB962C8B-B14F-4D97-AF65-F5344CB8AC3E}">
        <p14:creationId xmlns:p14="http://schemas.microsoft.com/office/powerpoint/2010/main" val="95743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B7D945D-BC07-464C-B948-FD099B27B04E}"/>
              </a:ext>
            </a:extLst>
          </p:cNvPr>
          <p:cNvSpPr/>
          <p:nvPr/>
        </p:nvSpPr>
        <p:spPr>
          <a:xfrm>
            <a:off x="3482320" y="9482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222222"/>
                </a:solidFill>
                <a:latin typeface="system-ui"/>
              </a:rPr>
              <a:t>延伸应用</a:t>
            </a:r>
            <a:endParaRPr lang="zh-CN" altLang="en-US" sz="3200" b="1" dirty="0">
              <a:solidFill>
                <a:srgbClr val="021EAA"/>
              </a:solidFill>
              <a:latin typeface="-apple-system-fon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BB71FF-F750-4A21-88A8-A685CF228297}"/>
              </a:ext>
            </a:extLst>
          </p:cNvPr>
          <p:cNvSpPr txBox="1"/>
          <p:nvPr/>
        </p:nvSpPr>
        <p:spPr>
          <a:xfrm>
            <a:off x="3881676" y="608135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减压蒸馏装置图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7B8CED-98DA-408E-A94A-7F987466F29F}"/>
              </a:ext>
            </a:extLst>
          </p:cNvPr>
          <p:cNvSpPr/>
          <p:nvPr/>
        </p:nvSpPr>
        <p:spPr>
          <a:xfrm>
            <a:off x="123824" y="757237"/>
            <a:ext cx="81153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44444"/>
                </a:solidFill>
                <a:latin typeface="Arial" panose="020B0604020202020204" pitchFamily="34" charset="0"/>
              </a:rPr>
              <a:t>在“</a:t>
            </a:r>
            <a:r>
              <a:rPr lang="en-US" altLang="zh-CN" dirty="0" err="1">
                <a:solidFill>
                  <a:srgbClr val="444444"/>
                </a:solidFill>
                <a:latin typeface="Arial" panose="020B0604020202020204" pitchFamily="34" charset="0"/>
              </a:rPr>
              <a:t>Clipware</a:t>
            </a:r>
            <a:r>
              <a:rPr lang="en-US" altLang="zh-CN" dirty="0">
                <a:solidFill>
                  <a:srgbClr val="444444"/>
                </a:solidFill>
                <a:latin typeface="Arial" panose="020B0604020202020204" pitchFamily="34" charset="0"/>
              </a:rPr>
              <a:t> part 1”</a:t>
            </a:r>
            <a:r>
              <a:rPr lang="zh-CN" altLang="en-US" dirty="0">
                <a:solidFill>
                  <a:srgbClr val="444444"/>
                </a:solidFill>
                <a:latin typeface="Arial" panose="020B0604020202020204" pitchFamily="34" charset="0"/>
              </a:rPr>
              <a:t>中选择加热台、铁架台、蒸馏头、真空接液管和接收瓶。</a:t>
            </a:r>
          </a:p>
          <a:p>
            <a:r>
              <a:rPr lang="zh-CN" altLang="en-US" dirty="0">
                <a:solidFill>
                  <a:srgbClr val="444444"/>
                </a:solidFill>
                <a:latin typeface="Arial" panose="020B0604020202020204" pitchFamily="34" charset="0"/>
              </a:rPr>
              <a:t>在“</a:t>
            </a:r>
            <a:r>
              <a:rPr lang="en-US" altLang="zh-CN" dirty="0" err="1">
                <a:solidFill>
                  <a:srgbClr val="444444"/>
                </a:solidFill>
                <a:latin typeface="Arial" panose="020B0604020202020204" pitchFamily="34" charset="0"/>
              </a:rPr>
              <a:t>Clipware</a:t>
            </a:r>
            <a:r>
              <a:rPr lang="en-US" altLang="zh-CN" dirty="0">
                <a:solidFill>
                  <a:srgbClr val="444444"/>
                </a:solidFill>
                <a:latin typeface="Arial" panose="020B0604020202020204" pitchFamily="34" charset="0"/>
              </a:rPr>
              <a:t> part2”</a:t>
            </a:r>
            <a:r>
              <a:rPr lang="zh-CN" altLang="en-US" dirty="0">
                <a:solidFill>
                  <a:srgbClr val="444444"/>
                </a:solidFill>
                <a:latin typeface="Arial" panose="020B0604020202020204" pitchFamily="34" charset="0"/>
              </a:rPr>
              <a:t>中选择冷凝管和温度计。</a:t>
            </a:r>
            <a:endParaRPr lang="zh-CN" alt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B9E63E2-9BAD-45F5-8142-9944FC114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517652"/>
              </p:ext>
            </p:extLst>
          </p:nvPr>
        </p:nvGraphicFramePr>
        <p:xfrm>
          <a:off x="2581275" y="1581085"/>
          <a:ext cx="4497388" cy="4322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CS ChemDraw Drawing" r:id="rId3" imgW="5641518" imgH="5422222" progId="ChemDraw.Document.6.0">
                  <p:embed/>
                </p:oleObj>
              </mc:Choice>
              <mc:Fallback>
                <p:oleObj name="CS ChemDraw Drawing" r:id="rId3" imgW="5641518" imgH="542222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1275" y="1581085"/>
                        <a:ext cx="4497388" cy="43227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9872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2kkcf1r">
      <a:majorFont>
        <a:latin typeface="Calibri Light" panose="020F0302020204030204"/>
        <a:ea typeface="微软雅黑"/>
        <a:cs typeface=""/>
      </a:majorFont>
      <a:minorFont>
        <a:latin typeface="Calibri" panose="020F0502020204030204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58079</TotalTime>
  <Words>450</Words>
  <Application>Microsoft Office PowerPoint</Application>
  <PresentationFormat>全屏显示(4:3)</PresentationFormat>
  <Paragraphs>63</Paragraphs>
  <Slides>16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-apple-system-font</vt:lpstr>
      <vt:lpstr>system-ui</vt:lpstr>
      <vt:lpstr>等线</vt:lpstr>
      <vt:lpstr>华文楷体</vt:lpstr>
      <vt:lpstr>微软雅黑</vt:lpstr>
      <vt:lpstr>Arial</vt:lpstr>
      <vt:lpstr>Arial</vt:lpstr>
      <vt:lpstr>Calibri</vt:lpstr>
      <vt:lpstr>Calibri Light</vt:lpstr>
      <vt:lpstr>Office 主题​​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yaowen</dc:creator>
  <cp:lastModifiedBy>FU YANG</cp:lastModifiedBy>
  <cp:revision>1443</cp:revision>
  <dcterms:created xsi:type="dcterms:W3CDTF">2019-06-07T05:01:26Z</dcterms:created>
  <dcterms:modified xsi:type="dcterms:W3CDTF">2022-10-21T12:07:13Z</dcterms:modified>
</cp:coreProperties>
</file>