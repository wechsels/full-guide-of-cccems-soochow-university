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7"/>
  </p:notesMasterIdLst>
  <p:sldIdLst>
    <p:sldId id="256" r:id="rId2"/>
    <p:sldId id="263" r:id="rId3"/>
    <p:sldId id="264" r:id="rId4"/>
    <p:sldId id="265" r:id="rId5"/>
    <p:sldId id="266" r:id="rId6"/>
    <p:sldId id="267" r:id="rId7"/>
    <p:sldId id="268" r:id="rId8"/>
    <p:sldId id="269" r:id="rId9"/>
    <p:sldId id="270" r:id="rId10"/>
    <p:sldId id="272" r:id="rId11"/>
    <p:sldId id="273" r:id="rId12"/>
    <p:sldId id="274" r:id="rId13"/>
    <p:sldId id="275" r:id="rId14"/>
    <p:sldId id="276" r:id="rId15"/>
    <p:sldId id="277"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33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747" autoAdjust="0"/>
    <p:restoredTop sz="87359" autoAdjust="0"/>
  </p:normalViewPr>
  <p:slideViewPr>
    <p:cSldViewPr snapToGrid="0">
      <p:cViewPr varScale="1">
        <p:scale>
          <a:sx n="71" d="100"/>
          <a:sy n="71" d="100"/>
        </p:scale>
        <p:origin x="2037"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ECCD9D-F7C5-4A50-9303-0DA75654C79C}" type="datetimeFigureOut">
              <a:rPr lang="zh-CN" altLang="en-US" smtClean="0"/>
              <a:t>2022/11/29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B20A97-7007-48DD-9538-D649A318F2FC}" type="slidenum">
              <a:rPr lang="zh-CN" altLang="en-US" smtClean="0"/>
              <a:t>‹#›</a:t>
            </a:fld>
            <a:endParaRPr lang="zh-CN" altLang="en-US"/>
          </a:p>
        </p:txBody>
      </p:sp>
    </p:spTree>
    <p:extLst>
      <p:ext uri="{BB962C8B-B14F-4D97-AF65-F5344CB8AC3E}">
        <p14:creationId xmlns:p14="http://schemas.microsoft.com/office/powerpoint/2010/main" val="2892610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B20A97-7007-48DD-9538-D649A318F2FC}" type="slidenum">
              <a:rPr lang="zh-CN" altLang="en-US" smtClean="0"/>
              <a:t>1</a:t>
            </a:fld>
            <a:endParaRPr lang="zh-CN" altLang="en-US"/>
          </a:p>
        </p:txBody>
      </p:sp>
    </p:spTree>
    <p:extLst>
      <p:ext uri="{BB962C8B-B14F-4D97-AF65-F5344CB8AC3E}">
        <p14:creationId xmlns:p14="http://schemas.microsoft.com/office/powerpoint/2010/main" val="3215323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B15B95C-7AAF-4442-8801-EFAA093DBA64}" type="datetimeFigureOut">
              <a:rPr lang="zh-CN" altLang="en-US" smtClean="0"/>
              <a:t>2022/11/29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DDDD87-1EB3-43F0-830D-B9D3E2A7E1FB}" type="slidenum">
              <a:rPr lang="zh-CN" altLang="en-US" smtClean="0"/>
              <a:t>‹#›</a:t>
            </a:fld>
            <a:endParaRPr lang="zh-CN" altLang="en-US"/>
          </a:p>
        </p:txBody>
      </p:sp>
    </p:spTree>
    <p:extLst>
      <p:ext uri="{BB962C8B-B14F-4D97-AF65-F5344CB8AC3E}">
        <p14:creationId xmlns:p14="http://schemas.microsoft.com/office/powerpoint/2010/main" val="1715692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CD5673-EBDA-49C8-8BF5-B50CCEF1D4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1D50D47-A735-4707-97C1-D18FC62E5943}"/>
              </a:ext>
            </a:extLst>
          </p:cNvPr>
          <p:cNvSpPr>
            <a:spLocks noGrp="1"/>
          </p:cNvSpPr>
          <p:nvPr>
            <p:ph type="dt" sz="half" idx="10"/>
          </p:nvPr>
        </p:nvSpPr>
        <p:spPr/>
        <p:txBody>
          <a:bodyPr/>
          <a:lstStyle/>
          <a:p>
            <a:fld id="{AB15B95C-7AAF-4442-8801-EFAA093DBA64}" type="datetimeFigureOut">
              <a:rPr lang="zh-CN" altLang="en-US" smtClean="0"/>
              <a:t>2022/11/29</a:t>
            </a:fld>
            <a:endParaRPr lang="zh-CN" altLang="en-US"/>
          </a:p>
        </p:txBody>
      </p:sp>
      <p:sp>
        <p:nvSpPr>
          <p:cNvPr id="4" name="页脚占位符 3">
            <a:extLst>
              <a:ext uri="{FF2B5EF4-FFF2-40B4-BE49-F238E27FC236}">
                <a16:creationId xmlns:a16="http://schemas.microsoft.com/office/drawing/2014/main" id="{43D187A9-ADBB-4411-8D2B-FB7B024CDB5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FE141A9-DCEE-48BE-BDC2-8DC34ACF5E2A}"/>
              </a:ext>
            </a:extLst>
          </p:cNvPr>
          <p:cNvSpPr>
            <a:spLocks noGrp="1"/>
          </p:cNvSpPr>
          <p:nvPr>
            <p:ph type="sldNum" sz="quarter" idx="12"/>
          </p:nvPr>
        </p:nvSpPr>
        <p:spPr/>
        <p:txBody>
          <a:bodyPr/>
          <a:lstStyle/>
          <a:p>
            <a:fld id="{BCDDDD87-1EB3-43F0-830D-B9D3E2A7E1FB}" type="slidenum">
              <a:rPr lang="zh-CN" altLang="en-US" smtClean="0"/>
              <a:t>‹#›</a:t>
            </a:fld>
            <a:endParaRPr lang="zh-CN" altLang="en-US"/>
          </a:p>
        </p:txBody>
      </p:sp>
      <p:cxnSp>
        <p:nvCxnSpPr>
          <p:cNvPr id="6" name="直接连接符 10">
            <a:extLst>
              <a:ext uri="{FF2B5EF4-FFF2-40B4-BE49-F238E27FC236}">
                <a16:creationId xmlns:a16="http://schemas.microsoft.com/office/drawing/2014/main" id="{81661AAE-8FE7-4F46-BABA-1B27230DBF1A}"/>
              </a:ext>
            </a:extLst>
          </p:cNvPr>
          <p:cNvCxnSpPr>
            <a:cxnSpLocks noChangeShapeType="1"/>
          </p:cNvCxnSpPr>
          <p:nvPr userDrawn="1"/>
        </p:nvCxnSpPr>
        <p:spPr bwMode="auto">
          <a:xfrm>
            <a:off x="0" y="687624"/>
            <a:ext cx="9144000" cy="1587"/>
          </a:xfrm>
          <a:prstGeom prst="line">
            <a:avLst/>
          </a:prstGeom>
          <a:noFill/>
          <a:ln w="38100" algn="ctr">
            <a:solidFill>
              <a:schemeClr val="tx1"/>
            </a:solidFill>
            <a:round/>
            <a:headEnd/>
            <a:tailEnd/>
          </a:ln>
          <a:effectLst>
            <a:glow rad="63500">
              <a:schemeClr val="accent3">
                <a:satMod val="175000"/>
                <a:alpha val="40000"/>
              </a:schemeClr>
            </a:glow>
          </a:effectLst>
        </p:spPr>
      </p:cxnSp>
    </p:spTree>
    <p:extLst>
      <p:ext uri="{BB962C8B-B14F-4D97-AF65-F5344CB8AC3E}">
        <p14:creationId xmlns:p14="http://schemas.microsoft.com/office/powerpoint/2010/main" val="2921083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B15B95C-7AAF-4442-8801-EFAA093DBA64}" type="datetimeFigureOut">
              <a:rPr lang="zh-CN" altLang="en-US" smtClean="0"/>
              <a:t>2022/11/29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DDDD87-1EB3-43F0-830D-B9D3E2A7E1FB}" type="slidenum">
              <a:rPr lang="zh-CN" altLang="en-US" smtClean="0"/>
              <a:t>‹#›</a:t>
            </a:fld>
            <a:endParaRPr lang="zh-CN" altLang="en-US"/>
          </a:p>
        </p:txBody>
      </p:sp>
    </p:spTree>
    <p:extLst>
      <p:ext uri="{BB962C8B-B14F-4D97-AF65-F5344CB8AC3E}">
        <p14:creationId xmlns:p14="http://schemas.microsoft.com/office/powerpoint/2010/main" val="1549080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F97C6A-A1A1-4EC2-B52C-41207CDD8DE2}"/>
              </a:ext>
            </a:extLst>
          </p:cNvPr>
          <p:cNvSpPr>
            <a:spLocks noGrp="1"/>
          </p:cNvSpPr>
          <p:nvPr>
            <p:ph type="title"/>
          </p:nvPr>
        </p:nvSpPr>
        <p:spPr>
          <a:xfrm>
            <a:off x="2105025" y="-311149"/>
            <a:ext cx="7886700" cy="1325563"/>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日期占位符 2">
            <a:extLst>
              <a:ext uri="{FF2B5EF4-FFF2-40B4-BE49-F238E27FC236}">
                <a16:creationId xmlns:a16="http://schemas.microsoft.com/office/drawing/2014/main" id="{8DE234F4-193E-4294-964F-1E4C8959682E}"/>
              </a:ext>
            </a:extLst>
          </p:cNvPr>
          <p:cNvSpPr>
            <a:spLocks noGrp="1"/>
          </p:cNvSpPr>
          <p:nvPr>
            <p:ph type="dt" sz="half" idx="10"/>
          </p:nvPr>
        </p:nvSpPr>
        <p:spPr/>
        <p:txBody>
          <a:bodyPr/>
          <a:lstStyle/>
          <a:p>
            <a:fld id="{AB15B95C-7AAF-4442-8801-EFAA093DBA64}" type="datetimeFigureOut">
              <a:rPr lang="zh-CN" altLang="en-US" smtClean="0"/>
              <a:t>2022/11/29</a:t>
            </a:fld>
            <a:endParaRPr lang="zh-CN" altLang="en-US"/>
          </a:p>
        </p:txBody>
      </p:sp>
      <p:sp>
        <p:nvSpPr>
          <p:cNvPr id="4" name="页脚占位符 3">
            <a:extLst>
              <a:ext uri="{FF2B5EF4-FFF2-40B4-BE49-F238E27FC236}">
                <a16:creationId xmlns:a16="http://schemas.microsoft.com/office/drawing/2014/main" id="{EFECC887-6905-46E1-9161-AEFB1FBD511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F5E32B1-BC74-40FD-BE5D-B0467EE443DC}"/>
              </a:ext>
            </a:extLst>
          </p:cNvPr>
          <p:cNvSpPr>
            <a:spLocks noGrp="1"/>
          </p:cNvSpPr>
          <p:nvPr>
            <p:ph type="sldNum" sz="quarter" idx="12"/>
          </p:nvPr>
        </p:nvSpPr>
        <p:spPr/>
        <p:txBody>
          <a:bodyPr/>
          <a:lstStyle/>
          <a:p>
            <a:fld id="{BCDDDD87-1EB3-43F0-830D-B9D3E2A7E1FB}" type="slidenum">
              <a:rPr lang="zh-CN" altLang="en-US" smtClean="0"/>
              <a:t>‹#›</a:t>
            </a:fld>
            <a:endParaRPr lang="zh-CN" altLang="en-US"/>
          </a:p>
        </p:txBody>
      </p:sp>
      <p:cxnSp>
        <p:nvCxnSpPr>
          <p:cNvPr id="6" name="直接连接符 10">
            <a:extLst>
              <a:ext uri="{FF2B5EF4-FFF2-40B4-BE49-F238E27FC236}">
                <a16:creationId xmlns:a16="http://schemas.microsoft.com/office/drawing/2014/main" id="{F82C04F0-0C26-4955-9B1A-39D228B5AED3}"/>
              </a:ext>
            </a:extLst>
          </p:cNvPr>
          <p:cNvCxnSpPr>
            <a:cxnSpLocks noChangeShapeType="1"/>
          </p:cNvCxnSpPr>
          <p:nvPr userDrawn="1"/>
        </p:nvCxnSpPr>
        <p:spPr bwMode="auto">
          <a:xfrm>
            <a:off x="0" y="659049"/>
            <a:ext cx="9144000" cy="1587"/>
          </a:xfrm>
          <a:prstGeom prst="line">
            <a:avLst/>
          </a:prstGeom>
          <a:noFill/>
          <a:ln w="38100" algn="ctr">
            <a:solidFill>
              <a:schemeClr val="tx1"/>
            </a:solidFill>
            <a:round/>
            <a:headEnd/>
            <a:tailEnd/>
          </a:ln>
          <a:effectLst>
            <a:glow rad="63500">
              <a:schemeClr val="accent3">
                <a:satMod val="175000"/>
                <a:alpha val="40000"/>
              </a:schemeClr>
            </a:glow>
          </a:effectLst>
        </p:spPr>
      </p:cxnSp>
    </p:spTree>
    <p:extLst>
      <p:ext uri="{BB962C8B-B14F-4D97-AF65-F5344CB8AC3E}">
        <p14:creationId xmlns:p14="http://schemas.microsoft.com/office/powerpoint/2010/main" val="2083133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B15B95C-7AAF-4442-8801-EFAA093DBA64}" type="datetimeFigureOut">
              <a:rPr lang="zh-CN" altLang="en-US" smtClean="0"/>
              <a:t>2022/11/29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DDDD87-1EB3-43F0-830D-B9D3E2A7E1FB}" type="slidenum">
              <a:rPr lang="zh-CN" altLang="en-US" smtClean="0"/>
              <a:t>‹#›</a:t>
            </a:fld>
            <a:endParaRPr lang="zh-CN" altLang="en-US"/>
          </a:p>
        </p:txBody>
      </p:sp>
    </p:spTree>
    <p:extLst>
      <p:ext uri="{BB962C8B-B14F-4D97-AF65-F5344CB8AC3E}">
        <p14:creationId xmlns:p14="http://schemas.microsoft.com/office/powerpoint/2010/main" val="1474943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B15B95C-7AAF-4442-8801-EFAA093DBA64}" type="datetimeFigureOut">
              <a:rPr lang="zh-CN" altLang="en-US" smtClean="0"/>
              <a:t>2022/11/29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DDDD87-1EB3-43F0-830D-B9D3E2A7E1FB}" type="slidenum">
              <a:rPr lang="zh-CN" altLang="en-US" smtClean="0"/>
              <a:t>‹#›</a:t>
            </a:fld>
            <a:endParaRPr lang="zh-CN" altLang="en-US"/>
          </a:p>
        </p:txBody>
      </p:sp>
    </p:spTree>
    <p:extLst>
      <p:ext uri="{BB962C8B-B14F-4D97-AF65-F5344CB8AC3E}">
        <p14:creationId xmlns:p14="http://schemas.microsoft.com/office/powerpoint/2010/main" val="551978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AB15B95C-7AAF-4442-8801-EFAA093DBA64}" type="datetimeFigureOut">
              <a:rPr lang="zh-CN" altLang="en-US" smtClean="0"/>
              <a:t>2022/11/29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CDDDD87-1EB3-43F0-830D-B9D3E2A7E1FB}" type="slidenum">
              <a:rPr lang="zh-CN" altLang="en-US" smtClean="0"/>
              <a:t>‹#›</a:t>
            </a:fld>
            <a:endParaRPr lang="zh-CN" altLang="en-US"/>
          </a:p>
        </p:txBody>
      </p:sp>
    </p:spTree>
    <p:extLst>
      <p:ext uri="{BB962C8B-B14F-4D97-AF65-F5344CB8AC3E}">
        <p14:creationId xmlns:p14="http://schemas.microsoft.com/office/powerpoint/2010/main" val="1889881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B15B95C-7AAF-4442-8801-EFAA093DBA64}" type="datetimeFigureOut">
              <a:rPr lang="zh-CN" altLang="en-US" smtClean="0"/>
              <a:t>2022/11/29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CDDDD87-1EB3-43F0-830D-B9D3E2A7E1FB}" type="slidenum">
              <a:rPr lang="zh-CN" altLang="en-US" smtClean="0"/>
              <a:t>‹#›</a:t>
            </a:fld>
            <a:endParaRPr lang="zh-CN" altLang="en-US"/>
          </a:p>
        </p:txBody>
      </p:sp>
    </p:spTree>
    <p:extLst>
      <p:ext uri="{BB962C8B-B14F-4D97-AF65-F5344CB8AC3E}">
        <p14:creationId xmlns:p14="http://schemas.microsoft.com/office/powerpoint/2010/main" val="2106172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15B95C-7AAF-4442-8801-EFAA093DBA64}" type="datetimeFigureOut">
              <a:rPr lang="zh-CN" altLang="en-US" smtClean="0"/>
              <a:t>2022/11/29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CDDDD87-1EB3-43F0-830D-B9D3E2A7E1FB}" type="slidenum">
              <a:rPr lang="zh-CN" altLang="en-US" smtClean="0"/>
              <a:t>‹#›</a:t>
            </a:fld>
            <a:endParaRPr lang="zh-CN" altLang="en-US"/>
          </a:p>
        </p:txBody>
      </p:sp>
    </p:spTree>
    <p:extLst>
      <p:ext uri="{BB962C8B-B14F-4D97-AF65-F5344CB8AC3E}">
        <p14:creationId xmlns:p14="http://schemas.microsoft.com/office/powerpoint/2010/main" val="131991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B15B95C-7AAF-4442-8801-EFAA093DBA64}" type="datetimeFigureOut">
              <a:rPr lang="zh-CN" altLang="en-US" smtClean="0"/>
              <a:t>2022/11/29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DDDD87-1EB3-43F0-830D-B9D3E2A7E1FB}" type="slidenum">
              <a:rPr lang="zh-CN" altLang="en-US" smtClean="0"/>
              <a:t>‹#›</a:t>
            </a:fld>
            <a:endParaRPr lang="zh-CN" altLang="en-US"/>
          </a:p>
        </p:txBody>
      </p:sp>
    </p:spTree>
    <p:extLst>
      <p:ext uri="{BB962C8B-B14F-4D97-AF65-F5344CB8AC3E}">
        <p14:creationId xmlns:p14="http://schemas.microsoft.com/office/powerpoint/2010/main" val="2726050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B15B95C-7AAF-4442-8801-EFAA093DBA64}" type="datetimeFigureOut">
              <a:rPr lang="zh-CN" altLang="en-US" smtClean="0"/>
              <a:t>2022/11/29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DDDD87-1EB3-43F0-830D-B9D3E2A7E1FB}" type="slidenum">
              <a:rPr lang="zh-CN" altLang="en-US" smtClean="0"/>
              <a:t>‹#›</a:t>
            </a:fld>
            <a:endParaRPr lang="zh-CN" altLang="en-US"/>
          </a:p>
        </p:txBody>
      </p:sp>
    </p:spTree>
    <p:extLst>
      <p:ext uri="{BB962C8B-B14F-4D97-AF65-F5344CB8AC3E}">
        <p14:creationId xmlns:p14="http://schemas.microsoft.com/office/powerpoint/2010/main" val="3076316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B15B95C-7AAF-4442-8801-EFAA093DBA64}" type="datetimeFigureOut">
              <a:rPr lang="zh-CN" altLang="en-US" smtClean="0"/>
              <a:t>2022/11/29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DDDD87-1EB3-43F0-830D-B9D3E2A7E1FB}" type="slidenum">
              <a:rPr lang="zh-CN" altLang="en-US" smtClean="0"/>
              <a:t>‹#›</a:t>
            </a:fld>
            <a:endParaRPr lang="zh-CN" altLang="en-US"/>
          </a:p>
        </p:txBody>
      </p:sp>
    </p:spTree>
    <p:extLst>
      <p:ext uri="{BB962C8B-B14F-4D97-AF65-F5344CB8AC3E}">
        <p14:creationId xmlns:p14="http://schemas.microsoft.com/office/powerpoint/2010/main" val="41211390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B15B95C-7AAF-4442-8801-EFAA093DBA64}" type="datetimeFigureOut">
              <a:rPr lang="zh-CN" altLang="en-US" smtClean="0"/>
              <a:t>2022/11/29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DDDD87-1EB3-43F0-830D-B9D3E2A7E1FB}" type="slidenum">
              <a:rPr lang="zh-CN" altLang="en-US" smtClean="0"/>
              <a:t>‹#›</a:t>
            </a:fld>
            <a:endParaRPr lang="zh-CN" altLang="en-US"/>
          </a:p>
        </p:txBody>
      </p:sp>
    </p:spTree>
    <p:extLst>
      <p:ext uri="{BB962C8B-B14F-4D97-AF65-F5344CB8AC3E}">
        <p14:creationId xmlns:p14="http://schemas.microsoft.com/office/powerpoint/2010/main" val="360805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15B95C-7AAF-4442-8801-EFAA093DBA64}" type="datetimeFigureOut">
              <a:rPr lang="zh-CN" altLang="en-US" smtClean="0"/>
              <a:t>2022/11/29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DDDD87-1EB3-43F0-830D-B9D3E2A7E1FB}" type="slidenum">
              <a:rPr lang="zh-CN" altLang="en-US" smtClean="0"/>
              <a:t>‹#›</a:t>
            </a:fld>
            <a:endParaRPr lang="zh-CN" altLang="en-US"/>
          </a:p>
        </p:txBody>
      </p:sp>
    </p:spTree>
    <p:extLst>
      <p:ext uri="{BB962C8B-B14F-4D97-AF65-F5344CB8AC3E}">
        <p14:creationId xmlns:p14="http://schemas.microsoft.com/office/powerpoint/2010/main" val="4008389374"/>
      </p:ext>
    </p:extLst>
  </p:cSld>
  <p:clrMap bg1="lt1" tx1="dk1" bg2="lt2" tx2="dk2" accent1="accent1" accent2="accent2" accent3="accent3" accent4="accent4" accent5="accent5" accent6="accent6" hlink="hlink" folHlink="folHlink"/>
  <p:sldLayoutIdLst>
    <p:sldLayoutId id="2147483709" r:id="rId1"/>
    <p:sldLayoutId id="2147483720" r:id="rId2"/>
    <p:sldLayoutId id="2147483710" r:id="rId3"/>
    <p:sldLayoutId id="2147483721"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enwen.soso.com/z/Search.e?sp=S%E7%94%B5%E9%98%BB%E5%99%A8&amp;ch=w.search.yjjlink&amp;cid=w.search.yjjlink" TargetMode="External"/><Relationship Id="rId2" Type="http://schemas.openxmlformats.org/officeDocument/2006/relationships/hyperlink" Target="http://wenwen.soso.com/z/Search.e?sp=S%E7%94%B5%E5%AD%90%E7%AE%A1&amp;ch=w.search.yjjlink&amp;cid=w.search.yjjlink" TargetMode="External"/><Relationship Id="rId1" Type="http://schemas.openxmlformats.org/officeDocument/2006/relationships/slideLayout" Target="../slideLayouts/slideLayout2.xml"/><Relationship Id="rId5" Type="http://schemas.openxmlformats.org/officeDocument/2006/relationships/hyperlink" Target="http://wenwen.soso.com/z/Search.e?sp=S%E8%B6%85%E7%BA%A7%E8%AE%A1%E7%AE%97%E6%9C%BA&amp;ch=w.search.yjjlink&amp;cid=w.search.yjjlink" TargetMode="External"/><Relationship Id="rId4" Type="http://schemas.openxmlformats.org/officeDocument/2006/relationships/hyperlink" Target="http://wenwen.soso.com/z/Search.e?sp=S%E7%94%B5%E5%AE%B9%E5%99%A8&amp;ch=w.search.yjjlink&amp;cid=w.search.yjjlin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D93EFFFE-4EE5-421C-A57C-EA473E2467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800" y="56015"/>
            <a:ext cx="1115516" cy="1131285"/>
          </a:xfrm>
          <a:prstGeom prst="rect">
            <a:avLst/>
          </a:prstGeom>
        </p:spPr>
      </p:pic>
      <p:sp>
        <p:nvSpPr>
          <p:cNvPr id="11" name="Text Box 10">
            <a:extLst>
              <a:ext uri="{FF2B5EF4-FFF2-40B4-BE49-F238E27FC236}">
                <a16:creationId xmlns:a16="http://schemas.microsoft.com/office/drawing/2014/main" id="{FF3986E3-D91D-478D-AC66-48A9D280308B}"/>
              </a:ext>
            </a:extLst>
          </p:cNvPr>
          <p:cNvSpPr txBox="1">
            <a:spLocks noChangeArrowheads="1"/>
          </p:cNvSpPr>
          <p:nvPr/>
        </p:nvSpPr>
        <p:spPr bwMode="auto">
          <a:xfrm>
            <a:off x="0" y="4536967"/>
            <a:ext cx="9144000" cy="651653"/>
          </a:xfrm>
          <a:prstGeom prst="rect">
            <a:avLst/>
          </a:prstGeom>
          <a:noFill/>
          <a:ln w="9525">
            <a:noFill/>
            <a:miter lim="800000"/>
            <a:headEnd/>
            <a:tailEnd/>
          </a:ln>
        </p:spPr>
        <p:txBody>
          <a:bodyPr>
            <a:spAutoFit/>
          </a:bodyPr>
          <a:lstStyle/>
          <a:p>
            <a:pPr algn="ctr">
              <a:lnSpc>
                <a:spcPct val="125000"/>
              </a:lnSpc>
              <a:spcBef>
                <a:spcPts val="0"/>
              </a:spcBef>
              <a:spcAft>
                <a:spcPts val="1200"/>
              </a:spcAft>
            </a:pPr>
            <a:r>
              <a:rPr kumimoji="1" lang="zh-CN" altLang="en-US" sz="3200" b="1" dirty="0">
                <a:latin typeface="+mn-ea"/>
                <a:cs typeface="+mn-ea"/>
              </a:rPr>
              <a:t> </a:t>
            </a:r>
            <a:r>
              <a:rPr kumimoji="1" lang="zh-CN" altLang="en-US" sz="2000" b="1" dirty="0">
                <a:latin typeface="+mn-ea"/>
                <a:cs typeface="+mn-ea"/>
              </a:rPr>
              <a:t>材料与化学化工学部</a:t>
            </a:r>
          </a:p>
        </p:txBody>
      </p:sp>
      <p:sp>
        <p:nvSpPr>
          <p:cNvPr id="6" name="矩形 13">
            <a:extLst>
              <a:ext uri="{FF2B5EF4-FFF2-40B4-BE49-F238E27FC236}">
                <a16:creationId xmlns:a16="http://schemas.microsoft.com/office/drawing/2014/main" id="{27F6F406-6407-4684-ADA4-B8E198B71829}"/>
              </a:ext>
            </a:extLst>
          </p:cNvPr>
          <p:cNvSpPr>
            <a:spLocks noChangeArrowheads="1"/>
          </p:cNvSpPr>
          <p:nvPr/>
        </p:nvSpPr>
        <p:spPr bwMode="auto">
          <a:xfrm>
            <a:off x="515603" y="1669380"/>
            <a:ext cx="8112794" cy="906915"/>
          </a:xfrm>
          <a:prstGeom prst="rect">
            <a:avLst/>
          </a:prstGeom>
          <a:noFill/>
          <a:ln>
            <a:noFill/>
          </a:ln>
        </p:spPr>
        <p:txBody>
          <a:bodyPr wrap="square">
            <a:spAutoFit/>
          </a:bodyPr>
          <a:lstStyle/>
          <a:p>
            <a:pPr algn="ctr" fontAlgn="auto">
              <a:lnSpc>
                <a:spcPct val="150000"/>
              </a:lnSpc>
              <a:spcBef>
                <a:spcPts val="0"/>
              </a:spcBef>
              <a:spcAft>
                <a:spcPts val="0"/>
              </a:spcAft>
              <a:defRPr/>
            </a:pPr>
            <a:r>
              <a:rPr kumimoji="1" lang="zh-CN" altLang="en-US" sz="4000" b="1" dirty="0">
                <a:solidFill>
                  <a:srgbClr val="0000FF"/>
                </a:solidFill>
                <a:latin typeface="+mn-ea"/>
                <a:cs typeface="+mn-ea"/>
              </a:rPr>
              <a:t>计算机在化学化工及材料中的应用</a:t>
            </a:r>
          </a:p>
        </p:txBody>
      </p:sp>
      <p:sp>
        <p:nvSpPr>
          <p:cNvPr id="13" name="副标题 4">
            <a:extLst>
              <a:ext uri="{FF2B5EF4-FFF2-40B4-BE49-F238E27FC236}">
                <a16:creationId xmlns:a16="http://schemas.microsoft.com/office/drawing/2014/main" id="{4AD17E88-A594-41C3-B95D-5C04DB87A97D}"/>
              </a:ext>
            </a:extLst>
          </p:cNvPr>
          <p:cNvSpPr>
            <a:spLocks noGrp="1"/>
          </p:cNvSpPr>
          <p:nvPr>
            <p:ph type="subTitle" idx="1"/>
          </p:nvPr>
        </p:nvSpPr>
        <p:spPr>
          <a:xfrm>
            <a:off x="1143000" y="3759735"/>
            <a:ext cx="6858000" cy="823658"/>
          </a:xfrm>
        </p:spPr>
        <p:txBody>
          <a:bodyPr>
            <a:normAutofit/>
          </a:bodyPr>
          <a:lstStyle/>
          <a:p>
            <a:r>
              <a:rPr kumimoji="1" lang="zh-CN" altLang="en-US" sz="3600" b="1" dirty="0">
                <a:solidFill>
                  <a:schemeClr val="accent5">
                    <a:lumMod val="50000"/>
                  </a:schemeClr>
                </a:solidFill>
                <a:latin typeface="+mn-ea"/>
                <a:cs typeface="+mn-ea"/>
              </a:rPr>
              <a:t>杨 甫</a:t>
            </a:r>
          </a:p>
        </p:txBody>
      </p:sp>
      <p:sp>
        <p:nvSpPr>
          <p:cNvPr id="14" name="矩形 13">
            <a:extLst>
              <a:ext uri="{FF2B5EF4-FFF2-40B4-BE49-F238E27FC236}">
                <a16:creationId xmlns:a16="http://schemas.microsoft.com/office/drawing/2014/main" id="{20D5C63A-0729-4FDC-9473-C7AC61A61DC1}"/>
              </a:ext>
            </a:extLst>
          </p:cNvPr>
          <p:cNvSpPr/>
          <p:nvPr/>
        </p:nvSpPr>
        <p:spPr>
          <a:xfrm>
            <a:off x="3571127" y="5188620"/>
            <a:ext cx="2255746" cy="1138773"/>
          </a:xfrm>
          <a:prstGeom prst="rect">
            <a:avLst/>
          </a:prstGeom>
        </p:spPr>
        <p:txBody>
          <a:bodyPr wrap="none">
            <a:spAutoFit/>
          </a:bodyPr>
          <a:lstStyle/>
          <a:p>
            <a:pPr lvl="0" algn="ctr" fontAlgn="auto">
              <a:spcBef>
                <a:spcPct val="20000"/>
              </a:spcBef>
              <a:spcAft>
                <a:spcPts val="0"/>
              </a:spcAft>
            </a:pPr>
            <a:r>
              <a:rPr lang="en-US" altLang="zh-CN" sz="2000" b="1" dirty="0">
                <a:solidFill>
                  <a:prstClr val="black"/>
                </a:solidFill>
                <a:latin typeface="STKaiti" panose="02010600040101010101" pitchFamily="2" charset="-122"/>
                <a:cs typeface="+mn-ea"/>
              </a:rPr>
              <a:t>fuyang@suda.edu.cn</a:t>
            </a:r>
          </a:p>
          <a:p>
            <a:pPr lvl="0" algn="ctr" fontAlgn="auto">
              <a:spcBef>
                <a:spcPct val="20000"/>
              </a:spcBef>
              <a:spcAft>
                <a:spcPts val="0"/>
              </a:spcAft>
            </a:pPr>
            <a:r>
              <a:rPr lang="en-US" altLang="zh-CN" sz="2000" b="1" dirty="0">
                <a:solidFill>
                  <a:prstClr val="black"/>
                </a:solidFill>
                <a:latin typeface="STKaiti" panose="02010600040101010101" pitchFamily="2" charset="-122"/>
                <a:cs typeface="+mn-ea"/>
              </a:rPr>
              <a:t>18051879103</a:t>
            </a:r>
          </a:p>
          <a:p>
            <a:pPr lvl="0" algn="ctr" fontAlgn="auto">
              <a:spcBef>
                <a:spcPct val="20000"/>
              </a:spcBef>
              <a:spcAft>
                <a:spcPts val="0"/>
              </a:spcAft>
            </a:pPr>
            <a:r>
              <a:rPr lang="en-US" altLang="zh-CN" sz="2000" b="1" dirty="0">
                <a:solidFill>
                  <a:prstClr val="black"/>
                </a:solidFill>
                <a:latin typeface="STKaiti" panose="02010600040101010101" pitchFamily="2" charset="-122"/>
                <a:cs typeface="+mn-ea"/>
              </a:rPr>
              <a:t>701-1315-3</a:t>
            </a:r>
            <a:endParaRPr lang="zh-CN" altLang="en-US" sz="2000" b="1" dirty="0">
              <a:solidFill>
                <a:prstClr val="black"/>
              </a:solidFill>
              <a:latin typeface="STKaiti" panose="02010600040101010101" pitchFamily="2" charset="-122"/>
              <a:cs typeface="+mn-ea"/>
            </a:endParaRPr>
          </a:p>
        </p:txBody>
      </p:sp>
    </p:spTree>
    <p:extLst>
      <p:ext uri="{BB962C8B-B14F-4D97-AF65-F5344CB8AC3E}">
        <p14:creationId xmlns:p14="http://schemas.microsoft.com/office/powerpoint/2010/main" val="2276426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6">
            <a:extLst>
              <a:ext uri="{FF2B5EF4-FFF2-40B4-BE49-F238E27FC236}">
                <a16:creationId xmlns:a16="http://schemas.microsoft.com/office/drawing/2014/main" id="{D84F87A1-2120-4718-A758-7B38220197AC}"/>
              </a:ext>
            </a:extLst>
          </p:cNvPr>
          <p:cNvSpPr txBox="1">
            <a:spLocks noChangeArrowheads="1"/>
          </p:cNvSpPr>
          <p:nvPr/>
        </p:nvSpPr>
        <p:spPr bwMode="auto">
          <a:xfrm>
            <a:off x="685800" y="2130425"/>
            <a:ext cx="7918450" cy="1470025"/>
          </a:xfrm>
          <a:prstGeom prst="rect">
            <a:avLst/>
          </a:prstGeom>
          <a:noFill/>
          <a:ln w="9525">
            <a:noFill/>
            <a:miter lim="800000"/>
            <a:headEnd/>
            <a:tailEnd/>
          </a:ln>
        </p:spPr>
        <p:txBody>
          <a:bodyPr anchor="ctr"/>
          <a:lstStyle/>
          <a:p>
            <a:pPr algn="ctr" defTabSz="914400" fontAlgn="base">
              <a:spcBef>
                <a:spcPct val="0"/>
              </a:spcBef>
              <a:spcAft>
                <a:spcPct val="0"/>
              </a:spcAft>
            </a:pPr>
            <a:r>
              <a:rPr lang="en-US" altLang="zh-CN" sz="4400" b="1" dirty="0">
                <a:solidFill>
                  <a:srgbClr val="000000"/>
                </a:solidFill>
                <a:latin typeface="Arial"/>
                <a:cs typeface="+mn-ea"/>
                <a:sym typeface="+mn-lt"/>
              </a:rPr>
              <a:t>  </a:t>
            </a:r>
            <a:r>
              <a:rPr lang="zh-CN" altLang="en-US" sz="4400" b="1" dirty="0">
                <a:solidFill>
                  <a:srgbClr val="000000"/>
                </a:solidFill>
                <a:latin typeface="Arial"/>
                <a:cs typeface="+mn-ea"/>
                <a:sym typeface="+mn-lt"/>
              </a:rPr>
              <a:t>第一章：计算机技术在化工及材料应用的发展历史</a:t>
            </a:r>
            <a:r>
              <a:rPr lang="zh-CN" altLang="en-US" sz="4400" dirty="0">
                <a:solidFill>
                  <a:srgbClr val="000000"/>
                </a:solidFill>
                <a:latin typeface="Arial"/>
                <a:cs typeface="+mn-ea"/>
                <a:sym typeface="+mn-lt"/>
              </a:rPr>
              <a:t> </a:t>
            </a:r>
          </a:p>
        </p:txBody>
      </p:sp>
    </p:spTree>
    <p:extLst>
      <p:ext uri="{BB962C8B-B14F-4D97-AF65-F5344CB8AC3E}">
        <p14:creationId xmlns:p14="http://schemas.microsoft.com/office/powerpoint/2010/main" val="3169592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EF3508FA-9CFD-488E-A424-0F4DB467EB3C}"/>
              </a:ext>
            </a:extLst>
          </p:cNvPr>
          <p:cNvSpPr txBox="1">
            <a:spLocks noChangeArrowheads="1"/>
          </p:cNvSpPr>
          <p:nvPr/>
        </p:nvSpPr>
        <p:spPr bwMode="auto">
          <a:xfrm>
            <a:off x="215900" y="1028700"/>
            <a:ext cx="8229600" cy="3657600"/>
          </a:xfrm>
          <a:prstGeom prst="rect">
            <a:avLst/>
          </a:prstGeom>
          <a:noFill/>
          <a:ln w="9525">
            <a:noFill/>
            <a:miter lim="800000"/>
            <a:headEnd/>
            <a:tailEnd/>
          </a:ln>
          <a:effectLst/>
        </p:spPr>
        <p:txBody>
          <a:bodyPr/>
          <a:lstStyle/>
          <a:p>
            <a:pPr defTabSz="914400" fontAlgn="base">
              <a:spcBef>
                <a:spcPct val="20000"/>
              </a:spcBef>
              <a:spcAft>
                <a:spcPct val="0"/>
              </a:spcAft>
              <a:defRPr/>
            </a:pPr>
            <a:r>
              <a:rPr lang="zh-CN" altLang="en-US" sz="3200" kern="0" dirty="0">
                <a:solidFill>
                  <a:srgbClr val="000000"/>
                </a:solidFill>
                <a:latin typeface="Arial"/>
                <a:cs typeface="+mn-ea"/>
                <a:sym typeface="+mn-lt"/>
              </a:rPr>
              <a:t>计算机在化学中的应用已经有</a:t>
            </a:r>
            <a:r>
              <a:rPr lang="en-US" altLang="zh-CN" sz="3200" kern="0" dirty="0">
                <a:solidFill>
                  <a:srgbClr val="009999"/>
                </a:solidFill>
                <a:latin typeface="Arial"/>
                <a:cs typeface="+mn-ea"/>
                <a:sym typeface="+mn-lt"/>
              </a:rPr>
              <a:t>60</a:t>
            </a:r>
            <a:r>
              <a:rPr lang="zh-CN" altLang="en-US" sz="3200" kern="0" dirty="0">
                <a:solidFill>
                  <a:srgbClr val="009999"/>
                </a:solidFill>
                <a:latin typeface="Arial"/>
                <a:cs typeface="+mn-ea"/>
                <a:sym typeface="+mn-lt"/>
              </a:rPr>
              <a:t>余年</a:t>
            </a:r>
            <a:r>
              <a:rPr lang="zh-CN" altLang="en-US" sz="3200" kern="0" dirty="0">
                <a:solidFill>
                  <a:srgbClr val="000000"/>
                </a:solidFill>
                <a:latin typeface="Arial"/>
                <a:cs typeface="+mn-ea"/>
                <a:sym typeface="+mn-lt"/>
              </a:rPr>
              <a:t>的历史。起初计算机主要用于量子化学计算方面，也称其为计算化学。随着计算机技术在化学中应用领域的扩大，计算化学显然已经不能涵盖其所有内容，人们将其列入一个新学科</a:t>
            </a:r>
            <a:r>
              <a:rPr lang="en-US" altLang="zh-CN" sz="3200" kern="0" dirty="0">
                <a:solidFill>
                  <a:srgbClr val="000000"/>
                </a:solidFill>
                <a:latin typeface="Arial"/>
                <a:cs typeface="+mn-ea"/>
                <a:sym typeface="+mn-lt"/>
              </a:rPr>
              <a:t>——</a:t>
            </a:r>
            <a:r>
              <a:rPr lang="zh-CN" altLang="en-US" sz="3200" kern="0" dirty="0">
                <a:solidFill>
                  <a:srgbClr val="009999"/>
                </a:solidFill>
                <a:latin typeface="Arial"/>
                <a:cs typeface="+mn-ea"/>
                <a:sym typeface="+mn-lt"/>
              </a:rPr>
              <a:t>计算机化学</a:t>
            </a:r>
            <a:r>
              <a:rPr lang="en-US" altLang="zh-CN" sz="3200" kern="0" dirty="0">
                <a:solidFill>
                  <a:srgbClr val="000000"/>
                </a:solidFill>
                <a:latin typeface="Arial"/>
                <a:cs typeface="+mn-ea"/>
                <a:sym typeface="+mn-lt"/>
              </a:rPr>
              <a:t>(Computational Chemistry or Computer Chemistry)</a:t>
            </a:r>
            <a:r>
              <a:rPr lang="zh-CN" altLang="en-US" sz="3200" kern="0" dirty="0">
                <a:solidFill>
                  <a:srgbClr val="000000"/>
                </a:solidFill>
                <a:latin typeface="Arial"/>
                <a:cs typeface="+mn-ea"/>
                <a:sym typeface="+mn-lt"/>
              </a:rPr>
              <a:t>。</a:t>
            </a:r>
          </a:p>
        </p:txBody>
      </p:sp>
      <p:sp>
        <p:nvSpPr>
          <p:cNvPr id="3" name="TextBox 8">
            <a:extLst>
              <a:ext uri="{FF2B5EF4-FFF2-40B4-BE49-F238E27FC236}">
                <a16:creationId xmlns:a16="http://schemas.microsoft.com/office/drawing/2014/main" id="{692539E0-BA99-40D1-A802-432A4BB47A38}"/>
              </a:ext>
            </a:extLst>
          </p:cNvPr>
          <p:cNvSpPr txBox="1">
            <a:spLocks noChangeArrowheads="1"/>
          </p:cNvSpPr>
          <p:nvPr/>
        </p:nvSpPr>
        <p:spPr bwMode="auto">
          <a:xfrm>
            <a:off x="215900" y="4864100"/>
            <a:ext cx="8458200" cy="1816100"/>
          </a:xfrm>
          <a:prstGeom prst="rect">
            <a:avLst/>
          </a:prstGeom>
          <a:noFill/>
          <a:ln w="9525">
            <a:noFill/>
            <a:miter lim="800000"/>
            <a:headEnd/>
            <a:tailEnd/>
          </a:ln>
        </p:spPr>
        <p:txBody>
          <a:bodyPr wrap="square">
            <a:spAutoFit/>
          </a:bodyPr>
          <a:lstStyle/>
          <a:p>
            <a:pPr defTabSz="914400" fontAlgn="base">
              <a:spcBef>
                <a:spcPct val="0"/>
              </a:spcBef>
              <a:spcAft>
                <a:spcPct val="0"/>
              </a:spcAft>
            </a:pPr>
            <a:r>
              <a:rPr lang="zh-CN" altLang="en-US" sz="1600" dirty="0">
                <a:solidFill>
                  <a:srgbClr val="000000"/>
                </a:solidFill>
                <a:latin typeface="Arial"/>
                <a:cs typeface="+mn-ea"/>
                <a:sym typeface="+mn-lt"/>
              </a:rPr>
              <a:t>第一台电子计算机终于在</a:t>
            </a:r>
            <a:r>
              <a:rPr lang="en-US" altLang="zh-CN" sz="1600" dirty="0">
                <a:solidFill>
                  <a:srgbClr val="000000"/>
                </a:solidFill>
                <a:latin typeface="Arial"/>
                <a:cs typeface="+mn-ea"/>
                <a:sym typeface="+mn-lt"/>
              </a:rPr>
              <a:t>1946</a:t>
            </a:r>
            <a:r>
              <a:rPr lang="zh-CN" altLang="en-US" sz="1600" dirty="0">
                <a:solidFill>
                  <a:srgbClr val="000000"/>
                </a:solidFill>
                <a:latin typeface="Arial"/>
                <a:cs typeface="+mn-ea"/>
                <a:sym typeface="+mn-lt"/>
              </a:rPr>
              <a:t>年</a:t>
            </a:r>
            <a:r>
              <a:rPr lang="en-US" altLang="zh-CN" sz="1600" dirty="0">
                <a:solidFill>
                  <a:srgbClr val="000000"/>
                </a:solidFill>
                <a:latin typeface="Arial"/>
                <a:cs typeface="+mn-ea"/>
                <a:sym typeface="+mn-lt"/>
              </a:rPr>
              <a:t>2 </a:t>
            </a:r>
            <a:r>
              <a:rPr lang="zh-CN" altLang="en-US" sz="1600" dirty="0">
                <a:solidFill>
                  <a:srgbClr val="000000"/>
                </a:solidFill>
                <a:latin typeface="Arial"/>
                <a:cs typeface="+mn-ea"/>
                <a:sym typeface="+mn-lt"/>
              </a:rPr>
              <a:t>月</a:t>
            </a:r>
            <a:r>
              <a:rPr lang="en-US" altLang="zh-CN" sz="1600" dirty="0">
                <a:solidFill>
                  <a:srgbClr val="000000"/>
                </a:solidFill>
                <a:latin typeface="Arial"/>
                <a:cs typeface="+mn-ea"/>
                <a:sym typeface="+mn-lt"/>
              </a:rPr>
              <a:t>14</a:t>
            </a:r>
            <a:r>
              <a:rPr lang="zh-CN" altLang="en-US" sz="1600" dirty="0">
                <a:solidFill>
                  <a:srgbClr val="000000"/>
                </a:solidFill>
                <a:latin typeface="Arial"/>
                <a:cs typeface="+mn-ea"/>
                <a:sym typeface="+mn-lt"/>
              </a:rPr>
              <a:t>日问世了。它由</a:t>
            </a:r>
            <a:r>
              <a:rPr lang="en-US" altLang="zh-CN" sz="1600" dirty="0">
                <a:solidFill>
                  <a:srgbClr val="000000"/>
                </a:solidFill>
                <a:latin typeface="Arial"/>
                <a:cs typeface="+mn-ea"/>
                <a:sym typeface="+mn-lt"/>
              </a:rPr>
              <a:t>17468</a:t>
            </a:r>
            <a:r>
              <a:rPr lang="zh-CN" altLang="en-US" sz="1600" dirty="0">
                <a:solidFill>
                  <a:srgbClr val="000000"/>
                </a:solidFill>
                <a:latin typeface="Arial"/>
                <a:cs typeface="+mn-ea"/>
                <a:sym typeface="+mn-lt"/>
              </a:rPr>
              <a:t>个</a:t>
            </a:r>
            <a:r>
              <a:rPr lang="zh-CN" altLang="en-US" sz="1600" dirty="0">
                <a:solidFill>
                  <a:srgbClr val="000000"/>
                </a:solidFill>
                <a:latin typeface="Arial"/>
                <a:cs typeface="+mn-ea"/>
                <a:sym typeface="+mn-lt"/>
                <a:hlinkClick r:id="rId2"/>
              </a:rPr>
              <a:t>电子管</a:t>
            </a:r>
            <a:r>
              <a:rPr lang="zh-CN" altLang="en-US" sz="1600" dirty="0">
                <a:solidFill>
                  <a:srgbClr val="000000"/>
                </a:solidFill>
                <a:latin typeface="Arial"/>
                <a:cs typeface="+mn-ea"/>
                <a:sym typeface="+mn-lt"/>
              </a:rPr>
              <a:t>、</a:t>
            </a:r>
            <a:r>
              <a:rPr lang="en-US" altLang="zh-CN" sz="1600" dirty="0">
                <a:solidFill>
                  <a:srgbClr val="000000"/>
                </a:solidFill>
                <a:latin typeface="Arial"/>
                <a:cs typeface="+mn-ea"/>
                <a:sym typeface="+mn-lt"/>
              </a:rPr>
              <a:t>6</a:t>
            </a:r>
            <a:r>
              <a:rPr lang="zh-CN" altLang="en-US" sz="1600" dirty="0">
                <a:solidFill>
                  <a:srgbClr val="000000"/>
                </a:solidFill>
                <a:latin typeface="Arial"/>
                <a:cs typeface="+mn-ea"/>
                <a:sym typeface="+mn-lt"/>
              </a:rPr>
              <a:t>万个</a:t>
            </a:r>
            <a:r>
              <a:rPr lang="zh-CN" altLang="en-US" sz="1600" dirty="0">
                <a:solidFill>
                  <a:srgbClr val="000000"/>
                </a:solidFill>
                <a:latin typeface="Arial"/>
                <a:cs typeface="+mn-ea"/>
                <a:sym typeface="+mn-lt"/>
                <a:hlinkClick r:id="rId3"/>
              </a:rPr>
              <a:t>电阻器</a:t>
            </a:r>
            <a:r>
              <a:rPr lang="zh-CN" altLang="en-US" sz="1600" dirty="0">
                <a:solidFill>
                  <a:srgbClr val="000000"/>
                </a:solidFill>
                <a:latin typeface="Arial"/>
                <a:cs typeface="+mn-ea"/>
                <a:sym typeface="+mn-lt"/>
              </a:rPr>
              <a:t>、</a:t>
            </a:r>
            <a:r>
              <a:rPr lang="en-US" altLang="zh-CN" sz="1600" dirty="0">
                <a:solidFill>
                  <a:srgbClr val="000000"/>
                </a:solidFill>
                <a:latin typeface="Arial"/>
                <a:cs typeface="+mn-ea"/>
                <a:sym typeface="+mn-lt"/>
              </a:rPr>
              <a:t>1</a:t>
            </a:r>
            <a:r>
              <a:rPr lang="zh-CN" altLang="en-US" sz="1600" dirty="0">
                <a:solidFill>
                  <a:srgbClr val="000000"/>
                </a:solidFill>
                <a:latin typeface="Arial"/>
                <a:cs typeface="+mn-ea"/>
                <a:sym typeface="+mn-lt"/>
              </a:rPr>
              <a:t>万个</a:t>
            </a:r>
            <a:r>
              <a:rPr lang="zh-CN" altLang="en-US" sz="1600" dirty="0">
                <a:solidFill>
                  <a:srgbClr val="000000"/>
                </a:solidFill>
                <a:latin typeface="Arial"/>
                <a:cs typeface="+mn-ea"/>
                <a:sym typeface="+mn-lt"/>
                <a:hlinkClick r:id="rId4"/>
              </a:rPr>
              <a:t>电容器</a:t>
            </a:r>
            <a:r>
              <a:rPr lang="zh-CN" altLang="en-US" sz="1600" dirty="0">
                <a:solidFill>
                  <a:srgbClr val="000000"/>
                </a:solidFill>
                <a:latin typeface="Arial"/>
                <a:cs typeface="+mn-ea"/>
                <a:sym typeface="+mn-lt"/>
              </a:rPr>
              <a:t>和</a:t>
            </a:r>
            <a:r>
              <a:rPr lang="en-US" altLang="zh-CN" sz="1600" dirty="0">
                <a:solidFill>
                  <a:srgbClr val="000000"/>
                </a:solidFill>
                <a:latin typeface="Arial"/>
                <a:cs typeface="+mn-ea"/>
                <a:sym typeface="+mn-lt"/>
              </a:rPr>
              <a:t>6</a:t>
            </a:r>
            <a:r>
              <a:rPr lang="zh-CN" altLang="en-US" sz="1600" dirty="0">
                <a:solidFill>
                  <a:srgbClr val="000000"/>
                </a:solidFill>
                <a:latin typeface="Arial"/>
                <a:cs typeface="+mn-ea"/>
                <a:sym typeface="+mn-lt"/>
              </a:rPr>
              <a:t>千个开关组成，重达</a:t>
            </a:r>
            <a:r>
              <a:rPr lang="en-US" altLang="zh-CN" sz="1600" dirty="0">
                <a:solidFill>
                  <a:srgbClr val="000000"/>
                </a:solidFill>
                <a:latin typeface="Arial"/>
                <a:cs typeface="+mn-ea"/>
                <a:sym typeface="+mn-lt"/>
              </a:rPr>
              <a:t>30</a:t>
            </a:r>
            <a:r>
              <a:rPr lang="zh-CN" altLang="en-US" sz="1600" dirty="0">
                <a:solidFill>
                  <a:srgbClr val="000000"/>
                </a:solidFill>
                <a:latin typeface="Arial"/>
                <a:cs typeface="+mn-ea"/>
                <a:sym typeface="+mn-lt"/>
              </a:rPr>
              <a:t>吨，占地</a:t>
            </a:r>
            <a:r>
              <a:rPr lang="en-US" altLang="zh-CN" sz="1600" dirty="0">
                <a:solidFill>
                  <a:srgbClr val="000000"/>
                </a:solidFill>
                <a:latin typeface="Arial"/>
                <a:cs typeface="+mn-ea"/>
                <a:sym typeface="+mn-lt"/>
              </a:rPr>
              <a:t>160</a:t>
            </a:r>
            <a:r>
              <a:rPr lang="zh-CN" altLang="en-US" sz="1600" dirty="0">
                <a:solidFill>
                  <a:srgbClr val="000000"/>
                </a:solidFill>
                <a:latin typeface="Arial"/>
                <a:cs typeface="+mn-ea"/>
                <a:sym typeface="+mn-lt"/>
              </a:rPr>
              <a:t>平方米，耗电</a:t>
            </a:r>
            <a:r>
              <a:rPr lang="en-US" altLang="zh-CN" sz="1600" dirty="0">
                <a:solidFill>
                  <a:srgbClr val="000000"/>
                </a:solidFill>
                <a:latin typeface="Arial"/>
                <a:cs typeface="+mn-ea"/>
                <a:sym typeface="+mn-lt"/>
              </a:rPr>
              <a:t>174</a:t>
            </a:r>
            <a:r>
              <a:rPr lang="zh-CN" altLang="en-US" sz="1600" dirty="0">
                <a:solidFill>
                  <a:srgbClr val="000000"/>
                </a:solidFill>
                <a:latin typeface="Arial"/>
                <a:cs typeface="+mn-ea"/>
                <a:sym typeface="+mn-lt"/>
              </a:rPr>
              <a:t>千 瓦，耗资</a:t>
            </a:r>
            <a:r>
              <a:rPr lang="en-US" altLang="zh-CN" sz="1600" dirty="0">
                <a:solidFill>
                  <a:srgbClr val="000000"/>
                </a:solidFill>
                <a:latin typeface="Arial"/>
                <a:cs typeface="+mn-ea"/>
                <a:sym typeface="+mn-lt"/>
              </a:rPr>
              <a:t>45</a:t>
            </a:r>
            <a:r>
              <a:rPr lang="zh-CN" altLang="en-US" sz="1600" dirty="0">
                <a:solidFill>
                  <a:srgbClr val="000000"/>
                </a:solidFill>
                <a:latin typeface="Arial"/>
                <a:cs typeface="+mn-ea"/>
                <a:sym typeface="+mn-lt"/>
              </a:rPr>
              <a:t>万美元。这台计算机每秒只能运行</a:t>
            </a:r>
            <a:r>
              <a:rPr lang="en-US" altLang="zh-CN" sz="1600" dirty="0">
                <a:solidFill>
                  <a:srgbClr val="000000"/>
                </a:solidFill>
                <a:latin typeface="Arial"/>
                <a:cs typeface="+mn-ea"/>
                <a:sym typeface="+mn-lt"/>
              </a:rPr>
              <a:t>5</a:t>
            </a:r>
            <a:r>
              <a:rPr lang="zh-CN" altLang="en-US" sz="1600" dirty="0">
                <a:solidFill>
                  <a:srgbClr val="000000"/>
                </a:solidFill>
                <a:latin typeface="Arial"/>
                <a:cs typeface="+mn-ea"/>
                <a:sym typeface="+mn-lt"/>
              </a:rPr>
              <a:t>千次加法运算，仅相当于一个电子数字积分计算机， </a:t>
            </a:r>
            <a:r>
              <a:rPr lang="en-US" altLang="zh-CN" sz="1600" dirty="0">
                <a:solidFill>
                  <a:srgbClr val="000000"/>
                </a:solidFill>
                <a:latin typeface="Arial"/>
                <a:cs typeface="+mn-ea"/>
                <a:sym typeface="+mn-lt"/>
              </a:rPr>
              <a:t>1994</a:t>
            </a:r>
            <a:r>
              <a:rPr lang="zh-CN" altLang="en-US" sz="1600" dirty="0">
                <a:solidFill>
                  <a:srgbClr val="000000"/>
                </a:solidFill>
                <a:latin typeface="Arial"/>
                <a:cs typeface="+mn-ea"/>
                <a:sym typeface="+mn-lt"/>
              </a:rPr>
              <a:t>年</a:t>
            </a:r>
            <a:r>
              <a:rPr lang="en-US" altLang="zh-CN" sz="1600" dirty="0">
                <a:solidFill>
                  <a:srgbClr val="000000"/>
                </a:solidFill>
                <a:latin typeface="Arial"/>
                <a:cs typeface="+mn-ea"/>
                <a:sym typeface="+mn-lt"/>
              </a:rPr>
              <a:t>12</a:t>
            </a:r>
            <a:r>
              <a:rPr lang="zh-CN" altLang="en-US" sz="1600" dirty="0">
                <a:solidFill>
                  <a:srgbClr val="000000"/>
                </a:solidFill>
                <a:latin typeface="Arial"/>
                <a:cs typeface="+mn-ea"/>
                <a:sym typeface="+mn-lt"/>
              </a:rPr>
              <a:t>月，美国</a:t>
            </a:r>
            <a:r>
              <a:rPr lang="en-US" altLang="zh-CN" sz="1600" dirty="0">
                <a:solidFill>
                  <a:srgbClr val="000000"/>
                </a:solidFill>
                <a:latin typeface="Arial"/>
                <a:cs typeface="+mn-ea"/>
                <a:sym typeface="+mn-lt"/>
              </a:rPr>
              <a:t>Intel</a:t>
            </a:r>
            <a:r>
              <a:rPr lang="zh-CN" altLang="en-US" sz="1600" dirty="0">
                <a:solidFill>
                  <a:srgbClr val="000000"/>
                </a:solidFill>
                <a:latin typeface="Arial"/>
                <a:cs typeface="+mn-ea"/>
                <a:sym typeface="+mn-lt"/>
              </a:rPr>
              <a:t>公司宣布研制成功世界上最快的</a:t>
            </a:r>
            <a:r>
              <a:rPr lang="zh-CN" altLang="en-US" sz="1600" dirty="0">
                <a:solidFill>
                  <a:srgbClr val="000000"/>
                </a:solidFill>
                <a:latin typeface="Arial"/>
                <a:cs typeface="+mn-ea"/>
                <a:sym typeface="+mn-lt"/>
                <a:hlinkClick r:id="rId5"/>
              </a:rPr>
              <a:t>超级计算机</a:t>
            </a:r>
            <a:r>
              <a:rPr lang="zh-CN" altLang="en-US" sz="1600" dirty="0">
                <a:solidFill>
                  <a:srgbClr val="000000"/>
                </a:solidFill>
                <a:latin typeface="Arial"/>
                <a:cs typeface="+mn-ea"/>
                <a:sym typeface="+mn-lt"/>
              </a:rPr>
              <a:t>，它每秒可进行</a:t>
            </a:r>
            <a:r>
              <a:rPr lang="en-US" altLang="zh-CN" sz="1600" dirty="0">
                <a:solidFill>
                  <a:srgbClr val="000000"/>
                </a:solidFill>
                <a:latin typeface="Arial"/>
                <a:cs typeface="+mn-ea"/>
                <a:sym typeface="+mn-lt"/>
              </a:rPr>
              <a:t>3280</a:t>
            </a:r>
            <a:r>
              <a:rPr lang="zh-CN" altLang="en-US" sz="1600" dirty="0">
                <a:solidFill>
                  <a:srgbClr val="000000"/>
                </a:solidFill>
                <a:latin typeface="Arial"/>
                <a:cs typeface="+mn-ea"/>
                <a:sym typeface="+mn-lt"/>
              </a:rPr>
              <a:t>亿次加法运算（是第一台电子计算机的</a:t>
            </a:r>
            <a:r>
              <a:rPr lang="en-US" altLang="zh-CN" sz="1600" dirty="0">
                <a:solidFill>
                  <a:srgbClr val="000000"/>
                </a:solidFill>
                <a:latin typeface="Arial"/>
                <a:cs typeface="+mn-ea"/>
                <a:sym typeface="+mn-lt"/>
              </a:rPr>
              <a:t>6600</a:t>
            </a:r>
            <a:r>
              <a:rPr lang="zh-CN" altLang="en-US" sz="1600" dirty="0">
                <a:solidFill>
                  <a:srgbClr val="000000"/>
                </a:solidFill>
                <a:latin typeface="Arial"/>
                <a:cs typeface="+mn-ea"/>
                <a:sym typeface="+mn-lt"/>
              </a:rPr>
              <a:t>万倍）。如果让人完成它一秒钟进行的运算量的话，需要一个人昼夜不停地计算一万多年。 </a:t>
            </a:r>
            <a:br>
              <a:rPr lang="zh-CN" altLang="en-US" sz="1600" dirty="0">
                <a:solidFill>
                  <a:srgbClr val="000000"/>
                </a:solidFill>
                <a:latin typeface="Arial"/>
                <a:cs typeface="+mn-ea"/>
                <a:sym typeface="+mn-lt"/>
              </a:rPr>
            </a:br>
            <a:endParaRPr lang="zh-CN" altLang="en-US" sz="1600" dirty="0">
              <a:solidFill>
                <a:srgbClr val="000000"/>
              </a:solidFill>
              <a:latin typeface="Arial"/>
              <a:cs typeface="+mn-ea"/>
              <a:sym typeface="+mn-lt"/>
            </a:endParaRPr>
          </a:p>
        </p:txBody>
      </p:sp>
    </p:spTree>
    <p:extLst>
      <p:ext uri="{BB962C8B-B14F-4D97-AF65-F5344CB8AC3E}">
        <p14:creationId xmlns:p14="http://schemas.microsoft.com/office/powerpoint/2010/main" val="47036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a:extLst>
              <a:ext uri="{FF2B5EF4-FFF2-40B4-BE49-F238E27FC236}">
                <a16:creationId xmlns:a16="http://schemas.microsoft.com/office/drawing/2014/main" id="{3CEEFFE1-B2C7-490C-ABFF-B44347082114}"/>
              </a:ext>
            </a:extLst>
          </p:cNvPr>
          <p:cNvSpPr>
            <a:spLocks noChangeArrowheads="1"/>
          </p:cNvSpPr>
          <p:nvPr/>
        </p:nvSpPr>
        <p:spPr bwMode="auto">
          <a:xfrm>
            <a:off x="-76200" y="1524000"/>
            <a:ext cx="9144000" cy="3886200"/>
          </a:xfrm>
          <a:prstGeom prst="rect">
            <a:avLst/>
          </a:prstGeom>
          <a:noFill/>
          <a:ln w="9525" algn="ctr">
            <a:noFill/>
            <a:miter lim="800000"/>
            <a:headEnd/>
            <a:tailEnd/>
          </a:ln>
        </p:spPr>
        <p:txBody>
          <a:bodyPr/>
          <a:lstStyle/>
          <a:p>
            <a:pPr algn="just">
              <a:lnSpc>
                <a:spcPct val="130000"/>
              </a:lnSpc>
              <a:spcBef>
                <a:spcPct val="20000"/>
              </a:spcBef>
            </a:pPr>
            <a:r>
              <a:rPr lang="zh-CN" altLang="en-US" sz="2800" dirty="0">
                <a:latin typeface="+mn-lt"/>
                <a:cs typeface="+mn-ea"/>
                <a:sym typeface="+mn-lt"/>
              </a:rPr>
              <a:t>目前人们习惯于称计算机技术为信息技术</a:t>
            </a:r>
            <a:r>
              <a:rPr lang="en-US" altLang="zh-CN" sz="2800" dirty="0">
                <a:latin typeface="+mn-lt"/>
                <a:cs typeface="+mn-ea"/>
                <a:sym typeface="+mn-lt"/>
              </a:rPr>
              <a:t>(IT)</a:t>
            </a:r>
            <a:r>
              <a:rPr lang="zh-CN" altLang="en-US" sz="2800" dirty="0">
                <a:latin typeface="+mn-lt"/>
                <a:cs typeface="+mn-ea"/>
                <a:sym typeface="+mn-lt"/>
              </a:rPr>
              <a:t>，与此相对应，“</a:t>
            </a:r>
            <a:r>
              <a:rPr lang="zh-CN" altLang="en-US" sz="2800" dirty="0">
                <a:solidFill>
                  <a:schemeClr val="hlink"/>
                </a:solidFill>
                <a:latin typeface="+mn-lt"/>
                <a:cs typeface="+mn-ea"/>
                <a:sym typeface="+mn-lt"/>
              </a:rPr>
              <a:t>化学信息技术</a:t>
            </a:r>
            <a:r>
              <a:rPr lang="zh-CN" altLang="en-US" sz="2800" dirty="0">
                <a:latin typeface="+mn-lt"/>
                <a:cs typeface="+mn-ea"/>
                <a:sym typeface="+mn-lt"/>
              </a:rPr>
              <a:t>”也是目前常用的名称。在国际上已经将其视为一门新兴学科，有专门的学术组织，如美国化学会中有“计算机化学分会”</a:t>
            </a:r>
            <a:r>
              <a:rPr lang="en-US" altLang="zh-CN" sz="2800" dirty="0">
                <a:latin typeface="+mn-lt"/>
                <a:cs typeface="+mn-ea"/>
                <a:sym typeface="+mn-lt"/>
              </a:rPr>
              <a:t>(ACS Division of Computers in Chemistry)</a:t>
            </a:r>
            <a:r>
              <a:rPr lang="zh-CN" altLang="en-US" sz="2800" dirty="0">
                <a:latin typeface="+mn-lt"/>
                <a:cs typeface="+mn-ea"/>
                <a:sym typeface="+mn-lt"/>
              </a:rPr>
              <a:t>，有专门的学术期刊、定期的学术会议等。其中</a:t>
            </a:r>
            <a:r>
              <a:rPr lang="en-US" altLang="zh-CN" sz="2800" dirty="0">
                <a:latin typeface="+mn-lt"/>
                <a:cs typeface="+mn-ea"/>
                <a:sym typeface="+mn-lt"/>
              </a:rPr>
              <a:t>Reviews in Computational Chemistry</a:t>
            </a:r>
            <a:r>
              <a:rPr lang="zh-CN" altLang="en-US" sz="2800" dirty="0">
                <a:latin typeface="+mn-lt"/>
                <a:cs typeface="+mn-ea"/>
                <a:sym typeface="+mn-lt"/>
              </a:rPr>
              <a:t>杂志从</a:t>
            </a:r>
            <a:r>
              <a:rPr lang="en-US" altLang="zh-CN" sz="2800" dirty="0">
                <a:latin typeface="+mn-lt"/>
                <a:cs typeface="+mn-ea"/>
                <a:sym typeface="+mn-lt"/>
              </a:rPr>
              <a:t>1990</a:t>
            </a:r>
            <a:r>
              <a:rPr lang="zh-CN" altLang="en-US" sz="2800" dirty="0">
                <a:latin typeface="+mn-lt"/>
                <a:cs typeface="+mn-ea"/>
                <a:sym typeface="+mn-lt"/>
              </a:rPr>
              <a:t>年起已经出版了</a:t>
            </a:r>
            <a:r>
              <a:rPr lang="en-US" altLang="zh-CN" sz="2800" dirty="0">
                <a:latin typeface="+mn-lt"/>
                <a:cs typeface="+mn-ea"/>
                <a:sym typeface="+mn-lt"/>
              </a:rPr>
              <a:t>17</a:t>
            </a:r>
            <a:r>
              <a:rPr lang="zh-CN" altLang="en-US" sz="2800" dirty="0">
                <a:latin typeface="+mn-lt"/>
                <a:cs typeface="+mn-ea"/>
                <a:sym typeface="+mn-lt"/>
              </a:rPr>
              <a:t>卷。 </a:t>
            </a:r>
          </a:p>
        </p:txBody>
      </p:sp>
    </p:spTree>
    <p:extLst>
      <p:ext uri="{BB962C8B-B14F-4D97-AF65-F5344CB8AC3E}">
        <p14:creationId xmlns:p14="http://schemas.microsoft.com/office/powerpoint/2010/main" val="3778711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3">
            <a:extLst>
              <a:ext uri="{FF2B5EF4-FFF2-40B4-BE49-F238E27FC236}">
                <a16:creationId xmlns:a16="http://schemas.microsoft.com/office/drawing/2014/main" id="{BBCCFE44-7411-4FDE-90F7-64C7E014103B}"/>
              </a:ext>
            </a:extLst>
          </p:cNvPr>
          <p:cNvSpPr>
            <a:spLocks noChangeArrowheads="1"/>
          </p:cNvSpPr>
          <p:nvPr/>
        </p:nvSpPr>
        <p:spPr bwMode="auto">
          <a:xfrm>
            <a:off x="152400" y="977900"/>
            <a:ext cx="8534400" cy="1479550"/>
          </a:xfrm>
          <a:prstGeom prst="rect">
            <a:avLst/>
          </a:prstGeom>
          <a:noFill/>
          <a:ln w="9525">
            <a:noFill/>
            <a:miter lim="800000"/>
            <a:headEnd/>
            <a:tailEnd/>
          </a:ln>
        </p:spPr>
        <p:txBody>
          <a:bodyPr>
            <a:spAutoFit/>
          </a:bodyPr>
          <a:lstStyle/>
          <a:p>
            <a:pPr algn="just" defTabSz="914400" fontAlgn="base">
              <a:lnSpc>
                <a:spcPct val="130000"/>
              </a:lnSpc>
              <a:spcBef>
                <a:spcPct val="20000"/>
              </a:spcBef>
              <a:spcAft>
                <a:spcPct val="0"/>
              </a:spcAft>
            </a:pPr>
            <a:r>
              <a:rPr lang="zh-CN" altLang="en-US" sz="2400" dirty="0">
                <a:solidFill>
                  <a:srgbClr val="000000"/>
                </a:solidFill>
                <a:latin typeface="Arial"/>
                <a:cs typeface="+mn-ea"/>
                <a:sym typeface="+mn-lt"/>
              </a:rPr>
              <a:t>计算机在化学中的应用历史基本上与计算机本身的发展同步。计算机技术在化学领域中应用的历史主要体现为以下几个阶段性标志：</a:t>
            </a:r>
          </a:p>
        </p:txBody>
      </p:sp>
      <p:sp>
        <p:nvSpPr>
          <p:cNvPr id="3" name="Rectangle 5">
            <a:extLst>
              <a:ext uri="{FF2B5EF4-FFF2-40B4-BE49-F238E27FC236}">
                <a16:creationId xmlns:a16="http://schemas.microsoft.com/office/drawing/2014/main" id="{0A3746AF-AE48-4CAB-975A-82CB007A3FD7}"/>
              </a:ext>
            </a:extLst>
          </p:cNvPr>
          <p:cNvSpPr>
            <a:spLocks noChangeArrowheads="1"/>
          </p:cNvSpPr>
          <p:nvPr/>
        </p:nvSpPr>
        <p:spPr bwMode="auto">
          <a:xfrm>
            <a:off x="457200" y="3263900"/>
            <a:ext cx="8305800" cy="762000"/>
          </a:xfrm>
          <a:prstGeom prst="rect">
            <a:avLst/>
          </a:prstGeom>
          <a:noFill/>
          <a:ln w="9525">
            <a:noFill/>
            <a:miter lim="800000"/>
            <a:headEnd/>
            <a:tailEnd/>
          </a:ln>
        </p:spPr>
        <p:txBody>
          <a:bodyPr/>
          <a:lstStyle/>
          <a:p>
            <a:pPr marL="342900" indent="-342900" defTabSz="914400" fontAlgn="base">
              <a:lnSpc>
                <a:spcPct val="130000"/>
              </a:lnSpc>
              <a:spcBef>
                <a:spcPct val="20000"/>
              </a:spcBef>
              <a:spcAft>
                <a:spcPct val="0"/>
              </a:spcAft>
              <a:buClr>
                <a:srgbClr val="333399"/>
              </a:buClr>
              <a:buSzPct val="80000"/>
              <a:buFont typeface="Wingdings" pitchFamily="2" charset="2"/>
              <a:buChar char="l"/>
            </a:pPr>
            <a:r>
              <a:rPr kumimoji="1" lang="en-US" altLang="zh-CN" sz="2000" b="1" dirty="0">
                <a:solidFill>
                  <a:srgbClr val="000000"/>
                </a:solidFill>
                <a:latin typeface="Arial"/>
                <a:cs typeface="+mn-ea"/>
                <a:sym typeface="+mn-lt"/>
              </a:rPr>
              <a:t>(2)</a:t>
            </a:r>
            <a:r>
              <a:rPr kumimoji="1" lang="zh-CN" altLang="en-US" sz="2000" b="1" dirty="0">
                <a:solidFill>
                  <a:srgbClr val="000000"/>
                </a:solidFill>
                <a:latin typeface="Arial"/>
                <a:cs typeface="+mn-ea"/>
                <a:sym typeface="+mn-lt"/>
              </a:rPr>
              <a:t>以化工过程计算机控制为代表的化工过程自动化发展史</a:t>
            </a:r>
          </a:p>
        </p:txBody>
      </p:sp>
      <p:sp>
        <p:nvSpPr>
          <p:cNvPr id="4" name="Rectangle 6">
            <a:extLst>
              <a:ext uri="{FF2B5EF4-FFF2-40B4-BE49-F238E27FC236}">
                <a16:creationId xmlns:a16="http://schemas.microsoft.com/office/drawing/2014/main" id="{9DA60457-4A17-4505-BCA1-29E0C0EE9AD5}"/>
              </a:ext>
            </a:extLst>
          </p:cNvPr>
          <p:cNvSpPr>
            <a:spLocks noChangeArrowheads="1"/>
          </p:cNvSpPr>
          <p:nvPr/>
        </p:nvSpPr>
        <p:spPr bwMode="auto">
          <a:xfrm>
            <a:off x="457200" y="3949700"/>
            <a:ext cx="8305800" cy="762000"/>
          </a:xfrm>
          <a:prstGeom prst="rect">
            <a:avLst/>
          </a:prstGeom>
          <a:noFill/>
          <a:ln w="9525">
            <a:noFill/>
            <a:miter lim="800000"/>
            <a:headEnd/>
            <a:tailEnd/>
          </a:ln>
        </p:spPr>
        <p:txBody>
          <a:bodyPr/>
          <a:lstStyle/>
          <a:p>
            <a:pPr marL="342900" indent="-342900" defTabSz="914400" fontAlgn="base">
              <a:lnSpc>
                <a:spcPct val="130000"/>
              </a:lnSpc>
              <a:spcBef>
                <a:spcPct val="20000"/>
              </a:spcBef>
              <a:spcAft>
                <a:spcPct val="0"/>
              </a:spcAft>
              <a:buClr>
                <a:srgbClr val="333399"/>
              </a:buClr>
              <a:buSzPct val="80000"/>
              <a:buFont typeface="Wingdings" pitchFamily="2" charset="2"/>
              <a:buChar char="l"/>
            </a:pPr>
            <a:r>
              <a:rPr kumimoji="1" lang="en-US" altLang="zh-CN" sz="2000" b="1" dirty="0">
                <a:solidFill>
                  <a:srgbClr val="000000"/>
                </a:solidFill>
                <a:latin typeface="Arial"/>
                <a:cs typeface="+mn-ea"/>
                <a:sym typeface="+mn-lt"/>
              </a:rPr>
              <a:t>(3)</a:t>
            </a:r>
            <a:r>
              <a:rPr kumimoji="1" lang="zh-CN" altLang="en-US" sz="2000" b="1" dirty="0">
                <a:solidFill>
                  <a:srgbClr val="000000"/>
                </a:solidFill>
                <a:latin typeface="Arial"/>
                <a:cs typeface="+mn-ea"/>
                <a:sym typeface="+mn-lt"/>
              </a:rPr>
              <a:t>计算数学与分析化学相结合的发展史 </a:t>
            </a:r>
          </a:p>
        </p:txBody>
      </p:sp>
      <p:sp>
        <p:nvSpPr>
          <p:cNvPr id="5" name="Rectangle 7">
            <a:extLst>
              <a:ext uri="{FF2B5EF4-FFF2-40B4-BE49-F238E27FC236}">
                <a16:creationId xmlns:a16="http://schemas.microsoft.com/office/drawing/2014/main" id="{591C45A7-DD8F-40CA-A256-D864756566E1}"/>
              </a:ext>
            </a:extLst>
          </p:cNvPr>
          <p:cNvSpPr>
            <a:spLocks noChangeArrowheads="1"/>
          </p:cNvSpPr>
          <p:nvPr/>
        </p:nvSpPr>
        <p:spPr bwMode="auto">
          <a:xfrm>
            <a:off x="457200" y="4559300"/>
            <a:ext cx="8305800" cy="762000"/>
          </a:xfrm>
          <a:prstGeom prst="rect">
            <a:avLst/>
          </a:prstGeom>
          <a:noFill/>
          <a:ln w="9525">
            <a:noFill/>
            <a:miter lim="800000"/>
            <a:headEnd/>
            <a:tailEnd/>
          </a:ln>
        </p:spPr>
        <p:txBody>
          <a:bodyPr/>
          <a:lstStyle/>
          <a:p>
            <a:pPr marL="342900" indent="-342900" defTabSz="914400" fontAlgn="base">
              <a:lnSpc>
                <a:spcPct val="130000"/>
              </a:lnSpc>
              <a:spcBef>
                <a:spcPct val="20000"/>
              </a:spcBef>
              <a:spcAft>
                <a:spcPct val="0"/>
              </a:spcAft>
              <a:buClr>
                <a:srgbClr val="333399"/>
              </a:buClr>
              <a:buSzPct val="80000"/>
              <a:buFont typeface="Wingdings" pitchFamily="2" charset="2"/>
              <a:buChar char="l"/>
            </a:pPr>
            <a:r>
              <a:rPr kumimoji="1" lang="en-US" altLang="zh-CN" sz="2000" b="1">
                <a:solidFill>
                  <a:srgbClr val="000000"/>
                </a:solidFill>
                <a:latin typeface="Arial"/>
                <a:cs typeface="+mn-ea"/>
                <a:sym typeface="+mn-lt"/>
              </a:rPr>
              <a:t>(4)</a:t>
            </a:r>
            <a:r>
              <a:rPr kumimoji="1" lang="zh-CN" altLang="en-US" sz="2000" b="1">
                <a:solidFill>
                  <a:srgbClr val="000000"/>
                </a:solidFill>
                <a:latin typeface="Arial"/>
                <a:cs typeface="+mn-ea"/>
                <a:sym typeface="+mn-lt"/>
              </a:rPr>
              <a:t>计算机网络技术在化学信息收集方面的应用 </a:t>
            </a:r>
          </a:p>
        </p:txBody>
      </p:sp>
      <p:sp>
        <p:nvSpPr>
          <p:cNvPr id="6" name="Rectangle 8">
            <a:extLst>
              <a:ext uri="{FF2B5EF4-FFF2-40B4-BE49-F238E27FC236}">
                <a16:creationId xmlns:a16="http://schemas.microsoft.com/office/drawing/2014/main" id="{53646DBC-8B93-4C94-A5B7-A2E161E584CC}"/>
              </a:ext>
            </a:extLst>
          </p:cNvPr>
          <p:cNvSpPr>
            <a:spLocks noChangeArrowheads="1"/>
          </p:cNvSpPr>
          <p:nvPr/>
        </p:nvSpPr>
        <p:spPr bwMode="auto">
          <a:xfrm>
            <a:off x="457200" y="5245100"/>
            <a:ext cx="8305800" cy="762000"/>
          </a:xfrm>
          <a:prstGeom prst="rect">
            <a:avLst/>
          </a:prstGeom>
          <a:noFill/>
          <a:ln w="9525">
            <a:noFill/>
            <a:miter lim="800000"/>
            <a:headEnd/>
            <a:tailEnd/>
          </a:ln>
        </p:spPr>
        <p:txBody>
          <a:bodyPr/>
          <a:lstStyle/>
          <a:p>
            <a:pPr marL="342900" indent="-342900" defTabSz="914400" fontAlgn="base">
              <a:lnSpc>
                <a:spcPct val="130000"/>
              </a:lnSpc>
              <a:spcBef>
                <a:spcPct val="20000"/>
              </a:spcBef>
              <a:spcAft>
                <a:spcPct val="0"/>
              </a:spcAft>
              <a:buClr>
                <a:srgbClr val="333399"/>
              </a:buClr>
              <a:buSzPct val="80000"/>
              <a:buFont typeface="Wingdings" pitchFamily="2" charset="2"/>
              <a:buChar char="l"/>
            </a:pPr>
            <a:r>
              <a:rPr kumimoji="1" lang="en-US" altLang="zh-CN" sz="2000" b="1" dirty="0">
                <a:solidFill>
                  <a:srgbClr val="000000"/>
                </a:solidFill>
                <a:latin typeface="Arial"/>
                <a:cs typeface="+mn-ea"/>
                <a:sym typeface="+mn-lt"/>
              </a:rPr>
              <a:t>(5)</a:t>
            </a:r>
            <a:r>
              <a:rPr kumimoji="1" lang="zh-CN" altLang="en-US" sz="2000" b="1" dirty="0">
                <a:solidFill>
                  <a:srgbClr val="000000"/>
                </a:solidFill>
                <a:latin typeface="Arial"/>
                <a:cs typeface="+mn-ea"/>
                <a:sym typeface="+mn-lt"/>
              </a:rPr>
              <a:t>计算机模拟技术在化学化工过程模拟中的应用 </a:t>
            </a:r>
          </a:p>
        </p:txBody>
      </p:sp>
      <p:sp>
        <p:nvSpPr>
          <p:cNvPr id="7" name="Rectangle 9">
            <a:extLst>
              <a:ext uri="{FF2B5EF4-FFF2-40B4-BE49-F238E27FC236}">
                <a16:creationId xmlns:a16="http://schemas.microsoft.com/office/drawing/2014/main" id="{722F50C5-BE76-4385-A3C8-9DCE0C8445B3}"/>
              </a:ext>
            </a:extLst>
          </p:cNvPr>
          <p:cNvSpPr>
            <a:spLocks noChangeArrowheads="1"/>
          </p:cNvSpPr>
          <p:nvPr/>
        </p:nvSpPr>
        <p:spPr bwMode="auto">
          <a:xfrm>
            <a:off x="457200" y="6007100"/>
            <a:ext cx="8305800" cy="762000"/>
          </a:xfrm>
          <a:prstGeom prst="rect">
            <a:avLst/>
          </a:prstGeom>
          <a:noFill/>
          <a:ln w="9525">
            <a:noFill/>
            <a:miter lim="800000"/>
            <a:headEnd/>
            <a:tailEnd/>
          </a:ln>
        </p:spPr>
        <p:txBody>
          <a:bodyPr/>
          <a:lstStyle/>
          <a:p>
            <a:pPr marL="342900" indent="-342900" defTabSz="914400" fontAlgn="base">
              <a:lnSpc>
                <a:spcPct val="130000"/>
              </a:lnSpc>
              <a:spcBef>
                <a:spcPct val="20000"/>
              </a:spcBef>
              <a:spcAft>
                <a:spcPct val="0"/>
              </a:spcAft>
              <a:buClr>
                <a:srgbClr val="333399"/>
              </a:buClr>
              <a:buSzPct val="80000"/>
              <a:buFont typeface="Wingdings" pitchFamily="2" charset="2"/>
              <a:buChar char="l"/>
            </a:pPr>
            <a:r>
              <a:rPr kumimoji="1" lang="en-US" altLang="zh-CN" sz="2000" b="1" dirty="0">
                <a:solidFill>
                  <a:srgbClr val="000000"/>
                </a:solidFill>
                <a:latin typeface="Arial"/>
                <a:cs typeface="+mn-ea"/>
                <a:sym typeface="+mn-lt"/>
              </a:rPr>
              <a:t>(6)</a:t>
            </a:r>
            <a:r>
              <a:rPr kumimoji="1" lang="zh-CN" altLang="en-US" sz="2000" b="1" dirty="0">
                <a:solidFill>
                  <a:srgbClr val="000000"/>
                </a:solidFill>
                <a:latin typeface="Arial"/>
                <a:cs typeface="+mn-ea"/>
                <a:sym typeface="+mn-lt"/>
              </a:rPr>
              <a:t>计算机智能化技术在化学专家系统中的应用 </a:t>
            </a:r>
          </a:p>
        </p:txBody>
      </p:sp>
      <p:sp>
        <p:nvSpPr>
          <p:cNvPr id="8" name="Rectangle 10">
            <a:extLst>
              <a:ext uri="{FF2B5EF4-FFF2-40B4-BE49-F238E27FC236}">
                <a16:creationId xmlns:a16="http://schemas.microsoft.com/office/drawing/2014/main" id="{DB1F8490-790D-4BB7-8E01-13CFB37AC48E}"/>
              </a:ext>
            </a:extLst>
          </p:cNvPr>
          <p:cNvSpPr txBox="1">
            <a:spLocks noChangeArrowheads="1"/>
          </p:cNvSpPr>
          <p:nvPr/>
        </p:nvSpPr>
        <p:spPr bwMode="auto">
          <a:xfrm>
            <a:off x="457200" y="2543175"/>
            <a:ext cx="8305800" cy="762000"/>
          </a:xfrm>
          <a:prstGeom prst="rect">
            <a:avLst/>
          </a:prstGeom>
          <a:noFill/>
          <a:ln w="9525">
            <a:noFill/>
            <a:miter lim="800000"/>
            <a:headEnd/>
            <a:tailEnd/>
          </a:ln>
          <a:effectLst/>
        </p:spPr>
        <p:txBody>
          <a:bodyPr/>
          <a:lstStyle/>
          <a:p>
            <a:pPr marL="342900" indent="-342900" defTabSz="914400" fontAlgn="base">
              <a:lnSpc>
                <a:spcPct val="130000"/>
              </a:lnSpc>
              <a:spcBef>
                <a:spcPct val="20000"/>
              </a:spcBef>
              <a:spcAft>
                <a:spcPct val="0"/>
              </a:spcAft>
              <a:buClr>
                <a:srgbClr val="333399"/>
              </a:buClr>
              <a:buSzPct val="80000"/>
              <a:buFont typeface="Wingdings" pitchFamily="2" charset="2"/>
              <a:buChar char="l"/>
              <a:defRPr/>
            </a:pPr>
            <a:r>
              <a:rPr kumimoji="1" lang="en-US" altLang="zh-CN" sz="2000" b="1" kern="0" dirty="0">
                <a:solidFill>
                  <a:srgbClr val="000000"/>
                </a:solidFill>
                <a:latin typeface="Arial"/>
                <a:cs typeface="+mn-ea"/>
                <a:sym typeface="+mn-lt"/>
              </a:rPr>
              <a:t>(1)</a:t>
            </a:r>
            <a:r>
              <a:rPr kumimoji="1" lang="zh-CN" altLang="en-US" sz="2000" b="1" kern="0" dirty="0">
                <a:solidFill>
                  <a:srgbClr val="000000"/>
                </a:solidFill>
                <a:latin typeface="Arial"/>
                <a:cs typeface="+mn-ea"/>
                <a:sym typeface="+mn-lt"/>
              </a:rPr>
              <a:t>以量子化学计算为代表的计算化学发展史 </a:t>
            </a:r>
          </a:p>
        </p:txBody>
      </p:sp>
    </p:spTree>
    <p:extLst>
      <p:ext uri="{BB962C8B-B14F-4D97-AF65-F5344CB8AC3E}">
        <p14:creationId xmlns:p14="http://schemas.microsoft.com/office/powerpoint/2010/main" val="2753479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4AEAA5F-D1BB-4586-AAB9-847FFAB0674E}"/>
              </a:ext>
            </a:extLst>
          </p:cNvPr>
          <p:cNvSpPr/>
          <p:nvPr/>
        </p:nvSpPr>
        <p:spPr>
          <a:xfrm>
            <a:off x="520700" y="101600"/>
            <a:ext cx="8305800" cy="523220"/>
          </a:xfrm>
          <a:prstGeom prst="rect">
            <a:avLst/>
          </a:prstGeom>
        </p:spPr>
        <p:txBody>
          <a:bodyPr wrap="square">
            <a:spAutoFit/>
          </a:bodyPr>
          <a:lstStyle/>
          <a:p>
            <a:r>
              <a:rPr lang="en-US" altLang="zh-CN" sz="2800" b="1" dirty="0">
                <a:latin typeface="+mn-ea"/>
                <a:cs typeface="+mn-ea"/>
              </a:rPr>
              <a:t>(1) </a:t>
            </a:r>
            <a:r>
              <a:rPr lang="zh-CN" altLang="en-US" sz="2800" b="1" dirty="0">
                <a:latin typeface="+mn-ea"/>
                <a:cs typeface="+mn-ea"/>
              </a:rPr>
              <a:t>以量子化学计算为代表的计算化学发展史</a:t>
            </a:r>
          </a:p>
        </p:txBody>
      </p:sp>
      <p:sp>
        <p:nvSpPr>
          <p:cNvPr id="3" name="Rectangle 3">
            <a:extLst>
              <a:ext uri="{FF2B5EF4-FFF2-40B4-BE49-F238E27FC236}">
                <a16:creationId xmlns:a16="http://schemas.microsoft.com/office/drawing/2014/main" id="{A8D1A332-D0E8-45EF-8321-A497F1315C3B}"/>
              </a:ext>
            </a:extLst>
          </p:cNvPr>
          <p:cNvSpPr txBox="1">
            <a:spLocks noChangeArrowheads="1"/>
          </p:cNvSpPr>
          <p:nvPr/>
        </p:nvSpPr>
        <p:spPr bwMode="auto">
          <a:xfrm>
            <a:off x="0" y="1384300"/>
            <a:ext cx="8191500" cy="3810000"/>
          </a:xfrm>
          <a:prstGeom prst="rect">
            <a:avLst/>
          </a:prstGeom>
          <a:noFill/>
          <a:ln w="9525">
            <a:noFill/>
            <a:miter lim="800000"/>
            <a:headEnd/>
            <a:tailEnd/>
          </a:ln>
          <a:effectLst/>
        </p:spPr>
        <p:txBody>
          <a:bodyPr/>
          <a:lstStyle/>
          <a:p>
            <a:pPr marL="342900" indent="-342900" algn="just" defTabSz="914400" fontAlgn="base">
              <a:lnSpc>
                <a:spcPct val="130000"/>
              </a:lnSpc>
              <a:spcBef>
                <a:spcPct val="20000"/>
              </a:spcBef>
              <a:spcAft>
                <a:spcPct val="0"/>
              </a:spcAft>
              <a:defRPr/>
            </a:pPr>
            <a:r>
              <a:rPr lang="en-US" altLang="zh-CN" sz="2600" kern="0" dirty="0">
                <a:solidFill>
                  <a:srgbClr val="000000"/>
                </a:solidFill>
                <a:latin typeface="Arial"/>
                <a:cs typeface="+mn-ea"/>
                <a:sym typeface="+mn-lt"/>
              </a:rPr>
              <a:t>          </a:t>
            </a:r>
            <a:r>
              <a:rPr lang="zh-CN" altLang="en-US" sz="2600" kern="0" dirty="0">
                <a:solidFill>
                  <a:srgbClr val="000000"/>
                </a:solidFill>
                <a:latin typeface="Arial"/>
                <a:cs typeface="+mn-ea"/>
                <a:sym typeface="+mn-lt"/>
              </a:rPr>
              <a:t>从</a:t>
            </a:r>
            <a:r>
              <a:rPr lang="en-US" altLang="zh-CN" sz="2600" kern="0" dirty="0">
                <a:solidFill>
                  <a:srgbClr val="000000"/>
                </a:solidFill>
                <a:latin typeface="Arial"/>
                <a:cs typeface="+mn-ea"/>
                <a:sym typeface="+mn-lt"/>
              </a:rPr>
              <a:t>20</a:t>
            </a:r>
            <a:r>
              <a:rPr lang="zh-CN" altLang="en-US" sz="2600" kern="0" dirty="0">
                <a:solidFill>
                  <a:srgbClr val="000000"/>
                </a:solidFill>
                <a:latin typeface="Arial"/>
                <a:cs typeface="+mn-ea"/>
                <a:sym typeface="+mn-lt"/>
              </a:rPr>
              <a:t>世纪</a:t>
            </a:r>
            <a:r>
              <a:rPr lang="en-US" altLang="zh-CN" sz="2600" kern="0" dirty="0">
                <a:solidFill>
                  <a:srgbClr val="000000"/>
                </a:solidFill>
                <a:latin typeface="Arial"/>
                <a:cs typeface="+mn-ea"/>
                <a:sym typeface="+mn-lt"/>
              </a:rPr>
              <a:t>50</a:t>
            </a:r>
            <a:r>
              <a:rPr lang="zh-CN" altLang="en-US" sz="2600" kern="0" dirty="0">
                <a:solidFill>
                  <a:srgbClr val="000000"/>
                </a:solidFill>
                <a:latin typeface="Arial"/>
                <a:cs typeface="+mn-ea"/>
                <a:sym typeface="+mn-lt"/>
              </a:rPr>
              <a:t>年代发展起来的、以计算机为主要工具的量子化学、结构化学的从头计算、不同力场校正的半经验计算等将人类认识分子微观世界的能力大大提高。计算机的介入为将化学由实验科学向理论化发展做出了重大贡献。目前计算机的量子化学计算仍然是重要的研究领域之一。</a:t>
            </a:r>
          </a:p>
        </p:txBody>
      </p:sp>
    </p:spTree>
    <p:extLst>
      <p:ext uri="{BB962C8B-B14F-4D97-AF65-F5344CB8AC3E}">
        <p14:creationId xmlns:p14="http://schemas.microsoft.com/office/powerpoint/2010/main" val="3444301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B93D6E17-86BB-4DAC-84A5-9CEED7FF8423}"/>
              </a:ext>
            </a:extLst>
          </p:cNvPr>
          <p:cNvSpPr txBox="1">
            <a:spLocks noChangeArrowheads="1"/>
          </p:cNvSpPr>
          <p:nvPr/>
        </p:nvSpPr>
        <p:spPr bwMode="auto">
          <a:xfrm>
            <a:off x="457200" y="1295400"/>
            <a:ext cx="8229600" cy="1219200"/>
          </a:xfrm>
          <a:prstGeom prst="rect">
            <a:avLst/>
          </a:prstGeom>
          <a:noFill/>
          <a:ln w="9525">
            <a:noFill/>
            <a:miter lim="800000"/>
            <a:headEnd/>
            <a:tailEnd/>
          </a:ln>
          <a:effectLst/>
        </p:spPr>
        <p:txBody>
          <a:bodyPr/>
          <a:lstStyle/>
          <a:p>
            <a:pPr marL="342900" indent="-342900">
              <a:lnSpc>
                <a:spcPct val="130000"/>
              </a:lnSpc>
              <a:spcBef>
                <a:spcPct val="20000"/>
              </a:spcBef>
              <a:defRPr/>
            </a:pPr>
            <a:r>
              <a:rPr lang="zh-CN" altLang="en-US" sz="2800" kern="0" dirty="0">
                <a:latin typeface="+mn-lt"/>
                <a:cs typeface="+mn-ea"/>
                <a:sym typeface="+mn-lt"/>
              </a:rPr>
              <a:t>例如：</a:t>
            </a:r>
            <a:r>
              <a:rPr lang="en-US" altLang="zh-CN" sz="2800" kern="0" dirty="0" err="1">
                <a:latin typeface="+mn-lt"/>
                <a:cs typeface="+mn-ea"/>
                <a:sym typeface="+mn-lt"/>
              </a:rPr>
              <a:t>HyperChem</a:t>
            </a:r>
            <a:r>
              <a:rPr lang="en-US" altLang="zh-CN" sz="2800" kern="0" dirty="0">
                <a:latin typeface="+mn-lt"/>
                <a:cs typeface="+mn-ea"/>
                <a:sym typeface="+mn-lt"/>
              </a:rPr>
              <a:t> </a:t>
            </a:r>
            <a:r>
              <a:rPr lang="zh-CN" altLang="en-US" sz="2800" kern="0" dirty="0">
                <a:latin typeface="+mn-lt"/>
                <a:cs typeface="+mn-ea"/>
                <a:sym typeface="+mn-lt"/>
              </a:rPr>
              <a:t>软件，高斯软件，以及各种量子化学软件等等。</a:t>
            </a:r>
          </a:p>
        </p:txBody>
      </p:sp>
      <p:pic>
        <p:nvPicPr>
          <p:cNvPr id="3" name="Picture 7" descr="MMA_esp_final">
            <a:extLst>
              <a:ext uri="{FF2B5EF4-FFF2-40B4-BE49-F238E27FC236}">
                <a16:creationId xmlns:a16="http://schemas.microsoft.com/office/drawing/2014/main" id="{777EFCAA-9D22-4762-9563-A394BBE5063B}"/>
              </a:ext>
            </a:extLst>
          </p:cNvPr>
          <p:cNvPicPr>
            <a:picLocks noChangeAspect="1" noChangeArrowheads="1"/>
          </p:cNvPicPr>
          <p:nvPr/>
        </p:nvPicPr>
        <p:blipFill>
          <a:blip r:embed="rId2" cstate="print"/>
          <a:srcRect/>
          <a:stretch>
            <a:fillRect/>
          </a:stretch>
        </p:blipFill>
        <p:spPr bwMode="auto">
          <a:xfrm>
            <a:off x="2895600" y="4648200"/>
            <a:ext cx="1924050" cy="1438275"/>
          </a:xfrm>
          <a:prstGeom prst="rect">
            <a:avLst/>
          </a:prstGeom>
          <a:noFill/>
          <a:ln w="9525">
            <a:noFill/>
            <a:miter lim="800000"/>
            <a:headEnd/>
            <a:tailEnd/>
          </a:ln>
        </p:spPr>
      </p:pic>
      <p:pic>
        <p:nvPicPr>
          <p:cNvPr id="4" name="Picture 6" descr="Naphthene_esp_final">
            <a:extLst>
              <a:ext uri="{FF2B5EF4-FFF2-40B4-BE49-F238E27FC236}">
                <a16:creationId xmlns:a16="http://schemas.microsoft.com/office/drawing/2014/main" id="{CF3BBD00-CF32-4CB6-8A8A-40D73F743B73}"/>
              </a:ext>
            </a:extLst>
          </p:cNvPr>
          <p:cNvPicPr>
            <a:picLocks noChangeAspect="1" noChangeArrowheads="1"/>
          </p:cNvPicPr>
          <p:nvPr/>
        </p:nvPicPr>
        <p:blipFill>
          <a:blip r:embed="rId3" cstate="print"/>
          <a:srcRect/>
          <a:stretch>
            <a:fillRect/>
          </a:stretch>
        </p:blipFill>
        <p:spPr bwMode="auto">
          <a:xfrm>
            <a:off x="2895600" y="2895600"/>
            <a:ext cx="1924050" cy="1438275"/>
          </a:xfrm>
          <a:prstGeom prst="rect">
            <a:avLst/>
          </a:prstGeom>
          <a:noFill/>
          <a:ln w="9525">
            <a:noFill/>
            <a:miter lim="800000"/>
            <a:headEnd/>
            <a:tailEnd/>
          </a:ln>
        </p:spPr>
      </p:pic>
      <p:pic>
        <p:nvPicPr>
          <p:cNvPr id="5" name="Picture 5" descr="Anthracene_final">
            <a:extLst>
              <a:ext uri="{FF2B5EF4-FFF2-40B4-BE49-F238E27FC236}">
                <a16:creationId xmlns:a16="http://schemas.microsoft.com/office/drawing/2014/main" id="{A2F5DDD0-D845-459F-8A35-7C34A9023FD3}"/>
              </a:ext>
            </a:extLst>
          </p:cNvPr>
          <p:cNvPicPr>
            <a:picLocks noChangeAspect="1" noChangeArrowheads="1"/>
          </p:cNvPicPr>
          <p:nvPr/>
        </p:nvPicPr>
        <p:blipFill>
          <a:blip r:embed="rId4" cstate="print"/>
          <a:srcRect/>
          <a:stretch>
            <a:fillRect/>
          </a:stretch>
        </p:blipFill>
        <p:spPr bwMode="auto">
          <a:xfrm>
            <a:off x="609600" y="4495800"/>
            <a:ext cx="1924050" cy="1438275"/>
          </a:xfrm>
          <a:prstGeom prst="rect">
            <a:avLst/>
          </a:prstGeom>
          <a:noFill/>
          <a:ln w="9525">
            <a:noFill/>
            <a:miter lim="800000"/>
            <a:headEnd/>
            <a:tailEnd/>
          </a:ln>
        </p:spPr>
      </p:pic>
      <p:pic>
        <p:nvPicPr>
          <p:cNvPr id="6" name="Picture 4" descr="Pyrene_esp_final">
            <a:extLst>
              <a:ext uri="{FF2B5EF4-FFF2-40B4-BE49-F238E27FC236}">
                <a16:creationId xmlns:a16="http://schemas.microsoft.com/office/drawing/2014/main" id="{BB0465E5-77FF-4D68-B49B-9A655E64AA83}"/>
              </a:ext>
            </a:extLst>
          </p:cNvPr>
          <p:cNvPicPr>
            <a:picLocks noChangeAspect="1" noChangeArrowheads="1"/>
          </p:cNvPicPr>
          <p:nvPr/>
        </p:nvPicPr>
        <p:blipFill>
          <a:blip r:embed="rId5" cstate="print"/>
          <a:srcRect/>
          <a:stretch>
            <a:fillRect/>
          </a:stretch>
        </p:blipFill>
        <p:spPr bwMode="auto">
          <a:xfrm>
            <a:off x="533400" y="2895600"/>
            <a:ext cx="1914525" cy="1438275"/>
          </a:xfrm>
          <a:prstGeom prst="rect">
            <a:avLst/>
          </a:prstGeom>
          <a:noFill/>
          <a:ln w="9525">
            <a:noFill/>
            <a:miter lim="800000"/>
            <a:headEnd/>
            <a:tailEnd/>
          </a:ln>
        </p:spPr>
      </p:pic>
      <p:pic>
        <p:nvPicPr>
          <p:cNvPr id="7" name="图片 8" descr="p1homo.tif">
            <a:extLst>
              <a:ext uri="{FF2B5EF4-FFF2-40B4-BE49-F238E27FC236}">
                <a16:creationId xmlns:a16="http://schemas.microsoft.com/office/drawing/2014/main" id="{601551AA-14C7-4673-90E4-03BB37B272BA}"/>
              </a:ext>
            </a:extLst>
          </p:cNvPr>
          <p:cNvPicPr>
            <a:picLocks noChangeAspect="1"/>
          </p:cNvPicPr>
          <p:nvPr/>
        </p:nvPicPr>
        <p:blipFill>
          <a:blip r:embed="rId6" cstate="print"/>
          <a:srcRect l="1176" t="18700" r="1176" b="21452"/>
          <a:stretch>
            <a:fillRect/>
          </a:stretch>
        </p:blipFill>
        <p:spPr bwMode="auto">
          <a:xfrm>
            <a:off x="5257800" y="4495800"/>
            <a:ext cx="3657600" cy="1327150"/>
          </a:xfrm>
          <a:prstGeom prst="rect">
            <a:avLst/>
          </a:prstGeom>
          <a:noFill/>
          <a:ln w="9525">
            <a:noFill/>
            <a:miter lim="800000"/>
            <a:headEnd/>
            <a:tailEnd/>
          </a:ln>
        </p:spPr>
      </p:pic>
      <p:pic>
        <p:nvPicPr>
          <p:cNvPr id="8" name="图片 9" descr="p1geo.jpg">
            <a:extLst>
              <a:ext uri="{FF2B5EF4-FFF2-40B4-BE49-F238E27FC236}">
                <a16:creationId xmlns:a16="http://schemas.microsoft.com/office/drawing/2014/main" id="{91502057-62A0-48DC-A440-E3C8DF4C8959}"/>
              </a:ext>
            </a:extLst>
          </p:cNvPr>
          <p:cNvPicPr>
            <a:picLocks noChangeAspect="1"/>
          </p:cNvPicPr>
          <p:nvPr/>
        </p:nvPicPr>
        <p:blipFill>
          <a:blip r:embed="rId7" cstate="print"/>
          <a:srcRect/>
          <a:stretch>
            <a:fillRect/>
          </a:stretch>
        </p:blipFill>
        <p:spPr bwMode="auto">
          <a:xfrm>
            <a:off x="4800600" y="2057400"/>
            <a:ext cx="4114800" cy="2381250"/>
          </a:xfrm>
          <a:prstGeom prst="rect">
            <a:avLst/>
          </a:prstGeom>
          <a:noFill/>
          <a:ln w="9525">
            <a:noFill/>
            <a:miter lim="800000"/>
            <a:headEnd/>
            <a:tailEnd/>
          </a:ln>
        </p:spPr>
      </p:pic>
    </p:spTree>
    <p:extLst>
      <p:ext uri="{BB962C8B-B14F-4D97-AF65-F5344CB8AC3E}">
        <p14:creationId xmlns:p14="http://schemas.microsoft.com/office/powerpoint/2010/main" val="3999755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FFB53BD-19A2-4FFA-A792-BC55F39D2FC9}"/>
              </a:ext>
            </a:extLst>
          </p:cNvPr>
          <p:cNvSpPr/>
          <p:nvPr/>
        </p:nvSpPr>
        <p:spPr>
          <a:xfrm>
            <a:off x="0" y="63500"/>
            <a:ext cx="9372600" cy="523220"/>
          </a:xfrm>
          <a:prstGeom prst="rect">
            <a:avLst/>
          </a:prstGeom>
        </p:spPr>
        <p:txBody>
          <a:bodyPr wrap="square">
            <a:spAutoFit/>
          </a:bodyPr>
          <a:lstStyle/>
          <a:p>
            <a:r>
              <a:rPr lang="en-US" altLang="zh-CN" sz="2800" b="1" dirty="0">
                <a:latin typeface="+mn-ea"/>
                <a:cs typeface="+mn-ea"/>
                <a:sym typeface="+mn-lt"/>
              </a:rPr>
              <a:t>(2) </a:t>
            </a:r>
            <a:r>
              <a:rPr lang="zh-CN" altLang="en-US" sz="2800" b="1" dirty="0">
                <a:latin typeface="+mn-ea"/>
                <a:cs typeface="+mn-ea"/>
                <a:sym typeface="+mn-lt"/>
              </a:rPr>
              <a:t>以化工过程计算机控制为代表的化工过程自动化发展史</a:t>
            </a:r>
            <a:endParaRPr lang="zh-CN" altLang="en-US" sz="2800" b="1" dirty="0">
              <a:latin typeface="+mn-ea"/>
              <a:cs typeface="+mn-ea"/>
            </a:endParaRPr>
          </a:p>
        </p:txBody>
      </p:sp>
      <p:sp>
        <p:nvSpPr>
          <p:cNvPr id="11" name="Rectangle 3">
            <a:extLst>
              <a:ext uri="{FF2B5EF4-FFF2-40B4-BE49-F238E27FC236}">
                <a16:creationId xmlns:a16="http://schemas.microsoft.com/office/drawing/2014/main" id="{B927B977-4B05-4C9E-B1E3-542715F5894A}"/>
              </a:ext>
            </a:extLst>
          </p:cNvPr>
          <p:cNvSpPr txBox="1">
            <a:spLocks noChangeArrowheads="1"/>
          </p:cNvSpPr>
          <p:nvPr/>
        </p:nvSpPr>
        <p:spPr bwMode="auto">
          <a:xfrm>
            <a:off x="228600" y="1397000"/>
            <a:ext cx="8229600" cy="3124200"/>
          </a:xfrm>
          <a:prstGeom prst="rect">
            <a:avLst/>
          </a:prstGeom>
          <a:noFill/>
          <a:ln w="9525">
            <a:noFill/>
            <a:miter lim="800000"/>
            <a:headEnd/>
            <a:tailEnd/>
          </a:ln>
          <a:effectLst/>
        </p:spPr>
        <p:txBody>
          <a:bodyPr/>
          <a:lstStyle/>
          <a:p>
            <a:pPr marL="342900" indent="-342900">
              <a:lnSpc>
                <a:spcPct val="130000"/>
              </a:lnSpc>
              <a:spcBef>
                <a:spcPct val="20000"/>
              </a:spcBef>
              <a:defRPr/>
            </a:pPr>
            <a:r>
              <a:rPr kumimoji="1" lang="en-US" altLang="zh-CN" sz="2600" kern="0" dirty="0">
                <a:latin typeface="+mn-lt"/>
                <a:cs typeface="+mn-ea"/>
                <a:sym typeface="+mn-lt"/>
              </a:rPr>
              <a:t>           </a:t>
            </a:r>
            <a:r>
              <a:rPr kumimoji="1" lang="zh-CN" altLang="en-US" sz="2600" kern="0" dirty="0">
                <a:latin typeface="+mn-lt"/>
                <a:cs typeface="+mn-ea"/>
                <a:sym typeface="+mn-lt"/>
              </a:rPr>
              <a:t>以计算机化工控制系统为标志，计算机的实时监测和交互控制大大提高了化学工业的水平，为将经典化学工业发展为现代化学工业奠定了基础。计算机化工控制系统已经成为化学工业结构改造与技术升级的重要内容。</a:t>
            </a:r>
          </a:p>
        </p:txBody>
      </p:sp>
      <p:sp>
        <p:nvSpPr>
          <p:cNvPr id="12" name="Rectangle 3">
            <a:extLst>
              <a:ext uri="{FF2B5EF4-FFF2-40B4-BE49-F238E27FC236}">
                <a16:creationId xmlns:a16="http://schemas.microsoft.com/office/drawing/2014/main" id="{9158B9C4-935E-44A7-A90B-E6B04C9E8BC1}"/>
              </a:ext>
            </a:extLst>
          </p:cNvPr>
          <p:cNvSpPr txBox="1">
            <a:spLocks noChangeArrowheads="1"/>
          </p:cNvSpPr>
          <p:nvPr/>
        </p:nvSpPr>
        <p:spPr bwMode="auto">
          <a:xfrm>
            <a:off x="463550" y="4537075"/>
            <a:ext cx="8229600" cy="1508125"/>
          </a:xfrm>
          <a:prstGeom prst="rect">
            <a:avLst/>
          </a:prstGeom>
          <a:noFill/>
          <a:ln w="9525">
            <a:noFill/>
            <a:miter lim="800000"/>
            <a:headEnd/>
            <a:tailEnd/>
          </a:ln>
          <a:effectLst/>
        </p:spPr>
        <p:txBody>
          <a:bodyPr/>
          <a:lstStyle/>
          <a:p>
            <a:pPr marL="342900" indent="-342900">
              <a:lnSpc>
                <a:spcPct val="130000"/>
              </a:lnSpc>
              <a:spcBef>
                <a:spcPct val="20000"/>
              </a:spcBef>
              <a:defRPr/>
            </a:pPr>
            <a:r>
              <a:rPr lang="zh-CN" altLang="en-US" sz="2600" kern="0" dirty="0">
                <a:latin typeface="+mn-lt"/>
                <a:cs typeface="+mn-ea"/>
                <a:sym typeface="+mn-lt"/>
              </a:rPr>
              <a:t>例如：各种人工智能化工仪表，工业自动化控制系统，炼油厂的裂解装置，加氢装置等等。</a:t>
            </a:r>
          </a:p>
        </p:txBody>
      </p:sp>
    </p:spTree>
    <p:extLst>
      <p:ext uri="{BB962C8B-B14F-4D97-AF65-F5344CB8AC3E}">
        <p14:creationId xmlns:p14="http://schemas.microsoft.com/office/powerpoint/2010/main" val="21175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EC05A5B-5C80-4DB0-BA12-29149C720109}"/>
              </a:ext>
            </a:extLst>
          </p:cNvPr>
          <p:cNvSpPr/>
          <p:nvPr/>
        </p:nvSpPr>
        <p:spPr>
          <a:xfrm>
            <a:off x="1207516" y="144790"/>
            <a:ext cx="6511719" cy="523220"/>
          </a:xfrm>
          <a:prstGeom prst="rect">
            <a:avLst/>
          </a:prstGeom>
        </p:spPr>
        <p:txBody>
          <a:bodyPr wrap="square">
            <a:spAutoFit/>
          </a:bodyPr>
          <a:lstStyle/>
          <a:p>
            <a:r>
              <a:rPr lang="en-US" altLang="en-US" sz="2800" b="1" dirty="0">
                <a:latin typeface="+mn-ea"/>
                <a:cs typeface="+mn-ea"/>
                <a:sym typeface="+mn-lt"/>
              </a:rPr>
              <a:t>(3) </a:t>
            </a:r>
            <a:r>
              <a:rPr lang="en-US" altLang="en-US" sz="2800" b="1" dirty="0" err="1">
                <a:latin typeface="+mn-ea"/>
                <a:cs typeface="+mn-ea"/>
                <a:sym typeface="+mn-lt"/>
              </a:rPr>
              <a:t>计算数学与分析化学相结合的发展史</a:t>
            </a:r>
            <a:r>
              <a:rPr lang="en-US" altLang="en-US" sz="2800" b="1" dirty="0">
                <a:latin typeface="+mn-ea"/>
                <a:cs typeface="+mn-ea"/>
                <a:sym typeface="+mn-lt"/>
              </a:rPr>
              <a:t> </a:t>
            </a:r>
            <a:endParaRPr lang="zh-CN" altLang="en-US" sz="2800" b="1" dirty="0">
              <a:latin typeface="+mn-ea"/>
              <a:cs typeface="+mn-ea"/>
            </a:endParaRPr>
          </a:p>
        </p:txBody>
      </p:sp>
      <p:sp>
        <p:nvSpPr>
          <p:cNvPr id="3" name="Rectangle 3">
            <a:extLst>
              <a:ext uri="{FF2B5EF4-FFF2-40B4-BE49-F238E27FC236}">
                <a16:creationId xmlns:a16="http://schemas.microsoft.com/office/drawing/2014/main" id="{1DD12154-3F28-4502-9C91-15FD72921878}"/>
              </a:ext>
            </a:extLst>
          </p:cNvPr>
          <p:cNvSpPr txBox="1">
            <a:spLocks noChangeArrowheads="1"/>
          </p:cNvSpPr>
          <p:nvPr/>
        </p:nvSpPr>
        <p:spPr bwMode="auto">
          <a:xfrm>
            <a:off x="90488" y="1166019"/>
            <a:ext cx="9053512" cy="3647282"/>
          </a:xfrm>
          <a:prstGeom prst="rect">
            <a:avLst/>
          </a:prstGeom>
          <a:noFill/>
          <a:ln w="9525">
            <a:noFill/>
            <a:miter lim="800000"/>
            <a:headEnd/>
            <a:tailEnd/>
          </a:ln>
          <a:effectLst/>
        </p:spPr>
        <p:txBody>
          <a:bodyPr/>
          <a:lstStyle/>
          <a:p>
            <a:pPr marL="342900" indent="-342900">
              <a:lnSpc>
                <a:spcPct val="130000"/>
              </a:lnSpc>
              <a:spcBef>
                <a:spcPct val="20000"/>
              </a:spcBef>
              <a:defRPr/>
            </a:pPr>
            <a:r>
              <a:rPr lang="en-US" altLang="zh-CN" sz="2600" kern="0" dirty="0">
                <a:latin typeface="+mn-lt"/>
                <a:cs typeface="+mn-ea"/>
                <a:sym typeface="+mn-lt"/>
              </a:rPr>
              <a:t>    </a:t>
            </a:r>
            <a:r>
              <a:rPr lang="zh-CN" altLang="en-US" sz="2600" kern="0" dirty="0">
                <a:latin typeface="+mn-lt"/>
                <a:cs typeface="+mn-ea"/>
                <a:sym typeface="+mn-lt"/>
              </a:rPr>
              <a:t>傅里叶变换这种强大的数学技术是通过计算机才能与分析化学技术相结合的。计算机化的傅里叶变换技术在红外、质谱和核磁共振波谱分析中的应用为人们获取分子的微观结构信息打开了方便之门，大大提高了分析速度和准确性。今天建立在计算机技术基础之上的傅里叶变换技术和其他数学方法正在加速其在分析化学领域中的普及速度。 </a:t>
            </a:r>
          </a:p>
        </p:txBody>
      </p:sp>
      <p:sp>
        <p:nvSpPr>
          <p:cNvPr id="4" name="Rectangle 3">
            <a:extLst>
              <a:ext uri="{FF2B5EF4-FFF2-40B4-BE49-F238E27FC236}">
                <a16:creationId xmlns:a16="http://schemas.microsoft.com/office/drawing/2014/main" id="{09617546-A2B7-4F40-ACC2-F1CDA9843FD0}"/>
              </a:ext>
            </a:extLst>
          </p:cNvPr>
          <p:cNvSpPr txBox="1">
            <a:spLocks noChangeArrowheads="1"/>
          </p:cNvSpPr>
          <p:nvPr/>
        </p:nvSpPr>
        <p:spPr bwMode="auto">
          <a:xfrm>
            <a:off x="457200" y="4581525"/>
            <a:ext cx="8229600" cy="1870075"/>
          </a:xfrm>
          <a:prstGeom prst="rect">
            <a:avLst/>
          </a:prstGeom>
          <a:noFill/>
          <a:ln w="9525">
            <a:noFill/>
            <a:miter lim="800000"/>
            <a:headEnd/>
            <a:tailEnd/>
          </a:ln>
          <a:effectLst/>
        </p:spPr>
        <p:txBody>
          <a:bodyPr/>
          <a:lstStyle/>
          <a:p>
            <a:pPr marL="342900" indent="-342900">
              <a:lnSpc>
                <a:spcPct val="130000"/>
              </a:lnSpc>
              <a:spcBef>
                <a:spcPct val="20000"/>
              </a:spcBef>
              <a:defRPr/>
            </a:pPr>
            <a:r>
              <a:rPr lang="zh-CN" altLang="en-US" sz="2600" kern="0" dirty="0">
                <a:latin typeface="+mn-lt"/>
                <a:cs typeface="+mn-ea"/>
                <a:sym typeface="+mn-lt"/>
              </a:rPr>
              <a:t>例如：傅立叶变换红外光谱 </a:t>
            </a:r>
            <a:r>
              <a:rPr lang="en-US" altLang="zh-CN" sz="2600" kern="0" dirty="0">
                <a:latin typeface="+mn-lt"/>
                <a:cs typeface="+mn-ea"/>
                <a:sym typeface="+mn-lt"/>
              </a:rPr>
              <a:t>Magna550</a:t>
            </a:r>
            <a:r>
              <a:rPr lang="zh-CN" altLang="en-US" sz="2600" kern="0" dirty="0">
                <a:latin typeface="+mn-lt"/>
                <a:cs typeface="+mn-ea"/>
                <a:sym typeface="+mn-lt"/>
              </a:rPr>
              <a:t>，傅立叶变换核磁共振谱仪</a:t>
            </a:r>
            <a:r>
              <a:rPr lang="en-US" altLang="zh-CN" sz="2600" kern="0" dirty="0">
                <a:latin typeface="+mn-lt"/>
                <a:cs typeface="+mn-ea"/>
                <a:sym typeface="+mn-lt"/>
              </a:rPr>
              <a:t>Varian 400MHz</a:t>
            </a:r>
            <a:r>
              <a:rPr lang="zh-CN" altLang="en-US" sz="2600" kern="0" dirty="0">
                <a:latin typeface="+mn-lt"/>
                <a:cs typeface="+mn-ea"/>
                <a:sym typeface="+mn-lt"/>
              </a:rPr>
              <a:t>，</a:t>
            </a:r>
            <a:r>
              <a:rPr lang="en-US" altLang="zh-CN" sz="2600" kern="0" dirty="0" err="1">
                <a:latin typeface="+mn-lt"/>
                <a:cs typeface="+mn-ea"/>
                <a:sym typeface="+mn-lt"/>
              </a:rPr>
              <a:t>MicroMass</a:t>
            </a:r>
            <a:r>
              <a:rPr lang="zh-CN" altLang="en-US" sz="2600" kern="0" dirty="0">
                <a:latin typeface="+mn-lt"/>
                <a:cs typeface="+mn-ea"/>
                <a:sym typeface="+mn-lt"/>
              </a:rPr>
              <a:t>等大型仪器。大大提高了采样速度。</a:t>
            </a:r>
          </a:p>
        </p:txBody>
      </p:sp>
    </p:spTree>
    <p:extLst>
      <p:ext uri="{BB962C8B-B14F-4D97-AF65-F5344CB8AC3E}">
        <p14:creationId xmlns:p14="http://schemas.microsoft.com/office/powerpoint/2010/main" val="4017451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325F51F-FF12-4DF3-8196-59A879AE2197}"/>
              </a:ext>
            </a:extLst>
          </p:cNvPr>
          <p:cNvSpPr/>
          <p:nvPr/>
        </p:nvSpPr>
        <p:spPr>
          <a:xfrm>
            <a:off x="800099" y="146735"/>
            <a:ext cx="7897813" cy="523220"/>
          </a:xfrm>
          <a:prstGeom prst="rect">
            <a:avLst/>
          </a:prstGeom>
        </p:spPr>
        <p:txBody>
          <a:bodyPr wrap="square">
            <a:spAutoFit/>
          </a:bodyPr>
          <a:lstStyle/>
          <a:p>
            <a:r>
              <a:rPr lang="en-US" altLang="zh-CN" sz="2800" b="1" dirty="0">
                <a:latin typeface="+mn-ea"/>
                <a:cs typeface="+mn-ea"/>
              </a:rPr>
              <a:t>(4) </a:t>
            </a:r>
            <a:r>
              <a:rPr lang="zh-CN" altLang="en-US" sz="2800" b="1" dirty="0">
                <a:latin typeface="+mn-ea"/>
                <a:cs typeface="+mn-ea"/>
              </a:rPr>
              <a:t>计算机网络技术在化学信息收集方面的应用</a:t>
            </a:r>
          </a:p>
        </p:txBody>
      </p:sp>
      <p:sp>
        <p:nvSpPr>
          <p:cNvPr id="3" name="Rectangle 3">
            <a:extLst>
              <a:ext uri="{FF2B5EF4-FFF2-40B4-BE49-F238E27FC236}">
                <a16:creationId xmlns:a16="http://schemas.microsoft.com/office/drawing/2014/main" id="{8E6DAB78-CBB1-4F31-8D00-658147E2AAEA}"/>
              </a:ext>
            </a:extLst>
          </p:cNvPr>
          <p:cNvSpPr txBox="1">
            <a:spLocks noChangeArrowheads="1"/>
          </p:cNvSpPr>
          <p:nvPr/>
        </p:nvSpPr>
        <p:spPr bwMode="auto">
          <a:xfrm>
            <a:off x="328613" y="1235075"/>
            <a:ext cx="8229600" cy="4105275"/>
          </a:xfrm>
          <a:prstGeom prst="rect">
            <a:avLst/>
          </a:prstGeom>
          <a:noFill/>
          <a:ln w="9525">
            <a:noFill/>
            <a:miter lim="800000"/>
            <a:headEnd/>
            <a:tailEnd/>
          </a:ln>
          <a:effectLst/>
        </p:spPr>
        <p:txBody>
          <a:bodyPr/>
          <a:lstStyle/>
          <a:p>
            <a:pPr marL="342900" indent="-342900">
              <a:lnSpc>
                <a:spcPct val="130000"/>
              </a:lnSpc>
              <a:spcBef>
                <a:spcPct val="20000"/>
              </a:spcBef>
              <a:defRPr/>
            </a:pPr>
            <a:r>
              <a:rPr lang="en-US" altLang="zh-CN" sz="2800" kern="0" dirty="0">
                <a:latin typeface="+mn-lt"/>
                <a:cs typeface="+mn-ea"/>
                <a:sym typeface="+mn-lt"/>
              </a:rPr>
              <a:t>    </a:t>
            </a:r>
            <a:r>
              <a:rPr lang="zh-CN" altLang="en-US" sz="2800" kern="0" dirty="0">
                <a:latin typeface="+mn-lt"/>
                <a:cs typeface="+mn-ea"/>
                <a:sym typeface="+mn-lt"/>
              </a:rPr>
              <a:t>化学信息的庞大规模曾经使化学家花费大量宝贵的时间去获得这些信息。基于计算机互联网络技术和智能化数据库技术的化学信息收集与检索体系，以及远程计算机登录技术为化学家与海量化学信息之间建立了高速有效的桥梁和纽带，大大增强了人类获取信息的能力。正在逐步成为化学家获取化学信息的主要手段。 </a:t>
            </a:r>
          </a:p>
        </p:txBody>
      </p:sp>
    </p:spTree>
    <p:extLst>
      <p:ext uri="{BB962C8B-B14F-4D97-AF65-F5344CB8AC3E}">
        <p14:creationId xmlns:p14="http://schemas.microsoft.com/office/powerpoint/2010/main" val="1202617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B0A4D9F-6683-4CB2-81D1-254D69B0988A}"/>
              </a:ext>
            </a:extLst>
          </p:cNvPr>
          <p:cNvSpPr/>
          <p:nvPr/>
        </p:nvSpPr>
        <p:spPr>
          <a:xfrm>
            <a:off x="165100" y="132418"/>
            <a:ext cx="8750300" cy="523220"/>
          </a:xfrm>
          <a:prstGeom prst="rect">
            <a:avLst/>
          </a:prstGeom>
        </p:spPr>
        <p:txBody>
          <a:bodyPr wrap="square">
            <a:spAutoFit/>
          </a:bodyPr>
          <a:lstStyle/>
          <a:p>
            <a:r>
              <a:rPr lang="en-US" altLang="en-US" sz="2800" b="1" dirty="0">
                <a:latin typeface="+mn-ea"/>
                <a:cs typeface="+mn-ea"/>
                <a:sym typeface="+mn-lt"/>
              </a:rPr>
              <a:t>(5) </a:t>
            </a:r>
            <a:r>
              <a:rPr lang="en-US" altLang="en-US" sz="2800" b="1" dirty="0" err="1">
                <a:latin typeface="+mn-ea"/>
                <a:cs typeface="+mn-ea"/>
                <a:sym typeface="+mn-lt"/>
              </a:rPr>
              <a:t>计算机模拟技术在化学化工过程模拟中的应用</a:t>
            </a:r>
            <a:endParaRPr lang="zh-CN" altLang="en-US" sz="2800" b="1" dirty="0">
              <a:latin typeface="+mn-ea"/>
              <a:cs typeface="+mn-ea"/>
              <a:sym typeface="+mn-lt"/>
            </a:endParaRPr>
          </a:p>
        </p:txBody>
      </p:sp>
      <p:sp>
        <p:nvSpPr>
          <p:cNvPr id="3" name="Rectangle 3">
            <a:extLst>
              <a:ext uri="{FF2B5EF4-FFF2-40B4-BE49-F238E27FC236}">
                <a16:creationId xmlns:a16="http://schemas.microsoft.com/office/drawing/2014/main" id="{01283D48-9609-46BD-B94D-B294D552254C}"/>
              </a:ext>
            </a:extLst>
          </p:cNvPr>
          <p:cNvSpPr txBox="1">
            <a:spLocks noChangeArrowheads="1"/>
          </p:cNvSpPr>
          <p:nvPr/>
        </p:nvSpPr>
        <p:spPr bwMode="auto">
          <a:xfrm>
            <a:off x="279400" y="1511300"/>
            <a:ext cx="8229600" cy="4525962"/>
          </a:xfrm>
          <a:prstGeom prst="rect">
            <a:avLst/>
          </a:prstGeom>
          <a:noFill/>
          <a:ln w="9525">
            <a:noFill/>
            <a:miter lim="800000"/>
            <a:headEnd/>
            <a:tailEnd/>
          </a:ln>
        </p:spPr>
        <p:txBody>
          <a:bodyPr/>
          <a:lstStyle/>
          <a:p>
            <a:pPr marL="342900" indent="-342900" eaLnBrk="0" hangingPunct="0">
              <a:lnSpc>
                <a:spcPct val="130000"/>
              </a:lnSpc>
              <a:spcBef>
                <a:spcPct val="20000"/>
              </a:spcBef>
              <a:defRPr/>
            </a:pPr>
            <a:r>
              <a:rPr lang="en-US" altLang="zh-CN" sz="2800" kern="0" dirty="0">
                <a:latin typeface="+mn-lt"/>
                <a:cs typeface="+mn-ea"/>
                <a:sym typeface="+mn-lt"/>
              </a:rPr>
              <a:t>           </a:t>
            </a:r>
            <a:r>
              <a:rPr lang="zh-CN" altLang="en-US" sz="2800" kern="0" dirty="0">
                <a:latin typeface="+mn-lt"/>
                <a:cs typeface="+mn-ea"/>
                <a:sym typeface="+mn-lt"/>
              </a:rPr>
              <a:t>计算机仿真模拟技术从根本上改变了化学实验技术。许多化学化工过程的高风险性和高消耗性，在一定程度上阻碍了化学学科的发展，基于现代计算机模拟技术的高温、高压、高险等化工过程模拟技术的发展加快了实验化学学科的发展并使化学科技成果的产业化过程加速。 </a:t>
            </a:r>
          </a:p>
        </p:txBody>
      </p:sp>
    </p:spTree>
    <p:extLst>
      <p:ext uri="{BB962C8B-B14F-4D97-AF65-F5344CB8AC3E}">
        <p14:creationId xmlns:p14="http://schemas.microsoft.com/office/powerpoint/2010/main" val="509587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5C299BE-A6AC-4543-822E-4CCBA3F33DE2}"/>
              </a:ext>
            </a:extLst>
          </p:cNvPr>
          <p:cNvSpPr/>
          <p:nvPr/>
        </p:nvSpPr>
        <p:spPr>
          <a:xfrm>
            <a:off x="279400" y="119390"/>
            <a:ext cx="7645400" cy="523220"/>
          </a:xfrm>
          <a:prstGeom prst="rect">
            <a:avLst/>
          </a:prstGeom>
        </p:spPr>
        <p:txBody>
          <a:bodyPr wrap="square">
            <a:spAutoFit/>
          </a:bodyPr>
          <a:lstStyle/>
          <a:p>
            <a:r>
              <a:rPr lang="en-US" altLang="en-US" sz="2800" b="1" dirty="0">
                <a:latin typeface="+mn-ea"/>
                <a:cs typeface="+mn-ea"/>
                <a:sym typeface="+mn-lt"/>
              </a:rPr>
              <a:t>(6) </a:t>
            </a:r>
            <a:r>
              <a:rPr lang="en-US" altLang="en-US" sz="2800" b="1" dirty="0" err="1">
                <a:latin typeface="+mn-ea"/>
                <a:cs typeface="+mn-ea"/>
                <a:sym typeface="+mn-lt"/>
              </a:rPr>
              <a:t>计算机智能化技术在化学专家系统中的应用</a:t>
            </a:r>
            <a:r>
              <a:rPr lang="en-US" altLang="en-US" sz="2800" b="1" dirty="0">
                <a:latin typeface="+mn-ea"/>
                <a:cs typeface="+mn-ea"/>
                <a:sym typeface="+mn-lt"/>
              </a:rPr>
              <a:t> </a:t>
            </a:r>
            <a:endParaRPr lang="zh-CN" altLang="en-US" sz="2800" b="1" dirty="0">
              <a:latin typeface="+mn-ea"/>
              <a:cs typeface="+mn-ea"/>
              <a:sym typeface="+mn-lt"/>
            </a:endParaRPr>
          </a:p>
        </p:txBody>
      </p:sp>
      <p:sp>
        <p:nvSpPr>
          <p:cNvPr id="3" name="Rectangle 3">
            <a:extLst>
              <a:ext uri="{FF2B5EF4-FFF2-40B4-BE49-F238E27FC236}">
                <a16:creationId xmlns:a16="http://schemas.microsoft.com/office/drawing/2014/main" id="{2178419C-A4BF-465A-98FA-0B3F821847DA}"/>
              </a:ext>
            </a:extLst>
          </p:cNvPr>
          <p:cNvSpPr txBox="1">
            <a:spLocks noChangeArrowheads="1"/>
          </p:cNvSpPr>
          <p:nvPr/>
        </p:nvSpPr>
        <p:spPr bwMode="auto">
          <a:xfrm>
            <a:off x="279400" y="1258723"/>
            <a:ext cx="8229600" cy="3084513"/>
          </a:xfrm>
          <a:prstGeom prst="rect">
            <a:avLst/>
          </a:prstGeom>
          <a:noFill/>
          <a:ln w="9525">
            <a:noFill/>
            <a:miter lim="800000"/>
            <a:headEnd/>
            <a:tailEnd/>
          </a:ln>
        </p:spPr>
        <p:txBody>
          <a:bodyPr/>
          <a:lstStyle/>
          <a:p>
            <a:pPr marL="342900" indent="-342900" eaLnBrk="0" hangingPunct="0">
              <a:lnSpc>
                <a:spcPct val="130000"/>
              </a:lnSpc>
              <a:spcBef>
                <a:spcPct val="20000"/>
              </a:spcBef>
              <a:defRPr/>
            </a:pPr>
            <a:r>
              <a:rPr lang="en-US" altLang="zh-CN" sz="2800" kern="0" dirty="0">
                <a:latin typeface="+mn-lt"/>
                <a:cs typeface="+mn-ea"/>
                <a:sym typeface="+mn-lt"/>
              </a:rPr>
              <a:t>    </a:t>
            </a:r>
            <a:r>
              <a:rPr lang="zh-CN" altLang="en-US" sz="2800" kern="0" dirty="0">
                <a:latin typeface="+mn-lt"/>
                <a:cs typeface="+mn-ea"/>
                <a:sym typeface="+mn-lt"/>
              </a:rPr>
              <a:t>基于计算机强大逻辑分析与计算能力的人工智能技术在加工处理化学知识方面起着重大作用。基于计算机智能化技术发展起来的专家咨询、决策、分析系统成为化学工业知识化，或者知识经济走向化学和化工领域的重要生长点。 </a:t>
            </a:r>
          </a:p>
        </p:txBody>
      </p:sp>
      <p:sp>
        <p:nvSpPr>
          <p:cNvPr id="4" name="Rectangle 3">
            <a:extLst>
              <a:ext uri="{FF2B5EF4-FFF2-40B4-BE49-F238E27FC236}">
                <a16:creationId xmlns:a16="http://schemas.microsoft.com/office/drawing/2014/main" id="{C65D72EE-C6D7-4037-9247-8FB17DEBBF14}"/>
              </a:ext>
            </a:extLst>
          </p:cNvPr>
          <p:cNvSpPr txBox="1">
            <a:spLocks noChangeArrowheads="1"/>
          </p:cNvSpPr>
          <p:nvPr/>
        </p:nvSpPr>
        <p:spPr bwMode="auto">
          <a:xfrm>
            <a:off x="582613" y="4768850"/>
            <a:ext cx="8229600" cy="1403350"/>
          </a:xfrm>
          <a:prstGeom prst="rect">
            <a:avLst/>
          </a:prstGeom>
          <a:noFill/>
          <a:ln w="9525">
            <a:noFill/>
            <a:miter lim="800000"/>
            <a:headEnd/>
            <a:tailEnd/>
          </a:ln>
        </p:spPr>
        <p:txBody>
          <a:bodyPr/>
          <a:lstStyle/>
          <a:p>
            <a:pPr marL="342900" indent="-342900" eaLnBrk="0" hangingPunct="0">
              <a:lnSpc>
                <a:spcPct val="130000"/>
              </a:lnSpc>
              <a:spcBef>
                <a:spcPct val="20000"/>
              </a:spcBef>
              <a:defRPr/>
            </a:pPr>
            <a:r>
              <a:rPr lang="zh-CN" altLang="en-US" sz="2800" kern="0" dirty="0">
                <a:latin typeface="+mn-lt"/>
                <a:cs typeface="+mn-ea"/>
                <a:sym typeface="+mn-lt"/>
              </a:rPr>
              <a:t>例如：各种专家系统，配方优化，合成路线优化系统等等。</a:t>
            </a:r>
          </a:p>
        </p:txBody>
      </p:sp>
    </p:spTree>
    <p:extLst>
      <p:ext uri="{BB962C8B-B14F-4D97-AF65-F5344CB8AC3E}">
        <p14:creationId xmlns:p14="http://schemas.microsoft.com/office/powerpoint/2010/main" val="253541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8E820A0A-B3BE-403C-AA4A-FF6B6C0DDBB5}"/>
              </a:ext>
            </a:extLst>
          </p:cNvPr>
          <p:cNvSpPr txBox="1">
            <a:spLocks noChangeArrowheads="1"/>
          </p:cNvSpPr>
          <p:nvPr/>
        </p:nvSpPr>
        <p:spPr bwMode="auto">
          <a:xfrm>
            <a:off x="0" y="1536700"/>
            <a:ext cx="8712200" cy="4140200"/>
          </a:xfrm>
          <a:prstGeom prst="rect">
            <a:avLst/>
          </a:prstGeom>
          <a:noFill/>
          <a:ln w="9525">
            <a:noFill/>
            <a:miter lim="800000"/>
            <a:headEnd/>
            <a:tailEnd/>
          </a:ln>
        </p:spPr>
        <p:txBody>
          <a:bodyPr/>
          <a:lstStyle/>
          <a:p>
            <a:pPr marL="342900" indent="-342900" eaLnBrk="0" hangingPunct="0">
              <a:lnSpc>
                <a:spcPct val="130000"/>
              </a:lnSpc>
              <a:spcBef>
                <a:spcPct val="20000"/>
              </a:spcBef>
              <a:defRPr/>
            </a:pPr>
            <a:r>
              <a:rPr lang="en-US" altLang="zh-CN" sz="2800" kern="0" dirty="0">
                <a:latin typeface="+mn-lt"/>
                <a:cs typeface="+mn-ea"/>
                <a:sym typeface="+mn-lt"/>
              </a:rPr>
              <a:t>           </a:t>
            </a:r>
            <a:r>
              <a:rPr lang="zh-CN" altLang="en-US" sz="2800" kern="0" dirty="0">
                <a:latin typeface="+mn-lt"/>
                <a:cs typeface="+mn-ea"/>
                <a:sym typeface="+mn-lt"/>
              </a:rPr>
              <a:t>总之，计算机技术的飞速发展给化学和化工科技的发展插上了腾飞的翅膀，化学学科的不断进步也为计算机科学提出了越来越高的要求。目前计算机技术已经成为成功化学家的一项必不可少的基本技能，已经与化学科研和教育环节紧密结合在一起。 </a:t>
            </a:r>
          </a:p>
        </p:txBody>
      </p:sp>
      <p:sp>
        <p:nvSpPr>
          <p:cNvPr id="3" name="矩形 2">
            <a:extLst>
              <a:ext uri="{FF2B5EF4-FFF2-40B4-BE49-F238E27FC236}">
                <a16:creationId xmlns:a16="http://schemas.microsoft.com/office/drawing/2014/main" id="{4C3F5310-3714-41AB-9CF0-43CE0CC26852}"/>
              </a:ext>
            </a:extLst>
          </p:cNvPr>
          <p:cNvSpPr/>
          <p:nvPr/>
        </p:nvSpPr>
        <p:spPr>
          <a:xfrm>
            <a:off x="279400" y="119390"/>
            <a:ext cx="7645400" cy="523220"/>
          </a:xfrm>
          <a:prstGeom prst="rect">
            <a:avLst/>
          </a:prstGeom>
        </p:spPr>
        <p:txBody>
          <a:bodyPr wrap="square">
            <a:spAutoFit/>
          </a:bodyPr>
          <a:lstStyle/>
          <a:p>
            <a:pPr algn="ctr"/>
            <a:r>
              <a:rPr lang="zh-CN" altLang="en-US" sz="2800" b="1" dirty="0">
                <a:latin typeface="+mn-ea"/>
                <a:cs typeface="+mn-ea"/>
                <a:sym typeface="+mn-lt"/>
              </a:rPr>
              <a:t>总结</a:t>
            </a:r>
          </a:p>
        </p:txBody>
      </p:sp>
    </p:spTree>
    <p:extLst>
      <p:ext uri="{BB962C8B-B14F-4D97-AF65-F5344CB8AC3E}">
        <p14:creationId xmlns:p14="http://schemas.microsoft.com/office/powerpoint/2010/main" val="253795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6206591-E1C8-42AE-BF74-F06167EF339E}"/>
              </a:ext>
            </a:extLst>
          </p:cNvPr>
          <p:cNvSpPr txBox="1">
            <a:spLocks noChangeArrowheads="1"/>
          </p:cNvSpPr>
          <p:nvPr/>
        </p:nvSpPr>
        <p:spPr bwMode="auto">
          <a:xfrm>
            <a:off x="455613" y="1214438"/>
            <a:ext cx="8497887" cy="3624262"/>
          </a:xfrm>
          <a:prstGeom prst="rect">
            <a:avLst/>
          </a:prstGeom>
          <a:noFill/>
          <a:ln w="9525">
            <a:noFill/>
            <a:miter lim="800000"/>
            <a:headEnd/>
            <a:tailEnd/>
          </a:ln>
        </p:spPr>
        <p:txBody>
          <a:bodyPr/>
          <a:lstStyle/>
          <a:p>
            <a:pPr marL="342900" indent="-342900" defTabSz="914400" eaLnBrk="0" fontAlgn="base" hangingPunct="0">
              <a:lnSpc>
                <a:spcPct val="85000"/>
              </a:lnSpc>
              <a:spcBef>
                <a:spcPct val="20000"/>
              </a:spcBef>
              <a:spcAft>
                <a:spcPct val="0"/>
              </a:spcAft>
              <a:buFontTx/>
              <a:buChar char="•"/>
              <a:defRPr/>
            </a:pPr>
            <a:r>
              <a:rPr lang="zh-CN" altLang="en-US" sz="2800" kern="0" dirty="0">
                <a:solidFill>
                  <a:srgbClr val="000000"/>
                </a:solidFill>
                <a:latin typeface="Arial"/>
                <a:cs typeface="+mn-ea"/>
                <a:sym typeface="+mn-lt"/>
              </a:rPr>
              <a:t>文章资料的编写、出版和交流；</a:t>
            </a:r>
          </a:p>
          <a:p>
            <a:pPr marL="342900" indent="-342900" defTabSz="914400" eaLnBrk="0" fontAlgn="base" hangingPunct="0">
              <a:lnSpc>
                <a:spcPct val="85000"/>
              </a:lnSpc>
              <a:spcBef>
                <a:spcPct val="20000"/>
              </a:spcBef>
              <a:spcAft>
                <a:spcPct val="0"/>
              </a:spcAft>
              <a:buFontTx/>
              <a:buChar char="•"/>
              <a:defRPr/>
            </a:pPr>
            <a:r>
              <a:rPr lang="zh-CN" altLang="en-US" sz="2800" kern="0" dirty="0">
                <a:solidFill>
                  <a:srgbClr val="000000"/>
                </a:solidFill>
                <a:latin typeface="Arial"/>
                <a:cs typeface="+mn-ea"/>
                <a:sym typeface="+mn-lt"/>
              </a:rPr>
              <a:t>化学结构的绘制及相关应用；</a:t>
            </a:r>
          </a:p>
          <a:p>
            <a:pPr marL="342900" indent="-342900" defTabSz="914400" eaLnBrk="0" fontAlgn="base" hangingPunct="0">
              <a:lnSpc>
                <a:spcPct val="85000"/>
              </a:lnSpc>
              <a:spcBef>
                <a:spcPct val="20000"/>
              </a:spcBef>
              <a:spcAft>
                <a:spcPct val="0"/>
              </a:spcAft>
              <a:buFontTx/>
              <a:buChar char="•"/>
              <a:defRPr/>
            </a:pPr>
            <a:r>
              <a:rPr lang="zh-CN" altLang="en-US" sz="2800" kern="0" dirty="0">
                <a:solidFill>
                  <a:srgbClr val="000000"/>
                </a:solidFill>
                <a:latin typeface="Arial"/>
                <a:cs typeface="+mn-ea"/>
                <a:sym typeface="+mn-lt"/>
              </a:rPr>
              <a:t>化学资料、数据的整理和管理；</a:t>
            </a:r>
          </a:p>
          <a:p>
            <a:pPr marL="342900" indent="-342900" defTabSz="914400" eaLnBrk="0" fontAlgn="base" hangingPunct="0">
              <a:lnSpc>
                <a:spcPct val="85000"/>
              </a:lnSpc>
              <a:spcBef>
                <a:spcPct val="20000"/>
              </a:spcBef>
              <a:spcAft>
                <a:spcPct val="0"/>
              </a:spcAft>
              <a:buFontTx/>
              <a:buChar char="•"/>
              <a:defRPr/>
            </a:pPr>
            <a:r>
              <a:rPr lang="zh-CN" altLang="en-US" sz="2800" kern="0" dirty="0">
                <a:solidFill>
                  <a:srgbClr val="000000"/>
                </a:solidFill>
                <a:latin typeface="Arial"/>
                <a:cs typeface="+mn-ea"/>
                <a:sym typeface="+mn-lt"/>
              </a:rPr>
              <a:t>网络技术在化学中的应用；</a:t>
            </a:r>
          </a:p>
          <a:p>
            <a:pPr marL="342900" indent="-342900" defTabSz="914400" eaLnBrk="0" fontAlgn="base" hangingPunct="0">
              <a:lnSpc>
                <a:spcPct val="85000"/>
              </a:lnSpc>
              <a:spcBef>
                <a:spcPct val="20000"/>
              </a:spcBef>
              <a:spcAft>
                <a:spcPct val="0"/>
              </a:spcAft>
              <a:buFontTx/>
              <a:buChar char="•"/>
              <a:defRPr/>
            </a:pPr>
            <a:r>
              <a:rPr lang="zh-CN" altLang="en-US" sz="2800" kern="0" dirty="0">
                <a:solidFill>
                  <a:srgbClr val="000000"/>
                </a:solidFill>
                <a:latin typeface="Arial"/>
                <a:cs typeface="+mn-ea"/>
                <a:sym typeface="+mn-lt"/>
              </a:rPr>
              <a:t>化学分子的模拟和量子化学计算；</a:t>
            </a:r>
          </a:p>
          <a:p>
            <a:pPr marL="342900" indent="-342900" defTabSz="914400" eaLnBrk="0" fontAlgn="base" hangingPunct="0">
              <a:lnSpc>
                <a:spcPct val="85000"/>
              </a:lnSpc>
              <a:spcBef>
                <a:spcPct val="20000"/>
              </a:spcBef>
              <a:spcAft>
                <a:spcPct val="0"/>
              </a:spcAft>
              <a:buFontTx/>
              <a:buChar char="•"/>
              <a:defRPr/>
            </a:pPr>
            <a:r>
              <a:rPr lang="zh-CN" altLang="en-US" sz="2800" kern="0" dirty="0">
                <a:solidFill>
                  <a:srgbClr val="000000"/>
                </a:solidFill>
                <a:latin typeface="Arial"/>
                <a:cs typeface="+mn-ea"/>
                <a:sym typeface="+mn-lt"/>
              </a:rPr>
              <a:t>化学程序的编写和使用；</a:t>
            </a:r>
          </a:p>
          <a:p>
            <a:pPr marL="342900" indent="-342900" defTabSz="914400" eaLnBrk="0" fontAlgn="base" hangingPunct="0">
              <a:lnSpc>
                <a:spcPct val="85000"/>
              </a:lnSpc>
              <a:spcBef>
                <a:spcPct val="20000"/>
              </a:spcBef>
              <a:spcAft>
                <a:spcPct val="0"/>
              </a:spcAft>
              <a:buFontTx/>
              <a:buChar char="•"/>
              <a:defRPr/>
            </a:pPr>
            <a:r>
              <a:rPr lang="zh-CN" altLang="en-US" sz="2800" kern="0" dirty="0">
                <a:solidFill>
                  <a:srgbClr val="000000"/>
                </a:solidFill>
                <a:latin typeface="Arial"/>
                <a:cs typeface="+mn-ea"/>
                <a:sym typeface="+mn-lt"/>
              </a:rPr>
              <a:t>计算机分散控制、集散控制系统在化工中的应用；</a:t>
            </a:r>
          </a:p>
          <a:p>
            <a:pPr marL="342900" indent="-342900" defTabSz="914400" eaLnBrk="0" fontAlgn="base" hangingPunct="0">
              <a:lnSpc>
                <a:spcPct val="85000"/>
              </a:lnSpc>
              <a:spcBef>
                <a:spcPct val="20000"/>
              </a:spcBef>
              <a:spcAft>
                <a:spcPct val="0"/>
              </a:spcAft>
              <a:buFontTx/>
              <a:buChar char="•"/>
              <a:defRPr/>
            </a:pPr>
            <a:r>
              <a:rPr lang="zh-CN" altLang="en-US" sz="2800" kern="0" dirty="0">
                <a:solidFill>
                  <a:srgbClr val="000000"/>
                </a:solidFill>
                <a:latin typeface="Arial"/>
                <a:cs typeface="+mn-ea"/>
                <a:sym typeface="+mn-lt"/>
              </a:rPr>
              <a:t>化工专家系统。</a:t>
            </a:r>
          </a:p>
        </p:txBody>
      </p:sp>
      <p:sp>
        <p:nvSpPr>
          <p:cNvPr id="3" name="Rectangle 3">
            <a:extLst>
              <a:ext uri="{FF2B5EF4-FFF2-40B4-BE49-F238E27FC236}">
                <a16:creationId xmlns:a16="http://schemas.microsoft.com/office/drawing/2014/main" id="{F5E7FCBE-E2E2-4746-B3B0-97D29A871A8C}"/>
              </a:ext>
            </a:extLst>
          </p:cNvPr>
          <p:cNvSpPr>
            <a:spLocks noChangeArrowheads="1"/>
          </p:cNvSpPr>
          <p:nvPr/>
        </p:nvSpPr>
        <p:spPr bwMode="auto">
          <a:xfrm>
            <a:off x="2543175" y="95250"/>
            <a:ext cx="6410325" cy="523220"/>
          </a:xfrm>
          <a:prstGeom prst="rect">
            <a:avLst/>
          </a:prstGeom>
        </p:spPr>
        <p:txBody>
          <a:bodyPr wrap="square">
            <a:spAutoFit/>
          </a:bodyPr>
          <a:lstStyle/>
          <a:p>
            <a:r>
              <a:rPr lang="zh-CN" altLang="en-US" sz="2800" b="1" dirty="0">
                <a:latin typeface="+mn-ea"/>
                <a:cs typeface="+mn-ea"/>
                <a:sym typeface="+mn-lt"/>
              </a:rPr>
              <a:t>我们常常用计算机做些什么？</a:t>
            </a:r>
          </a:p>
        </p:txBody>
      </p:sp>
    </p:spTree>
    <p:extLst>
      <p:ext uri="{BB962C8B-B14F-4D97-AF65-F5344CB8AC3E}">
        <p14:creationId xmlns:p14="http://schemas.microsoft.com/office/powerpoint/2010/main" val="2704969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113947E-B86D-4ACB-89B4-88925FAFFB57}"/>
              </a:ext>
            </a:extLst>
          </p:cNvPr>
          <p:cNvSpPr>
            <a:spLocks noChangeArrowheads="1"/>
          </p:cNvSpPr>
          <p:nvPr/>
        </p:nvSpPr>
        <p:spPr bwMode="auto">
          <a:xfrm>
            <a:off x="2400301" y="88900"/>
            <a:ext cx="4622800" cy="523220"/>
          </a:xfrm>
          <a:prstGeom prst="rect">
            <a:avLst/>
          </a:prstGeom>
        </p:spPr>
        <p:txBody>
          <a:bodyPr wrap="square">
            <a:spAutoFit/>
          </a:bodyPr>
          <a:lstStyle/>
          <a:p>
            <a:r>
              <a:rPr lang="zh-CN" altLang="en-US" sz="2800" b="1" dirty="0">
                <a:latin typeface="+mn-ea"/>
                <a:cs typeface="+mn-ea"/>
                <a:sym typeface="+mn-lt"/>
              </a:rPr>
              <a:t>本课程要给大家介绍的内容</a:t>
            </a:r>
          </a:p>
        </p:txBody>
      </p:sp>
      <p:sp>
        <p:nvSpPr>
          <p:cNvPr id="3" name="Rectangle 3">
            <a:extLst>
              <a:ext uri="{FF2B5EF4-FFF2-40B4-BE49-F238E27FC236}">
                <a16:creationId xmlns:a16="http://schemas.microsoft.com/office/drawing/2014/main" id="{F222F29D-483D-4844-AAF0-CA3971FB30E0}"/>
              </a:ext>
            </a:extLst>
          </p:cNvPr>
          <p:cNvSpPr txBox="1">
            <a:spLocks noChangeArrowheads="1"/>
          </p:cNvSpPr>
          <p:nvPr/>
        </p:nvSpPr>
        <p:spPr bwMode="auto">
          <a:xfrm>
            <a:off x="596901" y="1587500"/>
            <a:ext cx="8229600" cy="4525963"/>
          </a:xfrm>
          <a:prstGeom prst="rect">
            <a:avLst/>
          </a:prstGeom>
          <a:noFill/>
          <a:ln w="9525">
            <a:noFill/>
            <a:miter lim="800000"/>
            <a:headEnd/>
            <a:tailEnd/>
          </a:ln>
        </p:spPr>
        <p:txBody>
          <a:bodyPr/>
          <a:lstStyle/>
          <a:p>
            <a:pPr marL="342900" indent="-342900" eaLnBrk="0" hangingPunct="0">
              <a:lnSpc>
                <a:spcPct val="90000"/>
              </a:lnSpc>
              <a:spcBef>
                <a:spcPct val="20000"/>
              </a:spcBef>
              <a:buFontTx/>
              <a:buChar char="•"/>
              <a:defRPr/>
            </a:pPr>
            <a:r>
              <a:rPr lang="zh-CN" altLang="en-US" sz="2800" kern="0" dirty="0">
                <a:latin typeface="+mn-lt"/>
                <a:cs typeface="+mn-ea"/>
                <a:sym typeface="+mn-lt"/>
              </a:rPr>
              <a:t>计算机基础知识；</a:t>
            </a:r>
          </a:p>
          <a:p>
            <a:pPr marL="342900" indent="-342900" eaLnBrk="0" hangingPunct="0">
              <a:lnSpc>
                <a:spcPct val="90000"/>
              </a:lnSpc>
              <a:spcBef>
                <a:spcPct val="20000"/>
              </a:spcBef>
              <a:buFontTx/>
              <a:buChar char="•"/>
              <a:defRPr/>
            </a:pPr>
            <a:r>
              <a:rPr lang="en-US" altLang="zh-CN" sz="2800" kern="0" dirty="0" err="1">
                <a:latin typeface="+mn-lt"/>
                <a:cs typeface="+mn-ea"/>
                <a:sym typeface="+mn-lt"/>
              </a:rPr>
              <a:t>MicroSoft</a:t>
            </a:r>
            <a:r>
              <a:rPr lang="en-US" altLang="zh-CN" sz="2800" kern="0" dirty="0">
                <a:latin typeface="+mn-lt"/>
                <a:cs typeface="+mn-ea"/>
                <a:sym typeface="+mn-lt"/>
              </a:rPr>
              <a:t> Office </a:t>
            </a:r>
            <a:r>
              <a:rPr lang="zh-CN" altLang="en-US" sz="2800" dirty="0">
                <a:latin typeface="+mn-lt"/>
                <a:cs typeface="+mn-ea"/>
                <a:sym typeface="+mn-lt"/>
              </a:rPr>
              <a:t>软件在化学化工中的应用 </a:t>
            </a:r>
            <a:r>
              <a:rPr lang="zh-CN" altLang="en-US" sz="2800" kern="0" dirty="0">
                <a:latin typeface="+mn-lt"/>
                <a:cs typeface="+mn-ea"/>
                <a:sym typeface="+mn-lt"/>
              </a:rPr>
              <a:t>；</a:t>
            </a:r>
          </a:p>
          <a:p>
            <a:pPr marL="342900" indent="-342900" eaLnBrk="0" hangingPunct="0">
              <a:lnSpc>
                <a:spcPct val="90000"/>
              </a:lnSpc>
              <a:spcBef>
                <a:spcPct val="20000"/>
              </a:spcBef>
              <a:buFontTx/>
              <a:buChar char="•"/>
              <a:defRPr/>
            </a:pPr>
            <a:r>
              <a:rPr lang="zh-CN" altLang="en-US" sz="2800" kern="0" dirty="0">
                <a:latin typeface="+mn-lt"/>
                <a:cs typeface="+mn-ea"/>
                <a:sym typeface="+mn-lt"/>
              </a:rPr>
              <a:t>网络应用及网上化学资源；</a:t>
            </a:r>
          </a:p>
          <a:p>
            <a:pPr marL="342900" indent="-342900" eaLnBrk="0" hangingPunct="0">
              <a:lnSpc>
                <a:spcPct val="90000"/>
              </a:lnSpc>
              <a:spcBef>
                <a:spcPct val="20000"/>
              </a:spcBef>
              <a:buFontTx/>
              <a:buChar char="•"/>
              <a:defRPr/>
            </a:pPr>
            <a:r>
              <a:rPr lang="zh-CN" altLang="en-US" sz="2800" kern="0" dirty="0">
                <a:latin typeface="+mn-lt"/>
                <a:cs typeface="+mn-ea"/>
                <a:sym typeface="+mn-lt"/>
              </a:rPr>
              <a:t>化学分子绘图软件的使用；</a:t>
            </a:r>
          </a:p>
          <a:p>
            <a:pPr marL="342900" indent="-342900" eaLnBrk="0" hangingPunct="0">
              <a:lnSpc>
                <a:spcPct val="90000"/>
              </a:lnSpc>
              <a:spcBef>
                <a:spcPct val="20000"/>
              </a:spcBef>
              <a:buFontTx/>
              <a:buChar char="•"/>
              <a:defRPr/>
            </a:pPr>
            <a:r>
              <a:rPr lang="zh-CN" altLang="en-US" sz="2800" kern="0" dirty="0">
                <a:latin typeface="+mn-lt"/>
                <a:cs typeface="+mn-ea"/>
                <a:sym typeface="+mn-lt"/>
              </a:rPr>
              <a:t>数据处理软件的使用；</a:t>
            </a:r>
          </a:p>
          <a:p>
            <a:pPr marL="342900" indent="-342900" eaLnBrk="0" hangingPunct="0">
              <a:lnSpc>
                <a:spcPct val="90000"/>
              </a:lnSpc>
              <a:spcBef>
                <a:spcPct val="20000"/>
              </a:spcBef>
              <a:buFontTx/>
              <a:buChar char="•"/>
              <a:defRPr/>
            </a:pPr>
            <a:r>
              <a:rPr lang="zh-CN" altLang="en-US" sz="2800" kern="0" dirty="0">
                <a:latin typeface="+mn-lt"/>
                <a:cs typeface="+mn-ea"/>
                <a:sym typeface="+mn-lt"/>
              </a:rPr>
              <a:t>分子模拟和量子化学计算软件简介；</a:t>
            </a:r>
          </a:p>
          <a:p>
            <a:pPr marL="342900" indent="-342900" eaLnBrk="0" hangingPunct="0">
              <a:lnSpc>
                <a:spcPct val="90000"/>
              </a:lnSpc>
              <a:spcBef>
                <a:spcPct val="20000"/>
              </a:spcBef>
              <a:buFontTx/>
              <a:buChar char="•"/>
              <a:defRPr/>
            </a:pPr>
            <a:r>
              <a:rPr lang="zh-CN" altLang="en-US" sz="2800" kern="0" dirty="0">
                <a:latin typeface="+mn-lt"/>
                <a:cs typeface="+mn-ea"/>
                <a:sym typeface="+mn-lt"/>
              </a:rPr>
              <a:t>其它化学应用软件的使用；</a:t>
            </a:r>
          </a:p>
          <a:p>
            <a:pPr marL="342900" indent="-342900" eaLnBrk="0" hangingPunct="0">
              <a:lnSpc>
                <a:spcPct val="90000"/>
              </a:lnSpc>
              <a:spcBef>
                <a:spcPct val="20000"/>
              </a:spcBef>
              <a:buFontTx/>
              <a:buChar char="•"/>
              <a:defRPr/>
            </a:pPr>
            <a:r>
              <a:rPr lang="zh-CN" altLang="en-US" sz="2800" kern="0" dirty="0">
                <a:latin typeface="+mn-lt"/>
                <a:cs typeface="+mn-ea"/>
                <a:sym typeface="+mn-lt"/>
              </a:rPr>
              <a:t>计算机在化工控制中的应用简介。</a:t>
            </a:r>
          </a:p>
        </p:txBody>
      </p:sp>
    </p:spTree>
    <p:extLst>
      <p:ext uri="{BB962C8B-B14F-4D97-AF65-F5344CB8AC3E}">
        <p14:creationId xmlns:p14="http://schemas.microsoft.com/office/powerpoint/2010/main" val="2191250182"/>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2kkcf1r">
      <a:majorFont>
        <a:latin typeface="Calibri Light" panose="020F0302020204030204"/>
        <a:ea typeface="微软雅黑"/>
        <a:cs typeface=""/>
      </a:majorFont>
      <a:minorFont>
        <a:latin typeface="Calibri" panose="020F0502020204030204"/>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57803</TotalTime>
  <Words>1142</Words>
  <Application>Microsoft Office PowerPoint</Application>
  <PresentationFormat>全屏显示(4:3)</PresentationFormat>
  <Paragraphs>54</Paragraphs>
  <Slides>15</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等线</vt:lpstr>
      <vt:lpstr>STKaiti</vt:lpstr>
      <vt:lpstr>微软雅黑</vt:lpstr>
      <vt:lpstr>Arial</vt:lpstr>
      <vt:lpstr>Calibri</vt:lpstr>
      <vt:lpstr>Calibri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yaowen</dc:creator>
  <cp:lastModifiedBy>FU YANG</cp:lastModifiedBy>
  <cp:revision>1424</cp:revision>
  <dcterms:created xsi:type="dcterms:W3CDTF">2019-06-07T05:01:26Z</dcterms:created>
  <dcterms:modified xsi:type="dcterms:W3CDTF">2022-11-29T06:37:18Z</dcterms:modified>
</cp:coreProperties>
</file>